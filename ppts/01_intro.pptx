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Default Extension="jpg" ContentType="image/jpg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x="11531600" cy="6489700"/>
  <p:notesSz cx="11531600" cy="64897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01700" y="530225"/>
            <a:ext cx="9728200" cy="539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29740" y="3634232"/>
            <a:ext cx="8072120" cy="16224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#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C2132D"/>
                </a:solidFill>
                <a:latin typeface="Courier New"/>
                <a:cs typeface="Courier New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#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C2132D"/>
                </a:solidFill>
                <a:latin typeface="Courier New"/>
                <a:cs typeface="Courier New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76580" y="1492631"/>
            <a:ext cx="5016246" cy="42832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938774" y="1492631"/>
            <a:ext cx="5016246" cy="42832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#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C2132D"/>
                </a:solidFill>
                <a:latin typeface="Courier New"/>
                <a:cs typeface="Courier New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#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#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39052" y="320675"/>
            <a:ext cx="10653494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C2132D"/>
                </a:solidFill>
                <a:latin typeface="Courier New"/>
                <a:cs typeface="Courier New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41690" y="1425575"/>
            <a:ext cx="9248219" cy="45288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920744" y="6035421"/>
            <a:ext cx="3690112" cy="3244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76580" y="6035421"/>
            <a:ext cx="2652268" cy="3244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0853587" y="6218137"/>
            <a:ext cx="532129" cy="204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585D60"/>
                </a:solidFill>
                <a:latin typeface="Roboto"/>
                <a:cs typeface="Roboto"/>
              </a:defRPr>
            </a:lvl1pPr>
          </a:lstStyle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#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twitter.com/FadelMegahed" TargetMode="External"/><Relationship Id="rId3" Type="http://schemas.openxmlformats.org/officeDocument/2006/relationships/hyperlink" Target="https://github.com/fmegahed/" TargetMode="External"/><Relationship Id="rId4" Type="http://schemas.openxmlformats.org/officeDocument/2006/relationships/hyperlink" Target="mailto:fmegahed@miamioh.edu" TargetMode="External"/><Relationship Id="rId5" Type="http://schemas.openxmlformats.org/officeDocument/2006/relationships/hyperlink" Target="https://calendly.com/fmegahed" TargetMode="External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3.png"/><Relationship Id="rId9" Type="http://schemas.openxmlformats.org/officeDocument/2006/relationships/image" Target="../media/image4.png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hyperlink" Target="https://www.cbo.gov/publication/61172#_idTextAnchor040" TargetMode="External"/><Relationship Id="rId4" Type="http://schemas.openxmlformats.org/officeDocument/2006/relationships/hyperlink" Target="https://weatherwidget.io/" TargetMode="External"/><Relationship Id="rId5" Type="http://schemas.openxmlformats.org/officeDocument/2006/relationships/hyperlink" Target="https://forecast7.com/en/39d47n84d75/45056/" TargetMode="External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hyperlink" Target="https://gs.statcounter.com/os-market-share/mobile/worldwide/#quarterly-200901-202403" TargetMode="External"/><Relationship Id="rId5" Type="http://schemas.openxmlformats.org/officeDocument/2006/relationships/hyperlink" Target="https://www.statista.com/statistics/263402/apples-iphone-revenue-since-3rd-quarter-2007/" TargetMode="External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jpg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nytimes.com/2024/11/20/business/target-earnings-holiday-shopping.html?unlocked_article_code=1.sU4.BN7Y.DRvnq7F_52NO&amp;smid=url-share" TargetMode="Externa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file://localhost/C:/Users/megahefm/Dropbox/Miami/Code/GitHub/fmegahed.github.io/isa444/fall2025/01_intro.html?panelset_001=description&amp;panelset_001_description" TargetMode="External"/><Relationship Id="rId3" Type="http://schemas.openxmlformats.org/officeDocument/2006/relationships/hyperlink" Target="file://localhost/C:/Users/megahefm/Dropbox/Miami/Code/GitHub/fmegahed.github.io/isa444/fall2025/01_intro.html?panelset_001=your-logic&amp;panelset_001_your-logic" TargetMode="External"/><Relationship Id="rId4" Type="http://schemas.openxmlformats.org/officeDocument/2006/relationships/hyperlink" Target="file://localhost/C:/Users/megahefm/Dropbox/Miami/Code/GitHub/fmegahed.github.io/isa444/fall2025/01_intro.html?panelset_001=your-sol&amp;panelset_001_your-sol" TargetMode="External"/><Relationship Id="rId5" Type="http://schemas.openxmlformats.org/officeDocument/2006/relationships/hyperlink" Target="file://localhost/C:/Users/megahefm/Dropbox/Miami/Code/GitHub/fmegahed.github.io/isa444/fall2025/01_intro.html?panelset_001=class-results&amp;panelset_001_class-results" TargetMode="External"/><Relationship Id="rId6" Type="http://schemas.openxmlformats.org/officeDocument/2006/relationships/hyperlink" Target="https://miamioh.instructure.com/courses/230182/files/34510709?module_item_id=5759088" TargetMode="Externa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dol.gov/sites/dolgov/files/ETA/oflc/pdfs/LCA_Disclosure_Data_FY2025_Q3.xlsx" TargetMode="External"/><Relationship Id="rId3" Type="http://schemas.openxmlformats.org/officeDocument/2006/relationships/image" Target="../media/image24.png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finance.yahoo.com/quote/AAPL/history?p=AAPL" TargetMode="External"/><Relationship Id="rId3" Type="http://schemas.openxmlformats.org/officeDocument/2006/relationships/image" Target="../media/image25.jpg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psidonline.isr.umich.edu/" TargetMode="External"/><Relationship Id="rId3" Type="http://schemas.openxmlformats.org/officeDocument/2006/relationships/hyperlink" Target="https://databank.worldbank.org/source/world-development-indicators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datacatalog.worldbank.org/" TargetMode="External"/><Relationship Id="rId6" Type="http://schemas.openxmlformats.org/officeDocument/2006/relationships/hyperlink" Target="https://cran.r-project.org/web/packages/wbstats/wbstats.pdf" TargetMode="External"/><Relationship Id="rId7" Type="http://schemas.openxmlformats.org/officeDocument/2006/relationships/image" Target="../media/image27.png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red.stlouisfed.org/series/GDP" TargetMode="External"/><Relationship Id="rId3" Type="http://schemas.openxmlformats.org/officeDocument/2006/relationships/image" Target="../media/image28.png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fred.stlouisfed.org/series/CEU4200000001" TargetMode="External"/><Relationship Id="rId3" Type="http://schemas.openxmlformats.org/officeDocument/2006/relationships/image" Target="../media/image29.png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jpg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fred.stlouisfed.org/series/TOTALSA" TargetMode="External"/><Relationship Id="rId3" Type="http://schemas.openxmlformats.org/officeDocument/2006/relationships/image" Target="../media/image31.png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fred.stlouisfed.org/series/TOTALSA" TargetMode="External"/><Relationship Id="rId3" Type="http://schemas.openxmlformats.org/officeDocument/2006/relationships/image" Target="../media/image32.png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kahoot.it/" TargetMode="External"/></Relationships>
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/Relationships>
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file://localhost/C:/Users/megahefm/Dropbox/Miami/Code/GitHub/fmegahed.github.io/isa444/fall2025/01_intro.html?panelset_002=description2&amp;panelset_002_description2" TargetMode="External"/><Relationship Id="rId3" Type="http://schemas.openxmlformats.org/officeDocument/2006/relationships/hyperlink" Target="file://localhost/C:/Users/megahefm/Dropbox/Miami/Code/GitHub/fmegahed.github.io/isa444/fall2025/01_intro.html?panelset_002=scenarios&amp;panelset_002_scenarios" TargetMode="External"/><Relationship Id="rId4" Type="http://schemas.openxmlformats.org/officeDocument/2006/relationships/hyperlink" Target="file://localhost/C:/Users/megahefm/Dropbox/Miami/Code/GitHub/fmegahed.github.io/isa444/fall2025/01_intro.html?panelset_002=class-results2&amp;panelset_002_class-results2" TargetMode="External"/><Relationship Id="rId5" Type="http://schemas.openxmlformats.org/officeDocument/2006/relationships/hyperlink" Target="https://www.menti.com/al4qbc8hg3jnm" TargetMode="External"/></Relationships>
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jpg"/></Relationships>
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
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jpg"/><Relationship Id="rId3" Type="http://schemas.openxmlformats.org/officeDocument/2006/relationships/image" Target="../media/image39.png"/><Relationship Id="rId4" Type="http://schemas.openxmlformats.org/officeDocument/2006/relationships/hyperlink" Target="https://nixtlaverse.nixtla.io/neuralforecast/docs/getting-started/introduction.html" TargetMode="External"/></Relationships>
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3" Type="http://schemas.openxmlformats.org/officeDocument/2006/relationships/hyperlink" Target="https://github.com/Nixtla/statsforecast/blob/main/nbs/imgs/ChainedWindows.gif" TargetMode="External"/></Relationships>
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conda.io/projects/conda/en/latest/user-guide/getting-started.html" TargetMode="External"/><Relationship Id="rId3" Type="http://schemas.openxmlformats.org/officeDocument/2006/relationships/hyperlink" Target="https://docs.python.org/3/tutorial/datastructures.html" TargetMode="External"/><Relationship Id="rId4" Type="http://schemas.openxmlformats.org/officeDocument/2006/relationships/hyperlink" Target="https://mark-riedl.medium.com/a-very-gentle-introduction-to-large-language-models-without-the-hype-5f67941fa59e" TargetMode="External"/></Relationships>
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miamioh.instructure.com/courses/240425/quizzes/741952" TargetMode="Externa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1198165"/>
            <a:ext cx="8714105" cy="1139190"/>
          </a:xfrm>
          <a:prstGeom prst="rect"/>
        </p:spPr>
        <p:txBody>
          <a:bodyPr wrap="square" lIns="0" tIns="908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15"/>
              </a:spcBef>
            </a:pPr>
            <a:r>
              <a:rPr dirty="0" sz="3350" spc="10">
                <a:solidFill>
                  <a:srgbClr val="FFFFFF"/>
                </a:solidFill>
                <a:latin typeface="Roboto Condensed"/>
                <a:cs typeface="Roboto Condensed"/>
              </a:rPr>
              <a:t>ISA 444/544: Business</a:t>
            </a:r>
            <a:r>
              <a:rPr dirty="0" sz="3350" spc="-15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3350" spc="5">
                <a:solidFill>
                  <a:srgbClr val="FFFFFF"/>
                </a:solidFill>
                <a:latin typeface="Roboto Condensed"/>
                <a:cs typeface="Roboto Condensed"/>
              </a:rPr>
              <a:t>Forecasting</a:t>
            </a:r>
            <a:endParaRPr sz="3350">
              <a:latin typeface="Roboto Condensed"/>
              <a:cs typeface="Roboto Condensed"/>
            </a:endParaRPr>
          </a:p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3000">
                <a:solidFill>
                  <a:srgbClr val="FFFFFF"/>
                </a:solidFill>
                <a:latin typeface="Times New Roman"/>
                <a:cs typeface="Times New Roman"/>
              </a:rPr>
              <a:t>01: Introduction to </a:t>
            </a:r>
            <a:r>
              <a:rPr dirty="0" sz="3000" spc="-30">
                <a:solidFill>
                  <a:srgbClr val="FFFFFF"/>
                </a:solidFill>
                <a:latin typeface="Times New Roman"/>
                <a:cs typeface="Times New Roman"/>
              </a:rPr>
              <a:t>Time </a:t>
            </a:r>
            <a:r>
              <a:rPr dirty="0" sz="3000">
                <a:solidFill>
                  <a:srgbClr val="FFFFFF"/>
                </a:solidFill>
                <a:latin typeface="Times New Roman"/>
                <a:cs typeface="Times New Roman"/>
              </a:rPr>
              <a:t>Series Analysis and</a:t>
            </a:r>
            <a:r>
              <a:rPr dirty="0" sz="3000" spc="-285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dirty="0" sz="3000">
                <a:solidFill>
                  <a:srgbClr val="FFFFFF"/>
                </a:solidFill>
                <a:latin typeface="Times New Roman"/>
                <a:cs typeface="Times New Roman"/>
              </a:rPr>
              <a:t>Forecasting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2873375"/>
            <a:ext cx="4276725" cy="33115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Fadel M. Megahed,</a:t>
            </a:r>
            <a:r>
              <a:rPr dirty="0" sz="18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5">
                <a:solidFill>
                  <a:srgbClr val="FFFFFF"/>
                </a:solidFill>
                <a:latin typeface="Arial"/>
                <a:cs typeface="Arial"/>
              </a:rPr>
              <a:t>PhD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800">
              <a:latin typeface="Arial"/>
              <a:cs typeface="Arial"/>
            </a:endParaRPr>
          </a:p>
          <a:p>
            <a:pPr marL="12700" marR="20320">
              <a:lnSpc>
                <a:spcPts val="2100"/>
              </a:lnSpc>
            </a:pPr>
            <a:r>
              <a:rPr dirty="0" sz="1850" spc="15">
                <a:solidFill>
                  <a:srgbClr val="FFFFFF"/>
                </a:solidFill>
                <a:latin typeface="Arial"/>
                <a:cs typeface="Arial"/>
              </a:rPr>
              <a:t>Raymond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E. Glos Professor </a:t>
            </a:r>
            <a:r>
              <a:rPr dirty="0" sz="1850" spc="5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dirty="0" sz="185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Business  Farmer School of</a:t>
            </a:r>
            <a:r>
              <a:rPr dirty="0" sz="18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Business</a:t>
            </a:r>
            <a:endParaRPr sz="1850">
              <a:latin typeface="Arial"/>
              <a:cs typeface="Arial"/>
            </a:endParaRPr>
          </a:p>
          <a:p>
            <a:pPr marL="12700">
              <a:lnSpc>
                <a:spcPts val="1975"/>
              </a:lnSpc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Miami</a:t>
            </a:r>
            <a:r>
              <a:rPr dirty="0" sz="18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University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750">
              <a:latin typeface="Arial"/>
              <a:cs typeface="Arial"/>
            </a:endParaRPr>
          </a:p>
          <a:p>
            <a:pPr marL="309245" marR="1287145" indent="6985">
              <a:lnSpc>
                <a:spcPct val="103000"/>
              </a:lnSpc>
            </a:pP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2"/>
              </a:rPr>
              <a:t>@FadelMegahed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3"/>
              </a:rPr>
              <a:t>fmegahed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4"/>
              </a:rPr>
              <a:t>fmegahed@miamioh.edu</a:t>
            </a:r>
            <a:endParaRPr sz="1850">
              <a:latin typeface="Arial"/>
              <a:cs typeface="Arial"/>
            </a:endParaRPr>
          </a:p>
          <a:p>
            <a:pPr marL="243840">
              <a:lnSpc>
                <a:spcPct val="100000"/>
              </a:lnSpc>
              <a:spcBef>
                <a:spcPts val="105"/>
              </a:spcBef>
            </a:pP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Automated Scheduler </a:t>
            </a:r>
            <a:r>
              <a:rPr dirty="0" sz="1850" spc="5">
                <a:solidFill>
                  <a:srgbClr val="83D5D3"/>
                </a:solidFill>
                <a:latin typeface="Arial"/>
                <a:cs typeface="Arial"/>
                <a:hlinkClick r:id="rId5"/>
              </a:rPr>
              <a:t>for Office</a:t>
            </a:r>
            <a:r>
              <a:rPr dirty="0" sz="1850" spc="-2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Hours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Fall</a:t>
            </a:r>
            <a:r>
              <a:rPr dirty="0" sz="18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2025</a:t>
            </a:r>
            <a:endParaRPr sz="185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4400" y="4537212"/>
            <a:ext cx="238124" cy="1934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914400" y="4804320"/>
            <a:ext cx="230683" cy="2258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14429" y="5095881"/>
            <a:ext cx="237909" cy="237821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924888" y="5381624"/>
            <a:ext cx="165083" cy="238125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20700"/>
            <a:ext cx="7729855" cy="6540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4100" spc="10">
                <a:latin typeface="Roboto Condensed"/>
                <a:cs typeface="Roboto Condensed"/>
              </a:rPr>
              <a:t>Learning </a:t>
            </a:r>
            <a:r>
              <a:rPr dirty="0" sz="4100" spc="5">
                <a:latin typeface="Roboto Condensed"/>
                <a:cs typeface="Roboto Condensed"/>
              </a:rPr>
              <a:t>Objectives </a:t>
            </a:r>
            <a:r>
              <a:rPr dirty="0" sz="4100" spc="10">
                <a:latin typeface="Roboto Condensed"/>
                <a:cs typeface="Roboto Condensed"/>
              </a:rPr>
              <a:t>for </a:t>
            </a:r>
            <a:r>
              <a:rPr dirty="0" sz="4100" spc="-45">
                <a:latin typeface="Roboto Condensed"/>
                <a:cs typeface="Roboto Condensed"/>
              </a:rPr>
              <a:t>Today's</a:t>
            </a:r>
            <a:r>
              <a:rPr dirty="0" sz="4100" spc="-95">
                <a:latin typeface="Roboto Condensed"/>
                <a:cs typeface="Roboto Condensed"/>
              </a:rPr>
              <a:t> </a:t>
            </a:r>
            <a:r>
              <a:rPr dirty="0" sz="4100" spc="10">
                <a:latin typeface="Roboto Condensed"/>
                <a:cs typeface="Roboto Condensed"/>
              </a:rPr>
              <a:t>Class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530350"/>
            <a:ext cx="9440545" cy="23571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Describe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role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business.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Describe the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key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components of a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time-series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(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trend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seasonality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multiple seasonality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</a:t>
            </a:r>
            <a:r>
              <a:rPr dirty="0" sz="1800" spc="1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</a:t>
            </a:r>
            <a:endParaRPr sz="1800">
              <a:latin typeface="Roboto"/>
              <a:cs typeface="Roboto"/>
            </a:endParaRPr>
          </a:p>
          <a:p>
            <a:pPr marL="146050">
              <a:lnSpc>
                <a:spcPct val="100000"/>
              </a:lnSpc>
              <a:spcBef>
                <a:spcPts val="315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cycles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).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Explain the concept of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data-generating process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 (DGP)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Discuss limits of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forecasting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Understand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key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</a:t>
            </a:r>
            <a:r>
              <a:rPr dirty="0" sz="1800" spc="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terminology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964712" y="6207124"/>
            <a:ext cx="421005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2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39311" y="2773680"/>
            <a:ext cx="4246245" cy="920750"/>
          </a:xfrm>
          <a:prstGeom prst="rect"/>
          <a:solidFill>
            <a:srgbClr val="333333"/>
          </a:solidFill>
        </p:spPr>
        <p:txBody>
          <a:bodyPr wrap="square" lIns="0" tIns="125095" rIns="0" bIns="0" rtlCol="0" vert="horz">
            <a:spAutoFit/>
          </a:bodyPr>
          <a:lstStyle/>
          <a:p>
            <a:pPr marL="235585">
              <a:lnSpc>
                <a:spcPct val="100000"/>
              </a:lnSpc>
              <a:spcBef>
                <a:spcPts val="985"/>
              </a:spcBef>
            </a:pPr>
            <a:r>
              <a:rPr dirty="0" sz="4100" spc="-944">
                <a:solidFill>
                  <a:srgbClr val="000000"/>
                </a:solidFill>
                <a:latin typeface="Roboto Condensed"/>
                <a:cs typeface="Roboto Condensed"/>
              </a:rPr>
              <a:t>C</a:t>
            </a:r>
            <a:r>
              <a:rPr dirty="0" sz="4100" spc="-944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944">
                <a:solidFill>
                  <a:srgbClr val="000000"/>
                </a:solidFill>
                <a:latin typeface="Roboto Condensed"/>
                <a:cs typeface="Roboto Condensed"/>
              </a:rPr>
              <a:t>o</a:t>
            </a:r>
            <a:r>
              <a:rPr dirty="0" sz="4100" spc="-944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944">
                <a:solidFill>
                  <a:srgbClr val="000000"/>
                </a:solidFill>
                <a:latin typeface="Roboto Condensed"/>
                <a:cs typeface="Roboto Condensed"/>
              </a:rPr>
              <a:t>u</a:t>
            </a:r>
            <a:r>
              <a:rPr dirty="0" sz="4100" spc="-944">
                <a:solidFill>
                  <a:srgbClr val="FFFFFF"/>
                </a:solidFill>
                <a:latin typeface="Roboto Condensed"/>
                <a:cs typeface="Roboto Condensed"/>
              </a:rPr>
              <a:t>u</a:t>
            </a:r>
            <a:r>
              <a:rPr dirty="0" sz="4100" spc="-944">
                <a:solidFill>
                  <a:srgbClr val="000000"/>
                </a:solidFill>
                <a:latin typeface="Roboto Condensed"/>
                <a:cs typeface="Roboto Condensed"/>
              </a:rPr>
              <a:t>r</a:t>
            </a:r>
            <a:r>
              <a:rPr dirty="0" sz="4100" spc="-944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944">
                <a:solidFill>
                  <a:srgbClr val="000000"/>
                </a:solidFill>
                <a:latin typeface="Roboto Condensed"/>
                <a:cs typeface="Roboto Condensed"/>
              </a:rPr>
              <a:t>s</a:t>
            </a:r>
            <a:r>
              <a:rPr dirty="0" sz="4100" spc="-944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r>
              <a:rPr dirty="0" sz="4100" spc="-944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944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5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M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M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o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i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i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v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v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i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i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o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0716767" y="5995415"/>
            <a:ext cx="808990" cy="491490"/>
          </a:xfrm>
          <a:custGeom>
            <a:avLst/>
            <a:gdLst/>
            <a:ahLst/>
            <a:cxnLst/>
            <a:rect l="l" t="t" r="r" b="b"/>
            <a:pathLst>
              <a:path w="808990" h="491489">
                <a:moveTo>
                  <a:pt x="0" y="0"/>
                </a:moveTo>
                <a:lnTo>
                  <a:pt x="808481" y="0"/>
                </a:lnTo>
                <a:lnTo>
                  <a:pt x="808481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964712" y="6207124"/>
            <a:ext cx="421005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340">
                <a:latin typeface="Roboto"/>
                <a:cs typeface="Roboto"/>
              </a:rPr>
              <a:t>3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r>
              <a:rPr dirty="0" sz="1200" spc="-35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250">
                <a:latin typeface="Roboto"/>
                <a:cs typeface="Roboto"/>
              </a:rPr>
              <a:t>/</a:t>
            </a:r>
            <a:r>
              <a:rPr dirty="0" sz="1200" spc="-250">
                <a:solidFill>
                  <a:srgbClr val="FFFFFF"/>
                </a:solidFill>
                <a:latin typeface="Roboto"/>
                <a:cs typeface="Roboto"/>
              </a:rPr>
              <a:t>/</a:t>
            </a:r>
            <a:r>
              <a:rPr dirty="0" sz="1200" spc="-22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340">
                <a:latin typeface="Roboto"/>
                <a:cs typeface="Roboto"/>
              </a:rPr>
              <a:t>4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4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8754" y="1604644"/>
            <a:ext cx="4064635" cy="314007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46050" marR="114935" indent="-133985">
              <a:lnSpc>
                <a:spcPct val="117200"/>
              </a:lnSpc>
              <a:spcBef>
                <a:spcPts val="114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Businesses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Sales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set 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revenue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targets, inventory projections  optimize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supply chains, and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staffing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plans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ensure workforce readiness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during demand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fluctuations.</a:t>
            </a:r>
            <a:endParaRPr sz="1800">
              <a:latin typeface="Roboto"/>
              <a:cs typeface="Roboto"/>
            </a:endParaRPr>
          </a:p>
          <a:p>
            <a:pPr marL="146050" marR="5080" indent="-133985">
              <a:lnSpc>
                <a:spcPct val="118100"/>
              </a:lnSpc>
              <a:spcBef>
                <a:spcPts val="82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30" b="1">
                <a:solidFill>
                  <a:srgbClr val="C2132D"/>
                </a:solidFill>
                <a:latin typeface="Roboto"/>
                <a:cs typeface="Roboto"/>
              </a:rPr>
              <a:t>Gov.</a:t>
            </a:r>
            <a:r>
              <a:rPr dirty="0" sz="1800" spc="-30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 spc="-35">
                <a:solidFill>
                  <a:srgbClr val="585D60"/>
                </a:solidFill>
                <a:latin typeface="Roboto"/>
                <a:cs typeface="Roboto"/>
              </a:rPr>
              <a:t>Tax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revenue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social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programs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aid budgeting and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resource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allocation.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Individuals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Financial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forecasts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4728844"/>
            <a:ext cx="3926840" cy="1416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664210">
              <a:lnSpc>
                <a:spcPct val="114599"/>
              </a:lnSpc>
              <a:spcBef>
                <a:spcPts val="100"/>
              </a:spcBef>
            </a:pP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support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budgeting,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saving,</a:t>
            </a:r>
            <a:r>
              <a:rPr dirty="0" sz="1800" spc="-6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retirement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planning.</a:t>
            </a:r>
            <a:endParaRPr sz="1800">
              <a:latin typeface="Roboto"/>
              <a:cs typeface="Roboto"/>
            </a:endParaRPr>
          </a:p>
          <a:p>
            <a:pPr marL="146050" marR="5080" indent="-133985">
              <a:lnSpc>
                <a:spcPct val="118100"/>
              </a:lnSpc>
              <a:spcBef>
                <a:spcPts val="894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Weather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Forecast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inform</a:t>
            </a:r>
            <a:r>
              <a:rPr dirty="0" sz="1800" spc="-2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agriculture,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disaster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prep,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daily</a:t>
            </a:r>
            <a:r>
              <a:rPr dirty="0" sz="1800" spc="-3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decisions.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274584" y="1700685"/>
            <a:ext cx="4268183" cy="14659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933555" y="3242944"/>
            <a:ext cx="2991485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Source: </a:t>
            </a:r>
            <a:r>
              <a:rPr dirty="0" sz="1450" spc="-10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Congressional </a:t>
            </a:r>
            <a:r>
              <a:rPr dirty="0" sz="1450" spc="-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Budget</a:t>
            </a:r>
            <a:r>
              <a:rPr dirty="0" sz="1450" spc="-10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 </a:t>
            </a:r>
            <a:r>
              <a:rPr dirty="0" sz="1450" spc="-2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Office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005736" y="6033769"/>
            <a:ext cx="2846705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Source: </a:t>
            </a:r>
            <a:r>
              <a:rPr dirty="0" sz="1450" spc="-1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Weather </a:t>
            </a:r>
            <a:r>
              <a:rPr dirty="0" sz="1450" spc="-15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Widget's</a:t>
            </a:r>
            <a:r>
              <a:rPr dirty="0" sz="1450" spc="-2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 </a:t>
            </a:r>
            <a:r>
              <a:rPr dirty="0" sz="1450" spc="-1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Forecast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674609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5">
                <a:latin typeface="Roboto Condensed"/>
                <a:cs typeface="Roboto Condensed"/>
              </a:rPr>
              <a:t>Forecasting </a:t>
            </a:r>
            <a:r>
              <a:rPr dirty="0" sz="3350" spc="10">
                <a:latin typeface="Roboto Condensed"/>
                <a:cs typeface="Roboto Condensed"/>
              </a:rPr>
              <a:t>Impacts </a:t>
            </a:r>
            <a:r>
              <a:rPr dirty="0" sz="3350" spc="5">
                <a:latin typeface="Roboto Condensed"/>
                <a:cs typeface="Roboto Condensed"/>
              </a:rPr>
              <a:t>Everything </a:t>
            </a:r>
            <a:r>
              <a:rPr dirty="0" sz="3350" spc="10">
                <a:latin typeface="Roboto Condensed"/>
                <a:cs typeface="Roboto Condensed"/>
              </a:rPr>
              <a:t>and</a:t>
            </a:r>
            <a:r>
              <a:rPr dirty="0" sz="3350" spc="-30">
                <a:latin typeface="Roboto Condensed"/>
                <a:cs typeface="Roboto Condensed"/>
              </a:rPr>
              <a:t> </a:t>
            </a:r>
            <a:r>
              <a:rPr dirty="0" sz="3350">
                <a:latin typeface="Roboto Condensed"/>
                <a:cs typeface="Roboto Condensed"/>
              </a:rPr>
              <a:t>Everyone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865689" y="4301362"/>
            <a:ext cx="622300" cy="34861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2860">
              <a:lnSpc>
                <a:spcPct val="100000"/>
              </a:lnSpc>
              <a:spcBef>
                <a:spcPts val="105"/>
              </a:spcBef>
            </a:pPr>
            <a:r>
              <a:rPr dirty="0" sz="1050" b="1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OXFORD</a:t>
            </a:r>
            <a:endParaRPr sz="10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 sz="105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WE</a:t>
            </a:r>
            <a:r>
              <a:rPr dirty="0" sz="1050" spc="-6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A</a:t>
            </a:r>
            <a:r>
              <a:rPr dirty="0" sz="105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THER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379694" y="4224400"/>
            <a:ext cx="605790" cy="488950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2100" spc="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25°C</a:t>
            </a:r>
            <a:endParaRPr sz="2100">
              <a:latin typeface="Tahoma"/>
              <a:cs typeface="Tahoma"/>
            </a:endParaRPr>
          </a:p>
          <a:p>
            <a:pPr marL="76200">
              <a:lnSpc>
                <a:spcPct val="100000"/>
              </a:lnSpc>
              <a:spcBef>
                <a:spcPts val="30"/>
              </a:spcBef>
            </a:pPr>
            <a:r>
              <a:rPr dirty="0" sz="900" spc="1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clear</a:t>
            </a:r>
            <a:r>
              <a:rPr dirty="0" sz="900" spc="-9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 </a:t>
            </a:r>
            <a:r>
              <a:rPr dirty="0" sz="900" spc="1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sky</a:t>
            </a:r>
            <a:endParaRPr sz="9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45249" y="4999354"/>
            <a:ext cx="229870" cy="172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Sun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15335" y="5637529"/>
            <a:ext cx="289560" cy="3244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7878"/>
                </a:solidFill>
                <a:latin typeface="Tahoma"/>
                <a:cs typeface="Tahoma"/>
                <a:hlinkClick r:id="rId5"/>
              </a:rPr>
              <a:t>25°C</a:t>
            </a:r>
            <a:endParaRPr sz="9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950" spc="5">
                <a:solidFill>
                  <a:srgbClr val="6180AA"/>
                </a:solidFill>
                <a:latin typeface="Tahoma"/>
                <a:cs typeface="Tahoma"/>
                <a:hlinkClick r:id="rId5"/>
              </a:rPr>
              <a:t>17°C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56338" y="4999354"/>
            <a:ext cx="254000" cy="172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Mon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038478" y="5637529"/>
            <a:ext cx="289560" cy="3244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7878"/>
                </a:solidFill>
                <a:latin typeface="Tahoma"/>
                <a:cs typeface="Tahoma"/>
                <a:hlinkClick r:id="rId5"/>
              </a:rPr>
              <a:t>20°C</a:t>
            </a:r>
            <a:endParaRPr sz="9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950" spc="5">
                <a:solidFill>
                  <a:srgbClr val="6180AA"/>
                </a:solidFill>
                <a:latin typeface="Tahoma"/>
                <a:cs typeface="Tahoma"/>
                <a:hlinkClick r:id="rId5"/>
              </a:rPr>
              <a:t>10°C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97489" y="4999354"/>
            <a:ext cx="217804" cy="172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-8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T</a:t>
            </a:r>
            <a:r>
              <a:rPr dirty="0" sz="950" spc="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ue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661622" y="5637529"/>
            <a:ext cx="289560" cy="3244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7878"/>
                </a:solidFill>
                <a:latin typeface="Tahoma"/>
                <a:cs typeface="Tahoma"/>
                <a:hlinkClick r:id="rId5"/>
              </a:rPr>
              <a:t>21°C</a:t>
            </a:r>
            <a:endParaRPr sz="950">
              <a:latin typeface="Tahoma"/>
              <a:cs typeface="Tahoma"/>
            </a:endParaRPr>
          </a:p>
          <a:p>
            <a:pPr marL="78740">
              <a:lnSpc>
                <a:spcPct val="100000"/>
              </a:lnSpc>
              <a:spcBef>
                <a:spcPts val="60"/>
              </a:spcBef>
            </a:pPr>
            <a:r>
              <a:rPr dirty="0" sz="950" spc="5">
                <a:solidFill>
                  <a:srgbClr val="6180AA"/>
                </a:solidFill>
                <a:latin typeface="Tahoma"/>
                <a:cs typeface="Tahoma"/>
                <a:hlinkClick r:id="rId5"/>
              </a:rPr>
              <a:t>9°C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298160" y="4999354"/>
            <a:ext cx="262890" cy="172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-3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W</a:t>
            </a:r>
            <a:r>
              <a:rPr dirty="0" sz="950" spc="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ed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284765" y="5637529"/>
            <a:ext cx="289560" cy="3244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7878"/>
                </a:solidFill>
                <a:latin typeface="Tahoma"/>
                <a:cs typeface="Tahoma"/>
                <a:hlinkClick r:id="rId5"/>
              </a:rPr>
              <a:t>21°C</a:t>
            </a:r>
            <a:endParaRPr sz="950">
              <a:latin typeface="Tahoma"/>
              <a:cs typeface="Tahoma"/>
            </a:endParaRPr>
          </a:p>
          <a:p>
            <a:pPr marL="78740">
              <a:lnSpc>
                <a:spcPct val="100000"/>
              </a:lnSpc>
              <a:spcBef>
                <a:spcPts val="60"/>
              </a:spcBef>
            </a:pPr>
            <a:r>
              <a:rPr dirty="0" sz="950" spc="5">
                <a:solidFill>
                  <a:srgbClr val="6180AA"/>
                </a:solidFill>
                <a:latin typeface="Tahoma"/>
                <a:cs typeface="Tahoma"/>
                <a:hlinkClick r:id="rId5"/>
              </a:rPr>
              <a:t>8°C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36186" y="4999354"/>
            <a:ext cx="233045" cy="172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Thu</a:t>
            </a:r>
            <a:endParaRPr sz="950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907908" y="5637529"/>
            <a:ext cx="289560" cy="3244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7878"/>
                </a:solidFill>
                <a:latin typeface="Tahoma"/>
                <a:cs typeface="Tahoma"/>
                <a:hlinkClick r:id="rId5"/>
              </a:rPr>
              <a:t>23°C</a:t>
            </a:r>
            <a:endParaRPr sz="9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950" spc="5">
                <a:solidFill>
                  <a:srgbClr val="6180AA"/>
                </a:solidFill>
                <a:latin typeface="Tahoma"/>
                <a:cs typeface="Tahoma"/>
                <a:hlinkClick r:id="rId5"/>
              </a:rPr>
              <a:t>12°C</a:t>
            </a:r>
            <a:endParaRPr sz="95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595197" y="4999354"/>
            <a:ext cx="161290" cy="172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Fri</a:t>
            </a:r>
            <a:endParaRPr sz="950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531051" y="5637529"/>
            <a:ext cx="289560" cy="3244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7878"/>
                </a:solidFill>
                <a:latin typeface="Tahoma"/>
                <a:cs typeface="Tahoma"/>
                <a:hlinkClick r:id="rId5"/>
              </a:rPr>
              <a:t>26°C</a:t>
            </a:r>
            <a:endParaRPr sz="9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950" spc="5">
                <a:solidFill>
                  <a:srgbClr val="6180AA"/>
                </a:solidFill>
                <a:latin typeface="Tahoma"/>
                <a:cs typeface="Tahoma"/>
                <a:hlinkClick r:id="rId5"/>
              </a:rPr>
              <a:t>14°C</a:t>
            </a:r>
            <a:endParaRPr sz="950">
              <a:latin typeface="Tahoma"/>
              <a:cs typeface="Tahom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199737" y="4999354"/>
            <a:ext cx="198120" cy="172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>
                <a:solidFill>
                  <a:srgbClr val="ABABAB"/>
                </a:solidFill>
                <a:latin typeface="Tahoma"/>
                <a:cs typeface="Tahoma"/>
                <a:hlinkClick r:id="rId5"/>
              </a:rPr>
              <a:t>Sat</a:t>
            </a:r>
            <a:endParaRPr sz="950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154195" y="5637529"/>
            <a:ext cx="289560" cy="3244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950" spc="5">
                <a:solidFill>
                  <a:srgbClr val="AB7878"/>
                </a:solidFill>
                <a:latin typeface="Tahoma"/>
                <a:cs typeface="Tahoma"/>
                <a:hlinkClick r:id="rId5"/>
              </a:rPr>
              <a:t>29°C</a:t>
            </a:r>
            <a:endParaRPr sz="9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dirty="0" sz="950" spc="5">
                <a:solidFill>
                  <a:srgbClr val="6180AA"/>
                </a:solidFill>
                <a:latin typeface="Tahoma"/>
                <a:cs typeface="Tahoma"/>
                <a:hlinkClick r:id="rId5"/>
              </a:rPr>
              <a:t>15°C</a:t>
            </a:r>
            <a:endParaRPr sz="950">
              <a:latin typeface="Tahoma"/>
              <a:cs typeface="Tahoma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8143113" y="4458461"/>
            <a:ext cx="89535" cy="36830"/>
          </a:xfrm>
          <a:custGeom>
            <a:avLst/>
            <a:gdLst/>
            <a:ahLst/>
            <a:cxnLst/>
            <a:rect l="l" t="t" r="r" b="b"/>
            <a:pathLst>
              <a:path w="89534" h="36829">
                <a:moveTo>
                  <a:pt x="76961" y="36575"/>
                </a:moveTo>
                <a:lnTo>
                  <a:pt x="13716" y="36575"/>
                </a:lnTo>
                <a:lnTo>
                  <a:pt x="9398" y="34797"/>
                </a:lnTo>
                <a:lnTo>
                  <a:pt x="1778" y="27177"/>
                </a:lnTo>
                <a:lnTo>
                  <a:pt x="0" y="23113"/>
                </a:lnTo>
                <a:lnTo>
                  <a:pt x="104" y="13462"/>
                </a:lnTo>
                <a:lnTo>
                  <a:pt x="1778" y="9397"/>
                </a:lnTo>
                <a:lnTo>
                  <a:pt x="9398" y="1777"/>
                </a:lnTo>
                <a:lnTo>
                  <a:pt x="13461" y="0"/>
                </a:lnTo>
                <a:lnTo>
                  <a:pt x="76961" y="0"/>
                </a:lnTo>
                <a:lnTo>
                  <a:pt x="81280" y="1777"/>
                </a:lnTo>
                <a:lnTo>
                  <a:pt x="87884" y="9397"/>
                </a:lnTo>
                <a:lnTo>
                  <a:pt x="89408" y="13462"/>
                </a:lnTo>
                <a:lnTo>
                  <a:pt x="89318" y="23113"/>
                </a:lnTo>
                <a:lnTo>
                  <a:pt x="87884" y="27177"/>
                </a:lnTo>
                <a:lnTo>
                  <a:pt x="84581" y="30987"/>
                </a:lnTo>
                <a:lnTo>
                  <a:pt x="81279" y="34543"/>
                </a:lnTo>
                <a:lnTo>
                  <a:pt x="76961" y="36575"/>
                </a:lnTo>
                <a:close/>
              </a:path>
            </a:pathLst>
          </a:custGeom>
          <a:solidFill>
            <a:srgbClr val="FEBC2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/>
          <p:nvPr/>
        </p:nvSpPr>
        <p:spPr>
          <a:xfrm>
            <a:off x="8220646" y="4267771"/>
            <a:ext cx="76517" cy="75565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/>
          <p:nvPr/>
        </p:nvSpPr>
        <p:spPr>
          <a:xfrm>
            <a:off x="8220646" y="4610163"/>
            <a:ext cx="76517" cy="75564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/>
          <p:nvPr/>
        </p:nvSpPr>
        <p:spPr>
          <a:xfrm>
            <a:off x="8411336" y="4190238"/>
            <a:ext cx="36830" cy="89535"/>
          </a:xfrm>
          <a:custGeom>
            <a:avLst/>
            <a:gdLst/>
            <a:ahLst/>
            <a:cxnLst/>
            <a:rect l="l" t="t" r="r" b="b"/>
            <a:pathLst>
              <a:path w="36829" h="89535">
                <a:moveTo>
                  <a:pt x="23113" y="89408"/>
                </a:moveTo>
                <a:lnTo>
                  <a:pt x="13715" y="89408"/>
                </a:lnTo>
                <a:lnTo>
                  <a:pt x="9397" y="87884"/>
                </a:lnTo>
                <a:lnTo>
                  <a:pt x="5587" y="84581"/>
                </a:lnTo>
                <a:lnTo>
                  <a:pt x="2032" y="81279"/>
                </a:lnTo>
                <a:lnTo>
                  <a:pt x="0" y="76961"/>
                </a:lnTo>
                <a:lnTo>
                  <a:pt x="104" y="13461"/>
                </a:lnTo>
                <a:lnTo>
                  <a:pt x="1777" y="9398"/>
                </a:lnTo>
                <a:lnTo>
                  <a:pt x="9397" y="1778"/>
                </a:lnTo>
                <a:lnTo>
                  <a:pt x="13462" y="0"/>
                </a:lnTo>
                <a:lnTo>
                  <a:pt x="22860" y="0"/>
                </a:lnTo>
                <a:lnTo>
                  <a:pt x="27177" y="1778"/>
                </a:lnTo>
                <a:lnTo>
                  <a:pt x="34797" y="9398"/>
                </a:lnTo>
                <a:lnTo>
                  <a:pt x="36575" y="13461"/>
                </a:lnTo>
                <a:lnTo>
                  <a:pt x="36575" y="76961"/>
                </a:lnTo>
                <a:lnTo>
                  <a:pt x="34797" y="81280"/>
                </a:lnTo>
                <a:lnTo>
                  <a:pt x="27177" y="87884"/>
                </a:lnTo>
                <a:lnTo>
                  <a:pt x="23113" y="89408"/>
                </a:lnTo>
                <a:close/>
              </a:path>
            </a:pathLst>
          </a:custGeom>
          <a:solidFill>
            <a:srgbClr val="FEBC2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8" name="object 28"/>
          <p:cNvSpPr/>
          <p:nvPr/>
        </p:nvSpPr>
        <p:spPr>
          <a:xfrm>
            <a:off x="8411336" y="4673853"/>
            <a:ext cx="36830" cy="89535"/>
          </a:xfrm>
          <a:custGeom>
            <a:avLst/>
            <a:gdLst/>
            <a:ahLst/>
            <a:cxnLst/>
            <a:rect l="l" t="t" r="r" b="b"/>
            <a:pathLst>
              <a:path w="36829" h="89535">
                <a:moveTo>
                  <a:pt x="23113" y="89408"/>
                </a:moveTo>
                <a:lnTo>
                  <a:pt x="13715" y="89408"/>
                </a:lnTo>
                <a:lnTo>
                  <a:pt x="9397" y="87629"/>
                </a:lnTo>
                <a:lnTo>
                  <a:pt x="1777" y="80009"/>
                </a:lnTo>
                <a:lnTo>
                  <a:pt x="0" y="75945"/>
                </a:lnTo>
                <a:lnTo>
                  <a:pt x="0" y="12445"/>
                </a:lnTo>
                <a:lnTo>
                  <a:pt x="1777" y="8128"/>
                </a:lnTo>
                <a:lnTo>
                  <a:pt x="9397" y="1523"/>
                </a:lnTo>
                <a:lnTo>
                  <a:pt x="13462" y="0"/>
                </a:lnTo>
                <a:lnTo>
                  <a:pt x="22860" y="0"/>
                </a:lnTo>
                <a:lnTo>
                  <a:pt x="27177" y="1524"/>
                </a:lnTo>
                <a:lnTo>
                  <a:pt x="30987" y="4825"/>
                </a:lnTo>
                <a:lnTo>
                  <a:pt x="34543" y="8128"/>
                </a:lnTo>
                <a:lnTo>
                  <a:pt x="36575" y="12445"/>
                </a:lnTo>
                <a:lnTo>
                  <a:pt x="36471" y="75945"/>
                </a:lnTo>
                <a:lnTo>
                  <a:pt x="34797" y="80009"/>
                </a:lnTo>
                <a:lnTo>
                  <a:pt x="27177" y="87629"/>
                </a:lnTo>
                <a:lnTo>
                  <a:pt x="23113" y="89408"/>
                </a:lnTo>
                <a:close/>
              </a:path>
            </a:pathLst>
          </a:custGeom>
          <a:solidFill>
            <a:srgbClr val="FEBC2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/>
          <p:nvPr/>
        </p:nvSpPr>
        <p:spPr>
          <a:xfrm>
            <a:off x="8562085" y="4609210"/>
            <a:ext cx="76517" cy="76517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/>
          <p:nvPr/>
        </p:nvSpPr>
        <p:spPr>
          <a:xfrm>
            <a:off x="8562085" y="4267771"/>
            <a:ext cx="76517" cy="75565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1" name="object 31"/>
          <p:cNvSpPr/>
          <p:nvPr/>
        </p:nvSpPr>
        <p:spPr>
          <a:xfrm>
            <a:off x="8626728" y="4458461"/>
            <a:ext cx="89535" cy="36830"/>
          </a:xfrm>
          <a:custGeom>
            <a:avLst/>
            <a:gdLst/>
            <a:ahLst/>
            <a:cxnLst/>
            <a:rect l="l" t="t" r="r" b="b"/>
            <a:pathLst>
              <a:path w="89534" h="36829">
                <a:moveTo>
                  <a:pt x="75945" y="36575"/>
                </a:moveTo>
                <a:lnTo>
                  <a:pt x="12446" y="36575"/>
                </a:lnTo>
                <a:lnTo>
                  <a:pt x="8128" y="34797"/>
                </a:lnTo>
                <a:lnTo>
                  <a:pt x="1523" y="27177"/>
                </a:lnTo>
                <a:lnTo>
                  <a:pt x="0" y="23113"/>
                </a:lnTo>
                <a:lnTo>
                  <a:pt x="89" y="13462"/>
                </a:lnTo>
                <a:lnTo>
                  <a:pt x="1524" y="9397"/>
                </a:lnTo>
                <a:lnTo>
                  <a:pt x="8128" y="1777"/>
                </a:lnTo>
                <a:lnTo>
                  <a:pt x="12446" y="0"/>
                </a:lnTo>
                <a:lnTo>
                  <a:pt x="75691" y="0"/>
                </a:lnTo>
                <a:lnTo>
                  <a:pt x="80009" y="2032"/>
                </a:lnTo>
                <a:lnTo>
                  <a:pt x="83819" y="5587"/>
                </a:lnTo>
                <a:lnTo>
                  <a:pt x="87629" y="9397"/>
                </a:lnTo>
                <a:lnTo>
                  <a:pt x="89408" y="13462"/>
                </a:lnTo>
                <a:lnTo>
                  <a:pt x="89303" y="23113"/>
                </a:lnTo>
                <a:lnTo>
                  <a:pt x="87629" y="27177"/>
                </a:lnTo>
                <a:lnTo>
                  <a:pt x="80009" y="34797"/>
                </a:lnTo>
                <a:lnTo>
                  <a:pt x="75945" y="36575"/>
                </a:lnTo>
                <a:close/>
              </a:path>
            </a:pathLst>
          </a:custGeom>
          <a:solidFill>
            <a:srgbClr val="FEBC2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2" name="object 32"/>
          <p:cNvSpPr/>
          <p:nvPr/>
        </p:nvSpPr>
        <p:spPr>
          <a:xfrm>
            <a:off x="8267572" y="4314697"/>
            <a:ext cx="324485" cy="324485"/>
          </a:xfrm>
          <a:custGeom>
            <a:avLst/>
            <a:gdLst/>
            <a:ahLst/>
            <a:cxnLst/>
            <a:rect l="l" t="t" r="r" b="b"/>
            <a:pathLst>
              <a:path w="324484" h="324485">
                <a:moveTo>
                  <a:pt x="162052" y="324104"/>
                </a:moveTo>
                <a:lnTo>
                  <a:pt x="99917" y="312261"/>
                </a:lnTo>
                <a:lnTo>
                  <a:pt x="47497" y="276606"/>
                </a:lnTo>
                <a:lnTo>
                  <a:pt x="11842" y="224186"/>
                </a:lnTo>
                <a:lnTo>
                  <a:pt x="0" y="162052"/>
                </a:lnTo>
                <a:lnTo>
                  <a:pt x="2956" y="129758"/>
                </a:lnTo>
                <a:lnTo>
                  <a:pt x="26681" y="72505"/>
                </a:lnTo>
                <a:lnTo>
                  <a:pt x="72505" y="26681"/>
                </a:lnTo>
                <a:lnTo>
                  <a:pt x="129758" y="2956"/>
                </a:lnTo>
                <a:lnTo>
                  <a:pt x="162052" y="0"/>
                </a:lnTo>
                <a:lnTo>
                  <a:pt x="194345" y="2956"/>
                </a:lnTo>
                <a:lnTo>
                  <a:pt x="224186" y="11842"/>
                </a:lnTo>
                <a:lnTo>
                  <a:pt x="251598" y="26681"/>
                </a:lnTo>
                <a:lnTo>
                  <a:pt x="264705" y="37592"/>
                </a:lnTo>
                <a:lnTo>
                  <a:pt x="162052" y="37592"/>
                </a:lnTo>
                <a:lnTo>
                  <a:pt x="137100" y="39874"/>
                </a:lnTo>
                <a:lnTo>
                  <a:pt x="93007" y="58058"/>
                </a:lnTo>
                <a:lnTo>
                  <a:pt x="58058" y="93114"/>
                </a:lnTo>
                <a:lnTo>
                  <a:pt x="39874" y="137136"/>
                </a:lnTo>
                <a:lnTo>
                  <a:pt x="37592" y="162052"/>
                </a:lnTo>
                <a:lnTo>
                  <a:pt x="39874" y="187003"/>
                </a:lnTo>
                <a:lnTo>
                  <a:pt x="58058" y="231096"/>
                </a:lnTo>
                <a:lnTo>
                  <a:pt x="93114" y="266045"/>
                </a:lnTo>
                <a:lnTo>
                  <a:pt x="137136" y="284230"/>
                </a:lnTo>
                <a:lnTo>
                  <a:pt x="162052" y="286512"/>
                </a:lnTo>
                <a:lnTo>
                  <a:pt x="264705" y="286512"/>
                </a:lnTo>
                <a:lnTo>
                  <a:pt x="251598" y="297422"/>
                </a:lnTo>
                <a:lnTo>
                  <a:pt x="224186" y="312261"/>
                </a:lnTo>
                <a:lnTo>
                  <a:pt x="194345" y="321147"/>
                </a:lnTo>
                <a:lnTo>
                  <a:pt x="162052" y="324104"/>
                </a:lnTo>
                <a:close/>
              </a:path>
              <a:path w="324484" h="324485">
                <a:moveTo>
                  <a:pt x="264705" y="286512"/>
                </a:moveTo>
                <a:lnTo>
                  <a:pt x="162052" y="286512"/>
                </a:lnTo>
                <a:lnTo>
                  <a:pt x="187003" y="284230"/>
                </a:lnTo>
                <a:lnTo>
                  <a:pt x="210026" y="277399"/>
                </a:lnTo>
                <a:lnTo>
                  <a:pt x="250190" y="250190"/>
                </a:lnTo>
                <a:lnTo>
                  <a:pt x="277399" y="209931"/>
                </a:lnTo>
                <a:lnTo>
                  <a:pt x="286512" y="162052"/>
                </a:lnTo>
                <a:lnTo>
                  <a:pt x="284230" y="137100"/>
                </a:lnTo>
                <a:lnTo>
                  <a:pt x="266045" y="93007"/>
                </a:lnTo>
                <a:lnTo>
                  <a:pt x="230989" y="58058"/>
                </a:lnTo>
                <a:lnTo>
                  <a:pt x="186967" y="39874"/>
                </a:lnTo>
                <a:lnTo>
                  <a:pt x="162052" y="37592"/>
                </a:lnTo>
                <a:lnTo>
                  <a:pt x="264705" y="37592"/>
                </a:lnTo>
                <a:lnTo>
                  <a:pt x="297422" y="72505"/>
                </a:lnTo>
                <a:lnTo>
                  <a:pt x="321147" y="129758"/>
                </a:lnTo>
                <a:lnTo>
                  <a:pt x="324104" y="162052"/>
                </a:lnTo>
                <a:lnTo>
                  <a:pt x="321147" y="194345"/>
                </a:lnTo>
                <a:lnTo>
                  <a:pt x="312261" y="224186"/>
                </a:lnTo>
                <a:lnTo>
                  <a:pt x="297422" y="251598"/>
                </a:lnTo>
                <a:lnTo>
                  <a:pt x="276606" y="276606"/>
                </a:lnTo>
                <a:lnTo>
                  <a:pt x="264705" y="286512"/>
                </a:lnTo>
                <a:close/>
              </a:path>
            </a:pathLst>
          </a:custGeom>
          <a:solidFill>
            <a:srgbClr val="FEBC2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3" name="object 33"/>
          <p:cNvSpPr/>
          <p:nvPr/>
        </p:nvSpPr>
        <p:spPr>
          <a:xfrm>
            <a:off x="6432613" y="5280088"/>
            <a:ext cx="250698" cy="250697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4" name="object 34"/>
          <p:cNvSpPr/>
          <p:nvPr/>
        </p:nvSpPr>
        <p:spPr>
          <a:xfrm>
            <a:off x="7061263" y="5280088"/>
            <a:ext cx="250698" cy="250697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/>
          <p:nvPr/>
        </p:nvSpPr>
        <p:spPr>
          <a:xfrm>
            <a:off x="7690510" y="5321093"/>
            <a:ext cx="230241" cy="220805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/>
          <p:nvPr/>
        </p:nvSpPr>
        <p:spPr>
          <a:xfrm>
            <a:off x="8299512" y="5280088"/>
            <a:ext cx="250698" cy="250697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7" name="object 37"/>
          <p:cNvSpPr/>
          <p:nvPr/>
        </p:nvSpPr>
        <p:spPr>
          <a:xfrm>
            <a:off x="8938285" y="5321093"/>
            <a:ext cx="230241" cy="220805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8" name="object 38"/>
          <p:cNvSpPr/>
          <p:nvPr/>
        </p:nvSpPr>
        <p:spPr>
          <a:xfrm>
            <a:off x="9547287" y="5280088"/>
            <a:ext cx="250698" cy="250697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9" name="object 39"/>
          <p:cNvSpPr/>
          <p:nvPr/>
        </p:nvSpPr>
        <p:spPr>
          <a:xfrm>
            <a:off x="10185383" y="5321315"/>
            <a:ext cx="231473" cy="163687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0" name="object 4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319212" y="1638300"/>
            <a:ext cx="0" cy="866775"/>
          </a:xfrm>
          <a:custGeom>
            <a:avLst/>
            <a:gdLst/>
            <a:ahLst/>
            <a:cxnLst/>
            <a:rect l="l" t="t" r="r" b="b"/>
            <a:pathLst>
              <a:path w="0" h="866775">
                <a:moveTo>
                  <a:pt x="0" y="0"/>
                </a:moveTo>
                <a:lnTo>
                  <a:pt x="0" y="866774"/>
                </a:lnTo>
              </a:path>
            </a:pathLst>
          </a:custGeom>
          <a:ln w="47624">
            <a:solidFill>
              <a:srgbClr val="C2132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1319212" y="3200399"/>
            <a:ext cx="0" cy="3086100"/>
          </a:xfrm>
          <a:custGeom>
            <a:avLst/>
            <a:gdLst/>
            <a:ahLst/>
            <a:cxnLst/>
            <a:rect l="l" t="t" r="r" b="b"/>
            <a:pathLst>
              <a:path w="0" h="3086100">
                <a:moveTo>
                  <a:pt x="0" y="0"/>
                </a:moveTo>
                <a:lnTo>
                  <a:pt x="0" y="3086099"/>
                </a:lnTo>
              </a:path>
            </a:pathLst>
          </a:custGeom>
          <a:ln w="47624">
            <a:solidFill>
              <a:srgbClr val="C2132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343024" y="1638300"/>
            <a:ext cx="5010150" cy="866775"/>
          </a:xfrm>
          <a:prstGeom prst="rect">
            <a:avLst/>
          </a:prstGeom>
          <a:solidFill>
            <a:srgbClr val="F9F9F9"/>
          </a:solidFill>
        </p:spPr>
        <p:txBody>
          <a:bodyPr wrap="square" lIns="0" tIns="15875" rIns="0" bIns="0" rtlCol="0" vert="horz">
            <a:spAutoFit/>
          </a:bodyPr>
          <a:lstStyle/>
          <a:p>
            <a:pPr marL="205104">
              <a:lnSpc>
                <a:spcPct val="100000"/>
              </a:lnSpc>
              <a:spcBef>
                <a:spcPts val="125"/>
              </a:spcBef>
            </a:pP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Q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: People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get passionate when Apple comes</a:t>
            </a:r>
            <a:r>
              <a:rPr dirty="0" sz="1600" spc="-3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out</a:t>
            </a:r>
            <a:endParaRPr sz="1600">
              <a:latin typeface="Roboto"/>
              <a:cs typeface="Roboto"/>
            </a:endParaRPr>
          </a:p>
          <a:p>
            <a:pPr marL="205104" marR="3175">
              <a:lnSpc>
                <a:spcPct val="117200"/>
              </a:lnSpc>
            </a:pP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with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something new—the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iPhone; of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course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...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Is that 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something </a:t>
            </a:r>
            <a:r>
              <a:rPr dirty="0" sz="1600" spc="-5" b="1">
                <a:solidFill>
                  <a:srgbClr val="C2132D"/>
                </a:solidFill>
                <a:latin typeface="Roboto"/>
                <a:cs typeface="Roboto"/>
              </a:rPr>
              <a:t>you'd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want them </a:t>
            </a:r>
            <a:r>
              <a:rPr dirty="0" sz="1600" spc="-5" b="1">
                <a:solidFill>
                  <a:srgbClr val="C2132D"/>
                </a:solidFill>
                <a:latin typeface="Roboto"/>
                <a:cs typeface="Roboto"/>
              </a:rPr>
              <a:t>to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feel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about</a:t>
            </a:r>
            <a:r>
              <a:rPr dirty="0" sz="1600" spc="-4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Microsoft?</a:t>
            </a:r>
            <a:endParaRPr sz="1600">
              <a:latin typeface="Roboto"/>
              <a:cs typeface="Robo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43024" y="3200399"/>
            <a:ext cx="5010150" cy="3086100"/>
          </a:xfrm>
          <a:prstGeom prst="rect">
            <a:avLst/>
          </a:prstGeom>
          <a:solidFill>
            <a:srgbClr val="F9F9F9"/>
          </a:solidFill>
        </p:spPr>
        <p:txBody>
          <a:bodyPr wrap="square" lIns="0" tIns="15875" rIns="0" bIns="0" rtlCol="0" vert="horz">
            <a:spAutoFit/>
          </a:bodyPr>
          <a:lstStyle/>
          <a:p>
            <a:pPr marL="205104">
              <a:lnSpc>
                <a:spcPct val="100000"/>
              </a:lnSpc>
              <a:spcBef>
                <a:spcPts val="125"/>
              </a:spcBef>
            </a:pP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A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600" spc="-10">
                <a:solidFill>
                  <a:srgbClr val="585D60"/>
                </a:solidFill>
                <a:latin typeface="Roboto"/>
                <a:cs typeface="Roboto"/>
              </a:rPr>
              <a:t>It's </a:t>
            </a:r>
            <a:r>
              <a:rPr dirty="0" sz="1600" spc="15">
                <a:solidFill>
                  <a:srgbClr val="585D60"/>
                </a:solidFill>
                <a:latin typeface="Roboto"/>
                <a:cs typeface="Roboto"/>
              </a:rPr>
              <a:t>sort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a funny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question.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Would I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trade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96%</a:t>
            </a:r>
            <a:r>
              <a:rPr dirty="0" sz="1600" spc="-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of</a:t>
            </a:r>
            <a:endParaRPr sz="1600">
              <a:latin typeface="Roboto"/>
              <a:cs typeface="Roboto"/>
            </a:endParaRPr>
          </a:p>
          <a:p>
            <a:pPr marL="205104">
              <a:lnSpc>
                <a:spcPct val="100000"/>
              </a:lnSpc>
              <a:spcBef>
                <a:spcPts val="280"/>
              </a:spcBef>
            </a:pP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the market for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4%?</a:t>
            </a:r>
            <a:r>
              <a:rPr dirty="0" sz="1600" spc="-2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650" spc="100" i="1">
                <a:solidFill>
                  <a:srgbClr val="585D60"/>
                </a:solidFill>
                <a:latin typeface="Gill Sans MT"/>
                <a:cs typeface="Gill Sans MT"/>
              </a:rPr>
              <a:t>(Laughter.)</a:t>
            </a:r>
            <a:endParaRPr sz="1650">
              <a:latin typeface="Gill Sans MT"/>
              <a:cs typeface="Gill Sans MT"/>
            </a:endParaRPr>
          </a:p>
          <a:p>
            <a:pPr marL="205104" marR="92710">
              <a:lnSpc>
                <a:spcPct val="118500"/>
              </a:lnSpc>
              <a:spcBef>
                <a:spcPts val="790"/>
              </a:spcBef>
            </a:pP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I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want </a:t>
            </a:r>
            <a:r>
              <a:rPr dirty="0" sz="1600" spc="-5" b="1">
                <a:solidFill>
                  <a:srgbClr val="C2132D"/>
                </a:solidFill>
                <a:latin typeface="Roboto"/>
                <a:cs typeface="Roboto"/>
              </a:rPr>
              <a:t>to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have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products that appeal </a:t>
            </a:r>
            <a:r>
              <a:rPr dirty="0" sz="1600" spc="-5" b="1">
                <a:solidFill>
                  <a:srgbClr val="C2132D"/>
                </a:solidFill>
                <a:latin typeface="Roboto"/>
                <a:cs typeface="Roboto"/>
              </a:rPr>
              <a:t>to everybody. </a:t>
            </a:r>
            <a:r>
              <a:rPr dirty="0" sz="1600" spc="-5" b="1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600" spc="-5">
                <a:solidFill>
                  <a:srgbClr val="585D60"/>
                </a:solidFill>
                <a:latin typeface="Roboto"/>
                <a:cs typeface="Roboto"/>
              </a:rPr>
              <a:t>There's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no chance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that the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iPhone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is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going </a:t>
            </a:r>
            <a:r>
              <a:rPr dirty="0" sz="1600" spc="-5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get  any </a:t>
            </a:r>
            <a:r>
              <a:rPr dirty="0" sz="1600">
                <a:solidFill>
                  <a:srgbClr val="585D60"/>
                </a:solidFill>
                <a:latin typeface="Roboto"/>
                <a:cs typeface="Roboto"/>
              </a:rPr>
              <a:t>significant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market share.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No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chance. </a:t>
            </a:r>
            <a:r>
              <a:rPr dirty="0" sz="1600" spc="-10">
                <a:solidFill>
                  <a:srgbClr val="585D60"/>
                </a:solidFill>
                <a:latin typeface="Roboto"/>
                <a:cs typeface="Roboto"/>
              </a:rPr>
              <a:t>It's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a $500 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subsidized item. They may make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lot of</a:t>
            </a:r>
            <a:r>
              <a:rPr dirty="0" sz="1600" spc="-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600" spc="-10">
                <a:solidFill>
                  <a:srgbClr val="585D60"/>
                </a:solidFill>
                <a:latin typeface="Roboto"/>
                <a:cs typeface="Roboto"/>
              </a:rPr>
              <a:t>money.</a:t>
            </a:r>
            <a:endParaRPr sz="1600">
              <a:latin typeface="Roboto"/>
              <a:cs typeface="Roboto"/>
            </a:endParaRPr>
          </a:p>
          <a:p>
            <a:pPr marL="205104" marR="80010">
              <a:lnSpc>
                <a:spcPct val="118500"/>
              </a:lnSpc>
              <a:spcBef>
                <a:spcPts val="800"/>
              </a:spcBef>
            </a:pP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But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if you actually </a:t>
            </a:r>
            <a:r>
              <a:rPr dirty="0" sz="1600">
                <a:solidFill>
                  <a:srgbClr val="585D60"/>
                </a:solidFill>
                <a:latin typeface="Roboto"/>
                <a:cs typeface="Roboto"/>
              </a:rPr>
              <a:t>take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look at the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1.3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billion 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phones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that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get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sold, </a:t>
            </a:r>
            <a:r>
              <a:rPr dirty="0" sz="1600" spc="-10" b="1">
                <a:solidFill>
                  <a:srgbClr val="C2132D"/>
                </a:solidFill>
                <a:latin typeface="Roboto"/>
                <a:cs typeface="Roboto"/>
              </a:rPr>
              <a:t>I'd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prefer </a:t>
            </a:r>
            <a:r>
              <a:rPr dirty="0" sz="1600" spc="-5" b="1">
                <a:solidFill>
                  <a:srgbClr val="C2132D"/>
                </a:solidFill>
                <a:latin typeface="Roboto"/>
                <a:cs typeface="Roboto"/>
              </a:rPr>
              <a:t>to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have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our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software  in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60%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or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70%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or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80%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of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them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, than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I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would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2%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or 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3%, which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is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what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Apple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might</a:t>
            </a:r>
            <a:r>
              <a:rPr dirty="0" sz="1600" spc="-4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get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1600">
              <a:latin typeface="Roboto"/>
              <a:cs typeface="Robo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124700" y="1543050"/>
            <a:ext cx="3486149" cy="287654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7246987" y="4562347"/>
            <a:ext cx="3237230" cy="90170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algn="ctr" marL="12065" marR="5080">
              <a:lnSpc>
                <a:spcPct val="119100"/>
              </a:lnSpc>
              <a:spcBef>
                <a:spcPts val="135"/>
              </a:spcBef>
            </a:pPr>
            <a:r>
              <a:rPr dirty="0" sz="1600">
                <a:solidFill>
                  <a:srgbClr val="585D60"/>
                </a:solidFill>
                <a:latin typeface="Roboto"/>
                <a:cs typeface="Roboto"/>
              </a:rPr>
              <a:t>Steve </a:t>
            </a:r>
            <a:r>
              <a:rPr dirty="0" sz="1600" spc="-5">
                <a:solidFill>
                  <a:srgbClr val="585D60"/>
                </a:solidFill>
                <a:latin typeface="Roboto"/>
                <a:cs typeface="Roboto"/>
              </a:rPr>
              <a:t>Ballmer,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Former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CEO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of  Microsoft in his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infamous</a:t>
            </a:r>
            <a:r>
              <a:rPr dirty="0" sz="1600" spc="-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interview 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with </a:t>
            </a:r>
            <a:r>
              <a:rPr dirty="0" sz="1600" spc="10">
                <a:solidFill>
                  <a:srgbClr val="83D5D3"/>
                </a:solidFill>
                <a:latin typeface="Roboto"/>
                <a:cs typeface="Roboto"/>
              </a:rPr>
              <a:t>USA </a:t>
            </a:r>
            <a:r>
              <a:rPr dirty="0" sz="1600" spc="-10">
                <a:solidFill>
                  <a:srgbClr val="83D5D3"/>
                </a:solidFill>
                <a:latin typeface="Roboto"/>
                <a:cs typeface="Roboto"/>
              </a:rPr>
              <a:t>Today</a:t>
            </a:r>
            <a:r>
              <a:rPr dirty="0" sz="1600" spc="-50">
                <a:solidFill>
                  <a:srgbClr val="83D5D3"/>
                </a:solidFill>
                <a:latin typeface="Roboto"/>
                <a:cs typeface="Roboto"/>
              </a:rPr>
              <a:t> </a:t>
            </a:r>
            <a:r>
              <a:rPr dirty="0" sz="1600" spc="10">
                <a:solidFill>
                  <a:srgbClr val="83D5D3"/>
                </a:solidFill>
                <a:latin typeface="Roboto"/>
                <a:cs typeface="Roboto"/>
              </a:rPr>
              <a:t>2007</a:t>
            </a:r>
            <a:endParaRPr sz="1600">
              <a:latin typeface="Roboto"/>
              <a:cs typeface="Roboto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73696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5">
                <a:latin typeface="Roboto Condensed"/>
                <a:cs typeface="Roboto Condensed"/>
              </a:rPr>
              <a:t>Microsoft's </a:t>
            </a:r>
            <a:r>
              <a:rPr dirty="0" sz="3350" spc="10">
                <a:latin typeface="Roboto Condensed"/>
                <a:cs typeface="Roboto Condensed"/>
              </a:rPr>
              <a:t>Missed </a:t>
            </a:r>
            <a:r>
              <a:rPr dirty="0" sz="3350" spc="15">
                <a:latin typeface="Roboto Condensed"/>
                <a:cs typeface="Roboto Condensed"/>
              </a:rPr>
              <a:t>Opportunity </a:t>
            </a:r>
            <a:r>
              <a:rPr dirty="0" sz="3350" spc="10">
                <a:latin typeface="Roboto Condensed"/>
                <a:cs typeface="Roboto Condensed"/>
              </a:rPr>
              <a:t>with Mobile</a:t>
            </a:r>
            <a:r>
              <a:rPr dirty="0" sz="3350" spc="-1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Phones</a:t>
            </a:r>
            <a:endParaRPr sz="3350">
              <a:latin typeface="Roboto Condensed"/>
              <a:cs typeface="Roboto Condense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473792" y="1780920"/>
            <a:ext cx="4137056" cy="216511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6471369" y="4247963"/>
            <a:ext cx="3918934" cy="2165723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933704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5">
                <a:latin typeface="Roboto Condensed"/>
                <a:cs typeface="Roboto Condensed"/>
              </a:rPr>
              <a:t>Microsoft's </a:t>
            </a:r>
            <a:r>
              <a:rPr dirty="0" sz="3350" spc="10">
                <a:latin typeface="Roboto Condensed"/>
                <a:cs typeface="Roboto Condensed"/>
              </a:rPr>
              <a:t>Missed </a:t>
            </a:r>
            <a:r>
              <a:rPr dirty="0" sz="3350" spc="15">
                <a:latin typeface="Roboto Condensed"/>
                <a:cs typeface="Roboto Condensed"/>
              </a:rPr>
              <a:t>Opportunity: </a:t>
            </a:r>
            <a:r>
              <a:rPr dirty="0" sz="3350" spc="10">
                <a:latin typeface="Roboto Condensed"/>
                <a:cs typeface="Roboto Condensed"/>
              </a:rPr>
              <a:t>Back of a Napkin</a:t>
            </a:r>
            <a:r>
              <a:rPr dirty="0" sz="3350" spc="-3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Calc.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162149" y="1600072"/>
            <a:ext cx="4048125" cy="41783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32715" marR="5080" indent="-120650">
              <a:lnSpc>
                <a:spcPct val="117200"/>
              </a:lnSpc>
              <a:spcBef>
                <a:spcPts val="95"/>
              </a:spcBef>
              <a:buClr>
                <a:srgbClr val="C2132D"/>
              </a:buClr>
              <a:buChar char="•"/>
              <a:tabLst>
                <a:tab pos="133350" algn="l"/>
              </a:tabLst>
            </a:pP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Since Q1 2009,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Windows'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Mobile </a:t>
            </a:r>
            <a:r>
              <a:rPr dirty="0" sz="1600" spc="-10" b="1">
                <a:solidFill>
                  <a:srgbClr val="C2132D"/>
                </a:solidFill>
                <a:latin typeface="Roboto"/>
                <a:cs typeface="Roboto"/>
              </a:rPr>
              <a:t>OS's 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market share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&lt;=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2.5%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is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now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at</a:t>
            </a:r>
            <a:r>
              <a:rPr dirty="0" sz="1600" spc="-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0.02% 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(</a:t>
            </a:r>
            <a:r>
              <a:rPr dirty="0" sz="1600" spc="5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StatCounter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).</a:t>
            </a:r>
            <a:endParaRPr sz="1600">
              <a:latin typeface="Roboto"/>
              <a:cs typeface="Roboto"/>
            </a:endParaRPr>
          </a:p>
          <a:p>
            <a:pPr marL="132715" marR="281940" indent="-120650">
              <a:lnSpc>
                <a:spcPct val="121100"/>
              </a:lnSpc>
              <a:spcBef>
                <a:spcPts val="750"/>
              </a:spcBef>
              <a:buFont typeface="Roboto"/>
              <a:buChar char="•"/>
              <a:tabLst>
                <a:tab pos="133350" algn="l"/>
              </a:tabLst>
            </a:pPr>
            <a:r>
              <a:rPr dirty="0" sz="1600" spc="-10" b="1">
                <a:solidFill>
                  <a:srgbClr val="C2132D"/>
                </a:solidFill>
                <a:latin typeface="Roboto"/>
                <a:cs typeface="Roboto"/>
              </a:rPr>
              <a:t>Apple's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Mobile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iOS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market share &gt;</a:t>
            </a:r>
            <a:r>
              <a:rPr dirty="0" sz="1600" spc="-4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19%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,  and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is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now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at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27.69%</a:t>
            </a:r>
            <a:r>
              <a:rPr dirty="0" sz="1600" spc="-1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(</a:t>
            </a:r>
            <a:r>
              <a:rPr dirty="0" sz="1600" spc="5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StatCounter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).</a:t>
            </a:r>
            <a:endParaRPr sz="1600">
              <a:latin typeface="Roboto"/>
              <a:cs typeface="Roboto"/>
            </a:endParaRPr>
          </a:p>
          <a:p>
            <a:pPr marL="132715" marR="393065" indent="-120650">
              <a:lnSpc>
                <a:spcPct val="1172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133350" algn="l"/>
              </a:tabLst>
            </a:pPr>
            <a:r>
              <a:rPr dirty="0" sz="1600" spc="-5">
                <a:solidFill>
                  <a:srgbClr val="585D60"/>
                </a:solidFill>
                <a:latin typeface="Roboto"/>
                <a:cs typeface="Roboto"/>
              </a:rPr>
              <a:t>Apple's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iPhone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revenues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from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2007 </a:t>
            </a:r>
            <a:r>
              <a:rPr dirty="0" sz="1600" spc="-5">
                <a:solidFill>
                  <a:srgbClr val="585D60"/>
                </a:solidFill>
                <a:latin typeface="Roboto"/>
                <a:cs typeface="Roboto"/>
              </a:rPr>
              <a:t>to 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2024 was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$2.037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trillion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(per</a:t>
            </a:r>
            <a:r>
              <a:rPr dirty="0" sz="1600" spc="-3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600" spc="5">
                <a:solidFill>
                  <a:srgbClr val="83D5D3"/>
                </a:solidFill>
                <a:latin typeface="Roboto"/>
                <a:cs typeface="Roboto"/>
                <a:hlinkClick r:id="rId5"/>
              </a:rPr>
              <a:t>statista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).</a:t>
            </a:r>
            <a:endParaRPr sz="1600">
              <a:latin typeface="Roboto"/>
              <a:cs typeface="Roboto"/>
            </a:endParaRPr>
          </a:p>
          <a:p>
            <a:pPr marL="132715" marR="59055" indent="-120650">
              <a:lnSpc>
                <a:spcPct val="1172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133350" algn="l"/>
              </a:tabLst>
            </a:pP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Assuming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Microsoft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could </a:t>
            </a:r>
            <a:r>
              <a:rPr dirty="0" sz="1600">
                <a:solidFill>
                  <a:srgbClr val="585D60"/>
                </a:solidFill>
                <a:latin typeface="Roboto"/>
                <a:cs typeface="Roboto"/>
              </a:rPr>
              <a:t>have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captured  just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5%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600" spc="-5">
                <a:solidFill>
                  <a:srgbClr val="585D60"/>
                </a:solidFill>
                <a:latin typeface="Roboto"/>
                <a:cs typeface="Roboto"/>
              </a:rPr>
              <a:t>Apple's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market </a:t>
            </a:r>
            <a:r>
              <a:rPr dirty="0" sz="1600">
                <a:solidFill>
                  <a:srgbClr val="585D60"/>
                </a:solidFill>
                <a:latin typeface="Roboto"/>
                <a:cs typeface="Roboto"/>
              </a:rPr>
              <a:t>revenue </a:t>
            </a:r>
            <a:r>
              <a:rPr dirty="0" sz="850" spc="770">
                <a:solidFill>
                  <a:srgbClr val="585D60"/>
                </a:solidFill>
                <a:latin typeface="Arial"/>
                <a:cs typeface="Arial"/>
              </a:rPr>
              <a:t>→</a:t>
            </a:r>
            <a:r>
              <a:rPr dirty="0" sz="850" spc="17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$102 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billion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1600">
              <a:latin typeface="Roboto"/>
              <a:cs typeface="Roboto"/>
            </a:endParaRPr>
          </a:p>
          <a:p>
            <a:pPr marL="132715" marR="232410" indent="-120650">
              <a:lnSpc>
                <a:spcPct val="119100"/>
              </a:lnSpc>
              <a:spcBef>
                <a:spcPts val="785"/>
              </a:spcBef>
              <a:buClr>
                <a:srgbClr val="C2132D"/>
              </a:buClr>
              <a:buChar char="•"/>
              <a:tabLst>
                <a:tab pos="133350" algn="l"/>
              </a:tabLst>
            </a:pP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This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estimate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excludes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app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store </a:t>
            </a:r>
            <a:r>
              <a:rPr dirty="0" sz="1600" spc="10" b="1">
                <a:solidFill>
                  <a:srgbClr val="C2132D"/>
                </a:solidFill>
                <a:latin typeface="Roboto"/>
                <a:cs typeface="Roboto"/>
              </a:rPr>
              <a:t>and  </a:t>
            </a:r>
            <a:r>
              <a:rPr dirty="0" sz="1600" b="1">
                <a:solidFill>
                  <a:srgbClr val="C2132D"/>
                </a:solidFill>
                <a:latin typeface="Roboto"/>
                <a:cs typeface="Roboto"/>
              </a:rPr>
              <a:t>brand </a:t>
            </a:r>
            <a:r>
              <a:rPr dirty="0" sz="1600" spc="5" b="1">
                <a:solidFill>
                  <a:srgbClr val="C2132D"/>
                </a:solidFill>
                <a:latin typeface="Roboto"/>
                <a:cs typeface="Roboto"/>
              </a:rPr>
              <a:t>value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which </a:t>
            </a:r>
            <a:r>
              <a:rPr dirty="0" sz="1600" spc="5">
                <a:solidFill>
                  <a:srgbClr val="585D60"/>
                </a:solidFill>
                <a:latin typeface="Roboto"/>
                <a:cs typeface="Roboto"/>
              </a:rPr>
              <a:t>will make the </a:t>
            </a:r>
            <a:r>
              <a:rPr dirty="0" sz="1600" spc="10">
                <a:solidFill>
                  <a:srgbClr val="585D60"/>
                </a:solidFill>
                <a:latin typeface="Roboto"/>
                <a:cs typeface="Roboto"/>
              </a:rPr>
              <a:t>missed  opportunity </a:t>
            </a:r>
            <a:r>
              <a:rPr dirty="0" sz="1600">
                <a:solidFill>
                  <a:srgbClr val="585D60"/>
                </a:solidFill>
                <a:latin typeface="Roboto"/>
                <a:cs typeface="Roboto"/>
              </a:rPr>
              <a:t>even</a:t>
            </a:r>
            <a:r>
              <a:rPr dirty="0" sz="16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600" spc="-10">
                <a:solidFill>
                  <a:srgbClr val="585D60"/>
                </a:solidFill>
                <a:latin typeface="Roboto"/>
                <a:cs typeface="Roboto"/>
              </a:rPr>
              <a:t>larger.</a:t>
            </a:r>
            <a:endParaRPr sz="16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895475" y="1543050"/>
            <a:ext cx="2409824" cy="180974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837382" y="3595369"/>
            <a:ext cx="2517775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5" b="1">
                <a:solidFill>
                  <a:srgbClr val="C2132D"/>
                </a:solidFill>
                <a:latin typeface="Roboto"/>
                <a:cs typeface="Roboto"/>
              </a:rPr>
              <a:t>IBM</a:t>
            </a:r>
            <a:r>
              <a:rPr dirty="0" sz="1450" spc="-5">
                <a:solidFill>
                  <a:srgbClr val="585D60"/>
                </a:solidFill>
                <a:latin typeface="Roboto"/>
                <a:cs typeface="Roboto"/>
              </a:rPr>
              <a:t>: Missed the 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PC</a:t>
            </a:r>
            <a:r>
              <a:rPr dirty="0" sz="1450" spc="-6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revolution.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514474" y="4089969"/>
            <a:ext cx="3162299" cy="171075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284783" y="6033769"/>
            <a:ext cx="3622675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10" b="1">
                <a:solidFill>
                  <a:srgbClr val="C2132D"/>
                </a:solidFill>
                <a:latin typeface="Roboto"/>
                <a:cs typeface="Roboto"/>
              </a:rPr>
              <a:t>Kodak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450" spc="-5">
                <a:solidFill>
                  <a:srgbClr val="585D60"/>
                </a:solidFill>
                <a:latin typeface="Roboto"/>
                <a:cs typeface="Roboto"/>
              </a:rPr>
              <a:t>Missed the digital </a:t>
            </a:r>
            <a:r>
              <a:rPr dirty="0" sz="1450" spc="-15">
                <a:solidFill>
                  <a:srgbClr val="585D60"/>
                </a:solidFill>
                <a:latin typeface="Roboto"/>
                <a:cs typeface="Roboto"/>
              </a:rPr>
              <a:t>camera</a:t>
            </a:r>
            <a:r>
              <a:rPr dirty="0" sz="1450" spc="-2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revolution.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58025" y="1543050"/>
            <a:ext cx="2743199" cy="1809749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548983" y="3595369"/>
            <a:ext cx="376047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5" b="1">
                <a:solidFill>
                  <a:srgbClr val="C2132D"/>
                </a:solidFill>
                <a:latin typeface="Roboto"/>
                <a:cs typeface="Roboto"/>
              </a:rPr>
              <a:t>Blockbuster</a:t>
            </a:r>
            <a:r>
              <a:rPr dirty="0" sz="1450" spc="-5">
                <a:solidFill>
                  <a:srgbClr val="585D60"/>
                </a:solidFill>
                <a:latin typeface="Roboto"/>
                <a:cs typeface="Roboto"/>
              </a:rPr>
              <a:t>: Missed the 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streaming</a:t>
            </a:r>
            <a:r>
              <a:rPr dirty="0" sz="1450" spc="-3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revolution.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414640" y="4063364"/>
            <a:ext cx="2029967" cy="167703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6627713" y="6033769"/>
            <a:ext cx="360299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15" b="1">
                <a:solidFill>
                  <a:srgbClr val="C2132D"/>
                </a:solidFill>
                <a:latin typeface="Roboto"/>
                <a:cs typeface="Roboto"/>
              </a:rPr>
              <a:t>Yahoo</a:t>
            </a:r>
            <a:r>
              <a:rPr dirty="0" sz="1450" spc="-1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450" spc="-5">
                <a:solidFill>
                  <a:srgbClr val="585D60"/>
                </a:solidFill>
                <a:latin typeface="Roboto"/>
                <a:cs typeface="Roboto"/>
              </a:rPr>
              <a:t>Missed the 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search </a:t>
            </a:r>
            <a:r>
              <a:rPr dirty="0" sz="1450" spc="-5">
                <a:solidFill>
                  <a:srgbClr val="585D60"/>
                </a:solidFill>
                <a:latin typeface="Roboto"/>
                <a:cs typeface="Roboto"/>
              </a:rPr>
              <a:t>engine</a:t>
            </a:r>
            <a:r>
              <a:rPr dirty="0" sz="1450" spc="-3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450" spc="-10">
                <a:solidFill>
                  <a:srgbClr val="585D60"/>
                </a:solidFill>
                <a:latin typeface="Roboto"/>
                <a:cs typeface="Roboto"/>
              </a:rPr>
              <a:t>revolution.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68032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Other </a:t>
            </a:r>
            <a:r>
              <a:rPr dirty="0" sz="3350" spc="5">
                <a:latin typeface="Roboto Condensed"/>
                <a:cs typeface="Roboto Condensed"/>
              </a:rPr>
              <a:t>Real-World Forecasting </a:t>
            </a:r>
            <a:r>
              <a:rPr dirty="0" sz="3350" spc="-5">
                <a:latin typeface="Roboto Condensed"/>
                <a:cs typeface="Roboto Condensed"/>
              </a:rPr>
              <a:t>Failures </a:t>
            </a:r>
            <a:r>
              <a:rPr dirty="0" sz="3350" spc="10">
                <a:latin typeface="Roboto Condensed"/>
                <a:cs typeface="Roboto Condensed"/>
              </a:rPr>
              <a:t>in</a:t>
            </a:r>
            <a:r>
              <a:rPr dirty="0" sz="3350" spc="-95">
                <a:latin typeface="Roboto Condensed"/>
                <a:cs typeface="Roboto Condensed"/>
              </a:rPr>
              <a:t> </a:t>
            </a:r>
            <a:r>
              <a:rPr dirty="0" sz="3350" spc="-30">
                <a:latin typeface="Roboto Condensed"/>
                <a:cs typeface="Roboto Condensed"/>
              </a:rPr>
              <a:t>Tech</a:t>
            </a:r>
            <a:endParaRPr sz="3350">
              <a:latin typeface="Roboto Condensed"/>
              <a:cs typeface="Roboto Condense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24992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0">
                <a:latin typeface="Roboto Condensed"/>
                <a:cs typeface="Roboto Condensed"/>
              </a:rPr>
              <a:t>Non-Tech </a:t>
            </a:r>
            <a:r>
              <a:rPr dirty="0" sz="3350" spc="-5">
                <a:latin typeface="Roboto Condensed"/>
                <a:cs typeface="Roboto Condensed"/>
              </a:rPr>
              <a:t>Failures: </a:t>
            </a:r>
            <a:r>
              <a:rPr dirty="0" sz="3350" spc="10">
                <a:latin typeface="Roboto Condensed"/>
                <a:cs typeface="Roboto Condensed"/>
              </a:rPr>
              <a:t>Red </a:t>
            </a:r>
            <a:r>
              <a:rPr dirty="0" sz="3350" spc="-5">
                <a:latin typeface="Roboto Condensed"/>
                <a:cs typeface="Roboto Condensed"/>
              </a:rPr>
              <a:t>Lobster's </a:t>
            </a:r>
            <a:r>
              <a:rPr dirty="0" sz="3350" spc="10">
                <a:latin typeface="Roboto Condensed"/>
                <a:cs typeface="Roboto Condensed"/>
              </a:rPr>
              <a:t>Endless</a:t>
            </a:r>
            <a:r>
              <a:rPr dirty="0" sz="3350" spc="7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Shrimp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892241" y="1490486"/>
            <a:ext cx="5697603" cy="492654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23455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0">
                <a:latin typeface="Roboto Condensed"/>
                <a:cs typeface="Roboto Condensed"/>
              </a:rPr>
              <a:t>Non-Tech </a:t>
            </a:r>
            <a:r>
              <a:rPr dirty="0" sz="3350" spc="-5">
                <a:latin typeface="Roboto Condensed"/>
                <a:cs typeface="Roboto Condensed"/>
              </a:rPr>
              <a:t>Failures: </a:t>
            </a:r>
            <a:r>
              <a:rPr dirty="0" sz="3350" spc="-35">
                <a:latin typeface="Roboto Condensed"/>
                <a:cs typeface="Roboto Condensed"/>
              </a:rPr>
              <a:t>Target's</a:t>
            </a:r>
            <a:r>
              <a:rPr dirty="0" sz="3350" spc="-30">
                <a:latin typeface="Roboto Condensed"/>
                <a:cs typeface="Roboto Condensed"/>
              </a:rPr>
              <a:t> </a:t>
            </a:r>
            <a:r>
              <a:rPr dirty="0" sz="3350" spc="5">
                <a:latin typeface="Roboto Condensed"/>
                <a:cs typeface="Roboto Condensed"/>
              </a:rPr>
              <a:t>Overestimation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641254" y="1477032"/>
            <a:ext cx="4159955" cy="493165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09079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Why Do These </a:t>
            </a:r>
            <a:r>
              <a:rPr dirty="0" sz="3350" spc="5">
                <a:latin typeface="Roboto Condensed"/>
                <a:cs typeface="Roboto Condensed"/>
              </a:rPr>
              <a:t>Stories</a:t>
            </a:r>
            <a:r>
              <a:rPr dirty="0" sz="3350" spc="-12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Matter?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631680" cy="20427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(1) Forecasting Errors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= Real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Money</a:t>
            </a:r>
            <a:r>
              <a:rPr dirty="0" sz="1800" spc="-2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Lost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5"/>
              </a:spcBef>
              <a:buFont typeface="Roboto"/>
              <a:buChar char="•"/>
              <a:tabLst>
                <a:tab pos="393700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Microsoft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$102 billion in potential mobile phone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revenues.</a:t>
            </a:r>
            <a:endParaRPr sz="1800">
              <a:latin typeface="Roboto"/>
              <a:cs typeface="Roboto"/>
            </a:endParaRPr>
          </a:p>
          <a:p>
            <a:pPr marL="393065" marR="7620" indent="-133985">
              <a:lnSpc>
                <a:spcPct val="114599"/>
              </a:lnSpc>
              <a:spcBef>
                <a:spcPts val="975"/>
              </a:spcBef>
              <a:buFont typeface="Roboto"/>
              <a:buChar char="•"/>
              <a:tabLst>
                <a:tab pos="393700" algn="l"/>
              </a:tabLst>
            </a:pPr>
            <a:r>
              <a:rPr dirty="0" sz="1800" spc="-25" b="1">
                <a:solidFill>
                  <a:srgbClr val="C2132D"/>
                </a:solidFill>
                <a:latin typeface="Roboto"/>
                <a:cs typeface="Roboto"/>
              </a:rPr>
              <a:t>Target: </a:t>
            </a:r>
            <a:r>
              <a:rPr dirty="0" sz="1800" spc="-5" b="1">
                <a:solidFill>
                  <a:srgbClr val="585D60"/>
                </a:solidFill>
                <a:latin typeface="Roboto"/>
                <a:cs typeface="Roboto"/>
              </a:rPr>
              <a:t>Overestimation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leads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unsold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stock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overservicing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(e.g., </a:t>
            </a:r>
            <a:r>
              <a:rPr dirty="0" sz="1800" spc="-2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Target's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Stock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Plunging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by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21% due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to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lower </a:t>
            </a:r>
            <a:r>
              <a:rPr dirty="0" sz="1800" spc="-1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profit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and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larger</a:t>
            </a:r>
            <a:r>
              <a:rPr dirty="0" sz="1800" spc="2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inventories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).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393700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Red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Lobster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$11M in losses due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 b="1">
                <a:solidFill>
                  <a:srgbClr val="585D60"/>
                </a:solidFill>
                <a:latin typeface="Roboto"/>
                <a:cs typeface="Roboto"/>
              </a:rPr>
              <a:t>underestimating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demand for their endless shrimp</a:t>
            </a:r>
            <a:r>
              <a:rPr dirty="0" sz="1800" spc="3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deal.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4149725"/>
            <a:ext cx="9708515" cy="16903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(2)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Course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Relevance:</a:t>
            </a:r>
            <a:endParaRPr sz="1800">
              <a:latin typeface="Roboto"/>
              <a:cs typeface="Roboto"/>
            </a:endParaRPr>
          </a:p>
          <a:p>
            <a:pPr marL="12700" marR="5080">
              <a:lnSpc>
                <a:spcPct val="115700"/>
              </a:lnSpc>
              <a:spcBef>
                <a:spcPts val="950"/>
              </a:spcBef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This class will teach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how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identify </a:t>
            </a:r>
            <a:r>
              <a:rPr dirty="0" sz="1800" spc="-5" b="1">
                <a:latin typeface="Roboto"/>
                <a:cs typeface="Roboto"/>
              </a:rPr>
              <a:t>trends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latin typeface="Roboto"/>
                <a:cs typeface="Roboto"/>
              </a:rPr>
              <a:t>seasonality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800" spc="-5" b="1">
                <a:latin typeface="Roboto"/>
                <a:cs typeface="Roboto"/>
              </a:rPr>
              <a:t>cycles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800" spc="-5" b="1">
                <a:latin typeface="Roboto"/>
                <a:cs typeface="Roboto"/>
              </a:rPr>
              <a:t>how </a:t>
            </a:r>
            <a:r>
              <a:rPr dirty="0" sz="1800" spc="-15" b="1">
                <a:latin typeface="Roboto"/>
                <a:cs typeface="Roboto"/>
              </a:rPr>
              <a:t>to </a:t>
            </a:r>
            <a:r>
              <a:rPr dirty="0" sz="1800" spc="-5" b="1">
                <a:latin typeface="Roboto"/>
                <a:cs typeface="Roboto"/>
              </a:rPr>
              <a:t>apply  forecasting </a:t>
            </a:r>
            <a:r>
              <a:rPr dirty="0" sz="1800" spc="-10" b="1">
                <a:latin typeface="Roboto"/>
                <a:cs typeface="Roboto"/>
              </a:rPr>
              <a:t>tools </a:t>
            </a:r>
            <a:r>
              <a:rPr dirty="0" sz="1800" spc="-5" b="1">
                <a:latin typeface="Roboto"/>
                <a:cs typeface="Roboto"/>
              </a:rPr>
              <a:t>and models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can 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avoid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these pitfalls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your future roles.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goal is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allow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make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data-driven forecasts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not just gut-based decisions, and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more importantly,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be  able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quantify the uncertainty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your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forecasts.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7944484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Can </a:t>
            </a:r>
            <a:r>
              <a:rPr dirty="0" sz="3350">
                <a:solidFill>
                  <a:srgbClr val="C2132D"/>
                </a:solidFill>
                <a:latin typeface="Roboto Condensed"/>
                <a:cs typeface="Roboto Condensed"/>
              </a:rPr>
              <a:t>you </a:t>
            </a:r>
            <a:r>
              <a:rPr dirty="0" sz="3350" spc="-15">
                <a:solidFill>
                  <a:srgbClr val="C2132D"/>
                </a:solidFill>
                <a:latin typeface="Roboto Condensed"/>
                <a:cs typeface="Roboto Condensed"/>
              </a:rPr>
              <a:t>Avoid </a:t>
            </a:r>
            <a:r>
              <a:rPr dirty="0" sz="3350" spc="15">
                <a:solidFill>
                  <a:srgbClr val="C2132D"/>
                </a:solidFill>
                <a:latin typeface="Roboto Condensed"/>
                <a:cs typeface="Roboto Condensed"/>
              </a:rPr>
              <a:t>Common </a:t>
            </a:r>
            <a:r>
              <a:rPr dirty="0" sz="3350" spc="5">
                <a:solidFill>
                  <a:srgbClr val="C2132D"/>
                </a:solidFill>
                <a:latin typeface="Roboto Condensed"/>
                <a:cs typeface="Roboto Condensed"/>
              </a:rPr>
              <a:t>Forecasting</a:t>
            </a:r>
            <a:r>
              <a:rPr dirty="0" sz="3350" spc="-5">
                <a:solidFill>
                  <a:srgbClr val="C2132D"/>
                </a:solidFill>
                <a:latin typeface="Roboto Condensed"/>
                <a:cs typeface="Roboto Condensed"/>
              </a:rPr>
              <a:t> </a:t>
            </a:r>
            <a:r>
              <a:rPr dirty="0" sz="3350" spc="5">
                <a:solidFill>
                  <a:srgbClr val="C2132D"/>
                </a:solidFill>
                <a:latin typeface="Roboto Condensed"/>
                <a:cs typeface="Roboto Condensed"/>
              </a:rPr>
              <a:t>Mistakes?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14400" y="2124075"/>
            <a:ext cx="9696450" cy="0"/>
          </a:xfrm>
          <a:custGeom>
            <a:avLst/>
            <a:gdLst/>
            <a:ahLst/>
            <a:cxnLst/>
            <a:rect l="l" t="t" r="r" b="b"/>
            <a:pathLst>
              <a:path w="9696450" h="0">
                <a:moveTo>
                  <a:pt x="0" y="0"/>
                </a:moveTo>
                <a:lnTo>
                  <a:pt x="9696449" y="0"/>
                </a:lnTo>
              </a:path>
            </a:pathLst>
          </a:custGeom>
          <a:ln w="19049">
            <a:solidFill>
              <a:srgbClr val="DDDDD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914400" y="1552575"/>
            <a:ext cx="1619250" cy="0"/>
          </a:xfrm>
          <a:custGeom>
            <a:avLst/>
            <a:gdLst/>
            <a:ahLst/>
            <a:cxnLst/>
            <a:rect l="l" t="t" r="r" b="b"/>
            <a:pathLst>
              <a:path w="1619250" h="0">
                <a:moveTo>
                  <a:pt x="0" y="0"/>
                </a:moveTo>
                <a:lnTo>
                  <a:pt x="1619249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2124075"/>
            <a:ext cx="1619250" cy="0"/>
          </a:xfrm>
          <a:custGeom>
            <a:avLst/>
            <a:gdLst/>
            <a:ahLst/>
            <a:cxnLst/>
            <a:rect l="l" t="t" r="r" b="b"/>
            <a:pathLst>
              <a:path w="1619250" h="0">
                <a:moveTo>
                  <a:pt x="0" y="0"/>
                </a:moveTo>
                <a:lnTo>
                  <a:pt x="1619249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130300" y="1673225"/>
            <a:ext cx="9462770" cy="4004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26870" algn="l"/>
                <a:tab pos="3161665" algn="l"/>
                <a:tab pos="4461510" algn="l"/>
                <a:tab pos="6294755" algn="l"/>
                <a:tab pos="806704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2"/>
              </a:rPr>
              <a:t>Description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	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  <a:hlinkClick r:id="rId3"/>
              </a:rPr>
              <a:t>Your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3"/>
              </a:rPr>
              <a:t> Logic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	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  <a:hlinkClick r:id="rId4"/>
              </a:rPr>
              <a:t>Your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4"/>
              </a:rPr>
              <a:t> Sol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	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5"/>
              </a:rPr>
              <a:t>Class Results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	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Fadel's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Logic	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Fadel's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Sol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650">
              <a:latin typeface="Roboto"/>
              <a:cs typeface="Roboto"/>
            </a:endParaRPr>
          </a:p>
          <a:p>
            <a:pPr algn="just" marL="165100" indent="-133985">
              <a:lnSpc>
                <a:spcPct val="100000"/>
              </a:lnSpc>
              <a:spcBef>
                <a:spcPts val="5"/>
              </a:spcBef>
              <a:buFont typeface="Roboto"/>
              <a:buChar char="•"/>
              <a:tabLst>
                <a:tab pos="165100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Scenario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business analyst at a hotel</a:t>
            </a:r>
            <a:r>
              <a:rPr dirty="0" sz="1800" spc="3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chain.</a:t>
            </a:r>
            <a:endParaRPr sz="1800">
              <a:latin typeface="Roboto"/>
              <a:cs typeface="Roboto"/>
            </a:endParaRPr>
          </a:p>
          <a:p>
            <a:pPr algn="just" marL="165100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165100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Problem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tasked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with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hotel occupancy for the next 11</a:t>
            </a:r>
            <a:r>
              <a:rPr dirty="0" sz="1800" spc="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months.</a:t>
            </a:r>
            <a:endParaRPr sz="1800">
              <a:latin typeface="Roboto"/>
              <a:cs typeface="Roboto"/>
            </a:endParaRPr>
          </a:p>
          <a:p>
            <a:pPr algn="just" marL="164465" marR="5080" indent="-133985">
              <a:lnSpc>
                <a:spcPct val="118100"/>
              </a:lnSpc>
              <a:spcBef>
                <a:spcPts val="819"/>
              </a:spcBef>
              <a:buFont typeface="Roboto"/>
              <a:buChar char="•"/>
              <a:tabLst>
                <a:tab pos="165100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Data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have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access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hotel's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monthly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room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occupancy data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from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2022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January of  2025. Download the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file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6"/>
              </a:rPr>
              <a:t>here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1800">
              <a:latin typeface="Roboto"/>
              <a:cs typeface="Roboto"/>
            </a:endParaRPr>
          </a:p>
          <a:p>
            <a:pPr algn="just" marL="164465" marR="367030" indent="-133985">
              <a:lnSpc>
                <a:spcPct val="118100"/>
              </a:lnSpc>
              <a:spcBef>
                <a:spcPts val="825"/>
              </a:spcBef>
              <a:buFont typeface="Roboto"/>
              <a:buChar char="•"/>
              <a:tabLst>
                <a:tab pos="165100" algn="l"/>
              </a:tabLst>
            </a:pPr>
            <a:r>
              <a:rPr dirty="0" sz="1800" spc="-30" b="1">
                <a:solidFill>
                  <a:srgbClr val="C2132D"/>
                </a:solidFill>
                <a:latin typeface="Roboto"/>
                <a:cs typeface="Roboto"/>
              </a:rPr>
              <a:t>Task: </a:t>
            </a:r>
            <a:r>
              <a:rPr dirty="0" sz="1800" b="1">
                <a:latin typeface="Roboto"/>
                <a:cs typeface="Roboto"/>
              </a:rPr>
              <a:t>Without the </a:t>
            </a:r>
            <a:r>
              <a:rPr dirty="0" sz="1800" spc="-5" b="1">
                <a:latin typeface="Roboto"/>
                <a:cs typeface="Roboto"/>
              </a:rPr>
              <a:t>use of </a:t>
            </a:r>
            <a:r>
              <a:rPr dirty="0" sz="1800" b="1">
                <a:latin typeface="Roboto"/>
                <a:cs typeface="Roboto"/>
              </a:rPr>
              <a:t>any AI </a:t>
            </a:r>
            <a:r>
              <a:rPr dirty="0" sz="1800" spc="-5" b="1">
                <a:latin typeface="Roboto"/>
                <a:cs typeface="Roboto"/>
              </a:rPr>
              <a:t>tools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create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for the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hotel's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occupancy for the  next 11 months.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can be made in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Excel,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R, or Python. </a:t>
            </a:r>
            <a:r>
              <a:rPr dirty="0" sz="1800" b="1">
                <a:latin typeface="Roboto"/>
                <a:cs typeface="Roboto"/>
              </a:rPr>
              <a:t>Document the</a:t>
            </a:r>
            <a:r>
              <a:rPr dirty="0" sz="1800" spc="-65" b="1">
                <a:latin typeface="Roboto"/>
                <a:cs typeface="Roboto"/>
              </a:rPr>
              <a:t> </a:t>
            </a:r>
            <a:r>
              <a:rPr dirty="0" sz="1800" spc="-5" b="1">
                <a:latin typeface="Roboto"/>
                <a:cs typeface="Roboto"/>
              </a:rPr>
              <a:t>process  and </a:t>
            </a:r>
            <a:r>
              <a:rPr dirty="0" sz="1800" b="1">
                <a:latin typeface="Roboto"/>
                <a:cs typeface="Roboto"/>
              </a:rPr>
              <a:t>the </a:t>
            </a:r>
            <a:r>
              <a:rPr dirty="0" sz="1800" spc="-5" b="1">
                <a:latin typeface="Roboto"/>
                <a:cs typeface="Roboto"/>
              </a:rPr>
              <a:t>rationale behind your</a:t>
            </a:r>
            <a:r>
              <a:rPr dirty="0" sz="1800" spc="-15" b="1">
                <a:latin typeface="Roboto"/>
                <a:cs typeface="Roboto"/>
              </a:rPr>
              <a:t> </a:t>
            </a:r>
            <a:r>
              <a:rPr dirty="0" sz="1800" spc="-5" b="1">
                <a:latin typeface="Roboto"/>
                <a:cs typeface="Roboto"/>
              </a:rPr>
              <a:t>forecasts.</a:t>
            </a:r>
            <a:endParaRPr sz="1800">
              <a:latin typeface="Roboto"/>
              <a:cs typeface="Roboto"/>
            </a:endParaRPr>
          </a:p>
          <a:p>
            <a:pPr algn="just" marL="164465" marR="35560" indent="-133985">
              <a:lnSpc>
                <a:spcPct val="118100"/>
              </a:lnSpc>
              <a:spcBef>
                <a:spcPts val="825"/>
              </a:spcBef>
              <a:buFont typeface="Roboto"/>
              <a:buChar char="•"/>
              <a:tabLst>
                <a:tab pos="165100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Non-graded Class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Activity: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Input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logic for the 11-month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your quantitative  forecast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for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February 2025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the next 2 tabs,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respectively.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403080" y="182880"/>
            <a:ext cx="1978660" cy="966469"/>
          </a:xfrm>
          <a:custGeom>
            <a:avLst/>
            <a:gdLst/>
            <a:ahLst/>
            <a:cxnLst/>
            <a:rect l="l" t="t" r="r" b="b"/>
            <a:pathLst>
              <a:path w="1978659" h="966469">
                <a:moveTo>
                  <a:pt x="1978152" y="966216"/>
                </a:moveTo>
                <a:lnTo>
                  <a:pt x="0" y="966216"/>
                </a:lnTo>
                <a:lnTo>
                  <a:pt x="0" y="0"/>
                </a:lnTo>
                <a:lnTo>
                  <a:pt x="1978152" y="0"/>
                </a:lnTo>
                <a:lnTo>
                  <a:pt x="1978152" y="102870"/>
                </a:lnTo>
                <a:lnTo>
                  <a:pt x="274319" y="102870"/>
                </a:lnTo>
                <a:lnTo>
                  <a:pt x="261182" y="103504"/>
                </a:lnTo>
                <a:lnTo>
                  <a:pt x="223287" y="113020"/>
                </a:lnTo>
                <a:lnTo>
                  <a:pt x="189762" y="133087"/>
                </a:lnTo>
                <a:lnTo>
                  <a:pt x="163420" y="162120"/>
                </a:lnTo>
                <a:lnTo>
                  <a:pt x="146677" y="197568"/>
                </a:lnTo>
                <a:lnTo>
                  <a:pt x="140969" y="236220"/>
                </a:lnTo>
                <a:lnTo>
                  <a:pt x="140969" y="655320"/>
                </a:lnTo>
                <a:lnTo>
                  <a:pt x="146677" y="693971"/>
                </a:lnTo>
                <a:lnTo>
                  <a:pt x="163420" y="729419"/>
                </a:lnTo>
                <a:lnTo>
                  <a:pt x="189762" y="758452"/>
                </a:lnTo>
                <a:lnTo>
                  <a:pt x="223287" y="778519"/>
                </a:lnTo>
                <a:lnTo>
                  <a:pt x="261182" y="788035"/>
                </a:lnTo>
                <a:lnTo>
                  <a:pt x="274319" y="788670"/>
                </a:lnTo>
                <a:lnTo>
                  <a:pt x="1978152" y="788670"/>
                </a:lnTo>
                <a:lnTo>
                  <a:pt x="1978152" y="966216"/>
                </a:lnTo>
                <a:close/>
              </a:path>
              <a:path w="1978659" h="966469">
                <a:moveTo>
                  <a:pt x="1978152" y="788670"/>
                </a:moveTo>
                <a:lnTo>
                  <a:pt x="1703069" y="788670"/>
                </a:lnTo>
                <a:lnTo>
                  <a:pt x="1716205" y="788035"/>
                </a:lnTo>
                <a:lnTo>
                  <a:pt x="1729088" y="786132"/>
                </a:lnTo>
                <a:lnTo>
                  <a:pt x="1765992" y="772906"/>
                </a:lnTo>
                <a:lnTo>
                  <a:pt x="1797360" y="749612"/>
                </a:lnTo>
                <a:lnTo>
                  <a:pt x="1820653" y="718244"/>
                </a:lnTo>
                <a:lnTo>
                  <a:pt x="1833880" y="681340"/>
                </a:lnTo>
                <a:lnTo>
                  <a:pt x="1836419" y="655320"/>
                </a:lnTo>
                <a:lnTo>
                  <a:pt x="1836419" y="236220"/>
                </a:lnTo>
                <a:lnTo>
                  <a:pt x="1830708" y="197568"/>
                </a:lnTo>
                <a:lnTo>
                  <a:pt x="1813965" y="162120"/>
                </a:lnTo>
                <a:lnTo>
                  <a:pt x="1787623" y="133087"/>
                </a:lnTo>
                <a:lnTo>
                  <a:pt x="1754098" y="113020"/>
                </a:lnTo>
                <a:lnTo>
                  <a:pt x="1716205" y="103504"/>
                </a:lnTo>
                <a:lnTo>
                  <a:pt x="1703069" y="102870"/>
                </a:lnTo>
                <a:lnTo>
                  <a:pt x="1978152" y="102870"/>
                </a:lnTo>
                <a:lnTo>
                  <a:pt x="1978152" y="788670"/>
                </a:lnTo>
                <a:close/>
              </a:path>
            </a:pathLst>
          </a:custGeom>
          <a:solidFill>
            <a:srgbClr val="323232">
              <a:alpha val="39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9548811" y="290512"/>
            <a:ext cx="1685925" cy="676275"/>
          </a:xfrm>
          <a:custGeom>
            <a:avLst/>
            <a:gdLst/>
            <a:ahLst/>
            <a:cxnLst/>
            <a:rect l="l" t="t" r="r" b="b"/>
            <a:pathLst>
              <a:path w="1685925" h="676275">
                <a:moveTo>
                  <a:pt x="1565780" y="676274"/>
                </a:moveTo>
                <a:lnTo>
                  <a:pt x="120144" y="676274"/>
                </a:lnTo>
                <a:lnTo>
                  <a:pt x="111782" y="675451"/>
                </a:lnTo>
                <a:lnTo>
                  <a:pt x="71578" y="663255"/>
                </a:lnTo>
                <a:lnTo>
                  <a:pt x="31692" y="632642"/>
                </a:lnTo>
                <a:lnTo>
                  <a:pt x="6556" y="589095"/>
                </a:lnTo>
                <a:lnTo>
                  <a:pt x="0" y="556130"/>
                </a:lnTo>
                <a:lnTo>
                  <a:pt x="0" y="120144"/>
                </a:lnTo>
                <a:lnTo>
                  <a:pt x="13018" y="71578"/>
                </a:lnTo>
                <a:lnTo>
                  <a:pt x="43632" y="31692"/>
                </a:lnTo>
                <a:lnTo>
                  <a:pt x="87178" y="6557"/>
                </a:lnTo>
                <a:lnTo>
                  <a:pt x="120144" y="0"/>
                </a:lnTo>
                <a:lnTo>
                  <a:pt x="1565780" y="0"/>
                </a:lnTo>
                <a:lnTo>
                  <a:pt x="1614345" y="13019"/>
                </a:lnTo>
                <a:lnTo>
                  <a:pt x="1654232" y="43632"/>
                </a:lnTo>
                <a:lnTo>
                  <a:pt x="1679366" y="87179"/>
                </a:lnTo>
                <a:lnTo>
                  <a:pt x="1685925" y="120144"/>
                </a:lnTo>
                <a:lnTo>
                  <a:pt x="1685925" y="556130"/>
                </a:lnTo>
                <a:lnTo>
                  <a:pt x="1672904" y="604696"/>
                </a:lnTo>
                <a:lnTo>
                  <a:pt x="1642292" y="644582"/>
                </a:lnTo>
                <a:lnTo>
                  <a:pt x="1598743" y="669717"/>
                </a:lnTo>
                <a:lnTo>
                  <a:pt x="1565780" y="676274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9548810" y="290512"/>
            <a:ext cx="1685925" cy="676275"/>
          </a:xfrm>
          <a:custGeom>
            <a:avLst/>
            <a:gdLst/>
            <a:ahLst/>
            <a:cxnLst/>
            <a:rect l="l" t="t" r="r" b="b"/>
            <a:pathLst>
              <a:path w="1685925" h="676275">
                <a:moveTo>
                  <a:pt x="0" y="547687"/>
                </a:moveTo>
                <a:lnTo>
                  <a:pt x="0" y="128587"/>
                </a:lnTo>
                <a:lnTo>
                  <a:pt x="0" y="120144"/>
                </a:lnTo>
                <a:lnTo>
                  <a:pt x="823" y="111782"/>
                </a:lnTo>
                <a:lnTo>
                  <a:pt x="2470" y="103501"/>
                </a:lnTo>
                <a:lnTo>
                  <a:pt x="4117" y="95220"/>
                </a:lnTo>
                <a:lnTo>
                  <a:pt x="6556" y="87179"/>
                </a:lnTo>
                <a:lnTo>
                  <a:pt x="9787" y="79379"/>
                </a:lnTo>
                <a:lnTo>
                  <a:pt x="13018" y="71578"/>
                </a:lnTo>
                <a:lnTo>
                  <a:pt x="37662" y="37662"/>
                </a:lnTo>
                <a:lnTo>
                  <a:pt x="43632" y="31692"/>
                </a:lnTo>
                <a:lnTo>
                  <a:pt x="50127" y="26361"/>
                </a:lnTo>
                <a:lnTo>
                  <a:pt x="57147" y="21670"/>
                </a:lnTo>
                <a:lnTo>
                  <a:pt x="64167" y="16980"/>
                </a:lnTo>
                <a:lnTo>
                  <a:pt x="71577" y="13019"/>
                </a:lnTo>
                <a:lnTo>
                  <a:pt x="79378" y="9788"/>
                </a:lnTo>
                <a:lnTo>
                  <a:pt x="87178" y="6557"/>
                </a:lnTo>
                <a:lnTo>
                  <a:pt x="95219" y="4117"/>
                </a:lnTo>
                <a:lnTo>
                  <a:pt x="103501" y="2470"/>
                </a:lnTo>
                <a:lnTo>
                  <a:pt x="111782" y="823"/>
                </a:lnTo>
                <a:lnTo>
                  <a:pt x="120144" y="0"/>
                </a:lnTo>
                <a:lnTo>
                  <a:pt x="128588" y="0"/>
                </a:lnTo>
                <a:lnTo>
                  <a:pt x="1557337" y="0"/>
                </a:lnTo>
                <a:lnTo>
                  <a:pt x="1565780" y="0"/>
                </a:lnTo>
                <a:lnTo>
                  <a:pt x="1574142" y="823"/>
                </a:lnTo>
                <a:lnTo>
                  <a:pt x="1582422" y="2470"/>
                </a:lnTo>
                <a:lnTo>
                  <a:pt x="1590703" y="4117"/>
                </a:lnTo>
                <a:lnTo>
                  <a:pt x="1598743" y="6557"/>
                </a:lnTo>
                <a:lnTo>
                  <a:pt x="1606544" y="9788"/>
                </a:lnTo>
                <a:lnTo>
                  <a:pt x="1614344" y="13019"/>
                </a:lnTo>
                <a:lnTo>
                  <a:pt x="1648262" y="37662"/>
                </a:lnTo>
                <a:lnTo>
                  <a:pt x="1672904" y="71578"/>
                </a:lnTo>
                <a:lnTo>
                  <a:pt x="1685101" y="111782"/>
                </a:lnTo>
                <a:lnTo>
                  <a:pt x="1685925" y="120144"/>
                </a:lnTo>
                <a:lnTo>
                  <a:pt x="1685925" y="128587"/>
                </a:lnTo>
                <a:lnTo>
                  <a:pt x="1685925" y="547687"/>
                </a:lnTo>
                <a:lnTo>
                  <a:pt x="1685925" y="556130"/>
                </a:lnTo>
                <a:lnTo>
                  <a:pt x="1685101" y="564492"/>
                </a:lnTo>
                <a:lnTo>
                  <a:pt x="1672904" y="604696"/>
                </a:lnTo>
                <a:lnTo>
                  <a:pt x="1648262" y="638612"/>
                </a:lnTo>
                <a:lnTo>
                  <a:pt x="1628775" y="654603"/>
                </a:lnTo>
                <a:lnTo>
                  <a:pt x="1621754" y="659294"/>
                </a:lnTo>
                <a:lnTo>
                  <a:pt x="1614344" y="663255"/>
                </a:lnTo>
                <a:lnTo>
                  <a:pt x="1606544" y="666486"/>
                </a:lnTo>
                <a:lnTo>
                  <a:pt x="1598743" y="669717"/>
                </a:lnTo>
                <a:lnTo>
                  <a:pt x="1590703" y="672156"/>
                </a:lnTo>
                <a:lnTo>
                  <a:pt x="1582422" y="673804"/>
                </a:lnTo>
                <a:lnTo>
                  <a:pt x="1574142" y="675451"/>
                </a:lnTo>
                <a:lnTo>
                  <a:pt x="1565780" y="676274"/>
                </a:lnTo>
                <a:lnTo>
                  <a:pt x="1557337" y="676274"/>
                </a:lnTo>
                <a:lnTo>
                  <a:pt x="128588" y="676274"/>
                </a:lnTo>
                <a:lnTo>
                  <a:pt x="120144" y="676274"/>
                </a:lnTo>
                <a:lnTo>
                  <a:pt x="111782" y="675451"/>
                </a:lnTo>
                <a:lnTo>
                  <a:pt x="103501" y="673804"/>
                </a:lnTo>
                <a:lnTo>
                  <a:pt x="95219" y="672156"/>
                </a:lnTo>
                <a:lnTo>
                  <a:pt x="87178" y="669717"/>
                </a:lnTo>
                <a:lnTo>
                  <a:pt x="79378" y="666486"/>
                </a:lnTo>
                <a:lnTo>
                  <a:pt x="71578" y="663255"/>
                </a:lnTo>
                <a:lnTo>
                  <a:pt x="64167" y="659294"/>
                </a:lnTo>
                <a:lnTo>
                  <a:pt x="57147" y="654603"/>
                </a:lnTo>
                <a:lnTo>
                  <a:pt x="50127" y="649913"/>
                </a:lnTo>
                <a:lnTo>
                  <a:pt x="21670" y="619126"/>
                </a:lnTo>
                <a:lnTo>
                  <a:pt x="16979" y="612106"/>
                </a:lnTo>
                <a:lnTo>
                  <a:pt x="13018" y="604696"/>
                </a:lnTo>
                <a:lnTo>
                  <a:pt x="9787" y="596895"/>
                </a:lnTo>
                <a:lnTo>
                  <a:pt x="6556" y="589095"/>
                </a:lnTo>
                <a:lnTo>
                  <a:pt x="4117" y="581054"/>
                </a:lnTo>
                <a:lnTo>
                  <a:pt x="2470" y="572773"/>
                </a:lnTo>
                <a:lnTo>
                  <a:pt x="823" y="564492"/>
                </a:lnTo>
                <a:lnTo>
                  <a:pt x="0" y="556130"/>
                </a:lnTo>
                <a:lnTo>
                  <a:pt x="0" y="547687"/>
                </a:lnTo>
                <a:close/>
              </a:path>
            </a:pathLst>
          </a:custGeom>
          <a:ln w="28574">
            <a:solidFill>
              <a:srgbClr val="DDDDD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9268460">
              <a:lnSpc>
                <a:spcPct val="100000"/>
              </a:lnSpc>
              <a:spcBef>
                <a:spcPts val="100"/>
              </a:spcBef>
            </a:pPr>
            <a:r>
              <a:rPr dirty="0" spc="-5"/>
              <a:t>08:00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10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6384" y="2496312"/>
            <a:ext cx="9942830" cy="1463040"/>
          </a:xfrm>
          <a:prstGeom prst="rect">
            <a:avLst/>
          </a:prstGeom>
          <a:solidFill>
            <a:srgbClr val="333333"/>
          </a:solidFill>
        </p:spPr>
        <p:txBody>
          <a:bodyPr wrap="square" lIns="0" tIns="144780" rIns="0" bIns="0" rtlCol="0" vert="horz">
            <a:spAutoFit/>
          </a:bodyPr>
          <a:lstStyle/>
          <a:p>
            <a:pPr algn="ctr" marR="221615">
              <a:lnSpc>
                <a:spcPts val="4520"/>
              </a:lnSpc>
              <a:spcBef>
                <a:spcPts val="1140"/>
              </a:spcBef>
            </a:pPr>
            <a:r>
              <a:rPr dirty="0" sz="4100" spc="-975">
                <a:latin typeface="Roboto Condensed"/>
                <a:cs typeface="Roboto Condensed"/>
              </a:rPr>
              <a:t>T</a:t>
            </a:r>
            <a:r>
              <a:rPr dirty="0" sz="4100" spc="-97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975">
                <a:latin typeface="Roboto Condensed"/>
                <a:cs typeface="Roboto Condensed"/>
              </a:rPr>
              <a:t>y</a:t>
            </a:r>
            <a:r>
              <a:rPr dirty="0" sz="4100" spc="-975">
                <a:solidFill>
                  <a:srgbClr val="FFFFFF"/>
                </a:solidFill>
                <a:latin typeface="Roboto Condensed"/>
                <a:cs typeface="Roboto Condensed"/>
              </a:rPr>
              <a:t>y</a:t>
            </a:r>
            <a:r>
              <a:rPr dirty="0" sz="4100" spc="-975">
                <a:latin typeface="Roboto Condensed"/>
                <a:cs typeface="Roboto Condensed"/>
              </a:rPr>
              <a:t>p</a:t>
            </a:r>
            <a:r>
              <a:rPr dirty="0" sz="4100" spc="-975">
                <a:solidFill>
                  <a:srgbClr val="FFFFFF"/>
                </a:solidFill>
                <a:latin typeface="Roboto Condensed"/>
                <a:cs typeface="Roboto Condensed"/>
              </a:rPr>
              <a:t>p</a:t>
            </a:r>
            <a:r>
              <a:rPr dirty="0" sz="4100" spc="-975">
                <a:latin typeface="Roboto Condensed"/>
                <a:cs typeface="Roboto Condensed"/>
              </a:rPr>
              <a:t>e</a:t>
            </a:r>
            <a:r>
              <a:rPr dirty="0" sz="4100" spc="-975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975">
                <a:latin typeface="Roboto Condensed"/>
                <a:cs typeface="Roboto Condensed"/>
              </a:rPr>
              <a:t>s</a:t>
            </a:r>
            <a:r>
              <a:rPr dirty="0" sz="4100" spc="-975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r>
              <a:rPr dirty="0" sz="4100" spc="20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840">
                <a:latin typeface="Roboto Condensed"/>
                <a:cs typeface="Roboto Condensed"/>
              </a:rPr>
              <a:t>o</a:t>
            </a:r>
            <a:r>
              <a:rPr dirty="0" sz="4100" spc="-840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840">
                <a:latin typeface="Roboto Condensed"/>
                <a:cs typeface="Roboto Condensed"/>
              </a:rPr>
              <a:t>f</a:t>
            </a:r>
            <a:r>
              <a:rPr dirty="0" sz="4100" spc="-840">
                <a:solidFill>
                  <a:srgbClr val="FFFFFF"/>
                </a:solidFill>
                <a:latin typeface="Roboto Condensed"/>
                <a:cs typeface="Roboto Condensed"/>
              </a:rPr>
              <a:t>f </a:t>
            </a:r>
            <a:r>
              <a:rPr dirty="0" sz="4100" spc="-935">
                <a:latin typeface="Roboto Condensed"/>
                <a:cs typeface="Roboto Condensed"/>
              </a:rPr>
              <a:t>D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D</a:t>
            </a:r>
            <a:r>
              <a:rPr dirty="0" sz="4100" spc="-935">
                <a:latin typeface="Roboto Condensed"/>
                <a:cs typeface="Roboto Condensed"/>
              </a:rPr>
              <a:t>a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935">
                <a:latin typeface="Roboto Condensed"/>
                <a:cs typeface="Roboto Condensed"/>
              </a:rPr>
              <a:t>t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935">
                <a:latin typeface="Roboto Condensed"/>
                <a:cs typeface="Roboto Condensed"/>
              </a:rPr>
              <a:t>a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a </a:t>
            </a:r>
            <a:r>
              <a:rPr dirty="0" sz="4100" spc="-925">
                <a:latin typeface="Roboto Condensed"/>
                <a:cs typeface="Roboto Condensed"/>
              </a:rPr>
              <a:t>O</a:t>
            </a:r>
            <a:r>
              <a:rPr dirty="0" sz="4100" spc="-925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925">
                <a:latin typeface="Roboto Condensed"/>
                <a:cs typeface="Roboto Condensed"/>
              </a:rPr>
              <a:t>v</a:t>
            </a:r>
            <a:r>
              <a:rPr dirty="0" sz="4100" spc="-925">
                <a:solidFill>
                  <a:srgbClr val="FFFFFF"/>
                </a:solidFill>
                <a:latin typeface="Roboto Condensed"/>
                <a:cs typeface="Roboto Condensed"/>
              </a:rPr>
              <a:t>v</a:t>
            </a:r>
            <a:r>
              <a:rPr dirty="0" sz="4100" spc="-925">
                <a:latin typeface="Roboto Condensed"/>
                <a:cs typeface="Roboto Condensed"/>
              </a:rPr>
              <a:t>e</a:t>
            </a:r>
            <a:r>
              <a:rPr dirty="0" sz="4100" spc="-925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925">
                <a:latin typeface="Roboto Condensed"/>
                <a:cs typeface="Roboto Condensed"/>
              </a:rPr>
              <a:t>r</a:t>
            </a:r>
            <a:r>
              <a:rPr dirty="0" sz="4100" spc="-925">
                <a:solidFill>
                  <a:srgbClr val="FFFFFF"/>
                </a:solidFill>
                <a:latin typeface="Roboto Condensed"/>
                <a:cs typeface="Roboto Condensed"/>
              </a:rPr>
              <a:t>r </a:t>
            </a:r>
            <a:r>
              <a:rPr dirty="0" sz="4100" spc="-1005">
                <a:latin typeface="Roboto Condensed"/>
                <a:cs typeface="Roboto Condensed"/>
              </a:rPr>
              <a:t>T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1005">
                <a:latin typeface="Roboto Condensed"/>
                <a:cs typeface="Roboto Condensed"/>
              </a:rPr>
              <a:t>i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i</a:t>
            </a:r>
            <a:r>
              <a:rPr dirty="0" sz="4100" spc="-1005">
                <a:latin typeface="Roboto Condensed"/>
                <a:cs typeface="Roboto Condensed"/>
              </a:rPr>
              <a:t>m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m</a:t>
            </a:r>
            <a:r>
              <a:rPr dirty="0" sz="4100" spc="-1005">
                <a:latin typeface="Roboto Condensed"/>
                <a:cs typeface="Roboto Condensed"/>
              </a:rPr>
              <a:t>e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20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994">
                <a:latin typeface="Roboto Condensed"/>
                <a:cs typeface="Roboto Condensed"/>
              </a:rPr>
              <a:t>a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994">
                <a:latin typeface="Roboto Condensed"/>
                <a:cs typeface="Roboto Condensed"/>
              </a:rPr>
              <a:t>nd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d</a:t>
            </a:r>
            <a:r>
              <a:rPr dirty="0" sz="4100" spc="20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850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850">
                <a:latin typeface="Roboto Condensed"/>
                <a:cs typeface="Roboto Condensed"/>
              </a:rPr>
              <a:t>th</a:t>
            </a:r>
            <a:r>
              <a:rPr dirty="0" sz="4100" spc="-850">
                <a:solidFill>
                  <a:srgbClr val="FFFFFF"/>
                </a:solidFill>
                <a:latin typeface="Roboto Condensed"/>
                <a:cs typeface="Roboto Condensed"/>
              </a:rPr>
              <a:t>he</a:t>
            </a:r>
            <a:r>
              <a:rPr dirty="0" sz="4100" spc="-850">
                <a:latin typeface="Roboto Condensed"/>
                <a:cs typeface="Roboto Condensed"/>
              </a:rPr>
              <a:t>e</a:t>
            </a:r>
            <a:r>
              <a:rPr dirty="0" sz="4100" spc="-810">
                <a:latin typeface="Roboto Condensed"/>
                <a:cs typeface="Roboto Condensed"/>
              </a:rPr>
              <a:t> </a:t>
            </a:r>
            <a:r>
              <a:rPr dirty="0" sz="4100" spc="-1115">
                <a:latin typeface="Roboto Condensed"/>
                <a:cs typeface="Roboto Condensed"/>
              </a:rPr>
              <a:t>C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1115">
                <a:latin typeface="Roboto Condensed"/>
                <a:cs typeface="Roboto Condensed"/>
              </a:rPr>
              <a:t>o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om</a:t>
            </a:r>
            <a:r>
              <a:rPr dirty="0" sz="4100" spc="-1115">
                <a:latin typeface="Roboto Condensed"/>
                <a:cs typeface="Roboto Condensed"/>
              </a:rPr>
              <a:t>m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p</a:t>
            </a:r>
            <a:r>
              <a:rPr dirty="0" sz="4100" spc="-1115">
                <a:latin typeface="Roboto Condensed"/>
                <a:cs typeface="Roboto Condensed"/>
              </a:rPr>
              <a:t>p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1115">
                <a:latin typeface="Roboto Condensed"/>
                <a:cs typeface="Roboto Condensed"/>
              </a:rPr>
              <a:t>o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1115">
                <a:latin typeface="Roboto Condensed"/>
                <a:cs typeface="Roboto Condensed"/>
              </a:rPr>
              <a:t>n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1115">
                <a:latin typeface="Roboto Condensed"/>
                <a:cs typeface="Roboto Condensed"/>
              </a:rPr>
              <a:t>e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1115">
                <a:latin typeface="Roboto Condensed"/>
                <a:cs typeface="Roboto Condensed"/>
              </a:rPr>
              <a:t>n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1115">
                <a:latin typeface="Roboto Condensed"/>
                <a:cs typeface="Roboto Condensed"/>
              </a:rPr>
              <a:t>t</a:t>
            </a:r>
            <a:r>
              <a:rPr dirty="0" sz="4100" spc="-1115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r>
              <a:rPr dirty="0" sz="4100" spc="-1115">
                <a:latin typeface="Roboto Condensed"/>
                <a:cs typeface="Roboto Condensed"/>
              </a:rPr>
              <a:t>s</a:t>
            </a:r>
            <a:endParaRPr sz="4100">
              <a:latin typeface="Roboto Condensed"/>
              <a:cs typeface="Roboto Condensed"/>
            </a:endParaRPr>
          </a:p>
          <a:p>
            <a:pPr algn="ctr" marL="9525">
              <a:lnSpc>
                <a:spcPts val="4520"/>
              </a:lnSpc>
            </a:pPr>
            <a:r>
              <a:rPr dirty="0" sz="4100" spc="-840">
                <a:latin typeface="Roboto Condensed"/>
                <a:cs typeface="Roboto Condensed"/>
              </a:rPr>
              <a:t>o</a:t>
            </a:r>
            <a:r>
              <a:rPr dirty="0" sz="4100" spc="-840">
                <a:solidFill>
                  <a:srgbClr val="FFFFFF"/>
                </a:solidFill>
                <a:latin typeface="Roboto Condensed"/>
                <a:cs typeface="Roboto Condensed"/>
              </a:rPr>
              <a:t>of</a:t>
            </a:r>
            <a:r>
              <a:rPr dirty="0" sz="4100" spc="-840">
                <a:latin typeface="Roboto Condensed"/>
                <a:cs typeface="Roboto Condensed"/>
              </a:rPr>
              <a:t>f     </a:t>
            </a:r>
            <a:r>
              <a:rPr dirty="0" sz="4100" spc="-790">
                <a:latin typeface="Roboto Condensed"/>
                <a:cs typeface="Roboto Condensed"/>
              </a:rPr>
              <a:t> </a:t>
            </a:r>
            <a:r>
              <a:rPr dirty="0" sz="4100" spc="-980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980">
                <a:latin typeface="Roboto Condensed"/>
                <a:cs typeface="Roboto Condensed"/>
              </a:rPr>
              <a:t>a</a:t>
            </a:r>
            <a:r>
              <a:rPr dirty="0" sz="4100" spc="-75">
                <a:latin typeface="Roboto Condensed"/>
                <a:cs typeface="Roboto Condensed"/>
              </a:rPr>
              <a:t> 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1005">
                <a:latin typeface="Roboto Condensed"/>
                <a:cs typeface="Roboto Condensed"/>
              </a:rPr>
              <a:t>T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i</a:t>
            </a:r>
            <a:r>
              <a:rPr dirty="0" sz="4100" spc="-1005">
                <a:latin typeface="Roboto Condensed"/>
                <a:cs typeface="Roboto Condensed"/>
              </a:rPr>
              <a:t>i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m</a:t>
            </a:r>
            <a:r>
              <a:rPr dirty="0" sz="4100" spc="-1005">
                <a:latin typeface="Roboto Condensed"/>
                <a:cs typeface="Roboto Condensed"/>
              </a:rPr>
              <a:t>m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1005">
                <a:latin typeface="Roboto Condensed"/>
                <a:cs typeface="Roboto Condensed"/>
              </a:rPr>
              <a:t>e</a:t>
            </a:r>
            <a:r>
              <a:rPr dirty="0" sz="4100" spc="5">
                <a:latin typeface="Roboto Condensed"/>
                <a:cs typeface="Roboto Condensed"/>
              </a:rPr>
              <a:t> </a:t>
            </a:r>
            <a:r>
              <a:rPr dirty="0" sz="4100" spc="-830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r>
              <a:rPr dirty="0" sz="4100" spc="-830">
                <a:latin typeface="Roboto Condensed"/>
                <a:cs typeface="Roboto Condensed"/>
              </a:rPr>
              <a:t>S</a:t>
            </a:r>
            <a:r>
              <a:rPr dirty="0" sz="4100" spc="-83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830">
                <a:latin typeface="Roboto Condensed"/>
                <a:cs typeface="Roboto Condensed"/>
              </a:rPr>
              <a:t>e</a:t>
            </a:r>
            <a:r>
              <a:rPr dirty="0" sz="4100" spc="-830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830">
                <a:latin typeface="Roboto Condensed"/>
                <a:cs typeface="Roboto Condensed"/>
              </a:rPr>
              <a:t>ri</a:t>
            </a:r>
            <a:r>
              <a:rPr dirty="0" sz="4100" spc="-830">
                <a:solidFill>
                  <a:srgbClr val="FFFFFF"/>
                </a:solidFill>
                <a:latin typeface="Roboto Condensed"/>
                <a:cs typeface="Roboto Condensed"/>
              </a:rPr>
              <a:t>ie</a:t>
            </a:r>
            <a:r>
              <a:rPr dirty="0" sz="4100" spc="-830">
                <a:latin typeface="Roboto Condensed"/>
                <a:cs typeface="Roboto Condensed"/>
              </a:rPr>
              <a:t>es</a:t>
            </a:r>
            <a:r>
              <a:rPr dirty="0" sz="4100" spc="-830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0637519" y="5995415"/>
            <a:ext cx="887730" cy="491490"/>
          </a:xfrm>
          <a:custGeom>
            <a:avLst/>
            <a:gdLst/>
            <a:ahLst/>
            <a:cxnLst/>
            <a:rect l="l" t="t" r="r" b="b"/>
            <a:pathLst>
              <a:path w="887729" h="491489">
                <a:moveTo>
                  <a:pt x="0" y="0"/>
                </a:moveTo>
                <a:lnTo>
                  <a:pt x="887729" y="0"/>
                </a:lnTo>
                <a:lnTo>
                  <a:pt x="887729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340">
                <a:latin typeface="Roboto"/>
                <a:cs typeface="Roboto"/>
              </a:rPr>
              <a:t>1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r>
              <a:rPr dirty="0" sz="1200" spc="-3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250">
                <a:latin typeface="Roboto"/>
                <a:cs typeface="Roboto"/>
              </a:rPr>
              <a:t>/</a:t>
            </a:r>
            <a:r>
              <a:rPr dirty="0" sz="1200" spc="-250">
                <a:solidFill>
                  <a:srgbClr val="FFFFFF"/>
                </a:solidFill>
                <a:latin typeface="Roboto"/>
                <a:cs typeface="Roboto"/>
              </a:rPr>
              <a:t>/</a:t>
            </a:r>
            <a:r>
              <a:rPr dirty="0" sz="1200" spc="-22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340">
                <a:latin typeface="Roboto"/>
                <a:cs typeface="Roboto"/>
              </a:rPr>
              <a:t>4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4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3561079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5">
                <a:latin typeface="Roboto Condensed"/>
                <a:cs typeface="Roboto Condensed"/>
              </a:rPr>
              <a:t>Cross-Sectional</a:t>
            </a:r>
            <a:r>
              <a:rPr dirty="0" sz="3350" spc="-25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Data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556750" cy="9969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Cross-sectional data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captures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multiple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variables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 a single point in time for each observation;  e.g., </a:t>
            </a:r>
            <a:r>
              <a:rPr dirty="0" sz="1800" spc="-5" b="1">
                <a:solidFill>
                  <a:srgbClr val="585D60"/>
                </a:solidFill>
                <a:latin typeface="Roboto"/>
                <a:cs typeface="Roboto"/>
              </a:rPr>
              <a:t>all </a:t>
            </a:r>
            <a:r>
              <a:rPr dirty="0" sz="1800" b="1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1800" spc="-5" b="1">
                <a:solidFill>
                  <a:srgbClr val="585D60"/>
                </a:solidFill>
                <a:latin typeface="Roboto"/>
                <a:cs typeface="Roboto"/>
              </a:rPr>
              <a:t>variables </a:t>
            </a:r>
            <a:r>
              <a:rPr dirty="0" sz="1800" b="1">
                <a:solidFill>
                  <a:srgbClr val="585D60"/>
                </a:solidFill>
                <a:latin typeface="Roboto"/>
                <a:cs typeface="Roboto"/>
              </a:rPr>
              <a:t>within </a:t>
            </a:r>
            <a:r>
              <a:rPr dirty="0" sz="1800" spc="-5" b="1">
                <a:solidFill>
                  <a:srgbClr val="585D60"/>
                </a:solidFill>
                <a:latin typeface="Roboto"/>
                <a:cs typeface="Roboto"/>
              </a:rPr>
              <a:t>a given observation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the </a:t>
            </a:r>
            <a:r>
              <a:rPr dirty="0" sz="1800" spc="-1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DoL's </a:t>
            </a:r>
            <a:r>
              <a:rPr dirty="0" sz="1800" spc="-2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LCA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Disclosure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Data for 2025 Q3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were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collected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simultaneously.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90699" y="2638424"/>
            <a:ext cx="76200" cy="38100"/>
          </a:xfrm>
          <a:custGeom>
            <a:avLst/>
            <a:gdLst/>
            <a:ahLst/>
            <a:cxnLst/>
            <a:rect l="l" t="t" r="r" b="b"/>
            <a:pathLst>
              <a:path w="76200" h="38100">
                <a:moveTo>
                  <a:pt x="0" y="0"/>
                </a:moveTo>
                <a:lnTo>
                  <a:pt x="38099" y="38099"/>
                </a:lnTo>
                <a:lnTo>
                  <a:pt x="76199" y="0"/>
                </a:lnTo>
              </a:path>
            </a:pathLst>
          </a:custGeom>
          <a:ln w="19049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1357312" y="2509837"/>
            <a:ext cx="552450" cy="295275"/>
          </a:xfrm>
          <a:custGeom>
            <a:avLst/>
            <a:gdLst/>
            <a:ahLst/>
            <a:cxnLst/>
            <a:rect l="l" t="t" r="r" b="b"/>
            <a:pathLst>
              <a:path w="552450" h="295275">
                <a:moveTo>
                  <a:pt x="0" y="271462"/>
                </a:moveTo>
                <a:lnTo>
                  <a:pt x="0" y="23812"/>
                </a:lnTo>
                <a:lnTo>
                  <a:pt x="0" y="20654"/>
                </a:lnTo>
                <a:lnTo>
                  <a:pt x="604" y="17616"/>
                </a:lnTo>
                <a:lnTo>
                  <a:pt x="1812" y="14699"/>
                </a:lnTo>
                <a:lnTo>
                  <a:pt x="3021" y="11782"/>
                </a:lnTo>
                <a:lnTo>
                  <a:pt x="4741" y="9206"/>
                </a:lnTo>
                <a:lnTo>
                  <a:pt x="6974" y="6974"/>
                </a:lnTo>
                <a:lnTo>
                  <a:pt x="9207" y="4741"/>
                </a:lnTo>
                <a:lnTo>
                  <a:pt x="11782" y="3020"/>
                </a:lnTo>
                <a:lnTo>
                  <a:pt x="14699" y="1812"/>
                </a:lnTo>
                <a:lnTo>
                  <a:pt x="17617" y="604"/>
                </a:lnTo>
                <a:lnTo>
                  <a:pt x="20654" y="0"/>
                </a:lnTo>
                <a:lnTo>
                  <a:pt x="23812" y="0"/>
                </a:lnTo>
                <a:lnTo>
                  <a:pt x="528637" y="0"/>
                </a:lnTo>
                <a:lnTo>
                  <a:pt x="531795" y="0"/>
                </a:lnTo>
                <a:lnTo>
                  <a:pt x="534832" y="604"/>
                </a:lnTo>
                <a:lnTo>
                  <a:pt x="537750" y="1812"/>
                </a:lnTo>
                <a:lnTo>
                  <a:pt x="540667" y="3020"/>
                </a:lnTo>
                <a:lnTo>
                  <a:pt x="543242" y="4741"/>
                </a:lnTo>
                <a:lnTo>
                  <a:pt x="545475" y="6974"/>
                </a:lnTo>
                <a:lnTo>
                  <a:pt x="547708" y="9206"/>
                </a:lnTo>
                <a:lnTo>
                  <a:pt x="549428" y="11782"/>
                </a:lnTo>
                <a:lnTo>
                  <a:pt x="550637" y="14699"/>
                </a:lnTo>
                <a:lnTo>
                  <a:pt x="551845" y="17616"/>
                </a:lnTo>
                <a:lnTo>
                  <a:pt x="552449" y="20654"/>
                </a:lnTo>
                <a:lnTo>
                  <a:pt x="552450" y="23812"/>
                </a:lnTo>
                <a:lnTo>
                  <a:pt x="552450" y="271462"/>
                </a:lnTo>
                <a:lnTo>
                  <a:pt x="528637" y="295274"/>
                </a:lnTo>
                <a:lnTo>
                  <a:pt x="23812" y="295274"/>
                </a:lnTo>
                <a:lnTo>
                  <a:pt x="1812" y="280574"/>
                </a:lnTo>
                <a:lnTo>
                  <a:pt x="604" y="277657"/>
                </a:lnTo>
                <a:lnTo>
                  <a:pt x="0" y="274619"/>
                </a:lnTo>
                <a:lnTo>
                  <a:pt x="0" y="271462"/>
                </a:lnTo>
                <a:close/>
              </a:path>
            </a:pathLst>
          </a:custGeom>
          <a:ln w="9524">
            <a:solidFill>
              <a:srgbClr val="AAAAA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901700" y="5713824"/>
            <a:ext cx="2099310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Showing 1 </a:t>
            </a:r>
            <a:r>
              <a:rPr dirty="0" sz="1250" spc="-5">
                <a:solidFill>
                  <a:srgbClr val="333333"/>
                </a:solidFill>
                <a:latin typeface="Roboto"/>
                <a:cs typeface="Roboto"/>
              </a:rPr>
              <a:t>to </a:t>
            </a: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7 </a:t>
            </a:r>
            <a:r>
              <a:rPr dirty="0" sz="1250">
                <a:solidFill>
                  <a:srgbClr val="333333"/>
                </a:solidFill>
                <a:latin typeface="Roboto"/>
                <a:cs typeface="Roboto"/>
              </a:rPr>
              <a:t>of </a:t>
            </a: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205</a:t>
            </a:r>
            <a:r>
              <a:rPr dirty="0" sz="1250" spc="-55">
                <a:solidFill>
                  <a:srgbClr val="333333"/>
                </a:solidFill>
                <a:latin typeface="Roboto"/>
                <a:cs typeface="Roboto"/>
              </a:rPr>
              <a:t> </a:t>
            </a:r>
            <a:r>
              <a:rPr dirty="0" sz="1250">
                <a:solidFill>
                  <a:srgbClr val="333333"/>
                </a:solidFill>
                <a:latin typeface="Roboto"/>
                <a:cs typeface="Roboto"/>
              </a:rPr>
              <a:t>entries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9439" y="5723349"/>
            <a:ext cx="641350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666666"/>
                </a:solidFill>
                <a:latin typeface="Roboto"/>
                <a:cs typeface="Roboto"/>
              </a:rPr>
              <a:t>P</a:t>
            </a:r>
            <a:r>
              <a:rPr dirty="0" sz="1250" spc="-15">
                <a:solidFill>
                  <a:srgbClr val="666666"/>
                </a:solidFill>
                <a:latin typeface="Roboto"/>
                <a:cs typeface="Roboto"/>
              </a:rPr>
              <a:t>r</a:t>
            </a:r>
            <a:r>
              <a:rPr dirty="0" sz="1250" spc="-5">
                <a:solidFill>
                  <a:srgbClr val="666666"/>
                </a:solidFill>
                <a:latin typeface="Roboto"/>
                <a:cs typeface="Roboto"/>
              </a:rPr>
              <a:t>e</a:t>
            </a:r>
            <a:r>
              <a:rPr dirty="0" sz="1250">
                <a:solidFill>
                  <a:srgbClr val="666666"/>
                </a:solidFill>
                <a:latin typeface="Roboto"/>
                <a:cs typeface="Roboto"/>
              </a:rPr>
              <a:t>v</a:t>
            </a:r>
            <a:r>
              <a:rPr dirty="0" sz="1250">
                <a:solidFill>
                  <a:srgbClr val="666666"/>
                </a:solidFill>
                <a:latin typeface="Roboto"/>
                <a:cs typeface="Roboto"/>
              </a:rPr>
              <a:t>i</a:t>
            </a:r>
            <a:r>
              <a:rPr dirty="0" sz="1250" spc="5">
                <a:solidFill>
                  <a:srgbClr val="666666"/>
                </a:solidFill>
                <a:latin typeface="Roboto"/>
                <a:cs typeface="Roboto"/>
              </a:rPr>
              <a:t>ou</a:t>
            </a:r>
            <a:r>
              <a:rPr dirty="0" sz="1250" spc="5">
                <a:solidFill>
                  <a:srgbClr val="666666"/>
                </a:solidFill>
                <a:latin typeface="Roboto"/>
                <a:cs typeface="Roboto"/>
              </a:rPr>
              <a:t>s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734175" y="5667375"/>
            <a:ext cx="428624" cy="36194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6734175" y="5667375"/>
            <a:ext cx="428625" cy="361950"/>
          </a:xfrm>
          <a:custGeom>
            <a:avLst/>
            <a:gdLst/>
            <a:ahLst/>
            <a:cxnLst/>
            <a:rect l="l" t="t" r="r" b="b"/>
            <a:pathLst>
              <a:path w="428625" h="361950">
                <a:moveTo>
                  <a:pt x="414835" y="361949"/>
                </a:moveTo>
                <a:lnTo>
                  <a:pt x="13789" y="361949"/>
                </a:lnTo>
                <a:lnTo>
                  <a:pt x="9299" y="360089"/>
                </a:lnTo>
                <a:lnTo>
                  <a:pt x="1859" y="352650"/>
                </a:lnTo>
                <a:lnTo>
                  <a:pt x="0" y="348160"/>
                </a:lnTo>
                <a:lnTo>
                  <a:pt x="0" y="13789"/>
                </a:lnTo>
                <a:lnTo>
                  <a:pt x="1859" y="9298"/>
                </a:lnTo>
                <a:lnTo>
                  <a:pt x="9299" y="1859"/>
                </a:lnTo>
                <a:lnTo>
                  <a:pt x="13789" y="0"/>
                </a:lnTo>
                <a:lnTo>
                  <a:pt x="414835" y="0"/>
                </a:lnTo>
                <a:lnTo>
                  <a:pt x="419324" y="1859"/>
                </a:lnTo>
                <a:lnTo>
                  <a:pt x="426764" y="9298"/>
                </a:lnTo>
                <a:lnTo>
                  <a:pt x="426858" y="9524"/>
                </a:lnTo>
                <a:lnTo>
                  <a:pt x="16419" y="9524"/>
                </a:lnTo>
                <a:lnTo>
                  <a:pt x="14174" y="10454"/>
                </a:lnTo>
                <a:lnTo>
                  <a:pt x="10454" y="14173"/>
                </a:lnTo>
                <a:lnTo>
                  <a:pt x="9524" y="16419"/>
                </a:lnTo>
                <a:lnTo>
                  <a:pt x="9524" y="345529"/>
                </a:lnTo>
                <a:lnTo>
                  <a:pt x="10454" y="347775"/>
                </a:lnTo>
                <a:lnTo>
                  <a:pt x="14174" y="351494"/>
                </a:lnTo>
                <a:lnTo>
                  <a:pt x="16419" y="352424"/>
                </a:lnTo>
                <a:lnTo>
                  <a:pt x="426858" y="352424"/>
                </a:lnTo>
                <a:lnTo>
                  <a:pt x="426764" y="352650"/>
                </a:lnTo>
                <a:lnTo>
                  <a:pt x="419324" y="360089"/>
                </a:lnTo>
                <a:lnTo>
                  <a:pt x="414835" y="361949"/>
                </a:lnTo>
                <a:close/>
              </a:path>
              <a:path w="428625" h="361950">
                <a:moveTo>
                  <a:pt x="426858" y="352424"/>
                </a:moveTo>
                <a:lnTo>
                  <a:pt x="412204" y="352424"/>
                </a:lnTo>
                <a:lnTo>
                  <a:pt x="414449" y="351494"/>
                </a:lnTo>
                <a:lnTo>
                  <a:pt x="418169" y="347775"/>
                </a:lnTo>
                <a:lnTo>
                  <a:pt x="419099" y="345529"/>
                </a:lnTo>
                <a:lnTo>
                  <a:pt x="419099" y="16419"/>
                </a:lnTo>
                <a:lnTo>
                  <a:pt x="418169" y="14173"/>
                </a:lnTo>
                <a:lnTo>
                  <a:pt x="414449" y="10454"/>
                </a:lnTo>
                <a:lnTo>
                  <a:pt x="412204" y="9524"/>
                </a:lnTo>
                <a:lnTo>
                  <a:pt x="426858" y="9524"/>
                </a:lnTo>
                <a:lnTo>
                  <a:pt x="428624" y="13789"/>
                </a:lnTo>
                <a:lnTo>
                  <a:pt x="428624" y="348160"/>
                </a:lnTo>
                <a:lnTo>
                  <a:pt x="426858" y="352424"/>
                </a:lnTo>
                <a:close/>
              </a:path>
            </a:pathLst>
          </a:custGeom>
          <a:solidFill>
            <a:srgbClr val="000000">
              <a:alpha val="30198"/>
            </a:srgbClr>
          </a:solidFill>
        </p:spPr>
        <p:txBody>
          <a:bodyPr wrap="square" lIns="0" tIns="0" rIns="0" bIns="0" rtlCol="0"/>
          <a:lstStyle/>
          <a:p/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914400" y="2500106"/>
          <a:ext cx="9716135" cy="3129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7110"/>
                <a:gridCol w="3251200"/>
                <a:gridCol w="2433319"/>
                <a:gridCol w="1152525"/>
                <a:gridCol w="929640"/>
                <a:gridCol w="918845"/>
              </a:tblGrid>
              <a:tr h="304800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  <a:tabLst>
                          <a:tab pos="1035685" algn="l"/>
                          <a:tab pos="7280275" algn="l"/>
                        </a:tabLst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Show  </a:t>
                      </a:r>
                      <a:r>
                        <a:rPr dirty="0" sz="1250" spc="4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7	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entries	</a:t>
                      </a:r>
                      <a:r>
                        <a:rPr dirty="0" baseline="2222" sz="187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Search:</a:t>
                      </a:r>
                      <a:endParaRPr baseline="2222" sz="1875">
                        <a:latin typeface="Roboto"/>
                        <a:cs typeface="Roboto"/>
                      </a:endParaRPr>
                    </a:p>
                  </a:txBody>
                  <a:tcPr marL="0" marR="0" marB="0" marT="45720">
                    <a:lnR w="28575">
                      <a:solidFill>
                        <a:srgbClr val="AAAAAA"/>
                      </a:solidFill>
                      <a:prstDash val="solid"/>
                    </a:lnR>
                    <a:lnB w="9525">
                      <a:solidFill>
                        <a:srgbClr val="666666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28575">
                      <a:solidFill>
                        <a:srgbClr val="AAAAAA"/>
                      </a:solidFill>
                      <a:prstDash val="solid"/>
                    </a:lnL>
                    <a:lnR w="28575">
                      <a:solidFill>
                        <a:srgbClr val="AAAAAA"/>
                      </a:solidFill>
                      <a:prstDash val="solid"/>
                    </a:lnR>
                    <a:lnT w="28575">
                      <a:solidFill>
                        <a:srgbClr val="AAAAAA"/>
                      </a:solidFill>
                      <a:prstDash val="solid"/>
                    </a:lnT>
                    <a:lnB w="28575">
                      <a:solidFill>
                        <a:srgbClr val="AAAAAA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90524">
                <a:tc>
                  <a:txBody>
                    <a:bodyPr/>
                    <a:lstStyle/>
                    <a:p>
                      <a:pPr marL="94615">
                        <a:lnSpc>
                          <a:spcPts val="1025"/>
                        </a:lnSpc>
                        <a:spcBef>
                          <a:spcPts val="660"/>
                        </a:spcBef>
                        <a:tabLst>
                          <a:tab pos="794385" algn="l"/>
                        </a:tabLst>
                      </a:pPr>
                      <a:r>
                        <a:rPr dirty="0" sz="125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Date	</a:t>
                      </a:r>
                      <a:r>
                        <a:rPr dirty="0" baseline="19444" sz="1500" spc="7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9444" sz="1500">
                        <a:latin typeface="Arial"/>
                        <a:cs typeface="Arial"/>
                      </a:endParaRPr>
                    </a:p>
                    <a:p>
                      <a:pPr algn="r" marR="78105">
                        <a:lnSpc>
                          <a:spcPts val="725"/>
                        </a:lnSpc>
                      </a:pPr>
                      <a:r>
                        <a:rPr dirty="0" sz="100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B="0" marT="83820">
                    <a:lnT w="9525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ts val="1025"/>
                        </a:lnSpc>
                        <a:spcBef>
                          <a:spcPts val="660"/>
                        </a:spcBef>
                        <a:tabLst>
                          <a:tab pos="3058795" algn="l"/>
                        </a:tabLst>
                      </a:pPr>
                      <a:r>
                        <a:rPr dirty="0" sz="125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Job</a:t>
                      </a:r>
                      <a:r>
                        <a:rPr dirty="0" sz="1250" spc="-3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Title	</a:t>
                      </a:r>
                      <a:r>
                        <a:rPr dirty="0" baseline="19444" sz="1500" spc="7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9444" sz="1500">
                        <a:latin typeface="Arial"/>
                        <a:cs typeface="Arial"/>
                      </a:endParaRPr>
                    </a:p>
                    <a:p>
                      <a:pPr algn="r" marR="57150">
                        <a:lnSpc>
                          <a:spcPts val="725"/>
                        </a:lnSpc>
                      </a:pPr>
                      <a:r>
                        <a:rPr dirty="0" sz="100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B="0" marT="83820">
                    <a:lnT w="9525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r>
                        <a:rPr dirty="0" sz="125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Employer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83820">
                    <a:lnT w="9525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07645">
                        <a:lnSpc>
                          <a:spcPts val="1025"/>
                        </a:lnSpc>
                        <a:spcBef>
                          <a:spcPts val="660"/>
                        </a:spcBef>
                        <a:tabLst>
                          <a:tab pos="524510" algn="l"/>
                        </a:tabLst>
                      </a:pPr>
                      <a:r>
                        <a:rPr dirty="0" baseline="19444" sz="1500" spc="7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	</a:t>
                      </a:r>
                      <a:r>
                        <a:rPr dirty="0" sz="1250" spc="-1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WORKSITE_STATE</a:t>
                      </a:r>
                      <a:r>
                        <a:rPr dirty="0" sz="1250" spc="9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baseline="19444" sz="1500" spc="7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9444" sz="1500">
                        <a:latin typeface="Arial"/>
                        <a:cs typeface="Arial"/>
                      </a:endParaRPr>
                    </a:p>
                    <a:p>
                      <a:pPr marL="207645">
                        <a:lnSpc>
                          <a:spcPts val="725"/>
                        </a:lnSpc>
                        <a:tabLst>
                          <a:tab pos="1915160" algn="l"/>
                        </a:tabLst>
                      </a:pPr>
                      <a:r>
                        <a:rPr dirty="0" sz="1000" spc="5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	▼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B="0" marT="83820">
                    <a:lnT w="9525">
                      <a:solidFill>
                        <a:srgbClr val="AAAAAA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222885">
                        <a:lnSpc>
                          <a:spcPts val="1025"/>
                        </a:lnSpc>
                        <a:spcBef>
                          <a:spcPts val="660"/>
                        </a:spcBef>
                      </a:pPr>
                      <a:r>
                        <a:rPr dirty="0" sz="1250" spc="5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Salary</a:t>
                      </a:r>
                      <a:r>
                        <a:rPr dirty="0" sz="1250" spc="-13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baseline="19444" sz="1500" spc="7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9444" sz="1500">
                        <a:latin typeface="Arial"/>
                        <a:cs typeface="Arial"/>
                      </a:endParaRPr>
                    </a:p>
                    <a:p>
                      <a:pPr algn="r" marR="82550">
                        <a:lnSpc>
                          <a:spcPts val="725"/>
                        </a:lnSpc>
                      </a:pPr>
                      <a:r>
                        <a:rPr dirty="0" sz="100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B="0" marT="83820">
                    <a:lnT w="28575">
                      <a:solidFill>
                        <a:srgbClr val="AAAAAA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42899">
                <a:tc>
                  <a:txBody>
                    <a:bodyPr/>
                    <a:lstStyle/>
                    <a:p>
                      <a:pPr algn="ctr" marR="12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2022-07-15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Assistant</a:t>
                      </a:r>
                      <a:r>
                        <a:rPr dirty="0" sz="12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Professor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The Ohio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State</a:t>
                      </a:r>
                      <a:r>
                        <a:rPr dirty="0" sz="1250" spc="-2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University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3949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OH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255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$98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,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004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  <a:tr h="342899">
                <a:tc gridSpan="6"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509"/>
                        </a:spcBef>
                        <a:tabLst>
                          <a:tab pos="1111250" algn="l"/>
                          <a:tab pos="4383405" algn="l"/>
                          <a:tab pos="7216140" algn="l"/>
                          <a:tab pos="9030335" algn="l"/>
                        </a:tabLst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2022-10-03	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Postdoctoral</a:t>
                      </a:r>
                      <a:r>
                        <a:rPr dirty="0" sz="1250" spc="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Scholar	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The Ohio</a:t>
                      </a:r>
                      <a:r>
                        <a:rPr dirty="0" sz="1250" spc="1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State</a:t>
                      </a:r>
                      <a:r>
                        <a:rPr dirty="0" sz="1250" spc="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University	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OH	$63,100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42899">
                <a:tc>
                  <a:txBody>
                    <a:bodyPr/>
                    <a:lstStyle/>
                    <a:p>
                      <a:pPr algn="ctr" marR="12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2023-10-19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Lead Data</a:t>
                      </a:r>
                      <a:r>
                        <a:rPr dirty="0" sz="12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Scientist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OCLC,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Inc.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3949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OH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255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$123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,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000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  <a:tr h="352424">
                <a:tc gridSpan="6"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509"/>
                        </a:spcBef>
                        <a:tabLst>
                          <a:tab pos="1111250" algn="l"/>
                          <a:tab pos="4383405" algn="l"/>
                          <a:tab pos="7216140" algn="l"/>
                          <a:tab pos="8940165" algn="l"/>
                        </a:tabLst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2024-03-27	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Infectious</a:t>
                      </a:r>
                      <a:r>
                        <a:rPr dirty="0" sz="1250" spc="1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Disease</a:t>
                      </a:r>
                      <a:r>
                        <a:rPr dirty="0" sz="1250" spc="1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Physician	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Summa</a:t>
                      </a:r>
                      <a:r>
                        <a:rPr dirty="0" sz="1250" spc="1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Physicians,</a:t>
                      </a:r>
                      <a:r>
                        <a:rPr dirty="0" sz="1250" spc="2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Inc.	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OH	$211,273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42899">
                <a:tc>
                  <a:txBody>
                    <a:bodyPr/>
                    <a:lstStyle/>
                    <a:p>
                      <a:pPr algn="ctr" marR="12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2024-04-01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Research</a:t>
                      </a:r>
                      <a:r>
                        <a:rPr dirty="0" sz="12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Scientist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The Ohio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State</a:t>
                      </a:r>
                      <a:r>
                        <a:rPr dirty="0" sz="1250" spc="-2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University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3949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OH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255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$72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,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000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  <a:tr h="342899">
                <a:tc gridSpan="6"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509"/>
                        </a:spcBef>
                        <a:tabLst>
                          <a:tab pos="1111250" algn="l"/>
                          <a:tab pos="4383405" algn="l"/>
                          <a:tab pos="7216140" algn="l"/>
                          <a:tab pos="9030335" algn="l"/>
                        </a:tabLst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2024-06-19	System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Administrator	</a:t>
                      </a:r>
                      <a:r>
                        <a:rPr dirty="0" sz="12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Technodrive 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Business</a:t>
                      </a:r>
                      <a:r>
                        <a:rPr dirty="0" sz="1250" spc="4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Solutions,</a:t>
                      </a:r>
                      <a:r>
                        <a:rPr dirty="0" sz="1250" spc="2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Inc.	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OH	$82,514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52424">
                <a:tc>
                  <a:txBody>
                    <a:bodyPr/>
                    <a:lstStyle/>
                    <a:p>
                      <a:pPr algn="ctr" marR="12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2024-08-19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Associate </a:t>
                      </a:r>
                      <a:r>
                        <a:rPr dirty="0" sz="12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Videographer, </a:t>
                      </a:r>
                      <a:r>
                        <a:rPr dirty="0" sz="1250" spc="-1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Editor, </a:t>
                      </a: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&amp;</a:t>
                      </a:r>
                      <a:r>
                        <a:rPr dirty="0" sz="1250" spc="2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Producer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 spc="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shark&amp;minnow</a:t>
                      </a:r>
                      <a:r>
                        <a:rPr dirty="0" sz="12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inc.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39497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OH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2550">
                        <a:lnSpc>
                          <a:spcPct val="100000"/>
                        </a:lnSpc>
                        <a:spcBef>
                          <a:spcPts val="509"/>
                        </a:spcBef>
                      </a:pP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$44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,</a:t>
                      </a:r>
                      <a:r>
                        <a:rPr dirty="0" sz="12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000</a:t>
                      </a:r>
                      <a:endParaRPr sz="1250">
                        <a:latin typeface="Roboto"/>
                        <a:cs typeface="Roboto"/>
                      </a:endParaRPr>
                    </a:p>
                  </a:txBody>
                  <a:tcPr marL="0" marR="0" marB="0" marT="6476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8" name="object 1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13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6893222" y="5723349"/>
            <a:ext cx="115570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1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341195" y="5723349"/>
            <a:ext cx="115570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2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789167" y="5723349"/>
            <a:ext cx="115570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3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237140" y="5723349"/>
            <a:ext cx="115570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4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685113" y="5723349"/>
            <a:ext cx="551815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431800" algn="l"/>
              </a:tabLst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5</a:t>
            </a: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	</a:t>
            </a: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…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560073" y="5723349"/>
            <a:ext cx="205740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30</a:t>
            </a:r>
            <a:endParaRPr sz="1250"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097938" y="5723349"/>
            <a:ext cx="356235" cy="217804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N</a:t>
            </a:r>
            <a:r>
              <a:rPr dirty="0" sz="1250" spc="5">
                <a:solidFill>
                  <a:srgbClr val="333333"/>
                </a:solidFill>
                <a:latin typeface="Roboto"/>
                <a:cs typeface="Roboto"/>
              </a:rPr>
              <a:t>ex</a:t>
            </a:r>
            <a:r>
              <a:rPr dirty="0" sz="1250">
                <a:solidFill>
                  <a:srgbClr val="333333"/>
                </a:solidFill>
                <a:latin typeface="Roboto"/>
                <a:cs typeface="Roboto"/>
              </a:rPr>
              <a:t>t</a:t>
            </a:r>
            <a:endParaRPr sz="125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2898140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Time Series</a:t>
            </a:r>
            <a:r>
              <a:rPr dirty="0" sz="3350" spc="-65">
                <a:solidFill>
                  <a:srgbClr val="C2132D"/>
                </a:solidFill>
                <a:latin typeface="Roboto Condensed"/>
                <a:cs typeface="Roboto Condensed"/>
              </a:rPr>
              <a:t> </a:t>
            </a: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Data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665335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Time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series data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captures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single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variable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 multiple points in time; e.g., the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daily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stock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prices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for Apple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or our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simulated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monthly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hotel 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room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occupancy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dataset.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112638" y="2401813"/>
            <a:ext cx="8282922" cy="344808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13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1853564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5">
                <a:latin typeface="Roboto Condensed"/>
                <a:cs typeface="Roboto Condensed"/>
              </a:rPr>
              <a:t>Panel</a:t>
            </a:r>
            <a:r>
              <a:rPr dirty="0" sz="3350" spc="-65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Data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516110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Panel data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captures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multiple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variables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 multiple points in time for each observation; e.g., the 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Panel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Study of Income Dynamics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or the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World </a:t>
            </a:r>
            <a:r>
              <a:rPr dirty="0" sz="1800" spc="-1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Bank's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World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Development</a:t>
            </a:r>
            <a:r>
              <a:rPr dirty="0" sz="1800" spc="6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Indicators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5471794"/>
            <a:ext cx="2294255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10">
                <a:solidFill>
                  <a:srgbClr val="333333"/>
                </a:solidFill>
                <a:latin typeface="Roboto"/>
                <a:cs typeface="Roboto"/>
              </a:rPr>
              <a:t>Showing </a:t>
            </a: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1 </a:t>
            </a:r>
            <a:r>
              <a:rPr dirty="0" sz="1450" spc="-15">
                <a:solidFill>
                  <a:srgbClr val="333333"/>
                </a:solidFill>
                <a:latin typeface="Roboto"/>
                <a:cs typeface="Roboto"/>
              </a:rPr>
              <a:t>to </a:t>
            </a: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7 of 30</a:t>
            </a:r>
            <a:r>
              <a:rPr dirty="0" sz="1450" spc="-35">
                <a:solidFill>
                  <a:srgbClr val="333333"/>
                </a:solidFill>
                <a:latin typeface="Roboto"/>
                <a:cs typeface="Roboto"/>
              </a:rPr>
              <a:t> </a:t>
            </a: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entries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87801" y="5481319"/>
            <a:ext cx="729615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10">
                <a:solidFill>
                  <a:srgbClr val="666666"/>
                </a:solidFill>
                <a:latin typeface="Roboto"/>
                <a:cs typeface="Roboto"/>
              </a:rPr>
              <a:t>P</a:t>
            </a:r>
            <a:r>
              <a:rPr dirty="0" sz="1450" spc="-20">
                <a:solidFill>
                  <a:srgbClr val="666666"/>
                </a:solidFill>
                <a:latin typeface="Roboto"/>
                <a:cs typeface="Roboto"/>
              </a:rPr>
              <a:t>r</a:t>
            </a:r>
            <a:r>
              <a:rPr dirty="0" sz="1450" spc="-15">
                <a:solidFill>
                  <a:srgbClr val="666666"/>
                </a:solidFill>
                <a:latin typeface="Roboto"/>
                <a:cs typeface="Roboto"/>
              </a:rPr>
              <a:t>e</a:t>
            </a:r>
            <a:r>
              <a:rPr dirty="0" sz="1450" spc="-5">
                <a:solidFill>
                  <a:srgbClr val="666666"/>
                </a:solidFill>
                <a:latin typeface="Roboto"/>
                <a:cs typeface="Roboto"/>
              </a:rPr>
              <a:t>v</a:t>
            </a:r>
            <a:r>
              <a:rPr dirty="0" sz="1450" spc="-5">
                <a:solidFill>
                  <a:srgbClr val="666666"/>
                </a:solidFill>
                <a:latin typeface="Roboto"/>
                <a:cs typeface="Roboto"/>
              </a:rPr>
              <a:t>i</a:t>
            </a:r>
            <a:r>
              <a:rPr dirty="0" sz="1450" spc="-10">
                <a:solidFill>
                  <a:srgbClr val="666666"/>
                </a:solidFill>
                <a:latin typeface="Roboto"/>
                <a:cs typeface="Roboto"/>
              </a:rPr>
              <a:t>ou</a:t>
            </a:r>
            <a:r>
              <a:rPr dirty="0" sz="1450" spc="-5">
                <a:solidFill>
                  <a:srgbClr val="666666"/>
                </a:solidFill>
                <a:latin typeface="Roboto"/>
                <a:cs typeface="Roboto"/>
              </a:rPr>
              <a:t>s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315200" y="5410200"/>
            <a:ext cx="485773" cy="40957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7315200" y="5410200"/>
            <a:ext cx="485775" cy="409575"/>
          </a:xfrm>
          <a:custGeom>
            <a:avLst/>
            <a:gdLst/>
            <a:ahLst/>
            <a:cxnLst/>
            <a:rect l="l" t="t" r="r" b="b"/>
            <a:pathLst>
              <a:path w="485775" h="409575">
                <a:moveTo>
                  <a:pt x="471985" y="409574"/>
                </a:moveTo>
                <a:lnTo>
                  <a:pt x="13788" y="409574"/>
                </a:lnTo>
                <a:lnTo>
                  <a:pt x="9298" y="407714"/>
                </a:lnTo>
                <a:lnTo>
                  <a:pt x="1859" y="400275"/>
                </a:lnTo>
                <a:lnTo>
                  <a:pt x="0" y="395786"/>
                </a:lnTo>
                <a:lnTo>
                  <a:pt x="0" y="13788"/>
                </a:lnTo>
                <a:lnTo>
                  <a:pt x="1859" y="9298"/>
                </a:lnTo>
                <a:lnTo>
                  <a:pt x="9298" y="1859"/>
                </a:lnTo>
                <a:lnTo>
                  <a:pt x="13788" y="0"/>
                </a:lnTo>
                <a:lnTo>
                  <a:pt x="471985" y="0"/>
                </a:lnTo>
                <a:lnTo>
                  <a:pt x="476474" y="1859"/>
                </a:lnTo>
                <a:lnTo>
                  <a:pt x="483914" y="9298"/>
                </a:lnTo>
                <a:lnTo>
                  <a:pt x="484008" y="9524"/>
                </a:lnTo>
                <a:lnTo>
                  <a:pt x="16419" y="9524"/>
                </a:lnTo>
                <a:lnTo>
                  <a:pt x="14174" y="10454"/>
                </a:lnTo>
                <a:lnTo>
                  <a:pt x="10454" y="14173"/>
                </a:lnTo>
                <a:lnTo>
                  <a:pt x="9524" y="16419"/>
                </a:lnTo>
                <a:lnTo>
                  <a:pt x="9524" y="393155"/>
                </a:lnTo>
                <a:lnTo>
                  <a:pt x="10454" y="395400"/>
                </a:lnTo>
                <a:lnTo>
                  <a:pt x="14174" y="399119"/>
                </a:lnTo>
                <a:lnTo>
                  <a:pt x="16419" y="400049"/>
                </a:lnTo>
                <a:lnTo>
                  <a:pt x="484007" y="400049"/>
                </a:lnTo>
                <a:lnTo>
                  <a:pt x="483914" y="400275"/>
                </a:lnTo>
                <a:lnTo>
                  <a:pt x="476474" y="407714"/>
                </a:lnTo>
                <a:lnTo>
                  <a:pt x="471985" y="409574"/>
                </a:lnTo>
                <a:close/>
              </a:path>
              <a:path w="485775" h="409575">
                <a:moveTo>
                  <a:pt x="484007" y="400049"/>
                </a:moveTo>
                <a:lnTo>
                  <a:pt x="469355" y="400049"/>
                </a:lnTo>
                <a:lnTo>
                  <a:pt x="471599" y="399119"/>
                </a:lnTo>
                <a:lnTo>
                  <a:pt x="475319" y="395400"/>
                </a:lnTo>
                <a:lnTo>
                  <a:pt x="476249" y="393155"/>
                </a:lnTo>
                <a:lnTo>
                  <a:pt x="476249" y="16419"/>
                </a:lnTo>
                <a:lnTo>
                  <a:pt x="475319" y="14173"/>
                </a:lnTo>
                <a:lnTo>
                  <a:pt x="471599" y="10454"/>
                </a:lnTo>
                <a:lnTo>
                  <a:pt x="469355" y="9524"/>
                </a:lnTo>
                <a:lnTo>
                  <a:pt x="484008" y="9524"/>
                </a:lnTo>
                <a:lnTo>
                  <a:pt x="485774" y="13788"/>
                </a:lnTo>
                <a:lnTo>
                  <a:pt x="485774" y="395786"/>
                </a:lnTo>
                <a:lnTo>
                  <a:pt x="484007" y="400049"/>
                </a:lnTo>
                <a:close/>
              </a:path>
            </a:pathLst>
          </a:custGeom>
          <a:solidFill>
            <a:srgbClr val="000000">
              <a:alpha val="301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7495530" y="5481319"/>
            <a:ext cx="12827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1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1992" y="5481319"/>
            <a:ext cx="12827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2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08454" y="5481319"/>
            <a:ext cx="12827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3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014916" y="5481319"/>
            <a:ext cx="12827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4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21378" y="5481319"/>
            <a:ext cx="12827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5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027839" y="5481319"/>
            <a:ext cx="403860" cy="2451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50" spc="-10">
                <a:solidFill>
                  <a:srgbClr val="333333"/>
                </a:solidFill>
                <a:latin typeface="Roboto"/>
                <a:cs typeface="Roboto"/>
              </a:rPr>
              <a:t>N</a:t>
            </a: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ex</a:t>
            </a:r>
            <a:r>
              <a:rPr dirty="0" sz="1450" spc="-5">
                <a:solidFill>
                  <a:srgbClr val="333333"/>
                </a:solidFill>
                <a:latin typeface="Roboto"/>
                <a:cs typeface="Roboto"/>
              </a:rPr>
              <a:t>t</a:t>
            </a:r>
            <a:endParaRPr sz="1450">
              <a:latin typeface="Roboto"/>
              <a:cs typeface="Roboto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85850" y="5210175"/>
            <a:ext cx="9353550" cy="142875"/>
          </a:xfrm>
          <a:custGeom>
            <a:avLst/>
            <a:gdLst/>
            <a:ahLst/>
            <a:cxnLst/>
            <a:rect l="l" t="t" r="r" b="b"/>
            <a:pathLst>
              <a:path w="9353550" h="142875">
                <a:moveTo>
                  <a:pt x="0" y="0"/>
                </a:moveTo>
                <a:lnTo>
                  <a:pt x="9353549" y="0"/>
                </a:lnTo>
                <a:lnTo>
                  <a:pt x="9353549" y="142874"/>
                </a:lnTo>
                <a:lnTo>
                  <a:pt x="0" y="142874"/>
                </a:lnTo>
                <a:lnTo>
                  <a:pt x="0" y="0"/>
                </a:lnTo>
                <a:close/>
              </a:path>
            </a:pathLst>
          </a:custGeom>
          <a:solidFill>
            <a:srgbClr val="FBFB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1085849" y="5238749"/>
            <a:ext cx="5829300" cy="85725"/>
          </a:xfrm>
          <a:custGeom>
            <a:avLst/>
            <a:gdLst/>
            <a:ahLst/>
            <a:cxnLst/>
            <a:rect l="l" t="t" r="r" b="b"/>
            <a:pathLst>
              <a:path w="5829300" h="85725">
                <a:moveTo>
                  <a:pt x="5792121" y="85724"/>
                </a:moveTo>
                <a:lnTo>
                  <a:pt x="37178" y="85724"/>
                </a:lnTo>
                <a:lnTo>
                  <a:pt x="31710" y="84637"/>
                </a:lnTo>
                <a:lnTo>
                  <a:pt x="1087" y="54013"/>
                </a:lnTo>
                <a:lnTo>
                  <a:pt x="0" y="48546"/>
                </a:lnTo>
                <a:lnTo>
                  <a:pt x="0" y="37178"/>
                </a:lnTo>
                <a:lnTo>
                  <a:pt x="21208" y="5437"/>
                </a:lnTo>
                <a:lnTo>
                  <a:pt x="37178" y="0"/>
                </a:lnTo>
                <a:lnTo>
                  <a:pt x="5792121" y="0"/>
                </a:lnTo>
                <a:lnTo>
                  <a:pt x="5823861" y="21207"/>
                </a:lnTo>
                <a:lnTo>
                  <a:pt x="5829299" y="37178"/>
                </a:lnTo>
                <a:lnTo>
                  <a:pt x="5829299" y="48546"/>
                </a:lnTo>
                <a:lnTo>
                  <a:pt x="5808091" y="80286"/>
                </a:lnTo>
                <a:lnTo>
                  <a:pt x="5792121" y="85724"/>
                </a:lnTo>
                <a:close/>
              </a:path>
            </a:pathLst>
          </a:custGeom>
          <a:solidFill>
            <a:srgbClr val="8B8B8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914400" y="6024562"/>
            <a:ext cx="9334500" cy="0"/>
          </a:xfrm>
          <a:custGeom>
            <a:avLst/>
            <a:gdLst/>
            <a:ahLst/>
            <a:cxnLst/>
            <a:rect l="l" t="t" r="r" b="b"/>
            <a:pathLst>
              <a:path w="9334500" h="0">
                <a:moveTo>
                  <a:pt x="0" y="0"/>
                </a:moveTo>
                <a:lnTo>
                  <a:pt x="9334499" y="0"/>
                </a:lnTo>
              </a:path>
            </a:pathLst>
          </a:custGeom>
          <a:ln w="9524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914400" y="6034087"/>
            <a:ext cx="9334500" cy="0"/>
          </a:xfrm>
          <a:custGeom>
            <a:avLst/>
            <a:gdLst/>
            <a:ahLst/>
            <a:cxnLst/>
            <a:rect l="l" t="t" r="r" b="b"/>
            <a:pathLst>
              <a:path w="9334500" h="0">
                <a:moveTo>
                  <a:pt x="0" y="0"/>
                </a:moveTo>
                <a:lnTo>
                  <a:pt x="9334499" y="0"/>
                </a:lnTo>
              </a:path>
            </a:pathLst>
          </a:custGeom>
          <a:ln w="9524">
            <a:solidFill>
              <a:srgbClr val="EDEDE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10239374" y="60197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9524" y="19049"/>
                </a:moveTo>
                <a:lnTo>
                  <a:pt x="0" y="19049"/>
                </a:lnTo>
                <a:lnTo>
                  <a:pt x="0" y="9524"/>
                </a:lnTo>
                <a:lnTo>
                  <a:pt x="9524" y="0"/>
                </a:lnTo>
                <a:lnTo>
                  <a:pt x="9524" y="19049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914400" y="60197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0" y="19049"/>
                </a:moveTo>
                <a:lnTo>
                  <a:pt x="0" y="0"/>
                </a:lnTo>
                <a:lnTo>
                  <a:pt x="9524" y="0"/>
                </a:lnTo>
                <a:lnTo>
                  <a:pt x="9524" y="9524"/>
                </a:lnTo>
                <a:lnTo>
                  <a:pt x="0" y="19049"/>
                </a:lnTo>
                <a:close/>
              </a:path>
            </a:pathLst>
          </a:custGeom>
          <a:solidFill>
            <a:srgbClr val="999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901700" y="6104730"/>
            <a:ext cx="3284220" cy="16002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850" spc="10" b="1">
                <a:solidFill>
                  <a:srgbClr val="C2132D"/>
                </a:solidFill>
                <a:latin typeface="Roboto"/>
                <a:cs typeface="Roboto"/>
              </a:rPr>
              <a:t>Source: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Data queried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from the </a:t>
            </a:r>
            <a:r>
              <a:rPr dirty="0" sz="850" spc="10">
                <a:solidFill>
                  <a:srgbClr val="83D5D3"/>
                </a:solidFill>
                <a:latin typeface="Roboto"/>
                <a:cs typeface="Roboto"/>
                <a:hlinkClick r:id="rId5"/>
              </a:rPr>
              <a:t>World </a:t>
            </a:r>
            <a:r>
              <a:rPr dirty="0" sz="850" spc="15">
                <a:solidFill>
                  <a:srgbClr val="83D5D3"/>
                </a:solidFill>
                <a:latin typeface="Roboto"/>
                <a:cs typeface="Roboto"/>
                <a:hlinkClick r:id="rId5"/>
              </a:rPr>
              <a:t>Bank Data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using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the</a:t>
            </a:r>
            <a:r>
              <a:rPr dirty="0" sz="850" spc="-4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850" spc="15">
                <a:solidFill>
                  <a:srgbClr val="83D5D3"/>
                </a:solidFill>
                <a:latin typeface="Roboto"/>
                <a:cs typeface="Roboto"/>
                <a:hlinkClick r:id="rId6"/>
              </a:rPr>
              <a:t>wbstats</a:t>
            </a:r>
            <a:endParaRPr sz="850">
              <a:latin typeface="Roboto"/>
              <a:cs typeface="Robo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314259" y="6104730"/>
            <a:ext cx="5734685" cy="16002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in R.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printed results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show a snapshot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7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variables (out of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 much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larger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panel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dataset).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can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think of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 panel</a:t>
            </a:r>
            <a:endParaRPr sz="850">
              <a:latin typeface="Roboto"/>
              <a:cs typeface="Robo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01700" y="6266655"/>
            <a:ext cx="3498850" cy="16002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data as a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cross-sectional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dataset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with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longitudinal/time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 component.</a:t>
            </a:r>
            <a:endParaRPr sz="850">
              <a:latin typeface="Roboto"/>
              <a:cs typeface="Roboto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4200822" y="6141094"/>
            <a:ext cx="97928" cy="97928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914400" y="2190750"/>
          <a:ext cx="9701530" cy="31718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370"/>
                <a:gridCol w="712470"/>
                <a:gridCol w="784860"/>
                <a:gridCol w="2030095"/>
                <a:gridCol w="1562100"/>
                <a:gridCol w="1584325"/>
                <a:gridCol w="1789429"/>
                <a:gridCol w="933450"/>
              </a:tblGrid>
              <a:tr h="41433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170"/>
                        </a:lnSpc>
                        <a:spcBef>
                          <a:spcPts val="610"/>
                        </a:spcBef>
                      </a:pPr>
                      <a:r>
                        <a:rPr dirty="0" sz="1450" spc="5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iso3c</a:t>
                      </a:r>
                      <a:r>
                        <a:rPr dirty="0" baseline="16908" sz="1725" spc="7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6908" sz="1725">
                        <a:latin typeface="Arial"/>
                        <a:cs typeface="Arial"/>
                      </a:endParaRPr>
                    </a:p>
                    <a:p>
                      <a:pPr algn="r" marR="10795">
                        <a:lnSpc>
                          <a:spcPts val="810"/>
                        </a:lnSpc>
                      </a:pPr>
                      <a:r>
                        <a:rPr dirty="0" sz="115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B="0" marT="77470"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ts val="1170"/>
                        </a:lnSpc>
                        <a:spcBef>
                          <a:spcPts val="610"/>
                        </a:spcBef>
                      </a:pPr>
                      <a:r>
                        <a:rPr dirty="0" sz="1450" spc="5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date</a:t>
                      </a:r>
                      <a:r>
                        <a:rPr dirty="0" baseline="16908" sz="1725" spc="7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6908" sz="1725">
                        <a:latin typeface="Arial"/>
                        <a:cs typeface="Arial"/>
                      </a:endParaRPr>
                    </a:p>
                    <a:p>
                      <a:pPr algn="r" marR="91440">
                        <a:lnSpc>
                          <a:spcPts val="810"/>
                        </a:lnSpc>
                      </a:pPr>
                      <a:r>
                        <a:rPr dirty="0" sz="115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B="0" marT="77470"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1170"/>
                        </a:lnSpc>
                        <a:spcBef>
                          <a:spcPts val="610"/>
                        </a:spcBef>
                      </a:pPr>
                      <a:r>
                        <a:rPr dirty="0" sz="1450" spc="-5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NY.GDP.MKTP.KD.ZG</a:t>
                      </a:r>
                      <a:r>
                        <a:rPr dirty="0" baseline="16908" sz="1725" spc="-75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6908" sz="1725">
                        <a:latin typeface="Arial"/>
                        <a:cs typeface="Arial"/>
                      </a:endParaRPr>
                    </a:p>
                    <a:p>
                      <a:pPr algn="r" marR="86995">
                        <a:lnSpc>
                          <a:spcPts val="810"/>
                        </a:lnSpc>
                      </a:pPr>
                      <a:r>
                        <a:rPr dirty="0" sz="115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B="0" marT="77470"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666666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170"/>
                        </a:lnSpc>
                        <a:spcBef>
                          <a:spcPts val="610"/>
                        </a:spcBef>
                      </a:pPr>
                      <a:r>
                        <a:rPr dirty="0" sz="1450" spc="-1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SH.DYN.NMRT</a:t>
                      </a:r>
                      <a:r>
                        <a:rPr dirty="0" baseline="16908" sz="1725" spc="-15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6908" sz="1725">
                        <a:latin typeface="Arial"/>
                        <a:cs typeface="Arial"/>
                      </a:endParaRPr>
                    </a:p>
                    <a:p>
                      <a:pPr algn="r" marR="86995">
                        <a:lnSpc>
                          <a:spcPts val="810"/>
                        </a:lnSpc>
                      </a:pPr>
                      <a:r>
                        <a:rPr dirty="0" sz="115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B="0" marT="77470"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666666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170"/>
                        </a:lnSpc>
                        <a:spcBef>
                          <a:spcPts val="610"/>
                        </a:spcBef>
                      </a:pPr>
                      <a:r>
                        <a:rPr dirty="0" sz="1450" spc="-2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SH.HIV.INCD.ZS</a:t>
                      </a:r>
                      <a:r>
                        <a:rPr dirty="0" baseline="16908" sz="1725" spc="-3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6908" sz="1725">
                        <a:latin typeface="Arial"/>
                        <a:cs typeface="Arial"/>
                      </a:endParaRPr>
                    </a:p>
                    <a:p>
                      <a:pPr algn="r" marR="10795">
                        <a:lnSpc>
                          <a:spcPts val="810"/>
                        </a:lnSpc>
                      </a:pPr>
                      <a:r>
                        <a:rPr dirty="0" sz="115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B="0" marT="77470"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666666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ts val="1170"/>
                        </a:lnSpc>
                        <a:spcBef>
                          <a:spcPts val="610"/>
                        </a:spcBef>
                      </a:pPr>
                      <a:r>
                        <a:rPr dirty="0" sz="1450" spc="-1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SH.MED.BEDS.ZS</a:t>
                      </a:r>
                      <a:r>
                        <a:rPr dirty="0" baseline="16908" sz="1725" spc="-15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▲</a:t>
                      </a:r>
                      <a:endParaRPr baseline="16908" sz="1725">
                        <a:latin typeface="Arial"/>
                        <a:cs typeface="Arial"/>
                      </a:endParaRPr>
                    </a:p>
                    <a:p>
                      <a:pPr algn="r" marR="10795">
                        <a:lnSpc>
                          <a:spcPts val="810"/>
                        </a:lnSpc>
                      </a:pPr>
                      <a:r>
                        <a:rPr dirty="0" sz="1150" b="1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▼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B="0" marT="77470"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666666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r>
                        <a:rPr dirty="0" sz="1450" spc="-20" b="1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SH.MED.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77470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666666"/>
                      </a:solidFill>
                      <a:prstDash val="solid"/>
                    </a:lnT>
                    <a:lnB w="19050">
                      <a:solidFill>
                        <a:srgbClr val="666666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7623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1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63500"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4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CHN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63500"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9144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2015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63500"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7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63500">
                    <a:lnT w="19050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5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.3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63500">
                    <a:lnT w="19050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19050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1143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3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.8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63500">
                    <a:lnT w="19050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19050">
                      <a:solidFill>
                        <a:srgbClr val="666666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  <a:tr h="371474">
                <a:tc gridSpan="3"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59"/>
                        </a:spcBef>
                        <a:tabLst>
                          <a:tab pos="387985" algn="l"/>
                          <a:tab pos="1279525" algn="l"/>
                        </a:tabLst>
                      </a:pP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	</a:t>
                      </a:r>
                      <a:r>
                        <a:rPr dirty="0" sz="14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CHN	</a:t>
                      </a: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2016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gridSpan="5">
                  <a:txBody>
                    <a:bodyPr/>
                    <a:lstStyle/>
                    <a:p>
                      <a:pPr marL="1680845">
                        <a:lnSpc>
                          <a:spcPct val="100000"/>
                        </a:lnSpc>
                        <a:spcBef>
                          <a:spcPts val="459"/>
                        </a:spcBef>
                        <a:tabLst>
                          <a:tab pos="3242945" algn="l"/>
                          <a:tab pos="6693534" algn="l"/>
                        </a:tabLst>
                      </a:pP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6.8	4.9	4.1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7147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3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CHN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914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2017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6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.9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4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.4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114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4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.3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  <a:tr h="371474">
                <a:tc gridSpan="3"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59"/>
                        </a:spcBef>
                        <a:tabLst>
                          <a:tab pos="387985" algn="l"/>
                          <a:tab pos="1279525" algn="l"/>
                        </a:tabLst>
                      </a:pP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4	</a:t>
                      </a:r>
                      <a:r>
                        <a:rPr dirty="0" sz="14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CHN	</a:t>
                      </a: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2018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gridSpan="5">
                  <a:txBody>
                    <a:bodyPr/>
                    <a:lstStyle/>
                    <a:p>
                      <a:pPr marL="1680845">
                        <a:lnSpc>
                          <a:spcPct val="100000"/>
                        </a:lnSpc>
                        <a:spcBef>
                          <a:spcPts val="459"/>
                        </a:spcBef>
                        <a:tabLst>
                          <a:tab pos="3242945" algn="l"/>
                          <a:tab pos="6693534" algn="l"/>
                        </a:tabLst>
                      </a:pP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6.8	4.1	4.6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7147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5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CHN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914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2019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6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.1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3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.8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114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4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.8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  <a:tr h="371474">
                <a:tc gridSpan="3">
                  <a:txBody>
                    <a:bodyPr/>
                    <a:lstStyle/>
                    <a:p>
                      <a:pPr marL="94615">
                        <a:lnSpc>
                          <a:spcPct val="100000"/>
                        </a:lnSpc>
                        <a:spcBef>
                          <a:spcPts val="459"/>
                        </a:spcBef>
                        <a:tabLst>
                          <a:tab pos="387985" algn="l"/>
                          <a:tab pos="1279525" algn="l"/>
                        </a:tabLst>
                      </a:pP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6	</a:t>
                      </a:r>
                      <a:r>
                        <a:rPr dirty="0" sz="14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CHN	</a:t>
                      </a: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2020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gridSpan="5">
                  <a:txBody>
                    <a:bodyPr/>
                    <a:lstStyle/>
                    <a:p>
                      <a:pPr marL="1680845">
                        <a:lnSpc>
                          <a:spcPct val="100000"/>
                        </a:lnSpc>
                        <a:spcBef>
                          <a:spcPts val="459"/>
                        </a:spcBef>
                        <a:tabLst>
                          <a:tab pos="3242945" algn="l"/>
                          <a:tab pos="6844665" algn="l"/>
                        </a:tabLst>
                      </a:pPr>
                      <a:r>
                        <a:rPr dirty="0" sz="1450" spc="-5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2.3	3.5	5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6671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7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 spc="-1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CHN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914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2021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8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.6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876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3</a:t>
                      </a: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.2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R="114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50">
                          <a:solidFill>
                            <a:srgbClr val="333333"/>
                          </a:solidFill>
                          <a:latin typeface="Roboto"/>
                          <a:cs typeface="Roboto"/>
                        </a:rPr>
                        <a:t>5</a:t>
                      </a:r>
                      <a:endParaRPr sz="1450">
                        <a:latin typeface="Roboto"/>
                        <a:cs typeface="Roboto"/>
                      </a:endParaRPr>
                    </a:p>
                  </a:txBody>
                  <a:tcPr marL="0" marR="0" marB="0" marT="58419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2349"/>
                      </a:srgbClr>
                    </a:solidFill>
                  </a:tcPr>
                </a:tc>
              </a:tr>
              <a:tr h="147637">
                <a:tc gridSpan="8">
                  <a:txBody>
                    <a:bodyPr/>
                    <a:lstStyle/>
                    <a:p>
                      <a:pPr marL="33020">
                        <a:lnSpc>
                          <a:spcPct val="100000"/>
                        </a:lnSpc>
                        <a:spcBef>
                          <a:spcPts val="250"/>
                        </a:spcBef>
                        <a:tabLst>
                          <a:tab pos="9577070" algn="l"/>
                        </a:tabLst>
                      </a:pPr>
                      <a:r>
                        <a:rPr dirty="0" sz="650" spc="25">
                          <a:solidFill>
                            <a:srgbClr val="8B8B8B"/>
                          </a:solidFill>
                          <a:latin typeface="Segoe Fluent Icons"/>
                          <a:cs typeface="Segoe Fluent Icons"/>
                        </a:rPr>
                        <a:t>	</a:t>
                      </a:r>
                      <a:endParaRPr sz="650">
                        <a:latin typeface="Segoe Fluent Icons"/>
                        <a:cs typeface="Segoe Fluent Icons"/>
                      </a:endParaRPr>
                    </a:p>
                  </a:txBody>
                  <a:tcPr marL="0" marR="0" marB="0" marT="3175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</a:tbl>
          </a:graphicData>
        </a:graphic>
      </p:graphicFrame>
      <p:sp>
        <p:nvSpPr>
          <p:cNvPr id="25" name="object 25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15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728459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Components of Time Series Data:</a:t>
            </a:r>
            <a:r>
              <a:rPr dirty="0" sz="3350" spc="-180">
                <a:latin typeface="Roboto Condensed"/>
                <a:cs typeface="Roboto Condensed"/>
              </a:rPr>
              <a:t> </a:t>
            </a:r>
            <a:r>
              <a:rPr dirty="0" sz="3350" spc="-20">
                <a:latin typeface="Roboto Condensed"/>
                <a:cs typeface="Roboto Condensed"/>
              </a:rPr>
              <a:t>Trend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6445250" cy="7378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15" b="1">
                <a:solidFill>
                  <a:srgbClr val="C2132D"/>
                </a:solidFill>
                <a:latin typeface="Roboto"/>
                <a:cs typeface="Roboto"/>
              </a:rPr>
              <a:t>Trend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long-term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increasing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decreasing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pattern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over</a:t>
            </a:r>
            <a:r>
              <a:rPr dirty="0" sz="1800" spc="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time.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Example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US GDP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has a long-term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upward</a:t>
            </a:r>
            <a:r>
              <a:rPr dirty="0" sz="1800" spc="-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trend.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11364" y="2516331"/>
            <a:ext cx="9497903" cy="35652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16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7735570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Components of Time Series Data:</a:t>
            </a:r>
            <a:r>
              <a:rPr dirty="0" sz="3350" spc="-105">
                <a:solidFill>
                  <a:srgbClr val="C2132D"/>
                </a:solidFill>
                <a:latin typeface="Roboto Condensed"/>
                <a:cs typeface="Roboto Condensed"/>
              </a:rPr>
              <a:t> </a:t>
            </a: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Seasonality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84349"/>
            <a:ext cx="9493885" cy="988694"/>
          </a:xfrm>
          <a:prstGeom prst="rect">
            <a:avLst/>
          </a:prstGeom>
        </p:spPr>
        <p:txBody>
          <a:bodyPr wrap="square" lIns="0" tIns="8890" rIns="0" bIns="0" rtlCol="0" vert="horz">
            <a:spAutoFit/>
          </a:bodyPr>
          <a:lstStyle/>
          <a:p>
            <a:pPr marL="12700" marR="5080">
              <a:lnSpc>
                <a:spcPct val="116399"/>
              </a:lnSpc>
              <a:spcBef>
                <a:spcPts val="7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Seasonality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refers 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property of a time series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displays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REGULAR patterns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repeat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 a constant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frequency </a:t>
            </a:r>
            <a:r>
              <a:rPr dirty="0" sz="1800" spc="50">
                <a:solidFill>
                  <a:srgbClr val="585D60"/>
                </a:solidFill>
                <a:latin typeface="Roboto"/>
                <a:cs typeface="Roboto"/>
              </a:rPr>
              <a:t>(</a:t>
            </a:r>
            <a:r>
              <a:rPr dirty="0" sz="1850" spc="50" i="1">
                <a:solidFill>
                  <a:srgbClr val="585D60"/>
                </a:solidFill>
                <a:latin typeface="Gill Sans MT"/>
                <a:cs typeface="Gill Sans MT"/>
              </a:rPr>
              <a:t>m</a:t>
            </a:r>
            <a:r>
              <a:rPr dirty="0" sz="1800" spc="50">
                <a:solidFill>
                  <a:srgbClr val="585D60"/>
                </a:solidFill>
                <a:latin typeface="Roboto"/>
                <a:cs typeface="Roboto"/>
              </a:rPr>
              <a:t>).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For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example, the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number of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retail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trade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workers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has a seasonal  pattern (with an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upward trend).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11364" y="2602056"/>
            <a:ext cx="9497903" cy="35652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16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9199245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Components of Time Series Data: Multiple</a:t>
            </a:r>
            <a:r>
              <a:rPr dirty="0" sz="3350" spc="-100">
                <a:solidFill>
                  <a:srgbClr val="C2132D"/>
                </a:solidFill>
                <a:latin typeface="Roboto Condensed"/>
                <a:cs typeface="Roboto Condensed"/>
              </a:rPr>
              <a:t> </a:t>
            </a: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Seasonality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108440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Multiple seasonality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refers 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property of a time series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displays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multiple seasonal  patterns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repeat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different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frequencies.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325960" y="2274760"/>
            <a:ext cx="8920733" cy="409066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16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6892925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Components of Time Series Data:</a:t>
            </a:r>
            <a:r>
              <a:rPr dirty="0" sz="3350" spc="-105">
                <a:solidFill>
                  <a:srgbClr val="C2132D"/>
                </a:solidFill>
                <a:latin typeface="Roboto Condensed"/>
                <a:cs typeface="Roboto Condensed"/>
              </a:rPr>
              <a:t> </a:t>
            </a:r>
            <a:r>
              <a:rPr dirty="0" sz="3350" spc="5">
                <a:solidFill>
                  <a:srgbClr val="C2132D"/>
                </a:solidFill>
                <a:latin typeface="Roboto Condensed"/>
                <a:cs typeface="Roboto Condensed"/>
              </a:rPr>
              <a:t>Cycles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147810" cy="9969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Cycles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refer 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property of a time series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displays irregular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patterns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repeat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irregular frequencies.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For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example, the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US </a:t>
            </a:r>
            <a:r>
              <a:rPr dirty="0" sz="1800" spc="-2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Total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Vehicle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Sales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has business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cycles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that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influenced by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economic conditions and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advancements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vehicle</a:t>
            </a:r>
            <a:r>
              <a:rPr dirty="0" sz="1800" spc="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technologies.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11364" y="2602056"/>
            <a:ext cx="9497903" cy="35652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16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6892925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Components of Time Series Data:</a:t>
            </a:r>
            <a:r>
              <a:rPr dirty="0" sz="3350" spc="-105">
                <a:solidFill>
                  <a:srgbClr val="C2132D"/>
                </a:solidFill>
                <a:latin typeface="Roboto Condensed"/>
                <a:cs typeface="Roboto Condensed"/>
              </a:rPr>
              <a:t> </a:t>
            </a:r>
            <a:r>
              <a:rPr dirty="0" sz="3350" spc="5">
                <a:solidFill>
                  <a:srgbClr val="C2132D"/>
                </a:solidFill>
                <a:latin typeface="Roboto Condensed"/>
                <a:cs typeface="Roboto Condensed"/>
              </a:rPr>
              <a:t>Cycles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147810" cy="9969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Cycles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refer 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property of a time series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displays irregular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patterns that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repeat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irregular frequencies.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For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example, the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US </a:t>
            </a:r>
            <a:r>
              <a:rPr dirty="0" sz="1800" spc="-2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Total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Vehicle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Sales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has business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cycles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that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influenced by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economic conditions and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advancements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vehicle</a:t>
            </a:r>
            <a:r>
              <a:rPr dirty="0" sz="1800" spc="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technologies.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11364" y="2602056"/>
            <a:ext cx="9497903" cy="356523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16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20700"/>
            <a:ext cx="5066665" cy="6540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4100" spc="10">
                <a:latin typeface="Roboto Condensed"/>
                <a:cs typeface="Roboto Condensed"/>
              </a:rPr>
              <a:t>Kahoot Competition</a:t>
            </a:r>
            <a:r>
              <a:rPr dirty="0" sz="4100" spc="-50">
                <a:latin typeface="Roboto Condensed"/>
                <a:cs typeface="Roboto Condensed"/>
              </a:rPr>
              <a:t> </a:t>
            </a:r>
            <a:r>
              <a:rPr dirty="0" sz="4100" spc="10">
                <a:latin typeface="Roboto Condensed"/>
                <a:cs typeface="Roboto Condensed"/>
              </a:rPr>
              <a:t>#01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480819"/>
            <a:ext cx="9627235" cy="4464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104139">
              <a:lnSpc>
                <a:spcPct val="118100"/>
              </a:lnSpc>
              <a:spcBef>
                <a:spcPts val="100"/>
              </a:spcBef>
            </a:pPr>
            <a:r>
              <a:rPr dirty="0" sz="1800" spc="-45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assess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understanding and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retention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topics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covered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so </a:t>
            </a:r>
            <a:r>
              <a:rPr dirty="0" sz="1800" spc="-30">
                <a:solidFill>
                  <a:srgbClr val="585D60"/>
                </a:solidFill>
                <a:latin typeface="Roboto"/>
                <a:cs typeface="Roboto"/>
              </a:rPr>
              <a:t>far,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will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compete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in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a  Kahoot competition (consisting of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5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 questions)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75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Go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1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https://kahoot.it/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Enter the game pin, which will be shown during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class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Provide your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first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(preferred)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last</a:t>
            </a:r>
            <a:r>
              <a:rPr dirty="0" sz="1800" spc="3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name</a:t>
            </a:r>
            <a:endParaRPr sz="1800">
              <a:latin typeface="Roboto"/>
              <a:cs typeface="Roboto"/>
            </a:endParaRPr>
          </a:p>
          <a:p>
            <a:pPr marL="393065" marR="297815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Answer each question within the allocated 20-second window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(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fast and correct answers  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provide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more points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)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2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2250">
              <a:latin typeface="Roboto"/>
              <a:cs typeface="Roboto"/>
            </a:endParaRPr>
          </a:p>
          <a:p>
            <a:pPr marL="12700" marR="5080">
              <a:lnSpc>
                <a:spcPct val="114599"/>
              </a:lnSpc>
              <a:tabLst>
                <a:tab pos="6142990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Winning the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competition involves having as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many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correct answers as possible AND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taking the  </a:t>
            </a:r>
            <a:r>
              <a:rPr dirty="0" sz="1800" spc="5" b="1">
                <a:solidFill>
                  <a:srgbClr val="C2132D"/>
                </a:solidFill>
                <a:latin typeface="Roboto"/>
                <a:cs typeface="Roboto"/>
              </a:rPr>
              <a:t>shortest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duration </a:t>
            </a:r>
            <a:r>
              <a:rPr dirty="0" sz="1800" spc="-15" b="1">
                <a:solidFill>
                  <a:srgbClr val="C2132D"/>
                </a:solidFill>
                <a:latin typeface="Roboto"/>
                <a:cs typeface="Roboto"/>
              </a:rPr>
              <a:t>to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answer these questions.</a:t>
            </a:r>
            <a:r>
              <a:rPr dirty="0" sz="1800" spc="3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</a:t>
            </a:r>
            <a:r>
              <a:rPr dirty="0" sz="1800" spc="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winner	of the competition will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receive</a:t>
            </a:r>
            <a:r>
              <a:rPr dirty="0" sz="1800" spc="-4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</a:t>
            </a:r>
            <a:endParaRPr sz="18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  <a:spcBef>
                <a:spcPts val="39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0.15 bonus on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Assignment 01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. Good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luck!!!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734175" y="5363104"/>
            <a:ext cx="256540" cy="227965"/>
          </a:xfrm>
          <a:custGeom>
            <a:avLst/>
            <a:gdLst/>
            <a:ahLst/>
            <a:cxnLst/>
            <a:rect l="l" t="t" r="r" b="b"/>
            <a:pathLst>
              <a:path w="256540" h="227964">
                <a:moveTo>
                  <a:pt x="198387" y="28442"/>
                </a:moveTo>
                <a:lnTo>
                  <a:pt x="57596" y="28442"/>
                </a:lnTo>
                <a:lnTo>
                  <a:pt x="57463" y="26131"/>
                </a:lnTo>
                <a:lnTo>
                  <a:pt x="57285" y="21420"/>
                </a:lnTo>
                <a:lnTo>
                  <a:pt x="58712" y="13124"/>
                </a:lnTo>
                <a:lnTo>
                  <a:pt x="63168" y="6310"/>
                </a:lnTo>
                <a:lnTo>
                  <a:pt x="69915" y="1697"/>
                </a:lnTo>
                <a:lnTo>
                  <a:pt x="78217" y="0"/>
                </a:lnTo>
                <a:lnTo>
                  <a:pt x="177766" y="0"/>
                </a:lnTo>
                <a:lnTo>
                  <a:pt x="186068" y="1697"/>
                </a:lnTo>
                <a:lnTo>
                  <a:pt x="192816" y="6310"/>
                </a:lnTo>
                <a:lnTo>
                  <a:pt x="197271" y="13124"/>
                </a:lnTo>
                <a:lnTo>
                  <a:pt x="198698" y="21420"/>
                </a:lnTo>
                <a:lnTo>
                  <a:pt x="198521" y="26131"/>
                </a:lnTo>
                <a:lnTo>
                  <a:pt x="198387" y="28442"/>
                </a:lnTo>
                <a:close/>
              </a:path>
              <a:path w="256540" h="227964">
                <a:moveTo>
                  <a:pt x="149768" y="199098"/>
                </a:moveTo>
                <a:lnTo>
                  <a:pt x="106215" y="199098"/>
                </a:lnTo>
                <a:lnTo>
                  <a:pt x="113770" y="191543"/>
                </a:lnTo>
                <a:lnTo>
                  <a:pt x="113770" y="182255"/>
                </a:lnTo>
                <a:lnTo>
                  <a:pt x="81977" y="157357"/>
                </a:lnTo>
                <a:lnTo>
                  <a:pt x="66323" y="150496"/>
                </a:lnTo>
                <a:lnTo>
                  <a:pt x="34886" y="128303"/>
                </a:lnTo>
                <a:lnTo>
                  <a:pt x="9943" y="91855"/>
                </a:lnTo>
                <a:lnTo>
                  <a:pt x="0" y="39108"/>
                </a:lnTo>
                <a:lnTo>
                  <a:pt x="0" y="33197"/>
                </a:lnTo>
                <a:lnTo>
                  <a:pt x="4755" y="28442"/>
                </a:lnTo>
                <a:lnTo>
                  <a:pt x="251229" y="28442"/>
                </a:lnTo>
                <a:lnTo>
                  <a:pt x="255984" y="33197"/>
                </a:lnTo>
                <a:lnTo>
                  <a:pt x="255984" y="39108"/>
                </a:lnTo>
                <a:lnTo>
                  <a:pt x="254999" y="49774"/>
                </a:lnTo>
                <a:lnTo>
                  <a:pt x="21776" y="49774"/>
                </a:lnTo>
                <a:lnTo>
                  <a:pt x="25088" y="70142"/>
                </a:lnTo>
                <a:lnTo>
                  <a:pt x="49774" y="113015"/>
                </a:lnTo>
                <a:lnTo>
                  <a:pt x="82306" y="134480"/>
                </a:lnTo>
                <a:lnTo>
                  <a:pt x="213621" y="134480"/>
                </a:lnTo>
                <a:lnTo>
                  <a:pt x="205733" y="140960"/>
                </a:lnTo>
                <a:lnTo>
                  <a:pt x="189699" y="150496"/>
                </a:lnTo>
                <a:lnTo>
                  <a:pt x="174032" y="157357"/>
                </a:lnTo>
                <a:lnTo>
                  <a:pt x="159723" y="161990"/>
                </a:lnTo>
                <a:lnTo>
                  <a:pt x="152560" y="165150"/>
                </a:lnTo>
                <a:lnTo>
                  <a:pt x="147042" y="169939"/>
                </a:lnTo>
                <a:lnTo>
                  <a:pt x="143479" y="175820"/>
                </a:lnTo>
                <a:lnTo>
                  <a:pt x="142213" y="182255"/>
                </a:lnTo>
                <a:lnTo>
                  <a:pt x="142213" y="191543"/>
                </a:lnTo>
                <a:lnTo>
                  <a:pt x="149768" y="199098"/>
                </a:lnTo>
                <a:close/>
              </a:path>
              <a:path w="256540" h="227964">
                <a:moveTo>
                  <a:pt x="173722" y="134480"/>
                </a:moveTo>
                <a:lnTo>
                  <a:pt x="82306" y="134480"/>
                </a:lnTo>
                <a:lnTo>
                  <a:pt x="75014" y="119320"/>
                </a:lnTo>
                <a:lnTo>
                  <a:pt x="68506" y="100427"/>
                </a:lnTo>
                <a:lnTo>
                  <a:pt x="63132" y="77384"/>
                </a:lnTo>
                <a:lnTo>
                  <a:pt x="59240" y="49774"/>
                </a:lnTo>
                <a:lnTo>
                  <a:pt x="196787" y="49774"/>
                </a:lnTo>
                <a:lnTo>
                  <a:pt x="192896" y="77384"/>
                </a:lnTo>
                <a:lnTo>
                  <a:pt x="187521" y="100427"/>
                </a:lnTo>
                <a:lnTo>
                  <a:pt x="181013" y="119320"/>
                </a:lnTo>
                <a:lnTo>
                  <a:pt x="173722" y="134480"/>
                </a:lnTo>
                <a:close/>
              </a:path>
              <a:path w="256540" h="227964">
                <a:moveTo>
                  <a:pt x="213621" y="134480"/>
                </a:moveTo>
                <a:lnTo>
                  <a:pt x="173722" y="134480"/>
                </a:lnTo>
                <a:lnTo>
                  <a:pt x="182074" y="130426"/>
                </a:lnTo>
                <a:lnTo>
                  <a:pt x="190405" y="125547"/>
                </a:lnTo>
                <a:lnTo>
                  <a:pt x="198527" y="119769"/>
                </a:lnTo>
                <a:lnTo>
                  <a:pt x="206254" y="113015"/>
                </a:lnTo>
                <a:lnTo>
                  <a:pt x="216335" y="101446"/>
                </a:lnTo>
                <a:lnTo>
                  <a:pt x="224764" y="87261"/>
                </a:lnTo>
                <a:lnTo>
                  <a:pt x="230959" y="70142"/>
                </a:lnTo>
                <a:lnTo>
                  <a:pt x="234296" y="49774"/>
                </a:lnTo>
                <a:lnTo>
                  <a:pt x="254999" y="49774"/>
                </a:lnTo>
                <a:lnTo>
                  <a:pt x="253346" y="67675"/>
                </a:lnTo>
                <a:lnTo>
                  <a:pt x="246046" y="91855"/>
                </a:lnTo>
                <a:lnTo>
                  <a:pt x="235004" y="111960"/>
                </a:lnTo>
                <a:lnTo>
                  <a:pt x="221142" y="128303"/>
                </a:lnTo>
                <a:lnTo>
                  <a:pt x="213621" y="134480"/>
                </a:lnTo>
                <a:close/>
              </a:path>
              <a:path w="256540" h="227964">
                <a:moveTo>
                  <a:pt x="178522" y="227541"/>
                </a:moveTo>
                <a:lnTo>
                  <a:pt x="77461" y="227541"/>
                </a:lnTo>
                <a:lnTo>
                  <a:pt x="71106" y="221186"/>
                </a:lnTo>
                <a:lnTo>
                  <a:pt x="71106" y="205454"/>
                </a:lnTo>
                <a:lnTo>
                  <a:pt x="77461" y="199098"/>
                </a:lnTo>
                <a:lnTo>
                  <a:pt x="178522" y="199098"/>
                </a:lnTo>
                <a:lnTo>
                  <a:pt x="184877" y="205454"/>
                </a:lnTo>
                <a:lnTo>
                  <a:pt x="184877" y="221186"/>
                </a:lnTo>
                <a:lnTo>
                  <a:pt x="178522" y="227541"/>
                </a:lnTo>
                <a:close/>
              </a:path>
            </a:pathLst>
          </a:custGeom>
          <a:solidFill>
            <a:srgbClr val="FFD6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6024562"/>
            <a:ext cx="9334500" cy="0"/>
          </a:xfrm>
          <a:custGeom>
            <a:avLst/>
            <a:gdLst/>
            <a:ahLst/>
            <a:cxnLst/>
            <a:rect l="l" t="t" r="r" b="b"/>
            <a:pathLst>
              <a:path w="9334500" h="0">
                <a:moveTo>
                  <a:pt x="0" y="0"/>
                </a:moveTo>
                <a:lnTo>
                  <a:pt x="9334499" y="0"/>
                </a:lnTo>
              </a:path>
            </a:pathLst>
          </a:custGeom>
          <a:ln w="9524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914400" y="6034087"/>
            <a:ext cx="9334500" cy="0"/>
          </a:xfrm>
          <a:custGeom>
            <a:avLst/>
            <a:gdLst/>
            <a:ahLst/>
            <a:cxnLst/>
            <a:rect l="l" t="t" r="r" b="b"/>
            <a:pathLst>
              <a:path w="9334500" h="0">
                <a:moveTo>
                  <a:pt x="0" y="0"/>
                </a:moveTo>
                <a:lnTo>
                  <a:pt x="9334499" y="0"/>
                </a:lnTo>
              </a:path>
            </a:pathLst>
          </a:custGeom>
          <a:ln w="9524">
            <a:solidFill>
              <a:srgbClr val="EDEDE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10239374" y="60197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9524" y="19049"/>
                </a:moveTo>
                <a:lnTo>
                  <a:pt x="0" y="19049"/>
                </a:lnTo>
                <a:lnTo>
                  <a:pt x="0" y="9524"/>
                </a:lnTo>
                <a:lnTo>
                  <a:pt x="9524" y="0"/>
                </a:lnTo>
                <a:lnTo>
                  <a:pt x="9524" y="19049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914400" y="60197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0" y="19049"/>
                </a:moveTo>
                <a:lnTo>
                  <a:pt x="0" y="0"/>
                </a:lnTo>
                <a:lnTo>
                  <a:pt x="9524" y="0"/>
                </a:lnTo>
                <a:lnTo>
                  <a:pt x="9524" y="9524"/>
                </a:lnTo>
                <a:lnTo>
                  <a:pt x="0" y="19049"/>
                </a:lnTo>
                <a:close/>
              </a:path>
            </a:pathLst>
          </a:custGeom>
          <a:solidFill>
            <a:srgbClr val="999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901700" y="6077108"/>
            <a:ext cx="9355455" cy="3492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0"/>
              </a:spcBef>
            </a:pPr>
            <a:r>
              <a:rPr dirty="0" sz="850" spc="-30" b="1">
                <a:solidFill>
                  <a:srgbClr val="C2132D"/>
                </a:solidFill>
                <a:latin typeface="Roboto"/>
                <a:cs typeface="Roboto"/>
              </a:rPr>
              <a:t>P.S: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The Kahoot competition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will have </a:t>
            </a:r>
            <a:r>
              <a:rPr dirty="0" sz="850" spc="15" b="1">
                <a:solidFill>
                  <a:srgbClr val="C2132D"/>
                </a:solidFill>
                <a:latin typeface="Roboto"/>
                <a:cs typeface="Roboto"/>
              </a:rPr>
              <a:t>no impact on </a:t>
            </a:r>
            <a:r>
              <a:rPr dirty="0" sz="850" spc="10" b="1">
                <a:solidFill>
                  <a:srgbClr val="C2132D"/>
                </a:solidFill>
                <a:latin typeface="Roboto"/>
                <a:cs typeface="Roboto"/>
              </a:rPr>
              <a:t>your grade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.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It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is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850" spc="15" b="1">
                <a:solidFill>
                  <a:srgbClr val="C2132D"/>
                </a:solidFill>
                <a:latin typeface="Roboto"/>
                <a:cs typeface="Roboto"/>
              </a:rPr>
              <a:t>fun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way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assessing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your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knowledge,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motivating you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ask questions about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topics covered that you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do not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have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full 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understanding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it,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providing </a:t>
            </a:r>
            <a:r>
              <a:rPr dirty="0" sz="850" spc="20">
                <a:solidFill>
                  <a:srgbClr val="585D60"/>
                </a:solidFill>
                <a:latin typeface="Roboto"/>
                <a:cs typeface="Roboto"/>
              </a:rPr>
              <a:t>me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with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some data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that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I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can use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pace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today's</a:t>
            </a:r>
            <a:r>
              <a:rPr dirty="0" sz="850" spc="-9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class.</a:t>
            </a:r>
            <a:endParaRPr sz="850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21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08504" y="2758440"/>
            <a:ext cx="6498590" cy="1039494"/>
          </a:xfrm>
          <a:prstGeom prst="rect"/>
          <a:solidFill>
            <a:srgbClr val="333333"/>
          </a:solidFill>
        </p:spPr>
        <p:txBody>
          <a:bodyPr wrap="square" lIns="0" tIns="140335" rIns="0" bIns="0" rtlCol="0" vert="horz">
            <a:spAutoFit/>
          </a:bodyPr>
          <a:lstStyle/>
          <a:p>
            <a:pPr marL="252095">
              <a:lnSpc>
                <a:spcPct val="100000"/>
              </a:lnSpc>
              <a:spcBef>
                <a:spcPts val="1105"/>
              </a:spcBef>
            </a:pPr>
            <a:r>
              <a:rPr dirty="0" sz="4100" spc="-1005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1005">
                <a:solidFill>
                  <a:srgbClr val="000000"/>
                </a:solidFill>
                <a:latin typeface="Roboto Condensed"/>
                <a:cs typeface="Roboto Condensed"/>
              </a:rPr>
              <a:t>h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h</a:t>
            </a:r>
            <a:r>
              <a:rPr dirty="0" sz="4100" spc="-1005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1005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20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935">
                <a:solidFill>
                  <a:srgbClr val="000000"/>
                </a:solidFill>
                <a:latin typeface="Roboto Condensed"/>
                <a:cs typeface="Roboto Condensed"/>
              </a:rPr>
              <a:t>D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D</a:t>
            </a:r>
            <a:r>
              <a:rPr dirty="0" sz="4100" spc="-935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935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935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935">
                <a:solidFill>
                  <a:srgbClr val="FFFFFF"/>
                </a:solidFill>
                <a:latin typeface="Roboto Condensed"/>
                <a:cs typeface="Roboto Condensed"/>
              </a:rPr>
              <a:t>a 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G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G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r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i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i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880">
                <a:solidFill>
                  <a:srgbClr val="000000"/>
                </a:solidFill>
                <a:latin typeface="Roboto Condensed"/>
                <a:cs typeface="Roboto Condensed"/>
              </a:rPr>
              <a:t>g</a:t>
            </a:r>
            <a:r>
              <a:rPr dirty="0" sz="4100" spc="-880">
                <a:solidFill>
                  <a:srgbClr val="FFFFFF"/>
                </a:solidFill>
                <a:latin typeface="Roboto Condensed"/>
                <a:cs typeface="Roboto Condensed"/>
              </a:rPr>
              <a:t>g</a:t>
            </a:r>
            <a:r>
              <a:rPr dirty="0" sz="4100" spc="-865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940">
                <a:solidFill>
                  <a:srgbClr val="000000"/>
                </a:solidFill>
                <a:latin typeface="Roboto Condensed"/>
                <a:cs typeface="Roboto Condensed"/>
              </a:rPr>
              <a:t>P</a:t>
            </a:r>
            <a:r>
              <a:rPr dirty="0" sz="4100" spc="-940">
                <a:solidFill>
                  <a:srgbClr val="FFFFFF"/>
                </a:solidFill>
                <a:latin typeface="Roboto Condensed"/>
                <a:cs typeface="Roboto Condensed"/>
              </a:rPr>
              <a:t>P</a:t>
            </a:r>
            <a:r>
              <a:rPr dirty="0" sz="4100" spc="-940">
                <a:solidFill>
                  <a:srgbClr val="000000"/>
                </a:solidFill>
                <a:latin typeface="Roboto Condensed"/>
                <a:cs typeface="Roboto Condensed"/>
              </a:rPr>
              <a:t>r</a:t>
            </a:r>
            <a:r>
              <a:rPr dirty="0" sz="4100" spc="-940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940">
                <a:solidFill>
                  <a:srgbClr val="000000"/>
                </a:solidFill>
                <a:latin typeface="Roboto Condensed"/>
                <a:cs typeface="Roboto Condensed"/>
              </a:rPr>
              <a:t>o</a:t>
            </a:r>
            <a:r>
              <a:rPr dirty="0" sz="4100" spc="-940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940">
                <a:solidFill>
                  <a:srgbClr val="000000"/>
                </a:solidFill>
                <a:latin typeface="Roboto Condensed"/>
                <a:cs typeface="Roboto Condensed"/>
              </a:rPr>
              <a:t>c</a:t>
            </a:r>
            <a:r>
              <a:rPr dirty="0" sz="4100" spc="-940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940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94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940">
                <a:solidFill>
                  <a:srgbClr val="000000"/>
                </a:solidFill>
                <a:latin typeface="Roboto Condensed"/>
                <a:cs typeface="Roboto Condensed"/>
              </a:rPr>
              <a:t>s</a:t>
            </a:r>
            <a:r>
              <a:rPr dirty="0" sz="4100" spc="-940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r>
              <a:rPr dirty="0" sz="4100" spc="-940">
                <a:solidFill>
                  <a:srgbClr val="000000"/>
                </a:solidFill>
                <a:latin typeface="Roboto Condensed"/>
                <a:cs typeface="Roboto Condensed"/>
              </a:rPr>
              <a:t>s</a:t>
            </a:r>
            <a:r>
              <a:rPr dirty="0" sz="4100" spc="-940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r>
              <a:rPr dirty="0" sz="1200" spc="-3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250">
                <a:latin typeface="Roboto"/>
                <a:cs typeface="Roboto"/>
              </a:rPr>
              <a:t>/</a:t>
            </a:r>
            <a:r>
              <a:rPr dirty="0" sz="1200" spc="-250">
                <a:solidFill>
                  <a:srgbClr val="FFFFFF"/>
                </a:solidFill>
                <a:latin typeface="Roboto"/>
                <a:cs typeface="Roboto"/>
              </a:rPr>
              <a:t>/</a:t>
            </a:r>
            <a:r>
              <a:rPr dirty="0" sz="1200" spc="-22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340">
                <a:latin typeface="Roboto"/>
                <a:cs typeface="Roboto"/>
              </a:rPr>
              <a:t>4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4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61936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The Idea of a Data </a:t>
            </a:r>
            <a:r>
              <a:rPr dirty="0" sz="3350" spc="5">
                <a:latin typeface="Roboto Condensed"/>
                <a:cs typeface="Roboto Condensed"/>
              </a:rPr>
              <a:t>Generating Process</a:t>
            </a:r>
            <a:r>
              <a:rPr dirty="0" sz="3350" spc="-7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(DGP)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53035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53670" algn="l"/>
              </a:tabLst>
            </a:pPr>
            <a:r>
              <a:rPr dirty="0"/>
              <a:t>A </a:t>
            </a:r>
            <a:r>
              <a:rPr dirty="0" b="1">
                <a:solidFill>
                  <a:srgbClr val="C2132D"/>
                </a:solidFill>
                <a:latin typeface="Roboto"/>
                <a:cs typeface="Roboto"/>
              </a:rPr>
              <a:t>time </a:t>
            </a:r>
            <a:r>
              <a:rPr dirty="0" spc="-5" b="1">
                <a:solidFill>
                  <a:srgbClr val="C2132D"/>
                </a:solidFill>
                <a:latin typeface="Roboto"/>
                <a:cs typeface="Roboto"/>
              </a:rPr>
              <a:t>series </a:t>
            </a:r>
            <a:r>
              <a:rPr dirty="0"/>
              <a:t>is </a:t>
            </a:r>
            <a:r>
              <a:rPr dirty="0" spc="-10"/>
              <a:t>defined </a:t>
            </a:r>
            <a:r>
              <a:rPr dirty="0"/>
              <a:t>as a </a:t>
            </a:r>
            <a:r>
              <a:rPr dirty="0" spc="-5" b="1">
                <a:solidFill>
                  <a:srgbClr val="C2132D"/>
                </a:solidFill>
                <a:latin typeface="Roboto"/>
                <a:cs typeface="Roboto"/>
              </a:rPr>
              <a:t>sequence of observations </a:t>
            </a:r>
            <a:r>
              <a:rPr dirty="0" spc="-5"/>
              <a:t>recorded </a:t>
            </a:r>
            <a:r>
              <a:rPr dirty="0"/>
              <a:t>at </a:t>
            </a:r>
            <a:r>
              <a:rPr dirty="0" spc="-5"/>
              <a:t>regular </a:t>
            </a:r>
            <a:r>
              <a:rPr dirty="0"/>
              <a:t>time</a:t>
            </a:r>
            <a:r>
              <a:rPr dirty="0" spc="80"/>
              <a:t> </a:t>
            </a:r>
            <a:r>
              <a:rPr dirty="0"/>
              <a:t>intervals.</a:t>
            </a:r>
          </a:p>
          <a:p>
            <a:pPr marL="153035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53670" algn="l"/>
              </a:tabLst>
            </a:pPr>
            <a:r>
              <a:rPr dirty="0"/>
              <a:t>Any time series is </a:t>
            </a:r>
            <a:r>
              <a:rPr dirty="0" spc="-5"/>
              <a:t>generated by </a:t>
            </a:r>
            <a:r>
              <a:rPr dirty="0"/>
              <a:t>some kind of mechanism, which is often </a:t>
            </a:r>
            <a:r>
              <a:rPr dirty="0" spc="-10"/>
              <a:t>referred to </a:t>
            </a:r>
            <a:r>
              <a:rPr dirty="0"/>
              <a:t>as a</a:t>
            </a:r>
          </a:p>
          <a:p>
            <a:pPr marL="153035">
              <a:lnSpc>
                <a:spcPct val="100000"/>
              </a:lnSpc>
              <a:spcBef>
                <a:spcPts val="390"/>
              </a:spcBef>
            </a:pPr>
            <a:r>
              <a:rPr dirty="0" spc="-5" b="1">
                <a:solidFill>
                  <a:srgbClr val="C2132D"/>
                </a:solidFill>
                <a:latin typeface="Roboto"/>
                <a:cs typeface="Roboto"/>
              </a:rPr>
              <a:t>data generating process (GDP)</a:t>
            </a:r>
            <a:r>
              <a:rPr dirty="0" spc="-5"/>
              <a:t>. </a:t>
            </a:r>
            <a:r>
              <a:rPr dirty="0" spc="-10"/>
              <a:t>For </a:t>
            </a:r>
            <a:r>
              <a:rPr dirty="0"/>
              <a:t>example, the hotel occupancy dataset is impacted</a:t>
            </a:r>
            <a:r>
              <a:rPr dirty="0" spc="15"/>
              <a:t> </a:t>
            </a:r>
            <a:r>
              <a:rPr dirty="0" spc="-5"/>
              <a:t>by:</a:t>
            </a:r>
          </a:p>
          <a:p>
            <a:pPr lvl="1" marL="534035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Roboto"/>
              <a:buChar char="•"/>
              <a:tabLst>
                <a:tab pos="534670" algn="l"/>
              </a:tabLst>
            </a:pPr>
            <a:r>
              <a:rPr dirty="0" sz="1800" spc="-5" b="1">
                <a:latin typeface="Roboto"/>
                <a:cs typeface="Roboto"/>
              </a:rPr>
              <a:t>season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latin typeface="Roboto"/>
                <a:cs typeface="Roboto"/>
              </a:rPr>
              <a:t>holidays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latin typeface="Roboto"/>
                <a:cs typeface="Roboto"/>
              </a:rPr>
              <a:t>economic conditions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800" spc="-5" b="1">
                <a:latin typeface="Roboto"/>
                <a:cs typeface="Roboto"/>
              </a:rPr>
              <a:t>marketing</a:t>
            </a:r>
            <a:r>
              <a:rPr dirty="0" sz="1800" spc="25" b="1">
                <a:latin typeface="Roboto"/>
                <a:cs typeface="Roboto"/>
              </a:rPr>
              <a:t> </a:t>
            </a:r>
            <a:r>
              <a:rPr dirty="0" sz="1800" spc="-5" b="1">
                <a:latin typeface="Roboto"/>
                <a:cs typeface="Roboto"/>
              </a:rPr>
              <a:t>campaigns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;</a:t>
            </a:r>
            <a:endParaRPr sz="1800">
              <a:latin typeface="Roboto"/>
              <a:cs typeface="Roboto"/>
            </a:endParaRPr>
          </a:p>
          <a:p>
            <a:pPr lvl="1" marL="534035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Roboto"/>
              <a:buChar char="•"/>
              <a:tabLst>
                <a:tab pos="534670" algn="l"/>
              </a:tabLst>
            </a:pPr>
            <a:r>
              <a:rPr dirty="0" sz="1800" b="1">
                <a:latin typeface="Roboto"/>
                <a:cs typeface="Roboto"/>
              </a:rPr>
              <a:t>number </a:t>
            </a:r>
            <a:r>
              <a:rPr dirty="0" sz="1800" spc="-5" b="1">
                <a:latin typeface="Roboto"/>
                <a:cs typeface="Roboto"/>
              </a:rPr>
              <a:t>of rooms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10" b="1">
                <a:latin typeface="Roboto"/>
                <a:cs typeface="Roboto"/>
              </a:rPr>
              <a:t>room </a:t>
            </a:r>
            <a:r>
              <a:rPr dirty="0" sz="1800" spc="-5" b="1">
                <a:latin typeface="Roboto"/>
                <a:cs typeface="Roboto"/>
              </a:rPr>
              <a:t>rates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800" spc="-5" b="1">
                <a:latin typeface="Roboto"/>
                <a:cs typeface="Roboto"/>
              </a:rPr>
              <a:t>customer</a:t>
            </a:r>
            <a:r>
              <a:rPr dirty="0" sz="1800" b="1">
                <a:latin typeface="Roboto"/>
                <a:cs typeface="Roboto"/>
              </a:rPr>
              <a:t> </a:t>
            </a:r>
            <a:r>
              <a:rPr dirty="0" sz="1800" spc="-5" b="1">
                <a:latin typeface="Roboto"/>
                <a:cs typeface="Roboto"/>
              </a:rPr>
              <a:t>satisfaction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;</a:t>
            </a:r>
            <a:endParaRPr sz="1800">
              <a:latin typeface="Roboto"/>
              <a:cs typeface="Roboto"/>
            </a:endParaRPr>
          </a:p>
          <a:p>
            <a:pPr lvl="1" marL="534035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Roboto"/>
              <a:buChar char="•"/>
              <a:tabLst>
                <a:tab pos="534670" algn="l"/>
              </a:tabLst>
            </a:pPr>
            <a:r>
              <a:rPr dirty="0" sz="1800" b="1">
                <a:latin typeface="Roboto"/>
                <a:cs typeface="Roboto"/>
              </a:rPr>
              <a:t>weather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latin typeface="Roboto"/>
                <a:cs typeface="Roboto"/>
              </a:rPr>
              <a:t>local events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800" spc="-5" b="1">
                <a:latin typeface="Roboto"/>
                <a:cs typeface="Roboto"/>
              </a:rPr>
              <a:t>competition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;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 and</a:t>
            </a:r>
            <a:endParaRPr sz="1800">
              <a:latin typeface="Roboto"/>
              <a:cs typeface="Roboto"/>
            </a:endParaRPr>
          </a:p>
          <a:p>
            <a:pPr lvl="1" marL="534035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Roboto"/>
              <a:buChar char="•"/>
              <a:tabLst>
                <a:tab pos="534670" algn="l"/>
              </a:tabLst>
            </a:pPr>
            <a:r>
              <a:rPr dirty="0" sz="1800" b="1">
                <a:latin typeface="Roboto"/>
                <a:cs typeface="Roboto"/>
              </a:rPr>
              <a:t>number </a:t>
            </a:r>
            <a:r>
              <a:rPr dirty="0" sz="1800" spc="-5" b="1">
                <a:latin typeface="Roboto"/>
                <a:cs typeface="Roboto"/>
              </a:rPr>
              <a:t>of </a:t>
            </a:r>
            <a:r>
              <a:rPr dirty="0" sz="1800" spc="-10" b="1">
                <a:latin typeface="Roboto"/>
                <a:cs typeface="Roboto"/>
              </a:rPr>
              <a:t>rooms </a:t>
            </a:r>
            <a:r>
              <a:rPr dirty="0" sz="1800" spc="-5" b="1">
                <a:latin typeface="Roboto"/>
                <a:cs typeface="Roboto"/>
              </a:rPr>
              <a:t>already booked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10" b="1">
                <a:latin typeface="Roboto"/>
                <a:cs typeface="Roboto"/>
              </a:rPr>
              <a:t>room </a:t>
            </a:r>
            <a:r>
              <a:rPr dirty="0" sz="1800" spc="-5" b="1">
                <a:latin typeface="Roboto"/>
                <a:cs typeface="Roboto"/>
              </a:rPr>
              <a:t>cancellations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</a:t>
            </a:r>
            <a:r>
              <a:rPr dirty="0" sz="1800" spc="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b="1">
                <a:latin typeface="Roboto"/>
                <a:cs typeface="Roboto"/>
              </a:rPr>
              <a:t>no-shows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1800">
              <a:latin typeface="Roboto"/>
              <a:cs typeface="Roboto"/>
            </a:endParaRPr>
          </a:p>
          <a:p>
            <a:pPr marL="153035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53670" algn="l"/>
              </a:tabLst>
            </a:pPr>
            <a:r>
              <a:rPr dirty="0"/>
              <a:t>The </a:t>
            </a:r>
            <a:r>
              <a:rPr dirty="0" b="1">
                <a:solidFill>
                  <a:srgbClr val="C2132D"/>
                </a:solidFill>
                <a:latin typeface="Roboto"/>
                <a:cs typeface="Roboto"/>
              </a:rPr>
              <a:t>DGP </a:t>
            </a:r>
            <a:r>
              <a:rPr dirty="0"/>
              <a:t>is the </a:t>
            </a:r>
            <a:r>
              <a:rPr dirty="0" b="1">
                <a:solidFill>
                  <a:srgbClr val="C2132D"/>
                </a:solidFill>
                <a:latin typeface="Roboto"/>
                <a:cs typeface="Roboto"/>
              </a:rPr>
              <a:t>underlying </a:t>
            </a:r>
            <a:r>
              <a:rPr dirty="0" spc="-5" b="1">
                <a:solidFill>
                  <a:srgbClr val="C2132D"/>
                </a:solidFill>
                <a:latin typeface="Roboto"/>
                <a:cs typeface="Roboto"/>
              </a:rPr>
              <a:t>theoretical mechanism </a:t>
            </a:r>
            <a:r>
              <a:rPr dirty="0"/>
              <a:t>that </a:t>
            </a:r>
            <a:r>
              <a:rPr dirty="0" spc="-5"/>
              <a:t>generates </a:t>
            </a:r>
            <a:r>
              <a:rPr dirty="0"/>
              <a:t>the data we observe.</a:t>
            </a:r>
          </a:p>
          <a:p>
            <a:pPr lvl="1" marL="534035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53467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Accounts for both systematic patterns (e.g.,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trend,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seasonality) and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randomness.</a:t>
            </a:r>
            <a:endParaRPr sz="1800">
              <a:latin typeface="Roboto"/>
              <a:cs typeface="Roboto"/>
            </a:endParaRPr>
          </a:p>
          <a:p>
            <a:pPr marL="153035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153670" algn="l"/>
              </a:tabLst>
            </a:pPr>
            <a:r>
              <a:rPr dirty="0" b="1">
                <a:solidFill>
                  <a:srgbClr val="C2132D"/>
                </a:solidFill>
                <a:latin typeface="Roboto"/>
                <a:cs typeface="Roboto"/>
              </a:rPr>
              <a:t>But</a:t>
            </a:r>
            <a:r>
              <a:rPr dirty="0"/>
              <a:t>: In </a:t>
            </a:r>
            <a:r>
              <a:rPr dirty="0" spc="-5"/>
              <a:t>real-world </a:t>
            </a:r>
            <a:r>
              <a:rPr dirty="0"/>
              <a:t>settings, </a:t>
            </a:r>
            <a:r>
              <a:rPr dirty="0" spc="-5"/>
              <a:t>there </a:t>
            </a:r>
            <a:r>
              <a:rPr dirty="0"/>
              <a:t>is often </a:t>
            </a:r>
            <a:r>
              <a:rPr dirty="0" spc="-5" b="1">
                <a:solidFill>
                  <a:srgbClr val="C2132D"/>
                </a:solidFill>
                <a:latin typeface="Roboto"/>
                <a:cs typeface="Roboto"/>
              </a:rPr>
              <a:t>no perfectly known</a:t>
            </a:r>
            <a:r>
              <a:rPr dirty="0" spc="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pc="-75"/>
              <a:t>DGP.</a:t>
            </a:r>
          </a:p>
          <a:p>
            <a:pPr lvl="1" marL="534035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53467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Any formula or model we write is an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approximation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the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unknowable</a:t>
            </a:r>
            <a:r>
              <a:rPr dirty="0" sz="1800" spc="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Roboto"/>
                <a:cs typeface="Roboto"/>
              </a:rPr>
              <a:t>“truth.”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23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8754" y="1654175"/>
            <a:ext cx="4134485" cy="47193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A map </a:t>
            </a:r>
            <a:r>
              <a:rPr dirty="0" sz="1800" b="1">
                <a:solidFill>
                  <a:srgbClr val="C2132D"/>
                </a:solidFill>
                <a:latin typeface="Arial"/>
                <a:cs typeface="Arial"/>
              </a:rPr>
              <a:t>≠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the</a:t>
            </a:r>
            <a:r>
              <a:rPr dirty="0" sz="1800" spc="-6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territory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</a:t>
            </a:r>
            <a:endParaRPr sz="1800">
              <a:latin typeface="Roboto"/>
              <a:cs typeface="Roboto"/>
            </a:endParaRPr>
          </a:p>
          <a:p>
            <a:pPr lvl="1" marL="527050" marR="132080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We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use maps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navigate,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but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they 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always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simplified.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Similarly,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model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≠</a:t>
            </a:r>
            <a:r>
              <a:rPr dirty="0" sz="1800" spc="-7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reality</a:t>
            </a:r>
            <a:endParaRPr sz="1800">
              <a:latin typeface="Roboto"/>
              <a:cs typeface="Roboto"/>
            </a:endParaRPr>
          </a:p>
          <a:p>
            <a:pPr marL="527050">
              <a:lnSpc>
                <a:spcPct val="100000"/>
              </a:lnSpc>
              <a:spcBef>
                <a:spcPts val="340"/>
              </a:spcBef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—it is a </a:t>
            </a:r>
            <a:r>
              <a:rPr dirty="0" sz="1850" spc="130" i="1">
                <a:solidFill>
                  <a:srgbClr val="585D60"/>
                </a:solidFill>
                <a:latin typeface="Gill Sans MT"/>
                <a:cs typeface="Gill Sans MT"/>
              </a:rPr>
              <a:t>purposeful</a:t>
            </a:r>
            <a:r>
              <a:rPr dirty="0" sz="1850" spc="-130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simplification.</a:t>
            </a:r>
            <a:endParaRPr sz="1800">
              <a:latin typeface="Roboto"/>
              <a:cs typeface="Roboto"/>
            </a:endParaRPr>
          </a:p>
          <a:p>
            <a:pPr algn="just" marL="146050" indent="-133985">
              <a:lnSpc>
                <a:spcPct val="100000"/>
              </a:lnSpc>
              <a:spcBef>
                <a:spcPts val="120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Different maps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for 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different</a:t>
            </a:r>
            <a:r>
              <a:rPr dirty="0" sz="1800" spc="-2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needs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</a:t>
            </a:r>
            <a:endParaRPr sz="1800">
              <a:latin typeface="Roboto"/>
              <a:cs typeface="Roboto"/>
            </a:endParaRPr>
          </a:p>
          <a:p>
            <a:pPr algn="just" lvl="1" marL="527050" marR="5080" indent="-133985">
              <a:lnSpc>
                <a:spcPct val="116300"/>
              </a:lnSpc>
              <a:spcBef>
                <a:spcPts val="935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tourist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map highlights</a:t>
            </a:r>
            <a:r>
              <a:rPr dirty="0" sz="1800" spc="-6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landmarks,  while a transportation map</a:t>
            </a:r>
            <a:r>
              <a:rPr dirty="0" sz="18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focuses  on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roads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inform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navigation.</a:t>
            </a:r>
            <a:endParaRPr sz="1800">
              <a:latin typeface="Roboto"/>
              <a:cs typeface="Roboto"/>
            </a:endParaRPr>
          </a:p>
          <a:p>
            <a:pPr lvl="1" marL="527050" marR="40640" indent="-133985">
              <a:lnSpc>
                <a:spcPct val="116599"/>
              </a:lnSpc>
              <a:spcBef>
                <a:spcPts val="869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Each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addresses </a:t>
            </a:r>
            <a:r>
              <a:rPr dirty="0" sz="1850" spc="150" i="1">
                <a:solidFill>
                  <a:srgbClr val="585D60"/>
                </a:solidFill>
                <a:latin typeface="Gill Sans MT"/>
                <a:cs typeface="Gill Sans MT"/>
              </a:rPr>
              <a:t>specific</a:t>
            </a:r>
            <a:r>
              <a:rPr dirty="0" sz="1850" spc="-110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questions,  just as we build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different  forecasting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models for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different  objectives.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399" y="1543050"/>
            <a:ext cx="4362450" cy="201929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248399" y="4191000"/>
            <a:ext cx="4362450" cy="200024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92099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Model vs. Reality </a:t>
            </a:r>
            <a:r>
              <a:rPr dirty="0" sz="3350" spc="15">
                <a:latin typeface="Roboto Condensed"/>
                <a:cs typeface="Roboto Condensed"/>
              </a:rPr>
              <a:t>— </a:t>
            </a:r>
            <a:r>
              <a:rPr dirty="0" sz="3350" spc="10">
                <a:latin typeface="Roboto Condensed"/>
                <a:cs typeface="Roboto Condensed"/>
              </a:rPr>
              <a:t>The Map Analogy </a:t>
            </a:r>
            <a:r>
              <a:rPr dirty="0" sz="3350" spc="5">
                <a:latin typeface="Roboto Condensed"/>
                <a:cs typeface="Roboto Condensed"/>
              </a:rPr>
              <a:t>for</a:t>
            </a:r>
            <a:r>
              <a:rPr dirty="0" sz="3350" spc="-114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DGPs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24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25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50570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Why Use DGPs </a:t>
            </a:r>
            <a:r>
              <a:rPr dirty="0" sz="3350" spc="5">
                <a:latin typeface="Roboto Condensed"/>
                <a:cs typeface="Roboto Condensed"/>
              </a:rPr>
              <a:t>If They </a:t>
            </a:r>
            <a:r>
              <a:rPr dirty="0" sz="3350" spc="10">
                <a:latin typeface="Roboto Condensed"/>
                <a:cs typeface="Roboto Condensed"/>
              </a:rPr>
              <a:t>Do not Actually</a:t>
            </a:r>
            <a:r>
              <a:rPr dirty="0" sz="3350" spc="-114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Exist?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664700" cy="4871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60680" indent="-348615">
              <a:lnSpc>
                <a:spcPct val="100000"/>
              </a:lnSpc>
              <a:spcBef>
                <a:spcPts val="100"/>
              </a:spcBef>
              <a:buAutoNum type="arabicParenBoth"/>
              <a:tabLst>
                <a:tab pos="36131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Guiding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Principle:</a:t>
            </a:r>
            <a:endParaRPr sz="1800">
              <a:latin typeface="Roboto"/>
              <a:cs typeface="Roboto"/>
            </a:endParaRPr>
          </a:p>
          <a:p>
            <a:pPr lvl="1" marL="393065" marR="801370" indent="-133985">
              <a:lnSpc>
                <a:spcPct val="117100"/>
              </a:lnSpc>
              <a:spcBef>
                <a:spcPts val="176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Thinking in terms of a </a:t>
            </a:r>
            <a:r>
              <a:rPr dirty="0" sz="1850" spc="125" i="1">
                <a:solidFill>
                  <a:srgbClr val="585D60"/>
                </a:solidFill>
                <a:latin typeface="Gill Sans MT"/>
                <a:cs typeface="Gill Sans MT"/>
              </a:rPr>
              <a:t>hypothetical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DGP helps us design or select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reasonable</a:t>
            </a:r>
            <a:r>
              <a:rPr dirty="0" sz="1800" spc="-2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model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structures.</a:t>
            </a:r>
            <a:endParaRPr sz="1800">
              <a:latin typeface="Roboto"/>
              <a:cs typeface="Roboto"/>
            </a:endParaRPr>
          </a:p>
          <a:p>
            <a:pPr lvl="1" marL="393065" marR="941069" indent="-133985">
              <a:lnSpc>
                <a:spcPct val="1181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E.g., we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incorporate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domain insights: “Does our hotel occupancy data show</a:t>
            </a:r>
            <a:r>
              <a:rPr dirty="0" sz="1800" spc="-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strong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seasonality?”</a:t>
            </a:r>
            <a:endParaRPr sz="1800">
              <a:latin typeface="Roboto"/>
              <a:cs typeface="Roboto"/>
            </a:endParaRPr>
          </a:p>
          <a:p>
            <a:pPr lvl="1">
              <a:lnSpc>
                <a:spcPct val="100000"/>
              </a:lnSpc>
              <a:spcBef>
                <a:spcPts val="10"/>
              </a:spcBef>
              <a:buClr>
                <a:srgbClr val="C2132D"/>
              </a:buClr>
              <a:buFont typeface="Roboto"/>
              <a:buChar char="•"/>
            </a:pPr>
            <a:endParaRPr sz="1750">
              <a:latin typeface="Roboto"/>
              <a:cs typeface="Roboto"/>
            </a:endParaRPr>
          </a:p>
          <a:p>
            <a:pPr marL="360680" indent="-348615">
              <a:lnSpc>
                <a:spcPct val="100000"/>
              </a:lnSpc>
              <a:spcBef>
                <a:spcPts val="5"/>
              </a:spcBef>
              <a:buAutoNum type="arabicParenBoth"/>
              <a:tabLst>
                <a:tab pos="36131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Clarifying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Assumptions:</a:t>
            </a:r>
            <a:endParaRPr sz="1800">
              <a:latin typeface="Roboto"/>
              <a:cs typeface="Roboto"/>
            </a:endParaRPr>
          </a:p>
          <a:p>
            <a:pPr lvl="1" marL="393065" marR="5080" indent="-133985">
              <a:lnSpc>
                <a:spcPct val="118100"/>
              </a:lnSpc>
              <a:spcBef>
                <a:spcPts val="179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Even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if the DGP is not known, stating assumptions (e.g., no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trend,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constant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variance) makes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our models testable and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improvable.</a:t>
            </a:r>
            <a:endParaRPr sz="1800">
              <a:latin typeface="Roboto"/>
              <a:cs typeface="Roboto"/>
            </a:endParaRPr>
          </a:p>
          <a:p>
            <a:pPr lvl="1">
              <a:lnSpc>
                <a:spcPct val="100000"/>
              </a:lnSpc>
              <a:spcBef>
                <a:spcPts val="15"/>
              </a:spcBef>
              <a:buClr>
                <a:srgbClr val="C2132D"/>
              </a:buClr>
              <a:buFont typeface="Roboto"/>
              <a:buChar char="•"/>
            </a:pPr>
            <a:endParaRPr sz="1750">
              <a:latin typeface="Roboto"/>
              <a:cs typeface="Roboto"/>
            </a:endParaRPr>
          </a:p>
          <a:p>
            <a:pPr marL="360680" indent="-348615">
              <a:lnSpc>
                <a:spcPct val="100000"/>
              </a:lnSpc>
              <a:buAutoNum type="arabicParenBoth"/>
              <a:tabLst>
                <a:tab pos="36131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Iterative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Refinement: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As new data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contradict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our assumptions, we adjust our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“map”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reality.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we continually update models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capture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changing</a:t>
            </a:r>
            <a:r>
              <a:rPr dirty="0" sz="1800" spc="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conditions.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25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340931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5">
                <a:latin typeface="Roboto Condensed"/>
                <a:cs typeface="Roboto Condensed"/>
              </a:rPr>
              <a:t>Key </a:t>
            </a:r>
            <a:r>
              <a:rPr dirty="0" sz="3350" spc="10">
                <a:latin typeface="Roboto Condensed"/>
                <a:cs typeface="Roboto Condensed"/>
              </a:rPr>
              <a:t>DGP</a:t>
            </a:r>
            <a:r>
              <a:rPr dirty="0" sz="3350" spc="-70">
                <a:latin typeface="Roboto Condensed"/>
                <a:cs typeface="Roboto Condensed"/>
              </a:rPr>
              <a:t> </a:t>
            </a:r>
            <a:r>
              <a:rPr dirty="0" sz="3350" spc="-20">
                <a:latin typeface="Roboto Condensed"/>
                <a:cs typeface="Roboto Condensed"/>
              </a:rPr>
              <a:t>Takeaways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273461"/>
            <a:ext cx="7360920" cy="3500120"/>
          </a:xfrm>
          <a:prstGeom prst="rect">
            <a:avLst/>
          </a:prstGeom>
        </p:spPr>
        <p:txBody>
          <a:bodyPr wrap="square" lIns="0" tIns="164465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29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All Models 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Are Wrong…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4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...but some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</a:t>
            </a:r>
            <a:r>
              <a:rPr dirty="0" sz="1850" spc="145" i="1">
                <a:solidFill>
                  <a:srgbClr val="585D60"/>
                </a:solidFill>
                <a:latin typeface="Gill Sans MT"/>
                <a:cs typeface="Gill Sans MT"/>
              </a:rPr>
              <a:t>useful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for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planning, or</a:t>
            </a:r>
            <a:r>
              <a:rPr dirty="0" sz="1800" spc="-204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decision-making.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8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The DGP Is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a Useful</a:t>
            </a:r>
            <a:r>
              <a:rPr dirty="0" sz="1800" spc="-2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Fiction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We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talk about it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structure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our</a:t>
            </a:r>
            <a:r>
              <a:rPr dirty="0" sz="1800" spc="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thinking.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We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never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truly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“see”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it; we only see</a:t>
            </a:r>
            <a:r>
              <a:rPr dirty="0" sz="1800" spc="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data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Practical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Implication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4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good model is </a:t>
            </a:r>
            <a:r>
              <a:rPr dirty="0" sz="1850" spc="185" i="1">
                <a:solidFill>
                  <a:srgbClr val="585D60"/>
                </a:solidFill>
                <a:latin typeface="Gill Sans MT"/>
                <a:cs typeface="Gill Sans MT"/>
              </a:rPr>
              <a:t>close </a:t>
            </a:r>
            <a:r>
              <a:rPr dirty="0" sz="1850" spc="155" i="1">
                <a:solidFill>
                  <a:srgbClr val="585D60"/>
                </a:solidFill>
                <a:latin typeface="Gill Sans MT"/>
                <a:cs typeface="Gill Sans MT"/>
              </a:rPr>
              <a:t>enough</a:t>
            </a:r>
            <a:r>
              <a:rPr dirty="0" sz="1850" spc="-325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guide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accurate forecasts.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8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Remain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aware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model limitations and be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ready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adapt.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59992" y="2731008"/>
            <a:ext cx="8613775" cy="1076325"/>
          </a:xfrm>
          <a:prstGeom prst="rect"/>
          <a:solidFill>
            <a:srgbClr val="333333"/>
          </a:solidFill>
        </p:spPr>
        <p:txBody>
          <a:bodyPr wrap="square" lIns="0" tIns="167640" rIns="0" bIns="0" rtlCol="0" vert="horz">
            <a:spAutoFit/>
          </a:bodyPr>
          <a:lstStyle/>
          <a:p>
            <a:pPr marL="231775">
              <a:lnSpc>
                <a:spcPct val="100000"/>
              </a:lnSpc>
              <a:spcBef>
                <a:spcPts val="1320"/>
              </a:spcBef>
            </a:pPr>
            <a:r>
              <a:rPr dirty="0" sz="4100" spc="-955">
                <a:solidFill>
                  <a:srgbClr val="000000"/>
                </a:solidFill>
                <a:latin typeface="Roboto Condensed"/>
                <a:cs typeface="Roboto Condensed"/>
              </a:rPr>
              <a:t>"</a:t>
            </a:r>
            <a:r>
              <a:rPr dirty="0" sz="4100" spc="-955">
                <a:solidFill>
                  <a:srgbClr val="FFFFFF"/>
                </a:solidFill>
                <a:latin typeface="Roboto Condensed"/>
                <a:cs typeface="Roboto Condensed"/>
              </a:rPr>
              <a:t>"</a:t>
            </a:r>
            <a:r>
              <a:rPr dirty="0" sz="4100" spc="-955">
                <a:solidFill>
                  <a:srgbClr val="000000"/>
                </a:solidFill>
                <a:latin typeface="Roboto Condensed"/>
                <a:cs typeface="Roboto Condensed"/>
              </a:rPr>
              <a:t>W</a:t>
            </a:r>
            <a:r>
              <a:rPr dirty="0" sz="4100" spc="-955">
                <a:solidFill>
                  <a:srgbClr val="FFFFFF"/>
                </a:solidFill>
                <a:latin typeface="Roboto Condensed"/>
                <a:cs typeface="Roboto Condensed"/>
              </a:rPr>
              <a:t>W</a:t>
            </a:r>
            <a:r>
              <a:rPr dirty="0" sz="4100" spc="-955">
                <a:solidFill>
                  <a:srgbClr val="000000"/>
                </a:solidFill>
                <a:latin typeface="Roboto Condensed"/>
                <a:cs typeface="Roboto Condensed"/>
              </a:rPr>
              <a:t>h</a:t>
            </a:r>
            <a:r>
              <a:rPr dirty="0" sz="4100" spc="-955">
                <a:solidFill>
                  <a:srgbClr val="FFFFFF"/>
                </a:solidFill>
                <a:latin typeface="Roboto Condensed"/>
                <a:cs typeface="Roboto Condensed"/>
              </a:rPr>
              <a:t>h</a:t>
            </a:r>
            <a:r>
              <a:rPr dirty="0" sz="4100" spc="-955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955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955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955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10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C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15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905">
                <a:solidFill>
                  <a:srgbClr val="000000"/>
                </a:solidFill>
                <a:latin typeface="Roboto Condensed"/>
                <a:cs typeface="Roboto Condensed"/>
              </a:rPr>
              <a:t>(</a:t>
            </a:r>
            <a:r>
              <a:rPr dirty="0" sz="4100" spc="-905">
                <a:solidFill>
                  <a:srgbClr val="FFFFFF"/>
                </a:solidFill>
                <a:latin typeface="Roboto Condensed"/>
                <a:cs typeface="Roboto Condensed"/>
              </a:rPr>
              <a:t>(</a:t>
            </a:r>
            <a:r>
              <a:rPr dirty="0" sz="4100" spc="-905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905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905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905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905">
                <a:solidFill>
                  <a:srgbClr val="000000"/>
                </a:solidFill>
                <a:latin typeface="Roboto Condensed"/>
                <a:cs typeface="Roboto Condensed"/>
              </a:rPr>
              <a:t>d</a:t>
            </a:r>
            <a:r>
              <a:rPr dirty="0" sz="4100" spc="-905">
                <a:solidFill>
                  <a:srgbClr val="FFFFFF"/>
                </a:solidFill>
                <a:latin typeface="Roboto Condensed"/>
                <a:cs typeface="Roboto Condensed"/>
              </a:rPr>
              <a:t>d 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C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15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819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819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819">
                <a:solidFill>
                  <a:srgbClr val="000000"/>
                </a:solidFill>
                <a:latin typeface="Roboto Condensed"/>
                <a:cs typeface="Roboto Condensed"/>
              </a:rPr>
              <a:t>o</a:t>
            </a:r>
            <a:r>
              <a:rPr dirty="0" sz="4100" spc="-819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819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819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819">
                <a:solidFill>
                  <a:srgbClr val="000000"/>
                </a:solidFill>
                <a:latin typeface="Roboto Condensed"/>
                <a:cs typeface="Roboto Condensed"/>
              </a:rPr>
              <a:t>)</a:t>
            </a:r>
            <a:r>
              <a:rPr dirty="0" sz="4100" spc="-819">
                <a:solidFill>
                  <a:srgbClr val="FFFFFF"/>
                </a:solidFill>
                <a:latin typeface="Roboto Condensed"/>
                <a:cs typeface="Roboto Condensed"/>
              </a:rPr>
              <a:t>)</a:t>
            </a:r>
            <a:r>
              <a:rPr dirty="0" sz="4100" spc="-815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1270">
                <a:solidFill>
                  <a:srgbClr val="000000"/>
                </a:solidFill>
                <a:latin typeface="Roboto Condensed"/>
                <a:cs typeface="Roboto Condensed"/>
              </a:rPr>
              <a:t>W</a:t>
            </a:r>
            <a:r>
              <a:rPr dirty="0" sz="4100" spc="-1270">
                <a:solidFill>
                  <a:srgbClr val="FFFFFF"/>
                </a:solidFill>
                <a:latin typeface="Roboto Condensed"/>
                <a:cs typeface="Roboto Condensed"/>
              </a:rPr>
              <a:t>W</a:t>
            </a:r>
            <a:r>
              <a:rPr dirty="0" sz="4100" spc="-1270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127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10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F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F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o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r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c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s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?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?</a:t>
            </a:r>
            <a:r>
              <a:rPr dirty="0" sz="4100" spc="-860">
                <a:solidFill>
                  <a:srgbClr val="000000"/>
                </a:solidFill>
                <a:latin typeface="Roboto Condensed"/>
                <a:cs typeface="Roboto Condensed"/>
              </a:rPr>
              <a:t>"</a:t>
            </a:r>
            <a:r>
              <a:rPr dirty="0" sz="4100" spc="-860">
                <a:solidFill>
                  <a:srgbClr val="FFFFFF"/>
                </a:solidFill>
                <a:latin typeface="Roboto Condensed"/>
                <a:cs typeface="Roboto Condensed"/>
              </a:rPr>
              <a:t>"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r>
              <a:rPr dirty="0" sz="1200" spc="-340">
                <a:latin typeface="Roboto"/>
                <a:cs typeface="Roboto"/>
              </a:rPr>
              <a:t>7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7</a:t>
            </a:r>
            <a:r>
              <a:rPr dirty="0" sz="1200" spc="-3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250">
                <a:latin typeface="Roboto"/>
                <a:cs typeface="Roboto"/>
              </a:rPr>
              <a:t>/</a:t>
            </a:r>
            <a:r>
              <a:rPr dirty="0" sz="1200" spc="-250">
                <a:solidFill>
                  <a:srgbClr val="FFFFFF"/>
                </a:solidFill>
                <a:latin typeface="Roboto"/>
                <a:cs typeface="Roboto"/>
              </a:rPr>
              <a:t>/</a:t>
            </a:r>
            <a:r>
              <a:rPr dirty="0" sz="1200" spc="-22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340">
                <a:latin typeface="Roboto"/>
                <a:cs typeface="Roboto"/>
              </a:rPr>
              <a:t>4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4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8242300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Rank these Scenarios in </a:t>
            </a:r>
            <a:r>
              <a:rPr dirty="0" sz="3350" spc="-20">
                <a:solidFill>
                  <a:srgbClr val="C2132D"/>
                </a:solidFill>
                <a:latin typeface="Roboto Condensed"/>
                <a:cs typeface="Roboto Condensed"/>
              </a:rPr>
              <a:t>Terms </a:t>
            </a:r>
            <a:r>
              <a:rPr dirty="0" sz="3350" spc="10">
                <a:solidFill>
                  <a:srgbClr val="C2132D"/>
                </a:solidFill>
                <a:latin typeface="Roboto Condensed"/>
                <a:cs typeface="Roboto Condensed"/>
              </a:rPr>
              <a:t>of</a:t>
            </a:r>
            <a:r>
              <a:rPr dirty="0" sz="3350" spc="-95">
                <a:solidFill>
                  <a:srgbClr val="C2132D"/>
                </a:solidFill>
                <a:latin typeface="Roboto Condensed"/>
                <a:cs typeface="Roboto Condensed"/>
              </a:rPr>
              <a:t> </a:t>
            </a:r>
            <a:r>
              <a:rPr dirty="0" sz="3350" spc="5">
                <a:solidFill>
                  <a:srgbClr val="C2132D"/>
                </a:solidFill>
                <a:latin typeface="Roboto Condensed"/>
                <a:cs typeface="Roboto Condensed"/>
              </a:rPr>
              <a:t>Forecastability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14400" y="2124075"/>
            <a:ext cx="9696450" cy="0"/>
          </a:xfrm>
          <a:custGeom>
            <a:avLst/>
            <a:gdLst/>
            <a:ahLst/>
            <a:cxnLst/>
            <a:rect l="l" t="t" r="r" b="b"/>
            <a:pathLst>
              <a:path w="9696450" h="0">
                <a:moveTo>
                  <a:pt x="0" y="0"/>
                </a:moveTo>
                <a:lnTo>
                  <a:pt x="9696449" y="0"/>
                </a:lnTo>
              </a:path>
            </a:pathLst>
          </a:custGeom>
          <a:ln w="19049">
            <a:solidFill>
              <a:srgbClr val="DDDDD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914400" y="1552575"/>
            <a:ext cx="1619250" cy="0"/>
          </a:xfrm>
          <a:custGeom>
            <a:avLst/>
            <a:gdLst/>
            <a:ahLst/>
            <a:cxnLst/>
            <a:rect l="l" t="t" r="r" b="b"/>
            <a:pathLst>
              <a:path w="1619250" h="0">
                <a:moveTo>
                  <a:pt x="0" y="0"/>
                </a:moveTo>
                <a:lnTo>
                  <a:pt x="1619249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2124075"/>
            <a:ext cx="1619250" cy="0"/>
          </a:xfrm>
          <a:custGeom>
            <a:avLst/>
            <a:gdLst/>
            <a:ahLst/>
            <a:cxnLst/>
            <a:rect l="l" t="t" r="r" b="b"/>
            <a:pathLst>
              <a:path w="1619250" h="0">
                <a:moveTo>
                  <a:pt x="0" y="0"/>
                </a:moveTo>
                <a:lnTo>
                  <a:pt x="1619249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130300" y="1673225"/>
            <a:ext cx="8028940" cy="14236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26870" algn="l"/>
                <a:tab pos="309245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2"/>
              </a:rPr>
              <a:t>Description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	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3"/>
              </a:rPr>
              <a:t>Scenarios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	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4"/>
              </a:rPr>
              <a:t>Class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  <a:hlinkClick r:id="rId4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  <a:hlinkClick r:id="rId4"/>
              </a:rPr>
              <a:t>Results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650">
              <a:latin typeface="Roboto"/>
              <a:cs typeface="Roboto"/>
            </a:endParaRPr>
          </a:p>
          <a:p>
            <a:pPr marL="165100" indent="-133985">
              <a:lnSpc>
                <a:spcPct val="100000"/>
              </a:lnSpc>
              <a:spcBef>
                <a:spcPts val="5"/>
              </a:spcBef>
              <a:buFont typeface="Roboto"/>
              <a:buChar char="•"/>
              <a:tabLst>
                <a:tab pos="165100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Rank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each scenario (in the next tab)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from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easiest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(1)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hardest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(6)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predict.</a:t>
            </a:r>
            <a:endParaRPr sz="1800">
              <a:latin typeface="Roboto"/>
              <a:cs typeface="Roboto"/>
            </a:endParaRPr>
          </a:p>
          <a:p>
            <a:pPr marL="165100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165100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Submit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your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ranking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by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clicking</a:t>
            </a:r>
            <a:r>
              <a:rPr dirty="0" sz="1800" spc="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5"/>
              </a:rPr>
              <a:t>here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403080" y="182880"/>
            <a:ext cx="1978660" cy="966469"/>
          </a:xfrm>
          <a:custGeom>
            <a:avLst/>
            <a:gdLst/>
            <a:ahLst/>
            <a:cxnLst/>
            <a:rect l="l" t="t" r="r" b="b"/>
            <a:pathLst>
              <a:path w="1978659" h="966469">
                <a:moveTo>
                  <a:pt x="1978152" y="966216"/>
                </a:moveTo>
                <a:lnTo>
                  <a:pt x="0" y="966216"/>
                </a:lnTo>
                <a:lnTo>
                  <a:pt x="0" y="0"/>
                </a:lnTo>
                <a:lnTo>
                  <a:pt x="1978152" y="0"/>
                </a:lnTo>
                <a:lnTo>
                  <a:pt x="1978152" y="102870"/>
                </a:lnTo>
                <a:lnTo>
                  <a:pt x="274319" y="102870"/>
                </a:lnTo>
                <a:lnTo>
                  <a:pt x="261182" y="103504"/>
                </a:lnTo>
                <a:lnTo>
                  <a:pt x="223287" y="113020"/>
                </a:lnTo>
                <a:lnTo>
                  <a:pt x="189762" y="133087"/>
                </a:lnTo>
                <a:lnTo>
                  <a:pt x="163420" y="162120"/>
                </a:lnTo>
                <a:lnTo>
                  <a:pt x="146677" y="197568"/>
                </a:lnTo>
                <a:lnTo>
                  <a:pt x="140969" y="236220"/>
                </a:lnTo>
                <a:lnTo>
                  <a:pt x="140969" y="655320"/>
                </a:lnTo>
                <a:lnTo>
                  <a:pt x="146677" y="693971"/>
                </a:lnTo>
                <a:lnTo>
                  <a:pt x="163420" y="729419"/>
                </a:lnTo>
                <a:lnTo>
                  <a:pt x="189762" y="758452"/>
                </a:lnTo>
                <a:lnTo>
                  <a:pt x="223287" y="778519"/>
                </a:lnTo>
                <a:lnTo>
                  <a:pt x="261182" y="788035"/>
                </a:lnTo>
                <a:lnTo>
                  <a:pt x="274319" y="788670"/>
                </a:lnTo>
                <a:lnTo>
                  <a:pt x="1978152" y="788670"/>
                </a:lnTo>
                <a:lnTo>
                  <a:pt x="1978152" y="966216"/>
                </a:lnTo>
                <a:close/>
              </a:path>
              <a:path w="1978659" h="966469">
                <a:moveTo>
                  <a:pt x="1978152" y="788670"/>
                </a:moveTo>
                <a:lnTo>
                  <a:pt x="1703069" y="788670"/>
                </a:lnTo>
                <a:lnTo>
                  <a:pt x="1716205" y="788035"/>
                </a:lnTo>
                <a:lnTo>
                  <a:pt x="1729088" y="786132"/>
                </a:lnTo>
                <a:lnTo>
                  <a:pt x="1765992" y="772906"/>
                </a:lnTo>
                <a:lnTo>
                  <a:pt x="1797360" y="749612"/>
                </a:lnTo>
                <a:lnTo>
                  <a:pt x="1820653" y="718244"/>
                </a:lnTo>
                <a:lnTo>
                  <a:pt x="1833880" y="681340"/>
                </a:lnTo>
                <a:lnTo>
                  <a:pt x="1836419" y="655320"/>
                </a:lnTo>
                <a:lnTo>
                  <a:pt x="1836419" y="236220"/>
                </a:lnTo>
                <a:lnTo>
                  <a:pt x="1830708" y="197568"/>
                </a:lnTo>
                <a:lnTo>
                  <a:pt x="1813965" y="162120"/>
                </a:lnTo>
                <a:lnTo>
                  <a:pt x="1787623" y="133087"/>
                </a:lnTo>
                <a:lnTo>
                  <a:pt x="1754098" y="113020"/>
                </a:lnTo>
                <a:lnTo>
                  <a:pt x="1716205" y="103504"/>
                </a:lnTo>
                <a:lnTo>
                  <a:pt x="1703069" y="102870"/>
                </a:lnTo>
                <a:lnTo>
                  <a:pt x="1978152" y="102870"/>
                </a:lnTo>
                <a:lnTo>
                  <a:pt x="1978152" y="788670"/>
                </a:lnTo>
                <a:close/>
              </a:path>
            </a:pathLst>
          </a:custGeom>
          <a:solidFill>
            <a:srgbClr val="323232">
              <a:alpha val="39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9548811" y="290512"/>
            <a:ext cx="1685925" cy="676275"/>
          </a:xfrm>
          <a:custGeom>
            <a:avLst/>
            <a:gdLst/>
            <a:ahLst/>
            <a:cxnLst/>
            <a:rect l="l" t="t" r="r" b="b"/>
            <a:pathLst>
              <a:path w="1685925" h="676275">
                <a:moveTo>
                  <a:pt x="1565780" y="676274"/>
                </a:moveTo>
                <a:lnTo>
                  <a:pt x="120144" y="676274"/>
                </a:lnTo>
                <a:lnTo>
                  <a:pt x="111782" y="675451"/>
                </a:lnTo>
                <a:lnTo>
                  <a:pt x="71578" y="663255"/>
                </a:lnTo>
                <a:lnTo>
                  <a:pt x="31692" y="632642"/>
                </a:lnTo>
                <a:lnTo>
                  <a:pt x="6556" y="589095"/>
                </a:lnTo>
                <a:lnTo>
                  <a:pt x="0" y="556130"/>
                </a:lnTo>
                <a:lnTo>
                  <a:pt x="0" y="120144"/>
                </a:lnTo>
                <a:lnTo>
                  <a:pt x="13018" y="71578"/>
                </a:lnTo>
                <a:lnTo>
                  <a:pt x="43632" y="31692"/>
                </a:lnTo>
                <a:lnTo>
                  <a:pt x="87178" y="6557"/>
                </a:lnTo>
                <a:lnTo>
                  <a:pt x="120144" y="0"/>
                </a:lnTo>
                <a:lnTo>
                  <a:pt x="1565780" y="0"/>
                </a:lnTo>
                <a:lnTo>
                  <a:pt x="1614345" y="13019"/>
                </a:lnTo>
                <a:lnTo>
                  <a:pt x="1654232" y="43632"/>
                </a:lnTo>
                <a:lnTo>
                  <a:pt x="1679366" y="87179"/>
                </a:lnTo>
                <a:lnTo>
                  <a:pt x="1685925" y="120144"/>
                </a:lnTo>
                <a:lnTo>
                  <a:pt x="1685925" y="556130"/>
                </a:lnTo>
                <a:lnTo>
                  <a:pt x="1672904" y="604696"/>
                </a:lnTo>
                <a:lnTo>
                  <a:pt x="1642292" y="644582"/>
                </a:lnTo>
                <a:lnTo>
                  <a:pt x="1598743" y="669717"/>
                </a:lnTo>
                <a:lnTo>
                  <a:pt x="1565780" y="676274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9548810" y="290512"/>
            <a:ext cx="1685925" cy="676275"/>
          </a:xfrm>
          <a:custGeom>
            <a:avLst/>
            <a:gdLst/>
            <a:ahLst/>
            <a:cxnLst/>
            <a:rect l="l" t="t" r="r" b="b"/>
            <a:pathLst>
              <a:path w="1685925" h="676275">
                <a:moveTo>
                  <a:pt x="0" y="547687"/>
                </a:moveTo>
                <a:lnTo>
                  <a:pt x="0" y="128587"/>
                </a:lnTo>
                <a:lnTo>
                  <a:pt x="0" y="120144"/>
                </a:lnTo>
                <a:lnTo>
                  <a:pt x="823" y="111782"/>
                </a:lnTo>
                <a:lnTo>
                  <a:pt x="2470" y="103501"/>
                </a:lnTo>
                <a:lnTo>
                  <a:pt x="4117" y="95220"/>
                </a:lnTo>
                <a:lnTo>
                  <a:pt x="6556" y="87179"/>
                </a:lnTo>
                <a:lnTo>
                  <a:pt x="9787" y="79379"/>
                </a:lnTo>
                <a:lnTo>
                  <a:pt x="13018" y="71578"/>
                </a:lnTo>
                <a:lnTo>
                  <a:pt x="37662" y="37662"/>
                </a:lnTo>
                <a:lnTo>
                  <a:pt x="43632" y="31692"/>
                </a:lnTo>
                <a:lnTo>
                  <a:pt x="50127" y="26361"/>
                </a:lnTo>
                <a:lnTo>
                  <a:pt x="57147" y="21670"/>
                </a:lnTo>
                <a:lnTo>
                  <a:pt x="64167" y="16980"/>
                </a:lnTo>
                <a:lnTo>
                  <a:pt x="71577" y="13019"/>
                </a:lnTo>
                <a:lnTo>
                  <a:pt x="79378" y="9788"/>
                </a:lnTo>
                <a:lnTo>
                  <a:pt x="87178" y="6557"/>
                </a:lnTo>
                <a:lnTo>
                  <a:pt x="95219" y="4117"/>
                </a:lnTo>
                <a:lnTo>
                  <a:pt x="103501" y="2470"/>
                </a:lnTo>
                <a:lnTo>
                  <a:pt x="111782" y="823"/>
                </a:lnTo>
                <a:lnTo>
                  <a:pt x="120144" y="0"/>
                </a:lnTo>
                <a:lnTo>
                  <a:pt x="128588" y="0"/>
                </a:lnTo>
                <a:lnTo>
                  <a:pt x="1557337" y="0"/>
                </a:lnTo>
                <a:lnTo>
                  <a:pt x="1565780" y="0"/>
                </a:lnTo>
                <a:lnTo>
                  <a:pt x="1574142" y="823"/>
                </a:lnTo>
                <a:lnTo>
                  <a:pt x="1582422" y="2470"/>
                </a:lnTo>
                <a:lnTo>
                  <a:pt x="1590703" y="4117"/>
                </a:lnTo>
                <a:lnTo>
                  <a:pt x="1598743" y="6557"/>
                </a:lnTo>
                <a:lnTo>
                  <a:pt x="1606544" y="9788"/>
                </a:lnTo>
                <a:lnTo>
                  <a:pt x="1614344" y="13019"/>
                </a:lnTo>
                <a:lnTo>
                  <a:pt x="1648262" y="37662"/>
                </a:lnTo>
                <a:lnTo>
                  <a:pt x="1672904" y="71578"/>
                </a:lnTo>
                <a:lnTo>
                  <a:pt x="1685101" y="111782"/>
                </a:lnTo>
                <a:lnTo>
                  <a:pt x="1685925" y="120144"/>
                </a:lnTo>
                <a:lnTo>
                  <a:pt x="1685925" y="128587"/>
                </a:lnTo>
                <a:lnTo>
                  <a:pt x="1685925" y="547687"/>
                </a:lnTo>
                <a:lnTo>
                  <a:pt x="1685925" y="556130"/>
                </a:lnTo>
                <a:lnTo>
                  <a:pt x="1685101" y="564492"/>
                </a:lnTo>
                <a:lnTo>
                  <a:pt x="1672904" y="604696"/>
                </a:lnTo>
                <a:lnTo>
                  <a:pt x="1648262" y="638612"/>
                </a:lnTo>
                <a:lnTo>
                  <a:pt x="1628775" y="654603"/>
                </a:lnTo>
                <a:lnTo>
                  <a:pt x="1621754" y="659294"/>
                </a:lnTo>
                <a:lnTo>
                  <a:pt x="1614344" y="663255"/>
                </a:lnTo>
                <a:lnTo>
                  <a:pt x="1606544" y="666486"/>
                </a:lnTo>
                <a:lnTo>
                  <a:pt x="1598743" y="669717"/>
                </a:lnTo>
                <a:lnTo>
                  <a:pt x="1590703" y="672156"/>
                </a:lnTo>
                <a:lnTo>
                  <a:pt x="1582422" y="673804"/>
                </a:lnTo>
                <a:lnTo>
                  <a:pt x="1574142" y="675451"/>
                </a:lnTo>
                <a:lnTo>
                  <a:pt x="1565780" y="676274"/>
                </a:lnTo>
                <a:lnTo>
                  <a:pt x="1557337" y="676274"/>
                </a:lnTo>
                <a:lnTo>
                  <a:pt x="128588" y="676274"/>
                </a:lnTo>
                <a:lnTo>
                  <a:pt x="120144" y="676274"/>
                </a:lnTo>
                <a:lnTo>
                  <a:pt x="111782" y="675451"/>
                </a:lnTo>
                <a:lnTo>
                  <a:pt x="103501" y="673804"/>
                </a:lnTo>
                <a:lnTo>
                  <a:pt x="95219" y="672156"/>
                </a:lnTo>
                <a:lnTo>
                  <a:pt x="87178" y="669717"/>
                </a:lnTo>
                <a:lnTo>
                  <a:pt x="79378" y="666486"/>
                </a:lnTo>
                <a:lnTo>
                  <a:pt x="71578" y="663255"/>
                </a:lnTo>
                <a:lnTo>
                  <a:pt x="64167" y="659294"/>
                </a:lnTo>
                <a:lnTo>
                  <a:pt x="57147" y="654603"/>
                </a:lnTo>
                <a:lnTo>
                  <a:pt x="50127" y="649913"/>
                </a:lnTo>
                <a:lnTo>
                  <a:pt x="21670" y="619126"/>
                </a:lnTo>
                <a:lnTo>
                  <a:pt x="16979" y="612106"/>
                </a:lnTo>
                <a:lnTo>
                  <a:pt x="13018" y="604696"/>
                </a:lnTo>
                <a:lnTo>
                  <a:pt x="9787" y="596895"/>
                </a:lnTo>
                <a:lnTo>
                  <a:pt x="6556" y="589095"/>
                </a:lnTo>
                <a:lnTo>
                  <a:pt x="4117" y="581054"/>
                </a:lnTo>
                <a:lnTo>
                  <a:pt x="2470" y="572773"/>
                </a:lnTo>
                <a:lnTo>
                  <a:pt x="823" y="564492"/>
                </a:lnTo>
                <a:lnTo>
                  <a:pt x="0" y="556130"/>
                </a:lnTo>
                <a:lnTo>
                  <a:pt x="0" y="547687"/>
                </a:lnTo>
                <a:close/>
              </a:path>
            </a:pathLst>
          </a:custGeom>
          <a:ln w="28574">
            <a:solidFill>
              <a:srgbClr val="DDDDD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9268460">
              <a:lnSpc>
                <a:spcPct val="100000"/>
              </a:lnSpc>
              <a:spcBef>
                <a:spcPts val="100"/>
              </a:spcBef>
            </a:pPr>
            <a:r>
              <a:rPr dirty="0" spc="-5"/>
              <a:t>02:00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28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28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96392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>
                <a:latin typeface="Roboto Condensed"/>
                <a:cs typeface="Roboto Condensed"/>
              </a:rPr>
              <a:t>Perfect </a:t>
            </a:r>
            <a:r>
              <a:rPr dirty="0" sz="3350" spc="5">
                <a:latin typeface="Roboto Condensed"/>
                <a:cs typeface="Roboto Condensed"/>
              </a:rPr>
              <a:t>(or Near-Perfect)</a:t>
            </a:r>
            <a:r>
              <a:rPr dirty="0" sz="3350" spc="30">
                <a:latin typeface="Roboto Condensed"/>
                <a:cs typeface="Roboto Condensed"/>
              </a:rPr>
              <a:t> </a:t>
            </a:r>
            <a:r>
              <a:rPr dirty="0" sz="3350">
                <a:latin typeface="Roboto Condensed"/>
                <a:cs typeface="Roboto Condensed"/>
              </a:rPr>
              <a:t>Forecasts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8809355" cy="42144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Examples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52768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Sunset</a:t>
            </a:r>
            <a:r>
              <a:rPr dirty="0" sz="1800" spc="-5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Times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:</a:t>
            </a:r>
            <a:endParaRPr sz="1800">
              <a:latin typeface="Roboto"/>
              <a:cs typeface="Roboto"/>
            </a:endParaRPr>
          </a:p>
          <a:p>
            <a:pPr lvl="2" marL="908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908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Based on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precise astronomical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 calculations.</a:t>
            </a:r>
            <a:endParaRPr sz="1800">
              <a:latin typeface="Roboto"/>
              <a:cs typeface="Roboto"/>
            </a:endParaRPr>
          </a:p>
          <a:p>
            <a:pPr lvl="2" marL="908050" indent="-134620">
              <a:lnSpc>
                <a:spcPct val="100000"/>
              </a:lnSpc>
              <a:spcBef>
                <a:spcPts val="1165"/>
              </a:spcBef>
              <a:buClr>
                <a:srgbClr val="C2132D"/>
              </a:buClr>
              <a:buChar char="•"/>
              <a:tabLst>
                <a:tab pos="908685" algn="l"/>
              </a:tabLst>
            </a:pP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We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can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predict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sunset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exact minute, </a:t>
            </a:r>
            <a:r>
              <a:rPr dirty="0" sz="1850" spc="135" i="1">
                <a:solidFill>
                  <a:srgbClr val="585D60"/>
                </a:solidFill>
                <a:latin typeface="Gill Sans MT"/>
                <a:cs typeface="Gill Sans MT"/>
              </a:rPr>
              <a:t>tomorrow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or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even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year from</a:t>
            </a:r>
            <a:r>
              <a:rPr dirty="0" sz="1800" spc="-16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Roboto"/>
                <a:cs typeface="Roboto"/>
              </a:rPr>
              <a:t>now.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80"/>
              </a:spcBef>
              <a:buFont typeface="Roboto"/>
              <a:buChar char="•"/>
              <a:tabLst>
                <a:tab pos="527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Tides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</a:t>
            </a:r>
            <a:endParaRPr sz="1800">
              <a:latin typeface="Roboto"/>
              <a:cs typeface="Roboto"/>
            </a:endParaRPr>
          </a:p>
          <a:p>
            <a:pPr lvl="2" marL="908050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908685" algn="l"/>
              </a:tabLst>
            </a:pP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Governed by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well-modeled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gravitational forces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the Moon and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Sun.</a:t>
            </a:r>
            <a:endParaRPr sz="1800">
              <a:latin typeface="Roboto"/>
              <a:cs typeface="Roboto"/>
            </a:endParaRPr>
          </a:p>
          <a:p>
            <a:pPr lvl="2" marL="908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908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Highly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predictable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for centuries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into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future.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Why So</a:t>
            </a:r>
            <a:r>
              <a:rPr dirty="0" sz="1800" spc="-1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Roboto"/>
                <a:cs typeface="Roboto"/>
              </a:rPr>
              <a:t>Certain?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165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These phenomena follow </a:t>
            </a:r>
            <a:r>
              <a:rPr dirty="0" sz="1850" spc="130" i="1">
                <a:solidFill>
                  <a:srgbClr val="585D60"/>
                </a:solidFill>
                <a:latin typeface="Gill Sans MT"/>
                <a:cs typeface="Gill Sans MT"/>
              </a:rPr>
              <a:t>deterministic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(or near-deterministic) physical</a:t>
            </a:r>
            <a:r>
              <a:rPr dirty="0" sz="1800" spc="-2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laws.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8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Little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no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stochastic “noise”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the</a:t>
            </a:r>
            <a:r>
              <a:rPr dirty="0" sz="1800" spc="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process.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28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901700" y="1539875"/>
            <a:ext cx="880744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30" b="1">
                <a:solidFill>
                  <a:srgbClr val="C2132D"/>
                </a:solidFill>
                <a:latin typeface="Roboto"/>
                <a:cs typeface="Roboto"/>
              </a:rPr>
              <a:t>W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eather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2035685"/>
            <a:ext cx="3937635" cy="1747520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46050" marR="5080" indent="-133985">
              <a:lnSpc>
                <a:spcPct val="117100"/>
              </a:lnSpc>
              <a:spcBef>
                <a:spcPts val="114"/>
              </a:spcBef>
              <a:buClr>
                <a:srgbClr val="C2132D"/>
              </a:buClr>
              <a:buSzPct val="97297"/>
              <a:buFont typeface="Roboto"/>
              <a:buChar char="•"/>
              <a:tabLst>
                <a:tab pos="146685" algn="l"/>
              </a:tabLst>
            </a:pPr>
            <a:r>
              <a:rPr dirty="0" sz="1850" spc="125" i="1">
                <a:solidFill>
                  <a:srgbClr val="585D60"/>
                </a:solidFill>
                <a:latin typeface="Gill Sans MT"/>
                <a:cs typeface="Gill Sans MT"/>
              </a:rPr>
              <a:t>Tomorrow’s </a:t>
            </a:r>
            <a:r>
              <a:rPr dirty="0" sz="1850" spc="135" i="1">
                <a:solidFill>
                  <a:srgbClr val="585D60"/>
                </a:solidFill>
                <a:latin typeface="Gill Sans MT"/>
                <a:cs typeface="Gill Sans MT"/>
              </a:rPr>
              <a:t>Forecast</a:t>
            </a:r>
            <a:r>
              <a:rPr dirty="0" sz="1800" spc="13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Quite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accurate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(initial conditions + physical</a:t>
            </a:r>
            <a:r>
              <a:rPr dirty="0" sz="1800" spc="-8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models).</a:t>
            </a:r>
            <a:endParaRPr sz="1800">
              <a:latin typeface="Roboto"/>
              <a:cs typeface="Roboto"/>
            </a:endParaRPr>
          </a:p>
          <a:p>
            <a:pPr marL="146050" marR="251460" indent="-133985">
              <a:lnSpc>
                <a:spcPct val="115900"/>
              </a:lnSpc>
              <a:spcBef>
                <a:spcPts val="810"/>
              </a:spcBef>
              <a:buClr>
                <a:srgbClr val="C2132D"/>
              </a:buClr>
              <a:buSzPct val="97297"/>
              <a:buFont typeface="Roboto"/>
              <a:buChar char="•"/>
              <a:tabLst>
                <a:tab pos="146685" algn="l"/>
              </a:tabLst>
            </a:pPr>
            <a:r>
              <a:rPr dirty="0" sz="1850" spc="45" i="1">
                <a:solidFill>
                  <a:srgbClr val="585D60"/>
                </a:solidFill>
                <a:latin typeface="Gill Sans MT"/>
                <a:cs typeface="Gill Sans MT"/>
              </a:rPr>
              <a:t>1 </a:t>
            </a:r>
            <a:r>
              <a:rPr dirty="0" sz="1850" spc="100" i="1">
                <a:solidFill>
                  <a:srgbClr val="585D60"/>
                </a:solidFill>
                <a:latin typeface="Gill Sans MT"/>
                <a:cs typeface="Gill Sans MT"/>
              </a:rPr>
              <a:t>Year</a:t>
            </a:r>
            <a:r>
              <a:rPr dirty="0" sz="1850" spc="-380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50" spc="120" i="1">
                <a:solidFill>
                  <a:srgbClr val="585D60"/>
                </a:solidFill>
                <a:latin typeface="Gill Sans MT"/>
                <a:cs typeface="Gill Sans MT"/>
              </a:rPr>
              <a:t>Ahead</a:t>
            </a:r>
            <a:r>
              <a:rPr dirty="0" sz="1800" spc="120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Chaos and changing  conditions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degrade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accuracy 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significantly.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34806" y="1539875"/>
            <a:ext cx="91440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S&amp;P</a:t>
            </a:r>
            <a:r>
              <a:rPr dirty="0" sz="1800" spc="-8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500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81861" y="2035685"/>
            <a:ext cx="4029075" cy="303339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46050" marR="69850" indent="-133985">
              <a:lnSpc>
                <a:spcPct val="116500"/>
              </a:lnSpc>
              <a:spcBef>
                <a:spcPts val="130"/>
              </a:spcBef>
              <a:buClr>
                <a:srgbClr val="C2132D"/>
              </a:buClr>
              <a:buSzPct val="97297"/>
              <a:buFont typeface="Roboto"/>
              <a:buChar char="•"/>
              <a:tabLst>
                <a:tab pos="146685" algn="l"/>
              </a:tabLst>
            </a:pPr>
            <a:r>
              <a:rPr dirty="0" sz="1850" spc="125" i="1">
                <a:solidFill>
                  <a:srgbClr val="585D60"/>
                </a:solidFill>
                <a:latin typeface="Gill Sans MT"/>
                <a:cs typeface="Gill Sans MT"/>
              </a:rPr>
              <a:t>Tomorrow’s </a:t>
            </a:r>
            <a:r>
              <a:rPr dirty="0" sz="1850" spc="140" i="1">
                <a:solidFill>
                  <a:srgbClr val="585D60"/>
                </a:solidFill>
                <a:latin typeface="Gill Sans MT"/>
                <a:cs typeface="Gill Sans MT"/>
              </a:rPr>
              <a:t>Close</a:t>
            </a:r>
            <a:r>
              <a:rPr dirty="0" sz="1800" spc="140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Some short-term  signals exist, but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accuracy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is limited  (especially if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attempting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beat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market; accuracy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is</a:t>
            </a:r>
            <a:r>
              <a:rPr dirty="0" sz="1800" spc="-4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relatively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high if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just want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be in the ball  park of the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adjusted</a:t>
            </a:r>
            <a:r>
              <a:rPr dirty="0" sz="1700" spc="-1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700">
                <a:solidFill>
                  <a:srgbClr val="C2132D"/>
                </a:solidFill>
                <a:latin typeface="Courier New"/>
                <a:cs typeface="Courier New"/>
              </a:rPr>
              <a:t>close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).</a:t>
            </a:r>
            <a:endParaRPr sz="1800">
              <a:latin typeface="Roboto"/>
              <a:cs typeface="Roboto"/>
            </a:endParaRPr>
          </a:p>
          <a:p>
            <a:pPr marL="146050" marR="5080" indent="-133985">
              <a:lnSpc>
                <a:spcPct val="115900"/>
              </a:lnSpc>
              <a:spcBef>
                <a:spcPts val="885"/>
              </a:spcBef>
              <a:buClr>
                <a:srgbClr val="C2132D"/>
              </a:buClr>
              <a:buSzPct val="97297"/>
              <a:buFont typeface="Roboto"/>
              <a:buChar char="•"/>
              <a:tabLst>
                <a:tab pos="146685" algn="l"/>
              </a:tabLst>
            </a:pPr>
            <a:r>
              <a:rPr dirty="0" sz="1850" spc="45" i="1">
                <a:solidFill>
                  <a:srgbClr val="585D60"/>
                </a:solidFill>
                <a:latin typeface="Gill Sans MT"/>
                <a:cs typeface="Gill Sans MT"/>
              </a:rPr>
              <a:t>1 </a:t>
            </a:r>
            <a:r>
              <a:rPr dirty="0" sz="1850" spc="100" i="1">
                <a:solidFill>
                  <a:srgbClr val="585D60"/>
                </a:solidFill>
                <a:latin typeface="Gill Sans MT"/>
                <a:cs typeface="Gill Sans MT"/>
              </a:rPr>
              <a:t>Year </a:t>
            </a:r>
            <a:r>
              <a:rPr dirty="0" sz="1850" spc="120" i="1">
                <a:solidFill>
                  <a:srgbClr val="585D60"/>
                </a:solidFill>
                <a:latin typeface="Gill Sans MT"/>
                <a:cs typeface="Gill Sans MT"/>
              </a:rPr>
              <a:t>Ahead</a:t>
            </a:r>
            <a:r>
              <a:rPr dirty="0" sz="1800" spc="120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Many unknown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macro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shocks, making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precise forecasts</a:t>
            </a:r>
            <a:r>
              <a:rPr dirty="0" sz="1800" spc="-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very  uncertain.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10882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5">
                <a:latin typeface="Roboto Condensed"/>
                <a:cs typeface="Roboto Condensed"/>
              </a:rPr>
              <a:t>Partially </a:t>
            </a:r>
            <a:r>
              <a:rPr dirty="0" sz="3350" spc="5">
                <a:latin typeface="Roboto Condensed"/>
                <a:cs typeface="Roboto Condensed"/>
              </a:rPr>
              <a:t>Predictable </a:t>
            </a:r>
            <a:r>
              <a:rPr dirty="0" sz="3350" spc="15">
                <a:latin typeface="Roboto Condensed"/>
                <a:cs typeface="Roboto Condensed"/>
              </a:rPr>
              <a:t>— </a:t>
            </a:r>
            <a:r>
              <a:rPr dirty="0" sz="3350">
                <a:latin typeface="Roboto Condensed"/>
                <a:cs typeface="Roboto Condensed"/>
              </a:rPr>
              <a:t>Weather </a:t>
            </a:r>
            <a:r>
              <a:rPr dirty="0" sz="3350" spc="15">
                <a:latin typeface="Roboto Condensed"/>
                <a:cs typeface="Roboto Condensed"/>
              </a:rPr>
              <a:t>&amp;</a:t>
            </a:r>
            <a:r>
              <a:rPr dirty="0" sz="3350" spc="-15">
                <a:latin typeface="Roboto Condensed"/>
                <a:cs typeface="Roboto Condensed"/>
              </a:rPr>
              <a:t> </a:t>
            </a:r>
            <a:r>
              <a:rPr dirty="0" sz="3350" spc="5">
                <a:latin typeface="Roboto Condensed"/>
                <a:cs typeface="Roboto Condensed"/>
              </a:rPr>
              <a:t>Markets</a:t>
            </a:r>
            <a:endParaRPr sz="3350">
              <a:latin typeface="Roboto Condensed"/>
              <a:cs typeface="Roboto Condensed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8754" y="1502061"/>
            <a:ext cx="3886200" cy="4547870"/>
          </a:xfrm>
          <a:prstGeom prst="rect">
            <a:avLst/>
          </a:prstGeom>
        </p:spPr>
        <p:txBody>
          <a:bodyPr wrap="square" lIns="0" tIns="164465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29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No Predictable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Pattern</a:t>
            </a:r>
            <a:endParaRPr sz="1800">
              <a:latin typeface="Roboto"/>
              <a:cs typeface="Roboto"/>
            </a:endParaRPr>
          </a:p>
          <a:p>
            <a:pPr lvl="1" marL="527050" marR="587375" indent="-133985">
              <a:lnSpc>
                <a:spcPct val="117100"/>
              </a:lnSpc>
              <a:spcBef>
                <a:spcPts val="86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Draws are </a:t>
            </a:r>
            <a:r>
              <a:rPr dirty="0" sz="1850" spc="125" i="1">
                <a:solidFill>
                  <a:srgbClr val="585D60"/>
                </a:solidFill>
                <a:latin typeface="Gill Sans MT"/>
                <a:cs typeface="Gill Sans MT"/>
              </a:rPr>
              <a:t>engineered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</a:t>
            </a:r>
            <a:r>
              <a:rPr dirty="0" sz="1800" spc="-20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be 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random.</a:t>
            </a:r>
            <a:endParaRPr sz="1800">
              <a:latin typeface="Roboto"/>
              <a:cs typeface="Roboto"/>
            </a:endParaRPr>
          </a:p>
          <a:p>
            <a:pPr lvl="1" marL="527050" marR="285115" indent="-133985">
              <a:lnSpc>
                <a:spcPct val="114700"/>
              </a:lnSpc>
              <a:spcBef>
                <a:spcPts val="90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No matter how much data</a:t>
            </a:r>
            <a:r>
              <a:rPr dirty="0" sz="1800" spc="-9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collect,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can’t </a:t>
            </a:r>
            <a:r>
              <a:rPr dirty="0" sz="1850" spc="114" i="1">
                <a:solidFill>
                  <a:srgbClr val="585D60"/>
                </a:solidFill>
                <a:latin typeface="Gill Sans MT"/>
                <a:cs typeface="Gill Sans MT"/>
              </a:rPr>
              <a:t>outpredict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chance.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Why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“Un-forecastable”?</a:t>
            </a:r>
            <a:endParaRPr sz="1800">
              <a:latin typeface="Roboto"/>
              <a:cs typeface="Roboto"/>
            </a:endParaRPr>
          </a:p>
          <a:p>
            <a:pPr lvl="1" marL="527050" marR="5080" indent="-133985">
              <a:lnSpc>
                <a:spcPct val="114700"/>
              </a:lnSpc>
              <a:spcBef>
                <a:spcPts val="969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Data-Generating Process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(DGP) is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effectively </a:t>
            </a:r>
            <a:r>
              <a:rPr dirty="0" sz="1850" spc="95" i="1">
                <a:solidFill>
                  <a:srgbClr val="585D60"/>
                </a:solidFill>
                <a:latin typeface="Gill Sans MT"/>
                <a:cs typeface="Gill Sans MT"/>
              </a:rPr>
              <a:t>pure </a:t>
            </a:r>
            <a:r>
              <a:rPr dirty="0" sz="1850" spc="165" i="1">
                <a:solidFill>
                  <a:srgbClr val="585D60"/>
                </a:solidFill>
                <a:latin typeface="Gill Sans MT"/>
                <a:cs typeface="Gill Sans MT"/>
              </a:rPr>
              <a:t>noise</a:t>
            </a:r>
            <a:r>
              <a:rPr dirty="0" sz="1850" spc="-295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by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design.</a:t>
            </a:r>
            <a:endParaRPr sz="1800">
              <a:latin typeface="Roboto"/>
              <a:cs typeface="Roboto"/>
            </a:endParaRPr>
          </a:p>
          <a:p>
            <a:pPr lvl="1" marL="527050" marR="379730" indent="-133985">
              <a:lnSpc>
                <a:spcPct val="118100"/>
              </a:lnSpc>
              <a:spcBef>
                <a:spcPts val="825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No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structural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or</a:t>
            </a:r>
            <a:r>
              <a:rPr dirty="0" sz="1800" spc="-7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deterministic  component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model.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399" y="1543050"/>
            <a:ext cx="4362449" cy="437197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67118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5">
                <a:latin typeface="Roboto Condensed"/>
                <a:cs typeface="Roboto Condensed"/>
              </a:rPr>
              <a:t>Unpredictable </a:t>
            </a:r>
            <a:r>
              <a:rPr dirty="0" sz="3350" spc="15">
                <a:latin typeface="Roboto Condensed"/>
                <a:cs typeface="Roboto Condensed"/>
              </a:rPr>
              <a:t>— </a:t>
            </a:r>
            <a:r>
              <a:rPr dirty="0" sz="3350" spc="10">
                <a:latin typeface="Roboto Condensed"/>
                <a:cs typeface="Roboto Condensed"/>
              </a:rPr>
              <a:t>Lottery</a:t>
            </a:r>
            <a:r>
              <a:rPr dirty="0" sz="335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Numbers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28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28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56628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Relating </a:t>
            </a:r>
            <a:r>
              <a:rPr dirty="0" sz="3350" spc="5">
                <a:latin typeface="Roboto Condensed"/>
                <a:cs typeface="Roboto Condensed"/>
              </a:rPr>
              <a:t>It </a:t>
            </a:r>
            <a:r>
              <a:rPr dirty="0" sz="3350" spc="10">
                <a:latin typeface="Roboto Condensed"/>
                <a:cs typeface="Roboto Condensed"/>
              </a:rPr>
              <a:t>Back </a:t>
            </a:r>
            <a:r>
              <a:rPr dirty="0" sz="3350" spc="-10">
                <a:latin typeface="Roboto Condensed"/>
                <a:cs typeface="Roboto Condensed"/>
              </a:rPr>
              <a:t>to </a:t>
            </a:r>
            <a:r>
              <a:rPr dirty="0" sz="3350" spc="10">
                <a:latin typeface="Roboto Condensed"/>
                <a:cs typeface="Roboto Condensed"/>
              </a:rPr>
              <a:t>the</a:t>
            </a:r>
            <a:r>
              <a:rPr dirty="0" sz="3350" spc="-4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DGP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9340215" cy="3233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Different </a:t>
            </a:r>
            <a:r>
              <a:rPr dirty="0" sz="1800" spc="-15" b="1">
                <a:solidFill>
                  <a:srgbClr val="C2132D"/>
                </a:solidFill>
                <a:latin typeface="Roboto"/>
                <a:cs typeface="Roboto"/>
              </a:rPr>
              <a:t>Types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of</a:t>
            </a:r>
            <a:r>
              <a:rPr dirty="0" sz="1800" spc="-4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DGPs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52768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Deterministic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(or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nearly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so)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Sunset times, tidal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schedules.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527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Complex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&amp; </a:t>
            </a:r>
            <a:r>
              <a:rPr dirty="0" sz="1800" spc="5" b="1">
                <a:solidFill>
                  <a:srgbClr val="C2132D"/>
                </a:solidFill>
                <a:latin typeface="Roboto"/>
                <a:cs typeface="Roboto"/>
              </a:rPr>
              <a:t>Partly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Stochastic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Weather,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financial</a:t>
            </a:r>
            <a:r>
              <a:rPr dirty="0" sz="1800" spc="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markets.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15"/>
              </a:spcBef>
              <a:buFont typeface="Roboto"/>
              <a:buChar char="•"/>
              <a:tabLst>
                <a:tab pos="527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Pure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Randomness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: Lottery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draws.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15" b="1">
                <a:solidFill>
                  <a:srgbClr val="C2132D"/>
                </a:solidFill>
                <a:latin typeface="Roboto"/>
                <a:cs typeface="Roboto"/>
              </a:rPr>
              <a:t>Key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Lesson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165"/>
              </a:spcBef>
              <a:buClr>
                <a:srgbClr val="C2132D"/>
              </a:buClr>
              <a:buSzPct val="97297"/>
              <a:buFont typeface="Roboto"/>
              <a:buChar char="•"/>
              <a:tabLst>
                <a:tab pos="527685" algn="l"/>
              </a:tabLst>
            </a:pPr>
            <a:r>
              <a:rPr dirty="0" sz="1850" spc="130" i="1">
                <a:solidFill>
                  <a:srgbClr val="585D60"/>
                </a:solidFill>
                <a:latin typeface="Gill Sans MT"/>
                <a:cs typeface="Gill Sans MT"/>
              </a:rPr>
              <a:t>All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these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processes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have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DGP—some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are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more “knowable”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than</a:t>
            </a:r>
            <a:r>
              <a:rPr dirty="0" sz="1800" spc="-16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others.</a:t>
            </a:r>
            <a:endParaRPr sz="1800">
              <a:latin typeface="Roboto"/>
              <a:cs typeface="Roboto"/>
            </a:endParaRPr>
          </a:p>
          <a:p>
            <a:pPr lvl="1" marL="527050" marR="5080" indent="-133985">
              <a:lnSpc>
                <a:spcPct val="117100"/>
              </a:lnSpc>
              <a:spcBef>
                <a:spcPts val="850"/>
              </a:spcBef>
              <a:buClr>
                <a:srgbClr val="C2132D"/>
              </a:buClr>
              <a:buSzPct val="97297"/>
              <a:buFont typeface="Roboto"/>
              <a:buChar char="•"/>
              <a:tabLst>
                <a:tab pos="527685" algn="l"/>
              </a:tabLst>
            </a:pPr>
            <a:r>
              <a:rPr dirty="0" sz="1850" spc="130" i="1">
                <a:solidFill>
                  <a:srgbClr val="585D60"/>
                </a:solidFill>
                <a:latin typeface="Gill Sans MT"/>
                <a:cs typeface="Gill Sans MT"/>
              </a:rPr>
              <a:t>Forecastability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depends on how much of that DGP is deterministic vs.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random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</a:t>
            </a:r>
            <a:r>
              <a:rPr dirty="0" sz="1800" spc="-204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how  well we can model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it.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91256" y="2773680"/>
            <a:ext cx="5157470" cy="1027430"/>
          </a:xfrm>
          <a:prstGeom prst="rect"/>
          <a:solidFill>
            <a:srgbClr val="333333"/>
          </a:solidFill>
        </p:spPr>
        <p:txBody>
          <a:bodyPr wrap="square" lIns="0" tIns="125095" rIns="0" bIns="0" rtlCol="0" vert="horz">
            <a:spAutoFit/>
          </a:bodyPr>
          <a:lstStyle/>
          <a:p>
            <a:pPr marL="228600">
              <a:lnSpc>
                <a:spcPct val="100000"/>
              </a:lnSpc>
              <a:spcBef>
                <a:spcPts val="985"/>
              </a:spcBef>
            </a:pPr>
            <a:r>
              <a:rPr dirty="0" sz="4100" spc="-990">
                <a:solidFill>
                  <a:srgbClr val="000000"/>
                </a:solidFill>
                <a:latin typeface="Roboto Condensed"/>
                <a:cs typeface="Roboto Condensed"/>
              </a:rPr>
              <a:t>K</a:t>
            </a:r>
            <a:r>
              <a:rPr dirty="0" sz="4100" spc="-990">
                <a:solidFill>
                  <a:srgbClr val="FFFFFF"/>
                </a:solidFill>
                <a:latin typeface="Roboto Condensed"/>
                <a:cs typeface="Roboto Condensed"/>
              </a:rPr>
              <a:t>K</a:t>
            </a:r>
            <a:r>
              <a:rPr dirty="0" sz="4100" spc="-990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99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990">
                <a:solidFill>
                  <a:srgbClr val="000000"/>
                </a:solidFill>
                <a:latin typeface="Roboto Condensed"/>
                <a:cs typeface="Roboto Condensed"/>
              </a:rPr>
              <a:t>y</a:t>
            </a:r>
            <a:r>
              <a:rPr dirty="0" sz="4100" spc="-990">
                <a:solidFill>
                  <a:srgbClr val="FFFFFF"/>
                </a:solidFill>
                <a:latin typeface="Roboto Condensed"/>
                <a:cs typeface="Roboto Condensed"/>
              </a:rPr>
              <a:t>y</a:t>
            </a:r>
            <a:r>
              <a:rPr dirty="0" sz="4100" spc="20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F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F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o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o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r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c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s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i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i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n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n</a:t>
            </a:r>
            <a:r>
              <a:rPr dirty="0" sz="4100" spc="-869">
                <a:solidFill>
                  <a:srgbClr val="000000"/>
                </a:solidFill>
                <a:latin typeface="Roboto Condensed"/>
                <a:cs typeface="Roboto Condensed"/>
              </a:rPr>
              <a:t>g</a:t>
            </a:r>
            <a:r>
              <a:rPr dirty="0" sz="4100" spc="-869">
                <a:solidFill>
                  <a:srgbClr val="FFFFFF"/>
                </a:solidFill>
                <a:latin typeface="Roboto Condensed"/>
                <a:cs typeface="Roboto Condensed"/>
              </a:rPr>
              <a:t>g</a:t>
            </a:r>
            <a:r>
              <a:rPr dirty="0" sz="4100" spc="-819">
                <a:solidFill>
                  <a:srgbClr val="FFFFFF"/>
                </a:solidFill>
                <a:latin typeface="Roboto Condensed"/>
                <a:cs typeface="Roboto Condensed"/>
              </a:rPr>
              <a:t> 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T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T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r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m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m</a:t>
            </a:r>
            <a:r>
              <a:rPr dirty="0" sz="4100" spc="-1040">
                <a:solidFill>
                  <a:srgbClr val="000000"/>
                </a:solidFill>
                <a:latin typeface="Roboto Condensed"/>
                <a:cs typeface="Roboto Condensed"/>
              </a:rPr>
              <a:t>s</a:t>
            </a:r>
            <a:r>
              <a:rPr dirty="0" sz="4100" spc="-1040">
                <a:solidFill>
                  <a:srgbClr val="FFFFFF"/>
                </a:solidFill>
                <a:latin typeface="Roboto Condensed"/>
                <a:cs typeface="Roboto Condensed"/>
              </a:rPr>
              <a:t>s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340">
                <a:latin typeface="Roboto"/>
                <a:cs typeface="Roboto"/>
              </a:rPr>
              <a:t>3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r>
              <a:rPr dirty="0" sz="1200" spc="-340">
                <a:latin typeface="Roboto"/>
                <a:cs typeface="Roboto"/>
              </a:rPr>
              <a:t>3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r>
              <a:rPr dirty="0" sz="1200" spc="-3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250">
                <a:latin typeface="Roboto"/>
                <a:cs typeface="Roboto"/>
              </a:rPr>
              <a:t>/</a:t>
            </a:r>
            <a:r>
              <a:rPr dirty="0" sz="1200" spc="-250">
                <a:solidFill>
                  <a:srgbClr val="FFFFFF"/>
                </a:solidFill>
                <a:latin typeface="Roboto"/>
                <a:cs typeface="Roboto"/>
              </a:rPr>
              <a:t>/</a:t>
            </a:r>
            <a:r>
              <a:rPr dirty="0" sz="1200" spc="-22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340">
                <a:latin typeface="Roboto"/>
                <a:cs typeface="Roboto"/>
              </a:rPr>
              <a:t>4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4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201295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5">
                <a:latin typeface="Roboto Condensed"/>
                <a:cs typeface="Roboto Condensed"/>
              </a:rPr>
              <a:t>F</a:t>
            </a:r>
            <a:r>
              <a:rPr dirty="0" sz="3350" spc="10">
                <a:latin typeface="Roboto Condensed"/>
                <a:cs typeface="Roboto Condensed"/>
              </a:rPr>
              <a:t>o</a:t>
            </a:r>
            <a:r>
              <a:rPr dirty="0" sz="3350" spc="-30">
                <a:latin typeface="Roboto Condensed"/>
                <a:cs typeface="Roboto Condensed"/>
              </a:rPr>
              <a:t>r</a:t>
            </a:r>
            <a:r>
              <a:rPr dirty="0" sz="3350" spc="10">
                <a:latin typeface="Roboto Condensed"/>
                <a:cs typeface="Roboto Condensed"/>
              </a:rPr>
              <a:t>ecasting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368935"/>
            <a:ext cx="9220200" cy="1433195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46050" marR="5080" indent="-133985">
              <a:lnSpc>
                <a:spcPct val="117100"/>
              </a:lnSpc>
              <a:spcBef>
                <a:spcPts val="114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Forecasting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is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process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using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50" spc="125" i="1">
                <a:solidFill>
                  <a:srgbClr val="585D60"/>
                </a:solidFill>
                <a:latin typeface="Gill Sans MT"/>
                <a:cs typeface="Gill Sans MT"/>
              </a:rPr>
              <a:t>historical</a:t>
            </a:r>
            <a:r>
              <a:rPr dirty="0" sz="1850" spc="-65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50" spc="105" i="1">
                <a:solidFill>
                  <a:srgbClr val="585D60"/>
                </a:solidFill>
                <a:latin typeface="Gill Sans MT"/>
                <a:cs typeface="Gill Sans MT"/>
              </a:rPr>
              <a:t>data</a:t>
            </a:r>
            <a:r>
              <a:rPr dirty="0" sz="1850" spc="-65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50" spc="114" i="1">
                <a:solidFill>
                  <a:srgbClr val="585D60"/>
                </a:solidFill>
                <a:latin typeface="Gill Sans MT"/>
                <a:cs typeface="Gill Sans MT"/>
              </a:rPr>
              <a:t>patterns</a:t>
            </a:r>
            <a:r>
              <a:rPr dirty="0" sz="1850" spc="-65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predict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50" spc="95" i="1">
                <a:solidFill>
                  <a:srgbClr val="585D60"/>
                </a:solidFill>
                <a:latin typeface="Gill Sans MT"/>
                <a:cs typeface="Gill Sans MT"/>
              </a:rPr>
              <a:t>future</a:t>
            </a:r>
            <a:r>
              <a:rPr dirty="0" sz="1850" spc="-65" i="1">
                <a:solidFill>
                  <a:srgbClr val="585D60"/>
                </a:solidFill>
                <a:latin typeface="Gill Sans MT"/>
                <a:cs typeface="Gill Sans MT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values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or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events.</a:t>
            </a:r>
            <a:endParaRPr sz="1800">
              <a:latin typeface="Roboto"/>
              <a:cs typeface="Roboto"/>
            </a:endParaRPr>
          </a:p>
          <a:p>
            <a:pPr marL="146050" marR="105410" indent="-133985">
              <a:lnSpc>
                <a:spcPct val="114599"/>
              </a:lnSpc>
              <a:spcBef>
                <a:spcPts val="975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objective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most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time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series analyses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provide forecasts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future values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the  time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series.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14400" y="3057524"/>
            <a:ext cx="9696449" cy="322897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6400799"/>
            <a:ext cx="9696449" cy="8572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34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6238" y="3228012"/>
            <a:ext cx="4244394" cy="265206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6316562" y="3232331"/>
            <a:ext cx="4241271" cy="314634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091304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Explanatory</a:t>
            </a:r>
            <a:r>
              <a:rPr dirty="0" sz="3350" spc="-75">
                <a:latin typeface="Roboto Condensed"/>
                <a:cs typeface="Roboto Condensed"/>
              </a:rPr>
              <a:t> </a:t>
            </a:r>
            <a:r>
              <a:rPr dirty="0" sz="3350" spc="5">
                <a:latin typeface="Roboto Condensed"/>
                <a:cs typeface="Roboto Condensed"/>
              </a:rPr>
              <a:t>Forecasting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48754" y="1368935"/>
            <a:ext cx="9288145" cy="143319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46050" marR="5080" indent="-133985">
              <a:lnSpc>
                <a:spcPct val="117600"/>
              </a:lnSpc>
              <a:spcBef>
                <a:spcPts val="105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addition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past data,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explanatory forecasting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uses </a:t>
            </a:r>
            <a:r>
              <a:rPr dirty="0" sz="1850" spc="114" i="1">
                <a:solidFill>
                  <a:srgbClr val="585D60"/>
                </a:solidFill>
                <a:latin typeface="Gill Sans MT"/>
                <a:cs typeface="Gill Sans MT"/>
              </a:rPr>
              <a:t>additional </a:t>
            </a:r>
            <a:r>
              <a:rPr dirty="0" sz="1850" spc="125" i="1">
                <a:solidFill>
                  <a:srgbClr val="585D60"/>
                </a:solidFill>
                <a:latin typeface="Gill Sans MT"/>
                <a:cs typeface="Gill Sans MT"/>
              </a:rPr>
              <a:t>variables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predict</a:t>
            </a:r>
            <a:r>
              <a:rPr dirty="0" sz="1800" spc="-28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future  values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variable(s)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interest. </a:t>
            </a:r>
            <a:r>
              <a:rPr dirty="0" sz="1800" spc="-45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make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forecasts,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we need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include both 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historical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future predictions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for each of the explanatory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variables.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For</a:t>
            </a:r>
            <a:r>
              <a:rPr dirty="0" sz="1800" spc="4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example,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15"/>
              </a:spcBef>
              <a:buFont typeface="Roboto"/>
              <a:buChar char="•"/>
              <a:tabLst>
                <a:tab pos="527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Forecasting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electricity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demand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using weather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forecasts,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time of </a:t>
            </a:r>
            <a:r>
              <a:rPr dirty="0" sz="1800" spc="-30">
                <a:solidFill>
                  <a:srgbClr val="585D60"/>
                </a:solidFill>
                <a:latin typeface="Roboto"/>
                <a:cs typeface="Roboto"/>
              </a:rPr>
              <a:t>day,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day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week,</a:t>
            </a:r>
            <a:r>
              <a:rPr dirty="0" sz="1800" spc="4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etc.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14400" y="6176962"/>
            <a:ext cx="6924675" cy="0"/>
          </a:xfrm>
          <a:custGeom>
            <a:avLst/>
            <a:gdLst/>
            <a:ahLst/>
            <a:cxnLst/>
            <a:rect l="l" t="t" r="r" b="b"/>
            <a:pathLst>
              <a:path w="6924675" h="0">
                <a:moveTo>
                  <a:pt x="0" y="0"/>
                </a:moveTo>
                <a:lnTo>
                  <a:pt x="6924674" y="0"/>
                </a:lnTo>
              </a:path>
            </a:pathLst>
          </a:custGeom>
          <a:ln w="9524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14400" y="6186487"/>
            <a:ext cx="6924675" cy="0"/>
          </a:xfrm>
          <a:custGeom>
            <a:avLst/>
            <a:gdLst/>
            <a:ahLst/>
            <a:cxnLst/>
            <a:rect l="l" t="t" r="r" b="b"/>
            <a:pathLst>
              <a:path w="6924675" h="0">
                <a:moveTo>
                  <a:pt x="0" y="0"/>
                </a:moveTo>
                <a:lnTo>
                  <a:pt x="6924674" y="0"/>
                </a:lnTo>
              </a:path>
            </a:pathLst>
          </a:custGeom>
          <a:ln w="9524">
            <a:solidFill>
              <a:srgbClr val="EDEDE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7829550" y="61721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9524" y="19049"/>
                </a:moveTo>
                <a:lnTo>
                  <a:pt x="0" y="19049"/>
                </a:lnTo>
                <a:lnTo>
                  <a:pt x="0" y="9524"/>
                </a:lnTo>
                <a:lnTo>
                  <a:pt x="9524" y="0"/>
                </a:lnTo>
                <a:lnTo>
                  <a:pt x="9524" y="19049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914400" y="61721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0" y="19049"/>
                </a:moveTo>
                <a:lnTo>
                  <a:pt x="0" y="0"/>
                </a:lnTo>
                <a:lnTo>
                  <a:pt x="9524" y="0"/>
                </a:lnTo>
                <a:lnTo>
                  <a:pt x="9524" y="9524"/>
                </a:lnTo>
                <a:lnTo>
                  <a:pt x="0" y="19049"/>
                </a:lnTo>
                <a:close/>
              </a:path>
            </a:pathLst>
          </a:custGeom>
          <a:solidFill>
            <a:srgbClr val="999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35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01700" y="6274743"/>
            <a:ext cx="6950075" cy="156845"/>
          </a:xfrm>
          <a:prstGeom prst="rect">
            <a:avLst/>
          </a:prstGeom>
        </p:spPr>
        <p:txBody>
          <a:bodyPr wrap="square" lIns="0" tIns="82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dirty="0" sz="850" spc="15" b="1">
                <a:solidFill>
                  <a:srgbClr val="C2132D"/>
                </a:solidFill>
                <a:latin typeface="Roboto"/>
                <a:cs typeface="Roboto"/>
              </a:rPr>
              <a:t>Image </a:t>
            </a:r>
            <a:r>
              <a:rPr dirty="0" sz="850" spc="10" b="1">
                <a:solidFill>
                  <a:srgbClr val="C2132D"/>
                </a:solidFill>
                <a:latin typeface="Roboto"/>
                <a:cs typeface="Roboto"/>
              </a:rPr>
              <a:t>Sources: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Nixtla's </a:t>
            </a:r>
            <a:r>
              <a:rPr dirty="0" sz="850" spc="20">
                <a:solidFill>
                  <a:srgbClr val="585D60"/>
                </a:solidFill>
                <a:latin typeface="Roboto"/>
                <a:cs typeface="Roboto"/>
              </a:rPr>
              <a:t>demo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for forecasting the remaining useful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life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an engine using exogenous sensor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data.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See </a:t>
            </a:r>
            <a:r>
              <a:rPr dirty="0" sz="850" spc="1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here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for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more</a:t>
            </a:r>
            <a:r>
              <a:rPr dirty="0" sz="850" spc="6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details.</a:t>
            </a:r>
            <a:endParaRPr sz="85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202374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Backtesting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376044"/>
            <a:ext cx="8979535" cy="15398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5080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Backtesting is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practice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evaluating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model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by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applying it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historical  data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 comparing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predictions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with the actual outcomes.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way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see how the model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would 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have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performed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the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past.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Backtesting is the time series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equivalent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a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train-test split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 ML;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not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random</a:t>
            </a:r>
            <a:r>
              <a:rPr dirty="0" sz="1800" spc="15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though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912313" y="3219811"/>
            <a:ext cx="5721177" cy="27626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6176962"/>
            <a:ext cx="3838575" cy="0"/>
          </a:xfrm>
          <a:custGeom>
            <a:avLst/>
            <a:gdLst/>
            <a:ahLst/>
            <a:cxnLst/>
            <a:rect l="l" t="t" r="r" b="b"/>
            <a:pathLst>
              <a:path w="3838575" h="0">
                <a:moveTo>
                  <a:pt x="0" y="0"/>
                </a:moveTo>
                <a:lnTo>
                  <a:pt x="3838574" y="0"/>
                </a:lnTo>
              </a:path>
            </a:pathLst>
          </a:custGeom>
          <a:ln w="9524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914400" y="6186487"/>
            <a:ext cx="3838575" cy="0"/>
          </a:xfrm>
          <a:custGeom>
            <a:avLst/>
            <a:gdLst/>
            <a:ahLst/>
            <a:cxnLst/>
            <a:rect l="l" t="t" r="r" b="b"/>
            <a:pathLst>
              <a:path w="3838575" h="0">
                <a:moveTo>
                  <a:pt x="0" y="0"/>
                </a:moveTo>
                <a:lnTo>
                  <a:pt x="3838574" y="0"/>
                </a:lnTo>
              </a:path>
            </a:pathLst>
          </a:custGeom>
          <a:ln w="9524">
            <a:solidFill>
              <a:srgbClr val="EDEDE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4743450" y="61721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9524" y="19049"/>
                </a:moveTo>
                <a:lnTo>
                  <a:pt x="0" y="19049"/>
                </a:lnTo>
                <a:lnTo>
                  <a:pt x="0" y="9524"/>
                </a:lnTo>
                <a:lnTo>
                  <a:pt x="9524" y="0"/>
                </a:lnTo>
                <a:lnTo>
                  <a:pt x="9524" y="19049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914400" y="6172199"/>
            <a:ext cx="9525" cy="19050"/>
          </a:xfrm>
          <a:custGeom>
            <a:avLst/>
            <a:gdLst/>
            <a:ahLst/>
            <a:cxnLst/>
            <a:rect l="l" t="t" r="r" b="b"/>
            <a:pathLst>
              <a:path w="9525" h="19050">
                <a:moveTo>
                  <a:pt x="0" y="19049"/>
                </a:moveTo>
                <a:lnTo>
                  <a:pt x="0" y="0"/>
                </a:lnTo>
                <a:lnTo>
                  <a:pt x="9524" y="0"/>
                </a:lnTo>
                <a:lnTo>
                  <a:pt x="9524" y="9524"/>
                </a:lnTo>
                <a:lnTo>
                  <a:pt x="0" y="19049"/>
                </a:lnTo>
                <a:close/>
              </a:path>
            </a:pathLst>
          </a:custGeom>
          <a:solidFill>
            <a:srgbClr val="999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36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01700" y="6271548"/>
            <a:ext cx="3865245" cy="160655"/>
          </a:xfrm>
          <a:prstGeom prst="rect">
            <a:avLst/>
          </a:prstGeom>
        </p:spPr>
        <p:txBody>
          <a:bodyPr wrap="square" lIns="0" tIns="50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dirty="0" sz="850" spc="15" b="1">
                <a:solidFill>
                  <a:srgbClr val="C2132D"/>
                </a:solidFill>
                <a:latin typeface="Roboto"/>
                <a:cs typeface="Roboto"/>
              </a:rPr>
              <a:t>Image </a:t>
            </a:r>
            <a:r>
              <a:rPr dirty="0" sz="850" spc="10" b="1">
                <a:solidFill>
                  <a:srgbClr val="C2132D"/>
                </a:solidFill>
                <a:latin typeface="Roboto"/>
                <a:cs typeface="Roboto"/>
              </a:rPr>
              <a:t>Source: </a:t>
            </a:r>
            <a:r>
              <a:rPr dirty="0" sz="850" spc="1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Chained Windows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from </a:t>
            </a:r>
            <a:r>
              <a:rPr dirty="0" sz="850" spc="5">
                <a:solidFill>
                  <a:srgbClr val="585D60"/>
                </a:solidFill>
                <a:latin typeface="Roboto"/>
                <a:cs typeface="Roboto"/>
              </a:rPr>
              <a:t>Nixtla's </a:t>
            </a:r>
            <a:r>
              <a:rPr dirty="0" sz="850" spc="15">
                <a:solidFill>
                  <a:srgbClr val="585D60"/>
                </a:solidFill>
                <a:latin typeface="Roboto"/>
                <a:cs typeface="Roboto"/>
              </a:rPr>
              <a:t>GitHub Repo </a:t>
            </a:r>
            <a:r>
              <a:rPr dirty="0" sz="850" spc="10">
                <a:solidFill>
                  <a:srgbClr val="585D60"/>
                </a:solidFill>
                <a:latin typeface="Roboto"/>
                <a:cs typeface="Roboto"/>
              </a:rPr>
              <a:t>for</a:t>
            </a:r>
            <a:r>
              <a:rPr dirty="0" sz="850" spc="-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900" spc="70" i="1">
                <a:solidFill>
                  <a:srgbClr val="585D60"/>
                </a:solidFill>
                <a:latin typeface="Gill Sans MT"/>
                <a:cs typeface="Gill Sans MT"/>
              </a:rPr>
              <a:t>statsforecast</a:t>
            </a:r>
            <a:r>
              <a:rPr dirty="0" sz="850" spc="70">
                <a:solidFill>
                  <a:srgbClr val="585D60"/>
                </a:solidFill>
                <a:latin typeface="Roboto"/>
                <a:cs typeface="Roboto"/>
              </a:rPr>
              <a:t>.</a:t>
            </a:r>
            <a:endParaRPr sz="85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37 /</a:t>
            </a:r>
            <a:r>
              <a:rPr dirty="0" sz="1200" spc="-8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200">
                <a:solidFill>
                  <a:srgbClr val="585D60"/>
                </a:solidFill>
                <a:latin typeface="Roboto"/>
                <a:cs typeface="Roboto"/>
              </a:rPr>
              <a:t>42</a:t>
            </a:r>
            <a:endParaRPr sz="1200">
              <a:latin typeface="Roboto"/>
              <a:cs typeface="Roboto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05155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0">
                <a:latin typeface="Roboto Condensed"/>
                <a:cs typeface="Roboto Condensed"/>
              </a:rPr>
              <a:t>Insample vs. Out-of-Sample</a:t>
            </a:r>
            <a:r>
              <a:rPr dirty="0" sz="3350" spc="-50">
                <a:latin typeface="Roboto Condensed"/>
                <a:cs typeface="Roboto Condensed"/>
              </a:rPr>
              <a:t> </a:t>
            </a:r>
            <a:r>
              <a:rPr dirty="0" sz="3350" spc="10">
                <a:latin typeface="Roboto Condensed"/>
                <a:cs typeface="Roboto Condensed"/>
              </a:rPr>
              <a:t>Metrics</a:t>
            </a:r>
            <a:endParaRPr sz="335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9354820" cy="27952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In-Sample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Metrics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Metrics calculated on the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same data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used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train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</a:t>
            </a:r>
            <a:r>
              <a:rPr dirty="0" sz="1800" spc="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model.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Can be misleading, as the model has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already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seen this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data.</a:t>
            </a:r>
            <a:endParaRPr sz="1800">
              <a:latin typeface="Roboto"/>
              <a:cs typeface="Roboto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Out-of-Sample</a:t>
            </a: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Metrics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</a:t>
            </a:r>
            <a:endParaRPr sz="1800">
              <a:latin typeface="Roboto"/>
              <a:cs typeface="Roboto"/>
            </a:endParaRPr>
          </a:p>
          <a:p>
            <a:pPr lvl="1" marL="527050" marR="5080" indent="-133985">
              <a:lnSpc>
                <a:spcPct val="114599"/>
              </a:lnSpc>
              <a:spcBef>
                <a:spcPts val="975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Metrics calculated on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data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not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seen by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the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model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during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training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(i.e., test/holdout/out-  of-sample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data).</a:t>
            </a:r>
            <a:endParaRPr sz="1800">
              <a:latin typeface="Roboto"/>
              <a:cs typeface="Roboto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527685" algn="l"/>
              </a:tabLst>
            </a:pP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More reliable indicators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how the model will perform on new</a:t>
            </a:r>
            <a:r>
              <a:rPr dirty="0" sz="1800" spc="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data.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98136" y="2779776"/>
            <a:ext cx="1746885" cy="1015365"/>
          </a:xfrm>
          <a:prstGeom prst="rect"/>
          <a:solidFill>
            <a:srgbClr val="333333"/>
          </a:solidFill>
        </p:spPr>
        <p:txBody>
          <a:bodyPr wrap="square" lIns="0" tIns="118745" rIns="0" bIns="0" rtlCol="0" vert="horz">
            <a:spAutoFit/>
          </a:bodyPr>
          <a:lstStyle/>
          <a:p>
            <a:pPr marL="226695">
              <a:lnSpc>
                <a:spcPct val="100000"/>
              </a:lnSpc>
              <a:spcBef>
                <a:spcPts val="935"/>
              </a:spcBef>
            </a:pPr>
            <a:r>
              <a:rPr dirty="0" sz="4100" spc="-994">
                <a:solidFill>
                  <a:srgbClr val="000000"/>
                </a:solidFill>
                <a:latin typeface="Roboto Condensed"/>
                <a:cs typeface="Roboto Condensed"/>
              </a:rPr>
              <a:t>R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R</a:t>
            </a:r>
            <a:r>
              <a:rPr dirty="0" sz="4100" spc="-994">
                <a:solidFill>
                  <a:srgbClr val="000000"/>
                </a:solidFill>
                <a:latin typeface="Roboto Condensed"/>
                <a:cs typeface="Roboto Condensed"/>
              </a:rPr>
              <a:t>e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e</a:t>
            </a:r>
            <a:r>
              <a:rPr dirty="0" sz="4100" spc="-994">
                <a:solidFill>
                  <a:srgbClr val="000000"/>
                </a:solidFill>
                <a:latin typeface="Roboto Condensed"/>
                <a:cs typeface="Roboto Condensed"/>
              </a:rPr>
              <a:t>c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c</a:t>
            </a:r>
            <a:r>
              <a:rPr dirty="0" sz="4100" spc="-994">
                <a:solidFill>
                  <a:srgbClr val="000000"/>
                </a:solidFill>
                <a:latin typeface="Roboto Condensed"/>
                <a:cs typeface="Roboto Condensed"/>
              </a:rPr>
              <a:t>a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a</a:t>
            </a:r>
            <a:r>
              <a:rPr dirty="0" sz="4100" spc="-994">
                <a:solidFill>
                  <a:srgbClr val="000000"/>
                </a:solidFill>
                <a:latin typeface="Roboto Condensed"/>
                <a:cs typeface="Roboto Condensed"/>
              </a:rPr>
              <a:t>p</a:t>
            </a:r>
            <a:r>
              <a:rPr dirty="0" sz="4100" spc="-994">
                <a:solidFill>
                  <a:srgbClr val="FFFFFF"/>
                </a:solidFill>
                <a:latin typeface="Roboto Condensed"/>
                <a:cs typeface="Roboto Condensed"/>
              </a:rPr>
              <a:t>p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340">
                <a:latin typeface="Roboto"/>
                <a:cs typeface="Roboto"/>
              </a:rPr>
              <a:t>3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r>
              <a:rPr dirty="0" sz="1200" spc="-340">
                <a:latin typeface="Roboto"/>
                <a:cs typeface="Roboto"/>
              </a:rPr>
              <a:t>8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8</a:t>
            </a:r>
            <a:r>
              <a:rPr dirty="0" sz="1200" spc="-3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250">
                <a:latin typeface="Roboto"/>
                <a:cs typeface="Roboto"/>
              </a:rPr>
              <a:t>/</a:t>
            </a:r>
            <a:r>
              <a:rPr dirty="0" sz="1200" spc="-250">
                <a:solidFill>
                  <a:srgbClr val="FFFFFF"/>
                </a:solidFill>
                <a:latin typeface="Roboto"/>
                <a:cs typeface="Roboto"/>
              </a:rPr>
              <a:t>/</a:t>
            </a:r>
            <a:r>
              <a:rPr dirty="0" sz="1200" spc="-22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dirty="0" sz="1200" spc="-340">
                <a:latin typeface="Roboto"/>
                <a:cs typeface="Roboto"/>
              </a:rPr>
              <a:t>4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4</a:t>
            </a:r>
            <a:r>
              <a:rPr dirty="0" sz="1200" spc="-340">
                <a:latin typeface="Roboto"/>
                <a:cs typeface="Roboto"/>
              </a:rPr>
              <a:t>2</a:t>
            </a:r>
            <a:r>
              <a:rPr dirty="0" sz="1200" spc="-34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2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39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20700"/>
            <a:ext cx="5100955" cy="6540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4100" spc="15">
                <a:latin typeface="Roboto Condensed"/>
                <a:cs typeface="Roboto Condensed"/>
              </a:rPr>
              <a:t>Summary </a:t>
            </a:r>
            <a:r>
              <a:rPr dirty="0" sz="4100" spc="10">
                <a:latin typeface="Roboto Condensed"/>
                <a:cs typeface="Roboto Condensed"/>
              </a:rPr>
              <a:t>of Main</a:t>
            </a:r>
            <a:r>
              <a:rPr dirty="0" sz="4100" spc="-55">
                <a:latin typeface="Roboto Condensed"/>
                <a:cs typeface="Roboto Condensed"/>
              </a:rPr>
              <a:t> </a:t>
            </a:r>
            <a:r>
              <a:rPr dirty="0" sz="4100" spc="5">
                <a:latin typeface="Roboto Condensed"/>
                <a:cs typeface="Roboto Condensed"/>
              </a:rPr>
              <a:t>Points</a:t>
            </a:r>
            <a:endParaRPr sz="4100">
              <a:latin typeface="Roboto Condensed"/>
              <a:cs typeface="Roboto Condense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530350"/>
            <a:ext cx="9687560" cy="29095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By </a:t>
            </a:r>
            <a:r>
              <a:rPr dirty="0" sz="1800" spc="-30">
                <a:solidFill>
                  <a:srgbClr val="585D60"/>
                </a:solidFill>
                <a:latin typeface="Roboto"/>
                <a:cs typeface="Roboto"/>
              </a:rPr>
              <a:t>now,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should be able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do the</a:t>
            </a:r>
            <a:r>
              <a:rPr dirty="0" sz="1800" spc="3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following: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Describe 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role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business.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Describe the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key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components of a </a:t>
            </a:r>
            <a:r>
              <a:rPr dirty="0" sz="1800" b="1">
                <a:solidFill>
                  <a:srgbClr val="C2132D"/>
                </a:solidFill>
                <a:latin typeface="Roboto"/>
                <a:cs typeface="Roboto"/>
              </a:rPr>
              <a:t>time-series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(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trend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seasonality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multiple seasonality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,</a:t>
            </a:r>
            <a:r>
              <a:rPr dirty="0" sz="1800" spc="12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and</a:t>
            </a:r>
            <a:endParaRPr sz="1800">
              <a:latin typeface="Roboto"/>
              <a:cs typeface="Roboto"/>
            </a:endParaRPr>
          </a:p>
          <a:p>
            <a:pPr marL="393065">
              <a:lnSpc>
                <a:spcPct val="100000"/>
              </a:lnSpc>
              <a:spcBef>
                <a:spcPts val="390"/>
              </a:spcBef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cycles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).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Explain the concept of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data-generating process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 (DGP)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Discuss limits of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 forecasting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Understand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key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forecasting</a:t>
            </a:r>
            <a:r>
              <a:rPr dirty="0" sz="1800" spc="1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terminology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39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11491"/>
            <a:ext cx="6650355" cy="665480"/>
          </a:xfrm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4200" spc="2510">
                <a:latin typeface="Arial"/>
                <a:cs typeface="Arial"/>
              </a:rPr>
              <a:t>📝</a:t>
            </a:r>
            <a:r>
              <a:rPr dirty="0" sz="4200" spc="-250">
                <a:latin typeface="Arial"/>
                <a:cs typeface="Arial"/>
              </a:rPr>
              <a:t> </a:t>
            </a:r>
            <a:r>
              <a:rPr dirty="0" sz="4100" spc="5">
                <a:latin typeface="Roboto Condensed"/>
                <a:cs typeface="Roboto Condensed"/>
              </a:rPr>
              <a:t>Review </a:t>
            </a:r>
            <a:r>
              <a:rPr dirty="0" sz="4100" spc="10">
                <a:latin typeface="Roboto Condensed"/>
                <a:cs typeface="Roboto Condensed"/>
              </a:rPr>
              <a:t>and </a:t>
            </a:r>
            <a:r>
              <a:rPr dirty="0" sz="4100" spc="-10">
                <a:latin typeface="Roboto Condensed"/>
                <a:cs typeface="Roboto Condensed"/>
              </a:rPr>
              <a:t>Clarification </a:t>
            </a:r>
            <a:r>
              <a:rPr dirty="0" sz="4200" spc="2510">
                <a:latin typeface="Arial"/>
                <a:cs typeface="Arial"/>
              </a:rPr>
              <a:t>📝</a:t>
            </a:r>
            <a:endParaRPr sz="42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530350"/>
            <a:ext cx="9413240" cy="18046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Class Notes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 spc="-30">
                <a:solidFill>
                  <a:srgbClr val="585D60"/>
                </a:solidFill>
                <a:latin typeface="Roboto"/>
                <a:cs typeface="Roboto"/>
              </a:rPr>
              <a:t>Take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some time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revisit your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class notes for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key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insights and</a:t>
            </a:r>
            <a:r>
              <a:rPr dirty="0" sz="1800" spc="30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concepts.</a:t>
            </a:r>
            <a:endParaRPr sz="1800">
              <a:latin typeface="Roboto"/>
              <a:cs typeface="Roboto"/>
            </a:endParaRPr>
          </a:p>
          <a:p>
            <a:pPr marL="146050" marR="1016635" indent="-133985">
              <a:lnSpc>
                <a:spcPct val="114599"/>
              </a:lnSpc>
              <a:spcBef>
                <a:spcPts val="97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10" b="1">
                <a:solidFill>
                  <a:srgbClr val="C2132D"/>
                </a:solidFill>
                <a:latin typeface="Roboto"/>
                <a:cs typeface="Roboto"/>
              </a:rPr>
              <a:t>Zoom </a:t>
            </a: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Recording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The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recording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of </a:t>
            </a:r>
            <a:r>
              <a:rPr dirty="0" sz="1800" spc="-15">
                <a:solidFill>
                  <a:srgbClr val="585D60"/>
                </a:solidFill>
                <a:latin typeface="Roboto"/>
                <a:cs typeface="Roboto"/>
              </a:rPr>
              <a:t>today's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class will be made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available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on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Canvas  approximately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3-4 hours after the session ends.</a:t>
            </a:r>
            <a:endParaRPr sz="1800">
              <a:latin typeface="Roboto"/>
              <a:cs typeface="Roboto"/>
            </a:endParaRPr>
          </a:p>
          <a:p>
            <a:pPr marL="146050" marR="5080" indent="-133985">
              <a:lnSpc>
                <a:spcPct val="114599"/>
              </a:lnSpc>
              <a:spcBef>
                <a:spcPts val="975"/>
              </a:spcBef>
              <a:buFont typeface="Roboto"/>
              <a:buChar char="•"/>
              <a:tabLst>
                <a:tab pos="146685" algn="l"/>
              </a:tabLst>
            </a:pPr>
            <a:r>
              <a:rPr dirty="0" sz="1800" spc="-5" b="1">
                <a:solidFill>
                  <a:srgbClr val="C2132D"/>
                </a:solidFill>
                <a:latin typeface="Roboto"/>
                <a:cs typeface="Roboto"/>
              </a:rPr>
              <a:t>Questions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: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Please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don't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hesitate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ask for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clarification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on any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topics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discussed in class. </a:t>
            </a:r>
            <a:r>
              <a:rPr dirty="0" sz="1800" spc="-20">
                <a:solidFill>
                  <a:srgbClr val="585D60"/>
                </a:solidFill>
                <a:latin typeface="Roboto"/>
                <a:cs typeface="Roboto"/>
              </a:rPr>
              <a:t>It's 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crucial not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to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let questions</a:t>
            </a:r>
            <a:r>
              <a:rPr dirty="0" sz="1800" spc="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accumulate.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39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11491"/>
            <a:ext cx="6812915" cy="665480"/>
          </a:xfrm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4200" spc="2510">
                <a:latin typeface="Arial"/>
                <a:cs typeface="Arial"/>
              </a:rPr>
              <a:t>📖</a:t>
            </a:r>
            <a:r>
              <a:rPr dirty="0" sz="4200" spc="-260">
                <a:latin typeface="Arial"/>
                <a:cs typeface="Arial"/>
              </a:rPr>
              <a:t> </a:t>
            </a:r>
            <a:r>
              <a:rPr dirty="0" sz="4100" spc="10">
                <a:latin typeface="Roboto Condensed"/>
                <a:cs typeface="Roboto Condensed"/>
              </a:rPr>
              <a:t>Recommended Readings </a:t>
            </a:r>
            <a:r>
              <a:rPr dirty="0" sz="4200" spc="2510">
                <a:latin typeface="Arial"/>
                <a:cs typeface="Arial"/>
              </a:rPr>
              <a:t>📖</a:t>
            </a:r>
            <a:endParaRPr sz="42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501775"/>
            <a:ext cx="7590790" cy="25190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1155">
                <a:solidFill>
                  <a:srgbClr val="585D60"/>
                </a:solidFill>
                <a:latin typeface="Arial"/>
                <a:cs typeface="Arial"/>
              </a:rPr>
              <a:t>🐍</a:t>
            </a:r>
            <a:r>
              <a:rPr dirty="0" sz="175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b="1">
                <a:solidFill>
                  <a:srgbClr val="585D60"/>
                </a:solidFill>
                <a:latin typeface="Roboto"/>
                <a:cs typeface="Roboto"/>
              </a:rPr>
              <a:t>Python </a:t>
            </a:r>
            <a:r>
              <a:rPr dirty="0" sz="1800" spc="-5" b="1">
                <a:solidFill>
                  <a:srgbClr val="585D60"/>
                </a:solidFill>
                <a:latin typeface="Roboto"/>
                <a:cs typeface="Roboto"/>
              </a:rPr>
              <a:t>Prep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05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5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Getting </a:t>
            </a:r>
            <a:r>
              <a:rPr dirty="0" sz="1800" spc="5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Started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with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Conda</a:t>
            </a:r>
            <a:endParaRPr sz="180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Data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3"/>
              </a:rPr>
              <a:t> Structures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C2132D"/>
              </a:buClr>
              <a:buFont typeface="Roboto"/>
              <a:buChar char="•"/>
            </a:pPr>
            <a:endParaRPr sz="21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sz="1750" spc="1155">
                <a:solidFill>
                  <a:srgbClr val="585D60"/>
                </a:solidFill>
                <a:latin typeface="Arial"/>
                <a:cs typeface="Arial"/>
              </a:rPr>
              <a:t>🤖</a:t>
            </a:r>
            <a:r>
              <a:rPr dirty="0" sz="175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 b="1">
                <a:solidFill>
                  <a:srgbClr val="585D60"/>
                </a:solidFill>
                <a:latin typeface="Roboto"/>
                <a:cs typeface="Roboto"/>
              </a:rPr>
              <a:t>LLM: Prep</a:t>
            </a:r>
            <a:endParaRPr sz="18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050">
              <a:latin typeface="Roboto"/>
              <a:cs typeface="Roboto"/>
            </a:endParaRPr>
          </a:p>
          <a:p>
            <a:pPr marL="393700" indent="-133985">
              <a:lnSpc>
                <a:spcPct val="100000"/>
              </a:lnSpc>
              <a:buClr>
                <a:srgbClr val="C2132D"/>
              </a:buClr>
              <a:buChar char="•"/>
              <a:tabLst>
                <a:tab pos="393700" algn="l"/>
              </a:tabLst>
            </a:pP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A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Very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Gentle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Introduction </a:t>
            </a:r>
            <a:r>
              <a:rPr dirty="0" sz="1800" spc="-1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to </a:t>
            </a:r>
            <a:r>
              <a:rPr dirty="0" sz="1800" spc="-5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Large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Language Models without the</a:t>
            </a:r>
            <a:r>
              <a:rPr dirty="0" sz="1800" spc="2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4"/>
              </a:rPr>
              <a:t>Hype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/>
              <a:t>39</a:t>
            </a:fld>
            <a:r>
              <a:rPr dirty="0"/>
              <a:t> /</a:t>
            </a:r>
            <a:r>
              <a:rPr dirty="0" spc="-85"/>
              <a:t> </a:t>
            </a:r>
            <a:r>
              <a:rPr dirty="0"/>
              <a:t>42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20700"/>
            <a:ext cx="4165600" cy="6540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4050" spc="2625">
                <a:latin typeface="Arial"/>
                <a:cs typeface="Arial"/>
              </a:rPr>
              <a:t>🎯</a:t>
            </a:r>
            <a:r>
              <a:rPr dirty="0" sz="4050" spc="-245">
                <a:latin typeface="Arial"/>
                <a:cs typeface="Arial"/>
              </a:rPr>
              <a:t> </a:t>
            </a:r>
            <a:r>
              <a:rPr dirty="0" sz="4100" spc="10">
                <a:latin typeface="Roboto Condensed"/>
                <a:cs typeface="Roboto Condensed"/>
              </a:rPr>
              <a:t>Assignment </a:t>
            </a:r>
            <a:r>
              <a:rPr dirty="0" sz="4050" spc="2625">
                <a:latin typeface="Arial"/>
                <a:cs typeface="Arial"/>
              </a:rPr>
              <a:t>🎯</a:t>
            </a:r>
            <a:endParaRPr sz="405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48754" y="1530350"/>
            <a:ext cx="627761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Char char="•"/>
              <a:tabLst>
                <a:tab pos="146685" algn="l"/>
              </a:tabLst>
            </a:pP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Go </a:t>
            </a:r>
            <a:r>
              <a:rPr dirty="0" sz="1800" spc="-10">
                <a:solidFill>
                  <a:srgbClr val="585D60"/>
                </a:solidFill>
                <a:latin typeface="Roboto"/>
                <a:cs typeface="Roboto"/>
              </a:rPr>
              <a:t>over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your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notes and complete </a:t>
            </a:r>
            <a:r>
              <a:rPr dirty="0" sz="1800">
                <a:solidFill>
                  <a:srgbClr val="83D5D3"/>
                </a:solidFill>
                <a:latin typeface="Roboto"/>
                <a:cs typeface="Roboto"/>
                <a:hlinkClick r:id="rId2"/>
              </a:rPr>
              <a:t>Assignment 01 </a:t>
            </a:r>
            <a:r>
              <a:rPr dirty="0" sz="1800">
                <a:solidFill>
                  <a:srgbClr val="585D60"/>
                </a:solidFill>
                <a:latin typeface="Roboto"/>
                <a:cs typeface="Roboto"/>
              </a:rPr>
              <a:t>on</a:t>
            </a:r>
            <a:r>
              <a:rPr dirty="0" sz="1800" spc="-25">
                <a:solidFill>
                  <a:srgbClr val="585D60"/>
                </a:solidFill>
                <a:latin typeface="Roboto"/>
                <a:cs typeface="Roboto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Roboto"/>
                <a:cs typeface="Roboto"/>
              </a:rPr>
              <a:t>Canvas.</a:t>
            </a:r>
            <a:endParaRPr sz="18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 444/544: Business Forecasting</dc:title>
  <dcterms:created xsi:type="dcterms:W3CDTF">2025-08-24T17:33:40Z</dcterms:created>
  <dcterms:modified xsi:type="dcterms:W3CDTF">2025-08-24T17:33:40Z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2025-08-24T00:00:00Z</vt:filetime>
  </property>
  <property fmtid="{D5CDD505-2E9C-101B-9397-08002B2CF9AE}" pid="3" name="Creator">
    <vt:lpwstr>Mozilla/5.0 (Windows NT 10.0; Win64; x64) AppleWebKit/537.36 (KHTML, like Gecko) Chrome/139.0.0.0 Safari/537.36</vt:lpwstr>
  </property>
  <property fmtid="{D5CDD505-2E9C-101B-9397-08002B2CF9AE}" pid="4" name="LastSaved">
    <vt:filetime>2025-08-24T00:00:00Z</vt:filetime>
  </property>
</Properties>
</file>