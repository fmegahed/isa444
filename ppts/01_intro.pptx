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052" y="320675"/>
            <a:ext cx="1065349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1690" y="1425575"/>
            <a:ext cx="9248219" cy="4528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www.cbo.gov/publication/61172#_idTextAnchor040" TargetMode="External"/><Relationship Id="rId4" Type="http://schemas.openxmlformats.org/officeDocument/2006/relationships/hyperlink" Target="https://weatherwidget.io/" TargetMode="External"/><Relationship Id="rId5" Type="http://schemas.openxmlformats.org/officeDocument/2006/relationships/hyperlink" Target="https://forecast7.com/en/39d47n84d75/45056/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hyperlink" Target="https://gs.statcounter.com/os-market-share/mobile/worldwide/#quarterly-200901-202403" TargetMode="External"/><Relationship Id="rId5" Type="http://schemas.openxmlformats.org/officeDocument/2006/relationships/hyperlink" Target="https://www.statista.com/statistics/263402/apples-iphone-revenue-since-3rd-quarter-2007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ytimes.com/2024/11/20/business/target-earnings-holiday-shopping.html?unlocked_article_code=1.sU4.BN7Y.DRvnq7F_52NO&amp;smid=url-share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amioh.instructure.com/courses/240425/files/36340085?module_item_id=6161473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dol.gov/sites/dolgov/files/ETA/oflc/pdfs/LCA_Disclosure_Data_FY2025_Q3.xlsx" TargetMode="External"/><Relationship Id="rId3" Type="http://schemas.openxmlformats.org/officeDocument/2006/relationships/image" Target="../media/image2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inance.yahoo.com/quote/AAPL/history?p=AAPL" TargetMode="External"/><Relationship Id="rId3" Type="http://schemas.openxmlformats.org/officeDocument/2006/relationships/image" Target="../media/image25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sidonline.isr.umich.edu/" TargetMode="External"/><Relationship Id="rId3" Type="http://schemas.openxmlformats.org/officeDocument/2006/relationships/hyperlink" Target="https://databank.worldbank.org/source/world-development-indicators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datacatalog.worldbank.org/" TargetMode="External"/><Relationship Id="rId6" Type="http://schemas.openxmlformats.org/officeDocument/2006/relationships/hyperlink" Target="https://cran.r-project.org/web/packages/wbstats/wbstats.pdf" TargetMode="External"/><Relationship Id="rId7" Type="http://schemas.openxmlformats.org/officeDocument/2006/relationships/image" Target="../media/image27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red.stlouisfed.org/series/GDP" TargetMode="External"/><Relationship Id="rId3" Type="http://schemas.openxmlformats.org/officeDocument/2006/relationships/image" Target="../media/image2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red.stlouisfed.org/series/CEU4200000001" TargetMode="External"/><Relationship Id="rId3" Type="http://schemas.openxmlformats.org/officeDocument/2006/relationships/image" Target="../media/image2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red.stlouisfed.org/series/TOTALSA" TargetMode="External"/><Relationship Id="rId3" Type="http://schemas.openxmlformats.org/officeDocument/2006/relationships/image" Target="../media/image3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red.stlouisfed.org/series/TOTALSA" TargetMode="External"/><Relationship Id="rId3" Type="http://schemas.openxmlformats.org/officeDocument/2006/relationships/image" Target="../media/image3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kahoot.it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enti.com/al4qbc8hg3jnm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hyperlink" Target="https://nixtlaverse.nixtla.io/neuralforecast/docs/getting-started/introduction.html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hyperlink" Target="https://github.com/Nixtla/statsforecast/blob/main/nbs/imgs/ChainedWindows.gif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nda.io/projects/conda/en/latest/user-guide/getting-started.html" TargetMode="External"/><Relationship Id="rId3" Type="http://schemas.openxmlformats.org/officeDocument/2006/relationships/hyperlink" Target="https://docs.python.org/3/tutorial/datastructures.html" TargetMode="External"/><Relationship Id="rId4" Type="http://schemas.openxmlformats.org/officeDocument/2006/relationships/hyperlink" Target="https://mark-riedl.medium.com/a-very-gentle-introduction-to-large-language-models-without-the-hype-5f67941fa59e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amioh.instructure.com/courses/240425/quizzes/741952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71410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  <a:latin typeface="Roboto Condensed"/>
                <a:cs typeface="Roboto Condensed"/>
              </a:rPr>
              <a:t>ISA 444/544: Business</a:t>
            </a:r>
            <a:r>
              <a:rPr dirty="0" sz="3350" spc="-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FFFFFF"/>
                </a:solidFill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01: Introduction to 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Series Analysis and</a:t>
            </a:r>
            <a:r>
              <a:rPr dirty="0" sz="3000" spc="-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Forecasting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298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0">
                <a:latin typeface="Roboto Condensed"/>
                <a:cs typeface="Roboto Condensed"/>
              </a:rPr>
              <a:t>Learning </a:t>
            </a:r>
            <a:r>
              <a:rPr dirty="0" sz="4100" spc="5">
                <a:latin typeface="Roboto Condensed"/>
                <a:cs typeface="Roboto Condensed"/>
              </a:rPr>
              <a:t>Objectives </a:t>
            </a:r>
            <a:r>
              <a:rPr dirty="0" sz="4100" spc="10">
                <a:latin typeface="Roboto Condensed"/>
                <a:cs typeface="Roboto Condensed"/>
              </a:rPr>
              <a:t>for </a:t>
            </a:r>
            <a:r>
              <a:rPr dirty="0" sz="4100" spc="-45">
                <a:latin typeface="Roboto Condensed"/>
                <a:cs typeface="Roboto Condensed"/>
              </a:rPr>
              <a:t>Today's</a:t>
            </a:r>
            <a:r>
              <a:rPr dirty="0" sz="4100" spc="-95">
                <a:latin typeface="Roboto Condensed"/>
                <a:cs typeface="Roboto Condensed"/>
              </a:rPr>
              <a:t> </a:t>
            </a:r>
            <a:r>
              <a:rPr dirty="0" sz="4100" spc="10">
                <a:latin typeface="Roboto Condensed"/>
                <a:cs typeface="Roboto Condensed"/>
              </a:rPr>
              <a:t>Class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9440545" cy="235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business.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components of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time-series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trend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multiple 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1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endParaRPr sz="1800">
              <a:latin typeface="Roboto"/>
              <a:cs typeface="Roboto"/>
            </a:endParaRPr>
          </a:p>
          <a:p>
            <a:pPr marL="146050">
              <a:lnSpc>
                <a:spcPct val="100000"/>
              </a:lnSpc>
              <a:spcBef>
                <a:spcPts val="315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cycles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concept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data-generating process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(DGP)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 limits of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forecasting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terminology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9311" y="2773680"/>
            <a:ext cx="4246245" cy="920750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985"/>
              </a:spcBef>
            </a:pPr>
            <a:r>
              <a:rPr dirty="0" sz="4100" spc="-94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4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44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44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44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944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944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44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44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44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4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4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604644"/>
            <a:ext cx="4064635" cy="314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6050" marR="114935" indent="-133985">
              <a:lnSpc>
                <a:spcPct val="117200"/>
              </a:lnSpc>
              <a:spcBef>
                <a:spcPts val="114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Businesses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Sales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revenue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targets, inventory projections  optimize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supply chains, and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staffing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plans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ensure workforce readiness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during demand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fluctuations.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2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Gov.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Tax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revenue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social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programs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aid budgeting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resource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allocation.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Individuals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Financial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4728844"/>
            <a:ext cx="3926840" cy="141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664210">
              <a:lnSpc>
                <a:spcPct val="114599"/>
              </a:lnSpc>
              <a:spcBef>
                <a:spcPts val="100"/>
              </a:spcBef>
            </a:pP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support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budgeting,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saving,</a:t>
            </a:r>
            <a:r>
              <a:rPr dirty="0" sz="180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retirement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planning.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94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Weather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inform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agriculture,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disaster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prep,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daily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decisions.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74584" y="1700685"/>
            <a:ext cx="4268183" cy="1465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933555" y="3242944"/>
            <a:ext cx="299148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Source: </a:t>
            </a:r>
            <a:r>
              <a:rPr dirty="0" sz="145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Congressional </a:t>
            </a:r>
            <a:r>
              <a:rPr dirty="0" sz="145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Budget</a:t>
            </a:r>
            <a:r>
              <a:rPr dirty="0" sz="145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1450" spc="-2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Office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5736" y="6033769"/>
            <a:ext cx="284670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Source: </a:t>
            </a:r>
            <a:r>
              <a:rPr dirty="0" sz="1450" spc="-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Weather </a:t>
            </a:r>
            <a:r>
              <a:rPr dirty="0" sz="1450" spc="-1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Widget's</a:t>
            </a:r>
            <a:r>
              <a:rPr dirty="0" sz="1450" spc="-2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450" spc="-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Forecast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67460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Forecasting </a:t>
            </a:r>
            <a:r>
              <a:rPr dirty="0" sz="3350" spc="10">
                <a:latin typeface="Roboto Condensed"/>
                <a:cs typeface="Roboto Condensed"/>
              </a:rPr>
              <a:t>Impacts </a:t>
            </a:r>
            <a:r>
              <a:rPr dirty="0" sz="3350" spc="5">
                <a:latin typeface="Roboto Condensed"/>
                <a:cs typeface="Roboto Condensed"/>
              </a:rPr>
              <a:t>Everything </a:t>
            </a:r>
            <a:r>
              <a:rPr dirty="0" sz="3350" spc="10">
                <a:latin typeface="Roboto Condensed"/>
                <a:cs typeface="Roboto Condensed"/>
              </a:rPr>
              <a:t>and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>
                <a:latin typeface="Roboto Condensed"/>
                <a:cs typeface="Roboto Condensed"/>
              </a:rPr>
              <a:t>Everyone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5689" y="4301362"/>
            <a:ext cx="622300" cy="348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OXFORD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5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WE</a:t>
            </a:r>
            <a:r>
              <a:rPr dirty="0" sz="1050" spc="-6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A</a:t>
            </a:r>
            <a:r>
              <a:rPr dirty="0" sz="105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THER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9694" y="4224400"/>
            <a:ext cx="605790" cy="4889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25°C</a:t>
            </a:r>
            <a:endParaRPr sz="21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30"/>
              </a:spcBef>
            </a:pPr>
            <a:r>
              <a:rPr dirty="0" sz="900" spc="1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clear</a:t>
            </a:r>
            <a:r>
              <a:rPr dirty="0" sz="900" spc="-9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 </a:t>
            </a:r>
            <a:r>
              <a:rPr dirty="0" sz="900" spc="1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sky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5249" y="4999354"/>
            <a:ext cx="22987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Sun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5335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25°C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17°C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56338" y="4999354"/>
            <a:ext cx="25400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Mon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8478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20°C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10°C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97489" y="4999354"/>
            <a:ext cx="217804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8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T</a:t>
            </a:r>
            <a:r>
              <a:rPr dirty="0" sz="950" spc="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ue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61622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21°C</a:t>
            </a:r>
            <a:endParaRPr sz="950">
              <a:latin typeface="Tahoma"/>
              <a:cs typeface="Tahoma"/>
            </a:endParaRPr>
          </a:p>
          <a:p>
            <a:pPr marL="7874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9°C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98160" y="4999354"/>
            <a:ext cx="26289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3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W</a:t>
            </a:r>
            <a:r>
              <a:rPr dirty="0" sz="950" spc="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ed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84765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21°C</a:t>
            </a:r>
            <a:endParaRPr sz="950">
              <a:latin typeface="Tahoma"/>
              <a:cs typeface="Tahoma"/>
            </a:endParaRPr>
          </a:p>
          <a:p>
            <a:pPr marL="7874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8°C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6186" y="4999354"/>
            <a:ext cx="23304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Thu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07908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23°C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12°C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95197" y="4999354"/>
            <a:ext cx="16129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Fri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31051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26°C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14°C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99737" y="4999354"/>
            <a:ext cx="19812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ABABAB"/>
                </a:solidFill>
                <a:latin typeface="Tahoma"/>
                <a:cs typeface="Tahoma"/>
                <a:hlinkClick r:id="rId5"/>
              </a:rPr>
              <a:t>Sat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54195" y="5637529"/>
            <a:ext cx="28956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AB7878"/>
                </a:solidFill>
                <a:latin typeface="Tahoma"/>
                <a:cs typeface="Tahoma"/>
                <a:hlinkClick r:id="rId5"/>
              </a:rPr>
              <a:t>29°C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6180AA"/>
                </a:solidFill>
                <a:latin typeface="Tahoma"/>
                <a:cs typeface="Tahoma"/>
                <a:hlinkClick r:id="rId5"/>
              </a:rPr>
              <a:t>15°C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43113" y="4458461"/>
            <a:ext cx="89535" cy="36830"/>
          </a:xfrm>
          <a:custGeom>
            <a:avLst/>
            <a:gdLst/>
            <a:ahLst/>
            <a:cxnLst/>
            <a:rect l="l" t="t" r="r" b="b"/>
            <a:pathLst>
              <a:path w="89534" h="36829">
                <a:moveTo>
                  <a:pt x="76961" y="36575"/>
                </a:moveTo>
                <a:lnTo>
                  <a:pt x="13716" y="36575"/>
                </a:lnTo>
                <a:lnTo>
                  <a:pt x="9398" y="34797"/>
                </a:lnTo>
                <a:lnTo>
                  <a:pt x="1778" y="27177"/>
                </a:lnTo>
                <a:lnTo>
                  <a:pt x="0" y="23113"/>
                </a:lnTo>
                <a:lnTo>
                  <a:pt x="104" y="13462"/>
                </a:lnTo>
                <a:lnTo>
                  <a:pt x="1778" y="9397"/>
                </a:lnTo>
                <a:lnTo>
                  <a:pt x="9398" y="1777"/>
                </a:lnTo>
                <a:lnTo>
                  <a:pt x="13461" y="0"/>
                </a:lnTo>
                <a:lnTo>
                  <a:pt x="76961" y="0"/>
                </a:lnTo>
                <a:lnTo>
                  <a:pt x="81280" y="1777"/>
                </a:lnTo>
                <a:lnTo>
                  <a:pt x="87884" y="9397"/>
                </a:lnTo>
                <a:lnTo>
                  <a:pt x="89408" y="13462"/>
                </a:lnTo>
                <a:lnTo>
                  <a:pt x="89318" y="23113"/>
                </a:lnTo>
                <a:lnTo>
                  <a:pt x="87884" y="27177"/>
                </a:lnTo>
                <a:lnTo>
                  <a:pt x="84581" y="30987"/>
                </a:lnTo>
                <a:lnTo>
                  <a:pt x="81279" y="34543"/>
                </a:lnTo>
                <a:lnTo>
                  <a:pt x="76961" y="36575"/>
                </a:lnTo>
                <a:close/>
              </a:path>
            </a:pathLst>
          </a:custGeom>
          <a:solidFill>
            <a:srgbClr val="FEBC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220646" y="4267771"/>
            <a:ext cx="76517" cy="755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220646" y="4610163"/>
            <a:ext cx="76517" cy="75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411336" y="4190238"/>
            <a:ext cx="36830" cy="89535"/>
          </a:xfrm>
          <a:custGeom>
            <a:avLst/>
            <a:gdLst/>
            <a:ahLst/>
            <a:cxnLst/>
            <a:rect l="l" t="t" r="r" b="b"/>
            <a:pathLst>
              <a:path w="36829" h="89535">
                <a:moveTo>
                  <a:pt x="23113" y="89408"/>
                </a:moveTo>
                <a:lnTo>
                  <a:pt x="13715" y="89408"/>
                </a:lnTo>
                <a:lnTo>
                  <a:pt x="9397" y="87884"/>
                </a:lnTo>
                <a:lnTo>
                  <a:pt x="5587" y="84581"/>
                </a:lnTo>
                <a:lnTo>
                  <a:pt x="2032" y="81279"/>
                </a:lnTo>
                <a:lnTo>
                  <a:pt x="0" y="76961"/>
                </a:lnTo>
                <a:lnTo>
                  <a:pt x="104" y="13461"/>
                </a:lnTo>
                <a:lnTo>
                  <a:pt x="1777" y="9398"/>
                </a:lnTo>
                <a:lnTo>
                  <a:pt x="9397" y="1778"/>
                </a:lnTo>
                <a:lnTo>
                  <a:pt x="13462" y="0"/>
                </a:lnTo>
                <a:lnTo>
                  <a:pt x="22860" y="0"/>
                </a:lnTo>
                <a:lnTo>
                  <a:pt x="27177" y="1778"/>
                </a:lnTo>
                <a:lnTo>
                  <a:pt x="34797" y="9398"/>
                </a:lnTo>
                <a:lnTo>
                  <a:pt x="36575" y="13461"/>
                </a:lnTo>
                <a:lnTo>
                  <a:pt x="36575" y="76961"/>
                </a:lnTo>
                <a:lnTo>
                  <a:pt x="34797" y="81280"/>
                </a:lnTo>
                <a:lnTo>
                  <a:pt x="27177" y="87884"/>
                </a:lnTo>
                <a:lnTo>
                  <a:pt x="23113" y="89408"/>
                </a:lnTo>
                <a:close/>
              </a:path>
            </a:pathLst>
          </a:custGeom>
          <a:solidFill>
            <a:srgbClr val="FEBC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11336" y="4673853"/>
            <a:ext cx="36830" cy="89535"/>
          </a:xfrm>
          <a:custGeom>
            <a:avLst/>
            <a:gdLst/>
            <a:ahLst/>
            <a:cxnLst/>
            <a:rect l="l" t="t" r="r" b="b"/>
            <a:pathLst>
              <a:path w="36829" h="89535">
                <a:moveTo>
                  <a:pt x="23113" y="89408"/>
                </a:moveTo>
                <a:lnTo>
                  <a:pt x="13715" y="89408"/>
                </a:lnTo>
                <a:lnTo>
                  <a:pt x="9397" y="87629"/>
                </a:lnTo>
                <a:lnTo>
                  <a:pt x="1777" y="80009"/>
                </a:lnTo>
                <a:lnTo>
                  <a:pt x="0" y="75945"/>
                </a:lnTo>
                <a:lnTo>
                  <a:pt x="0" y="12445"/>
                </a:lnTo>
                <a:lnTo>
                  <a:pt x="1777" y="8128"/>
                </a:lnTo>
                <a:lnTo>
                  <a:pt x="9397" y="1523"/>
                </a:lnTo>
                <a:lnTo>
                  <a:pt x="13462" y="0"/>
                </a:lnTo>
                <a:lnTo>
                  <a:pt x="22860" y="0"/>
                </a:lnTo>
                <a:lnTo>
                  <a:pt x="27177" y="1524"/>
                </a:lnTo>
                <a:lnTo>
                  <a:pt x="30987" y="4825"/>
                </a:lnTo>
                <a:lnTo>
                  <a:pt x="34543" y="8128"/>
                </a:lnTo>
                <a:lnTo>
                  <a:pt x="36575" y="12445"/>
                </a:lnTo>
                <a:lnTo>
                  <a:pt x="36471" y="75945"/>
                </a:lnTo>
                <a:lnTo>
                  <a:pt x="34797" y="80009"/>
                </a:lnTo>
                <a:lnTo>
                  <a:pt x="27177" y="87629"/>
                </a:lnTo>
                <a:lnTo>
                  <a:pt x="23113" y="89408"/>
                </a:lnTo>
                <a:close/>
              </a:path>
            </a:pathLst>
          </a:custGeom>
          <a:solidFill>
            <a:srgbClr val="FEBC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562085" y="4609210"/>
            <a:ext cx="76517" cy="765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562085" y="4267771"/>
            <a:ext cx="76517" cy="755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626728" y="4458461"/>
            <a:ext cx="89535" cy="36830"/>
          </a:xfrm>
          <a:custGeom>
            <a:avLst/>
            <a:gdLst/>
            <a:ahLst/>
            <a:cxnLst/>
            <a:rect l="l" t="t" r="r" b="b"/>
            <a:pathLst>
              <a:path w="89534" h="36829">
                <a:moveTo>
                  <a:pt x="75945" y="36575"/>
                </a:moveTo>
                <a:lnTo>
                  <a:pt x="12446" y="36575"/>
                </a:lnTo>
                <a:lnTo>
                  <a:pt x="8128" y="34797"/>
                </a:lnTo>
                <a:lnTo>
                  <a:pt x="1523" y="27177"/>
                </a:lnTo>
                <a:lnTo>
                  <a:pt x="0" y="23113"/>
                </a:lnTo>
                <a:lnTo>
                  <a:pt x="89" y="13462"/>
                </a:lnTo>
                <a:lnTo>
                  <a:pt x="1524" y="9397"/>
                </a:lnTo>
                <a:lnTo>
                  <a:pt x="8128" y="1777"/>
                </a:lnTo>
                <a:lnTo>
                  <a:pt x="12446" y="0"/>
                </a:lnTo>
                <a:lnTo>
                  <a:pt x="75691" y="0"/>
                </a:lnTo>
                <a:lnTo>
                  <a:pt x="80009" y="2032"/>
                </a:lnTo>
                <a:lnTo>
                  <a:pt x="83819" y="5587"/>
                </a:lnTo>
                <a:lnTo>
                  <a:pt x="87629" y="9397"/>
                </a:lnTo>
                <a:lnTo>
                  <a:pt x="89408" y="13462"/>
                </a:lnTo>
                <a:lnTo>
                  <a:pt x="89303" y="23113"/>
                </a:lnTo>
                <a:lnTo>
                  <a:pt x="87629" y="27177"/>
                </a:lnTo>
                <a:lnTo>
                  <a:pt x="80009" y="34797"/>
                </a:lnTo>
                <a:lnTo>
                  <a:pt x="75945" y="36575"/>
                </a:lnTo>
                <a:close/>
              </a:path>
            </a:pathLst>
          </a:custGeom>
          <a:solidFill>
            <a:srgbClr val="FEBC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267572" y="4314697"/>
            <a:ext cx="324485" cy="324485"/>
          </a:xfrm>
          <a:custGeom>
            <a:avLst/>
            <a:gdLst/>
            <a:ahLst/>
            <a:cxnLst/>
            <a:rect l="l" t="t" r="r" b="b"/>
            <a:pathLst>
              <a:path w="324484" h="324485">
                <a:moveTo>
                  <a:pt x="162052" y="324104"/>
                </a:moveTo>
                <a:lnTo>
                  <a:pt x="99917" y="312261"/>
                </a:lnTo>
                <a:lnTo>
                  <a:pt x="47497" y="276606"/>
                </a:lnTo>
                <a:lnTo>
                  <a:pt x="11842" y="224186"/>
                </a:lnTo>
                <a:lnTo>
                  <a:pt x="0" y="162052"/>
                </a:lnTo>
                <a:lnTo>
                  <a:pt x="2956" y="129758"/>
                </a:lnTo>
                <a:lnTo>
                  <a:pt x="26681" y="72505"/>
                </a:lnTo>
                <a:lnTo>
                  <a:pt x="72505" y="26681"/>
                </a:lnTo>
                <a:lnTo>
                  <a:pt x="129758" y="2956"/>
                </a:lnTo>
                <a:lnTo>
                  <a:pt x="162052" y="0"/>
                </a:lnTo>
                <a:lnTo>
                  <a:pt x="194345" y="2956"/>
                </a:lnTo>
                <a:lnTo>
                  <a:pt x="224186" y="11842"/>
                </a:lnTo>
                <a:lnTo>
                  <a:pt x="251598" y="26681"/>
                </a:lnTo>
                <a:lnTo>
                  <a:pt x="264705" y="37592"/>
                </a:lnTo>
                <a:lnTo>
                  <a:pt x="162052" y="37592"/>
                </a:lnTo>
                <a:lnTo>
                  <a:pt x="137100" y="39874"/>
                </a:lnTo>
                <a:lnTo>
                  <a:pt x="93007" y="58058"/>
                </a:lnTo>
                <a:lnTo>
                  <a:pt x="58058" y="93114"/>
                </a:lnTo>
                <a:lnTo>
                  <a:pt x="39874" y="137136"/>
                </a:lnTo>
                <a:lnTo>
                  <a:pt x="37592" y="162052"/>
                </a:lnTo>
                <a:lnTo>
                  <a:pt x="39874" y="187003"/>
                </a:lnTo>
                <a:lnTo>
                  <a:pt x="58058" y="231096"/>
                </a:lnTo>
                <a:lnTo>
                  <a:pt x="93114" y="266045"/>
                </a:lnTo>
                <a:lnTo>
                  <a:pt x="137136" y="284230"/>
                </a:lnTo>
                <a:lnTo>
                  <a:pt x="162052" y="286512"/>
                </a:lnTo>
                <a:lnTo>
                  <a:pt x="264705" y="286512"/>
                </a:lnTo>
                <a:lnTo>
                  <a:pt x="251598" y="297422"/>
                </a:lnTo>
                <a:lnTo>
                  <a:pt x="224186" y="312261"/>
                </a:lnTo>
                <a:lnTo>
                  <a:pt x="194345" y="321147"/>
                </a:lnTo>
                <a:lnTo>
                  <a:pt x="162052" y="324104"/>
                </a:lnTo>
                <a:close/>
              </a:path>
              <a:path w="324484" h="324485">
                <a:moveTo>
                  <a:pt x="264705" y="286512"/>
                </a:moveTo>
                <a:lnTo>
                  <a:pt x="162052" y="286512"/>
                </a:lnTo>
                <a:lnTo>
                  <a:pt x="187003" y="284230"/>
                </a:lnTo>
                <a:lnTo>
                  <a:pt x="210026" y="277399"/>
                </a:lnTo>
                <a:lnTo>
                  <a:pt x="250190" y="250190"/>
                </a:lnTo>
                <a:lnTo>
                  <a:pt x="277399" y="209931"/>
                </a:lnTo>
                <a:lnTo>
                  <a:pt x="286512" y="162052"/>
                </a:lnTo>
                <a:lnTo>
                  <a:pt x="284230" y="137100"/>
                </a:lnTo>
                <a:lnTo>
                  <a:pt x="266045" y="93007"/>
                </a:lnTo>
                <a:lnTo>
                  <a:pt x="230989" y="58058"/>
                </a:lnTo>
                <a:lnTo>
                  <a:pt x="186967" y="39874"/>
                </a:lnTo>
                <a:lnTo>
                  <a:pt x="162052" y="37592"/>
                </a:lnTo>
                <a:lnTo>
                  <a:pt x="264705" y="37592"/>
                </a:lnTo>
                <a:lnTo>
                  <a:pt x="297422" y="72505"/>
                </a:lnTo>
                <a:lnTo>
                  <a:pt x="321147" y="129758"/>
                </a:lnTo>
                <a:lnTo>
                  <a:pt x="324104" y="162052"/>
                </a:lnTo>
                <a:lnTo>
                  <a:pt x="321147" y="194345"/>
                </a:lnTo>
                <a:lnTo>
                  <a:pt x="312261" y="224186"/>
                </a:lnTo>
                <a:lnTo>
                  <a:pt x="297422" y="251598"/>
                </a:lnTo>
                <a:lnTo>
                  <a:pt x="276606" y="276606"/>
                </a:lnTo>
                <a:lnTo>
                  <a:pt x="264705" y="286512"/>
                </a:lnTo>
                <a:close/>
              </a:path>
            </a:pathLst>
          </a:custGeom>
          <a:solidFill>
            <a:srgbClr val="FEBC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32613" y="5280088"/>
            <a:ext cx="250698" cy="2506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61263" y="5280088"/>
            <a:ext cx="250698" cy="2506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90510" y="5321093"/>
            <a:ext cx="230241" cy="2208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299512" y="5280088"/>
            <a:ext cx="250698" cy="2506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938285" y="5321093"/>
            <a:ext cx="230241" cy="2208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547287" y="5280088"/>
            <a:ext cx="250698" cy="2506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185383" y="5321315"/>
            <a:ext cx="231473" cy="16368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9212" y="1638300"/>
            <a:ext cx="0" cy="866775"/>
          </a:xfrm>
          <a:custGeom>
            <a:avLst/>
            <a:gdLst/>
            <a:ahLst/>
            <a:cxnLst/>
            <a:rect l="l" t="t" r="r" b="b"/>
            <a:pathLst>
              <a:path w="0" h="866775">
                <a:moveTo>
                  <a:pt x="0" y="0"/>
                </a:moveTo>
                <a:lnTo>
                  <a:pt x="0" y="866774"/>
                </a:lnTo>
              </a:path>
            </a:pathLst>
          </a:custGeom>
          <a:ln w="47624">
            <a:solidFill>
              <a:srgbClr val="C21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19212" y="3200399"/>
            <a:ext cx="0" cy="3086100"/>
          </a:xfrm>
          <a:custGeom>
            <a:avLst/>
            <a:gdLst/>
            <a:ahLst/>
            <a:cxnLst/>
            <a:rect l="l" t="t" r="r" b="b"/>
            <a:pathLst>
              <a:path w="0" h="3086100">
                <a:moveTo>
                  <a:pt x="0" y="0"/>
                </a:moveTo>
                <a:lnTo>
                  <a:pt x="0" y="3086099"/>
                </a:lnTo>
              </a:path>
            </a:pathLst>
          </a:custGeom>
          <a:ln w="47624">
            <a:solidFill>
              <a:srgbClr val="C21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3024" y="1638300"/>
            <a:ext cx="5010150" cy="866775"/>
          </a:xfrm>
          <a:prstGeom prst="rect">
            <a:avLst/>
          </a:prstGeom>
          <a:solidFill>
            <a:srgbClr val="F9F9F9"/>
          </a:solidFill>
        </p:spPr>
        <p:txBody>
          <a:bodyPr wrap="square" lIns="0" tIns="15875" rIns="0" bIns="0" rtlCol="0" vert="horz">
            <a:spAutoFit/>
          </a:bodyPr>
          <a:lstStyle/>
          <a:p>
            <a:pPr marL="205104">
              <a:lnSpc>
                <a:spcPct val="100000"/>
              </a:lnSpc>
              <a:spcBef>
                <a:spcPts val="125"/>
              </a:spcBef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Q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: People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get passionate when Apple comes</a:t>
            </a:r>
            <a:r>
              <a:rPr dirty="0" sz="16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out</a:t>
            </a:r>
            <a:endParaRPr sz="1600">
              <a:latin typeface="Roboto"/>
              <a:cs typeface="Roboto"/>
            </a:endParaRPr>
          </a:p>
          <a:p>
            <a:pPr marL="205104" marR="3175">
              <a:lnSpc>
                <a:spcPct val="117200"/>
              </a:lnSpc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something new—the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iPhone; of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course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...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Is that 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something 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you'd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want them 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feel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about</a:t>
            </a:r>
            <a:r>
              <a:rPr dirty="0" sz="1600" spc="-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Microsoft?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024" y="3200399"/>
            <a:ext cx="5010150" cy="3086100"/>
          </a:xfrm>
          <a:prstGeom prst="rect">
            <a:avLst/>
          </a:prstGeom>
          <a:solidFill>
            <a:srgbClr val="F9F9F9"/>
          </a:solidFill>
        </p:spPr>
        <p:txBody>
          <a:bodyPr wrap="square" lIns="0" tIns="15875" rIns="0" bIns="0" rtlCol="0" vert="horz">
            <a:spAutoFit/>
          </a:bodyPr>
          <a:lstStyle/>
          <a:p>
            <a:pPr marL="205104">
              <a:lnSpc>
                <a:spcPct val="100000"/>
              </a:lnSpc>
              <a:spcBef>
                <a:spcPts val="125"/>
              </a:spcBef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A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It's </a:t>
            </a:r>
            <a:r>
              <a:rPr dirty="0" sz="1600" spc="15">
                <a:solidFill>
                  <a:srgbClr val="585D60"/>
                </a:solidFill>
                <a:latin typeface="Roboto"/>
                <a:cs typeface="Roboto"/>
              </a:rPr>
              <a:t>sort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 funny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question.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Would I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trade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96%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of</a:t>
            </a:r>
            <a:endParaRPr sz="1600">
              <a:latin typeface="Roboto"/>
              <a:cs typeface="Roboto"/>
            </a:endParaRPr>
          </a:p>
          <a:p>
            <a:pPr marL="205104">
              <a:lnSpc>
                <a:spcPct val="100000"/>
              </a:lnSpc>
              <a:spcBef>
                <a:spcPts val="280"/>
              </a:spcBef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the market for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4%?</a:t>
            </a:r>
            <a:r>
              <a:rPr dirty="0" sz="16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50" spc="100" i="1">
                <a:solidFill>
                  <a:srgbClr val="585D60"/>
                </a:solidFill>
                <a:latin typeface="Gill Sans MT"/>
                <a:cs typeface="Gill Sans MT"/>
              </a:rPr>
              <a:t>(Laughter.)</a:t>
            </a:r>
            <a:endParaRPr sz="1650">
              <a:latin typeface="Gill Sans MT"/>
              <a:cs typeface="Gill Sans MT"/>
            </a:endParaRPr>
          </a:p>
          <a:p>
            <a:pPr marL="205104" marR="92710">
              <a:lnSpc>
                <a:spcPct val="118500"/>
              </a:lnSpc>
              <a:spcBef>
                <a:spcPts val="790"/>
              </a:spcBef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I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want 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have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products that appeal 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to everybody. </a:t>
            </a:r>
            <a:r>
              <a:rPr dirty="0" sz="1600" spc="-5" b="1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There's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no chance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that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iPhone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going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get  any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significant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market share.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No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chance.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It's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 $500 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subsidized item. They may make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lot of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money.</a:t>
            </a:r>
            <a:endParaRPr sz="1600">
              <a:latin typeface="Roboto"/>
              <a:cs typeface="Roboto"/>
            </a:endParaRPr>
          </a:p>
          <a:p>
            <a:pPr marL="205104" marR="80010">
              <a:lnSpc>
                <a:spcPct val="118500"/>
              </a:lnSpc>
              <a:spcBef>
                <a:spcPts val="800"/>
              </a:spcBef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But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you actually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look at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1.3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billion 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phones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get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sold, </a:t>
            </a:r>
            <a:r>
              <a:rPr dirty="0" sz="1600" spc="-10" b="1">
                <a:solidFill>
                  <a:srgbClr val="C2132D"/>
                </a:solidFill>
                <a:latin typeface="Roboto"/>
                <a:cs typeface="Roboto"/>
              </a:rPr>
              <a:t>I'd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prefer 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have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our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software  in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60%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or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70%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or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80%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of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them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, than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would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2%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or 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3%, which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what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Apple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might</a:t>
            </a:r>
            <a:r>
              <a:rPr dirty="0" sz="1600" spc="-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get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24700" y="1543050"/>
            <a:ext cx="3486149" cy="28765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46987" y="4562347"/>
            <a:ext cx="3237230" cy="901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065" marR="5080">
              <a:lnSpc>
                <a:spcPct val="119100"/>
              </a:lnSpc>
              <a:spcBef>
                <a:spcPts val="135"/>
              </a:spcBef>
            </a:pP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Steve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Ballmer,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Former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CEO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  Microsoft in his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infamous</a:t>
            </a:r>
            <a:r>
              <a:rPr dirty="0" sz="16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interview 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600" spc="10">
                <a:solidFill>
                  <a:srgbClr val="83D5D3"/>
                </a:solidFill>
                <a:latin typeface="Roboto"/>
                <a:cs typeface="Roboto"/>
              </a:rPr>
              <a:t>USA </a:t>
            </a:r>
            <a:r>
              <a:rPr dirty="0" sz="1600" spc="-10">
                <a:solidFill>
                  <a:srgbClr val="83D5D3"/>
                </a:solidFill>
                <a:latin typeface="Roboto"/>
                <a:cs typeface="Roboto"/>
              </a:rPr>
              <a:t>Today</a:t>
            </a:r>
            <a:r>
              <a:rPr dirty="0" sz="1600" spc="-50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600" spc="10">
                <a:solidFill>
                  <a:srgbClr val="83D5D3"/>
                </a:solidFill>
                <a:latin typeface="Roboto"/>
                <a:cs typeface="Roboto"/>
              </a:rPr>
              <a:t>2007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7369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5">
                <a:latin typeface="Roboto Condensed"/>
                <a:cs typeface="Roboto Condensed"/>
              </a:rPr>
              <a:t>Microsoft's </a:t>
            </a:r>
            <a:r>
              <a:rPr dirty="0" sz="3350" spc="10">
                <a:latin typeface="Roboto Condensed"/>
                <a:cs typeface="Roboto Condensed"/>
              </a:rPr>
              <a:t>Missed </a:t>
            </a:r>
            <a:r>
              <a:rPr dirty="0" sz="3350" spc="15">
                <a:latin typeface="Roboto Condensed"/>
                <a:cs typeface="Roboto Condensed"/>
              </a:rPr>
              <a:t>Opportunity </a:t>
            </a:r>
            <a:r>
              <a:rPr dirty="0" sz="3350" spc="10">
                <a:latin typeface="Roboto Condensed"/>
                <a:cs typeface="Roboto Condensed"/>
              </a:rPr>
              <a:t>with Mobile</a:t>
            </a:r>
            <a:r>
              <a:rPr dirty="0" sz="3350" spc="-1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Phones</a:t>
            </a:r>
            <a:endParaRPr sz="3350">
              <a:latin typeface="Roboto Condensed"/>
              <a:cs typeface="Roboto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3792" y="1780920"/>
            <a:ext cx="4137056" cy="2165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71369" y="4247963"/>
            <a:ext cx="3918934" cy="21657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337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5">
                <a:latin typeface="Roboto Condensed"/>
                <a:cs typeface="Roboto Condensed"/>
              </a:rPr>
              <a:t>Microsoft's </a:t>
            </a:r>
            <a:r>
              <a:rPr dirty="0" sz="3350" spc="10">
                <a:latin typeface="Roboto Condensed"/>
                <a:cs typeface="Roboto Condensed"/>
              </a:rPr>
              <a:t>Missed </a:t>
            </a:r>
            <a:r>
              <a:rPr dirty="0" sz="3350" spc="15">
                <a:latin typeface="Roboto Condensed"/>
                <a:cs typeface="Roboto Condensed"/>
              </a:rPr>
              <a:t>Opportunity: </a:t>
            </a:r>
            <a:r>
              <a:rPr dirty="0" sz="3350" spc="10">
                <a:latin typeface="Roboto Condensed"/>
                <a:cs typeface="Roboto Condensed"/>
              </a:rPr>
              <a:t>Back of a Napkin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Calc.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2149" y="1600072"/>
            <a:ext cx="4048125" cy="417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 marR="5080" indent="-120650">
              <a:lnSpc>
                <a:spcPct val="117200"/>
              </a:lnSpc>
              <a:spcBef>
                <a:spcPts val="95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Since Q1 2009,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Windows'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Mobile </a:t>
            </a:r>
            <a:r>
              <a:rPr dirty="0" sz="1600" spc="-10" b="1">
                <a:solidFill>
                  <a:srgbClr val="C2132D"/>
                </a:solidFill>
                <a:latin typeface="Roboto"/>
                <a:cs typeface="Roboto"/>
              </a:rPr>
              <a:t>OS's 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market share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&lt;=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2.5%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now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at</a:t>
            </a:r>
            <a:r>
              <a:rPr dirty="0" sz="16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0.02% 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600" spc="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StatCounter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600">
              <a:latin typeface="Roboto"/>
              <a:cs typeface="Roboto"/>
            </a:endParaRPr>
          </a:p>
          <a:p>
            <a:pPr marL="132715" marR="281940" indent="-120650">
              <a:lnSpc>
                <a:spcPct val="121100"/>
              </a:lnSpc>
              <a:spcBef>
                <a:spcPts val="750"/>
              </a:spcBef>
              <a:buFont typeface="Roboto"/>
              <a:buChar char="•"/>
              <a:tabLst>
                <a:tab pos="133350" algn="l"/>
              </a:tabLst>
            </a:pPr>
            <a:r>
              <a:rPr dirty="0" sz="1600" spc="-10" b="1">
                <a:solidFill>
                  <a:srgbClr val="C2132D"/>
                </a:solidFill>
                <a:latin typeface="Roboto"/>
                <a:cs typeface="Roboto"/>
              </a:rPr>
              <a:t>Apple's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Mobile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iOS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market share &gt;</a:t>
            </a:r>
            <a:r>
              <a:rPr dirty="0" sz="1600" spc="-4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19%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,  and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now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at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27.69%</a:t>
            </a:r>
            <a:r>
              <a:rPr dirty="0" sz="16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600" spc="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StatCounter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600">
              <a:latin typeface="Roboto"/>
              <a:cs typeface="Roboto"/>
            </a:endParaRPr>
          </a:p>
          <a:p>
            <a:pPr marL="132715" marR="393065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Apple's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iPhone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revenues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2007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2024 was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$2.037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trillion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(per</a:t>
            </a:r>
            <a:r>
              <a:rPr dirty="0" sz="16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statista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600">
              <a:latin typeface="Roboto"/>
              <a:cs typeface="Roboto"/>
            </a:endParaRPr>
          </a:p>
          <a:p>
            <a:pPr marL="132715" marR="59055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Assuming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Microsoft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could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captured  just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5%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Apple's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market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revenue </a:t>
            </a:r>
            <a:r>
              <a:rPr dirty="0" sz="850" spc="770">
                <a:solidFill>
                  <a:srgbClr val="585D60"/>
                </a:solidFill>
                <a:latin typeface="Arial"/>
                <a:cs typeface="Arial"/>
              </a:rPr>
              <a:t>→</a:t>
            </a:r>
            <a:r>
              <a:rPr dirty="0" sz="850" spc="1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$102 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billion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600">
              <a:latin typeface="Roboto"/>
              <a:cs typeface="Roboto"/>
            </a:endParaRPr>
          </a:p>
          <a:p>
            <a:pPr marL="132715" marR="232410" indent="-120650">
              <a:lnSpc>
                <a:spcPct val="119100"/>
              </a:lnSpc>
              <a:spcBef>
                <a:spcPts val="785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estimate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excludes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app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store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and 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brand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value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which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will make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missed  opportunity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even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larger.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5475" y="1543050"/>
            <a:ext cx="2409824" cy="1809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37382" y="3595369"/>
            <a:ext cx="251777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 b="1">
                <a:solidFill>
                  <a:srgbClr val="C2132D"/>
                </a:solidFill>
                <a:latin typeface="Roboto"/>
                <a:cs typeface="Roboto"/>
              </a:rPr>
              <a:t>IBM</a:t>
            </a:r>
            <a:r>
              <a:rPr dirty="0" sz="1450" spc="-5">
                <a:solidFill>
                  <a:srgbClr val="585D60"/>
                </a:solidFill>
                <a:latin typeface="Roboto"/>
                <a:cs typeface="Roboto"/>
              </a:rPr>
              <a:t>: Missed the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PC</a:t>
            </a:r>
            <a:r>
              <a:rPr dirty="0" sz="145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revolution.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14474" y="4089969"/>
            <a:ext cx="3162299" cy="1710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84783" y="6033769"/>
            <a:ext cx="362267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solidFill>
                  <a:srgbClr val="C2132D"/>
                </a:solidFill>
                <a:latin typeface="Roboto"/>
                <a:cs typeface="Roboto"/>
              </a:rPr>
              <a:t>Kodak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450" spc="-5">
                <a:solidFill>
                  <a:srgbClr val="585D60"/>
                </a:solidFill>
                <a:latin typeface="Roboto"/>
                <a:cs typeface="Roboto"/>
              </a:rPr>
              <a:t>Missed the digital </a:t>
            </a:r>
            <a:r>
              <a:rPr dirty="0" sz="1450" spc="-15">
                <a:solidFill>
                  <a:srgbClr val="585D60"/>
                </a:solidFill>
                <a:latin typeface="Roboto"/>
                <a:cs typeface="Roboto"/>
              </a:rPr>
              <a:t>camera</a:t>
            </a:r>
            <a:r>
              <a:rPr dirty="0" sz="1450" spc="-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revolution.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58025" y="1543050"/>
            <a:ext cx="2743199" cy="1809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48983" y="3595369"/>
            <a:ext cx="37604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 b="1">
                <a:solidFill>
                  <a:srgbClr val="C2132D"/>
                </a:solidFill>
                <a:latin typeface="Roboto"/>
                <a:cs typeface="Roboto"/>
              </a:rPr>
              <a:t>Blockbuster</a:t>
            </a:r>
            <a:r>
              <a:rPr dirty="0" sz="1450" spc="-5">
                <a:solidFill>
                  <a:srgbClr val="585D60"/>
                </a:solidFill>
                <a:latin typeface="Roboto"/>
                <a:cs typeface="Roboto"/>
              </a:rPr>
              <a:t>: Missed the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streaming</a:t>
            </a:r>
            <a:r>
              <a:rPr dirty="0" sz="145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revolution.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14640" y="4063364"/>
            <a:ext cx="2029967" cy="1677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27713" y="6033769"/>
            <a:ext cx="360299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5" b="1">
                <a:solidFill>
                  <a:srgbClr val="C2132D"/>
                </a:solidFill>
                <a:latin typeface="Roboto"/>
                <a:cs typeface="Roboto"/>
              </a:rPr>
              <a:t>Yahoo</a:t>
            </a:r>
            <a:r>
              <a:rPr dirty="0" sz="1450" spc="-1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450" spc="-5">
                <a:solidFill>
                  <a:srgbClr val="585D60"/>
                </a:solidFill>
                <a:latin typeface="Roboto"/>
                <a:cs typeface="Roboto"/>
              </a:rPr>
              <a:t>Missed the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search </a:t>
            </a:r>
            <a:r>
              <a:rPr dirty="0" sz="1450" spc="-5">
                <a:solidFill>
                  <a:srgbClr val="585D60"/>
                </a:solidFill>
                <a:latin typeface="Roboto"/>
                <a:cs typeface="Roboto"/>
              </a:rPr>
              <a:t>engine</a:t>
            </a:r>
            <a:r>
              <a:rPr dirty="0" sz="145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585D60"/>
                </a:solidFill>
                <a:latin typeface="Roboto"/>
                <a:cs typeface="Roboto"/>
              </a:rPr>
              <a:t>revolution.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6803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Other </a:t>
            </a:r>
            <a:r>
              <a:rPr dirty="0" sz="3350" spc="5">
                <a:latin typeface="Roboto Condensed"/>
                <a:cs typeface="Roboto Condensed"/>
              </a:rPr>
              <a:t>Real-World Forecasting </a:t>
            </a:r>
            <a:r>
              <a:rPr dirty="0" sz="3350" spc="-5">
                <a:latin typeface="Roboto Condensed"/>
                <a:cs typeface="Roboto Condensed"/>
              </a:rPr>
              <a:t>Failures </a:t>
            </a:r>
            <a:r>
              <a:rPr dirty="0" sz="3350" spc="10">
                <a:latin typeface="Roboto Condensed"/>
                <a:cs typeface="Roboto Condensed"/>
              </a:rPr>
              <a:t>in</a:t>
            </a:r>
            <a:r>
              <a:rPr dirty="0" sz="3350" spc="-95">
                <a:latin typeface="Roboto Condensed"/>
                <a:cs typeface="Roboto Condensed"/>
              </a:rPr>
              <a:t> </a:t>
            </a:r>
            <a:r>
              <a:rPr dirty="0" sz="3350" spc="-30">
                <a:latin typeface="Roboto Condensed"/>
                <a:cs typeface="Roboto Condensed"/>
              </a:rPr>
              <a:t>Tech</a:t>
            </a:r>
            <a:endParaRPr sz="3350">
              <a:latin typeface="Roboto Condensed"/>
              <a:cs typeface="Roboto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2499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0">
                <a:latin typeface="Roboto Condensed"/>
                <a:cs typeface="Roboto Condensed"/>
              </a:rPr>
              <a:t>Non-Tech </a:t>
            </a:r>
            <a:r>
              <a:rPr dirty="0" sz="3350" spc="-5">
                <a:latin typeface="Roboto Condensed"/>
                <a:cs typeface="Roboto Condensed"/>
              </a:rPr>
              <a:t>Failures: </a:t>
            </a:r>
            <a:r>
              <a:rPr dirty="0" sz="3350" spc="10">
                <a:latin typeface="Roboto Condensed"/>
                <a:cs typeface="Roboto Condensed"/>
              </a:rPr>
              <a:t>Red </a:t>
            </a:r>
            <a:r>
              <a:rPr dirty="0" sz="3350" spc="-5">
                <a:latin typeface="Roboto Condensed"/>
                <a:cs typeface="Roboto Condensed"/>
              </a:rPr>
              <a:t>Lobster's </a:t>
            </a:r>
            <a:r>
              <a:rPr dirty="0" sz="3350" spc="10">
                <a:latin typeface="Roboto Condensed"/>
                <a:cs typeface="Roboto Condensed"/>
              </a:rPr>
              <a:t>Endless</a:t>
            </a:r>
            <a:r>
              <a:rPr dirty="0" sz="3350" spc="7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Shrimp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92241" y="1490486"/>
            <a:ext cx="5697603" cy="49265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2345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0">
                <a:latin typeface="Roboto Condensed"/>
                <a:cs typeface="Roboto Condensed"/>
              </a:rPr>
              <a:t>Non-Tech </a:t>
            </a:r>
            <a:r>
              <a:rPr dirty="0" sz="3350" spc="-5">
                <a:latin typeface="Roboto Condensed"/>
                <a:cs typeface="Roboto Condensed"/>
              </a:rPr>
              <a:t>Failures: </a:t>
            </a:r>
            <a:r>
              <a:rPr dirty="0" sz="3350" spc="-35">
                <a:latin typeface="Roboto Condensed"/>
                <a:cs typeface="Roboto Condensed"/>
              </a:rPr>
              <a:t>Target's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Overestimation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41254" y="1477032"/>
            <a:ext cx="4159955" cy="4931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907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Why Do These </a:t>
            </a:r>
            <a:r>
              <a:rPr dirty="0" sz="3350" spc="5">
                <a:latin typeface="Roboto Condensed"/>
                <a:cs typeface="Roboto Condensed"/>
              </a:rPr>
              <a:t>Stories</a:t>
            </a:r>
            <a:r>
              <a:rPr dirty="0" sz="3350" spc="-1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Matter?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31680" cy="2042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(1) Forecasting Errors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= Real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Money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Lost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Microsoft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$102 billion in potential mobile phone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revenues.</a:t>
            </a:r>
            <a:endParaRPr sz="1800">
              <a:latin typeface="Roboto"/>
              <a:cs typeface="Roboto"/>
            </a:endParaRPr>
          </a:p>
          <a:p>
            <a:pPr marL="393065" marR="7620" indent="-133985">
              <a:lnSpc>
                <a:spcPct val="114599"/>
              </a:lnSpc>
              <a:spcBef>
                <a:spcPts val="97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25" b="1">
                <a:solidFill>
                  <a:srgbClr val="C2132D"/>
                </a:solidFill>
                <a:latin typeface="Roboto"/>
                <a:cs typeface="Roboto"/>
              </a:rPr>
              <a:t>Target: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Overestimation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leads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unsold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stock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overservicing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</a:t>
            </a:r>
            <a:r>
              <a:rPr dirty="0" sz="1800" spc="-2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Target's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Stock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Plunging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by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21% due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to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lower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profit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and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larger</a:t>
            </a:r>
            <a:r>
              <a:rPr dirty="0" sz="1800" spc="2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inventories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Lobster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$11M in losses due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underestimating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demand for their endless shrimp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deal.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149725"/>
            <a:ext cx="9708515" cy="169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(2)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Course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Relevance: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15700"/>
              </a:lnSpc>
              <a:spcBef>
                <a:spcPts val="95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class will teach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</a:t>
            </a:r>
            <a:r>
              <a:rPr dirty="0" sz="1800" spc="-5" b="1">
                <a:latin typeface="Roboto"/>
                <a:cs typeface="Roboto"/>
              </a:rPr>
              <a:t>trends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latin typeface="Roboto"/>
                <a:cs typeface="Roboto"/>
              </a:rPr>
              <a:t>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latin typeface="Roboto"/>
                <a:cs typeface="Roboto"/>
              </a:rPr>
              <a:t>cycles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latin typeface="Roboto"/>
                <a:cs typeface="Roboto"/>
              </a:rPr>
              <a:t>how </a:t>
            </a:r>
            <a:r>
              <a:rPr dirty="0" sz="1800" spc="-15" b="1">
                <a:latin typeface="Roboto"/>
                <a:cs typeface="Roboto"/>
              </a:rPr>
              <a:t>to </a:t>
            </a:r>
            <a:r>
              <a:rPr dirty="0" sz="1800" spc="-5" b="1">
                <a:latin typeface="Roboto"/>
                <a:cs typeface="Roboto"/>
              </a:rPr>
              <a:t>apply  forecasting </a:t>
            </a:r>
            <a:r>
              <a:rPr dirty="0" sz="1800" spc="-10" b="1">
                <a:latin typeface="Roboto"/>
                <a:cs typeface="Roboto"/>
              </a:rPr>
              <a:t>tools </a:t>
            </a:r>
            <a:r>
              <a:rPr dirty="0" sz="1800" spc="-5" b="1">
                <a:latin typeface="Roboto"/>
                <a:cs typeface="Roboto"/>
              </a:rPr>
              <a:t>and models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avoid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these pitfalls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future roles.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goal 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make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data-driven forecasts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 just gut-based decisions,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importantly,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 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quantify the uncertainty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944484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Can </a:t>
            </a: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you </a:t>
            </a:r>
            <a:r>
              <a:rPr dirty="0" sz="3350" spc="-15">
                <a:solidFill>
                  <a:srgbClr val="C2132D"/>
                </a:solidFill>
                <a:latin typeface="Roboto Condensed"/>
                <a:cs typeface="Roboto Condensed"/>
              </a:rPr>
              <a:t>Avoid </a:t>
            </a:r>
            <a:r>
              <a:rPr dirty="0" sz="3350" spc="15">
                <a:solidFill>
                  <a:srgbClr val="C2132D"/>
                </a:solidFill>
                <a:latin typeface="Roboto Condensed"/>
                <a:cs typeface="Roboto Condensed"/>
              </a:rPr>
              <a:t>Common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Forecasting</a:t>
            </a:r>
            <a:r>
              <a:rPr dirty="0" sz="3350" spc="-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Mistakes?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5525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21240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300" y="1673225"/>
            <a:ext cx="9462770" cy="4643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  <a:tab pos="3161665" algn="l"/>
                <a:tab pos="4461510" algn="l"/>
                <a:tab pos="6294755" algn="l"/>
                <a:tab pos="806704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Description	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Your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Logic	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Your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Sol	Class Results	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Fadel's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Logic	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Fadel's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Sol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5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Scenario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business analyst at a hotel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chain.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Problem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tasked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hotel occupancy for the next 11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months.</a:t>
            </a:r>
            <a:endParaRPr sz="1800">
              <a:latin typeface="Roboto"/>
              <a:cs typeface="Roboto"/>
            </a:endParaRPr>
          </a:p>
          <a:p>
            <a:pPr marL="164465" marR="5080" indent="-133985">
              <a:lnSpc>
                <a:spcPct val="116900"/>
              </a:lnSpc>
              <a:spcBef>
                <a:spcPts val="850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access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hotel's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monthly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occupancy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2022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January of  2025. Download the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file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[here]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https://miamioh.instructure.com/courses/240425/files/36340085?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module_item_id=6161473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algn="just" marL="164465" marR="367030" indent="-133985">
              <a:lnSpc>
                <a:spcPct val="116300"/>
              </a:lnSpc>
              <a:spcBef>
                <a:spcPts val="935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Task: </a:t>
            </a:r>
            <a:r>
              <a:rPr dirty="0" sz="1800" b="1">
                <a:latin typeface="Roboto"/>
                <a:cs typeface="Roboto"/>
              </a:rPr>
              <a:t>Without the </a:t>
            </a:r>
            <a:r>
              <a:rPr dirty="0" sz="1800" spc="-5" b="1">
                <a:latin typeface="Roboto"/>
                <a:cs typeface="Roboto"/>
              </a:rPr>
              <a:t>use of </a:t>
            </a:r>
            <a:r>
              <a:rPr dirty="0" sz="1800" b="1">
                <a:latin typeface="Roboto"/>
                <a:cs typeface="Roboto"/>
              </a:rPr>
              <a:t>any AI </a:t>
            </a:r>
            <a:r>
              <a:rPr dirty="0" sz="1800" spc="-5" b="1">
                <a:latin typeface="Roboto"/>
                <a:cs typeface="Roboto"/>
              </a:rPr>
              <a:t>tools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hotel's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occupancy for the  next 11 months.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made 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Excel,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R, or Python. </a:t>
            </a:r>
            <a:r>
              <a:rPr dirty="0" sz="1800" b="1">
                <a:latin typeface="Roboto"/>
                <a:cs typeface="Roboto"/>
              </a:rPr>
              <a:t>Document the</a:t>
            </a:r>
            <a:r>
              <a:rPr dirty="0" sz="1800" spc="-65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process  and </a:t>
            </a:r>
            <a:r>
              <a:rPr dirty="0" sz="1800" b="1">
                <a:latin typeface="Roboto"/>
                <a:cs typeface="Roboto"/>
              </a:rPr>
              <a:t>the </a:t>
            </a:r>
            <a:r>
              <a:rPr dirty="0" sz="1800" spc="-5" b="1">
                <a:latin typeface="Roboto"/>
                <a:cs typeface="Roboto"/>
              </a:rPr>
              <a:t>rationale behind your</a:t>
            </a:r>
            <a:r>
              <a:rPr dirty="0" sz="1800" spc="-15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forecasts.</a:t>
            </a:r>
            <a:endParaRPr sz="1800">
              <a:latin typeface="Roboto"/>
              <a:cs typeface="Roboto"/>
            </a:endParaRPr>
          </a:p>
          <a:p>
            <a:pPr algn="just" marL="164465" marR="35560" indent="-133985">
              <a:lnSpc>
                <a:spcPct val="118100"/>
              </a:lnSpc>
              <a:spcBef>
                <a:spcPts val="825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Non-graded Class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Activity: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Input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logic for the 11-month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quantitative  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February 2025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next 2 tabs,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respectively.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08:00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384" y="2496312"/>
            <a:ext cx="9942830" cy="1463040"/>
          </a:xfrm>
          <a:prstGeom prst="rect">
            <a:avLst/>
          </a:prstGeom>
          <a:solidFill>
            <a:srgbClr val="333333"/>
          </a:solidFill>
        </p:spPr>
        <p:txBody>
          <a:bodyPr wrap="square" lIns="0" tIns="144780" rIns="0" bIns="0" rtlCol="0" vert="horz">
            <a:spAutoFit/>
          </a:bodyPr>
          <a:lstStyle/>
          <a:p>
            <a:pPr algn="ctr" marR="221615">
              <a:lnSpc>
                <a:spcPts val="4520"/>
              </a:lnSpc>
              <a:spcBef>
                <a:spcPts val="1140"/>
              </a:spcBef>
            </a:pPr>
            <a:r>
              <a:rPr dirty="0" sz="4100" spc="-975">
                <a:latin typeface="Roboto Condensed"/>
                <a:cs typeface="Roboto Condensed"/>
              </a:rPr>
              <a:t>T</a:t>
            </a:r>
            <a:r>
              <a:rPr dirty="0" sz="4100" spc="-97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75">
                <a:latin typeface="Roboto Condensed"/>
                <a:cs typeface="Roboto Condensed"/>
              </a:rPr>
              <a:t>y</a:t>
            </a:r>
            <a:r>
              <a:rPr dirty="0" sz="4100" spc="-975">
                <a:solidFill>
                  <a:srgbClr val="FFFFFF"/>
                </a:solidFill>
                <a:latin typeface="Roboto Condensed"/>
                <a:cs typeface="Roboto Condensed"/>
              </a:rPr>
              <a:t>y</a:t>
            </a:r>
            <a:r>
              <a:rPr dirty="0" sz="4100" spc="-975">
                <a:latin typeface="Roboto Condensed"/>
                <a:cs typeface="Roboto Condensed"/>
              </a:rPr>
              <a:t>p</a:t>
            </a:r>
            <a:r>
              <a:rPr dirty="0" sz="4100" spc="-97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975">
                <a:latin typeface="Roboto Condensed"/>
                <a:cs typeface="Roboto Condensed"/>
              </a:rPr>
              <a:t>e</a:t>
            </a:r>
            <a:r>
              <a:rPr dirty="0" sz="4100" spc="-97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75">
                <a:latin typeface="Roboto Condensed"/>
                <a:cs typeface="Roboto Condensed"/>
              </a:rPr>
              <a:t>s</a:t>
            </a:r>
            <a:r>
              <a:rPr dirty="0" sz="4100" spc="-97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40">
                <a:latin typeface="Roboto Condensed"/>
                <a:cs typeface="Roboto Condensed"/>
              </a:rPr>
              <a:t>o</a:t>
            </a:r>
            <a:r>
              <a:rPr dirty="0" sz="4100" spc="-84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40">
                <a:latin typeface="Roboto Condensed"/>
                <a:cs typeface="Roboto Condensed"/>
              </a:rPr>
              <a:t>f</a:t>
            </a:r>
            <a:r>
              <a:rPr dirty="0" sz="4100" spc="-840">
                <a:solidFill>
                  <a:srgbClr val="FFFFFF"/>
                </a:solidFill>
                <a:latin typeface="Roboto Condensed"/>
                <a:cs typeface="Roboto Condensed"/>
              </a:rPr>
              <a:t>f </a:t>
            </a:r>
            <a:r>
              <a:rPr dirty="0" sz="4100" spc="-935"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 </a:t>
            </a:r>
            <a:r>
              <a:rPr dirty="0" sz="4100" spc="-925">
                <a:latin typeface="Roboto Condensed"/>
                <a:cs typeface="Roboto Condensed"/>
              </a:rPr>
              <a:t>O</a:t>
            </a:r>
            <a:r>
              <a:rPr dirty="0" sz="4100" spc="-92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25">
                <a:latin typeface="Roboto Condensed"/>
                <a:cs typeface="Roboto Condensed"/>
              </a:rPr>
              <a:t>v</a:t>
            </a:r>
            <a:r>
              <a:rPr dirty="0" sz="4100" spc="-925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925">
                <a:latin typeface="Roboto Condensed"/>
                <a:cs typeface="Roboto Condensed"/>
              </a:rPr>
              <a:t>e</a:t>
            </a:r>
            <a:r>
              <a:rPr dirty="0" sz="4100" spc="-92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25">
                <a:latin typeface="Roboto Condensed"/>
                <a:cs typeface="Roboto Condensed"/>
              </a:rPr>
              <a:t>r</a:t>
            </a:r>
            <a:r>
              <a:rPr dirty="0" sz="4100" spc="-925">
                <a:solidFill>
                  <a:srgbClr val="FFFFFF"/>
                </a:solidFill>
                <a:latin typeface="Roboto Condensed"/>
                <a:cs typeface="Roboto Condensed"/>
              </a:rPr>
              <a:t>r </a:t>
            </a:r>
            <a:r>
              <a:rPr dirty="0" sz="4100" spc="-1005">
                <a:latin typeface="Roboto Condensed"/>
                <a:cs typeface="Roboto Condensed"/>
              </a:rPr>
              <a:t>T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05">
                <a:latin typeface="Roboto Condensed"/>
                <a:cs typeface="Roboto Condensed"/>
              </a:rPr>
              <a:t>i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1005">
                <a:latin typeface="Roboto Condensed"/>
                <a:cs typeface="Roboto Condensed"/>
              </a:rPr>
              <a:t>m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1005">
                <a:latin typeface="Roboto Condensed"/>
                <a:cs typeface="Roboto Condensed"/>
              </a:rPr>
              <a:t>e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latin typeface="Roboto Condensed"/>
                <a:cs typeface="Roboto Condensed"/>
              </a:rPr>
              <a:t>nd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latin typeface="Roboto Condensed"/>
                <a:cs typeface="Roboto Condensed"/>
              </a:rPr>
              <a:t>th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he</a:t>
            </a:r>
            <a:r>
              <a:rPr dirty="0" sz="4100" spc="-850">
                <a:latin typeface="Roboto Condensed"/>
                <a:cs typeface="Roboto Condensed"/>
              </a:rPr>
              <a:t>e</a:t>
            </a:r>
            <a:r>
              <a:rPr dirty="0" sz="4100" spc="-810">
                <a:latin typeface="Roboto Condensed"/>
                <a:cs typeface="Roboto Condensed"/>
              </a:rPr>
              <a:t> </a:t>
            </a:r>
            <a:r>
              <a:rPr dirty="0" sz="4100" spc="-1115">
                <a:latin typeface="Roboto Condensed"/>
                <a:cs typeface="Roboto Condensed"/>
              </a:rPr>
              <a:t>C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1115">
                <a:latin typeface="Roboto Condensed"/>
                <a:cs typeface="Roboto Condensed"/>
              </a:rPr>
              <a:t>o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om</a:t>
            </a:r>
            <a:r>
              <a:rPr dirty="0" sz="4100" spc="-1115">
                <a:latin typeface="Roboto Condensed"/>
                <a:cs typeface="Roboto Condensed"/>
              </a:rPr>
              <a:t>m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1115">
                <a:latin typeface="Roboto Condensed"/>
                <a:cs typeface="Roboto Condensed"/>
              </a:rPr>
              <a:t>p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1115">
                <a:latin typeface="Roboto Condensed"/>
                <a:cs typeface="Roboto Condensed"/>
              </a:rPr>
              <a:t>o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115">
                <a:latin typeface="Roboto Condensed"/>
                <a:cs typeface="Roboto Condensed"/>
              </a:rPr>
              <a:t>n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1115">
                <a:latin typeface="Roboto Condensed"/>
                <a:cs typeface="Roboto Condensed"/>
              </a:rPr>
              <a:t>e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115">
                <a:latin typeface="Roboto Condensed"/>
                <a:cs typeface="Roboto Condensed"/>
              </a:rPr>
              <a:t>n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115">
                <a:latin typeface="Roboto Condensed"/>
                <a:cs typeface="Roboto Condensed"/>
              </a:rPr>
              <a:t>t</a:t>
            </a:r>
            <a:r>
              <a:rPr dirty="0" sz="4100" spc="-111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1115"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  <a:p>
            <a:pPr algn="ctr" marL="9525">
              <a:lnSpc>
                <a:spcPts val="4520"/>
              </a:lnSpc>
            </a:pPr>
            <a:r>
              <a:rPr dirty="0" sz="4100" spc="-840">
                <a:latin typeface="Roboto Condensed"/>
                <a:cs typeface="Roboto Condensed"/>
              </a:rPr>
              <a:t>o</a:t>
            </a:r>
            <a:r>
              <a:rPr dirty="0" sz="4100" spc="-840">
                <a:solidFill>
                  <a:srgbClr val="FFFFFF"/>
                </a:solidFill>
                <a:latin typeface="Roboto Condensed"/>
                <a:cs typeface="Roboto Condensed"/>
              </a:rPr>
              <a:t>of</a:t>
            </a:r>
            <a:r>
              <a:rPr dirty="0" sz="4100" spc="-840">
                <a:latin typeface="Roboto Condensed"/>
                <a:cs typeface="Roboto Condensed"/>
              </a:rPr>
              <a:t>f     </a:t>
            </a:r>
            <a:r>
              <a:rPr dirty="0" sz="4100" spc="-790">
                <a:latin typeface="Roboto Condensed"/>
                <a:cs typeface="Roboto Condensed"/>
              </a:rPr>
              <a:t> </a:t>
            </a:r>
            <a:r>
              <a:rPr dirty="0" sz="4100" spc="-98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80">
                <a:latin typeface="Roboto Condensed"/>
                <a:cs typeface="Roboto Condensed"/>
              </a:rPr>
              <a:t>a</a:t>
            </a:r>
            <a:r>
              <a:rPr dirty="0" sz="4100" spc="-75">
                <a:latin typeface="Roboto Condensed"/>
                <a:cs typeface="Roboto Condensed"/>
              </a:rPr>
              <a:t> 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05">
                <a:latin typeface="Roboto Condensed"/>
                <a:cs typeface="Roboto Condensed"/>
              </a:rPr>
              <a:t>T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1005">
                <a:latin typeface="Roboto Condensed"/>
                <a:cs typeface="Roboto Condensed"/>
              </a:rPr>
              <a:t>i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1005">
                <a:latin typeface="Roboto Condensed"/>
                <a:cs typeface="Roboto Condensed"/>
              </a:rPr>
              <a:t>m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1005">
                <a:latin typeface="Roboto Condensed"/>
                <a:cs typeface="Roboto Condensed"/>
              </a:rPr>
              <a:t>e</a:t>
            </a:r>
            <a:r>
              <a:rPr dirty="0" sz="4100" spc="5">
                <a:latin typeface="Roboto Condensed"/>
                <a:cs typeface="Roboto Condensed"/>
              </a:rPr>
              <a:t> 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30">
                <a:latin typeface="Roboto Condensed"/>
                <a:cs typeface="Roboto Condensed"/>
              </a:rPr>
              <a:t>S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30">
                <a:latin typeface="Roboto Condensed"/>
                <a:cs typeface="Roboto Condensed"/>
              </a:rPr>
              <a:t>e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30">
                <a:latin typeface="Roboto Condensed"/>
                <a:cs typeface="Roboto Condensed"/>
              </a:rPr>
              <a:t>ri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ie</a:t>
            </a:r>
            <a:r>
              <a:rPr dirty="0" sz="4100" spc="-830">
                <a:latin typeface="Roboto Condensed"/>
                <a:cs typeface="Roboto Condensed"/>
              </a:rPr>
              <a:t>es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56107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Cross-Sectional</a:t>
            </a:r>
            <a:r>
              <a:rPr dirty="0" sz="3350" spc="-2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556750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Cross-sectional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captures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a single point in time for each observation;  e.g.,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all </a:t>
            </a:r>
            <a:r>
              <a:rPr dirty="0" sz="1800" b="1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variables </a:t>
            </a:r>
            <a:r>
              <a:rPr dirty="0" sz="1800" b="1">
                <a:solidFill>
                  <a:srgbClr val="585D60"/>
                </a:solidFill>
                <a:latin typeface="Roboto"/>
                <a:cs typeface="Roboto"/>
              </a:rPr>
              <a:t>within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a given observation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DoL's </a:t>
            </a:r>
            <a:r>
              <a:rPr dirty="0" sz="1800" spc="-2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LCA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Disclosure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Data for 2025 Q3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were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collected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simultaneously.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0699" y="2638424"/>
            <a:ext cx="76200" cy="38100"/>
          </a:xfrm>
          <a:custGeom>
            <a:avLst/>
            <a:gdLst/>
            <a:ahLst/>
            <a:cxnLst/>
            <a:rect l="l" t="t" r="r" b="b"/>
            <a:pathLst>
              <a:path w="76200" h="38100">
                <a:moveTo>
                  <a:pt x="0" y="0"/>
                </a:moveTo>
                <a:lnTo>
                  <a:pt x="38099" y="38099"/>
                </a:lnTo>
                <a:lnTo>
                  <a:pt x="76199" y="0"/>
                </a:lnTo>
              </a:path>
            </a:pathLst>
          </a:custGeom>
          <a:ln w="19049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7312" y="2509837"/>
            <a:ext cx="552450" cy="295275"/>
          </a:xfrm>
          <a:custGeom>
            <a:avLst/>
            <a:gdLst/>
            <a:ahLst/>
            <a:cxnLst/>
            <a:rect l="l" t="t" r="r" b="b"/>
            <a:pathLst>
              <a:path w="552450" h="295275">
                <a:moveTo>
                  <a:pt x="0" y="271462"/>
                </a:move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2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528637" y="0"/>
                </a:lnTo>
                <a:lnTo>
                  <a:pt x="531795" y="0"/>
                </a:lnTo>
                <a:lnTo>
                  <a:pt x="534832" y="604"/>
                </a:lnTo>
                <a:lnTo>
                  <a:pt x="537750" y="1812"/>
                </a:lnTo>
                <a:lnTo>
                  <a:pt x="540667" y="3020"/>
                </a:lnTo>
                <a:lnTo>
                  <a:pt x="543242" y="4741"/>
                </a:lnTo>
                <a:lnTo>
                  <a:pt x="545475" y="6974"/>
                </a:lnTo>
                <a:lnTo>
                  <a:pt x="547708" y="9206"/>
                </a:lnTo>
                <a:lnTo>
                  <a:pt x="549428" y="11782"/>
                </a:lnTo>
                <a:lnTo>
                  <a:pt x="550637" y="14699"/>
                </a:lnTo>
                <a:lnTo>
                  <a:pt x="551845" y="17616"/>
                </a:lnTo>
                <a:lnTo>
                  <a:pt x="552449" y="20654"/>
                </a:lnTo>
                <a:lnTo>
                  <a:pt x="552450" y="23812"/>
                </a:lnTo>
                <a:lnTo>
                  <a:pt x="552450" y="271462"/>
                </a:lnTo>
                <a:lnTo>
                  <a:pt x="528637" y="295274"/>
                </a:lnTo>
                <a:lnTo>
                  <a:pt x="23812" y="295274"/>
                </a:lnTo>
                <a:lnTo>
                  <a:pt x="1812" y="280574"/>
                </a:lnTo>
                <a:lnTo>
                  <a:pt x="604" y="277657"/>
                </a:lnTo>
                <a:lnTo>
                  <a:pt x="0" y="274619"/>
                </a:lnTo>
                <a:lnTo>
                  <a:pt x="0" y="271462"/>
                </a:lnTo>
                <a:close/>
              </a:path>
            </a:pathLst>
          </a:custGeom>
          <a:ln w="9524">
            <a:solidFill>
              <a:srgbClr val="AAAA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1700" y="5713824"/>
            <a:ext cx="209931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Showing 1 </a:t>
            </a:r>
            <a:r>
              <a:rPr dirty="0" sz="1250" spc="-5">
                <a:solidFill>
                  <a:srgbClr val="333333"/>
                </a:solidFill>
                <a:latin typeface="Roboto"/>
                <a:cs typeface="Roboto"/>
              </a:rPr>
              <a:t>to </a:t>
            </a: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7 </a:t>
            </a:r>
            <a:r>
              <a:rPr dirty="0" sz="1250">
                <a:solidFill>
                  <a:srgbClr val="333333"/>
                </a:solidFill>
                <a:latin typeface="Roboto"/>
                <a:cs typeface="Roboto"/>
              </a:rPr>
              <a:t>of </a:t>
            </a: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205</a:t>
            </a:r>
            <a:r>
              <a:rPr dirty="0" sz="125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33333"/>
                </a:solidFill>
                <a:latin typeface="Roboto"/>
                <a:cs typeface="Roboto"/>
              </a:rPr>
              <a:t>entries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9439" y="5723349"/>
            <a:ext cx="64135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666666"/>
                </a:solidFill>
                <a:latin typeface="Roboto"/>
                <a:cs typeface="Roboto"/>
              </a:rPr>
              <a:t>P</a:t>
            </a:r>
            <a:r>
              <a:rPr dirty="0" sz="1250" spc="-15">
                <a:solidFill>
                  <a:srgbClr val="666666"/>
                </a:solidFill>
                <a:latin typeface="Roboto"/>
                <a:cs typeface="Roboto"/>
              </a:rPr>
              <a:t>r</a:t>
            </a:r>
            <a:r>
              <a:rPr dirty="0" sz="1250" spc="-5">
                <a:solidFill>
                  <a:srgbClr val="666666"/>
                </a:solidFill>
                <a:latin typeface="Roboto"/>
                <a:cs typeface="Roboto"/>
              </a:rPr>
              <a:t>e</a:t>
            </a:r>
            <a:r>
              <a:rPr dirty="0" sz="1250">
                <a:solidFill>
                  <a:srgbClr val="666666"/>
                </a:solidFill>
                <a:latin typeface="Roboto"/>
                <a:cs typeface="Roboto"/>
              </a:rPr>
              <a:t>v</a:t>
            </a:r>
            <a:r>
              <a:rPr dirty="0" sz="1250">
                <a:solidFill>
                  <a:srgbClr val="666666"/>
                </a:solidFill>
                <a:latin typeface="Roboto"/>
                <a:cs typeface="Roboto"/>
              </a:rPr>
              <a:t>i</a:t>
            </a:r>
            <a:r>
              <a:rPr dirty="0" sz="1250" spc="5">
                <a:solidFill>
                  <a:srgbClr val="666666"/>
                </a:solidFill>
                <a:latin typeface="Roboto"/>
                <a:cs typeface="Roboto"/>
              </a:rPr>
              <a:t>ou</a:t>
            </a:r>
            <a:r>
              <a:rPr dirty="0" sz="1250" spc="5">
                <a:solidFill>
                  <a:srgbClr val="666666"/>
                </a:solidFill>
                <a:latin typeface="Roboto"/>
                <a:cs typeface="Roboto"/>
              </a:rPr>
              <a:t>s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34175" y="5667375"/>
            <a:ext cx="42862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34175" y="5667375"/>
            <a:ext cx="428625" cy="361950"/>
          </a:xfrm>
          <a:custGeom>
            <a:avLst/>
            <a:gdLst/>
            <a:ahLst/>
            <a:cxnLst/>
            <a:rect l="l" t="t" r="r" b="b"/>
            <a:pathLst>
              <a:path w="428625" h="361950">
                <a:moveTo>
                  <a:pt x="414835" y="361949"/>
                </a:moveTo>
                <a:lnTo>
                  <a:pt x="13789" y="361949"/>
                </a:lnTo>
                <a:lnTo>
                  <a:pt x="9299" y="360089"/>
                </a:lnTo>
                <a:lnTo>
                  <a:pt x="1859" y="352650"/>
                </a:lnTo>
                <a:lnTo>
                  <a:pt x="0" y="348160"/>
                </a:lnTo>
                <a:lnTo>
                  <a:pt x="0" y="13789"/>
                </a:lnTo>
                <a:lnTo>
                  <a:pt x="1859" y="9298"/>
                </a:lnTo>
                <a:lnTo>
                  <a:pt x="9299" y="1859"/>
                </a:lnTo>
                <a:lnTo>
                  <a:pt x="13789" y="0"/>
                </a:lnTo>
                <a:lnTo>
                  <a:pt x="414835" y="0"/>
                </a:lnTo>
                <a:lnTo>
                  <a:pt x="419324" y="1859"/>
                </a:lnTo>
                <a:lnTo>
                  <a:pt x="426764" y="9298"/>
                </a:lnTo>
                <a:lnTo>
                  <a:pt x="426858" y="9524"/>
                </a:lnTo>
                <a:lnTo>
                  <a:pt x="16419" y="9524"/>
                </a:lnTo>
                <a:lnTo>
                  <a:pt x="14174" y="10454"/>
                </a:lnTo>
                <a:lnTo>
                  <a:pt x="10454" y="14173"/>
                </a:lnTo>
                <a:lnTo>
                  <a:pt x="9524" y="16419"/>
                </a:lnTo>
                <a:lnTo>
                  <a:pt x="9524" y="345529"/>
                </a:lnTo>
                <a:lnTo>
                  <a:pt x="10454" y="347775"/>
                </a:lnTo>
                <a:lnTo>
                  <a:pt x="14174" y="351494"/>
                </a:lnTo>
                <a:lnTo>
                  <a:pt x="16419" y="352424"/>
                </a:lnTo>
                <a:lnTo>
                  <a:pt x="426858" y="352424"/>
                </a:lnTo>
                <a:lnTo>
                  <a:pt x="426764" y="352650"/>
                </a:lnTo>
                <a:lnTo>
                  <a:pt x="419324" y="360089"/>
                </a:lnTo>
                <a:lnTo>
                  <a:pt x="414835" y="361949"/>
                </a:lnTo>
                <a:close/>
              </a:path>
              <a:path w="428625" h="361950">
                <a:moveTo>
                  <a:pt x="426858" y="352424"/>
                </a:moveTo>
                <a:lnTo>
                  <a:pt x="412204" y="352424"/>
                </a:lnTo>
                <a:lnTo>
                  <a:pt x="414449" y="351494"/>
                </a:lnTo>
                <a:lnTo>
                  <a:pt x="418169" y="347775"/>
                </a:lnTo>
                <a:lnTo>
                  <a:pt x="419099" y="345529"/>
                </a:lnTo>
                <a:lnTo>
                  <a:pt x="419099" y="16419"/>
                </a:lnTo>
                <a:lnTo>
                  <a:pt x="418169" y="14173"/>
                </a:lnTo>
                <a:lnTo>
                  <a:pt x="414449" y="10454"/>
                </a:lnTo>
                <a:lnTo>
                  <a:pt x="412204" y="9524"/>
                </a:lnTo>
                <a:lnTo>
                  <a:pt x="426858" y="9524"/>
                </a:lnTo>
                <a:lnTo>
                  <a:pt x="428624" y="13789"/>
                </a:lnTo>
                <a:lnTo>
                  <a:pt x="428624" y="348160"/>
                </a:lnTo>
                <a:lnTo>
                  <a:pt x="426858" y="352424"/>
                </a:lnTo>
                <a:close/>
              </a:path>
            </a:pathLst>
          </a:custGeom>
          <a:solidFill>
            <a:srgbClr val="000000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4400" y="2500106"/>
          <a:ext cx="9716135" cy="312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/>
                <a:gridCol w="3251200"/>
                <a:gridCol w="2433319"/>
                <a:gridCol w="1152525"/>
                <a:gridCol w="929640"/>
                <a:gridCol w="918845"/>
              </a:tblGrid>
              <a:tr h="30480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pos="1035685" algn="l"/>
                          <a:tab pos="7280275" algn="l"/>
                        </a:tabLst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Show  </a:t>
                      </a:r>
                      <a:r>
                        <a:rPr dirty="0" sz="1250" spc="4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7	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entries	</a:t>
                      </a:r>
                      <a:r>
                        <a:rPr dirty="0" baseline="2222" sz="187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Search:</a:t>
                      </a:r>
                      <a:endParaRPr baseline="2222" sz="1875">
                        <a:latin typeface="Roboto"/>
                        <a:cs typeface="Roboto"/>
                      </a:endParaRPr>
                    </a:p>
                  </a:txBody>
                  <a:tcPr marL="0" marR="0" marB="0" marT="45720">
                    <a:lnR w="2857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AAAAAA"/>
                      </a:solidFill>
                      <a:prstDash val="solid"/>
                    </a:lnL>
                    <a:lnR w="28575">
                      <a:solidFill>
                        <a:srgbClr val="AAAAAA"/>
                      </a:solidFill>
                      <a:prstDash val="solid"/>
                    </a:lnR>
                    <a:lnT w="28575">
                      <a:solidFill>
                        <a:srgbClr val="AAAAAA"/>
                      </a:solidFill>
                      <a:prstDash val="solid"/>
                    </a:lnT>
                    <a:lnB w="28575">
                      <a:solidFill>
                        <a:srgbClr val="AAAAA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90524">
                <a:tc>
                  <a:txBody>
                    <a:bodyPr/>
                    <a:lstStyle/>
                    <a:p>
                      <a:pPr marL="94615">
                        <a:lnSpc>
                          <a:spcPts val="1025"/>
                        </a:lnSpc>
                        <a:spcBef>
                          <a:spcPts val="660"/>
                        </a:spcBef>
                        <a:tabLst>
                          <a:tab pos="794385" algn="l"/>
                        </a:tabLst>
                      </a:pPr>
                      <a:r>
                        <a:rPr dirty="0" sz="12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Date	</a:t>
                      </a:r>
                      <a:r>
                        <a:rPr dirty="0" baseline="19444" sz="1500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9444" sz="1500">
                        <a:latin typeface="Arial"/>
                        <a:cs typeface="Arial"/>
                      </a:endParaRPr>
                    </a:p>
                    <a:p>
                      <a:pPr algn="r" marR="78105">
                        <a:lnSpc>
                          <a:spcPts val="725"/>
                        </a:lnSpc>
                      </a:pPr>
                      <a:r>
                        <a:rPr dirty="0" sz="100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25"/>
                        </a:lnSpc>
                        <a:spcBef>
                          <a:spcPts val="660"/>
                        </a:spcBef>
                        <a:tabLst>
                          <a:tab pos="3058795" algn="l"/>
                        </a:tabLst>
                      </a:pPr>
                      <a:r>
                        <a:rPr dirty="0" sz="12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Job</a:t>
                      </a:r>
                      <a:r>
                        <a:rPr dirty="0" sz="1250" spc="-3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Title	</a:t>
                      </a:r>
                      <a:r>
                        <a:rPr dirty="0" baseline="19444" sz="1500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9444" sz="1500">
                        <a:latin typeface="Arial"/>
                        <a:cs typeface="Arial"/>
                      </a:endParaRPr>
                    </a:p>
                    <a:p>
                      <a:pPr algn="r" marR="57150">
                        <a:lnSpc>
                          <a:spcPts val="725"/>
                        </a:lnSpc>
                      </a:pPr>
                      <a:r>
                        <a:rPr dirty="0" sz="100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Employer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8382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7645">
                        <a:lnSpc>
                          <a:spcPts val="1025"/>
                        </a:lnSpc>
                        <a:spcBef>
                          <a:spcPts val="660"/>
                        </a:spcBef>
                        <a:tabLst>
                          <a:tab pos="524510" algn="l"/>
                        </a:tabLst>
                      </a:pPr>
                      <a:r>
                        <a:rPr dirty="0" baseline="19444" sz="1500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	</a:t>
                      </a:r>
                      <a:r>
                        <a:rPr dirty="0" sz="1250" spc="-1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WORKSITE_STATE</a:t>
                      </a:r>
                      <a:r>
                        <a:rPr dirty="0" sz="1250" spc="9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baseline="19444" sz="1500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9444" sz="1500">
                        <a:latin typeface="Arial"/>
                        <a:cs typeface="Arial"/>
                      </a:endParaRPr>
                    </a:p>
                    <a:p>
                      <a:pPr marL="207645">
                        <a:lnSpc>
                          <a:spcPts val="725"/>
                        </a:lnSpc>
                        <a:tabLst>
                          <a:tab pos="1915160" algn="l"/>
                        </a:tabLst>
                      </a:pPr>
                      <a:r>
                        <a:rPr dirty="0" sz="1000" spc="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	▼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1025"/>
                        </a:lnSpc>
                        <a:spcBef>
                          <a:spcPts val="660"/>
                        </a:spcBef>
                      </a:pPr>
                      <a:r>
                        <a:rPr dirty="0" sz="1250" spc="5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Salary</a:t>
                      </a:r>
                      <a:r>
                        <a:rPr dirty="0" sz="1250" spc="-13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baseline="19444" sz="1500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9444" sz="1500">
                        <a:latin typeface="Arial"/>
                        <a:cs typeface="Arial"/>
                      </a:endParaRPr>
                    </a:p>
                    <a:p>
                      <a:pPr algn="r" marR="82550">
                        <a:lnSpc>
                          <a:spcPts val="725"/>
                        </a:lnSpc>
                      </a:pPr>
                      <a:r>
                        <a:rPr dirty="0" sz="100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T w="2857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2022-07-15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Assistant</a:t>
                      </a:r>
                      <a:r>
                        <a:rPr dirty="0" sz="12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Professor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The Ohio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State</a:t>
                      </a:r>
                      <a:r>
                        <a:rPr dirty="0" sz="1250" spc="-2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University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$98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004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42899">
                <a:tc gridSpan="6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1111250" algn="l"/>
                          <a:tab pos="4383405" algn="l"/>
                          <a:tab pos="7216140" algn="l"/>
                          <a:tab pos="9030335" algn="l"/>
                        </a:tabLst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2022-10-03	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Postdoctoral</a:t>
                      </a:r>
                      <a:r>
                        <a:rPr dirty="0" sz="1250" spc="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Scholar	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The Ohio</a:t>
                      </a:r>
                      <a:r>
                        <a:rPr dirty="0" sz="1250" spc="1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State</a:t>
                      </a:r>
                      <a:r>
                        <a:rPr dirty="0" sz="1250" spc="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University	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	$63,100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2899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2023-10-19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Lead Data</a:t>
                      </a:r>
                      <a:r>
                        <a:rPr dirty="0" sz="12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Scientist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OCLC,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Inc.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$123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000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52424">
                <a:tc gridSpan="6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1111250" algn="l"/>
                          <a:tab pos="4383405" algn="l"/>
                          <a:tab pos="7216140" algn="l"/>
                          <a:tab pos="8940165" algn="l"/>
                        </a:tabLst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2024-03-27	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Infectious</a:t>
                      </a:r>
                      <a:r>
                        <a:rPr dirty="0" sz="1250" spc="1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Disease</a:t>
                      </a:r>
                      <a:r>
                        <a:rPr dirty="0" sz="1250" spc="1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Physician	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Summa</a:t>
                      </a:r>
                      <a:r>
                        <a:rPr dirty="0" sz="1250" spc="1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Physicians,</a:t>
                      </a:r>
                      <a:r>
                        <a:rPr dirty="0" sz="1250" spc="2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Inc.	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	$211,273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2899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2024-04-01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Research</a:t>
                      </a:r>
                      <a:r>
                        <a:rPr dirty="0" sz="12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Scientist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The Ohio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State</a:t>
                      </a:r>
                      <a:r>
                        <a:rPr dirty="0" sz="1250" spc="-2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University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$72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000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42899">
                <a:tc gridSpan="6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1111250" algn="l"/>
                          <a:tab pos="4383405" algn="l"/>
                          <a:tab pos="7216140" algn="l"/>
                          <a:tab pos="9030335" algn="l"/>
                        </a:tabLst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2024-06-19	System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Administrator	</a:t>
                      </a:r>
                      <a:r>
                        <a:rPr dirty="0" sz="12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Technodrive 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Business</a:t>
                      </a:r>
                      <a:r>
                        <a:rPr dirty="0" sz="1250" spc="4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Solutions,</a:t>
                      </a:r>
                      <a:r>
                        <a:rPr dirty="0" sz="1250" spc="2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Inc.	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	$82,514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2424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2024-08-19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Associate </a:t>
                      </a:r>
                      <a:r>
                        <a:rPr dirty="0" sz="12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Videographer, </a:t>
                      </a:r>
                      <a:r>
                        <a:rPr dirty="0" sz="1250" spc="-1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Editor, </a:t>
                      </a: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&amp;</a:t>
                      </a:r>
                      <a:r>
                        <a:rPr dirty="0" sz="1250" spc="2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Producer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 spc="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shark&amp;minnow</a:t>
                      </a:r>
                      <a:r>
                        <a:rPr dirty="0" sz="12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inc.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3949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OH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$44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dirty="0" sz="12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000</a:t>
                      </a:r>
                      <a:endParaRPr sz="1250">
                        <a:latin typeface="Roboto"/>
                        <a:cs typeface="Roboto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93222" y="5723349"/>
            <a:ext cx="11557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1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1195" y="5723349"/>
            <a:ext cx="11557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2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9167" y="5723349"/>
            <a:ext cx="11557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3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37140" y="5723349"/>
            <a:ext cx="11557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4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5113" y="5723349"/>
            <a:ext cx="55181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31800" algn="l"/>
              </a:tabLst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5</a:t>
            </a: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…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0073" y="5723349"/>
            <a:ext cx="20574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30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97938" y="5723349"/>
            <a:ext cx="35623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N</a:t>
            </a:r>
            <a:r>
              <a:rPr dirty="0" sz="1250" spc="5">
                <a:solidFill>
                  <a:srgbClr val="333333"/>
                </a:solidFill>
                <a:latin typeface="Roboto"/>
                <a:cs typeface="Roboto"/>
              </a:rPr>
              <a:t>ex</a:t>
            </a:r>
            <a:r>
              <a:rPr dirty="0" sz="1250">
                <a:solidFill>
                  <a:srgbClr val="333333"/>
                </a:solidFill>
                <a:latin typeface="Roboto"/>
                <a:cs typeface="Roboto"/>
              </a:rPr>
              <a:t>t</a:t>
            </a:r>
            <a:endParaRPr sz="1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289814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Time Series</a:t>
            </a:r>
            <a:r>
              <a:rPr dirty="0" sz="3350" spc="-6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66533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captures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single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multiple points in time; e.g.,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daily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stock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prices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for Apple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our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simulated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monthly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hotel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occupancy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dataset.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2638" y="2401813"/>
            <a:ext cx="8282922" cy="34480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185356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Panel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Data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51611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Panel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captures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multiple points in time for each observation; e.g., the 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Panel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Study of Income Dynamics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the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World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Bank's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World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Development</a:t>
            </a:r>
            <a:r>
              <a:rPr dirty="0" sz="1800" spc="6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Indicators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471794"/>
            <a:ext cx="22942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Showing 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1 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to 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7 of 30</a:t>
            </a:r>
            <a:r>
              <a:rPr dirty="0" sz="145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entries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7801" y="5481319"/>
            <a:ext cx="7296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666666"/>
                </a:solidFill>
                <a:latin typeface="Roboto"/>
                <a:cs typeface="Roboto"/>
              </a:rPr>
              <a:t>P</a:t>
            </a:r>
            <a:r>
              <a:rPr dirty="0" sz="1450" spc="-20">
                <a:solidFill>
                  <a:srgbClr val="666666"/>
                </a:solidFill>
                <a:latin typeface="Roboto"/>
                <a:cs typeface="Roboto"/>
              </a:rPr>
              <a:t>r</a:t>
            </a:r>
            <a:r>
              <a:rPr dirty="0" sz="1450" spc="-15">
                <a:solidFill>
                  <a:srgbClr val="666666"/>
                </a:solidFill>
                <a:latin typeface="Roboto"/>
                <a:cs typeface="Roboto"/>
              </a:rPr>
              <a:t>e</a:t>
            </a:r>
            <a:r>
              <a:rPr dirty="0" sz="1450" spc="-5">
                <a:solidFill>
                  <a:srgbClr val="666666"/>
                </a:solidFill>
                <a:latin typeface="Roboto"/>
                <a:cs typeface="Roboto"/>
              </a:rPr>
              <a:t>v</a:t>
            </a:r>
            <a:r>
              <a:rPr dirty="0" sz="1450" spc="-5">
                <a:solidFill>
                  <a:srgbClr val="666666"/>
                </a:solidFill>
                <a:latin typeface="Roboto"/>
                <a:cs typeface="Roboto"/>
              </a:rPr>
              <a:t>i</a:t>
            </a:r>
            <a:r>
              <a:rPr dirty="0" sz="1450" spc="-10">
                <a:solidFill>
                  <a:srgbClr val="666666"/>
                </a:solidFill>
                <a:latin typeface="Roboto"/>
                <a:cs typeface="Roboto"/>
              </a:rPr>
              <a:t>ou</a:t>
            </a:r>
            <a:r>
              <a:rPr dirty="0" sz="1450" spc="-5">
                <a:solidFill>
                  <a:srgbClr val="666666"/>
                </a:solidFill>
                <a:latin typeface="Roboto"/>
                <a:cs typeface="Roboto"/>
              </a:rPr>
              <a:t>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15200" y="5410200"/>
            <a:ext cx="485773" cy="4095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15200" y="5410200"/>
            <a:ext cx="485775" cy="409575"/>
          </a:xfrm>
          <a:custGeom>
            <a:avLst/>
            <a:gdLst/>
            <a:ahLst/>
            <a:cxnLst/>
            <a:rect l="l" t="t" r="r" b="b"/>
            <a:pathLst>
              <a:path w="485775" h="409575">
                <a:moveTo>
                  <a:pt x="471985" y="409574"/>
                </a:moveTo>
                <a:lnTo>
                  <a:pt x="13788" y="409574"/>
                </a:lnTo>
                <a:lnTo>
                  <a:pt x="9298" y="407714"/>
                </a:lnTo>
                <a:lnTo>
                  <a:pt x="1859" y="400275"/>
                </a:lnTo>
                <a:lnTo>
                  <a:pt x="0" y="395786"/>
                </a:lnTo>
                <a:lnTo>
                  <a:pt x="0" y="13788"/>
                </a:lnTo>
                <a:lnTo>
                  <a:pt x="1859" y="9298"/>
                </a:lnTo>
                <a:lnTo>
                  <a:pt x="9298" y="1859"/>
                </a:lnTo>
                <a:lnTo>
                  <a:pt x="13788" y="0"/>
                </a:lnTo>
                <a:lnTo>
                  <a:pt x="471985" y="0"/>
                </a:lnTo>
                <a:lnTo>
                  <a:pt x="476474" y="1859"/>
                </a:lnTo>
                <a:lnTo>
                  <a:pt x="483914" y="9298"/>
                </a:lnTo>
                <a:lnTo>
                  <a:pt x="484008" y="9524"/>
                </a:lnTo>
                <a:lnTo>
                  <a:pt x="16419" y="9524"/>
                </a:lnTo>
                <a:lnTo>
                  <a:pt x="14174" y="10454"/>
                </a:lnTo>
                <a:lnTo>
                  <a:pt x="10454" y="14173"/>
                </a:lnTo>
                <a:lnTo>
                  <a:pt x="9524" y="16419"/>
                </a:lnTo>
                <a:lnTo>
                  <a:pt x="9524" y="393155"/>
                </a:lnTo>
                <a:lnTo>
                  <a:pt x="10454" y="395400"/>
                </a:lnTo>
                <a:lnTo>
                  <a:pt x="14174" y="399119"/>
                </a:lnTo>
                <a:lnTo>
                  <a:pt x="16419" y="400049"/>
                </a:lnTo>
                <a:lnTo>
                  <a:pt x="484007" y="400049"/>
                </a:lnTo>
                <a:lnTo>
                  <a:pt x="483914" y="400275"/>
                </a:lnTo>
                <a:lnTo>
                  <a:pt x="476474" y="407714"/>
                </a:lnTo>
                <a:lnTo>
                  <a:pt x="471985" y="409574"/>
                </a:lnTo>
                <a:close/>
              </a:path>
              <a:path w="485775" h="409575">
                <a:moveTo>
                  <a:pt x="484007" y="400049"/>
                </a:moveTo>
                <a:lnTo>
                  <a:pt x="469355" y="400049"/>
                </a:lnTo>
                <a:lnTo>
                  <a:pt x="471599" y="399119"/>
                </a:lnTo>
                <a:lnTo>
                  <a:pt x="475319" y="395400"/>
                </a:lnTo>
                <a:lnTo>
                  <a:pt x="476249" y="393155"/>
                </a:lnTo>
                <a:lnTo>
                  <a:pt x="476249" y="16419"/>
                </a:lnTo>
                <a:lnTo>
                  <a:pt x="475319" y="14173"/>
                </a:lnTo>
                <a:lnTo>
                  <a:pt x="471599" y="10454"/>
                </a:lnTo>
                <a:lnTo>
                  <a:pt x="469355" y="9524"/>
                </a:lnTo>
                <a:lnTo>
                  <a:pt x="484008" y="9524"/>
                </a:lnTo>
                <a:lnTo>
                  <a:pt x="485774" y="13788"/>
                </a:lnTo>
                <a:lnTo>
                  <a:pt x="485774" y="395786"/>
                </a:lnTo>
                <a:lnTo>
                  <a:pt x="484007" y="400049"/>
                </a:lnTo>
                <a:close/>
              </a:path>
            </a:pathLst>
          </a:custGeom>
          <a:solidFill>
            <a:srgbClr val="000000">
              <a:alpha val="3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495530" y="5481319"/>
            <a:ext cx="1282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1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1992" y="5481319"/>
            <a:ext cx="1282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2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08454" y="5481319"/>
            <a:ext cx="1282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3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4916" y="5481319"/>
            <a:ext cx="1282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4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21378" y="5481319"/>
            <a:ext cx="12827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5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27839" y="5481319"/>
            <a:ext cx="40386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N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ex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t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85850" y="5210175"/>
            <a:ext cx="9353550" cy="142875"/>
          </a:xfrm>
          <a:custGeom>
            <a:avLst/>
            <a:gdLst/>
            <a:ahLst/>
            <a:cxnLst/>
            <a:rect l="l" t="t" r="r" b="b"/>
            <a:pathLst>
              <a:path w="9353550" h="142875">
                <a:moveTo>
                  <a:pt x="0" y="0"/>
                </a:moveTo>
                <a:lnTo>
                  <a:pt x="9353549" y="0"/>
                </a:lnTo>
                <a:lnTo>
                  <a:pt x="9353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85849" y="5238749"/>
            <a:ext cx="5829300" cy="85725"/>
          </a:xfrm>
          <a:custGeom>
            <a:avLst/>
            <a:gdLst/>
            <a:ahLst/>
            <a:cxnLst/>
            <a:rect l="l" t="t" r="r" b="b"/>
            <a:pathLst>
              <a:path w="5829300" h="85725">
                <a:moveTo>
                  <a:pt x="5792121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5792121" y="0"/>
                </a:lnTo>
                <a:lnTo>
                  <a:pt x="5823861" y="21207"/>
                </a:lnTo>
                <a:lnTo>
                  <a:pt x="5829299" y="37178"/>
                </a:lnTo>
                <a:lnTo>
                  <a:pt x="5829299" y="48546"/>
                </a:lnTo>
                <a:lnTo>
                  <a:pt x="5808091" y="80286"/>
                </a:lnTo>
                <a:lnTo>
                  <a:pt x="579212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01700" y="6104730"/>
            <a:ext cx="328422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queried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from the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World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Bank Data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85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wbstats</a:t>
            </a:r>
            <a:endParaRPr sz="8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4259" y="6104730"/>
            <a:ext cx="573468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 R.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printed results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show a snapshot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7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variables (out 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much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larger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panel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dataset).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think of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panel</a:t>
            </a:r>
            <a:endParaRPr sz="85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1700" y="6266655"/>
            <a:ext cx="34988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as 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cross-sectional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dataset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longitudinal/time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component.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00822" y="6141094"/>
            <a:ext cx="97928" cy="979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914400" y="2190750"/>
          <a:ext cx="9701530" cy="317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370"/>
                <a:gridCol w="712470"/>
                <a:gridCol w="784860"/>
                <a:gridCol w="2030095"/>
                <a:gridCol w="1562100"/>
                <a:gridCol w="1584325"/>
                <a:gridCol w="1789429"/>
                <a:gridCol w="933450"/>
              </a:tblGrid>
              <a:tr h="4143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spc="5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iso3c</a:t>
                      </a:r>
                      <a:r>
                        <a:rPr dirty="0" baseline="16908" sz="1725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10795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spc="5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date</a:t>
                      </a:r>
                      <a:r>
                        <a:rPr dirty="0" baseline="16908" sz="1725" spc="7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91440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spc="-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NY.GDP.MKTP.KD.ZG</a:t>
                      </a:r>
                      <a:r>
                        <a:rPr dirty="0" baseline="16908" sz="1725" spc="-7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86995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spc="-1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SH.DYN.NMRT</a:t>
                      </a:r>
                      <a:r>
                        <a:rPr dirty="0" baseline="16908" sz="1725" spc="-1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86995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spc="-2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SH.HIV.INCD.ZS</a:t>
                      </a:r>
                      <a:r>
                        <a:rPr dirty="0" baseline="16908" sz="1725" spc="-3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10795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spc="-1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SH.MED.BEDS.ZS</a:t>
                      </a:r>
                      <a:r>
                        <a:rPr dirty="0" baseline="16908" sz="1725" spc="-1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10795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50" spc="-2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SH.MED.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19050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762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9144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2015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5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.3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.8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71474">
                <a:tc gridSpan="3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387985" algn="l"/>
                          <a:tab pos="1279525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	</a:t>
                      </a: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	</a:t>
                      </a: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2016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168084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3242945" algn="l"/>
                          <a:tab pos="6693534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6.8	4.9	4.1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2017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6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.9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4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4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.3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71474">
                <a:tc gridSpan="3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387985" algn="l"/>
                          <a:tab pos="1279525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4	</a:t>
                      </a: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	</a:t>
                      </a: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2018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168084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3242945" algn="l"/>
                          <a:tab pos="6693534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6.8	4.1	4.6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14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2019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6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.8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4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.8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71474">
                <a:tc gridSpan="3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387985" algn="l"/>
                          <a:tab pos="1279525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6	</a:t>
                      </a: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	</a:t>
                      </a: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2020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168084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3242945" algn="l"/>
                          <a:tab pos="6844665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2.3	3.5	5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67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CHN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2021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8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3</a:t>
                      </a: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.2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147637">
                <a:tc gridSpan="8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9577070" algn="l"/>
                        </a:tabLst>
                      </a:pPr>
                      <a:r>
                        <a:rPr dirty="0" sz="650" spc="25">
                          <a:solidFill>
                            <a:srgbClr val="8B8B8B"/>
                          </a:solidFill>
                          <a:latin typeface="Segoe Fluent Icons"/>
                          <a:cs typeface="Segoe Fluent Icons"/>
                        </a:rPr>
                        <a:t>	</a:t>
                      </a:r>
                      <a:endParaRPr sz="650">
                        <a:latin typeface="Segoe Fluent Icons"/>
                        <a:cs typeface="Segoe Fluent Icons"/>
                      </a:endParaRPr>
                    </a:p>
                  </a:txBody>
                  <a:tcPr marL="0" marR="0" marB="0" marT="3175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72845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Components of Time Series Data:</a:t>
            </a:r>
            <a:r>
              <a:rPr dirty="0" sz="3350" spc="-180">
                <a:latin typeface="Roboto Condensed"/>
                <a:cs typeface="Roboto Condensed"/>
              </a:rPr>
              <a:t> </a:t>
            </a:r>
            <a:r>
              <a:rPr dirty="0" sz="3350" spc="-20">
                <a:latin typeface="Roboto Condensed"/>
                <a:cs typeface="Roboto Condensed"/>
              </a:rPr>
              <a:t>Trend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644525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Trend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long-term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increasing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decreasing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pattern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Example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US GDP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has a long-term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upward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1364" y="2516331"/>
            <a:ext cx="9497903" cy="3565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73557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Components of Time Series Data:</a:t>
            </a:r>
            <a:r>
              <a:rPr dirty="0" sz="3350" spc="-10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Seasonality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84349"/>
            <a:ext cx="9493885" cy="988694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7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Seasonality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refers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property of a time series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displays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REGULAR patterns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repeat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a constant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frequency </a:t>
            </a:r>
            <a:r>
              <a:rPr dirty="0" sz="1800" spc="50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50" spc="50" i="1">
                <a:solidFill>
                  <a:srgbClr val="585D60"/>
                </a:solidFill>
                <a:latin typeface="Gill Sans MT"/>
                <a:cs typeface="Gill Sans MT"/>
              </a:rPr>
              <a:t>m</a:t>
            </a:r>
            <a:r>
              <a:rPr dirty="0" sz="1800" spc="50">
                <a:solidFill>
                  <a:srgbClr val="585D60"/>
                </a:solidFill>
                <a:latin typeface="Roboto"/>
                <a:cs typeface="Roboto"/>
              </a:rPr>
              <a:t>).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number of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retail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trade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workers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has a seasonal  pattern (with 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upward trend).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1364" y="2602056"/>
            <a:ext cx="9497903" cy="3565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919924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Components of Time Series Data: Multiple</a:t>
            </a:r>
            <a:r>
              <a:rPr dirty="0" sz="3350" spc="-10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Seasonality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10844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Multiple seasonality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refers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property of a time series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displays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 seasonal  patterns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repeat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frequencies.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5960" y="2274760"/>
            <a:ext cx="8920733" cy="4090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689292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Components of Time Series Data:</a:t>
            </a:r>
            <a:r>
              <a:rPr dirty="0" sz="3350" spc="-10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Cycles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147810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Cycles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property of a time series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displays irregular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patterns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repeat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irregular frequencies.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US </a:t>
            </a:r>
            <a:r>
              <a:rPr dirty="0" sz="1800" spc="-2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Total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Vehicle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Sales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has business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cycles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influenced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economic conditions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advancements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vehicle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technologies.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1364" y="2602056"/>
            <a:ext cx="9497903" cy="3565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689292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Components of Time Series Data:</a:t>
            </a:r>
            <a:r>
              <a:rPr dirty="0" sz="3350" spc="-10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Cycles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147810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Cycles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property of a time series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displays irregular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patterns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repeat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irregular frequencies.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US </a:t>
            </a:r>
            <a:r>
              <a:rPr dirty="0" sz="1800" spc="-2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Total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Vehicle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Sales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has business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cycles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influenced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economic conditions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advancements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vehicle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technologies.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1364" y="2602056"/>
            <a:ext cx="9497903" cy="3565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0666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0">
                <a:latin typeface="Roboto Condensed"/>
                <a:cs typeface="Roboto Condensed"/>
              </a:rPr>
              <a:t>Kahoot Competition</a:t>
            </a:r>
            <a:r>
              <a:rPr dirty="0" sz="4100" spc="-50">
                <a:latin typeface="Roboto Condensed"/>
                <a:cs typeface="Roboto Condensed"/>
              </a:rPr>
              <a:t> </a:t>
            </a:r>
            <a:r>
              <a:rPr dirty="0" sz="4100" spc="10">
                <a:latin typeface="Roboto Condensed"/>
                <a:cs typeface="Roboto Condensed"/>
              </a:rPr>
              <a:t>#01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627235" cy="446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4139">
              <a:lnSpc>
                <a:spcPct val="118100"/>
              </a:lnSpc>
              <a:spcBef>
                <a:spcPts val="100"/>
              </a:spcBef>
            </a:pP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assess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understanding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retention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covered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far,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compete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 Kahoot competition (consisting of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5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 questions)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https://kahoot.it/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Enter the game pin, which will be shown during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 your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(preferred)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last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name</a:t>
            </a:r>
            <a:endParaRPr sz="1800">
              <a:latin typeface="Roboto"/>
              <a:cs typeface="Roboto"/>
            </a:endParaRPr>
          </a:p>
          <a:p>
            <a:pPr marL="393065" marR="297815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Answer each question within the allocated 20-second window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fast and correct answers 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provide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more points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)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Roboto"/>
              <a:cs typeface="Roboto"/>
            </a:endParaRPr>
          </a:p>
          <a:p>
            <a:pPr marL="12700" marR="5080">
              <a:lnSpc>
                <a:spcPct val="114599"/>
              </a:lnSpc>
              <a:tabLst>
                <a:tab pos="614299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Winning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competition involves having as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many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correct answers as possible 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taking the 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shortest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duration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answer these questions.</a:t>
            </a:r>
            <a:r>
              <a:rPr dirty="0" sz="1800" spc="3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winner	of the competition will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receive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0.15 bonus 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Assignment 01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 Good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luck!!!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34175" y="5363104"/>
            <a:ext cx="256540" cy="227965"/>
          </a:xfrm>
          <a:custGeom>
            <a:avLst/>
            <a:gdLst/>
            <a:ahLst/>
            <a:cxnLst/>
            <a:rect l="l" t="t" r="r" b="b"/>
            <a:pathLst>
              <a:path w="256540" h="227964">
                <a:moveTo>
                  <a:pt x="198387" y="28442"/>
                </a:moveTo>
                <a:lnTo>
                  <a:pt x="57596" y="28442"/>
                </a:lnTo>
                <a:lnTo>
                  <a:pt x="57463" y="26131"/>
                </a:lnTo>
                <a:lnTo>
                  <a:pt x="57285" y="21420"/>
                </a:lnTo>
                <a:lnTo>
                  <a:pt x="58712" y="13124"/>
                </a:lnTo>
                <a:lnTo>
                  <a:pt x="63168" y="6310"/>
                </a:lnTo>
                <a:lnTo>
                  <a:pt x="69915" y="1697"/>
                </a:lnTo>
                <a:lnTo>
                  <a:pt x="78217" y="0"/>
                </a:lnTo>
                <a:lnTo>
                  <a:pt x="177766" y="0"/>
                </a:lnTo>
                <a:lnTo>
                  <a:pt x="186068" y="1697"/>
                </a:lnTo>
                <a:lnTo>
                  <a:pt x="192816" y="6310"/>
                </a:lnTo>
                <a:lnTo>
                  <a:pt x="197271" y="13124"/>
                </a:lnTo>
                <a:lnTo>
                  <a:pt x="198698" y="21420"/>
                </a:lnTo>
                <a:lnTo>
                  <a:pt x="198521" y="26131"/>
                </a:lnTo>
                <a:lnTo>
                  <a:pt x="198387" y="28442"/>
                </a:lnTo>
                <a:close/>
              </a:path>
              <a:path w="256540" h="227964">
                <a:moveTo>
                  <a:pt x="149768" y="199098"/>
                </a:moveTo>
                <a:lnTo>
                  <a:pt x="106215" y="199098"/>
                </a:lnTo>
                <a:lnTo>
                  <a:pt x="113770" y="191543"/>
                </a:lnTo>
                <a:lnTo>
                  <a:pt x="113770" y="182255"/>
                </a:lnTo>
                <a:lnTo>
                  <a:pt x="81977" y="157357"/>
                </a:lnTo>
                <a:lnTo>
                  <a:pt x="66323" y="150496"/>
                </a:lnTo>
                <a:lnTo>
                  <a:pt x="34886" y="128303"/>
                </a:lnTo>
                <a:lnTo>
                  <a:pt x="9943" y="91855"/>
                </a:lnTo>
                <a:lnTo>
                  <a:pt x="0" y="39108"/>
                </a:lnTo>
                <a:lnTo>
                  <a:pt x="0" y="33197"/>
                </a:lnTo>
                <a:lnTo>
                  <a:pt x="4755" y="28442"/>
                </a:lnTo>
                <a:lnTo>
                  <a:pt x="251229" y="28442"/>
                </a:lnTo>
                <a:lnTo>
                  <a:pt x="255984" y="33197"/>
                </a:lnTo>
                <a:lnTo>
                  <a:pt x="255984" y="39108"/>
                </a:lnTo>
                <a:lnTo>
                  <a:pt x="254999" y="49774"/>
                </a:lnTo>
                <a:lnTo>
                  <a:pt x="21776" y="49774"/>
                </a:lnTo>
                <a:lnTo>
                  <a:pt x="25088" y="70142"/>
                </a:lnTo>
                <a:lnTo>
                  <a:pt x="49774" y="113015"/>
                </a:lnTo>
                <a:lnTo>
                  <a:pt x="82306" y="134480"/>
                </a:lnTo>
                <a:lnTo>
                  <a:pt x="213621" y="134480"/>
                </a:lnTo>
                <a:lnTo>
                  <a:pt x="205733" y="140960"/>
                </a:lnTo>
                <a:lnTo>
                  <a:pt x="189699" y="150496"/>
                </a:lnTo>
                <a:lnTo>
                  <a:pt x="174032" y="157357"/>
                </a:lnTo>
                <a:lnTo>
                  <a:pt x="159723" y="161990"/>
                </a:lnTo>
                <a:lnTo>
                  <a:pt x="152560" y="165150"/>
                </a:lnTo>
                <a:lnTo>
                  <a:pt x="147042" y="169939"/>
                </a:lnTo>
                <a:lnTo>
                  <a:pt x="143479" y="175820"/>
                </a:lnTo>
                <a:lnTo>
                  <a:pt x="142213" y="182255"/>
                </a:lnTo>
                <a:lnTo>
                  <a:pt x="142213" y="191543"/>
                </a:lnTo>
                <a:lnTo>
                  <a:pt x="149768" y="199098"/>
                </a:lnTo>
                <a:close/>
              </a:path>
              <a:path w="256540" h="227964">
                <a:moveTo>
                  <a:pt x="173722" y="134480"/>
                </a:moveTo>
                <a:lnTo>
                  <a:pt x="82306" y="134480"/>
                </a:lnTo>
                <a:lnTo>
                  <a:pt x="75014" y="119320"/>
                </a:lnTo>
                <a:lnTo>
                  <a:pt x="68506" y="100427"/>
                </a:lnTo>
                <a:lnTo>
                  <a:pt x="63132" y="77384"/>
                </a:lnTo>
                <a:lnTo>
                  <a:pt x="59240" y="49774"/>
                </a:lnTo>
                <a:lnTo>
                  <a:pt x="196787" y="49774"/>
                </a:lnTo>
                <a:lnTo>
                  <a:pt x="192896" y="77384"/>
                </a:lnTo>
                <a:lnTo>
                  <a:pt x="187521" y="100427"/>
                </a:lnTo>
                <a:lnTo>
                  <a:pt x="181013" y="119320"/>
                </a:lnTo>
                <a:lnTo>
                  <a:pt x="173722" y="134480"/>
                </a:lnTo>
                <a:close/>
              </a:path>
              <a:path w="256540" h="227964">
                <a:moveTo>
                  <a:pt x="213621" y="134480"/>
                </a:moveTo>
                <a:lnTo>
                  <a:pt x="173722" y="134480"/>
                </a:lnTo>
                <a:lnTo>
                  <a:pt x="182074" y="130426"/>
                </a:lnTo>
                <a:lnTo>
                  <a:pt x="190405" y="125547"/>
                </a:lnTo>
                <a:lnTo>
                  <a:pt x="198527" y="119769"/>
                </a:lnTo>
                <a:lnTo>
                  <a:pt x="206254" y="113015"/>
                </a:lnTo>
                <a:lnTo>
                  <a:pt x="216335" y="101446"/>
                </a:lnTo>
                <a:lnTo>
                  <a:pt x="224764" y="87261"/>
                </a:lnTo>
                <a:lnTo>
                  <a:pt x="230959" y="70142"/>
                </a:lnTo>
                <a:lnTo>
                  <a:pt x="234296" y="49774"/>
                </a:lnTo>
                <a:lnTo>
                  <a:pt x="254999" y="49774"/>
                </a:lnTo>
                <a:lnTo>
                  <a:pt x="253346" y="67675"/>
                </a:lnTo>
                <a:lnTo>
                  <a:pt x="246046" y="91855"/>
                </a:lnTo>
                <a:lnTo>
                  <a:pt x="235004" y="111960"/>
                </a:lnTo>
                <a:lnTo>
                  <a:pt x="221142" y="128303"/>
                </a:lnTo>
                <a:lnTo>
                  <a:pt x="213621" y="134480"/>
                </a:lnTo>
                <a:close/>
              </a:path>
              <a:path w="256540" h="227964">
                <a:moveTo>
                  <a:pt x="178522" y="227541"/>
                </a:moveTo>
                <a:lnTo>
                  <a:pt x="77461" y="227541"/>
                </a:lnTo>
                <a:lnTo>
                  <a:pt x="71106" y="221186"/>
                </a:lnTo>
                <a:lnTo>
                  <a:pt x="71106" y="205454"/>
                </a:lnTo>
                <a:lnTo>
                  <a:pt x="77461" y="199098"/>
                </a:lnTo>
                <a:lnTo>
                  <a:pt x="178522" y="199098"/>
                </a:lnTo>
                <a:lnTo>
                  <a:pt x="184877" y="205454"/>
                </a:lnTo>
                <a:lnTo>
                  <a:pt x="184877" y="221186"/>
                </a:lnTo>
                <a:lnTo>
                  <a:pt x="178522" y="227541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077108"/>
            <a:ext cx="935545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-30" b="1">
                <a:solidFill>
                  <a:srgbClr val="C2132D"/>
                </a:solidFill>
                <a:latin typeface="Roboto"/>
                <a:cs typeface="Roboto"/>
              </a:rPr>
              <a:t>P.S: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Kahoot competition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will have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no impact on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your grade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fun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way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assessing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knowledge,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motivating you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ask questions about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topics covered that you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 not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full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understanding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providing </a:t>
            </a:r>
            <a:r>
              <a:rPr dirty="0" sz="850" spc="20">
                <a:solidFill>
                  <a:srgbClr val="585D60"/>
                </a:solidFill>
                <a:latin typeface="Roboto"/>
                <a:cs typeface="Roboto"/>
              </a:rPr>
              <a:t>me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some 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use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pace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today's</a:t>
            </a:r>
            <a:r>
              <a:rPr dirty="0" sz="85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class.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21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8504" y="2758440"/>
            <a:ext cx="649859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105"/>
              </a:spcBef>
            </a:pP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 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-86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4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4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6193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The Idea of a Data </a:t>
            </a:r>
            <a:r>
              <a:rPr dirty="0" sz="3350" spc="5">
                <a:latin typeface="Roboto Condensed"/>
                <a:cs typeface="Roboto Condensed"/>
              </a:rPr>
              <a:t>Generating Process</a:t>
            </a:r>
            <a:r>
              <a:rPr dirty="0" sz="3350" spc="-7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(DGP)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3035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53670" algn="l"/>
              </a:tabLst>
            </a:pPr>
            <a:r>
              <a:rPr dirty="0"/>
              <a:t>A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series </a:t>
            </a:r>
            <a:r>
              <a:rPr dirty="0"/>
              <a:t>is </a:t>
            </a:r>
            <a:r>
              <a:rPr dirty="0" spc="-10"/>
              <a:t>defined </a:t>
            </a:r>
            <a:r>
              <a:rPr dirty="0"/>
              <a:t>as a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sequence of observations </a:t>
            </a:r>
            <a:r>
              <a:rPr dirty="0" spc="-5"/>
              <a:t>recorded </a:t>
            </a:r>
            <a:r>
              <a:rPr dirty="0"/>
              <a:t>at </a:t>
            </a:r>
            <a:r>
              <a:rPr dirty="0" spc="-5"/>
              <a:t>regular </a:t>
            </a:r>
            <a:r>
              <a:rPr dirty="0"/>
              <a:t>time</a:t>
            </a:r>
            <a:r>
              <a:rPr dirty="0" spc="80"/>
              <a:t> </a:t>
            </a:r>
            <a:r>
              <a:rPr dirty="0"/>
              <a:t>intervals.</a:t>
            </a:r>
          </a:p>
          <a:p>
            <a:pPr marL="153035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3670" algn="l"/>
              </a:tabLst>
            </a:pPr>
            <a:r>
              <a:rPr dirty="0"/>
              <a:t>Any time series is </a:t>
            </a:r>
            <a:r>
              <a:rPr dirty="0" spc="-5"/>
              <a:t>generated by </a:t>
            </a:r>
            <a:r>
              <a:rPr dirty="0"/>
              <a:t>some kind of mechanism, which is often </a:t>
            </a:r>
            <a:r>
              <a:rPr dirty="0" spc="-10"/>
              <a:t>referred to </a:t>
            </a:r>
            <a:r>
              <a:rPr dirty="0"/>
              <a:t>as a</a:t>
            </a:r>
          </a:p>
          <a:p>
            <a:pPr marL="153035">
              <a:lnSpc>
                <a:spcPct val="100000"/>
              </a:lnSpc>
              <a:spcBef>
                <a:spcPts val="390"/>
              </a:spcBef>
            </a:pP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data generating process (GDP)</a:t>
            </a:r>
            <a:r>
              <a:rPr dirty="0" spc="-5"/>
              <a:t>. </a:t>
            </a:r>
            <a:r>
              <a:rPr dirty="0" spc="-10"/>
              <a:t>For </a:t>
            </a:r>
            <a:r>
              <a:rPr dirty="0"/>
              <a:t>example, the hotel occupancy dataset is impacted</a:t>
            </a:r>
            <a:r>
              <a:rPr dirty="0" spc="15"/>
              <a:t> </a:t>
            </a:r>
            <a:r>
              <a:rPr dirty="0" spc="-5"/>
              <a:t>by:</a:t>
            </a:r>
          </a:p>
          <a:p>
            <a:pPr lvl="1" marL="534035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Roboto"/>
              <a:buChar char="•"/>
              <a:tabLst>
                <a:tab pos="534670" algn="l"/>
              </a:tabLst>
            </a:pPr>
            <a:r>
              <a:rPr dirty="0" sz="1800" spc="-5" b="1">
                <a:latin typeface="Roboto"/>
                <a:cs typeface="Roboto"/>
              </a:rPr>
              <a:t>season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latin typeface="Roboto"/>
                <a:cs typeface="Roboto"/>
              </a:rPr>
              <a:t>holidays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latin typeface="Roboto"/>
                <a:cs typeface="Roboto"/>
              </a:rPr>
              <a:t>economic conditions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latin typeface="Roboto"/>
                <a:cs typeface="Roboto"/>
              </a:rPr>
              <a:t>marketing</a:t>
            </a:r>
            <a:r>
              <a:rPr dirty="0" sz="1800" spc="25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campaigns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;</a:t>
            </a:r>
            <a:endParaRPr sz="1800">
              <a:latin typeface="Roboto"/>
              <a:cs typeface="Roboto"/>
            </a:endParaRPr>
          </a:p>
          <a:p>
            <a:pPr lvl="1" marL="534035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Roboto"/>
              <a:buChar char="•"/>
              <a:tabLst>
                <a:tab pos="534670" algn="l"/>
              </a:tabLst>
            </a:pPr>
            <a:r>
              <a:rPr dirty="0" sz="1800" b="1">
                <a:latin typeface="Roboto"/>
                <a:cs typeface="Roboto"/>
              </a:rPr>
              <a:t>number </a:t>
            </a:r>
            <a:r>
              <a:rPr dirty="0" sz="1800" spc="-5" b="1">
                <a:latin typeface="Roboto"/>
                <a:cs typeface="Roboto"/>
              </a:rPr>
              <a:t>of rooms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10" b="1">
                <a:latin typeface="Roboto"/>
                <a:cs typeface="Roboto"/>
              </a:rPr>
              <a:t>room </a:t>
            </a:r>
            <a:r>
              <a:rPr dirty="0" sz="1800" spc="-5" b="1">
                <a:latin typeface="Roboto"/>
                <a:cs typeface="Roboto"/>
              </a:rPr>
              <a:t>rates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latin typeface="Roboto"/>
                <a:cs typeface="Roboto"/>
              </a:rPr>
              <a:t>customer</a:t>
            </a:r>
            <a:r>
              <a:rPr dirty="0" sz="1800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satisfaction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;</a:t>
            </a:r>
            <a:endParaRPr sz="1800">
              <a:latin typeface="Roboto"/>
              <a:cs typeface="Roboto"/>
            </a:endParaRPr>
          </a:p>
          <a:p>
            <a:pPr lvl="1" marL="534035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Roboto"/>
              <a:buChar char="•"/>
              <a:tabLst>
                <a:tab pos="534670" algn="l"/>
              </a:tabLst>
            </a:pPr>
            <a:r>
              <a:rPr dirty="0" sz="1800" b="1">
                <a:latin typeface="Roboto"/>
                <a:cs typeface="Roboto"/>
              </a:rPr>
              <a:t>weather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latin typeface="Roboto"/>
                <a:cs typeface="Roboto"/>
              </a:rPr>
              <a:t>local events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latin typeface="Roboto"/>
                <a:cs typeface="Roboto"/>
              </a:rPr>
              <a:t>competition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;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and</a:t>
            </a:r>
            <a:endParaRPr sz="1800">
              <a:latin typeface="Roboto"/>
              <a:cs typeface="Roboto"/>
            </a:endParaRPr>
          </a:p>
          <a:p>
            <a:pPr lvl="1" marL="534035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Roboto"/>
              <a:buChar char="•"/>
              <a:tabLst>
                <a:tab pos="534670" algn="l"/>
              </a:tabLst>
            </a:pPr>
            <a:r>
              <a:rPr dirty="0" sz="1800" b="1">
                <a:latin typeface="Roboto"/>
                <a:cs typeface="Roboto"/>
              </a:rPr>
              <a:t>number </a:t>
            </a:r>
            <a:r>
              <a:rPr dirty="0" sz="1800" spc="-5" b="1">
                <a:latin typeface="Roboto"/>
                <a:cs typeface="Roboto"/>
              </a:rPr>
              <a:t>of </a:t>
            </a:r>
            <a:r>
              <a:rPr dirty="0" sz="1800" spc="-10" b="1">
                <a:latin typeface="Roboto"/>
                <a:cs typeface="Roboto"/>
              </a:rPr>
              <a:t>rooms </a:t>
            </a:r>
            <a:r>
              <a:rPr dirty="0" sz="1800" spc="-5" b="1">
                <a:latin typeface="Roboto"/>
                <a:cs typeface="Roboto"/>
              </a:rPr>
              <a:t>already booked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10" b="1">
                <a:latin typeface="Roboto"/>
                <a:cs typeface="Roboto"/>
              </a:rPr>
              <a:t>room </a:t>
            </a:r>
            <a:r>
              <a:rPr dirty="0" sz="1800" spc="-5" b="1">
                <a:latin typeface="Roboto"/>
                <a:cs typeface="Roboto"/>
              </a:rPr>
              <a:t>cancellations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no-shows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53035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3670" algn="l"/>
              </a:tabLst>
            </a:pPr>
            <a:r>
              <a:rPr dirty="0"/>
              <a:t>The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DGP </a:t>
            </a:r>
            <a:r>
              <a:rPr dirty="0"/>
              <a:t>is the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underlying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theoretical mechanism </a:t>
            </a:r>
            <a:r>
              <a:rPr dirty="0"/>
              <a:t>that </a:t>
            </a:r>
            <a:r>
              <a:rPr dirty="0" spc="-5"/>
              <a:t>generates </a:t>
            </a:r>
            <a:r>
              <a:rPr dirty="0"/>
              <a:t>the data we observe.</a:t>
            </a:r>
          </a:p>
          <a:p>
            <a:pPr lvl="1" marL="534035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3467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Accounts for both systematic patterns (e.g.,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seasonality) and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randomness.</a:t>
            </a:r>
            <a:endParaRPr sz="1800">
              <a:latin typeface="Roboto"/>
              <a:cs typeface="Roboto"/>
            </a:endParaRPr>
          </a:p>
          <a:p>
            <a:pPr marL="153035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53670" algn="l"/>
              </a:tabLst>
            </a:pP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But</a:t>
            </a:r>
            <a:r>
              <a:rPr dirty="0"/>
              <a:t>: In </a:t>
            </a:r>
            <a:r>
              <a:rPr dirty="0" spc="-5"/>
              <a:t>real-world </a:t>
            </a:r>
            <a:r>
              <a:rPr dirty="0"/>
              <a:t>settings, </a:t>
            </a:r>
            <a:r>
              <a:rPr dirty="0" spc="-5"/>
              <a:t>there </a:t>
            </a:r>
            <a:r>
              <a:rPr dirty="0"/>
              <a:t>is often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no perfectly known</a:t>
            </a:r>
            <a:r>
              <a:rPr dirty="0" spc="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pc="-75"/>
              <a:t>DGP.</a:t>
            </a:r>
          </a:p>
          <a:p>
            <a:pPr lvl="1" marL="534035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3467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Any formula or model we write is 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approximation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unknowable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“truth.”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23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654175"/>
            <a:ext cx="4134485" cy="471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map </a:t>
            </a:r>
            <a:r>
              <a:rPr dirty="0" sz="1800" b="1">
                <a:solidFill>
                  <a:srgbClr val="C2132D"/>
                </a:solidFill>
                <a:latin typeface="Arial"/>
                <a:cs typeface="Arial"/>
              </a:rPr>
              <a:t>≠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</a:t>
            </a:r>
            <a:r>
              <a:rPr dirty="0" sz="1800" spc="-6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territory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marR="132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maps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navigate,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always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simplified.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Similarly,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≠</a:t>
            </a: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reality</a:t>
            </a:r>
            <a:endParaRPr sz="1800">
              <a:latin typeface="Roboto"/>
              <a:cs typeface="Roboto"/>
            </a:endParaRPr>
          </a:p>
          <a:p>
            <a:pPr marL="527050">
              <a:lnSpc>
                <a:spcPct val="100000"/>
              </a:lnSpc>
              <a:spcBef>
                <a:spcPts val="34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—it is a </a:t>
            </a:r>
            <a:r>
              <a:rPr dirty="0" sz="1850" spc="130" i="1">
                <a:solidFill>
                  <a:srgbClr val="585D60"/>
                </a:solidFill>
                <a:latin typeface="Gill Sans MT"/>
                <a:cs typeface="Gill Sans MT"/>
              </a:rPr>
              <a:t>purposeful</a:t>
            </a:r>
            <a:r>
              <a:rPr dirty="0" sz="1850" spc="-13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simplification.</a:t>
            </a:r>
            <a:endParaRPr sz="1800">
              <a:latin typeface="Roboto"/>
              <a:cs typeface="Roboto"/>
            </a:endParaRPr>
          </a:p>
          <a:p>
            <a:pPr algn="just" marL="146050" indent="-133985">
              <a:lnSpc>
                <a:spcPct val="100000"/>
              </a:lnSpc>
              <a:spcBef>
                <a:spcPts val="120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Different maps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different</a:t>
            </a:r>
            <a:r>
              <a:rPr dirty="0" sz="1800" spc="-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needs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algn="just" lvl="1" marL="527050" marR="5080" indent="-133985">
              <a:lnSpc>
                <a:spcPct val="116300"/>
              </a:lnSpc>
              <a:spcBef>
                <a:spcPts val="93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tourist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map highlights</a:t>
            </a:r>
            <a:r>
              <a:rPr dirty="0" sz="180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landmarks,  while a transportation map</a:t>
            </a:r>
            <a:r>
              <a:rPr dirty="0" sz="18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focuses  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roads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inform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navigation.</a:t>
            </a:r>
            <a:endParaRPr sz="1800">
              <a:latin typeface="Roboto"/>
              <a:cs typeface="Roboto"/>
            </a:endParaRPr>
          </a:p>
          <a:p>
            <a:pPr lvl="1" marL="527050" marR="40640" indent="-133985">
              <a:lnSpc>
                <a:spcPct val="116599"/>
              </a:lnSpc>
              <a:spcBef>
                <a:spcPts val="869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addresses </a:t>
            </a:r>
            <a:r>
              <a:rPr dirty="0" sz="1850" spc="150" i="1">
                <a:solidFill>
                  <a:srgbClr val="585D60"/>
                </a:solidFill>
                <a:latin typeface="Gill Sans MT"/>
                <a:cs typeface="Gill Sans MT"/>
              </a:rPr>
              <a:t>specific</a:t>
            </a:r>
            <a:r>
              <a:rPr dirty="0" sz="1850" spc="-11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questions,  just as we build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different  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models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different  objectives.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399" y="1543050"/>
            <a:ext cx="4362450" cy="2019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48399" y="4191000"/>
            <a:ext cx="4362450" cy="20002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9209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Model vs. Reality </a:t>
            </a:r>
            <a:r>
              <a:rPr dirty="0" sz="3350" spc="15">
                <a:latin typeface="Roboto Condensed"/>
                <a:cs typeface="Roboto Condensed"/>
              </a:rPr>
              <a:t>— </a:t>
            </a:r>
            <a:r>
              <a:rPr dirty="0" sz="3350" spc="10">
                <a:latin typeface="Roboto Condensed"/>
                <a:cs typeface="Roboto Condensed"/>
              </a:rPr>
              <a:t>The Map Analogy </a:t>
            </a:r>
            <a:r>
              <a:rPr dirty="0" sz="3350" spc="5">
                <a:latin typeface="Roboto Condensed"/>
                <a:cs typeface="Roboto Condensed"/>
              </a:rPr>
              <a:t>for</a:t>
            </a:r>
            <a:r>
              <a:rPr dirty="0" sz="3350" spc="-114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DGPs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5057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Why Use DGPs </a:t>
            </a:r>
            <a:r>
              <a:rPr dirty="0" sz="3350" spc="5">
                <a:latin typeface="Roboto Condensed"/>
                <a:cs typeface="Roboto Condensed"/>
              </a:rPr>
              <a:t>If They </a:t>
            </a:r>
            <a:r>
              <a:rPr dirty="0" sz="3350" spc="10">
                <a:latin typeface="Roboto Condensed"/>
                <a:cs typeface="Roboto Condensed"/>
              </a:rPr>
              <a:t>Do not Actually</a:t>
            </a:r>
            <a:r>
              <a:rPr dirty="0" sz="3350" spc="-114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Exist?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64700" cy="487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0680" indent="-348615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36131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Guiding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Principle:</a:t>
            </a:r>
            <a:endParaRPr sz="1800">
              <a:latin typeface="Roboto"/>
              <a:cs typeface="Roboto"/>
            </a:endParaRPr>
          </a:p>
          <a:p>
            <a:pPr lvl="1" marL="393065" marR="801370" indent="-133985">
              <a:lnSpc>
                <a:spcPct val="117100"/>
              </a:lnSpc>
              <a:spcBef>
                <a:spcPts val="176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Thinking in terms of a </a:t>
            </a:r>
            <a:r>
              <a:rPr dirty="0" sz="1850" spc="125" i="1">
                <a:solidFill>
                  <a:srgbClr val="585D60"/>
                </a:solidFill>
                <a:latin typeface="Gill Sans MT"/>
                <a:cs typeface="Gill Sans MT"/>
              </a:rPr>
              <a:t>hypothetical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DGP helps us design or select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reasonable</a:t>
            </a:r>
            <a:r>
              <a:rPr dirty="0" sz="1800" spc="-2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structures.</a:t>
            </a:r>
            <a:endParaRPr sz="1800">
              <a:latin typeface="Roboto"/>
              <a:cs typeface="Roboto"/>
            </a:endParaRPr>
          </a:p>
          <a:p>
            <a:pPr lvl="1" marL="393065" marR="941069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E.g., we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incorporate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domain insights: “Does our hotel occupancy data show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strong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seasonality?”</a:t>
            </a:r>
            <a:endParaRPr sz="18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C2132D"/>
              </a:buClr>
              <a:buFont typeface="Roboto"/>
              <a:buChar char="•"/>
            </a:pPr>
            <a:endParaRPr sz="1750">
              <a:latin typeface="Roboto"/>
              <a:cs typeface="Roboto"/>
            </a:endParaRPr>
          </a:p>
          <a:p>
            <a:pPr marL="360680" indent="-348615">
              <a:lnSpc>
                <a:spcPct val="100000"/>
              </a:lnSpc>
              <a:spcBef>
                <a:spcPts val="5"/>
              </a:spcBef>
              <a:buAutoNum type="arabicParenBoth"/>
              <a:tabLst>
                <a:tab pos="36131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Clarifying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Assumptions:</a:t>
            </a:r>
            <a:endParaRPr sz="1800">
              <a:latin typeface="Roboto"/>
              <a:cs typeface="Roboto"/>
            </a:endParaRPr>
          </a:p>
          <a:p>
            <a:pPr lvl="1" marL="393065" marR="5080" indent="-133985">
              <a:lnSpc>
                <a:spcPct val="118100"/>
              </a:lnSpc>
              <a:spcBef>
                <a:spcPts val="179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if the DGP is not known, stating assumptions (e.g., no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constant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variance) makes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 models testable and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improvable.</a:t>
            </a:r>
            <a:endParaRPr sz="18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C2132D"/>
              </a:buClr>
              <a:buFont typeface="Roboto"/>
              <a:buChar char="•"/>
            </a:pPr>
            <a:endParaRPr sz="1750">
              <a:latin typeface="Roboto"/>
              <a:cs typeface="Roboto"/>
            </a:endParaRPr>
          </a:p>
          <a:p>
            <a:pPr marL="360680" indent="-348615">
              <a:lnSpc>
                <a:spcPct val="100000"/>
              </a:lnSpc>
              <a:buAutoNum type="arabicParenBoth"/>
              <a:tabLst>
                <a:tab pos="36131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Iterative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Refinement: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new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contradict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 assumptions, we adjust our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“map”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reality.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continually update models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capture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changing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conditions.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4093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">
                <a:latin typeface="Roboto Condensed"/>
                <a:cs typeface="Roboto Condensed"/>
              </a:rPr>
              <a:t>Key </a:t>
            </a:r>
            <a:r>
              <a:rPr dirty="0" sz="3350" spc="10">
                <a:latin typeface="Roboto Condensed"/>
                <a:cs typeface="Roboto Condensed"/>
              </a:rPr>
              <a:t>DGP</a:t>
            </a:r>
            <a:r>
              <a:rPr dirty="0" sz="3350" spc="-70">
                <a:latin typeface="Roboto Condensed"/>
                <a:cs typeface="Roboto Condensed"/>
              </a:rPr>
              <a:t> </a:t>
            </a:r>
            <a:r>
              <a:rPr dirty="0" sz="3350" spc="-20">
                <a:latin typeface="Roboto Condensed"/>
                <a:cs typeface="Roboto Condensed"/>
              </a:rPr>
              <a:t>Takeaways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273461"/>
            <a:ext cx="7360920" cy="350012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29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All Models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Are Wrong…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4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...but some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50" spc="145" i="1">
                <a:solidFill>
                  <a:srgbClr val="585D60"/>
                </a:solidFill>
                <a:latin typeface="Gill Sans MT"/>
                <a:cs typeface="Gill Sans MT"/>
              </a:rPr>
              <a:t>useful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planning, or</a:t>
            </a:r>
            <a:r>
              <a:rPr dirty="0" sz="1800" spc="-204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decision-making.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8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DGP 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Useful</a:t>
            </a:r>
            <a:r>
              <a:rPr dirty="0" sz="1800" spc="-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Fiction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talk about it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thinking.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never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truly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“see”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it; we only see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Practical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Implication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4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good model is </a:t>
            </a:r>
            <a:r>
              <a:rPr dirty="0" sz="1850" spc="185" i="1">
                <a:solidFill>
                  <a:srgbClr val="585D60"/>
                </a:solidFill>
                <a:latin typeface="Gill Sans MT"/>
                <a:cs typeface="Gill Sans MT"/>
              </a:rPr>
              <a:t>close </a:t>
            </a:r>
            <a:r>
              <a:rPr dirty="0" sz="1850" spc="155" i="1">
                <a:solidFill>
                  <a:srgbClr val="585D60"/>
                </a:solidFill>
                <a:latin typeface="Gill Sans MT"/>
                <a:cs typeface="Gill Sans MT"/>
              </a:rPr>
              <a:t>enough</a:t>
            </a:r>
            <a:r>
              <a:rPr dirty="0" sz="1850" spc="-32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guide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accurate forecasts.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8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Remain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aware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model limitations and be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adapt.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992" y="2731008"/>
            <a:ext cx="8613775" cy="1076325"/>
          </a:xfrm>
          <a:prstGeom prst="rect"/>
          <a:solidFill>
            <a:srgbClr val="333333"/>
          </a:solidFill>
        </p:spPr>
        <p:txBody>
          <a:bodyPr wrap="square" lIns="0" tIns="16764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320"/>
              </a:spcBef>
            </a:pPr>
            <a:r>
              <a:rPr dirty="0" sz="4100" spc="-955">
                <a:solidFill>
                  <a:srgbClr val="000000"/>
                </a:solidFill>
                <a:latin typeface="Roboto Condensed"/>
                <a:cs typeface="Roboto Condensed"/>
              </a:rPr>
              <a:t>"</a:t>
            </a:r>
            <a:r>
              <a:rPr dirty="0" sz="4100" spc="-955">
                <a:solidFill>
                  <a:srgbClr val="FFFFFF"/>
                </a:solidFill>
                <a:latin typeface="Roboto Condensed"/>
                <a:cs typeface="Roboto Condensed"/>
              </a:rPr>
              <a:t>"</a:t>
            </a:r>
            <a:r>
              <a:rPr dirty="0" sz="4100" spc="-955">
                <a:solidFill>
                  <a:srgbClr val="000000"/>
                </a:solidFill>
                <a:latin typeface="Roboto Condensed"/>
                <a:cs typeface="Roboto Condensed"/>
              </a:rPr>
              <a:t>W</a:t>
            </a:r>
            <a:r>
              <a:rPr dirty="0" sz="4100" spc="-955">
                <a:solidFill>
                  <a:srgbClr val="FFFFFF"/>
                </a:solidFill>
                <a:latin typeface="Roboto Condensed"/>
                <a:cs typeface="Roboto Condensed"/>
              </a:rPr>
              <a:t>W</a:t>
            </a:r>
            <a:r>
              <a:rPr dirty="0" sz="4100" spc="-955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955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95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5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5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5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1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05">
                <a:solidFill>
                  <a:srgbClr val="000000"/>
                </a:solidFill>
                <a:latin typeface="Roboto Condensed"/>
                <a:cs typeface="Roboto Condensed"/>
              </a:rPr>
              <a:t>(</a:t>
            </a:r>
            <a:r>
              <a:rPr dirty="0" sz="4100" spc="-905">
                <a:solidFill>
                  <a:srgbClr val="FFFFFF"/>
                </a:solidFill>
                <a:latin typeface="Roboto Condensed"/>
                <a:cs typeface="Roboto Condensed"/>
              </a:rPr>
              <a:t>(</a:t>
            </a:r>
            <a:r>
              <a:rPr dirty="0" sz="4100" spc="-90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0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0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0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0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05">
                <a:solidFill>
                  <a:srgbClr val="FFFFFF"/>
                </a:solidFill>
                <a:latin typeface="Roboto Condensed"/>
                <a:cs typeface="Roboto Condensed"/>
              </a:rPr>
              <a:t>d 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)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)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270">
                <a:solidFill>
                  <a:srgbClr val="000000"/>
                </a:solidFill>
                <a:latin typeface="Roboto Condensed"/>
                <a:cs typeface="Roboto Condensed"/>
              </a:rPr>
              <a:t>W</a:t>
            </a:r>
            <a:r>
              <a:rPr dirty="0" sz="4100" spc="-1270">
                <a:solidFill>
                  <a:srgbClr val="FFFFFF"/>
                </a:solidFill>
                <a:latin typeface="Roboto Condensed"/>
                <a:cs typeface="Roboto Condensed"/>
              </a:rPr>
              <a:t>W</a:t>
            </a:r>
            <a:r>
              <a:rPr dirty="0" sz="4100" spc="-127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27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1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?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?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"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"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824230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Rank these Scenarios in </a:t>
            </a:r>
            <a:r>
              <a:rPr dirty="0" sz="3350" spc="-20">
                <a:solidFill>
                  <a:srgbClr val="C2132D"/>
                </a:solidFill>
                <a:latin typeface="Roboto Condensed"/>
                <a:cs typeface="Roboto Condensed"/>
              </a:rPr>
              <a:t>Terms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of</a:t>
            </a:r>
            <a:r>
              <a:rPr dirty="0" sz="3350" spc="-9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Forecastability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5525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21240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300" y="1673225"/>
            <a:ext cx="8028940" cy="1423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  <a:tab pos="309245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Description	Scenarios	Class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Results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5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Rank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scenario (in the next tab)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easiest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(1)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hardest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(6)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Submit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ranking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clicking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here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02:00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639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latin typeface="Roboto Condensed"/>
                <a:cs typeface="Roboto Condensed"/>
              </a:rPr>
              <a:t>Perfect </a:t>
            </a:r>
            <a:r>
              <a:rPr dirty="0" sz="3350" spc="5">
                <a:latin typeface="Roboto Condensed"/>
                <a:cs typeface="Roboto Condensed"/>
              </a:rPr>
              <a:t>(or Near-Perfect)</a:t>
            </a:r>
            <a:r>
              <a:rPr dirty="0" sz="3350" spc="30">
                <a:latin typeface="Roboto Condensed"/>
                <a:cs typeface="Roboto Condensed"/>
              </a:rPr>
              <a:t> </a:t>
            </a:r>
            <a:r>
              <a:rPr dirty="0" sz="3350">
                <a:latin typeface="Roboto Condensed"/>
                <a:cs typeface="Roboto Condensed"/>
              </a:rPr>
              <a:t>Forecasts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809355" cy="421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Examples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Sunset</a:t>
            </a:r>
            <a:r>
              <a:rPr dirty="0" sz="1800" spc="-5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908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Based 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precise astronomical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calculations.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165"/>
              </a:spcBef>
              <a:buClr>
                <a:srgbClr val="C2132D"/>
              </a:buClr>
              <a:buChar char="•"/>
              <a:tabLst>
                <a:tab pos="9086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sunset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exact minute, </a:t>
            </a:r>
            <a:r>
              <a:rPr dirty="0" sz="1850" spc="135" i="1">
                <a:solidFill>
                  <a:srgbClr val="585D60"/>
                </a:solidFill>
                <a:latin typeface="Gill Sans MT"/>
                <a:cs typeface="Gill Sans MT"/>
              </a:rPr>
              <a:t>tomorrow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year from</a:t>
            </a:r>
            <a:r>
              <a:rPr dirty="0" sz="1800" spc="-1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8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Tides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908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Governed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well-modeled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gravitational forces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Moon and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Sun.</a:t>
            </a:r>
            <a:endParaRPr sz="1800">
              <a:latin typeface="Roboto"/>
              <a:cs typeface="Roboto"/>
            </a:endParaRPr>
          </a:p>
          <a:p>
            <a:pPr lvl="2" marL="908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908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Highly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centuries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Why So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Certain?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16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These phenomena follow </a:t>
            </a:r>
            <a:r>
              <a:rPr dirty="0" sz="1850" spc="130" i="1">
                <a:solidFill>
                  <a:srgbClr val="585D60"/>
                </a:solidFill>
                <a:latin typeface="Gill Sans MT"/>
                <a:cs typeface="Gill Sans MT"/>
              </a:rPr>
              <a:t>deterministic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(or near-deterministic) physical</a:t>
            </a:r>
            <a:r>
              <a:rPr dirty="0" sz="1800" spc="-2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laws.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8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Little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stochastic “noise”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1539875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W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eather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2035685"/>
            <a:ext cx="3937635" cy="174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6050" marR="5080" indent="-133985">
              <a:lnSpc>
                <a:spcPct val="117100"/>
              </a:lnSpc>
              <a:spcBef>
                <a:spcPts val="114"/>
              </a:spcBef>
              <a:buClr>
                <a:srgbClr val="C2132D"/>
              </a:buClr>
              <a:buSzPct val="97297"/>
              <a:buFont typeface="Roboto"/>
              <a:buChar char="•"/>
              <a:tabLst>
                <a:tab pos="146685" algn="l"/>
              </a:tabLst>
            </a:pPr>
            <a:r>
              <a:rPr dirty="0" sz="1850" spc="125" i="1">
                <a:solidFill>
                  <a:srgbClr val="585D60"/>
                </a:solidFill>
                <a:latin typeface="Gill Sans MT"/>
                <a:cs typeface="Gill Sans MT"/>
              </a:rPr>
              <a:t>Tomorrow’s </a:t>
            </a:r>
            <a:r>
              <a:rPr dirty="0" sz="1850" spc="135" i="1">
                <a:solidFill>
                  <a:srgbClr val="585D60"/>
                </a:solidFill>
                <a:latin typeface="Gill Sans MT"/>
                <a:cs typeface="Gill Sans MT"/>
              </a:rPr>
              <a:t>Forecast</a:t>
            </a:r>
            <a:r>
              <a:rPr dirty="0" sz="1800" spc="13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Quite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accurate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(initial conditions + physical</a:t>
            </a:r>
            <a:r>
              <a:rPr dirty="0" sz="1800" spc="-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models).</a:t>
            </a:r>
            <a:endParaRPr sz="1800">
              <a:latin typeface="Roboto"/>
              <a:cs typeface="Roboto"/>
            </a:endParaRPr>
          </a:p>
          <a:p>
            <a:pPr marL="146050" marR="251460" indent="-133985">
              <a:lnSpc>
                <a:spcPct val="115900"/>
              </a:lnSpc>
              <a:spcBef>
                <a:spcPts val="810"/>
              </a:spcBef>
              <a:buClr>
                <a:srgbClr val="C2132D"/>
              </a:buClr>
              <a:buSzPct val="97297"/>
              <a:buFont typeface="Roboto"/>
              <a:buChar char="•"/>
              <a:tabLst>
                <a:tab pos="146685" algn="l"/>
              </a:tabLst>
            </a:pPr>
            <a:r>
              <a:rPr dirty="0" sz="1850" spc="45" i="1">
                <a:solidFill>
                  <a:srgbClr val="585D60"/>
                </a:solidFill>
                <a:latin typeface="Gill Sans MT"/>
                <a:cs typeface="Gill Sans MT"/>
              </a:rPr>
              <a:t>1 </a:t>
            </a:r>
            <a:r>
              <a:rPr dirty="0" sz="1850" spc="100" i="1">
                <a:solidFill>
                  <a:srgbClr val="585D60"/>
                </a:solidFill>
                <a:latin typeface="Gill Sans MT"/>
                <a:cs typeface="Gill Sans MT"/>
              </a:rPr>
              <a:t>Year</a:t>
            </a:r>
            <a:r>
              <a:rPr dirty="0" sz="1850" spc="-38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120" i="1">
                <a:solidFill>
                  <a:srgbClr val="585D60"/>
                </a:solidFill>
                <a:latin typeface="Gill Sans MT"/>
                <a:cs typeface="Gill Sans MT"/>
              </a:rPr>
              <a:t>Ahead</a:t>
            </a:r>
            <a:r>
              <a:rPr dirty="0" sz="1800" spc="12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Chaos and changing  conditions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degrade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accuracy 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significantly.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4806" y="1539875"/>
            <a:ext cx="914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S&amp;P</a:t>
            </a:r>
            <a:r>
              <a:rPr dirty="0" sz="1800" spc="-8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500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1861" y="2035685"/>
            <a:ext cx="4029075" cy="3033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46050" marR="69850" indent="-133985">
              <a:lnSpc>
                <a:spcPct val="116500"/>
              </a:lnSpc>
              <a:spcBef>
                <a:spcPts val="130"/>
              </a:spcBef>
              <a:buClr>
                <a:srgbClr val="C2132D"/>
              </a:buClr>
              <a:buSzPct val="97297"/>
              <a:buFont typeface="Roboto"/>
              <a:buChar char="•"/>
              <a:tabLst>
                <a:tab pos="146685" algn="l"/>
              </a:tabLst>
            </a:pPr>
            <a:r>
              <a:rPr dirty="0" sz="1850" spc="125" i="1">
                <a:solidFill>
                  <a:srgbClr val="585D60"/>
                </a:solidFill>
                <a:latin typeface="Gill Sans MT"/>
                <a:cs typeface="Gill Sans MT"/>
              </a:rPr>
              <a:t>Tomorrow’s </a:t>
            </a:r>
            <a:r>
              <a:rPr dirty="0" sz="1850" spc="140" i="1">
                <a:solidFill>
                  <a:srgbClr val="585D60"/>
                </a:solidFill>
                <a:latin typeface="Gill Sans MT"/>
                <a:cs typeface="Gill Sans MT"/>
              </a:rPr>
              <a:t>Close</a:t>
            </a:r>
            <a:r>
              <a:rPr dirty="0" sz="1800" spc="14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short-term  signals exist, but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accuracy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limited  (especially if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attempting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beat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market; accuracy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relatively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high if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just want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 in the ball  park of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adjusted</a:t>
            </a:r>
            <a:r>
              <a:rPr dirty="0" sz="1700" spc="-1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close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5900"/>
              </a:lnSpc>
              <a:spcBef>
                <a:spcPts val="885"/>
              </a:spcBef>
              <a:buClr>
                <a:srgbClr val="C2132D"/>
              </a:buClr>
              <a:buSzPct val="97297"/>
              <a:buFont typeface="Roboto"/>
              <a:buChar char="•"/>
              <a:tabLst>
                <a:tab pos="146685" algn="l"/>
              </a:tabLst>
            </a:pPr>
            <a:r>
              <a:rPr dirty="0" sz="1850" spc="45" i="1">
                <a:solidFill>
                  <a:srgbClr val="585D60"/>
                </a:solidFill>
                <a:latin typeface="Gill Sans MT"/>
                <a:cs typeface="Gill Sans MT"/>
              </a:rPr>
              <a:t>1 </a:t>
            </a:r>
            <a:r>
              <a:rPr dirty="0" sz="1850" spc="100" i="1">
                <a:solidFill>
                  <a:srgbClr val="585D60"/>
                </a:solidFill>
                <a:latin typeface="Gill Sans MT"/>
                <a:cs typeface="Gill Sans MT"/>
              </a:rPr>
              <a:t>Year </a:t>
            </a:r>
            <a:r>
              <a:rPr dirty="0" sz="1850" spc="120" i="1">
                <a:solidFill>
                  <a:srgbClr val="585D60"/>
                </a:solidFill>
                <a:latin typeface="Gill Sans MT"/>
                <a:cs typeface="Gill Sans MT"/>
              </a:rPr>
              <a:t>Ahead</a:t>
            </a:r>
            <a:r>
              <a:rPr dirty="0" sz="1800" spc="12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Many unknown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macro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shocks, making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precise forecasts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very  uncertain.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1088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Partially </a:t>
            </a:r>
            <a:r>
              <a:rPr dirty="0" sz="3350" spc="5">
                <a:latin typeface="Roboto Condensed"/>
                <a:cs typeface="Roboto Condensed"/>
              </a:rPr>
              <a:t>Predictable </a:t>
            </a:r>
            <a:r>
              <a:rPr dirty="0" sz="3350" spc="15">
                <a:latin typeface="Roboto Condensed"/>
                <a:cs typeface="Roboto Condensed"/>
              </a:rPr>
              <a:t>— </a:t>
            </a:r>
            <a:r>
              <a:rPr dirty="0" sz="3350">
                <a:latin typeface="Roboto Condensed"/>
                <a:cs typeface="Roboto Condensed"/>
              </a:rPr>
              <a:t>Weather </a:t>
            </a:r>
            <a:r>
              <a:rPr dirty="0" sz="3350" spc="15">
                <a:latin typeface="Roboto Condensed"/>
                <a:cs typeface="Roboto Condensed"/>
              </a:rPr>
              <a:t>&amp;</a:t>
            </a:r>
            <a:r>
              <a:rPr dirty="0" sz="3350" spc="-1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Markets</a:t>
            </a:r>
            <a:endParaRPr sz="3350">
              <a:latin typeface="Roboto Condensed"/>
              <a:cs typeface="Roboto Condense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502061"/>
            <a:ext cx="3886200" cy="454787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29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 Predictable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Pattern</a:t>
            </a:r>
            <a:endParaRPr sz="1800">
              <a:latin typeface="Roboto"/>
              <a:cs typeface="Roboto"/>
            </a:endParaRPr>
          </a:p>
          <a:p>
            <a:pPr lvl="1" marL="527050" marR="587375" indent="-133985">
              <a:lnSpc>
                <a:spcPct val="117100"/>
              </a:lnSpc>
              <a:spcBef>
                <a:spcPts val="86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Draws are </a:t>
            </a:r>
            <a:r>
              <a:rPr dirty="0" sz="1850" spc="125" i="1">
                <a:solidFill>
                  <a:srgbClr val="585D60"/>
                </a:solidFill>
                <a:latin typeface="Gill Sans MT"/>
                <a:cs typeface="Gill Sans MT"/>
              </a:rPr>
              <a:t>engineered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-2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random.</a:t>
            </a:r>
            <a:endParaRPr sz="1800">
              <a:latin typeface="Roboto"/>
              <a:cs typeface="Roboto"/>
            </a:endParaRPr>
          </a:p>
          <a:p>
            <a:pPr lvl="1" marL="527050" marR="285115" indent="-133985">
              <a:lnSpc>
                <a:spcPct val="1147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 matter how much data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collect,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can’t </a:t>
            </a:r>
            <a:r>
              <a:rPr dirty="0" sz="1850" spc="114" i="1">
                <a:solidFill>
                  <a:srgbClr val="585D60"/>
                </a:solidFill>
                <a:latin typeface="Gill Sans MT"/>
                <a:cs typeface="Gill Sans MT"/>
              </a:rPr>
              <a:t>outpredict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chance.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Why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“Un-forecastable”?</a:t>
            </a:r>
            <a:endParaRPr sz="1800">
              <a:latin typeface="Roboto"/>
              <a:cs typeface="Roboto"/>
            </a:endParaRPr>
          </a:p>
          <a:p>
            <a:pPr lvl="1" marL="527050" marR="5080" indent="-133985">
              <a:lnSpc>
                <a:spcPct val="114700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Data-Generating Process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(DGP)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effectively </a:t>
            </a:r>
            <a:r>
              <a:rPr dirty="0" sz="1850" spc="95" i="1">
                <a:solidFill>
                  <a:srgbClr val="585D60"/>
                </a:solidFill>
                <a:latin typeface="Gill Sans MT"/>
                <a:cs typeface="Gill Sans MT"/>
              </a:rPr>
              <a:t>pure </a:t>
            </a:r>
            <a:r>
              <a:rPr dirty="0" sz="1850" spc="165" i="1">
                <a:solidFill>
                  <a:srgbClr val="585D60"/>
                </a:solidFill>
                <a:latin typeface="Gill Sans MT"/>
                <a:cs typeface="Gill Sans MT"/>
              </a:rPr>
              <a:t>noise</a:t>
            </a:r>
            <a:r>
              <a:rPr dirty="0" sz="1850" spc="-29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design.</a:t>
            </a:r>
            <a:endParaRPr sz="1800">
              <a:latin typeface="Roboto"/>
              <a:cs typeface="Roboto"/>
            </a:endParaRPr>
          </a:p>
          <a:p>
            <a:pPr lvl="1" marL="527050" marR="37973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deterministic  component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399" y="1543050"/>
            <a:ext cx="4362449" cy="4371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6711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Unpredictable </a:t>
            </a:r>
            <a:r>
              <a:rPr dirty="0" sz="3350" spc="15">
                <a:latin typeface="Roboto Condensed"/>
                <a:cs typeface="Roboto Condensed"/>
              </a:rPr>
              <a:t>— </a:t>
            </a:r>
            <a:r>
              <a:rPr dirty="0" sz="3350" spc="10">
                <a:latin typeface="Roboto Condensed"/>
                <a:cs typeface="Roboto Condensed"/>
              </a:rPr>
              <a:t>Lottery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Numbers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5662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Relating </a:t>
            </a:r>
            <a:r>
              <a:rPr dirty="0" sz="3350" spc="5">
                <a:latin typeface="Roboto Condensed"/>
                <a:cs typeface="Roboto Condensed"/>
              </a:rPr>
              <a:t>It </a:t>
            </a:r>
            <a:r>
              <a:rPr dirty="0" sz="3350" spc="10">
                <a:latin typeface="Roboto Condensed"/>
                <a:cs typeface="Roboto Condensed"/>
              </a:rPr>
              <a:t>Back </a:t>
            </a:r>
            <a:r>
              <a:rPr dirty="0" sz="3350" spc="-10">
                <a:latin typeface="Roboto Condensed"/>
                <a:cs typeface="Roboto Condensed"/>
              </a:rPr>
              <a:t>to </a:t>
            </a:r>
            <a:r>
              <a:rPr dirty="0" sz="3350" spc="10">
                <a:latin typeface="Roboto Condensed"/>
                <a:cs typeface="Roboto Condensed"/>
              </a:rPr>
              <a:t>the</a:t>
            </a:r>
            <a:r>
              <a:rPr dirty="0" sz="3350" spc="-4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DGP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40215" cy="323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Different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Types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</a:t>
            </a:r>
            <a:r>
              <a:rPr dirty="0" sz="1800" spc="-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DGPs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Deterministic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(or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nearly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so)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Sunset times, tidal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schedules.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Complex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&amp;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Partly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Stochastic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Weather,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financial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markets.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Pure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Randomness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 Lottery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draws.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Key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Lesson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165"/>
              </a:spcBef>
              <a:buClr>
                <a:srgbClr val="C2132D"/>
              </a:buClr>
              <a:buSzPct val="97297"/>
              <a:buFont typeface="Roboto"/>
              <a:buChar char="•"/>
              <a:tabLst>
                <a:tab pos="527685" algn="l"/>
              </a:tabLst>
            </a:pPr>
            <a:r>
              <a:rPr dirty="0" sz="1850" spc="130" i="1">
                <a:solidFill>
                  <a:srgbClr val="585D60"/>
                </a:solidFill>
                <a:latin typeface="Gill Sans MT"/>
                <a:cs typeface="Gill Sans MT"/>
              </a:rPr>
              <a:t>All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DGP—some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“knowable”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than</a:t>
            </a:r>
            <a:r>
              <a:rPr dirty="0" sz="1800" spc="-1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others.</a:t>
            </a:r>
            <a:endParaRPr sz="1800">
              <a:latin typeface="Roboto"/>
              <a:cs typeface="Roboto"/>
            </a:endParaRPr>
          </a:p>
          <a:p>
            <a:pPr lvl="1" marL="527050" marR="5080" indent="-133985">
              <a:lnSpc>
                <a:spcPct val="117100"/>
              </a:lnSpc>
              <a:spcBef>
                <a:spcPts val="850"/>
              </a:spcBef>
              <a:buClr>
                <a:srgbClr val="C2132D"/>
              </a:buClr>
              <a:buSzPct val="97297"/>
              <a:buFont typeface="Roboto"/>
              <a:buChar char="•"/>
              <a:tabLst>
                <a:tab pos="527685" algn="l"/>
              </a:tabLst>
            </a:pPr>
            <a:r>
              <a:rPr dirty="0" sz="1850" spc="130" i="1">
                <a:solidFill>
                  <a:srgbClr val="585D60"/>
                </a:solidFill>
                <a:latin typeface="Gill Sans MT"/>
                <a:cs typeface="Gill Sans MT"/>
              </a:rPr>
              <a:t>Forecastability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depends on how much of that DGP is deterministic vs.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random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-204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 well we can model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1256" y="2773680"/>
            <a:ext cx="5157470" cy="1027430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985"/>
              </a:spcBef>
            </a:pP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K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K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y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y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69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69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104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104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0129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>
                <a:latin typeface="Roboto Condensed"/>
                <a:cs typeface="Roboto Condensed"/>
              </a:rPr>
              <a:t>F</a:t>
            </a:r>
            <a:r>
              <a:rPr dirty="0" sz="3350" spc="10">
                <a:latin typeface="Roboto Condensed"/>
                <a:cs typeface="Roboto Condensed"/>
              </a:rPr>
              <a:t>o</a:t>
            </a:r>
            <a:r>
              <a:rPr dirty="0" sz="3350" spc="-30">
                <a:latin typeface="Roboto Condensed"/>
                <a:cs typeface="Roboto Condensed"/>
              </a:rPr>
              <a:t>r</a:t>
            </a:r>
            <a:r>
              <a:rPr dirty="0" sz="3350" spc="10">
                <a:latin typeface="Roboto Condensed"/>
                <a:cs typeface="Roboto Condensed"/>
              </a:rPr>
              <a:t>ecasting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68935"/>
            <a:ext cx="9220200" cy="1433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6050" marR="5080" indent="-133985">
              <a:lnSpc>
                <a:spcPct val="117100"/>
              </a:lnSpc>
              <a:spcBef>
                <a:spcPts val="114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Forecasting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50" spc="125" i="1">
                <a:solidFill>
                  <a:srgbClr val="585D60"/>
                </a:solidFill>
                <a:latin typeface="Gill Sans MT"/>
                <a:cs typeface="Gill Sans MT"/>
              </a:rPr>
              <a:t>historical</a:t>
            </a:r>
            <a:r>
              <a:rPr dirty="0" sz="1850" spc="-6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105" i="1">
                <a:solidFill>
                  <a:srgbClr val="585D60"/>
                </a:solidFill>
                <a:latin typeface="Gill Sans MT"/>
                <a:cs typeface="Gill Sans MT"/>
              </a:rPr>
              <a:t>data</a:t>
            </a:r>
            <a:r>
              <a:rPr dirty="0" sz="1850" spc="-6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50" spc="114" i="1">
                <a:solidFill>
                  <a:srgbClr val="585D60"/>
                </a:solidFill>
                <a:latin typeface="Gill Sans MT"/>
                <a:cs typeface="Gill Sans MT"/>
              </a:rPr>
              <a:t>patterns</a:t>
            </a:r>
            <a:r>
              <a:rPr dirty="0" sz="1850" spc="-6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50" spc="95" i="1">
                <a:solidFill>
                  <a:srgbClr val="585D60"/>
                </a:solidFill>
                <a:latin typeface="Gill Sans MT"/>
                <a:cs typeface="Gill Sans MT"/>
              </a:rPr>
              <a:t>future</a:t>
            </a:r>
            <a:r>
              <a:rPr dirty="0" sz="1850" spc="-6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events.</a:t>
            </a:r>
            <a:endParaRPr sz="1800">
              <a:latin typeface="Roboto"/>
              <a:cs typeface="Roboto"/>
            </a:endParaRPr>
          </a:p>
          <a:p>
            <a:pPr marL="146050" marR="10541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objective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most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 analyses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 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 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 time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3057524"/>
            <a:ext cx="9696449" cy="3228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400799"/>
            <a:ext cx="9696449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238" y="3228012"/>
            <a:ext cx="4244394" cy="26520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316562" y="3232331"/>
            <a:ext cx="4241271" cy="3146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09130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Explanatory</a:t>
            </a:r>
            <a:r>
              <a:rPr dirty="0" sz="3350" spc="-7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1368935"/>
            <a:ext cx="9288145" cy="1433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50" marR="5080" indent="-133985">
              <a:lnSpc>
                <a:spcPct val="117600"/>
              </a:lnSpc>
              <a:spcBef>
                <a:spcPts val="10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addition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past data,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explanatory 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uses </a:t>
            </a:r>
            <a:r>
              <a:rPr dirty="0" sz="1850" spc="114" i="1">
                <a:solidFill>
                  <a:srgbClr val="585D60"/>
                </a:solidFill>
                <a:latin typeface="Gill Sans MT"/>
                <a:cs typeface="Gill Sans MT"/>
              </a:rPr>
              <a:t>additional </a:t>
            </a:r>
            <a:r>
              <a:rPr dirty="0" sz="1850" spc="125" i="1">
                <a:solidFill>
                  <a:srgbClr val="585D60"/>
                </a:solidFill>
                <a:latin typeface="Gill Sans MT"/>
                <a:cs typeface="Gill Sans MT"/>
              </a:rPr>
              <a:t>variables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</a:t>
            </a:r>
            <a:r>
              <a:rPr dirty="0" sz="1800" spc="-2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  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variable(s)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interest. 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need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include both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historical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 predictions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each of the explanatory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variables.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Forecasting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electricity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demand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weather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of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day,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week,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6176962"/>
            <a:ext cx="6924675" cy="0"/>
          </a:xfrm>
          <a:custGeom>
            <a:avLst/>
            <a:gdLst/>
            <a:ahLst/>
            <a:cxnLst/>
            <a:rect l="l" t="t" r="r" b="b"/>
            <a:pathLst>
              <a:path w="6924675" h="0">
                <a:moveTo>
                  <a:pt x="0" y="0"/>
                </a:moveTo>
                <a:lnTo>
                  <a:pt x="69246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86487"/>
            <a:ext cx="6924675" cy="0"/>
          </a:xfrm>
          <a:custGeom>
            <a:avLst/>
            <a:gdLst/>
            <a:ahLst/>
            <a:cxnLst/>
            <a:rect l="l" t="t" r="r" b="b"/>
            <a:pathLst>
              <a:path w="6924675" h="0">
                <a:moveTo>
                  <a:pt x="0" y="0"/>
                </a:moveTo>
                <a:lnTo>
                  <a:pt x="69246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295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6274743"/>
            <a:ext cx="695007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Image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Sources: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850" spc="20">
                <a:solidFill>
                  <a:srgbClr val="585D60"/>
                </a:solidFill>
                <a:latin typeface="Roboto"/>
                <a:cs typeface="Roboto"/>
              </a:rPr>
              <a:t>demo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forecasting the remaining useful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life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 engine using exogenous sensor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See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here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more</a:t>
            </a:r>
            <a:r>
              <a:rPr dirty="0" sz="850" spc="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details.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0237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Backtesting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8979535" cy="153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Backtesting 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practice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evaluating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applying it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historical  data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comparing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the actual outcomes.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way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see how the model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would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have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performed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past.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Backtesting is the time 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equivalent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train-test split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ML;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random</a:t>
            </a:r>
            <a:r>
              <a:rPr dirty="0" sz="1800" spc="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though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2313" y="3219811"/>
            <a:ext cx="5721177" cy="2762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76962"/>
            <a:ext cx="3838575" cy="0"/>
          </a:xfrm>
          <a:custGeom>
            <a:avLst/>
            <a:gdLst/>
            <a:ahLst/>
            <a:cxnLst/>
            <a:rect l="l" t="t" r="r" b="b"/>
            <a:pathLst>
              <a:path w="3838575" h="0">
                <a:moveTo>
                  <a:pt x="0" y="0"/>
                </a:moveTo>
                <a:lnTo>
                  <a:pt x="38385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3838575" cy="0"/>
          </a:xfrm>
          <a:custGeom>
            <a:avLst/>
            <a:gdLst/>
            <a:ahLst/>
            <a:cxnLst/>
            <a:rect l="l" t="t" r="r" b="b"/>
            <a:pathLst>
              <a:path w="3838575" h="0">
                <a:moveTo>
                  <a:pt x="0" y="0"/>
                </a:moveTo>
                <a:lnTo>
                  <a:pt x="38385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434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6271548"/>
            <a:ext cx="3865245" cy="1606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Image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Chained Windows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GitHub Repo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</a:t>
            </a:r>
            <a:r>
              <a:rPr dirty="0" sz="85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900" spc="70" i="1">
                <a:solidFill>
                  <a:srgbClr val="585D60"/>
                </a:solidFill>
                <a:latin typeface="Gill Sans MT"/>
                <a:cs typeface="Gill Sans MT"/>
              </a:rPr>
              <a:t>statsforecast</a:t>
            </a:r>
            <a:r>
              <a:rPr dirty="0" sz="850" spc="7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42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0515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Insample vs. Out-of-Sample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Metrics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54820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In-Sample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Metrics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Metrics calculated on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same data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train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misleading, as the model has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already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seen this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Out-of-Sample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Metrics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Metrics calculated on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seen by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during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training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(i.e., test/holdout/out-  of-sample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data).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reliable indicators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how the model will perform on new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8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8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39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5">
                <a:latin typeface="Roboto Condensed"/>
                <a:cs typeface="Roboto Condensed"/>
              </a:rPr>
              <a:t>Summary </a:t>
            </a:r>
            <a:r>
              <a:rPr dirty="0" sz="4100" spc="10">
                <a:latin typeface="Roboto Condensed"/>
                <a:cs typeface="Roboto Condensed"/>
              </a:rPr>
              <a:t>of Main</a:t>
            </a:r>
            <a:r>
              <a:rPr dirty="0" sz="4100" spc="-55">
                <a:latin typeface="Roboto Condensed"/>
                <a:cs typeface="Roboto Condensed"/>
              </a:rPr>
              <a:t> </a:t>
            </a:r>
            <a:r>
              <a:rPr dirty="0" sz="4100" spc="5">
                <a:latin typeface="Roboto Condensed"/>
                <a:cs typeface="Roboto Condensed"/>
              </a:rPr>
              <a:t>Points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9687560" cy="290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business.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components of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time-series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trend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multiple 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1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endParaRPr sz="1800">
              <a:latin typeface="Roboto"/>
              <a:cs typeface="Roboto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cycles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concept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data-generating process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(DGP)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 limits of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forecasting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terminology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39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11491"/>
            <a:ext cx="6650355" cy="6654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 spc="2510">
                <a:latin typeface="Arial"/>
                <a:cs typeface="Arial"/>
              </a:rPr>
              <a:t>📝</a:t>
            </a:r>
            <a:r>
              <a:rPr dirty="0" sz="4200" spc="-250">
                <a:latin typeface="Arial"/>
                <a:cs typeface="Arial"/>
              </a:rPr>
              <a:t> </a:t>
            </a:r>
            <a:r>
              <a:rPr dirty="0" sz="4100" spc="5">
                <a:latin typeface="Roboto Condensed"/>
                <a:cs typeface="Roboto Condensed"/>
              </a:rPr>
              <a:t>Review </a:t>
            </a:r>
            <a:r>
              <a:rPr dirty="0" sz="4100" spc="10">
                <a:latin typeface="Roboto Condensed"/>
                <a:cs typeface="Roboto Condensed"/>
              </a:rPr>
              <a:t>and </a:t>
            </a:r>
            <a:r>
              <a:rPr dirty="0" sz="4100" spc="-10">
                <a:latin typeface="Roboto Condensed"/>
                <a:cs typeface="Roboto Condensed"/>
              </a:rPr>
              <a:t>Clarification </a:t>
            </a:r>
            <a:r>
              <a:rPr dirty="0" sz="4200" spc="2510">
                <a:latin typeface="Arial"/>
                <a:cs typeface="Arial"/>
              </a:rPr>
              <a:t>📝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9413240" cy="180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notes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insights and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concepts.</a:t>
            </a:r>
            <a:endParaRPr sz="1800">
              <a:latin typeface="Roboto"/>
              <a:cs typeface="Roboto"/>
            </a:endParaRPr>
          </a:p>
          <a:p>
            <a:pPr marL="146050" marR="1016635" indent="-133985">
              <a:lnSpc>
                <a:spcPct val="114599"/>
              </a:lnSpc>
              <a:spcBef>
                <a:spcPts val="97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recording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will be made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  approximately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3-4 hours after the session ends.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4599"/>
              </a:lnSpc>
              <a:spcBef>
                <a:spcPts val="97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don't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hesitate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ask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clarification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any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discussed in class.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It's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crucial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questions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accumulate.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39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11491"/>
            <a:ext cx="6812915" cy="6654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 spc="2510">
                <a:latin typeface="Arial"/>
                <a:cs typeface="Arial"/>
              </a:rPr>
              <a:t>📖</a:t>
            </a:r>
            <a:r>
              <a:rPr dirty="0" sz="4200" spc="-260">
                <a:latin typeface="Arial"/>
                <a:cs typeface="Arial"/>
              </a:rPr>
              <a:t> </a:t>
            </a:r>
            <a:r>
              <a:rPr dirty="0" sz="4100" spc="10">
                <a:latin typeface="Roboto Condensed"/>
                <a:cs typeface="Roboto Condensed"/>
              </a:rPr>
              <a:t>Recommended Readings </a:t>
            </a:r>
            <a:r>
              <a:rPr dirty="0" sz="4200" spc="2510">
                <a:latin typeface="Arial"/>
                <a:cs typeface="Arial"/>
              </a:rPr>
              <a:t>📖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01775"/>
            <a:ext cx="7590790" cy="2519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155">
                <a:solidFill>
                  <a:srgbClr val="585D60"/>
                </a:solidFill>
                <a:latin typeface="Arial"/>
                <a:cs typeface="Arial"/>
              </a:rPr>
              <a:t>🐍</a:t>
            </a:r>
            <a:r>
              <a:rPr dirty="0" sz="175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D60"/>
                </a:solidFill>
                <a:latin typeface="Roboto"/>
                <a:cs typeface="Roboto"/>
              </a:rPr>
              <a:t>Python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Prep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Getting </a:t>
            </a:r>
            <a:r>
              <a:rPr dirty="0" sz="180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Started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with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Conda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Data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Structures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2132D"/>
              </a:buClr>
              <a:buFont typeface="Roboto"/>
              <a:buChar char="•"/>
            </a:pPr>
            <a:endParaRPr sz="2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1155">
                <a:solidFill>
                  <a:srgbClr val="585D60"/>
                </a:solidFill>
                <a:latin typeface="Arial"/>
                <a:cs typeface="Arial"/>
              </a:rPr>
              <a:t>🤖</a:t>
            </a:r>
            <a:r>
              <a:rPr dirty="0" sz="175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85D60"/>
                </a:solidFill>
                <a:latin typeface="Roboto"/>
                <a:cs typeface="Roboto"/>
              </a:rPr>
              <a:t>LLM: Prep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A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Very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Gentle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Introduction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to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Large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Language Models without the</a:t>
            </a:r>
            <a:r>
              <a:rPr dirty="0" sz="1800" spc="2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Hype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39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16560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50" spc="2625">
                <a:latin typeface="Arial"/>
                <a:cs typeface="Arial"/>
              </a:rPr>
              <a:t>🎯</a:t>
            </a:r>
            <a:r>
              <a:rPr dirty="0" sz="4050" spc="-245">
                <a:latin typeface="Arial"/>
                <a:cs typeface="Arial"/>
              </a:rPr>
              <a:t> </a:t>
            </a:r>
            <a:r>
              <a:rPr dirty="0" sz="4100" spc="10">
                <a:latin typeface="Roboto Condensed"/>
                <a:cs typeface="Roboto Condensed"/>
              </a:rPr>
              <a:t>Assignment </a:t>
            </a:r>
            <a:r>
              <a:rPr dirty="0" sz="4050" spc="2625">
                <a:latin typeface="Arial"/>
                <a:cs typeface="Arial"/>
              </a:rPr>
              <a:t>🎯</a:t>
            </a:r>
            <a:endParaRPr sz="4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6277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notes and complete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Assignment 01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2025-08-24T17:46:16Z</dcterms:created>
  <dcterms:modified xsi:type="dcterms:W3CDTF">2025-08-24T17:46:16Z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2025-08-24T00:00:00Z</vt:filetime>
  </property>
  <property fmtid="{D5CDD505-2E9C-101B-9397-08002B2CF9AE}" pid="3" name="Creator">
    <vt:lpwstr>Mozilla/5.0 (Windows NT 10.0; Win64; x64) AppleWebKit/537.36 (KHTML, like Gecko) Chrome/139.0.0.0 Safari/537.36</vt:lpwstr>
  </property>
  <property fmtid="{D5CDD505-2E9C-101B-9397-08002B2CF9AE}" pid="4" name="LastSaved">
    <vt:filetime>2025-08-24T00:00:00Z</vt:filetime>
  </property>
</Properties>
</file>