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148754" y="1604644"/>
            <a:ext cx="4117340" cy="3473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94912" y="320675"/>
            <a:ext cx="139763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8990" y="1376044"/>
            <a:ext cx="9273619" cy="3806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andas.pydata.org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www.linkedin.com/jobs/search/?currentJobId=4136740121&amp;geoId=103644278&amp;keywords=%22Forecasting%22%20R&amp;origin=JOB_SEARCH_PAGE_SEARCH_BUTTON&amp;refresh=true" TargetMode="External"/><Relationship Id="rId4" Type="http://schemas.openxmlformats.org/officeDocument/2006/relationships/hyperlink" Target="https://www.linkedin.com/jobs/search/?currentJobId=4063819662&amp;geoId=103644278&amp;keywords=%22Forecasting%22%20Python&amp;origin=JOB_SEARCH_PAGE_SEARCH_BUTTON&amp;refresh=true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hyperlink" Target="https://valeman.medium.com/python-vs-r-for-time-series-forecasting-395390432598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hyperlink" Target="https://valeman.medium.com/python-vs-r-for-time-series-forecasting-395390432598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s://www.linkedin.com/jobs/view/sr-machine-learning-engineer-autobidder-at-tesla-4277234017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lab.research.google.com/" TargetMode="External"/><Relationship Id="rId3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lab.research.google.com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naconda.com/" TargetMode="External"/><Relationship Id="rId3" Type="http://schemas.openxmlformats.org/officeDocument/2006/relationships/hyperlink" Target="https://www.anaconda.com/download/success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hyperlink" Target="https://code.visualstudio.com/docs/python/python-tutorial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ola.rs/" TargetMode="External"/><Relationship Id="rId3" Type="http://schemas.openxmlformats.org/officeDocument/2006/relationships/hyperlink" Target="https://pandas.pydata.org/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hyperlink" Target="https://pandas.pydata.org/docs/getting_started/index.html" TargetMode="External"/><Relationship Id="rId15" Type="http://schemas.openxmlformats.org/officeDocument/2006/relationships/hyperlink" Target="https://pandas.pydata.org/docs/_images/02_io_readwrite.svg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hyperlink" Target="https://pandas.pydata.org/docs/getting_started/index.html" TargetMode="External"/><Relationship Id="rId15" Type="http://schemas.openxmlformats.org/officeDocument/2006/relationships/hyperlink" Target="https://pandas.pydata.org/docs/user_guide/index.html" TargetMode="External"/><Relationship Id="rId16" Type="http://schemas.openxmlformats.org/officeDocument/2006/relationships/hyperlink" Target="https://pandas.pydata.org/docs/reference/index.html" TargetMode="External"/><Relationship Id="rId17" Type="http://schemas.openxmlformats.org/officeDocument/2006/relationships/hyperlink" Target="https://pandas.pydata.org/docs/development/index.html" TargetMode="External"/><Relationship Id="rId18" Type="http://schemas.openxmlformats.org/officeDocument/2006/relationships/hyperlink" Target="https://pandas.pydata.org/docs/whatsnew/index.html" TargetMode="External"/><Relationship Id="rId19" Type="http://schemas.openxmlformats.org/officeDocument/2006/relationships/hyperlink" Target="https://pandas.pydata.org/docs/reference/io.html" TargetMode="External"/><Relationship Id="rId20" Type="http://schemas.openxmlformats.org/officeDocument/2006/relationships/hyperlink" Target="https://pandas.pydata.org/docs/reference/api/pandas.read_pickle.html" TargetMode="External"/><Relationship Id="rId21" Type="http://schemas.openxmlformats.org/officeDocument/2006/relationships/hyperlink" Target="https://pandas.pydata.org/docs/reference/api/pandas.DataFrame.to_pickle.html" TargetMode="External"/><Relationship Id="rId22" Type="http://schemas.openxmlformats.org/officeDocument/2006/relationships/hyperlink" Target="https://pandas.pydata.org/docs/reference/api/pandas.read_table.html" TargetMode="External"/><Relationship Id="rId23" Type="http://schemas.openxmlformats.org/officeDocument/2006/relationships/hyperlink" Target="https://pandas.pydata.org/docs/reference/api/pandas.DataFrame.to_csv.html" TargetMode="External"/><Relationship Id="rId24" Type="http://schemas.openxmlformats.org/officeDocument/2006/relationships/hyperlink" Target="https://pandas.pydata.org/docs/reference/api/pandas.read_fwf.html" TargetMode="External"/><Relationship Id="rId25" Type="http://schemas.openxmlformats.org/officeDocument/2006/relationships/hyperlink" Target="https://pandas.pydata.org/docs/reference/api/pandas.read_clipboard.html" TargetMode="External"/><Relationship Id="rId26" Type="http://schemas.openxmlformats.org/officeDocument/2006/relationships/hyperlink" Target="https://pandas.pydata.org/docs/reference/api/pandas.DataFrame.to_clipboard.html" TargetMode="External"/><Relationship Id="rId27" Type="http://schemas.openxmlformats.org/officeDocument/2006/relationships/hyperlink" Target="https://pandas.pydata.org/docs/reference/api/pandas.read_csv.html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duke-energyohiocbp.com/Documents/LoadandOtherData.aspx" TargetMode="External"/><Relationship Id="rId3" Type="http://schemas.openxmlformats.org/officeDocument/2006/relationships/hyperlink" Target="https://pandas.pydata.org/docs/reference/io.html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amioh.instructure.com/courses/240425/files/36340085?module_item_id=6161473" TargetMode="External"/><Relationship Id="rId3" Type="http://schemas.openxmlformats.org/officeDocument/2006/relationships/hyperlink" Target="https://kahoot.it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andas.pydata.org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andas.pydata.org/docs/" TargetMode="External"/><Relationship Id="rId3" Type="http://schemas.openxmlformats.org/officeDocument/2006/relationships/hyperlink" Target="https://pandas.pydata.org/docs/user_guide/10min.html" TargetMode="External"/><Relationship Id="rId4" Type="http://schemas.openxmlformats.org/officeDocument/2006/relationships/hyperlink" Target="https://pandas.pydata.org/docs/user_guide/io.html" TargetMode="External"/><Relationship Id="rId5" Type="http://schemas.openxmlformats.org/officeDocument/2006/relationships/hyperlink" Target="https://pandas.pydata.org/docs/user_guide/indexing.html" TargetMode="External"/><Relationship Id="rId6" Type="http://schemas.openxmlformats.org/officeDocument/2006/relationships/hyperlink" Target="https://pandas.pydata.org/docs/user_guide/timeseries.html" TargetMode="External"/><Relationship Id="rId7" Type="http://schemas.openxmlformats.org/officeDocument/2006/relationships/hyperlink" Target="https://pandas.pydata.org/docs/getting_started/comparison/comparison_with_sql.html" TargetMode="External"/><Relationship Id="rId8" Type="http://schemas.openxmlformats.org/officeDocument/2006/relationships/hyperlink" Target="https://pandas.pydata.org/Pandas_Cheat_Sheet.pdf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594804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0">
                <a:solidFill>
                  <a:srgbClr val="FFFFFF"/>
                </a:solidFill>
                <a:latin typeface="Roboto Condensed"/>
                <a:cs typeface="Roboto Condensed"/>
              </a:rPr>
              <a:t>ISA 444/544: Business</a:t>
            </a:r>
            <a:r>
              <a:rPr dirty="0" sz="3350" spc="-6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FFFFFF"/>
                </a:solidFill>
                <a:latin typeface="Roboto Condensed"/>
                <a:cs typeface="Roboto Condensed"/>
              </a:rPr>
              <a:t>Forecasting</a:t>
            </a:r>
            <a:endParaRPr sz="3350">
              <a:latin typeface="Roboto Condensed"/>
              <a:cs typeface="Roboto Condensed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02: A Python</a:t>
            </a:r>
            <a:r>
              <a:rPr dirty="0" sz="3000" spc="-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Primer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marL="12700" marR="20320">
              <a:lnSpc>
                <a:spcPts val="21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 Professor </a:t>
            </a:r>
            <a:r>
              <a:rPr dirty="0" sz="1850" spc="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Farmer School of</a:t>
            </a:r>
            <a:r>
              <a:rPr dirty="0" sz="1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975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19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Quick </a:t>
            </a:r>
            <a:r>
              <a:rPr dirty="0" sz="3350" spc="5">
                <a:latin typeface="Roboto Condensed"/>
                <a:cs typeface="Roboto Condensed"/>
              </a:rPr>
              <a:t>Refresher </a:t>
            </a:r>
            <a:r>
              <a:rPr dirty="0" sz="3350" spc="10">
                <a:latin typeface="Roboto Condensed"/>
                <a:cs typeface="Roboto Condensed"/>
              </a:rPr>
              <a:t>of Last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677400" cy="235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</a:t>
            </a:r>
            <a:r>
              <a:rPr dirty="0" sz="1800" spc="-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business.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components of 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time-series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trend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multiple seasonality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cycles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Explain the concept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data-generating process</a:t>
            </a:r>
            <a:r>
              <a:rPr dirty="0" sz="1800" spc="-1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(DGP)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Discuss limits of</a:t>
            </a:r>
            <a:r>
              <a:rPr dirty="0" sz="1800" spc="-10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</a:t>
            </a:r>
            <a:r>
              <a:rPr dirty="0" sz="1800" spc="-9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terminology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Learning </a:t>
            </a:r>
            <a:r>
              <a:rPr dirty="0" sz="3350" spc="5">
                <a:latin typeface="Roboto Condensed"/>
                <a:cs typeface="Roboto Condensed"/>
              </a:rPr>
              <a:t>Objectives for </a:t>
            </a:r>
            <a:r>
              <a:rPr dirty="0" sz="3350" spc="-35">
                <a:latin typeface="Roboto Condensed"/>
                <a:cs typeface="Roboto Condensed"/>
              </a:rPr>
              <a:t>Today's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5747385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Setting up Python (Colab, Anaconda, and/or VS</a:t>
            </a:r>
            <a:r>
              <a:rPr dirty="0" sz="1800" spc="-5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Code)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Practice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basic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reading (from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CSVs and the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Web)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800" spc="-2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panda's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datatime, indexing, and slicing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capabilities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(Optional) Discuss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generative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AI usage in Google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Colab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9792" y="2758440"/>
            <a:ext cx="4173220" cy="1042669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47650">
              <a:lnSpc>
                <a:spcPct val="100000"/>
              </a:lnSpc>
              <a:spcBef>
                <a:spcPts val="1105"/>
              </a:spcBef>
            </a:pP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15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815">
                <a:solidFill>
                  <a:srgbClr val="FFFFFF"/>
                </a:solidFill>
                <a:latin typeface="Roboto Condensed"/>
                <a:cs typeface="Roboto Condensed"/>
              </a:rPr>
              <a:t>g</a:t>
            </a:r>
            <a:r>
              <a:rPr dirty="0" sz="4100" spc="-72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1080">
                <a:solidFill>
                  <a:srgbClr val="000000"/>
                </a:solidFill>
                <a:latin typeface="Roboto Condensed"/>
                <a:cs typeface="Roboto Condensed"/>
              </a:rPr>
              <a:t>U</a:t>
            </a:r>
            <a:r>
              <a:rPr dirty="0" sz="4100" spc="-1080">
                <a:solidFill>
                  <a:srgbClr val="FFFFFF"/>
                </a:solidFill>
                <a:latin typeface="Roboto Condensed"/>
                <a:cs typeface="Roboto Condensed"/>
              </a:rPr>
              <a:t>U</a:t>
            </a:r>
            <a:r>
              <a:rPr dirty="0" sz="4100" spc="-1080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1080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30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930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930">
                <a:solidFill>
                  <a:srgbClr val="000000"/>
                </a:solidFill>
                <a:latin typeface="Roboto Condensed"/>
                <a:cs typeface="Roboto Condensed"/>
              </a:rPr>
              <a:t>y</a:t>
            </a:r>
            <a:r>
              <a:rPr dirty="0" sz="4100" spc="-930">
                <a:solidFill>
                  <a:srgbClr val="FFFFFF"/>
                </a:solidFill>
                <a:latin typeface="Roboto Condensed"/>
                <a:cs typeface="Roboto Condensed"/>
              </a:rPr>
              <a:t>y</a:t>
            </a:r>
            <a:r>
              <a:rPr dirty="0" sz="4100" spc="-93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3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930">
                <a:solidFill>
                  <a:srgbClr val="000000"/>
                </a:solidFill>
                <a:latin typeface="Roboto Condensed"/>
                <a:cs typeface="Roboto Condensed"/>
              </a:rPr>
              <a:t>h</a:t>
            </a:r>
            <a:r>
              <a:rPr dirty="0" sz="4100" spc="-930">
                <a:solidFill>
                  <a:srgbClr val="FFFFFF"/>
                </a:solidFill>
                <a:latin typeface="Roboto Condensed"/>
                <a:cs typeface="Roboto Condensed"/>
              </a:rPr>
              <a:t>h</a:t>
            </a:r>
            <a:r>
              <a:rPr dirty="0" sz="4100" spc="-93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93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93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3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3585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Why Python? Insights </a:t>
            </a:r>
            <a:r>
              <a:rPr dirty="0" sz="3350">
                <a:latin typeface="Roboto Condensed"/>
                <a:cs typeface="Roboto Condensed"/>
              </a:rPr>
              <a:t>from </a:t>
            </a:r>
            <a:r>
              <a:rPr dirty="0" sz="3350" spc="10">
                <a:latin typeface="Roboto Condensed"/>
                <a:cs typeface="Roboto Condensed"/>
              </a:rPr>
              <a:t>a </a:t>
            </a:r>
            <a:r>
              <a:rPr dirty="0" sz="3350" spc="5">
                <a:latin typeface="Roboto Condensed"/>
                <a:cs typeface="Roboto Condensed"/>
              </a:rPr>
              <a:t>LinkedIn </a:t>
            </a:r>
            <a:r>
              <a:rPr dirty="0" sz="3350" spc="10">
                <a:latin typeface="Roboto Condensed"/>
                <a:cs typeface="Roboto Condensed"/>
              </a:rPr>
              <a:t>Job</a:t>
            </a:r>
            <a:r>
              <a:rPr dirty="0" sz="3350" spc="-10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Search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85950" y="1428750"/>
            <a:ext cx="7753349" cy="4162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586263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58721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58578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58578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5934233"/>
            <a:ext cx="9300845" cy="4921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21300"/>
              </a:lnSpc>
              <a:spcBef>
                <a:spcPts val="5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Note: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above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image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screenshot from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LinkedIn's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job search results for "forecasting"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jobs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January 29, 2025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. While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LinkedIn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may not be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best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source for job market trends,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it 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does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provide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snapshot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demand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 forecasting skills in the job market.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results are clearly in favor of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Python (112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jobs) over </a:t>
            </a:r>
            <a:r>
              <a:rPr dirty="0" sz="850" spc="20" b="1">
                <a:solidFill>
                  <a:srgbClr val="C2132D"/>
                </a:solidFill>
                <a:latin typeface="Roboto"/>
                <a:cs typeface="Roboto"/>
              </a:rPr>
              <a:t>R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(9 jobs)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can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replicate the search by clicking 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following links: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R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Forecasting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Jobs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Python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Forecasting</a:t>
            </a:r>
            <a:r>
              <a:rPr dirty="0" sz="850" spc="-6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Jobs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5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9289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Why Python? </a:t>
            </a:r>
            <a:r>
              <a:rPr dirty="0" sz="3350" spc="5">
                <a:latin typeface="Roboto Condensed"/>
                <a:cs typeface="Roboto Condensed"/>
              </a:rPr>
              <a:t>Pedagogical</a:t>
            </a:r>
            <a:r>
              <a:rPr dirty="0" sz="3350" spc="10">
                <a:latin typeface="Roboto Condensed"/>
                <a:cs typeface="Roboto Condensed"/>
              </a:rPr>
              <a:t> Reasons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21681" y="1428749"/>
            <a:ext cx="8368027" cy="4362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112818"/>
            <a:ext cx="8952865" cy="31877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Image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 opinionated article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by Valeriy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Manokhin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Python vs R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for time-series forecasting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on Medium. While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article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opinionated,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it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does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provide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good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overview of</a:t>
            </a:r>
            <a:r>
              <a:rPr dirty="0" sz="850" spc="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endParaRPr sz="8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strengths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weaknesses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Python and R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 time-series</a:t>
            </a:r>
            <a:r>
              <a:rPr dirty="0" sz="850" spc="-6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forecasting.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9289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Why Python? </a:t>
            </a:r>
            <a:r>
              <a:rPr dirty="0" sz="3350" spc="5">
                <a:latin typeface="Roboto Condensed"/>
                <a:cs typeface="Roboto Condensed"/>
              </a:rPr>
              <a:t>Pedagogical</a:t>
            </a:r>
            <a:r>
              <a:rPr dirty="0" sz="3350" spc="10">
                <a:latin typeface="Roboto Condensed"/>
                <a:cs typeface="Roboto Condensed"/>
              </a:rPr>
              <a:t> Reasons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72457" y="1736832"/>
            <a:ext cx="8392639" cy="39064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112818"/>
            <a:ext cx="8952865" cy="31877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Image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 opinionated article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by Valeriy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Manokhin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Python vs R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for time-series forecasting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on Medium. While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article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opinionated,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it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does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provide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good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overview of</a:t>
            </a:r>
            <a:r>
              <a:rPr dirty="0" sz="850" spc="9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endParaRPr sz="8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strengths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weaknesses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Python and R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 time-series</a:t>
            </a:r>
            <a:r>
              <a:rPr dirty="0" sz="850" spc="-6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forecasting.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9289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Why Python? </a:t>
            </a:r>
            <a:r>
              <a:rPr dirty="0" sz="3350" spc="5">
                <a:latin typeface="Roboto Condensed"/>
                <a:cs typeface="Roboto Condensed"/>
              </a:rPr>
              <a:t>Pedagogical</a:t>
            </a:r>
            <a:r>
              <a:rPr dirty="0" sz="3350" spc="10">
                <a:latin typeface="Roboto Condensed"/>
                <a:cs typeface="Roboto Condensed"/>
              </a:rPr>
              <a:t> Reasons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38499" y="1441118"/>
            <a:ext cx="5048249" cy="4483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077108"/>
            <a:ext cx="9247505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Image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-5">
                <a:solidFill>
                  <a:srgbClr val="585D60"/>
                </a:solidFill>
                <a:latin typeface="Roboto"/>
                <a:cs typeface="Roboto"/>
              </a:rPr>
              <a:t>Tesla's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preferred qualifications for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850" spc="-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Sr.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Machine Learning Engineer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confirming 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importance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Python,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transition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ML-DL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in forecasting,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use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Nixtla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group  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packages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that </a:t>
            </a:r>
            <a:r>
              <a:rPr dirty="0" sz="850" spc="20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will utilize this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semester.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So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graduate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#BeyondReady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graduates, you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need </a:t>
            </a: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be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introduced </a:t>
            </a: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state-of-the-art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, which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readily available in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Python but not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in</a:t>
            </a:r>
            <a:r>
              <a:rPr dirty="0" sz="85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R.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8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4443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latin typeface="Roboto Condensed"/>
                <a:cs typeface="Roboto Condensed"/>
              </a:rPr>
              <a:t>Python </a:t>
            </a:r>
            <a:r>
              <a:rPr dirty="0" sz="3350" spc="10">
                <a:latin typeface="Roboto Condensed"/>
                <a:cs typeface="Roboto Condensed"/>
              </a:rPr>
              <a:t>via Google Colab: </a:t>
            </a:r>
            <a:r>
              <a:rPr dirty="0" sz="3350" spc="-5">
                <a:latin typeface="Roboto Condensed"/>
                <a:cs typeface="Roboto Condensed"/>
              </a:rPr>
              <a:t>Preferred </a:t>
            </a:r>
            <a:r>
              <a:rPr dirty="0" sz="3350" spc="10">
                <a:latin typeface="Roboto Condensed"/>
                <a:cs typeface="Roboto Condensed"/>
              </a:rPr>
              <a:t>Choice </a:t>
            </a:r>
            <a:r>
              <a:rPr dirty="0" sz="3350" spc="5">
                <a:latin typeface="Roboto Condensed"/>
                <a:cs typeface="Roboto Condensed"/>
              </a:rPr>
              <a:t>for </a:t>
            </a:r>
            <a:r>
              <a:rPr dirty="0" sz="3350" spc="10">
                <a:latin typeface="Roboto Condensed"/>
                <a:cs typeface="Roboto Condensed"/>
              </a:rPr>
              <a:t>our</a:t>
            </a:r>
            <a:r>
              <a:rPr dirty="0" sz="3350" spc="-2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62440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Google Colab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free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cloud service for running Python in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Jupyter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notebook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environment.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offers free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access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GPUs and TPUs, useful in running deep learning</a:t>
            </a:r>
            <a:r>
              <a:rPr dirty="0" sz="1800" spc="-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models.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get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started,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new notebook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clicking on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New</a:t>
            </a:r>
            <a:r>
              <a:rPr dirty="0" sz="1800" spc="4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Notebook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1724" y="2847974"/>
            <a:ext cx="6781800" cy="32194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9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425575"/>
            <a:ext cx="8914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new notebook in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Google Colab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run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following code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observe the output.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4944109"/>
            <a:ext cx="532892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separate cells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try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following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observe the</a:t>
            </a:r>
            <a:r>
              <a:rPr dirty="0" sz="1600" spc="4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output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2149" y="5439409"/>
            <a:ext cx="9318625" cy="9563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32715" indent="-120650">
              <a:lnSpc>
                <a:spcPct val="100000"/>
              </a:lnSpc>
              <a:spcBef>
                <a:spcPts val="120"/>
              </a:spcBef>
              <a:buClr>
                <a:srgbClr val="C2132D"/>
              </a:buClr>
              <a:buChar char="•"/>
              <a:tabLst>
                <a:tab pos="133350" algn="l"/>
              </a:tabLst>
            </a:pPr>
            <a:r>
              <a:rPr dirty="0" sz="1600" spc="-15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remove </a:t>
            </a: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kind='line'</a:t>
            </a:r>
            <a:r>
              <a:rPr dirty="0" sz="1500" spc="-484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from 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code and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rerun the cell.</a:t>
            </a:r>
            <a:endParaRPr sz="1600">
              <a:latin typeface="Roboto"/>
              <a:cs typeface="Roboto"/>
            </a:endParaRPr>
          </a:p>
          <a:p>
            <a:pPr marL="132715" indent="-120650">
              <a:lnSpc>
                <a:spcPct val="100000"/>
              </a:lnSpc>
              <a:spcBef>
                <a:spcPts val="1230"/>
              </a:spcBef>
              <a:buClr>
                <a:srgbClr val="C2132D"/>
              </a:buClr>
              <a:buChar char="•"/>
              <a:tabLst>
                <a:tab pos="133350" algn="l"/>
              </a:tabLst>
            </a:pPr>
            <a:r>
              <a:rPr dirty="0" sz="1600" spc="-15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add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following function in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 new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line before the </a:t>
            </a: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plt.show()</a:t>
            </a:r>
            <a:r>
              <a:rPr dirty="0" sz="1500" spc="-46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function:</a:t>
            </a:r>
            <a:endParaRPr sz="1600">
              <a:latin typeface="Roboto"/>
              <a:cs typeface="Roboto"/>
            </a:endParaRPr>
          </a:p>
          <a:p>
            <a:pPr marL="275590">
              <a:lnSpc>
                <a:spcPct val="100000"/>
              </a:lnSpc>
              <a:spcBef>
                <a:spcPts val="430"/>
              </a:spcBef>
            </a:pP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sns.move_legend(ax, loc = "lower center", bbox_to_anchor=(0.5, 0.85),</a:t>
            </a:r>
            <a:r>
              <a:rPr dirty="0" sz="1500" spc="14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500" spc="20">
                <a:solidFill>
                  <a:srgbClr val="C2132D"/>
                </a:solidFill>
                <a:latin typeface="Courier New"/>
                <a:cs typeface="Courier New"/>
              </a:rPr>
              <a:t>ncol=3)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1981200"/>
            <a:ext cx="9696450" cy="27336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7950">
              <a:lnSpc>
                <a:spcPts val="1600"/>
              </a:lnSpc>
              <a:spcBef>
                <a:spcPts val="675"/>
              </a:spcBef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seaborn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350" spc="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sns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575"/>
              </a:lnSpc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350" spc="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595"/>
              </a:lnSpc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matplotlib.pyplot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350" spc="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plt</a:t>
            </a:r>
            <a:endParaRPr sz="1350">
              <a:latin typeface="Courier New"/>
              <a:cs typeface="Courier New"/>
            </a:endParaRPr>
          </a:p>
          <a:p>
            <a:pPr marL="107950" marR="2282825">
              <a:lnSpc>
                <a:spcPct val="174100"/>
              </a:lnSpc>
              <a:spcBef>
                <a:spcPts val="8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healthexp = sns.load_dataset(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'healthexp'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 Load the healthexp</a:t>
            </a:r>
            <a:r>
              <a:rPr dirty="0" sz="140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dataset 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 Use the relplot function to</a:t>
            </a:r>
            <a:r>
              <a:rPr dirty="0" sz="1400" spc="-3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plot</a:t>
            </a:r>
            <a:endParaRPr sz="1400">
              <a:latin typeface="Courier New"/>
              <a:cs typeface="Courier New"/>
            </a:endParaRPr>
          </a:p>
          <a:p>
            <a:pPr marL="316865" marR="6452870" indent="-208915">
              <a:lnSpc>
                <a:spcPts val="1580"/>
              </a:lnSpc>
              <a:spcBef>
                <a:spcPts val="3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ax = sns.relplot(  data=healthexp,</a:t>
            </a:r>
            <a:r>
              <a:rPr dirty="0" sz="1350" spc="-7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kind=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'line'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00"/>
              </a:lnSpc>
              <a:tabLst>
                <a:tab pos="5216525" algn="l"/>
              </a:tabLst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'Year'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1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y=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'Life_Expectancy'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hue=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'Country'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	style=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'Country'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palette=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'Paired'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ct val="100000"/>
              </a:lnSpc>
              <a:spcBef>
                <a:spcPts val="125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plt.show()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 Show the</a:t>
            </a:r>
            <a:r>
              <a:rPr dirty="0" sz="1400" spc="-2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plot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10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89000" y="501650"/>
            <a:ext cx="102158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3350" spc="10">
                <a:latin typeface="Roboto Condensed"/>
                <a:cs typeface="Roboto Condensed"/>
              </a:rPr>
              <a:t>Class </a:t>
            </a:r>
            <a:r>
              <a:rPr dirty="0" sz="3350" spc="5">
                <a:latin typeface="Roboto Condensed"/>
                <a:cs typeface="Roboto Condensed"/>
              </a:rPr>
              <a:t>Activity: Navigating </a:t>
            </a:r>
            <a:r>
              <a:rPr dirty="0" sz="3350" spc="10">
                <a:latin typeface="Roboto Condensed"/>
                <a:cs typeface="Roboto Condensed"/>
              </a:rPr>
              <a:t>Colab + </a:t>
            </a:r>
            <a:r>
              <a:rPr dirty="0" sz="3350" spc="-20">
                <a:latin typeface="Roboto Condensed"/>
                <a:cs typeface="Roboto Condensed"/>
              </a:rPr>
              <a:t>Your </a:t>
            </a:r>
            <a:r>
              <a:rPr dirty="0" sz="3350" spc="10">
                <a:latin typeface="Roboto Condensed"/>
                <a:cs typeface="Roboto Condensed"/>
              </a:rPr>
              <a:t>First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r>
              <a:rPr dirty="0" sz="3350" spc="45">
                <a:latin typeface="Roboto Condensed"/>
                <a:cs typeface="Roboto Condensed"/>
              </a:rPr>
              <a:t> </a:t>
            </a:r>
            <a:r>
              <a:rPr dirty="0" sz="3350" spc="-745">
                <a:latin typeface="Roboto Condensed"/>
                <a:cs typeface="Roboto Condensed"/>
              </a:rPr>
              <a:t>C</a:t>
            </a:r>
            <a:r>
              <a:rPr dirty="0" baseline="21604" sz="5400" spc="-1117"/>
              <a:t>0</a:t>
            </a:r>
            <a:r>
              <a:rPr dirty="0" sz="3350" spc="-745">
                <a:latin typeface="Roboto Condensed"/>
                <a:cs typeface="Roboto Condensed"/>
              </a:rPr>
              <a:t>o</a:t>
            </a:r>
            <a:r>
              <a:rPr dirty="0" baseline="21604" sz="5400" spc="-1117"/>
              <a:t>2</a:t>
            </a:r>
            <a:r>
              <a:rPr dirty="0" sz="3350" spc="-745">
                <a:latin typeface="Roboto Condensed"/>
                <a:cs typeface="Roboto Condensed"/>
              </a:rPr>
              <a:t>d</a:t>
            </a:r>
            <a:r>
              <a:rPr dirty="0" baseline="21604" sz="5400" spc="-1117"/>
              <a:t>:</a:t>
            </a:r>
            <a:r>
              <a:rPr dirty="0" sz="3350" spc="-745">
                <a:latin typeface="Roboto Condensed"/>
                <a:cs typeface="Roboto Condensed"/>
              </a:rPr>
              <a:t>e</a:t>
            </a:r>
            <a:r>
              <a:rPr dirty="0" baseline="21604" sz="5400" spc="-1117"/>
              <a:t>30</a:t>
            </a:r>
            <a:endParaRPr baseline="21604" sz="5400">
              <a:latin typeface="Roboto Condensed"/>
              <a:cs typeface="Roboto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35088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latin typeface="Roboto Condensed"/>
                <a:cs typeface="Roboto Condensed"/>
              </a:rPr>
              <a:t>Python </a:t>
            </a:r>
            <a:r>
              <a:rPr dirty="0" sz="3350" spc="10">
                <a:latin typeface="Roboto Condensed"/>
                <a:cs typeface="Roboto Condensed"/>
              </a:rPr>
              <a:t>via Anaconda: </a:t>
            </a:r>
            <a:r>
              <a:rPr dirty="0" sz="3350">
                <a:latin typeface="Roboto Condensed"/>
                <a:cs typeface="Roboto Condensed"/>
              </a:rPr>
              <a:t>For </a:t>
            </a:r>
            <a:r>
              <a:rPr dirty="0" sz="3350" spc="10">
                <a:latin typeface="Roboto Condensed"/>
                <a:cs typeface="Roboto Condensed"/>
              </a:rPr>
              <a:t>Local Use </a:t>
            </a:r>
            <a:r>
              <a:rPr dirty="0" sz="3350" spc="5">
                <a:latin typeface="Roboto Condensed"/>
                <a:cs typeface="Roboto Condensed"/>
              </a:rPr>
              <a:t>(If </a:t>
            </a:r>
            <a:r>
              <a:rPr dirty="0" sz="3350">
                <a:latin typeface="Roboto Condensed"/>
                <a:cs typeface="Roboto Condensed"/>
              </a:rPr>
              <a:t>you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>
                <a:latin typeface="Roboto Condensed"/>
                <a:cs typeface="Roboto Condensed"/>
              </a:rPr>
              <a:t>Want)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8836025" cy="161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Anaconda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free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open-source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distribution of Python for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scientific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computing.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 comes with a package manager (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conda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 and a collection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pre-installed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packages.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get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started,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download Anaconda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here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create a new environment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running the following command in the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terminal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754" y="3930650"/>
            <a:ext cx="5935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activate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environment,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run the following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command: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754" y="5121275"/>
            <a:ext cx="706818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Then,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install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any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required packages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(done once)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running: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3286125"/>
            <a:ext cx="9696450" cy="4191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75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conda create --name isa444</a:t>
            </a:r>
            <a:r>
              <a:rPr dirty="0" sz="13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python=3.12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4476750"/>
            <a:ext cx="9696450" cy="4191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75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conda activate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isa444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5676899"/>
            <a:ext cx="9696450" cy="4191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7937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62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conda install statsforecast mlforecast neuralforecast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 and any other packages you</a:t>
            </a:r>
            <a:r>
              <a:rPr dirty="0" sz="140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need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3337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Anaconda + </a:t>
            </a:r>
            <a:r>
              <a:rPr dirty="0" sz="3350" spc="15">
                <a:latin typeface="Roboto Condensed"/>
                <a:cs typeface="Roboto Condensed"/>
              </a:rPr>
              <a:t>VS </a:t>
            </a:r>
            <a:r>
              <a:rPr dirty="0" sz="3350" spc="10">
                <a:latin typeface="Roboto Condensed"/>
                <a:cs typeface="Roboto Condensed"/>
              </a:rPr>
              <a:t>Code: </a:t>
            </a:r>
            <a:r>
              <a:rPr dirty="0" sz="3350">
                <a:latin typeface="Roboto Condensed"/>
                <a:cs typeface="Roboto Condensed"/>
              </a:rPr>
              <a:t>For </a:t>
            </a:r>
            <a:r>
              <a:rPr dirty="0" sz="3350" spc="10">
                <a:latin typeface="Roboto Condensed"/>
                <a:cs typeface="Roboto Condensed"/>
              </a:rPr>
              <a:t>Local Use </a:t>
            </a:r>
            <a:r>
              <a:rPr dirty="0" sz="3350" spc="5">
                <a:latin typeface="Roboto Condensed"/>
                <a:cs typeface="Roboto Condensed"/>
              </a:rPr>
              <a:t>(If </a:t>
            </a:r>
            <a:r>
              <a:rPr dirty="0" sz="3350">
                <a:latin typeface="Roboto Condensed"/>
                <a:cs typeface="Roboto Condensed"/>
              </a:rPr>
              <a:t>you</a:t>
            </a:r>
            <a:r>
              <a:rPr dirty="0" sz="3350" spc="-45">
                <a:latin typeface="Roboto Condensed"/>
                <a:cs typeface="Roboto Condensed"/>
              </a:rPr>
              <a:t> </a:t>
            </a:r>
            <a:r>
              <a:rPr dirty="0" sz="3350">
                <a:latin typeface="Roboto Condensed"/>
                <a:cs typeface="Roboto Condensed"/>
              </a:rPr>
              <a:t>Want)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57499" y="1428750"/>
            <a:ext cx="5810250" cy="4352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77392" y="5892799"/>
            <a:ext cx="8170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Please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 through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Getting </a:t>
            </a:r>
            <a:r>
              <a:rPr dirty="0" sz="1800" spc="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Started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with Python in VS Code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more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details.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0696" y="2758440"/>
            <a:ext cx="6501765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1105"/>
              </a:spcBef>
            </a:pP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6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860">
                <a:solidFill>
                  <a:srgbClr val="FFFFFF"/>
                </a:solidFill>
                <a:latin typeface="Roboto Condensed"/>
                <a:cs typeface="Roboto Condensed"/>
              </a:rPr>
              <a:t>g 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a 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U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U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g</a:t>
            </a:r>
            <a:r>
              <a:rPr dirty="0" sz="4100" spc="-90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8244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What is</a:t>
            </a:r>
            <a:r>
              <a:rPr dirty="0" sz="3350" spc="-50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Pandas?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391650" cy="1749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149225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Along with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polars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it is one of the most popular data analysis and manipulation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libraries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 Python, designed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make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working with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'relational'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'labeled' data both easy and</a:t>
            </a:r>
            <a:r>
              <a:rPr dirty="0" sz="1800" spc="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intuitive.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6300"/>
              </a:lnSpc>
              <a:spcBef>
                <a:spcPts val="93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pandas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supports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integration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many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formats or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sources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out of 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box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csv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excel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sql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json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parquet,…).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Importing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each of these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sources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provided  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function with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prefix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read_*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Similarly,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to_*</a:t>
            </a:r>
            <a:r>
              <a:rPr dirty="0" sz="1700" spc="-54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methods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store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data.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440059" y="4048848"/>
          <a:ext cx="2645410" cy="1332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4845"/>
                <a:gridCol w="671195"/>
                <a:gridCol w="657860"/>
                <a:gridCol w="651510"/>
              </a:tblGrid>
              <a:tr h="3560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397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AFABAB"/>
                    </a:solidFill>
                  </a:tcPr>
                </a:tc>
              </a:tr>
              <a:tr h="975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3975">
                      <a:solidFill>
                        <a:srgbClr val="FFFFFF"/>
                      </a:solidFill>
                      <a:prstDash val="solid"/>
                    </a:ln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FABAB">
                        <a:alpha val="392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FABAB">
                        <a:alpha val="392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AFABAB">
                        <a:alpha val="3921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8226669" y="3551045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682960" y="3551045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90" h="121920">
                <a:moveTo>
                  <a:pt x="122761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1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329644" y="3667172"/>
            <a:ext cx="334010" cy="250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CSV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30785" y="3579384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 h="0">
                <a:moveTo>
                  <a:pt x="0" y="0"/>
                </a:moveTo>
                <a:lnTo>
                  <a:pt x="452175" y="0"/>
                </a:lnTo>
              </a:path>
            </a:pathLst>
          </a:custGeom>
          <a:ln w="56678">
            <a:solidFill>
              <a:srgbClr val="744F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09729" y="3974946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 h="0">
                <a:moveTo>
                  <a:pt x="0" y="0"/>
                </a:moveTo>
                <a:lnTo>
                  <a:pt x="411158" y="0"/>
                </a:lnTo>
              </a:path>
            </a:pathLst>
          </a:custGeom>
          <a:ln w="39242">
            <a:solidFill>
              <a:srgbClr val="AF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309729" y="4039492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 h="0">
                <a:moveTo>
                  <a:pt x="0" y="0"/>
                </a:moveTo>
                <a:lnTo>
                  <a:pt x="411158" y="0"/>
                </a:lnTo>
              </a:path>
            </a:pathLst>
          </a:custGeom>
          <a:ln w="39242">
            <a:solidFill>
              <a:srgbClr val="AF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309729" y="4104038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 h="0">
                <a:moveTo>
                  <a:pt x="0" y="0"/>
                </a:moveTo>
                <a:lnTo>
                  <a:pt x="411158" y="0"/>
                </a:lnTo>
              </a:path>
            </a:pathLst>
          </a:custGeom>
          <a:ln w="39242">
            <a:solidFill>
              <a:srgbClr val="AF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09729" y="4168584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 h="0">
                <a:moveTo>
                  <a:pt x="0" y="0"/>
                </a:moveTo>
                <a:lnTo>
                  <a:pt x="411158" y="0"/>
                </a:lnTo>
              </a:path>
            </a:pathLst>
          </a:custGeom>
          <a:ln w="39242">
            <a:solidFill>
              <a:srgbClr val="AF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85449" y="3551045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1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341742" y="3551045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90" h="121920">
                <a:moveTo>
                  <a:pt x="122760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0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997039" y="3667172"/>
            <a:ext cx="334010" cy="250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XLS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55153" y="3955321"/>
            <a:ext cx="238494" cy="2328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889566" y="3579384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 h="0">
                <a:moveTo>
                  <a:pt x="0" y="0"/>
                </a:moveTo>
                <a:lnTo>
                  <a:pt x="452175" y="0"/>
                </a:lnTo>
              </a:path>
            </a:pathLst>
          </a:custGeom>
          <a:ln w="56678">
            <a:solidFill>
              <a:srgbClr val="20724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544231" y="3551045"/>
            <a:ext cx="579052" cy="7124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576258" y="3705965"/>
            <a:ext cx="46799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PARQUET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26668" y="4356389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682959" y="4356389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90" h="121920">
                <a:moveTo>
                  <a:pt x="122761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1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230784" y="4384728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 h="0">
                <a:moveTo>
                  <a:pt x="0" y="0"/>
                </a:moveTo>
                <a:lnTo>
                  <a:pt x="452175" y="0"/>
                </a:lnTo>
              </a:path>
            </a:pathLst>
          </a:custGeom>
          <a:ln w="56678">
            <a:solidFill>
              <a:srgbClr val="D454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885449" y="4356389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341741" y="4356389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90" h="121920">
                <a:moveTo>
                  <a:pt x="122761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1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889566" y="4384728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 h="0">
                <a:moveTo>
                  <a:pt x="0" y="0"/>
                </a:moveTo>
                <a:lnTo>
                  <a:pt x="452175" y="0"/>
                </a:lnTo>
              </a:path>
            </a:pathLst>
          </a:custGeom>
          <a:ln w="56678">
            <a:solidFill>
              <a:srgbClr val="2BAB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003383" y="4782751"/>
            <a:ext cx="342265" cy="189230"/>
          </a:xfrm>
          <a:custGeom>
            <a:avLst/>
            <a:gdLst/>
            <a:ahLst/>
            <a:cxnLst/>
            <a:rect l="l" t="t" r="r" b="b"/>
            <a:pathLst>
              <a:path w="342265" h="189229">
                <a:moveTo>
                  <a:pt x="129128" y="76435"/>
                </a:moveTo>
                <a:lnTo>
                  <a:pt x="95709" y="76435"/>
                </a:lnTo>
                <a:lnTo>
                  <a:pt x="95815" y="13924"/>
                </a:lnTo>
                <a:lnTo>
                  <a:pt x="96783" y="10540"/>
                </a:lnTo>
                <a:lnTo>
                  <a:pt x="98020" y="8017"/>
                </a:lnTo>
                <a:lnTo>
                  <a:pt x="102162" y="2547"/>
                </a:lnTo>
                <a:lnTo>
                  <a:pt x="107079" y="0"/>
                </a:lnTo>
                <a:lnTo>
                  <a:pt x="327886" y="275"/>
                </a:lnTo>
                <a:lnTo>
                  <a:pt x="342234" y="23422"/>
                </a:lnTo>
                <a:lnTo>
                  <a:pt x="337149" y="30784"/>
                </a:lnTo>
                <a:lnTo>
                  <a:pt x="327523" y="33567"/>
                </a:lnTo>
                <a:lnTo>
                  <a:pt x="246261" y="33673"/>
                </a:lnTo>
                <a:lnTo>
                  <a:pt x="246261" y="34387"/>
                </a:lnTo>
                <a:lnTo>
                  <a:pt x="129128" y="34387"/>
                </a:lnTo>
                <a:lnTo>
                  <a:pt x="129128" y="76435"/>
                </a:lnTo>
                <a:close/>
              </a:path>
              <a:path w="342265" h="189229">
                <a:moveTo>
                  <a:pt x="18550" y="187761"/>
                </a:moveTo>
                <a:lnTo>
                  <a:pt x="0" y="173434"/>
                </a:lnTo>
                <a:lnTo>
                  <a:pt x="27" y="13924"/>
                </a:lnTo>
                <a:lnTo>
                  <a:pt x="19954" y="281"/>
                </a:lnTo>
                <a:lnTo>
                  <a:pt x="20993" y="503"/>
                </a:lnTo>
                <a:lnTo>
                  <a:pt x="33249" y="76435"/>
                </a:lnTo>
                <a:lnTo>
                  <a:pt x="129128" y="76435"/>
                </a:lnTo>
                <a:lnTo>
                  <a:pt x="129128" y="110104"/>
                </a:lnTo>
                <a:lnTo>
                  <a:pt x="33248" y="110104"/>
                </a:lnTo>
                <a:lnTo>
                  <a:pt x="33136" y="170970"/>
                </a:lnTo>
                <a:lnTo>
                  <a:pt x="22941" y="186627"/>
                </a:lnTo>
                <a:lnTo>
                  <a:pt x="18550" y="187761"/>
                </a:lnTo>
                <a:close/>
              </a:path>
              <a:path w="342265" h="189229">
                <a:moveTo>
                  <a:pt x="108915" y="187891"/>
                </a:moveTo>
                <a:lnTo>
                  <a:pt x="93994" y="169241"/>
                </a:lnTo>
                <a:lnTo>
                  <a:pt x="95692" y="161125"/>
                </a:lnTo>
                <a:lnTo>
                  <a:pt x="100723" y="156051"/>
                </a:lnTo>
                <a:lnTo>
                  <a:pt x="108303" y="154338"/>
                </a:lnTo>
                <a:lnTo>
                  <a:pt x="109825" y="154282"/>
                </a:lnTo>
                <a:lnTo>
                  <a:pt x="125340" y="154165"/>
                </a:lnTo>
                <a:lnTo>
                  <a:pt x="127571" y="154076"/>
                </a:lnTo>
                <a:lnTo>
                  <a:pt x="176793" y="138183"/>
                </a:lnTo>
                <a:lnTo>
                  <a:pt x="199153" y="101162"/>
                </a:lnTo>
                <a:lnTo>
                  <a:pt x="199589" y="91048"/>
                </a:lnTo>
                <a:lnTo>
                  <a:pt x="198282" y="81618"/>
                </a:lnTo>
                <a:lnTo>
                  <a:pt x="174605" y="49215"/>
                </a:lnTo>
                <a:lnTo>
                  <a:pt x="135864" y="35166"/>
                </a:lnTo>
                <a:lnTo>
                  <a:pt x="129128" y="34387"/>
                </a:lnTo>
                <a:lnTo>
                  <a:pt x="246261" y="34387"/>
                </a:lnTo>
                <a:lnTo>
                  <a:pt x="246261" y="77335"/>
                </a:lnTo>
                <a:lnTo>
                  <a:pt x="305187" y="77442"/>
                </a:lnTo>
                <a:lnTo>
                  <a:pt x="309907" y="78918"/>
                </a:lnTo>
                <a:lnTo>
                  <a:pt x="312543" y="80572"/>
                </a:lnTo>
                <a:lnTo>
                  <a:pt x="317439" y="85947"/>
                </a:lnTo>
                <a:lnTo>
                  <a:pt x="318897" y="89774"/>
                </a:lnTo>
                <a:lnTo>
                  <a:pt x="318897" y="98473"/>
                </a:lnTo>
                <a:lnTo>
                  <a:pt x="246268" y="110849"/>
                </a:lnTo>
                <a:lnTo>
                  <a:pt x="246206" y="148461"/>
                </a:lnTo>
                <a:lnTo>
                  <a:pt x="212757" y="148461"/>
                </a:lnTo>
                <a:lnTo>
                  <a:pt x="209024" y="152725"/>
                </a:lnTo>
                <a:lnTo>
                  <a:pt x="203941" y="157680"/>
                </a:lnTo>
                <a:lnTo>
                  <a:pt x="162449" y="180960"/>
                </a:lnTo>
                <a:lnTo>
                  <a:pt x="118324" y="187749"/>
                </a:lnTo>
                <a:lnTo>
                  <a:pt x="108915" y="187891"/>
                </a:lnTo>
                <a:close/>
              </a:path>
              <a:path w="342265" h="189229">
                <a:moveTo>
                  <a:pt x="227900" y="188796"/>
                </a:moveTo>
                <a:lnTo>
                  <a:pt x="226299" y="188449"/>
                </a:lnTo>
                <a:lnTo>
                  <a:pt x="222746" y="187660"/>
                </a:lnTo>
                <a:lnTo>
                  <a:pt x="212757" y="148461"/>
                </a:lnTo>
                <a:lnTo>
                  <a:pt x="246206" y="148461"/>
                </a:lnTo>
                <a:lnTo>
                  <a:pt x="246162" y="174808"/>
                </a:lnTo>
                <a:lnTo>
                  <a:pt x="243665" y="182829"/>
                </a:lnTo>
                <a:lnTo>
                  <a:pt x="239026" y="187151"/>
                </a:lnTo>
                <a:lnTo>
                  <a:pt x="231074" y="188793"/>
                </a:lnTo>
                <a:lnTo>
                  <a:pt x="227900" y="188796"/>
                </a:lnTo>
                <a:close/>
              </a:path>
            </a:pathLst>
          </a:custGeom>
          <a:solidFill>
            <a:srgbClr val="2BAB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544232" y="4356389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8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0" y="0"/>
                </a:lnTo>
                <a:lnTo>
                  <a:pt x="577278" y="118921"/>
                </a:lnTo>
                <a:lnTo>
                  <a:pt x="577278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000523" y="4356389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90" h="121920">
                <a:moveTo>
                  <a:pt x="122760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0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548348" y="4384728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 h="0">
                <a:moveTo>
                  <a:pt x="0" y="0"/>
                </a:moveTo>
                <a:lnTo>
                  <a:pt x="452174" y="0"/>
                </a:lnTo>
              </a:path>
            </a:pathLst>
          </a:custGeom>
          <a:ln w="56678">
            <a:solidFill>
              <a:srgbClr val="7C45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240318" y="4233416"/>
            <a:ext cx="2792095" cy="786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7005">
              <a:lnSpc>
                <a:spcPts val="1945"/>
              </a:lnSpc>
              <a:spcBef>
                <a:spcPts val="95"/>
              </a:spcBef>
            </a:pPr>
            <a:r>
              <a:rPr dirty="0" sz="1650" spc="-5">
                <a:latin typeface="Consolas"/>
                <a:cs typeface="Consolas"/>
                <a:hlinkClick r:id="rId3"/>
              </a:rPr>
              <a:t>to_*</a:t>
            </a:r>
            <a:endParaRPr sz="1650">
              <a:latin typeface="Consolas"/>
              <a:cs typeface="Consolas"/>
            </a:endParaRPr>
          </a:p>
          <a:p>
            <a:pPr marL="12700">
              <a:lnSpc>
                <a:spcPts val="1700"/>
              </a:lnSpc>
              <a:tabLst>
                <a:tab pos="845185" algn="l"/>
                <a:tab pos="1047115" algn="l"/>
                <a:tab pos="1706245" algn="l"/>
                <a:tab pos="2367915" algn="l"/>
              </a:tabLst>
            </a:pPr>
            <a:r>
              <a:rPr dirty="0" u="heavy" sz="1450" spc="5">
                <a:solidFill>
                  <a:srgbClr val="AFABAB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heavy" sz="1450" spc="5">
                <a:solidFill>
                  <a:srgbClr val="AFABAB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	</a:t>
            </a:r>
            <a:r>
              <a:rPr dirty="0" sz="1450" spc="5">
                <a:solidFill>
                  <a:srgbClr val="AFABAB"/>
                </a:solidFill>
                <a:latin typeface="Times New Roman"/>
                <a:cs typeface="Times New Roman"/>
                <a:hlinkClick r:id="rId3"/>
              </a:rPr>
              <a:t>	</a:t>
            </a: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HTML</a:t>
            </a: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	</a:t>
            </a: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HDF5</a:t>
            </a: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	</a:t>
            </a: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JSON</a:t>
            </a:r>
            <a:endParaRPr sz="1450">
              <a:latin typeface="Consolas"/>
              <a:cs typeface="Consolas"/>
            </a:endParaRPr>
          </a:p>
          <a:p>
            <a:pPr marL="1063625">
              <a:lnSpc>
                <a:spcPts val="2335"/>
              </a:lnSpc>
              <a:tabLst>
                <a:tab pos="2445385" algn="l"/>
              </a:tabLst>
            </a:pPr>
            <a:r>
              <a:rPr dirty="0" sz="1950" spc="15">
                <a:solidFill>
                  <a:srgbClr val="D45400"/>
                </a:solidFill>
                <a:latin typeface="Arial"/>
                <a:cs typeface="Arial"/>
                <a:hlinkClick r:id="rId3"/>
              </a:rPr>
              <a:t>&lt;&gt;	</a:t>
            </a:r>
            <a:r>
              <a:rPr dirty="0" baseline="1424" sz="2925" spc="15">
                <a:solidFill>
                  <a:srgbClr val="7C4515"/>
                </a:solidFill>
                <a:latin typeface="Arial"/>
                <a:cs typeface="Arial"/>
                <a:hlinkClick r:id="rId3"/>
              </a:rPr>
              <a:t>{}</a:t>
            </a:r>
            <a:endParaRPr baseline="1424" sz="2925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226669" y="5161734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369013" y="5551959"/>
            <a:ext cx="292590" cy="2609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462289" y="5629319"/>
            <a:ext cx="116485" cy="1167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682959" y="5161734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90" h="121920">
                <a:moveTo>
                  <a:pt x="122761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1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230785" y="5190073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 h="0">
                <a:moveTo>
                  <a:pt x="0" y="0"/>
                </a:moveTo>
                <a:lnTo>
                  <a:pt x="452174" y="0"/>
                </a:lnTo>
              </a:path>
            </a:pathLst>
          </a:custGeom>
          <a:ln w="56678">
            <a:solidFill>
              <a:srgbClr val="4486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8329579" y="5267120"/>
            <a:ext cx="334010" cy="250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GBQ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885449" y="5161734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341741" y="5161734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90" h="121920">
                <a:moveTo>
                  <a:pt x="122761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1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889565" y="5190073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 h="0">
                <a:moveTo>
                  <a:pt x="0" y="0"/>
                </a:moveTo>
                <a:lnTo>
                  <a:pt x="452174" y="0"/>
                </a:lnTo>
              </a:path>
            </a:pathLst>
          </a:custGeom>
          <a:ln w="56678">
            <a:solidFill>
              <a:srgbClr val="D12A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068368" y="5551970"/>
            <a:ext cx="212090" cy="260985"/>
          </a:xfrm>
          <a:custGeom>
            <a:avLst/>
            <a:gdLst/>
            <a:ahLst/>
            <a:cxnLst/>
            <a:rect l="l" t="t" r="r" b="b"/>
            <a:pathLst>
              <a:path w="212090" h="260985">
                <a:moveTo>
                  <a:pt x="98132" y="260960"/>
                </a:moveTo>
                <a:lnTo>
                  <a:pt x="58609" y="256483"/>
                </a:lnTo>
                <a:lnTo>
                  <a:pt x="14867" y="238817"/>
                </a:lnTo>
                <a:lnTo>
                  <a:pt x="94" y="195420"/>
                </a:lnTo>
                <a:lnTo>
                  <a:pt x="0" y="72794"/>
                </a:lnTo>
                <a:lnTo>
                  <a:pt x="241" y="54263"/>
                </a:lnTo>
                <a:lnTo>
                  <a:pt x="30784" y="12981"/>
                </a:lnTo>
                <a:lnTo>
                  <a:pt x="81683" y="760"/>
                </a:lnTo>
                <a:lnTo>
                  <a:pt x="106633" y="0"/>
                </a:lnTo>
                <a:lnTo>
                  <a:pt x="120973" y="331"/>
                </a:lnTo>
                <a:lnTo>
                  <a:pt x="132079" y="1106"/>
                </a:lnTo>
                <a:lnTo>
                  <a:pt x="161325" y="6436"/>
                </a:lnTo>
                <a:lnTo>
                  <a:pt x="184381" y="14651"/>
                </a:lnTo>
                <a:lnTo>
                  <a:pt x="190805" y="18912"/>
                </a:lnTo>
                <a:lnTo>
                  <a:pt x="106865" y="18912"/>
                </a:lnTo>
                <a:lnTo>
                  <a:pt x="91923" y="19086"/>
                </a:lnTo>
                <a:lnTo>
                  <a:pt x="44437" y="27803"/>
                </a:lnTo>
                <a:lnTo>
                  <a:pt x="18926" y="42444"/>
                </a:lnTo>
                <a:lnTo>
                  <a:pt x="18926" y="51808"/>
                </a:lnTo>
                <a:lnTo>
                  <a:pt x="53769" y="69340"/>
                </a:lnTo>
                <a:lnTo>
                  <a:pt x="94317" y="75277"/>
                </a:lnTo>
                <a:lnTo>
                  <a:pt x="18924" y="75277"/>
                </a:lnTo>
                <a:lnTo>
                  <a:pt x="18924" y="106194"/>
                </a:lnTo>
                <a:lnTo>
                  <a:pt x="21014" y="108938"/>
                </a:lnTo>
                <a:lnTo>
                  <a:pt x="63687" y="128492"/>
                </a:lnTo>
                <a:lnTo>
                  <a:pt x="105168" y="132227"/>
                </a:lnTo>
                <a:lnTo>
                  <a:pt x="211499" y="132227"/>
                </a:lnTo>
                <a:lnTo>
                  <a:pt x="19141" y="132331"/>
                </a:lnTo>
                <a:lnTo>
                  <a:pt x="19050" y="135137"/>
                </a:lnTo>
                <a:lnTo>
                  <a:pt x="18924" y="164066"/>
                </a:lnTo>
                <a:lnTo>
                  <a:pt x="18924" y="164399"/>
                </a:lnTo>
                <a:lnTo>
                  <a:pt x="19217" y="164399"/>
                </a:lnTo>
                <a:lnTo>
                  <a:pt x="24237" y="169006"/>
                </a:lnTo>
                <a:lnTo>
                  <a:pt x="59709" y="184266"/>
                </a:lnTo>
                <a:lnTo>
                  <a:pt x="99052" y="188880"/>
                </a:lnTo>
                <a:lnTo>
                  <a:pt x="19040" y="188880"/>
                </a:lnTo>
                <a:lnTo>
                  <a:pt x="34222" y="228686"/>
                </a:lnTo>
                <a:lnTo>
                  <a:pt x="70855" y="239604"/>
                </a:lnTo>
                <a:lnTo>
                  <a:pt x="97345" y="242028"/>
                </a:lnTo>
                <a:lnTo>
                  <a:pt x="190822" y="242028"/>
                </a:lnTo>
                <a:lnTo>
                  <a:pt x="187609" y="244504"/>
                </a:lnTo>
                <a:lnTo>
                  <a:pt x="163506" y="253878"/>
                </a:lnTo>
                <a:lnTo>
                  <a:pt x="132395" y="259669"/>
                </a:lnTo>
                <a:lnTo>
                  <a:pt x="122355" y="260443"/>
                </a:lnTo>
                <a:lnTo>
                  <a:pt x="110202" y="260889"/>
                </a:lnTo>
                <a:lnTo>
                  <a:pt x="98132" y="260960"/>
                </a:lnTo>
                <a:close/>
              </a:path>
              <a:path w="212090" h="260985">
                <a:moveTo>
                  <a:pt x="191944" y="75599"/>
                </a:moveTo>
                <a:lnTo>
                  <a:pt x="98018" y="75599"/>
                </a:lnTo>
                <a:lnTo>
                  <a:pt x="121621" y="75160"/>
                </a:lnTo>
                <a:lnTo>
                  <a:pt x="173941" y="63699"/>
                </a:lnTo>
                <a:lnTo>
                  <a:pt x="192619" y="49752"/>
                </a:lnTo>
                <a:lnTo>
                  <a:pt x="192619" y="44693"/>
                </a:lnTo>
                <a:lnTo>
                  <a:pt x="149593" y="22994"/>
                </a:lnTo>
                <a:lnTo>
                  <a:pt x="106865" y="18912"/>
                </a:lnTo>
                <a:lnTo>
                  <a:pt x="190805" y="18912"/>
                </a:lnTo>
                <a:lnTo>
                  <a:pt x="200750" y="25510"/>
                </a:lnTo>
                <a:lnTo>
                  <a:pt x="209933" y="38771"/>
                </a:lnTo>
                <a:lnTo>
                  <a:pt x="211318" y="42444"/>
                </a:lnTo>
                <a:lnTo>
                  <a:pt x="211386" y="75241"/>
                </a:lnTo>
                <a:lnTo>
                  <a:pt x="192617" y="75241"/>
                </a:lnTo>
                <a:lnTo>
                  <a:pt x="191944" y="75599"/>
                </a:lnTo>
                <a:close/>
              </a:path>
              <a:path w="212090" h="260985">
                <a:moveTo>
                  <a:pt x="211499" y="132227"/>
                </a:moveTo>
                <a:lnTo>
                  <a:pt x="105168" y="132227"/>
                </a:lnTo>
                <a:lnTo>
                  <a:pt x="116361" y="132101"/>
                </a:lnTo>
                <a:lnTo>
                  <a:pt x="125107" y="131682"/>
                </a:lnTo>
                <a:lnTo>
                  <a:pt x="167703" y="122882"/>
                </a:lnTo>
                <a:lnTo>
                  <a:pt x="192617" y="75241"/>
                </a:lnTo>
                <a:lnTo>
                  <a:pt x="211386" y="75241"/>
                </a:lnTo>
                <a:lnTo>
                  <a:pt x="211499" y="132227"/>
                </a:lnTo>
                <a:close/>
              </a:path>
              <a:path w="212090" h="260985">
                <a:moveTo>
                  <a:pt x="103997" y="94281"/>
                </a:moveTo>
                <a:lnTo>
                  <a:pt x="64581" y="91003"/>
                </a:lnTo>
                <a:lnTo>
                  <a:pt x="25422" y="78663"/>
                </a:lnTo>
                <a:lnTo>
                  <a:pt x="18924" y="75277"/>
                </a:lnTo>
                <a:lnTo>
                  <a:pt x="94317" y="75277"/>
                </a:lnTo>
                <a:lnTo>
                  <a:pt x="98018" y="75599"/>
                </a:lnTo>
                <a:lnTo>
                  <a:pt x="191944" y="75599"/>
                </a:lnTo>
                <a:lnTo>
                  <a:pt x="144562" y="91402"/>
                </a:lnTo>
                <a:lnTo>
                  <a:pt x="116816" y="94165"/>
                </a:lnTo>
                <a:lnTo>
                  <a:pt x="103997" y="94281"/>
                </a:lnTo>
                <a:close/>
              </a:path>
              <a:path w="212090" h="260985">
                <a:moveTo>
                  <a:pt x="116245" y="151085"/>
                </a:moveTo>
                <a:lnTo>
                  <a:pt x="71053" y="148816"/>
                </a:lnTo>
                <a:lnTo>
                  <a:pt x="27167" y="136264"/>
                </a:lnTo>
                <a:lnTo>
                  <a:pt x="19141" y="132331"/>
                </a:lnTo>
                <a:lnTo>
                  <a:pt x="211500" y="132339"/>
                </a:lnTo>
                <a:lnTo>
                  <a:pt x="192232" y="132339"/>
                </a:lnTo>
                <a:lnTo>
                  <a:pt x="189742" y="133598"/>
                </a:lnTo>
                <a:lnTo>
                  <a:pt x="186827" y="135137"/>
                </a:lnTo>
                <a:lnTo>
                  <a:pt x="167051" y="142977"/>
                </a:lnTo>
                <a:lnTo>
                  <a:pt x="142897" y="148393"/>
                </a:lnTo>
                <a:lnTo>
                  <a:pt x="116245" y="151085"/>
                </a:lnTo>
                <a:close/>
              </a:path>
              <a:path w="212090" h="260985">
                <a:moveTo>
                  <a:pt x="192108" y="189009"/>
                </a:moveTo>
                <a:lnTo>
                  <a:pt x="102637" y="189009"/>
                </a:lnTo>
                <a:lnTo>
                  <a:pt x="116679" y="188807"/>
                </a:lnTo>
                <a:lnTo>
                  <a:pt x="129544" y="187886"/>
                </a:lnTo>
                <a:lnTo>
                  <a:pt x="177586" y="175433"/>
                </a:lnTo>
                <a:lnTo>
                  <a:pt x="192495" y="132339"/>
                </a:lnTo>
                <a:lnTo>
                  <a:pt x="211500" y="132339"/>
                </a:lnTo>
                <a:lnTo>
                  <a:pt x="211470" y="188872"/>
                </a:lnTo>
                <a:lnTo>
                  <a:pt x="192384" y="188880"/>
                </a:lnTo>
                <a:lnTo>
                  <a:pt x="192108" y="189009"/>
                </a:lnTo>
                <a:close/>
              </a:path>
              <a:path w="212090" h="260985">
                <a:moveTo>
                  <a:pt x="18924" y="164130"/>
                </a:moveTo>
                <a:close/>
              </a:path>
              <a:path w="212090" h="260985">
                <a:moveTo>
                  <a:pt x="19217" y="164399"/>
                </a:moveTo>
                <a:lnTo>
                  <a:pt x="18924" y="164399"/>
                </a:lnTo>
                <a:lnTo>
                  <a:pt x="18924" y="164130"/>
                </a:lnTo>
                <a:lnTo>
                  <a:pt x="19217" y="164399"/>
                </a:lnTo>
                <a:close/>
              </a:path>
              <a:path w="212090" h="260985">
                <a:moveTo>
                  <a:pt x="190822" y="242028"/>
                </a:moveTo>
                <a:lnTo>
                  <a:pt x="97345" y="242028"/>
                </a:lnTo>
                <a:lnTo>
                  <a:pt x="109996" y="241868"/>
                </a:lnTo>
                <a:lnTo>
                  <a:pt x="122834" y="241483"/>
                </a:lnTo>
                <a:lnTo>
                  <a:pt x="131131" y="240978"/>
                </a:lnTo>
                <a:lnTo>
                  <a:pt x="144086" y="238999"/>
                </a:lnTo>
                <a:lnTo>
                  <a:pt x="183916" y="225308"/>
                </a:lnTo>
                <a:lnTo>
                  <a:pt x="192583" y="215191"/>
                </a:lnTo>
                <a:lnTo>
                  <a:pt x="192518" y="191986"/>
                </a:lnTo>
                <a:lnTo>
                  <a:pt x="192401" y="188872"/>
                </a:lnTo>
                <a:lnTo>
                  <a:pt x="211470" y="188872"/>
                </a:lnTo>
                <a:lnTo>
                  <a:pt x="211353" y="203081"/>
                </a:lnTo>
                <a:lnTo>
                  <a:pt x="211250" y="210753"/>
                </a:lnTo>
                <a:lnTo>
                  <a:pt x="211002" y="217065"/>
                </a:lnTo>
                <a:lnTo>
                  <a:pt x="203757" y="232062"/>
                </a:lnTo>
                <a:lnTo>
                  <a:pt x="190822" y="242028"/>
                </a:lnTo>
                <a:close/>
              </a:path>
              <a:path w="212090" h="260985">
                <a:moveTo>
                  <a:pt x="103379" y="207969"/>
                </a:moveTo>
                <a:lnTo>
                  <a:pt x="57512" y="203081"/>
                </a:lnTo>
                <a:lnTo>
                  <a:pt x="20874" y="189675"/>
                </a:lnTo>
                <a:lnTo>
                  <a:pt x="19375" y="188880"/>
                </a:lnTo>
                <a:lnTo>
                  <a:pt x="99052" y="188880"/>
                </a:lnTo>
                <a:lnTo>
                  <a:pt x="102637" y="189009"/>
                </a:lnTo>
                <a:lnTo>
                  <a:pt x="192108" y="189009"/>
                </a:lnTo>
                <a:lnTo>
                  <a:pt x="186290" y="191986"/>
                </a:lnTo>
                <a:lnTo>
                  <a:pt x="162741" y="200877"/>
                </a:lnTo>
                <a:lnTo>
                  <a:pt x="134389" y="206291"/>
                </a:lnTo>
                <a:lnTo>
                  <a:pt x="103379" y="207969"/>
                </a:lnTo>
                <a:close/>
              </a:path>
            </a:pathLst>
          </a:custGeom>
          <a:solidFill>
            <a:srgbClr val="D12A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8988338" y="5267120"/>
            <a:ext cx="334010" cy="250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SQL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544231" y="5161734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8"/>
                </a:moveTo>
                <a:lnTo>
                  <a:pt x="0" y="712468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2"/>
                </a:lnTo>
                <a:lnTo>
                  <a:pt x="577279" y="712468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000522" y="5161734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90" h="121920">
                <a:moveTo>
                  <a:pt x="122761" y="121843"/>
                </a:moveTo>
                <a:lnTo>
                  <a:pt x="0" y="121843"/>
                </a:lnTo>
                <a:lnTo>
                  <a:pt x="0" y="0"/>
                </a:lnTo>
                <a:lnTo>
                  <a:pt x="122761" y="121843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9548347" y="5190073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 h="0">
                <a:moveTo>
                  <a:pt x="0" y="0"/>
                </a:moveTo>
                <a:lnTo>
                  <a:pt x="452175" y="0"/>
                </a:lnTo>
              </a:path>
            </a:pathLst>
          </a:custGeom>
          <a:ln w="56678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9651531" y="5417930"/>
            <a:ext cx="334010" cy="250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solidFill>
                  <a:srgbClr val="333333"/>
                </a:solidFill>
                <a:latin typeface="Consolas"/>
                <a:cs typeface="Consolas"/>
                <a:hlinkClick r:id="rId3"/>
              </a:rPr>
              <a:t>...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107423" y="4616264"/>
            <a:ext cx="167016" cy="1254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403739" y="3517446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860030" y="3517446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89" h="121920">
                <a:moveTo>
                  <a:pt x="122761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1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506714" y="3633574"/>
            <a:ext cx="334010" cy="250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CSV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407855" y="3545785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 h="0">
                <a:moveTo>
                  <a:pt x="0" y="0"/>
                </a:moveTo>
                <a:lnTo>
                  <a:pt x="452175" y="0"/>
                </a:lnTo>
              </a:path>
            </a:pathLst>
          </a:custGeom>
          <a:ln w="56678">
            <a:solidFill>
              <a:srgbClr val="744F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486799" y="3941348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 h="0">
                <a:moveTo>
                  <a:pt x="0" y="0"/>
                </a:moveTo>
                <a:lnTo>
                  <a:pt x="411158" y="0"/>
                </a:lnTo>
              </a:path>
            </a:pathLst>
          </a:custGeom>
          <a:ln w="39242">
            <a:solidFill>
              <a:srgbClr val="AF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486799" y="4005894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 h="0">
                <a:moveTo>
                  <a:pt x="0" y="0"/>
                </a:moveTo>
                <a:lnTo>
                  <a:pt x="411158" y="0"/>
                </a:lnTo>
              </a:path>
            </a:pathLst>
          </a:custGeom>
          <a:ln w="39242">
            <a:solidFill>
              <a:srgbClr val="AF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486799" y="4070440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 h="0">
                <a:moveTo>
                  <a:pt x="0" y="0"/>
                </a:moveTo>
                <a:lnTo>
                  <a:pt x="411158" y="0"/>
                </a:lnTo>
              </a:path>
            </a:pathLst>
          </a:custGeom>
          <a:ln w="39242">
            <a:solidFill>
              <a:srgbClr val="AF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486799" y="4134986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 h="0">
                <a:moveTo>
                  <a:pt x="0" y="0"/>
                </a:moveTo>
                <a:lnTo>
                  <a:pt x="411158" y="0"/>
                </a:lnTo>
              </a:path>
            </a:pathLst>
          </a:custGeom>
          <a:ln w="39242">
            <a:solidFill>
              <a:srgbClr val="AF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062519" y="3517446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1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518811" y="3517446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89" h="121920">
                <a:moveTo>
                  <a:pt x="122760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0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174108" y="3633574"/>
            <a:ext cx="334010" cy="250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XLS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232223" y="3921723"/>
            <a:ext cx="238494" cy="2328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066635" y="3545785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 h="0">
                <a:moveTo>
                  <a:pt x="0" y="0"/>
                </a:moveTo>
                <a:lnTo>
                  <a:pt x="452175" y="0"/>
                </a:lnTo>
              </a:path>
            </a:pathLst>
          </a:custGeom>
          <a:ln w="56678">
            <a:solidFill>
              <a:srgbClr val="20724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721300" y="3517446"/>
            <a:ext cx="579052" cy="7124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753327" y="3672366"/>
            <a:ext cx="46799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PARQUET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403739" y="4322791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860030" y="4322791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89" h="121920">
                <a:moveTo>
                  <a:pt x="122761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1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407855" y="4351130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 h="0">
                <a:moveTo>
                  <a:pt x="0" y="0"/>
                </a:moveTo>
                <a:lnTo>
                  <a:pt x="452175" y="0"/>
                </a:lnTo>
              </a:path>
            </a:pathLst>
          </a:custGeom>
          <a:ln w="56678">
            <a:solidFill>
              <a:srgbClr val="D454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062520" y="4322791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518811" y="4322791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89" h="121920">
                <a:moveTo>
                  <a:pt x="122761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1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452281" y="4438918"/>
            <a:ext cx="1095375" cy="547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735"/>
              </a:lnSpc>
              <a:spcBef>
                <a:spcPts val="125"/>
              </a:spcBef>
              <a:tabLst>
                <a:tab pos="671195" algn="l"/>
              </a:tabLst>
            </a:pP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HTML</a:t>
            </a: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	</a:t>
            </a: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HDF5</a:t>
            </a:r>
            <a:endParaRPr sz="1450">
              <a:latin typeface="Consolas"/>
              <a:cs typeface="Consolas"/>
            </a:endParaRPr>
          </a:p>
          <a:p>
            <a:pPr marL="29209">
              <a:lnSpc>
                <a:spcPts val="2335"/>
              </a:lnSpc>
            </a:pPr>
            <a:r>
              <a:rPr dirty="0" sz="1950" spc="15">
                <a:solidFill>
                  <a:srgbClr val="D45400"/>
                </a:solidFill>
                <a:latin typeface="Arial"/>
                <a:cs typeface="Arial"/>
                <a:hlinkClick r:id="rId3"/>
              </a:rPr>
              <a:t>&lt;&gt;</a:t>
            </a:r>
            <a:endParaRPr sz="195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2066636" y="4351130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 h="0">
                <a:moveTo>
                  <a:pt x="0" y="0"/>
                </a:moveTo>
                <a:lnTo>
                  <a:pt x="452175" y="0"/>
                </a:lnTo>
              </a:path>
            </a:pathLst>
          </a:custGeom>
          <a:ln w="56678">
            <a:solidFill>
              <a:srgbClr val="2BAB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180454" y="4749153"/>
            <a:ext cx="342265" cy="189230"/>
          </a:xfrm>
          <a:custGeom>
            <a:avLst/>
            <a:gdLst/>
            <a:ahLst/>
            <a:cxnLst/>
            <a:rect l="l" t="t" r="r" b="b"/>
            <a:pathLst>
              <a:path w="342264" h="189229">
                <a:moveTo>
                  <a:pt x="129128" y="76435"/>
                </a:moveTo>
                <a:lnTo>
                  <a:pt x="95709" y="76435"/>
                </a:lnTo>
                <a:lnTo>
                  <a:pt x="95815" y="13924"/>
                </a:lnTo>
                <a:lnTo>
                  <a:pt x="96783" y="10540"/>
                </a:lnTo>
                <a:lnTo>
                  <a:pt x="98020" y="8017"/>
                </a:lnTo>
                <a:lnTo>
                  <a:pt x="102162" y="2547"/>
                </a:lnTo>
                <a:lnTo>
                  <a:pt x="107079" y="0"/>
                </a:lnTo>
                <a:lnTo>
                  <a:pt x="327886" y="275"/>
                </a:lnTo>
                <a:lnTo>
                  <a:pt x="342234" y="23422"/>
                </a:lnTo>
                <a:lnTo>
                  <a:pt x="337149" y="30784"/>
                </a:lnTo>
                <a:lnTo>
                  <a:pt x="327523" y="33567"/>
                </a:lnTo>
                <a:lnTo>
                  <a:pt x="246261" y="33673"/>
                </a:lnTo>
                <a:lnTo>
                  <a:pt x="246261" y="34387"/>
                </a:lnTo>
                <a:lnTo>
                  <a:pt x="129128" y="34387"/>
                </a:lnTo>
                <a:lnTo>
                  <a:pt x="129128" y="76435"/>
                </a:lnTo>
                <a:close/>
              </a:path>
              <a:path w="342264" h="189229">
                <a:moveTo>
                  <a:pt x="18550" y="187761"/>
                </a:moveTo>
                <a:lnTo>
                  <a:pt x="0" y="173434"/>
                </a:lnTo>
                <a:lnTo>
                  <a:pt x="27" y="13924"/>
                </a:lnTo>
                <a:lnTo>
                  <a:pt x="19954" y="281"/>
                </a:lnTo>
                <a:lnTo>
                  <a:pt x="20993" y="503"/>
                </a:lnTo>
                <a:lnTo>
                  <a:pt x="33249" y="76435"/>
                </a:lnTo>
                <a:lnTo>
                  <a:pt x="129128" y="76435"/>
                </a:lnTo>
                <a:lnTo>
                  <a:pt x="129128" y="110104"/>
                </a:lnTo>
                <a:lnTo>
                  <a:pt x="33248" y="110104"/>
                </a:lnTo>
                <a:lnTo>
                  <a:pt x="33136" y="170970"/>
                </a:lnTo>
                <a:lnTo>
                  <a:pt x="22941" y="186627"/>
                </a:lnTo>
                <a:lnTo>
                  <a:pt x="18550" y="187761"/>
                </a:lnTo>
                <a:close/>
              </a:path>
              <a:path w="342264" h="189229">
                <a:moveTo>
                  <a:pt x="108915" y="187891"/>
                </a:moveTo>
                <a:lnTo>
                  <a:pt x="93994" y="169241"/>
                </a:lnTo>
                <a:lnTo>
                  <a:pt x="95692" y="161125"/>
                </a:lnTo>
                <a:lnTo>
                  <a:pt x="100723" y="156051"/>
                </a:lnTo>
                <a:lnTo>
                  <a:pt x="108303" y="154338"/>
                </a:lnTo>
                <a:lnTo>
                  <a:pt x="109825" y="154282"/>
                </a:lnTo>
                <a:lnTo>
                  <a:pt x="125340" y="154165"/>
                </a:lnTo>
                <a:lnTo>
                  <a:pt x="127571" y="154076"/>
                </a:lnTo>
                <a:lnTo>
                  <a:pt x="176793" y="138183"/>
                </a:lnTo>
                <a:lnTo>
                  <a:pt x="199153" y="101162"/>
                </a:lnTo>
                <a:lnTo>
                  <a:pt x="199589" y="91048"/>
                </a:lnTo>
                <a:lnTo>
                  <a:pt x="198282" y="81618"/>
                </a:lnTo>
                <a:lnTo>
                  <a:pt x="174605" y="49215"/>
                </a:lnTo>
                <a:lnTo>
                  <a:pt x="135864" y="35166"/>
                </a:lnTo>
                <a:lnTo>
                  <a:pt x="129128" y="34387"/>
                </a:lnTo>
                <a:lnTo>
                  <a:pt x="246261" y="34387"/>
                </a:lnTo>
                <a:lnTo>
                  <a:pt x="246261" y="77335"/>
                </a:lnTo>
                <a:lnTo>
                  <a:pt x="305187" y="77442"/>
                </a:lnTo>
                <a:lnTo>
                  <a:pt x="309907" y="78918"/>
                </a:lnTo>
                <a:lnTo>
                  <a:pt x="312543" y="80572"/>
                </a:lnTo>
                <a:lnTo>
                  <a:pt x="317439" y="85947"/>
                </a:lnTo>
                <a:lnTo>
                  <a:pt x="318897" y="89774"/>
                </a:lnTo>
                <a:lnTo>
                  <a:pt x="318897" y="98473"/>
                </a:lnTo>
                <a:lnTo>
                  <a:pt x="246268" y="110849"/>
                </a:lnTo>
                <a:lnTo>
                  <a:pt x="246206" y="148461"/>
                </a:lnTo>
                <a:lnTo>
                  <a:pt x="212757" y="148461"/>
                </a:lnTo>
                <a:lnTo>
                  <a:pt x="209024" y="152725"/>
                </a:lnTo>
                <a:lnTo>
                  <a:pt x="203941" y="157680"/>
                </a:lnTo>
                <a:lnTo>
                  <a:pt x="162449" y="180960"/>
                </a:lnTo>
                <a:lnTo>
                  <a:pt x="118324" y="187749"/>
                </a:lnTo>
                <a:lnTo>
                  <a:pt x="108915" y="187891"/>
                </a:lnTo>
                <a:close/>
              </a:path>
              <a:path w="342264" h="189229">
                <a:moveTo>
                  <a:pt x="227900" y="188796"/>
                </a:moveTo>
                <a:lnTo>
                  <a:pt x="226299" y="188449"/>
                </a:lnTo>
                <a:lnTo>
                  <a:pt x="222746" y="187660"/>
                </a:lnTo>
                <a:lnTo>
                  <a:pt x="212757" y="148461"/>
                </a:lnTo>
                <a:lnTo>
                  <a:pt x="246206" y="148461"/>
                </a:lnTo>
                <a:lnTo>
                  <a:pt x="246162" y="174808"/>
                </a:lnTo>
                <a:lnTo>
                  <a:pt x="243665" y="182829"/>
                </a:lnTo>
                <a:lnTo>
                  <a:pt x="239026" y="187151"/>
                </a:lnTo>
                <a:lnTo>
                  <a:pt x="231074" y="188793"/>
                </a:lnTo>
                <a:lnTo>
                  <a:pt x="227900" y="188796"/>
                </a:lnTo>
                <a:close/>
              </a:path>
            </a:pathLst>
          </a:custGeom>
          <a:solidFill>
            <a:srgbClr val="2BAB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721301" y="4322791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8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0" y="0"/>
                </a:lnTo>
                <a:lnTo>
                  <a:pt x="577278" y="118921"/>
                </a:lnTo>
                <a:lnTo>
                  <a:pt x="577278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177593" y="4322791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89" h="121920">
                <a:moveTo>
                  <a:pt x="122760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0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725417" y="4351130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 h="0">
                <a:moveTo>
                  <a:pt x="0" y="0"/>
                </a:moveTo>
                <a:lnTo>
                  <a:pt x="452174" y="0"/>
                </a:lnTo>
              </a:path>
            </a:pathLst>
          </a:custGeom>
          <a:ln w="56678">
            <a:solidFill>
              <a:srgbClr val="7C451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2772943" y="4235355"/>
            <a:ext cx="1536700" cy="746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08025">
              <a:lnSpc>
                <a:spcPts val="1805"/>
              </a:lnSpc>
              <a:spcBef>
                <a:spcPts val="95"/>
              </a:spcBef>
            </a:pPr>
            <a:r>
              <a:rPr dirty="0" sz="1650" spc="-5">
                <a:latin typeface="Consolas"/>
                <a:cs typeface="Consolas"/>
                <a:hlinkClick r:id="rId3"/>
              </a:rPr>
              <a:t>read_*</a:t>
            </a:r>
            <a:endParaRPr sz="1650">
              <a:latin typeface="Consolas"/>
              <a:cs typeface="Consolas"/>
            </a:endParaRPr>
          </a:p>
          <a:p>
            <a:pPr marL="12700">
              <a:lnSpc>
                <a:spcPts val="1550"/>
              </a:lnSpc>
              <a:tabLst>
                <a:tab pos="690880" algn="l"/>
                <a:tab pos="1523365" algn="l"/>
              </a:tabLst>
            </a:pP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JSON	</a:t>
            </a:r>
            <a:r>
              <a:rPr dirty="0" u="heavy" sz="1450" spc="15">
                <a:solidFill>
                  <a:srgbClr val="AFABAB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heavy" sz="1450" spc="10">
                <a:solidFill>
                  <a:srgbClr val="AFABAB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	</a:t>
            </a:r>
            <a:endParaRPr sz="1450">
              <a:latin typeface="Times New Roman"/>
              <a:cs typeface="Times New Roman"/>
            </a:endParaRPr>
          </a:p>
          <a:p>
            <a:pPr marL="89535">
              <a:lnSpc>
                <a:spcPts val="2320"/>
              </a:lnSpc>
            </a:pPr>
            <a:r>
              <a:rPr dirty="0" sz="1950" spc="10">
                <a:solidFill>
                  <a:srgbClr val="7C4515"/>
                </a:solidFill>
                <a:latin typeface="Arial"/>
                <a:cs typeface="Arial"/>
                <a:hlinkClick r:id="rId3"/>
              </a:rPr>
              <a:t>{}</a:t>
            </a:r>
            <a:endParaRPr sz="195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403738" y="5128135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546083" y="5518360"/>
            <a:ext cx="292590" cy="2609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639358" y="5595721"/>
            <a:ext cx="116485" cy="11673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860030" y="5128136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89" h="121920">
                <a:moveTo>
                  <a:pt x="122761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1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407855" y="5156475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 h="0">
                <a:moveTo>
                  <a:pt x="0" y="0"/>
                </a:moveTo>
                <a:lnTo>
                  <a:pt x="452174" y="0"/>
                </a:lnTo>
              </a:path>
            </a:pathLst>
          </a:custGeom>
          <a:ln w="56678">
            <a:solidFill>
              <a:srgbClr val="4486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1506650" y="5233522"/>
            <a:ext cx="334010" cy="250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GBQ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062520" y="5128135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7"/>
                </a:moveTo>
                <a:lnTo>
                  <a:pt x="0" y="712467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1"/>
                </a:lnTo>
                <a:lnTo>
                  <a:pt x="577279" y="712467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518811" y="5128136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89" h="121920">
                <a:moveTo>
                  <a:pt x="122761" y="121842"/>
                </a:moveTo>
                <a:lnTo>
                  <a:pt x="0" y="121842"/>
                </a:lnTo>
                <a:lnTo>
                  <a:pt x="0" y="0"/>
                </a:lnTo>
                <a:lnTo>
                  <a:pt x="122761" y="121842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066636" y="5156475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 h="0">
                <a:moveTo>
                  <a:pt x="0" y="0"/>
                </a:moveTo>
                <a:lnTo>
                  <a:pt x="452174" y="0"/>
                </a:lnTo>
              </a:path>
            </a:pathLst>
          </a:custGeom>
          <a:ln w="56678">
            <a:solidFill>
              <a:srgbClr val="D12A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245439" y="5518372"/>
            <a:ext cx="212090" cy="260985"/>
          </a:xfrm>
          <a:custGeom>
            <a:avLst/>
            <a:gdLst/>
            <a:ahLst/>
            <a:cxnLst/>
            <a:rect l="l" t="t" r="r" b="b"/>
            <a:pathLst>
              <a:path w="212089" h="260985">
                <a:moveTo>
                  <a:pt x="98132" y="260960"/>
                </a:moveTo>
                <a:lnTo>
                  <a:pt x="58609" y="256483"/>
                </a:lnTo>
                <a:lnTo>
                  <a:pt x="14867" y="238817"/>
                </a:lnTo>
                <a:lnTo>
                  <a:pt x="94" y="195420"/>
                </a:lnTo>
                <a:lnTo>
                  <a:pt x="0" y="72794"/>
                </a:lnTo>
                <a:lnTo>
                  <a:pt x="241" y="54263"/>
                </a:lnTo>
                <a:lnTo>
                  <a:pt x="30784" y="12981"/>
                </a:lnTo>
                <a:lnTo>
                  <a:pt x="81683" y="760"/>
                </a:lnTo>
                <a:lnTo>
                  <a:pt x="106633" y="0"/>
                </a:lnTo>
                <a:lnTo>
                  <a:pt x="120973" y="331"/>
                </a:lnTo>
                <a:lnTo>
                  <a:pt x="132079" y="1106"/>
                </a:lnTo>
                <a:lnTo>
                  <a:pt x="161325" y="6436"/>
                </a:lnTo>
                <a:lnTo>
                  <a:pt x="184381" y="14651"/>
                </a:lnTo>
                <a:lnTo>
                  <a:pt x="190805" y="18912"/>
                </a:lnTo>
                <a:lnTo>
                  <a:pt x="106865" y="18912"/>
                </a:lnTo>
                <a:lnTo>
                  <a:pt x="91923" y="19086"/>
                </a:lnTo>
                <a:lnTo>
                  <a:pt x="44437" y="27803"/>
                </a:lnTo>
                <a:lnTo>
                  <a:pt x="18926" y="42444"/>
                </a:lnTo>
                <a:lnTo>
                  <a:pt x="18926" y="51808"/>
                </a:lnTo>
                <a:lnTo>
                  <a:pt x="53769" y="69340"/>
                </a:lnTo>
                <a:lnTo>
                  <a:pt x="94317" y="75277"/>
                </a:lnTo>
                <a:lnTo>
                  <a:pt x="18924" y="75277"/>
                </a:lnTo>
                <a:lnTo>
                  <a:pt x="18924" y="106194"/>
                </a:lnTo>
                <a:lnTo>
                  <a:pt x="21014" y="108938"/>
                </a:lnTo>
                <a:lnTo>
                  <a:pt x="63687" y="128492"/>
                </a:lnTo>
                <a:lnTo>
                  <a:pt x="105168" y="132227"/>
                </a:lnTo>
                <a:lnTo>
                  <a:pt x="211499" y="132227"/>
                </a:lnTo>
                <a:lnTo>
                  <a:pt x="19141" y="132331"/>
                </a:lnTo>
                <a:lnTo>
                  <a:pt x="19050" y="135137"/>
                </a:lnTo>
                <a:lnTo>
                  <a:pt x="18924" y="164066"/>
                </a:lnTo>
                <a:lnTo>
                  <a:pt x="18924" y="164399"/>
                </a:lnTo>
                <a:lnTo>
                  <a:pt x="19217" y="164399"/>
                </a:lnTo>
                <a:lnTo>
                  <a:pt x="24237" y="169006"/>
                </a:lnTo>
                <a:lnTo>
                  <a:pt x="59709" y="184266"/>
                </a:lnTo>
                <a:lnTo>
                  <a:pt x="99052" y="188880"/>
                </a:lnTo>
                <a:lnTo>
                  <a:pt x="19040" y="188880"/>
                </a:lnTo>
                <a:lnTo>
                  <a:pt x="34222" y="228686"/>
                </a:lnTo>
                <a:lnTo>
                  <a:pt x="70855" y="239604"/>
                </a:lnTo>
                <a:lnTo>
                  <a:pt x="97345" y="242028"/>
                </a:lnTo>
                <a:lnTo>
                  <a:pt x="190822" y="242028"/>
                </a:lnTo>
                <a:lnTo>
                  <a:pt x="187609" y="244504"/>
                </a:lnTo>
                <a:lnTo>
                  <a:pt x="163506" y="253878"/>
                </a:lnTo>
                <a:lnTo>
                  <a:pt x="132395" y="259669"/>
                </a:lnTo>
                <a:lnTo>
                  <a:pt x="122355" y="260443"/>
                </a:lnTo>
                <a:lnTo>
                  <a:pt x="110202" y="260889"/>
                </a:lnTo>
                <a:lnTo>
                  <a:pt x="98132" y="260960"/>
                </a:lnTo>
                <a:close/>
              </a:path>
              <a:path w="212089" h="260985">
                <a:moveTo>
                  <a:pt x="191944" y="75599"/>
                </a:moveTo>
                <a:lnTo>
                  <a:pt x="98018" y="75599"/>
                </a:lnTo>
                <a:lnTo>
                  <a:pt x="121621" y="75160"/>
                </a:lnTo>
                <a:lnTo>
                  <a:pt x="173941" y="63699"/>
                </a:lnTo>
                <a:lnTo>
                  <a:pt x="192619" y="49752"/>
                </a:lnTo>
                <a:lnTo>
                  <a:pt x="192619" y="44693"/>
                </a:lnTo>
                <a:lnTo>
                  <a:pt x="149593" y="22994"/>
                </a:lnTo>
                <a:lnTo>
                  <a:pt x="106865" y="18912"/>
                </a:lnTo>
                <a:lnTo>
                  <a:pt x="190805" y="18912"/>
                </a:lnTo>
                <a:lnTo>
                  <a:pt x="200750" y="25510"/>
                </a:lnTo>
                <a:lnTo>
                  <a:pt x="209933" y="38771"/>
                </a:lnTo>
                <a:lnTo>
                  <a:pt x="211318" y="42444"/>
                </a:lnTo>
                <a:lnTo>
                  <a:pt x="211386" y="75241"/>
                </a:lnTo>
                <a:lnTo>
                  <a:pt x="192617" y="75241"/>
                </a:lnTo>
                <a:lnTo>
                  <a:pt x="191944" y="75599"/>
                </a:lnTo>
                <a:close/>
              </a:path>
              <a:path w="212089" h="260985">
                <a:moveTo>
                  <a:pt x="211499" y="132227"/>
                </a:moveTo>
                <a:lnTo>
                  <a:pt x="105168" y="132227"/>
                </a:lnTo>
                <a:lnTo>
                  <a:pt x="116361" y="132101"/>
                </a:lnTo>
                <a:lnTo>
                  <a:pt x="125107" y="131682"/>
                </a:lnTo>
                <a:lnTo>
                  <a:pt x="167703" y="122882"/>
                </a:lnTo>
                <a:lnTo>
                  <a:pt x="192617" y="75241"/>
                </a:lnTo>
                <a:lnTo>
                  <a:pt x="211386" y="75241"/>
                </a:lnTo>
                <a:lnTo>
                  <a:pt x="211499" y="132227"/>
                </a:lnTo>
                <a:close/>
              </a:path>
              <a:path w="212089" h="260985">
                <a:moveTo>
                  <a:pt x="103997" y="94281"/>
                </a:moveTo>
                <a:lnTo>
                  <a:pt x="64581" y="91003"/>
                </a:lnTo>
                <a:lnTo>
                  <a:pt x="25422" y="78663"/>
                </a:lnTo>
                <a:lnTo>
                  <a:pt x="18924" y="75277"/>
                </a:lnTo>
                <a:lnTo>
                  <a:pt x="94317" y="75277"/>
                </a:lnTo>
                <a:lnTo>
                  <a:pt x="98018" y="75599"/>
                </a:lnTo>
                <a:lnTo>
                  <a:pt x="191944" y="75599"/>
                </a:lnTo>
                <a:lnTo>
                  <a:pt x="144562" y="91402"/>
                </a:lnTo>
                <a:lnTo>
                  <a:pt x="116816" y="94165"/>
                </a:lnTo>
                <a:lnTo>
                  <a:pt x="103997" y="94281"/>
                </a:lnTo>
                <a:close/>
              </a:path>
              <a:path w="212089" h="260985">
                <a:moveTo>
                  <a:pt x="116245" y="151085"/>
                </a:moveTo>
                <a:lnTo>
                  <a:pt x="71053" y="148816"/>
                </a:lnTo>
                <a:lnTo>
                  <a:pt x="27167" y="136264"/>
                </a:lnTo>
                <a:lnTo>
                  <a:pt x="19141" y="132331"/>
                </a:lnTo>
                <a:lnTo>
                  <a:pt x="211500" y="132339"/>
                </a:lnTo>
                <a:lnTo>
                  <a:pt x="192232" y="132339"/>
                </a:lnTo>
                <a:lnTo>
                  <a:pt x="189742" y="133598"/>
                </a:lnTo>
                <a:lnTo>
                  <a:pt x="186827" y="135137"/>
                </a:lnTo>
                <a:lnTo>
                  <a:pt x="167051" y="142977"/>
                </a:lnTo>
                <a:lnTo>
                  <a:pt x="142897" y="148393"/>
                </a:lnTo>
                <a:lnTo>
                  <a:pt x="116245" y="151085"/>
                </a:lnTo>
                <a:close/>
              </a:path>
              <a:path w="212089" h="260985">
                <a:moveTo>
                  <a:pt x="192108" y="189009"/>
                </a:moveTo>
                <a:lnTo>
                  <a:pt x="102637" y="189009"/>
                </a:lnTo>
                <a:lnTo>
                  <a:pt x="116679" y="188807"/>
                </a:lnTo>
                <a:lnTo>
                  <a:pt x="129544" y="187886"/>
                </a:lnTo>
                <a:lnTo>
                  <a:pt x="177586" y="175433"/>
                </a:lnTo>
                <a:lnTo>
                  <a:pt x="192495" y="132339"/>
                </a:lnTo>
                <a:lnTo>
                  <a:pt x="211500" y="132339"/>
                </a:lnTo>
                <a:lnTo>
                  <a:pt x="211470" y="188872"/>
                </a:lnTo>
                <a:lnTo>
                  <a:pt x="192384" y="188880"/>
                </a:lnTo>
                <a:lnTo>
                  <a:pt x="192108" y="189009"/>
                </a:lnTo>
                <a:close/>
              </a:path>
              <a:path w="212089" h="260985">
                <a:moveTo>
                  <a:pt x="18924" y="164130"/>
                </a:moveTo>
                <a:close/>
              </a:path>
              <a:path w="212089" h="260985">
                <a:moveTo>
                  <a:pt x="19217" y="164399"/>
                </a:moveTo>
                <a:lnTo>
                  <a:pt x="18924" y="164399"/>
                </a:lnTo>
                <a:lnTo>
                  <a:pt x="18924" y="164130"/>
                </a:lnTo>
                <a:lnTo>
                  <a:pt x="19217" y="164399"/>
                </a:lnTo>
                <a:close/>
              </a:path>
              <a:path w="212089" h="260985">
                <a:moveTo>
                  <a:pt x="190822" y="242028"/>
                </a:moveTo>
                <a:lnTo>
                  <a:pt x="97345" y="242028"/>
                </a:lnTo>
                <a:lnTo>
                  <a:pt x="109996" y="241868"/>
                </a:lnTo>
                <a:lnTo>
                  <a:pt x="122834" y="241483"/>
                </a:lnTo>
                <a:lnTo>
                  <a:pt x="131131" y="240978"/>
                </a:lnTo>
                <a:lnTo>
                  <a:pt x="144086" y="238999"/>
                </a:lnTo>
                <a:lnTo>
                  <a:pt x="183916" y="225308"/>
                </a:lnTo>
                <a:lnTo>
                  <a:pt x="192583" y="215191"/>
                </a:lnTo>
                <a:lnTo>
                  <a:pt x="192518" y="191986"/>
                </a:lnTo>
                <a:lnTo>
                  <a:pt x="192401" y="188872"/>
                </a:lnTo>
                <a:lnTo>
                  <a:pt x="211470" y="188872"/>
                </a:lnTo>
                <a:lnTo>
                  <a:pt x="211353" y="203081"/>
                </a:lnTo>
                <a:lnTo>
                  <a:pt x="211250" y="210753"/>
                </a:lnTo>
                <a:lnTo>
                  <a:pt x="211002" y="217065"/>
                </a:lnTo>
                <a:lnTo>
                  <a:pt x="203757" y="232062"/>
                </a:lnTo>
                <a:lnTo>
                  <a:pt x="190822" y="242028"/>
                </a:lnTo>
                <a:close/>
              </a:path>
              <a:path w="212089" h="260985">
                <a:moveTo>
                  <a:pt x="103379" y="207969"/>
                </a:moveTo>
                <a:lnTo>
                  <a:pt x="57512" y="203081"/>
                </a:lnTo>
                <a:lnTo>
                  <a:pt x="20874" y="189675"/>
                </a:lnTo>
                <a:lnTo>
                  <a:pt x="19375" y="188880"/>
                </a:lnTo>
                <a:lnTo>
                  <a:pt x="99052" y="188880"/>
                </a:lnTo>
                <a:lnTo>
                  <a:pt x="102637" y="189009"/>
                </a:lnTo>
                <a:lnTo>
                  <a:pt x="192108" y="189009"/>
                </a:lnTo>
                <a:lnTo>
                  <a:pt x="186290" y="191986"/>
                </a:lnTo>
                <a:lnTo>
                  <a:pt x="162741" y="200877"/>
                </a:lnTo>
                <a:lnTo>
                  <a:pt x="134389" y="206291"/>
                </a:lnTo>
                <a:lnTo>
                  <a:pt x="103379" y="207969"/>
                </a:lnTo>
                <a:close/>
              </a:path>
            </a:pathLst>
          </a:custGeom>
          <a:solidFill>
            <a:srgbClr val="D12A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2165408" y="5233522"/>
            <a:ext cx="334010" cy="250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solidFill>
                  <a:srgbClr val="AFABAB"/>
                </a:solidFill>
                <a:latin typeface="Consolas"/>
                <a:cs typeface="Consolas"/>
                <a:hlinkClick r:id="rId3"/>
              </a:rPr>
              <a:t>SQL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2721300" y="5128136"/>
            <a:ext cx="577850" cy="712470"/>
          </a:xfrm>
          <a:custGeom>
            <a:avLst/>
            <a:gdLst/>
            <a:ahLst/>
            <a:cxnLst/>
            <a:rect l="l" t="t" r="r" b="b"/>
            <a:pathLst>
              <a:path w="577850" h="712470">
                <a:moveTo>
                  <a:pt x="577279" y="712468"/>
                </a:moveTo>
                <a:lnTo>
                  <a:pt x="0" y="712468"/>
                </a:lnTo>
                <a:lnTo>
                  <a:pt x="0" y="0"/>
                </a:lnTo>
                <a:lnTo>
                  <a:pt x="456291" y="0"/>
                </a:lnTo>
                <a:lnTo>
                  <a:pt x="577279" y="118922"/>
                </a:lnTo>
                <a:lnTo>
                  <a:pt x="577279" y="712468"/>
                </a:lnTo>
                <a:close/>
              </a:path>
            </a:pathLst>
          </a:custGeom>
          <a:solidFill>
            <a:srgbClr val="ACABAB">
              <a:alpha val="392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177591" y="5128136"/>
            <a:ext cx="123189" cy="121920"/>
          </a:xfrm>
          <a:custGeom>
            <a:avLst/>
            <a:gdLst/>
            <a:ahLst/>
            <a:cxnLst/>
            <a:rect l="l" t="t" r="r" b="b"/>
            <a:pathLst>
              <a:path w="123189" h="121920">
                <a:moveTo>
                  <a:pt x="122761" y="121843"/>
                </a:moveTo>
                <a:lnTo>
                  <a:pt x="0" y="121843"/>
                </a:lnTo>
                <a:lnTo>
                  <a:pt x="0" y="0"/>
                </a:lnTo>
                <a:lnTo>
                  <a:pt x="122761" y="121843"/>
                </a:lnTo>
                <a:close/>
              </a:path>
            </a:pathLst>
          </a:custGeom>
          <a:solidFill>
            <a:srgbClr val="AFAB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725416" y="5156475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 h="0">
                <a:moveTo>
                  <a:pt x="0" y="0"/>
                </a:moveTo>
                <a:lnTo>
                  <a:pt x="452175" y="0"/>
                </a:lnTo>
              </a:path>
            </a:pathLst>
          </a:custGeom>
          <a:ln w="56678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2828600" y="5384332"/>
            <a:ext cx="334010" cy="250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10" b="1">
                <a:solidFill>
                  <a:srgbClr val="333333"/>
                </a:solidFill>
                <a:latin typeface="Consolas"/>
                <a:cs typeface="Consolas"/>
                <a:hlinkClick r:id="rId3"/>
              </a:rPr>
              <a:t>...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7896511" y="4616264"/>
            <a:ext cx="167016" cy="1254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914400" y="6176962"/>
            <a:ext cx="7372350" cy="0"/>
          </a:xfrm>
          <a:custGeom>
            <a:avLst/>
            <a:gdLst/>
            <a:ahLst/>
            <a:cxnLst/>
            <a:rect l="l" t="t" r="r" b="b"/>
            <a:pathLst>
              <a:path w="7372350" h="0">
                <a:moveTo>
                  <a:pt x="0" y="0"/>
                </a:moveTo>
                <a:lnTo>
                  <a:pt x="737234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914400" y="6186487"/>
            <a:ext cx="7372350" cy="0"/>
          </a:xfrm>
          <a:custGeom>
            <a:avLst/>
            <a:gdLst/>
            <a:ahLst/>
            <a:cxnLst/>
            <a:rect l="l" t="t" r="r" b="b"/>
            <a:pathLst>
              <a:path w="7372350" h="0">
                <a:moveTo>
                  <a:pt x="0" y="0"/>
                </a:moveTo>
                <a:lnTo>
                  <a:pt x="737234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27722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901700" y="6263211"/>
            <a:ext cx="7395209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</a:t>
            </a:r>
            <a:r>
              <a:rPr dirty="0" sz="85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85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content and image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are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from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900" spc="60" i="1">
                <a:solidFill>
                  <a:srgbClr val="585D60"/>
                </a:solidFill>
                <a:latin typeface="Gill Sans MT"/>
                <a:cs typeface="Gill Sans MT"/>
              </a:rPr>
              <a:t>Getting</a:t>
            </a:r>
            <a:r>
              <a:rPr dirty="0" sz="900" spc="-2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900" spc="60" i="1">
                <a:solidFill>
                  <a:srgbClr val="585D60"/>
                </a:solidFill>
                <a:latin typeface="Gill Sans MT"/>
                <a:cs typeface="Gill Sans MT"/>
              </a:rPr>
              <a:t>Started</a:t>
            </a:r>
            <a:r>
              <a:rPr dirty="0" sz="900" spc="-25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900" spc="60" i="1">
                <a:solidFill>
                  <a:srgbClr val="585D60"/>
                </a:solidFill>
                <a:latin typeface="Gill Sans MT"/>
                <a:cs typeface="Gill Sans MT"/>
              </a:rPr>
              <a:t>with</a:t>
            </a:r>
            <a:r>
              <a:rPr dirty="0" sz="900" spc="-25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900" spc="85" i="1">
                <a:solidFill>
                  <a:srgbClr val="585D60"/>
                </a:solidFill>
                <a:latin typeface="Gill Sans MT"/>
                <a:cs typeface="Gill Sans MT"/>
              </a:rPr>
              <a:t>Pandas</a:t>
            </a:r>
            <a:r>
              <a:rPr dirty="0" sz="900" spc="-25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description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in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14"/>
              </a:rPr>
              <a:t>pandas.pydata.org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r>
              <a:rPr dirty="0" sz="85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image</a:t>
            </a:r>
            <a:r>
              <a:rPr dirty="0" sz="85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can be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directly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 accessed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15"/>
              </a:rPr>
              <a:t>here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14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9782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Things </a:t>
            </a:r>
            <a:r>
              <a:rPr dirty="0" sz="3350" spc="-10">
                <a:latin typeface="Roboto Condensed"/>
                <a:cs typeface="Roboto Condensed"/>
              </a:rPr>
              <a:t>to </a:t>
            </a:r>
            <a:r>
              <a:rPr dirty="0" sz="3350" spc="10">
                <a:latin typeface="Roboto Condensed"/>
                <a:cs typeface="Roboto Condensed"/>
              </a:rPr>
              <a:t>Consider while </a:t>
            </a:r>
            <a:r>
              <a:rPr dirty="0" sz="3350" spc="20">
                <a:latin typeface="Roboto Condensed"/>
                <a:cs typeface="Roboto Condensed"/>
              </a:rPr>
              <a:t>Importing </a:t>
            </a:r>
            <a:r>
              <a:rPr dirty="0" sz="3350" spc="10">
                <a:latin typeface="Roboto Condensed"/>
                <a:cs typeface="Roboto Condensed"/>
              </a:rPr>
              <a:t>Data with</a:t>
            </a:r>
            <a:r>
              <a:rPr dirty="0" sz="3350" spc="-30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Pandas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149" y="1285747"/>
            <a:ext cx="9351010" cy="472122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32715" indent="-120650">
              <a:lnSpc>
                <a:spcPct val="100000"/>
              </a:lnSpc>
              <a:spcBef>
                <a:spcPts val="1250"/>
              </a:spcBef>
              <a:buFont typeface="Roboto"/>
              <a:buChar char="•"/>
              <a:tabLst>
                <a:tab pos="133350" algn="l"/>
              </a:tabLst>
            </a:pP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Check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file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extension: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600" spc="5" b="1">
                <a:latin typeface="Roboto"/>
                <a:cs typeface="Roboto"/>
              </a:rPr>
              <a:t>choice of function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depend on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file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 extension.</a:t>
            </a:r>
            <a:endParaRPr sz="1600">
              <a:latin typeface="Roboto"/>
              <a:cs typeface="Roboto"/>
            </a:endParaRPr>
          </a:p>
          <a:p>
            <a:pPr marL="132715" indent="-120650">
              <a:lnSpc>
                <a:spcPct val="100000"/>
              </a:lnSpc>
              <a:spcBef>
                <a:spcPts val="1155"/>
              </a:spcBef>
              <a:buFont typeface="Roboto"/>
              <a:buChar char="•"/>
              <a:tabLst>
                <a:tab pos="133350" algn="l"/>
              </a:tabLst>
            </a:pP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Check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file</a:t>
            </a:r>
            <a:r>
              <a:rPr dirty="0" sz="1600" spc="-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path:</a:t>
            </a:r>
            <a:endParaRPr sz="1600">
              <a:latin typeface="Roboto"/>
              <a:cs typeface="Roboto"/>
            </a:endParaRPr>
          </a:p>
          <a:p>
            <a:pPr lvl="1" marL="513715" indent="-121285">
              <a:lnSpc>
                <a:spcPct val="100000"/>
              </a:lnSpc>
              <a:spcBef>
                <a:spcPts val="1155"/>
              </a:spcBef>
              <a:buFont typeface="Roboto"/>
              <a:buChar char="•"/>
              <a:tabLst>
                <a:tab pos="514350" algn="l"/>
              </a:tabLst>
            </a:pP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Local</a:t>
            </a:r>
            <a:r>
              <a:rPr dirty="0" sz="1600" spc="-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file:</a:t>
            </a:r>
            <a:endParaRPr sz="1600">
              <a:latin typeface="Roboto"/>
              <a:cs typeface="Roboto"/>
            </a:endParaRPr>
          </a:p>
          <a:p>
            <a:pPr lvl="2" marL="894715" indent="-121285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895350" algn="l"/>
              </a:tabLst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If the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file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is in the </a:t>
            </a:r>
            <a:r>
              <a:rPr dirty="0" sz="1600" spc="10" b="1">
                <a:latin typeface="Roboto"/>
                <a:cs typeface="Roboto"/>
              </a:rPr>
              <a:t>same </a:t>
            </a:r>
            <a:r>
              <a:rPr dirty="0" sz="1600" spc="5" b="1">
                <a:latin typeface="Roboto"/>
                <a:cs typeface="Roboto"/>
              </a:rPr>
              <a:t>directory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as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your code, you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can simply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provide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b="1">
                <a:latin typeface="Roboto"/>
                <a:cs typeface="Roboto"/>
              </a:rPr>
              <a:t>file</a:t>
            </a:r>
            <a:r>
              <a:rPr dirty="0" sz="1600" spc="25" b="1">
                <a:latin typeface="Roboto"/>
                <a:cs typeface="Roboto"/>
              </a:rPr>
              <a:t> </a:t>
            </a:r>
            <a:r>
              <a:rPr dirty="0" sz="1600" spc="10" b="1">
                <a:latin typeface="Roboto"/>
                <a:cs typeface="Roboto"/>
              </a:rPr>
              <a:t>name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600">
              <a:latin typeface="Roboto"/>
              <a:cs typeface="Roboto"/>
            </a:endParaRPr>
          </a:p>
          <a:p>
            <a:pPr lvl="2" marL="894715" indent="-121285">
              <a:lnSpc>
                <a:spcPct val="100000"/>
              </a:lnSpc>
              <a:spcBef>
                <a:spcPts val="1230"/>
              </a:spcBef>
              <a:buClr>
                <a:srgbClr val="C2132D"/>
              </a:buClr>
              <a:buFont typeface="Roboto"/>
              <a:buChar char="•"/>
              <a:tabLst>
                <a:tab pos="895350" algn="l"/>
              </a:tabLst>
            </a:pPr>
            <a:r>
              <a:rPr dirty="0" sz="1600" spc="10" b="1">
                <a:latin typeface="Roboto"/>
                <a:cs typeface="Roboto"/>
              </a:rPr>
              <a:t>Otherwise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you will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need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provide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5" b="1">
                <a:latin typeface="Roboto"/>
                <a:cs typeface="Roboto"/>
              </a:rPr>
              <a:t>path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6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file.</a:t>
            </a:r>
            <a:endParaRPr sz="1600">
              <a:latin typeface="Roboto"/>
              <a:cs typeface="Roboto"/>
            </a:endParaRPr>
          </a:p>
          <a:p>
            <a:pPr lvl="1" marL="513715" indent="-121285">
              <a:lnSpc>
                <a:spcPct val="100000"/>
              </a:lnSpc>
              <a:spcBef>
                <a:spcPts val="1155"/>
              </a:spcBef>
              <a:buFont typeface="Roboto"/>
              <a:buChar char="•"/>
              <a:tabLst>
                <a:tab pos="514350" algn="l"/>
              </a:tabLst>
            </a:pPr>
            <a:r>
              <a:rPr dirty="0" sz="1600" spc="10" b="1">
                <a:solidFill>
                  <a:srgbClr val="C2132D"/>
                </a:solidFill>
                <a:latin typeface="Roboto"/>
                <a:cs typeface="Roboto"/>
              </a:rPr>
              <a:t>Remote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file: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need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provide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600" spc="10" b="1">
                <a:latin typeface="Roboto"/>
                <a:cs typeface="Roboto"/>
              </a:rPr>
              <a:t>URL </a:t>
            </a:r>
            <a:r>
              <a:rPr dirty="0" sz="1600" spc="-5" b="1">
                <a:latin typeface="Roboto"/>
                <a:cs typeface="Roboto"/>
              </a:rPr>
              <a:t>to </a:t>
            </a:r>
            <a:r>
              <a:rPr dirty="0" sz="1600" spc="5" b="1">
                <a:latin typeface="Roboto"/>
                <a:cs typeface="Roboto"/>
              </a:rPr>
              <a:t>the</a:t>
            </a:r>
            <a:r>
              <a:rPr dirty="0" sz="1600" spc="15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file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600">
              <a:latin typeface="Roboto"/>
              <a:cs typeface="Roboto"/>
            </a:endParaRPr>
          </a:p>
          <a:p>
            <a:pPr marL="132715" indent="-120650">
              <a:lnSpc>
                <a:spcPct val="100000"/>
              </a:lnSpc>
              <a:spcBef>
                <a:spcPts val="1155"/>
              </a:spcBef>
              <a:buFont typeface="Roboto"/>
              <a:buChar char="•"/>
              <a:tabLst>
                <a:tab pos="133350" algn="l"/>
              </a:tabLst>
            </a:pPr>
            <a:r>
              <a:rPr dirty="0" sz="1600" spc="5" b="1">
                <a:solidFill>
                  <a:srgbClr val="C2132D"/>
                </a:solidFill>
                <a:latin typeface="Roboto"/>
                <a:cs typeface="Roboto"/>
              </a:rPr>
              <a:t>Inspect the </a:t>
            </a:r>
            <a:r>
              <a:rPr dirty="0" sz="1600" b="1">
                <a:solidFill>
                  <a:srgbClr val="C2132D"/>
                </a:solidFill>
                <a:latin typeface="Roboto"/>
                <a:cs typeface="Roboto"/>
              </a:rPr>
              <a:t>file: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know which </a:t>
            </a:r>
            <a:r>
              <a:rPr dirty="0" sz="1600" spc="5" b="1">
                <a:latin typeface="Roboto"/>
                <a:cs typeface="Roboto"/>
              </a:rPr>
              <a:t>default parameter values </a:t>
            </a:r>
            <a:r>
              <a:rPr dirty="0" sz="1600" spc="10" b="1">
                <a:latin typeface="Roboto"/>
                <a:cs typeface="Roboto"/>
              </a:rPr>
              <a:t>must be changed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. Things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60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consider:</a:t>
            </a:r>
            <a:endParaRPr sz="1600">
              <a:latin typeface="Roboto"/>
              <a:cs typeface="Roboto"/>
            </a:endParaRPr>
          </a:p>
          <a:p>
            <a:pPr lvl="1" marL="513715" indent="-121285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514350" algn="l"/>
              </a:tabLst>
            </a:pP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Delimiter (in 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case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of .txt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-5">
                <a:solidFill>
                  <a:srgbClr val="585D60"/>
                </a:solidFill>
                <a:latin typeface="Roboto"/>
                <a:cs typeface="Roboto"/>
              </a:rPr>
              <a:t>files)</a:t>
            </a:r>
            <a:endParaRPr sz="1600">
              <a:latin typeface="Roboto"/>
              <a:cs typeface="Roboto"/>
            </a:endParaRPr>
          </a:p>
          <a:p>
            <a:pPr lvl="1" marL="513715" indent="-121285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5143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Header (does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it exist? if not,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what should be used as column</a:t>
            </a:r>
            <a:r>
              <a:rPr dirty="0" sz="160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names?)</a:t>
            </a:r>
            <a:endParaRPr sz="1600">
              <a:latin typeface="Roboto"/>
              <a:cs typeface="Roboto"/>
            </a:endParaRPr>
          </a:p>
          <a:p>
            <a:pPr lvl="1" marL="513715" indent="-121285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5143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Index Column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(if it exists,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what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is it? if not,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what should be used as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600" spc="-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index?)</a:t>
            </a:r>
            <a:endParaRPr sz="1600">
              <a:latin typeface="Roboto"/>
              <a:cs typeface="Roboto"/>
            </a:endParaRPr>
          </a:p>
          <a:p>
            <a:pPr lvl="1" marL="513715" indent="-121285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5143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Encoding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(to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be changed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if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file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not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in English, or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has names such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as: </a:t>
            </a:r>
            <a:r>
              <a:rPr dirty="0" sz="1600">
                <a:solidFill>
                  <a:srgbClr val="585D60"/>
                </a:solidFill>
                <a:latin typeface="Roboto"/>
                <a:cs typeface="Roboto"/>
              </a:rPr>
              <a:t>François,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José, Weiß,</a:t>
            </a:r>
            <a:r>
              <a:rPr dirty="0" sz="1600" spc="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etc.)</a:t>
            </a:r>
            <a:endParaRPr sz="1600">
              <a:latin typeface="Roboto"/>
              <a:cs typeface="Roboto"/>
            </a:endParaRPr>
          </a:p>
          <a:p>
            <a:pPr lvl="1" marL="513715" indent="-121285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Char char="•"/>
              <a:tabLst>
                <a:tab pos="5143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Date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Format (if the </a:t>
            </a:r>
            <a:r>
              <a:rPr dirty="0" sz="1600" spc="-10">
                <a:solidFill>
                  <a:srgbClr val="585D60"/>
                </a:solidFill>
                <a:latin typeface="Roboto"/>
                <a:cs typeface="Roboto"/>
              </a:rPr>
              <a:t>file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has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dates,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what 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is the </a:t>
            </a: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format?)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3149" y="6125209"/>
            <a:ext cx="48450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32715" indent="-120650">
              <a:lnSpc>
                <a:spcPct val="100000"/>
              </a:lnSpc>
              <a:spcBef>
                <a:spcPts val="120"/>
              </a:spcBef>
              <a:buClr>
                <a:srgbClr val="C2132D"/>
              </a:buClr>
              <a:buChar char="•"/>
              <a:tabLst>
                <a:tab pos="133350" algn="l"/>
              </a:tabLst>
            </a:pPr>
            <a:r>
              <a:rPr dirty="0" sz="1600" spc="10">
                <a:solidFill>
                  <a:srgbClr val="585D60"/>
                </a:solidFill>
                <a:latin typeface="Roboto"/>
                <a:cs typeface="Roboto"/>
              </a:rPr>
              <a:t>e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tc</a:t>
            </a:r>
            <a:r>
              <a:rPr dirty="0" sz="1600" spc="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15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0591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20">
                <a:latin typeface="Roboto Condensed"/>
                <a:cs typeface="Roboto Condensed"/>
              </a:rPr>
              <a:t>Importing </a:t>
            </a:r>
            <a:r>
              <a:rPr dirty="0" sz="3350" spc="10">
                <a:latin typeface="Roboto Condensed"/>
                <a:cs typeface="Roboto Condensed"/>
              </a:rPr>
              <a:t>Data Using </a:t>
            </a:r>
            <a:r>
              <a:rPr dirty="0" sz="3350" spc="5">
                <a:latin typeface="Roboto Condensed"/>
                <a:cs typeface="Roboto Condensed"/>
              </a:rPr>
              <a:t>Pandas:</a:t>
            </a:r>
            <a:r>
              <a:rPr dirty="0" sz="3350" spc="-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CSVs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52825" y="2867049"/>
            <a:ext cx="137284" cy="121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71824" y="2838449"/>
            <a:ext cx="142875" cy="3276600"/>
          </a:xfrm>
          <a:custGeom>
            <a:avLst/>
            <a:gdLst/>
            <a:ahLst/>
            <a:cxnLst/>
            <a:rect l="l" t="t" r="r" b="b"/>
            <a:pathLst>
              <a:path w="142875" h="3276600">
                <a:moveTo>
                  <a:pt x="0" y="0"/>
                </a:moveTo>
                <a:lnTo>
                  <a:pt x="142874" y="0"/>
                </a:lnTo>
                <a:lnTo>
                  <a:pt x="142874" y="3276599"/>
                </a:lnTo>
                <a:lnTo>
                  <a:pt x="0" y="3276599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00399" y="2838449"/>
            <a:ext cx="85725" cy="590550"/>
          </a:xfrm>
          <a:custGeom>
            <a:avLst/>
            <a:gdLst/>
            <a:ahLst/>
            <a:cxnLst/>
            <a:rect l="l" t="t" r="r" b="b"/>
            <a:pathLst>
              <a:path w="85725" h="590550">
                <a:moveTo>
                  <a:pt x="48546" y="590549"/>
                </a:moveTo>
                <a:lnTo>
                  <a:pt x="37178" y="590549"/>
                </a:lnTo>
                <a:lnTo>
                  <a:pt x="31710" y="589462"/>
                </a:lnTo>
                <a:lnTo>
                  <a:pt x="1087" y="558838"/>
                </a:lnTo>
                <a:lnTo>
                  <a:pt x="0" y="553371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48546" y="0"/>
                </a:lnTo>
                <a:lnTo>
                  <a:pt x="80286" y="21208"/>
                </a:lnTo>
                <a:lnTo>
                  <a:pt x="85724" y="37178"/>
                </a:lnTo>
                <a:lnTo>
                  <a:pt x="85724" y="553371"/>
                </a:lnTo>
                <a:lnTo>
                  <a:pt x="64516" y="585112"/>
                </a:lnTo>
                <a:lnTo>
                  <a:pt x="48546" y="590549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0137" y="3047999"/>
            <a:ext cx="0" cy="304800"/>
          </a:xfrm>
          <a:custGeom>
            <a:avLst/>
            <a:gdLst/>
            <a:ahLst/>
            <a:cxnLst/>
            <a:rect l="l" t="t" r="r" b="b"/>
            <a:pathLst>
              <a:path w="0"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28574">
            <a:solidFill>
              <a:srgbClr val="097D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61440" y="3166226"/>
            <a:ext cx="121483" cy="69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52537" y="4257675"/>
            <a:ext cx="0" cy="304800"/>
          </a:xfrm>
          <a:custGeom>
            <a:avLst/>
            <a:gdLst/>
            <a:ahLst/>
            <a:cxnLst/>
            <a:rect l="l" t="t" r="r" b="b"/>
            <a:pathLst>
              <a:path w="0"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28574">
            <a:solidFill>
              <a:srgbClr val="097D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76675" y="2347912"/>
            <a:ext cx="828675" cy="0"/>
          </a:xfrm>
          <a:custGeom>
            <a:avLst/>
            <a:gdLst/>
            <a:ahLst/>
            <a:cxnLst/>
            <a:rect l="l" t="t" r="r" b="b"/>
            <a:pathLst>
              <a:path w="828675" h="0">
                <a:moveTo>
                  <a:pt x="0" y="0"/>
                </a:moveTo>
                <a:lnTo>
                  <a:pt x="828674" y="0"/>
                </a:lnTo>
              </a:path>
            </a:pathLst>
          </a:custGeom>
          <a:ln w="28574">
            <a:solidFill>
              <a:srgbClr val="097D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86561" y="1557337"/>
            <a:ext cx="1676400" cy="390525"/>
          </a:xfrm>
          <a:custGeom>
            <a:avLst/>
            <a:gdLst/>
            <a:ahLst/>
            <a:cxnLst/>
            <a:rect l="l" t="t" r="r" b="b"/>
            <a:pathLst>
              <a:path w="1676400" h="390525">
                <a:moveTo>
                  <a:pt x="0" y="195262"/>
                </a:moveTo>
                <a:lnTo>
                  <a:pt x="3750" y="157168"/>
                </a:lnTo>
                <a:lnTo>
                  <a:pt x="14862" y="120538"/>
                </a:lnTo>
                <a:lnTo>
                  <a:pt x="32907" y="86780"/>
                </a:lnTo>
                <a:lnTo>
                  <a:pt x="57190" y="57191"/>
                </a:lnTo>
                <a:lnTo>
                  <a:pt x="86779" y="32907"/>
                </a:lnTo>
                <a:lnTo>
                  <a:pt x="120538" y="14863"/>
                </a:lnTo>
                <a:lnTo>
                  <a:pt x="157168" y="3751"/>
                </a:lnTo>
                <a:lnTo>
                  <a:pt x="195262" y="0"/>
                </a:lnTo>
                <a:lnTo>
                  <a:pt x="1481137" y="0"/>
                </a:lnTo>
                <a:lnTo>
                  <a:pt x="1519230" y="3751"/>
                </a:lnTo>
                <a:lnTo>
                  <a:pt x="1555860" y="14863"/>
                </a:lnTo>
                <a:lnTo>
                  <a:pt x="1589618" y="32907"/>
                </a:lnTo>
                <a:lnTo>
                  <a:pt x="1619208" y="57191"/>
                </a:lnTo>
                <a:lnTo>
                  <a:pt x="1643491" y="86780"/>
                </a:lnTo>
                <a:lnTo>
                  <a:pt x="1661535" y="120538"/>
                </a:lnTo>
                <a:lnTo>
                  <a:pt x="1672647" y="157168"/>
                </a:lnTo>
                <a:lnTo>
                  <a:pt x="1676399" y="195262"/>
                </a:lnTo>
                <a:lnTo>
                  <a:pt x="1676165" y="204855"/>
                </a:lnTo>
                <a:lnTo>
                  <a:pt x="1670545" y="242718"/>
                </a:lnTo>
                <a:lnTo>
                  <a:pt x="1657647" y="278758"/>
                </a:lnTo>
                <a:lnTo>
                  <a:pt x="1637966" y="311590"/>
                </a:lnTo>
                <a:lnTo>
                  <a:pt x="1612258" y="339951"/>
                </a:lnTo>
                <a:lnTo>
                  <a:pt x="1581512" y="362751"/>
                </a:lnTo>
                <a:lnTo>
                  <a:pt x="1546907" y="379115"/>
                </a:lnTo>
                <a:lnTo>
                  <a:pt x="1509776" y="388414"/>
                </a:lnTo>
                <a:lnTo>
                  <a:pt x="1481137" y="390524"/>
                </a:lnTo>
                <a:lnTo>
                  <a:pt x="195262" y="390524"/>
                </a:lnTo>
                <a:lnTo>
                  <a:pt x="157168" y="386773"/>
                </a:lnTo>
                <a:lnTo>
                  <a:pt x="120538" y="375661"/>
                </a:lnTo>
                <a:lnTo>
                  <a:pt x="86779" y="357617"/>
                </a:lnTo>
                <a:lnTo>
                  <a:pt x="57190" y="333333"/>
                </a:lnTo>
                <a:lnTo>
                  <a:pt x="32906" y="303744"/>
                </a:lnTo>
                <a:lnTo>
                  <a:pt x="14862" y="269986"/>
                </a:lnTo>
                <a:lnTo>
                  <a:pt x="3750" y="233356"/>
                </a:lnTo>
                <a:lnTo>
                  <a:pt x="0" y="195262"/>
                </a:lnTo>
                <a:close/>
              </a:path>
            </a:pathLst>
          </a:custGeom>
          <a:ln w="9524">
            <a:solidFill>
              <a:srgbClr val="D0D5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68038" y="1676912"/>
            <a:ext cx="153047" cy="1530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23047" y="1633727"/>
            <a:ext cx="429895" cy="259079"/>
          </a:xfrm>
          <a:custGeom>
            <a:avLst/>
            <a:gdLst/>
            <a:ahLst/>
            <a:cxnLst/>
            <a:rect l="l" t="t" r="r" b="b"/>
            <a:pathLst>
              <a:path w="429895" h="259080">
                <a:moveTo>
                  <a:pt x="429768" y="259080"/>
                </a:moveTo>
                <a:lnTo>
                  <a:pt x="0" y="259080"/>
                </a:lnTo>
                <a:lnTo>
                  <a:pt x="0" y="0"/>
                </a:lnTo>
                <a:lnTo>
                  <a:pt x="429768" y="0"/>
                </a:lnTo>
                <a:lnTo>
                  <a:pt x="429768" y="14097"/>
                </a:lnTo>
                <a:lnTo>
                  <a:pt x="36685" y="14097"/>
                </a:lnTo>
                <a:lnTo>
                  <a:pt x="29950" y="16886"/>
                </a:lnTo>
                <a:lnTo>
                  <a:pt x="18791" y="28045"/>
                </a:lnTo>
                <a:lnTo>
                  <a:pt x="16001" y="34781"/>
                </a:lnTo>
                <a:lnTo>
                  <a:pt x="16001" y="202962"/>
                </a:lnTo>
                <a:lnTo>
                  <a:pt x="18791" y="209697"/>
                </a:lnTo>
                <a:lnTo>
                  <a:pt x="29950" y="220857"/>
                </a:lnTo>
                <a:lnTo>
                  <a:pt x="36685" y="223646"/>
                </a:lnTo>
                <a:lnTo>
                  <a:pt x="429768" y="223646"/>
                </a:lnTo>
                <a:lnTo>
                  <a:pt x="429768" y="259080"/>
                </a:lnTo>
                <a:close/>
              </a:path>
              <a:path w="429895" h="259080">
                <a:moveTo>
                  <a:pt x="429768" y="223646"/>
                </a:moveTo>
                <a:lnTo>
                  <a:pt x="376316" y="223646"/>
                </a:lnTo>
                <a:lnTo>
                  <a:pt x="383051" y="220857"/>
                </a:lnTo>
                <a:lnTo>
                  <a:pt x="394211" y="209697"/>
                </a:lnTo>
                <a:lnTo>
                  <a:pt x="397000" y="202962"/>
                </a:lnTo>
                <a:lnTo>
                  <a:pt x="397000" y="34781"/>
                </a:lnTo>
                <a:lnTo>
                  <a:pt x="394211" y="28045"/>
                </a:lnTo>
                <a:lnTo>
                  <a:pt x="383051" y="16886"/>
                </a:lnTo>
                <a:lnTo>
                  <a:pt x="376316" y="14097"/>
                </a:lnTo>
                <a:lnTo>
                  <a:pt x="429768" y="14097"/>
                </a:lnTo>
                <a:lnTo>
                  <a:pt x="429768" y="223646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34286" y="1643062"/>
            <a:ext cx="390525" cy="219075"/>
          </a:xfrm>
          <a:custGeom>
            <a:avLst/>
            <a:gdLst/>
            <a:ahLst/>
            <a:cxnLst/>
            <a:rect l="l" t="t" r="r" b="b"/>
            <a:pathLst>
              <a:path w="390525" h="219075">
                <a:moveTo>
                  <a:pt x="361608" y="219074"/>
                </a:moveTo>
                <a:lnTo>
                  <a:pt x="28916" y="219074"/>
                </a:lnTo>
                <a:lnTo>
                  <a:pt x="24663" y="218229"/>
                </a:lnTo>
                <a:lnTo>
                  <a:pt x="0" y="190158"/>
                </a:lnTo>
                <a:lnTo>
                  <a:pt x="0" y="28916"/>
                </a:lnTo>
                <a:lnTo>
                  <a:pt x="28916" y="0"/>
                </a:lnTo>
                <a:lnTo>
                  <a:pt x="361608" y="0"/>
                </a:lnTo>
                <a:lnTo>
                  <a:pt x="390524" y="28916"/>
                </a:lnTo>
                <a:lnTo>
                  <a:pt x="390524" y="190158"/>
                </a:lnTo>
                <a:lnTo>
                  <a:pt x="361608" y="2190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34286" y="1643062"/>
            <a:ext cx="390525" cy="219075"/>
          </a:xfrm>
          <a:custGeom>
            <a:avLst/>
            <a:gdLst/>
            <a:ahLst/>
            <a:cxnLst/>
            <a:rect l="l" t="t" r="r" b="b"/>
            <a:pathLst>
              <a:path w="390525" h="219075">
                <a:moveTo>
                  <a:pt x="0" y="185737"/>
                </a:moveTo>
                <a:lnTo>
                  <a:pt x="0" y="33337"/>
                </a:lnTo>
                <a:lnTo>
                  <a:pt x="0" y="28916"/>
                </a:lnTo>
                <a:lnTo>
                  <a:pt x="845" y="24664"/>
                </a:lnTo>
                <a:lnTo>
                  <a:pt x="2537" y="20579"/>
                </a:lnTo>
                <a:lnTo>
                  <a:pt x="4229" y="16495"/>
                </a:lnTo>
                <a:lnTo>
                  <a:pt x="6638" y="12890"/>
                </a:lnTo>
                <a:lnTo>
                  <a:pt x="9764" y="9764"/>
                </a:lnTo>
                <a:lnTo>
                  <a:pt x="12889" y="6638"/>
                </a:lnTo>
                <a:lnTo>
                  <a:pt x="16494" y="4229"/>
                </a:lnTo>
                <a:lnTo>
                  <a:pt x="20579" y="2537"/>
                </a:lnTo>
                <a:lnTo>
                  <a:pt x="24663" y="845"/>
                </a:lnTo>
                <a:lnTo>
                  <a:pt x="28916" y="0"/>
                </a:lnTo>
                <a:lnTo>
                  <a:pt x="33338" y="0"/>
                </a:lnTo>
                <a:lnTo>
                  <a:pt x="357188" y="0"/>
                </a:lnTo>
                <a:lnTo>
                  <a:pt x="361608" y="0"/>
                </a:lnTo>
                <a:lnTo>
                  <a:pt x="365860" y="845"/>
                </a:lnTo>
                <a:lnTo>
                  <a:pt x="369944" y="2537"/>
                </a:lnTo>
                <a:lnTo>
                  <a:pt x="374028" y="4229"/>
                </a:lnTo>
                <a:lnTo>
                  <a:pt x="377634" y="6638"/>
                </a:lnTo>
                <a:lnTo>
                  <a:pt x="390525" y="33337"/>
                </a:lnTo>
                <a:lnTo>
                  <a:pt x="390525" y="185737"/>
                </a:lnTo>
                <a:lnTo>
                  <a:pt x="369944" y="216537"/>
                </a:lnTo>
                <a:lnTo>
                  <a:pt x="365860" y="218229"/>
                </a:lnTo>
                <a:lnTo>
                  <a:pt x="361608" y="219074"/>
                </a:lnTo>
                <a:lnTo>
                  <a:pt x="357188" y="219074"/>
                </a:lnTo>
                <a:lnTo>
                  <a:pt x="33338" y="219074"/>
                </a:lnTo>
                <a:lnTo>
                  <a:pt x="28916" y="219074"/>
                </a:lnTo>
                <a:lnTo>
                  <a:pt x="24663" y="218229"/>
                </a:lnTo>
                <a:lnTo>
                  <a:pt x="20579" y="216537"/>
                </a:lnTo>
                <a:lnTo>
                  <a:pt x="16494" y="214845"/>
                </a:lnTo>
                <a:lnTo>
                  <a:pt x="12889" y="212436"/>
                </a:lnTo>
                <a:lnTo>
                  <a:pt x="9764" y="209310"/>
                </a:lnTo>
                <a:lnTo>
                  <a:pt x="6638" y="206184"/>
                </a:lnTo>
                <a:lnTo>
                  <a:pt x="4229" y="202579"/>
                </a:lnTo>
                <a:lnTo>
                  <a:pt x="2537" y="198495"/>
                </a:lnTo>
                <a:lnTo>
                  <a:pt x="845" y="194410"/>
                </a:lnTo>
                <a:lnTo>
                  <a:pt x="0" y="190158"/>
                </a:lnTo>
                <a:lnTo>
                  <a:pt x="0" y="185737"/>
                </a:lnTo>
                <a:close/>
              </a:path>
            </a:pathLst>
          </a:custGeom>
          <a:ln w="9524">
            <a:solidFill>
              <a:srgbClr val="D0D5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56447" y="1633727"/>
            <a:ext cx="231775" cy="259079"/>
          </a:xfrm>
          <a:custGeom>
            <a:avLst/>
            <a:gdLst/>
            <a:ahLst/>
            <a:cxnLst/>
            <a:rect l="l" t="t" r="r" b="b"/>
            <a:pathLst>
              <a:path w="231775" h="259080">
                <a:moveTo>
                  <a:pt x="231648" y="259080"/>
                </a:moveTo>
                <a:lnTo>
                  <a:pt x="0" y="259080"/>
                </a:lnTo>
                <a:lnTo>
                  <a:pt x="0" y="0"/>
                </a:lnTo>
                <a:lnTo>
                  <a:pt x="231648" y="0"/>
                </a:lnTo>
                <a:lnTo>
                  <a:pt x="231648" y="14097"/>
                </a:lnTo>
                <a:lnTo>
                  <a:pt x="36685" y="14097"/>
                </a:lnTo>
                <a:lnTo>
                  <a:pt x="29950" y="16886"/>
                </a:lnTo>
                <a:lnTo>
                  <a:pt x="18791" y="28045"/>
                </a:lnTo>
                <a:lnTo>
                  <a:pt x="16001" y="34781"/>
                </a:lnTo>
                <a:lnTo>
                  <a:pt x="16001" y="202962"/>
                </a:lnTo>
                <a:lnTo>
                  <a:pt x="18791" y="209697"/>
                </a:lnTo>
                <a:lnTo>
                  <a:pt x="29950" y="220857"/>
                </a:lnTo>
                <a:lnTo>
                  <a:pt x="36685" y="223646"/>
                </a:lnTo>
                <a:lnTo>
                  <a:pt x="231648" y="223646"/>
                </a:lnTo>
                <a:lnTo>
                  <a:pt x="231648" y="259080"/>
                </a:lnTo>
                <a:close/>
              </a:path>
              <a:path w="231775" h="259080">
                <a:moveTo>
                  <a:pt x="231648" y="223646"/>
                </a:moveTo>
                <a:lnTo>
                  <a:pt x="176291" y="223646"/>
                </a:lnTo>
                <a:lnTo>
                  <a:pt x="183026" y="220857"/>
                </a:lnTo>
                <a:lnTo>
                  <a:pt x="194186" y="209697"/>
                </a:lnTo>
                <a:lnTo>
                  <a:pt x="196975" y="202962"/>
                </a:lnTo>
                <a:lnTo>
                  <a:pt x="196975" y="34781"/>
                </a:lnTo>
                <a:lnTo>
                  <a:pt x="194186" y="28045"/>
                </a:lnTo>
                <a:lnTo>
                  <a:pt x="183026" y="16886"/>
                </a:lnTo>
                <a:lnTo>
                  <a:pt x="176291" y="14097"/>
                </a:lnTo>
                <a:lnTo>
                  <a:pt x="231648" y="14097"/>
                </a:lnTo>
                <a:lnTo>
                  <a:pt x="231648" y="223646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162923" y="1638300"/>
            <a:ext cx="200025" cy="228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791699" y="1666875"/>
            <a:ext cx="166687" cy="1666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153525" y="2278856"/>
            <a:ext cx="166687" cy="1666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467849" y="2278856"/>
            <a:ext cx="166687" cy="1666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797306" y="2278851"/>
            <a:ext cx="155499" cy="16669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116739" y="1938337"/>
            <a:ext cx="203596" cy="2000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422307" y="1992259"/>
            <a:ext cx="249227" cy="1562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694256" y="1954192"/>
            <a:ext cx="368012" cy="14965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082872" y="1992121"/>
            <a:ext cx="86302" cy="11224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89528" y="1923261"/>
            <a:ext cx="33655" cy="69215"/>
          </a:xfrm>
          <a:custGeom>
            <a:avLst/>
            <a:gdLst/>
            <a:ahLst/>
            <a:cxnLst/>
            <a:rect l="l" t="t" r="r" b="b"/>
            <a:pathLst>
              <a:path w="33655" h="69214">
                <a:moveTo>
                  <a:pt x="0" y="0"/>
                </a:moveTo>
                <a:lnTo>
                  <a:pt x="33355" y="0"/>
                </a:lnTo>
                <a:lnTo>
                  <a:pt x="33355" y="69039"/>
                </a:lnTo>
                <a:lnTo>
                  <a:pt x="0" y="69039"/>
                </a:lnTo>
                <a:lnTo>
                  <a:pt x="0" y="0"/>
                </a:lnTo>
                <a:close/>
              </a:path>
            </a:pathLst>
          </a:custGeom>
          <a:solidFill>
            <a:srgbClr val="1207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89528" y="2065080"/>
            <a:ext cx="33655" cy="69215"/>
          </a:xfrm>
          <a:custGeom>
            <a:avLst/>
            <a:gdLst/>
            <a:ahLst/>
            <a:cxnLst/>
            <a:rect l="l" t="t" r="r" b="b"/>
            <a:pathLst>
              <a:path w="33655" h="69214">
                <a:moveTo>
                  <a:pt x="0" y="0"/>
                </a:moveTo>
                <a:lnTo>
                  <a:pt x="33355" y="0"/>
                </a:lnTo>
                <a:lnTo>
                  <a:pt x="33355" y="69039"/>
                </a:lnTo>
                <a:lnTo>
                  <a:pt x="0" y="69039"/>
                </a:lnTo>
                <a:lnTo>
                  <a:pt x="0" y="0"/>
                </a:lnTo>
                <a:close/>
              </a:path>
            </a:pathLst>
          </a:custGeom>
          <a:solidFill>
            <a:srgbClr val="1207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89528" y="2012452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19">
                <a:moveTo>
                  <a:pt x="0" y="0"/>
                </a:moveTo>
                <a:lnTo>
                  <a:pt x="33355" y="0"/>
                </a:lnTo>
                <a:lnTo>
                  <a:pt x="33355" y="32573"/>
                </a:lnTo>
                <a:lnTo>
                  <a:pt x="0" y="32573"/>
                </a:lnTo>
                <a:lnTo>
                  <a:pt x="0" y="0"/>
                </a:lnTo>
                <a:close/>
              </a:path>
            </a:pathLst>
          </a:custGeom>
          <a:solidFill>
            <a:srgbClr val="FFCA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52636" y="1980030"/>
            <a:ext cx="0" cy="229870"/>
          </a:xfrm>
          <a:custGeom>
            <a:avLst/>
            <a:gdLst/>
            <a:ahLst/>
            <a:cxnLst/>
            <a:rect l="l" t="t" r="r" b="b"/>
            <a:pathLst>
              <a:path w="0" h="229869">
                <a:moveTo>
                  <a:pt x="0" y="0"/>
                </a:moveTo>
                <a:lnTo>
                  <a:pt x="0" y="229491"/>
                </a:lnTo>
              </a:path>
            </a:pathLst>
          </a:custGeom>
          <a:ln w="33355">
            <a:solidFill>
              <a:srgbClr val="1207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42005" y="2122043"/>
            <a:ext cx="33655" cy="69215"/>
          </a:xfrm>
          <a:custGeom>
            <a:avLst/>
            <a:gdLst/>
            <a:ahLst/>
            <a:cxnLst/>
            <a:rect l="l" t="t" r="r" b="b"/>
            <a:pathLst>
              <a:path w="33655" h="69214">
                <a:moveTo>
                  <a:pt x="0" y="0"/>
                </a:moveTo>
                <a:lnTo>
                  <a:pt x="33355" y="0"/>
                </a:lnTo>
                <a:lnTo>
                  <a:pt x="33355" y="69039"/>
                </a:lnTo>
                <a:lnTo>
                  <a:pt x="0" y="69039"/>
                </a:lnTo>
                <a:lnTo>
                  <a:pt x="0" y="0"/>
                </a:lnTo>
                <a:close/>
              </a:path>
            </a:pathLst>
          </a:custGeom>
          <a:solidFill>
            <a:srgbClr val="1207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242005" y="1980113"/>
            <a:ext cx="33655" cy="69215"/>
          </a:xfrm>
          <a:custGeom>
            <a:avLst/>
            <a:gdLst/>
            <a:ahLst/>
            <a:cxnLst/>
            <a:rect l="l" t="t" r="r" b="b"/>
            <a:pathLst>
              <a:path w="33655" h="69214">
                <a:moveTo>
                  <a:pt x="0" y="0"/>
                </a:moveTo>
                <a:lnTo>
                  <a:pt x="33355" y="0"/>
                </a:lnTo>
                <a:lnTo>
                  <a:pt x="33355" y="69039"/>
                </a:lnTo>
                <a:lnTo>
                  <a:pt x="0" y="69039"/>
                </a:lnTo>
                <a:lnTo>
                  <a:pt x="0" y="0"/>
                </a:lnTo>
                <a:close/>
              </a:path>
            </a:pathLst>
          </a:custGeom>
          <a:solidFill>
            <a:srgbClr val="1207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42005" y="2069304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19">
                <a:moveTo>
                  <a:pt x="0" y="0"/>
                </a:moveTo>
                <a:lnTo>
                  <a:pt x="33355" y="0"/>
                </a:lnTo>
                <a:lnTo>
                  <a:pt x="33355" y="32573"/>
                </a:lnTo>
                <a:lnTo>
                  <a:pt x="0" y="32573"/>
                </a:lnTo>
                <a:lnTo>
                  <a:pt x="0" y="0"/>
                </a:lnTo>
                <a:close/>
              </a:path>
            </a:pathLst>
          </a:custGeom>
          <a:solidFill>
            <a:srgbClr val="E704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311145" y="1905277"/>
            <a:ext cx="0" cy="229870"/>
          </a:xfrm>
          <a:custGeom>
            <a:avLst/>
            <a:gdLst/>
            <a:ahLst/>
            <a:cxnLst/>
            <a:rect l="l" t="t" r="r" b="b"/>
            <a:pathLst>
              <a:path w="0" h="229869">
                <a:moveTo>
                  <a:pt x="0" y="0"/>
                </a:moveTo>
                <a:lnTo>
                  <a:pt x="0" y="229491"/>
                </a:lnTo>
              </a:path>
            </a:pathLst>
          </a:custGeom>
          <a:ln w="33355">
            <a:solidFill>
              <a:srgbClr val="1207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624885" y="1595437"/>
            <a:ext cx="1009650" cy="314325"/>
          </a:xfrm>
          <a:custGeom>
            <a:avLst/>
            <a:gdLst/>
            <a:ahLst/>
            <a:cxnLst/>
            <a:rect l="l" t="t" r="r" b="b"/>
            <a:pathLst>
              <a:path w="1009650" h="314325">
                <a:moveTo>
                  <a:pt x="0" y="280987"/>
                </a:moveTo>
                <a:lnTo>
                  <a:pt x="0" y="33337"/>
                </a:lnTo>
                <a:lnTo>
                  <a:pt x="0" y="28916"/>
                </a:lnTo>
                <a:lnTo>
                  <a:pt x="845" y="24664"/>
                </a:lnTo>
                <a:lnTo>
                  <a:pt x="2537" y="20579"/>
                </a:lnTo>
                <a:lnTo>
                  <a:pt x="4229" y="16495"/>
                </a:lnTo>
                <a:lnTo>
                  <a:pt x="6638" y="12890"/>
                </a:lnTo>
                <a:lnTo>
                  <a:pt x="9764" y="9764"/>
                </a:lnTo>
                <a:lnTo>
                  <a:pt x="12890" y="6638"/>
                </a:lnTo>
                <a:lnTo>
                  <a:pt x="16495" y="4229"/>
                </a:lnTo>
                <a:lnTo>
                  <a:pt x="20579" y="2537"/>
                </a:lnTo>
                <a:lnTo>
                  <a:pt x="24664" y="845"/>
                </a:lnTo>
                <a:lnTo>
                  <a:pt x="28916" y="0"/>
                </a:lnTo>
                <a:lnTo>
                  <a:pt x="33338" y="0"/>
                </a:lnTo>
                <a:lnTo>
                  <a:pt x="976312" y="0"/>
                </a:lnTo>
                <a:lnTo>
                  <a:pt x="980733" y="0"/>
                </a:lnTo>
                <a:lnTo>
                  <a:pt x="984985" y="845"/>
                </a:lnTo>
                <a:lnTo>
                  <a:pt x="989069" y="2537"/>
                </a:lnTo>
                <a:lnTo>
                  <a:pt x="993153" y="4229"/>
                </a:lnTo>
                <a:lnTo>
                  <a:pt x="1009650" y="33337"/>
                </a:lnTo>
                <a:lnTo>
                  <a:pt x="1009650" y="280987"/>
                </a:lnTo>
                <a:lnTo>
                  <a:pt x="1009649" y="285408"/>
                </a:lnTo>
                <a:lnTo>
                  <a:pt x="1008803" y="289660"/>
                </a:lnTo>
                <a:lnTo>
                  <a:pt x="1007111" y="293745"/>
                </a:lnTo>
                <a:lnTo>
                  <a:pt x="1005419" y="297829"/>
                </a:lnTo>
                <a:lnTo>
                  <a:pt x="989069" y="311787"/>
                </a:lnTo>
                <a:lnTo>
                  <a:pt x="984985" y="313479"/>
                </a:lnTo>
                <a:lnTo>
                  <a:pt x="980733" y="314324"/>
                </a:lnTo>
                <a:lnTo>
                  <a:pt x="976312" y="314324"/>
                </a:lnTo>
                <a:lnTo>
                  <a:pt x="33338" y="314324"/>
                </a:lnTo>
                <a:lnTo>
                  <a:pt x="28916" y="314324"/>
                </a:lnTo>
                <a:lnTo>
                  <a:pt x="24664" y="313479"/>
                </a:lnTo>
                <a:lnTo>
                  <a:pt x="20580" y="311787"/>
                </a:lnTo>
                <a:lnTo>
                  <a:pt x="16495" y="310095"/>
                </a:lnTo>
                <a:lnTo>
                  <a:pt x="12890" y="307686"/>
                </a:lnTo>
                <a:lnTo>
                  <a:pt x="9764" y="304560"/>
                </a:lnTo>
                <a:lnTo>
                  <a:pt x="6638" y="301434"/>
                </a:lnTo>
                <a:lnTo>
                  <a:pt x="4229" y="297829"/>
                </a:lnTo>
                <a:lnTo>
                  <a:pt x="2537" y="293745"/>
                </a:lnTo>
                <a:lnTo>
                  <a:pt x="845" y="289660"/>
                </a:lnTo>
                <a:lnTo>
                  <a:pt x="0" y="285408"/>
                </a:lnTo>
                <a:lnTo>
                  <a:pt x="0" y="280987"/>
                </a:lnTo>
                <a:close/>
              </a:path>
            </a:pathLst>
          </a:custGeom>
          <a:ln w="9524">
            <a:solidFill>
              <a:srgbClr val="D0D5D9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909637" y="1428750"/>
          <a:ext cx="9749155" cy="4705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900"/>
                <a:gridCol w="147955"/>
                <a:gridCol w="7162800"/>
                <a:gridCol w="157479"/>
              </a:tblGrid>
              <a:tr h="1256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1443990" marR="295275">
                        <a:lnSpc>
                          <a:spcPct val="135400"/>
                        </a:lnSpc>
                      </a:pPr>
                      <a:r>
                        <a:rPr dirty="0" sz="120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14"/>
                        </a:rPr>
                        <a:t>Getting  started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B="0" marT="1270">
                    <a:lnL w="38100">
                      <a:solidFill>
                        <a:srgbClr val="999999"/>
                      </a:solidFill>
                      <a:prstDash val="solid"/>
                    </a:lnL>
                    <a:lnT w="38100">
                      <a:solidFill>
                        <a:srgbClr val="999999"/>
                      </a:solidFill>
                      <a:prstDash val="solid"/>
                    </a:lnT>
                    <a:lnB w="825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21760">
                        <a:lnSpc>
                          <a:spcPts val="1430"/>
                        </a:lnSpc>
                        <a:tabLst>
                          <a:tab pos="4531360" algn="l"/>
                          <a:tab pos="5530215" algn="l"/>
                        </a:tabLst>
                      </a:pPr>
                      <a:r>
                        <a:rPr dirty="0" sz="1200">
                          <a:solidFill>
                            <a:srgbClr val="48566A"/>
                          </a:solidFill>
                          <a:latin typeface="Segoe UI"/>
                          <a:cs typeface="Segoe UI"/>
                        </a:rPr>
                        <a:t>Search	</a:t>
                      </a:r>
                      <a:r>
                        <a:rPr dirty="0" baseline="9259" sz="1350">
                          <a:solidFill>
                            <a:srgbClr val="48566A"/>
                          </a:solidFill>
                          <a:latin typeface="Consolas"/>
                          <a:cs typeface="Consolas"/>
                        </a:rPr>
                        <a:t>Ctrl</a:t>
                      </a:r>
                      <a:r>
                        <a:rPr dirty="0" baseline="9259" sz="1350" spc="262">
                          <a:solidFill>
                            <a:srgbClr val="48566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>
                          <a:solidFill>
                            <a:srgbClr val="48566A"/>
                          </a:solidFill>
                          <a:latin typeface="Segoe UI"/>
                          <a:cs typeface="Segoe UI"/>
                        </a:rPr>
                        <a:t>+ </a:t>
                      </a:r>
                      <a:r>
                        <a:rPr dirty="0" sz="1200" spc="15">
                          <a:solidFill>
                            <a:srgbClr val="48566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baseline="9259" sz="1350">
                          <a:solidFill>
                            <a:srgbClr val="48566A"/>
                          </a:solidFill>
                          <a:latin typeface="Consolas"/>
                          <a:cs typeface="Consolas"/>
                        </a:rPr>
                        <a:t>K	</a:t>
                      </a:r>
                      <a:r>
                        <a:rPr dirty="0" sz="1200">
                          <a:solidFill>
                            <a:srgbClr val="212832"/>
                          </a:solidFill>
                          <a:latin typeface="Segoe UI"/>
                          <a:cs typeface="Segoe UI"/>
                        </a:rPr>
                        <a:t>2.3</a:t>
                      </a:r>
                      <a:r>
                        <a:rPr dirty="0" sz="1200" spc="-5">
                          <a:solidFill>
                            <a:srgbClr val="212832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200">
                          <a:solidFill>
                            <a:srgbClr val="212832"/>
                          </a:solidFill>
                          <a:latin typeface="Segoe UI"/>
                          <a:cs typeface="Segoe UI"/>
                        </a:rPr>
                        <a:t>(stable)</a:t>
                      </a:r>
                      <a:endParaRPr sz="1200">
                        <a:latin typeface="Segoe UI"/>
                        <a:cs typeface="Segoe UI"/>
                      </a:endParaRPr>
                    </a:p>
                    <a:p>
                      <a:pPr marL="90170">
                        <a:lnSpc>
                          <a:spcPts val="1430"/>
                        </a:lnSpc>
                        <a:tabLst>
                          <a:tab pos="777875" algn="l"/>
                          <a:tab pos="1606550" algn="l"/>
                          <a:tab pos="2663190" algn="l"/>
                        </a:tabLst>
                      </a:pPr>
                      <a:r>
                        <a:rPr dirty="0" sz="120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15"/>
                        </a:rPr>
                        <a:t>User</a:t>
                      </a:r>
                      <a:r>
                        <a:rPr dirty="0" sz="1200">
                          <a:solidFill>
                            <a:srgbClr val="48566A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dirty="0" baseline="6944" sz="1800" b="1">
                          <a:solidFill>
                            <a:srgbClr val="097D90"/>
                          </a:solidFill>
                          <a:latin typeface="Segoe UI Semibold"/>
                          <a:cs typeface="Segoe UI Semibold"/>
                          <a:hlinkClick r:id="rId16"/>
                        </a:rPr>
                        <a:t>API</a:t>
                      </a:r>
                      <a:r>
                        <a:rPr dirty="0" baseline="6944" sz="1800" b="1">
                          <a:solidFill>
                            <a:srgbClr val="097D90"/>
                          </a:solidFill>
                          <a:latin typeface="Segoe UI Semibold"/>
                          <a:cs typeface="Segoe UI Semibold"/>
                        </a:rPr>
                        <a:t>	</a:t>
                      </a:r>
                      <a:r>
                        <a:rPr dirty="0" baseline="-46296" sz="180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17"/>
                        </a:rPr>
                        <a:t>Development</a:t>
                      </a:r>
                      <a:r>
                        <a:rPr dirty="0" baseline="-46296" sz="1800">
                          <a:solidFill>
                            <a:srgbClr val="48566A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dirty="0" sz="1200" spc="-1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18"/>
                        </a:rPr>
                        <a:t>Release</a:t>
                      </a:r>
                      <a:endParaRPr sz="1200">
                        <a:latin typeface="Segoe UI"/>
                        <a:cs typeface="Segoe UI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509"/>
                        </a:spcBef>
                        <a:tabLst>
                          <a:tab pos="777875" algn="l"/>
                          <a:tab pos="2663190" algn="l"/>
                        </a:tabLst>
                      </a:pPr>
                      <a:r>
                        <a:rPr dirty="0" sz="120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15"/>
                        </a:rPr>
                        <a:t>Guide</a:t>
                      </a:r>
                      <a:r>
                        <a:rPr dirty="0" sz="1200">
                          <a:solidFill>
                            <a:srgbClr val="48566A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dirty="0" baseline="2314" sz="1800" spc="-7" b="1">
                          <a:solidFill>
                            <a:srgbClr val="097D90"/>
                          </a:solidFill>
                          <a:latin typeface="Segoe UI Semibold"/>
                          <a:cs typeface="Segoe UI Semibold"/>
                          <a:hlinkClick r:id="rId16"/>
                        </a:rPr>
                        <a:t>reference</a:t>
                      </a:r>
                      <a:r>
                        <a:rPr dirty="0" baseline="2314" sz="1800" spc="-7" b="1">
                          <a:solidFill>
                            <a:srgbClr val="097D90"/>
                          </a:solidFill>
                          <a:latin typeface="Segoe UI Semibold"/>
                          <a:cs typeface="Segoe UI Semibold"/>
                        </a:rPr>
                        <a:t>	</a:t>
                      </a:r>
                      <a:r>
                        <a:rPr dirty="0" sz="120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18"/>
                        </a:rPr>
                        <a:t>notes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999999"/>
                      </a:solidFill>
                      <a:prstDash val="solid"/>
                    </a:lnT>
                    <a:lnB w="825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19050">
                      <a:solidFill>
                        <a:srgbClr val="999999"/>
                      </a:solidFill>
                      <a:prstDash val="solid"/>
                    </a:lnT>
                  </a:tcPr>
                </a:tc>
              </a:tr>
              <a:tr h="2436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999999"/>
                      </a:solidFill>
                      <a:prstDash val="solid"/>
                    </a:lnL>
                    <a:lnT w="825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650">
                          <a:solidFill>
                            <a:srgbClr val="8B8B8B"/>
                          </a:solidFill>
                          <a:latin typeface="Segoe Fluent Icons"/>
                          <a:cs typeface="Segoe Fluent Icons"/>
                        </a:rPr>
                        <a:t></a:t>
                      </a:r>
                      <a:endParaRPr sz="650">
                        <a:latin typeface="Segoe Fluent Icons"/>
                        <a:cs typeface="Segoe Fluent Icons"/>
                      </a:endParaRPr>
                    </a:p>
                  </a:txBody>
                  <a:tcPr marL="0" marR="0" marB="0" marT="3810">
                    <a:lnT w="825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43865">
                        <a:lnSpc>
                          <a:spcPct val="100000"/>
                        </a:lnSpc>
                      </a:pPr>
                      <a:r>
                        <a:rPr dirty="0" sz="950" spc="160">
                          <a:solidFill>
                            <a:srgbClr val="48566A"/>
                          </a:solidFill>
                          <a:latin typeface="Arial"/>
                          <a:cs typeface="Arial"/>
                        </a:rPr>
                        <a:t>› </a:t>
                      </a:r>
                      <a:r>
                        <a:rPr dirty="0" sz="950" spc="5" b="1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16"/>
                        </a:rPr>
                        <a:t>API </a:t>
                      </a:r>
                      <a:r>
                        <a:rPr dirty="0" sz="950" b="1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16"/>
                        </a:rPr>
                        <a:t>reference</a:t>
                      </a:r>
                      <a:r>
                        <a:rPr dirty="0" sz="950" b="1">
                          <a:solidFill>
                            <a:srgbClr val="48566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50" spc="160">
                          <a:solidFill>
                            <a:srgbClr val="48566A"/>
                          </a:solidFill>
                          <a:latin typeface="Arial"/>
                          <a:cs typeface="Arial"/>
                        </a:rPr>
                        <a:t>› </a:t>
                      </a:r>
                      <a:r>
                        <a:rPr dirty="0" sz="950" spc="5" b="1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19"/>
                        </a:rPr>
                        <a:t>Input/output</a:t>
                      </a:r>
                      <a:r>
                        <a:rPr dirty="0" sz="950" spc="5" b="1">
                          <a:solidFill>
                            <a:srgbClr val="48566A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950" spc="160">
                          <a:solidFill>
                            <a:srgbClr val="48566A"/>
                          </a:solidFill>
                          <a:latin typeface="Arial"/>
                          <a:cs typeface="Arial"/>
                        </a:rPr>
                        <a:t>›</a:t>
                      </a:r>
                      <a:r>
                        <a:rPr dirty="0" sz="950" spc="-35">
                          <a:solidFill>
                            <a:srgbClr val="4856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b="1">
                          <a:solidFill>
                            <a:srgbClr val="212832"/>
                          </a:solidFill>
                          <a:latin typeface="Segoe UI"/>
                          <a:cs typeface="Segoe UI"/>
                        </a:rPr>
                        <a:t>pandas.read_csv</a:t>
                      </a:r>
                      <a:endParaRPr sz="950">
                        <a:latin typeface="Segoe UI"/>
                        <a:cs typeface="Segoe U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54305">
                        <a:lnSpc>
                          <a:spcPct val="100000"/>
                        </a:lnSpc>
                      </a:pPr>
                      <a:r>
                        <a:rPr dirty="0" sz="3000">
                          <a:solidFill>
                            <a:srgbClr val="212832"/>
                          </a:solidFill>
                          <a:latin typeface="Segoe UI"/>
                          <a:cs typeface="Segoe UI"/>
                        </a:rPr>
                        <a:t>pandas.read_csv</a:t>
                      </a:r>
                      <a:endParaRPr sz="3000">
                        <a:latin typeface="Segoe UI"/>
                        <a:cs typeface="Segoe UI"/>
                      </a:endParaRPr>
                    </a:p>
                    <a:p>
                      <a:pPr marL="154305" marR="454025">
                        <a:lnSpc>
                          <a:spcPct val="137300"/>
                        </a:lnSpc>
                        <a:spcBef>
                          <a:spcPts val="675"/>
                        </a:spcBef>
                      </a:pP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pandas.</a:t>
                      </a:r>
                      <a:r>
                        <a:rPr dirty="0" sz="1300" b="1">
                          <a:solidFill>
                            <a:srgbClr val="902582"/>
                          </a:solidFill>
                          <a:latin typeface="Consolas"/>
                          <a:cs typeface="Consolas"/>
                        </a:rPr>
                        <a:t>read_csv</a:t>
                      </a:r>
                      <a:r>
                        <a:rPr dirty="0" sz="145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filepath_or_buffer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*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sep=&lt;no_default&gt;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delimiter=None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header='infer'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names=&lt;no_default&gt;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index_col=None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usecols=None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dtype=None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engine=None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converters=None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true_values=None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false_values=None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skipinitialspace=False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skiprows=None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skipfooter=0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nrows=None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200" spc="-1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na_values=None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keep_default_na=True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na_filter=True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verbose=&lt;no_default&gt;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skip_blank_lines=True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parse_dates=None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infer_datetime_format=&lt;no_default&gt;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keep_date_col=&lt;no_default&gt;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date_parser=&lt;no_default&gt;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date_format=None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dayfirst=False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cache_dates=True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iterator=False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chunksize=None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compression='infer'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thousands=None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decimal='.'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200" spc="-25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b="1" i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lineterminator=None</a:t>
                      </a:r>
                      <a:r>
                        <a:rPr dirty="0" sz="1200" b="1">
                          <a:solidFill>
                            <a:srgbClr val="212832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B="0" marT="5715"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 rowSpan="8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05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10" b="1">
                          <a:solidFill>
                            <a:srgbClr val="097D90"/>
                          </a:solidFill>
                          <a:latin typeface="Segoe UI Semibold"/>
                          <a:cs typeface="Segoe UI Semibold"/>
                          <a:hlinkClick r:id="rId19"/>
                        </a:rPr>
                        <a:t>Input/output</a:t>
                      </a:r>
                      <a:endParaRPr sz="1050">
                        <a:latin typeface="Segoe UI Semibold"/>
                        <a:cs typeface="Segoe UI Semibold"/>
                      </a:endParaRPr>
                    </a:p>
                  </a:txBody>
                  <a:tcPr marL="0" marR="0" marB="0" marT="317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799"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050" spc="1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20"/>
                        </a:rPr>
                        <a:t>pandas.read_pickle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00074"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050" spc="1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21"/>
                        </a:rPr>
                        <a:t>pandas.DataFrame.to_pickle</a:t>
                      </a:r>
                      <a:endParaRPr sz="1050">
                        <a:latin typeface="Segoe UI"/>
                        <a:cs typeface="Segoe UI"/>
                      </a:endParaRPr>
                    </a:p>
                    <a:p>
                      <a:pPr marL="41275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050" spc="1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22"/>
                        </a:rPr>
                        <a:t>pandas.read_table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799"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050" spc="10" b="1">
                          <a:solidFill>
                            <a:srgbClr val="097D90"/>
                          </a:solidFill>
                          <a:latin typeface="Segoe UI Semibold"/>
                          <a:cs typeface="Segoe UI Semibold"/>
                        </a:rPr>
                        <a:t>pandas.read_csv</a:t>
                      </a:r>
                      <a:endParaRPr sz="1050">
                        <a:latin typeface="Segoe UI Semibold"/>
                        <a:cs typeface="Segoe UI Semibold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799"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050" spc="1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23"/>
                        </a:rPr>
                        <a:t>pandas.DataFrame.to_csv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00074"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050" spc="1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24"/>
                        </a:rPr>
                        <a:t>pandas.read_fwf</a:t>
                      </a:r>
                      <a:endParaRPr sz="1050">
                        <a:latin typeface="Segoe UI"/>
                        <a:cs typeface="Segoe UI"/>
                      </a:endParaRPr>
                    </a:p>
                    <a:p>
                      <a:pPr marL="41275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050" spc="1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25"/>
                        </a:rPr>
                        <a:t>pandas.read_clipboard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75565">
                    <a:lnL w="19050">
                      <a:solidFill>
                        <a:srgbClr val="9999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66392">
                <a:tc>
                  <a:txBody>
                    <a:bodyPr/>
                    <a:lstStyle/>
                    <a:p>
                      <a:pPr marL="412750" marR="118745">
                        <a:lnSpc>
                          <a:spcPct val="142900"/>
                        </a:lnSpc>
                        <a:spcBef>
                          <a:spcPts val="55"/>
                        </a:spcBef>
                      </a:pPr>
                      <a:r>
                        <a:rPr dirty="0" sz="1050" spc="10">
                          <a:solidFill>
                            <a:srgbClr val="48566A"/>
                          </a:solidFill>
                          <a:latin typeface="Segoe UI"/>
                          <a:cs typeface="Segoe UI"/>
                          <a:hlinkClick r:id="rId26"/>
                        </a:rPr>
                        <a:t>pandas.DataFrame.to_clipbo  ard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985">
                    <a:lnL w="19050">
                      <a:solidFill>
                        <a:srgbClr val="999999"/>
                      </a:solidFill>
                      <a:prstDash val="solid"/>
                    </a:lnL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R w="19050">
                      <a:solidFill>
                        <a:srgbClr val="EDEDED"/>
                      </a:solidFill>
                      <a:prstDash val="solid"/>
                    </a:lnR>
                    <a:lnB w="19050">
                      <a:solidFill>
                        <a:srgbClr val="EDEDED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9477375" y="1733550"/>
            <a:ext cx="76200" cy="38100"/>
          </a:xfrm>
          <a:custGeom>
            <a:avLst/>
            <a:gdLst/>
            <a:ahLst/>
            <a:cxnLst/>
            <a:rect l="l" t="t" r="r" b="b"/>
            <a:pathLst>
              <a:path w="76200" h="38100">
                <a:moveTo>
                  <a:pt x="38099" y="38099"/>
                </a:moveTo>
                <a:lnTo>
                  <a:pt x="0" y="0"/>
                </a:lnTo>
                <a:lnTo>
                  <a:pt x="76199" y="0"/>
                </a:lnTo>
                <a:lnTo>
                  <a:pt x="38099" y="38099"/>
                </a:lnTo>
                <a:close/>
              </a:path>
            </a:pathLst>
          </a:custGeom>
          <a:solidFill>
            <a:srgbClr val="2128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14400" y="6176962"/>
            <a:ext cx="4867275" cy="0"/>
          </a:xfrm>
          <a:custGeom>
            <a:avLst/>
            <a:gdLst/>
            <a:ahLst/>
            <a:cxnLst/>
            <a:rect l="l" t="t" r="r" b="b"/>
            <a:pathLst>
              <a:path w="4867275" h="0">
                <a:moveTo>
                  <a:pt x="0" y="0"/>
                </a:moveTo>
                <a:lnTo>
                  <a:pt x="48672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14400" y="6186487"/>
            <a:ext cx="4867275" cy="0"/>
          </a:xfrm>
          <a:custGeom>
            <a:avLst/>
            <a:gdLst/>
            <a:ahLst/>
            <a:cxnLst/>
            <a:rect l="l" t="t" r="r" b="b"/>
            <a:pathLst>
              <a:path w="4867275" h="0">
                <a:moveTo>
                  <a:pt x="0" y="0"/>
                </a:moveTo>
                <a:lnTo>
                  <a:pt x="48672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772149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901700" y="6266655"/>
            <a:ext cx="489140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content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from the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pandas.read_csv()</a:t>
            </a:r>
            <a:r>
              <a:rPr dirty="0" sz="700" spc="-16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documentation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available at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7"/>
              </a:rPr>
              <a:t>pandas.pydata.org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16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7255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20">
                <a:latin typeface="Roboto Condensed"/>
                <a:cs typeface="Roboto Condensed"/>
              </a:rPr>
              <a:t>Importing </a:t>
            </a:r>
            <a:r>
              <a:rPr dirty="0" sz="3350" spc="10">
                <a:latin typeface="Roboto Condensed"/>
                <a:cs typeface="Roboto Condensed"/>
              </a:rPr>
              <a:t>Data w/ </a:t>
            </a:r>
            <a:r>
              <a:rPr dirty="0" sz="3350" spc="5">
                <a:latin typeface="Roboto Condensed"/>
                <a:cs typeface="Roboto Condensed"/>
              </a:rPr>
              <a:t>Pandas: </a:t>
            </a:r>
            <a:r>
              <a:rPr dirty="0" sz="3350" spc="10">
                <a:latin typeface="Roboto Condensed"/>
                <a:cs typeface="Roboto Condensed"/>
              </a:rPr>
              <a:t>CSVs [Example </a:t>
            </a:r>
            <a:r>
              <a:rPr dirty="0" sz="3350" spc="5">
                <a:latin typeface="Roboto Condensed"/>
                <a:cs typeface="Roboto Condensed"/>
              </a:rPr>
              <a:t>1:</a:t>
            </a:r>
            <a:r>
              <a:rPr dirty="0" sz="3350" spc="-4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Local]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428750"/>
            <a:ext cx="9696450" cy="15716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750"/>
              </a:spcBef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350" spc="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350">
              <a:latin typeface="Courier New"/>
              <a:cs typeface="Courier New"/>
            </a:endParaRPr>
          </a:p>
          <a:p>
            <a:pPr marL="316865" indent="-209550">
              <a:lnSpc>
                <a:spcPts val="1650"/>
              </a:lnSpc>
              <a:spcBef>
                <a:spcPts val="1255"/>
              </a:spcBef>
              <a:buChar char="❖"/>
              <a:tabLst>
                <a:tab pos="317500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rRead the CSV file (the path will depend on where the file is</a:t>
            </a:r>
            <a:r>
              <a:rPr dirty="0" sz="1400" spc="-4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located)</a:t>
            </a:r>
            <a:endParaRPr sz="1400">
              <a:latin typeface="Courier New"/>
              <a:cs typeface="Courier New"/>
            </a:endParaRPr>
          </a:p>
          <a:p>
            <a:pPr marL="107950">
              <a:lnSpc>
                <a:spcPts val="15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hotel =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pd.read_csv(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'../../data/01_hotel_occupancy.csv'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316865" indent="-209550">
              <a:lnSpc>
                <a:spcPts val="1650"/>
              </a:lnSpc>
              <a:spcBef>
                <a:spcPts val="1255"/>
              </a:spcBef>
              <a:buChar char="❖"/>
              <a:tabLst>
                <a:tab pos="317500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Display the first 5 rows of the</a:t>
            </a:r>
            <a:r>
              <a:rPr dirty="0" sz="1400" spc="-3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dataset</a:t>
            </a:r>
            <a:endParaRPr sz="1400">
              <a:latin typeface="Courier New"/>
              <a:cs typeface="Courier New"/>
            </a:endParaRPr>
          </a:p>
          <a:p>
            <a:pPr marL="107950">
              <a:lnSpc>
                <a:spcPts val="15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hotel.head()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3228974"/>
            <a:ext cx="9696450" cy="1409700"/>
          </a:xfrm>
          <a:custGeom>
            <a:avLst/>
            <a:gdLst/>
            <a:ahLst/>
            <a:cxnLst/>
            <a:rect l="l" t="t" r="r" b="b"/>
            <a:pathLst>
              <a:path w="9696450" h="1409700">
                <a:moveTo>
                  <a:pt x="0" y="0"/>
                </a:moveTo>
                <a:lnTo>
                  <a:pt x="9696449" y="0"/>
                </a:lnTo>
                <a:lnTo>
                  <a:pt x="9696449" y="1409699"/>
                </a:lnTo>
                <a:lnTo>
                  <a:pt x="0" y="140969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91145" y="3309932"/>
          <a:ext cx="5380355" cy="1225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85"/>
                <a:gridCol w="1250950"/>
                <a:gridCol w="1772285"/>
                <a:gridCol w="677545"/>
                <a:gridCol w="1126489"/>
              </a:tblGrid>
              <a:tr h="212566">
                <a:tc>
                  <a:txBody>
                    <a:bodyPr/>
                    <a:lstStyle/>
                    <a:p>
                      <a:pPr marL="31750">
                        <a:lnSpc>
                          <a:spcPts val="15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date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hotel_occupancy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month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month_name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400" spc="-7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2022-01-01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3512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January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400" spc="-7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2022-02-01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3794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February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400" spc="-7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2022-03-01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4032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March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400" spc="-7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2022-04-01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4294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April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12566">
                <a:tc>
                  <a:txBody>
                    <a:bodyPr/>
                    <a:lstStyle/>
                    <a:p>
                      <a:pPr marL="31750">
                        <a:lnSpc>
                          <a:spcPts val="1570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400" spc="-7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2022-05-01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4776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May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17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0989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20">
                <a:latin typeface="Roboto Condensed"/>
                <a:cs typeface="Roboto Condensed"/>
              </a:rPr>
              <a:t>Importing </a:t>
            </a:r>
            <a:r>
              <a:rPr dirty="0" sz="3350" spc="10">
                <a:latin typeface="Roboto Condensed"/>
                <a:cs typeface="Roboto Condensed"/>
              </a:rPr>
              <a:t>Data w/ </a:t>
            </a:r>
            <a:r>
              <a:rPr dirty="0" sz="3350" spc="5">
                <a:latin typeface="Roboto Condensed"/>
                <a:cs typeface="Roboto Condensed"/>
              </a:rPr>
              <a:t>Pandas: </a:t>
            </a:r>
            <a:r>
              <a:rPr dirty="0" sz="3350" spc="10">
                <a:latin typeface="Roboto Condensed"/>
                <a:cs typeface="Roboto Condensed"/>
              </a:rPr>
              <a:t>CSVs [Example </a:t>
            </a:r>
            <a:r>
              <a:rPr dirty="0" sz="3350" spc="5">
                <a:latin typeface="Roboto Condensed"/>
                <a:cs typeface="Roboto Condensed"/>
              </a:rPr>
              <a:t>2:</a:t>
            </a:r>
            <a:r>
              <a:rPr dirty="0" sz="3350" spc="-2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Remote]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300037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439399" y="300037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85850" y="3000374"/>
            <a:ext cx="9353550" cy="142875"/>
          </a:xfrm>
          <a:custGeom>
            <a:avLst/>
            <a:gdLst/>
            <a:ahLst/>
            <a:cxnLst/>
            <a:rect l="l" t="t" r="r" b="b"/>
            <a:pathLst>
              <a:path w="9353550" h="142875">
                <a:moveTo>
                  <a:pt x="0" y="0"/>
                </a:moveTo>
                <a:lnTo>
                  <a:pt x="9353549" y="0"/>
                </a:lnTo>
                <a:lnTo>
                  <a:pt x="9353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85849" y="3028949"/>
            <a:ext cx="1419225" cy="85725"/>
          </a:xfrm>
          <a:custGeom>
            <a:avLst/>
            <a:gdLst/>
            <a:ahLst/>
            <a:cxnLst/>
            <a:rect l="l" t="t" r="r" b="b"/>
            <a:pathLst>
              <a:path w="1419225" h="85725">
                <a:moveTo>
                  <a:pt x="1382046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1382046" y="0"/>
                </a:lnTo>
                <a:lnTo>
                  <a:pt x="1413786" y="21208"/>
                </a:lnTo>
                <a:lnTo>
                  <a:pt x="1419224" y="37178"/>
                </a:lnTo>
                <a:lnTo>
                  <a:pt x="1419224" y="48546"/>
                </a:lnTo>
                <a:lnTo>
                  <a:pt x="1398016" y="80286"/>
                </a:lnTo>
                <a:lnTo>
                  <a:pt x="1382046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1428750"/>
            <a:ext cx="9696450" cy="1571625"/>
          </a:xfrm>
          <a:custGeom>
            <a:avLst/>
            <a:gdLst/>
            <a:ahLst/>
            <a:cxnLst/>
            <a:rect l="l" t="t" r="r" b="b"/>
            <a:pathLst>
              <a:path w="9696450" h="1571625">
                <a:moveTo>
                  <a:pt x="0" y="0"/>
                </a:moveTo>
                <a:lnTo>
                  <a:pt x="9696449" y="0"/>
                </a:lnTo>
                <a:lnTo>
                  <a:pt x="9696449" y="1571624"/>
                </a:lnTo>
                <a:lnTo>
                  <a:pt x="0" y="157162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3371850"/>
            <a:ext cx="9696450" cy="1409700"/>
          </a:xfrm>
          <a:custGeom>
            <a:avLst/>
            <a:gdLst/>
            <a:ahLst/>
            <a:cxnLst/>
            <a:rect l="l" t="t" r="r" b="b"/>
            <a:pathLst>
              <a:path w="9696450" h="1409700">
                <a:moveTo>
                  <a:pt x="0" y="0"/>
                </a:moveTo>
                <a:lnTo>
                  <a:pt x="9696449" y="0"/>
                </a:lnTo>
                <a:lnTo>
                  <a:pt x="9696449" y="1409699"/>
                </a:lnTo>
                <a:lnTo>
                  <a:pt x="0" y="140969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47737" y="1509013"/>
            <a:ext cx="9678670" cy="21685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114"/>
              </a:spcBef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350" spc="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350">
              <a:latin typeface="Courier New"/>
              <a:cs typeface="Courier New"/>
            </a:endParaRPr>
          </a:p>
          <a:p>
            <a:pPr marL="283210" indent="-208915">
              <a:lnSpc>
                <a:spcPts val="1650"/>
              </a:lnSpc>
              <a:spcBef>
                <a:spcPts val="1255"/>
              </a:spcBef>
              <a:buChar char="❖"/>
              <a:tabLst>
                <a:tab pos="283845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Read the CSV file from the</a:t>
            </a:r>
            <a:r>
              <a:rPr dirty="0" sz="1400" spc="-3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web</a:t>
            </a:r>
            <a:endParaRPr sz="1400">
              <a:latin typeface="Courier New"/>
              <a:cs typeface="Courier New"/>
            </a:endParaRPr>
          </a:p>
          <a:p>
            <a:pPr marL="74930">
              <a:lnSpc>
                <a:spcPts val="15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unrate =</a:t>
            </a:r>
            <a:r>
              <a:rPr dirty="0" sz="1350" spc="-3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pd.read_csv(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'https://fred.stlouisfed.org/graph/fredgraph.csv?bgcolor=%23ebf3fb&amp;char</a:t>
            </a:r>
            <a:endParaRPr sz="1350">
              <a:latin typeface="Courier New"/>
              <a:cs typeface="Courier New"/>
            </a:endParaRPr>
          </a:p>
          <a:p>
            <a:pPr marL="283210" indent="-208915">
              <a:lnSpc>
                <a:spcPts val="1650"/>
              </a:lnSpc>
              <a:spcBef>
                <a:spcPts val="1255"/>
              </a:spcBef>
              <a:buChar char="❖"/>
              <a:tabLst>
                <a:tab pos="283845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Display the last 5 rows of the</a:t>
            </a:r>
            <a:r>
              <a:rPr dirty="0" sz="1400" spc="-3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dataset</a:t>
            </a:r>
            <a:endParaRPr sz="1400">
              <a:latin typeface="Courier New"/>
              <a:cs typeface="Courier New"/>
            </a:endParaRPr>
          </a:p>
          <a:p>
            <a:pPr marL="74930">
              <a:lnSpc>
                <a:spcPts val="15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unrate.tail()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5"/>
              </a:spcBef>
              <a:tabLst>
                <a:tab pos="9543415" algn="l"/>
              </a:tabLst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	</a:t>
            </a:r>
            <a:endParaRPr sz="650">
              <a:latin typeface="Segoe Fluent Icons"/>
              <a:cs typeface="Segoe Fluent Icons"/>
            </a:endParaRPr>
          </a:p>
          <a:p>
            <a:pPr>
              <a:lnSpc>
                <a:spcPct val="100000"/>
              </a:lnSpc>
            </a:pPr>
            <a:endParaRPr sz="600">
              <a:latin typeface="Segoe Fluent Icons"/>
              <a:cs typeface="Segoe Fluent Icons"/>
            </a:endParaRPr>
          </a:p>
          <a:p>
            <a:pPr>
              <a:lnSpc>
                <a:spcPct val="100000"/>
              </a:lnSpc>
            </a:pPr>
            <a:endParaRPr sz="600">
              <a:latin typeface="Segoe Fluent Icons"/>
              <a:cs typeface="Segoe Fluent Icons"/>
            </a:endParaRPr>
          </a:p>
          <a:p>
            <a:pPr>
              <a:lnSpc>
                <a:spcPct val="100000"/>
              </a:lnSpc>
            </a:pPr>
            <a:endParaRPr sz="600">
              <a:latin typeface="Segoe Fluent Icons"/>
              <a:cs typeface="Segoe Fluent Icon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700">
              <a:latin typeface="Segoe Fluent Icons"/>
              <a:cs typeface="Segoe Fluent Icons"/>
            </a:endParaRPr>
          </a:p>
          <a:p>
            <a:pPr marL="74930">
              <a:lnSpc>
                <a:spcPct val="100000"/>
              </a:lnSpc>
              <a:tabLst>
                <a:tab pos="804545" algn="l"/>
                <a:tab pos="2680970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	observation_date	UNRATE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17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91145" y="3652832"/>
          <a:ext cx="3295015" cy="1025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100"/>
                <a:gridCol w="729615"/>
                <a:gridCol w="1667510"/>
                <a:gridCol w="604520"/>
              </a:tblGrid>
              <a:tr h="212566">
                <a:tc>
                  <a:txBody>
                    <a:bodyPr/>
                    <a:lstStyle/>
                    <a:p>
                      <a:pPr marL="31750">
                        <a:lnSpc>
                          <a:spcPts val="15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926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2729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2025-03-01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4.2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927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2729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2025-04-01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4.2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928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2729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2025-05-01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4.2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929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2729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2025-06-01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4.1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12566">
                <a:tc>
                  <a:txBody>
                    <a:bodyPr/>
                    <a:lstStyle/>
                    <a:p>
                      <a:pPr marL="31750">
                        <a:lnSpc>
                          <a:spcPts val="1570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70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930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2729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2025-07-01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4.2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17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5166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latin typeface="Roboto Condensed"/>
                <a:cs typeface="Roboto Condensed"/>
              </a:rPr>
              <a:t>Live </a:t>
            </a:r>
            <a:r>
              <a:rPr dirty="0" sz="3350" spc="10">
                <a:latin typeface="Roboto Condensed"/>
                <a:cs typeface="Roboto Condensed"/>
              </a:rPr>
              <a:t>Demo: </a:t>
            </a:r>
            <a:r>
              <a:rPr dirty="0" sz="3350" spc="20">
                <a:latin typeface="Roboto Condensed"/>
                <a:cs typeface="Roboto Condensed"/>
              </a:rPr>
              <a:t>Importing </a:t>
            </a:r>
            <a:r>
              <a:rPr dirty="0" sz="3350" spc="10">
                <a:latin typeface="Roboto Condensed"/>
                <a:cs typeface="Roboto Condensed"/>
              </a:rPr>
              <a:t>Data Using </a:t>
            </a:r>
            <a:r>
              <a:rPr dirty="0" sz="3350" spc="5">
                <a:latin typeface="Roboto Condensed"/>
                <a:cs typeface="Roboto Condensed"/>
              </a:rPr>
              <a:t>Pandas </a:t>
            </a:r>
            <a:r>
              <a:rPr dirty="0" sz="3350" spc="10">
                <a:latin typeface="Roboto Condensed"/>
                <a:cs typeface="Roboto Condensed"/>
              </a:rPr>
              <a:t>on</a:t>
            </a:r>
            <a:r>
              <a:rPr dirty="0" sz="3350" spc="-4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Colab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2230" rIns="0" bIns="0" rtlCol="0" vert="horz">
            <a:spAutoFit/>
          </a:bodyPr>
          <a:lstStyle/>
          <a:p>
            <a:pPr marL="165735" indent="-133985">
              <a:lnSpc>
                <a:spcPct val="100000"/>
              </a:lnSpc>
              <a:spcBef>
                <a:spcPts val="490"/>
              </a:spcBef>
              <a:buFont typeface="Roboto"/>
              <a:buChar char="•"/>
              <a:tabLst>
                <a:tab pos="166370" algn="l"/>
              </a:tabLst>
            </a:pP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For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"Local" Files</a:t>
            </a:r>
            <a:r>
              <a:rPr dirty="0" spc="-5"/>
              <a:t>, </a:t>
            </a:r>
            <a:r>
              <a:rPr dirty="0"/>
              <a:t>Colab allows </a:t>
            </a:r>
            <a:r>
              <a:rPr dirty="0" spc="-5"/>
              <a:t>you </a:t>
            </a:r>
            <a:r>
              <a:rPr dirty="0" spc="-10"/>
              <a:t>to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upload these </a:t>
            </a: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files </a:t>
            </a:r>
            <a:r>
              <a:rPr dirty="0" spc="-5"/>
              <a:t>directly </a:t>
            </a:r>
            <a:r>
              <a:rPr dirty="0" spc="-10"/>
              <a:t>to </a:t>
            </a:r>
            <a:r>
              <a:rPr dirty="0"/>
              <a:t>the </a:t>
            </a:r>
            <a:r>
              <a:rPr dirty="0" spc="-5"/>
              <a:t>environment</a:t>
            </a:r>
            <a:r>
              <a:rPr dirty="0" spc="110"/>
              <a:t> </a:t>
            </a:r>
            <a:r>
              <a:rPr dirty="0"/>
              <a:t>or</a:t>
            </a:r>
          </a:p>
          <a:p>
            <a:pPr marL="165735">
              <a:lnSpc>
                <a:spcPct val="100000"/>
              </a:lnSpc>
              <a:spcBef>
                <a:spcPts val="390"/>
              </a:spcBef>
            </a:pP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mount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Google Drive </a:t>
            </a:r>
            <a:r>
              <a:rPr dirty="0" spc="-10"/>
              <a:t>to </a:t>
            </a:r>
            <a:r>
              <a:rPr dirty="0"/>
              <a:t>access </a:t>
            </a:r>
            <a:r>
              <a:rPr dirty="0" spc="-15"/>
              <a:t>files. </a:t>
            </a:r>
            <a:r>
              <a:rPr dirty="0" spc="-10"/>
              <a:t>For </a:t>
            </a:r>
            <a:r>
              <a:rPr dirty="0"/>
              <a:t>this demo, I will walk </a:t>
            </a:r>
            <a:r>
              <a:rPr dirty="0" spc="-5"/>
              <a:t>you through </a:t>
            </a:r>
            <a:r>
              <a:rPr dirty="0"/>
              <a:t>both</a:t>
            </a:r>
            <a:r>
              <a:rPr dirty="0" spc="50"/>
              <a:t> </a:t>
            </a:r>
            <a:r>
              <a:rPr dirty="0"/>
              <a:t>methods.</a:t>
            </a:r>
          </a:p>
          <a:p>
            <a:pPr lvl="1" marL="546735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4737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 will use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"Upload" method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since it is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quicker.</a:t>
            </a:r>
            <a:endParaRPr sz="1800">
              <a:latin typeface="Roboto"/>
              <a:cs typeface="Roboto"/>
            </a:endParaRPr>
          </a:p>
          <a:p>
            <a:pPr marL="165735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166370" algn="l"/>
              </a:tabLst>
            </a:pP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For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"Remote" Files</a:t>
            </a:r>
            <a:r>
              <a:rPr dirty="0" spc="-5"/>
              <a:t>, you </a:t>
            </a:r>
            <a:r>
              <a:rPr dirty="0"/>
              <a:t>can use the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URL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directly </a:t>
            </a:r>
            <a:r>
              <a:rPr dirty="0" spc="-10"/>
              <a:t>to </a:t>
            </a:r>
            <a:r>
              <a:rPr dirty="0" spc="-5"/>
              <a:t>read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15"/>
              <a:t>file.</a:t>
            </a:r>
          </a:p>
          <a:p>
            <a:pPr marL="165735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166370" algn="l"/>
              </a:tabLst>
            </a:pPr>
            <a:r>
              <a:rPr dirty="0" spc="-15"/>
              <a:t>Your </a:t>
            </a:r>
            <a:r>
              <a:rPr dirty="0" spc="-5"/>
              <a:t>environment </a:t>
            </a:r>
            <a:r>
              <a:rPr dirty="0"/>
              <a:t>will be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reset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after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~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12 hours </a:t>
            </a:r>
            <a:r>
              <a:rPr dirty="0"/>
              <a:t>of </a:t>
            </a:r>
            <a:r>
              <a:rPr dirty="0" spc="-10"/>
              <a:t>inactivity. </a:t>
            </a:r>
            <a:r>
              <a:rPr dirty="0"/>
              <a:t>So, </a:t>
            </a: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save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your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work</a:t>
            </a:r>
            <a:r>
              <a:rPr dirty="0"/>
              <a:t>. Note that  </a:t>
            </a:r>
            <a:r>
              <a:rPr dirty="0" spc="-5"/>
              <a:t>you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must </a:t>
            </a: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save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your notebook </a:t>
            </a:r>
            <a:r>
              <a:rPr dirty="0" spc="-10"/>
              <a:t>to </a:t>
            </a:r>
            <a:r>
              <a:rPr dirty="0"/>
              <a:t>Google</a:t>
            </a:r>
            <a:r>
              <a:rPr dirty="0" spc="10"/>
              <a:t> </a:t>
            </a:r>
            <a:r>
              <a:rPr dirty="0" spc="-5"/>
              <a:t>Drive.</a:t>
            </a:r>
          </a:p>
          <a:p>
            <a:pPr marL="165735" marR="45085" indent="-133985">
              <a:lnSpc>
                <a:spcPct val="118100"/>
              </a:lnSpc>
              <a:spcBef>
                <a:spcPts val="894"/>
              </a:spcBef>
              <a:buClr>
                <a:srgbClr val="C2132D"/>
              </a:buClr>
              <a:buChar char="•"/>
              <a:tabLst>
                <a:tab pos="166370" algn="l"/>
              </a:tabLst>
            </a:pPr>
            <a:r>
              <a:rPr dirty="0"/>
              <a:t>Also,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remember </a:t>
            </a:r>
            <a:r>
              <a:rPr dirty="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install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any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required packages </a:t>
            </a:r>
            <a:r>
              <a:rPr dirty="0"/>
              <a:t>using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!pip install package_name</a:t>
            </a:r>
            <a:r>
              <a:rPr dirty="0" sz="1700" spc="-55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/>
              <a:t>if  </a:t>
            </a:r>
            <a:r>
              <a:rPr dirty="0" spc="-5"/>
              <a:t>they </a:t>
            </a:r>
            <a:r>
              <a:rPr dirty="0" spc="-10"/>
              <a:t>are </a:t>
            </a:r>
            <a:r>
              <a:rPr dirty="0"/>
              <a:t>not </a:t>
            </a:r>
            <a:r>
              <a:rPr dirty="0" spc="-5"/>
              <a:t>already</a:t>
            </a:r>
            <a:r>
              <a:rPr dirty="0" spc="10"/>
              <a:t> </a:t>
            </a:r>
            <a:r>
              <a:rPr dirty="0"/>
              <a:t>installed.</a:t>
            </a:r>
            <a:endParaRPr sz="1700">
              <a:latin typeface="Courier New"/>
              <a:cs typeface="Courier New"/>
            </a:endParaRPr>
          </a:p>
          <a:p>
            <a:pPr marL="165735" marR="17526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166370" algn="l"/>
              </a:tabLst>
            </a:pPr>
            <a:r>
              <a:rPr dirty="0"/>
              <a:t>Once </a:t>
            </a:r>
            <a:r>
              <a:rPr dirty="0" spc="-5"/>
              <a:t>your environment </a:t>
            </a:r>
            <a:r>
              <a:rPr dirty="0"/>
              <a:t>is </a:t>
            </a:r>
            <a:r>
              <a:rPr dirty="0" spc="-5"/>
              <a:t>reset, you </a:t>
            </a:r>
            <a:r>
              <a:rPr dirty="0"/>
              <a:t>will need </a:t>
            </a:r>
            <a:r>
              <a:rPr dirty="0" spc="-10"/>
              <a:t>to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reinstall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packages </a:t>
            </a:r>
            <a:r>
              <a:rPr dirty="0"/>
              <a:t>and </a:t>
            </a:r>
            <a:r>
              <a:rPr dirty="0" spc="-5"/>
              <a:t>re-upload </a:t>
            </a:r>
            <a:r>
              <a:rPr dirty="0"/>
              <a:t>(or  </a:t>
            </a:r>
            <a:r>
              <a:rPr dirty="0" spc="-5"/>
              <a:t>remount) </a:t>
            </a:r>
            <a:r>
              <a:rPr dirty="0"/>
              <a:t>the data.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Why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does Google do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this? </a:t>
            </a:r>
            <a:r>
              <a:rPr dirty="0" spc="5"/>
              <a:t>Insert </a:t>
            </a:r>
            <a:r>
              <a:rPr dirty="0" spc="-5"/>
              <a:t>your </a:t>
            </a:r>
            <a:r>
              <a:rPr dirty="0"/>
              <a:t>explanation </a:t>
            </a:r>
            <a:r>
              <a:rPr dirty="0" spc="-5"/>
              <a:t>here.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9359900" cy="45573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Class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Activity: </a:t>
            </a:r>
            <a:r>
              <a:rPr dirty="0" sz="3350">
                <a:solidFill>
                  <a:srgbClr val="C2132D"/>
                </a:solidFill>
                <a:latin typeface="Roboto Condensed"/>
                <a:cs typeface="Roboto Condensed"/>
              </a:rPr>
              <a:t>Duke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Energy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Hourly Load</a:t>
            </a:r>
            <a:r>
              <a:rPr dirty="0" sz="3350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Data</a:t>
            </a:r>
            <a:endParaRPr sz="3350">
              <a:latin typeface="Roboto Condensed"/>
              <a:cs typeface="Roboto Condensed"/>
            </a:endParaRPr>
          </a:p>
          <a:p>
            <a:pPr marL="393700" indent="-133985">
              <a:lnSpc>
                <a:spcPct val="100000"/>
              </a:lnSpc>
              <a:spcBef>
                <a:spcPts val="2955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Download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50" spc="114" i="1">
                <a:solidFill>
                  <a:srgbClr val="585D60"/>
                </a:solidFill>
                <a:latin typeface="Gill Sans MT"/>
                <a:cs typeface="Gill Sans MT"/>
              </a:rPr>
              <a:t>Historical</a:t>
            </a:r>
            <a:r>
              <a:rPr dirty="0" sz="1850" spc="-7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50" spc="95" i="1">
                <a:solidFill>
                  <a:srgbClr val="585D60"/>
                </a:solidFill>
                <a:latin typeface="Gill Sans MT"/>
                <a:cs typeface="Gill Sans MT"/>
              </a:rPr>
              <a:t>Hourly</a:t>
            </a:r>
            <a:r>
              <a:rPr dirty="0" sz="1850" spc="-7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50" spc="185" i="1">
                <a:solidFill>
                  <a:srgbClr val="585D60"/>
                </a:solidFill>
                <a:latin typeface="Gill Sans MT"/>
                <a:cs typeface="Gill Sans MT"/>
              </a:rPr>
              <a:t>Loads</a:t>
            </a:r>
            <a:r>
              <a:rPr dirty="0" sz="1850" spc="-7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50" spc="145" i="1">
                <a:solidFill>
                  <a:srgbClr val="585D60"/>
                </a:solidFill>
                <a:latin typeface="Gill Sans MT"/>
                <a:cs typeface="Gill Sans MT"/>
              </a:rPr>
              <a:t>by</a:t>
            </a:r>
            <a:r>
              <a:rPr dirty="0" sz="1850" spc="-7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50" spc="180" i="1">
                <a:solidFill>
                  <a:srgbClr val="585D60"/>
                </a:solidFill>
                <a:latin typeface="Gill Sans MT"/>
                <a:cs typeface="Gill Sans MT"/>
              </a:rPr>
              <a:t>Class</a:t>
            </a:r>
            <a:r>
              <a:rPr dirty="0" sz="1850" spc="-7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50" spc="45" i="1">
                <a:solidFill>
                  <a:srgbClr val="585D60"/>
                </a:solidFill>
                <a:latin typeface="Gill Sans MT"/>
                <a:cs typeface="Gill Sans MT"/>
              </a:rPr>
              <a:t>2025</a:t>
            </a:r>
            <a:r>
              <a:rPr dirty="0" sz="1850" spc="-7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50" spc="105" i="1">
                <a:solidFill>
                  <a:srgbClr val="585D60"/>
                </a:solidFill>
                <a:latin typeface="Gill Sans MT"/>
                <a:cs typeface="Gill Sans MT"/>
              </a:rPr>
              <a:t>data</a:t>
            </a:r>
            <a:r>
              <a:rPr dirty="0" sz="1850" spc="-70" i="1">
                <a:solidFill>
                  <a:srgbClr val="585D60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here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80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Inspect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its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structure;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noting that I want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35" b="1">
                <a:solidFill>
                  <a:srgbClr val="C2132D"/>
                </a:solidFill>
                <a:latin typeface="Roboto"/>
                <a:cs typeface="Roboto"/>
              </a:rPr>
              <a:t>Total</a:t>
            </a:r>
            <a:r>
              <a:rPr dirty="0" sz="1800" spc="6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Usage</a:t>
            </a:r>
            <a:endParaRPr sz="1800">
              <a:latin typeface="Roboto"/>
              <a:cs typeface="Roboto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sheet.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Things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note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when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 inspecting: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What is the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extension?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Edit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me.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Insert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answer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here.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How many sheets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file?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Edit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me.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Insert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answer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here.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What is the name of the sheet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want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read? Edit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me.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Insert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answer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here.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Which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row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used as the header?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Edit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me.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Insert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answer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here.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Upload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existing Google Colab notebook for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today's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Read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Pandas 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consulting their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API on</a:t>
            </a:r>
            <a:r>
              <a:rPr dirty="0" sz="180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Input/Output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05:00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17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3560" y="2752344"/>
            <a:ext cx="7897495" cy="1045844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150"/>
              </a:spcBef>
            </a:pP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U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U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10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910">
                <a:solidFill>
                  <a:srgbClr val="FFFFFF"/>
                </a:solidFill>
                <a:latin typeface="Roboto Condensed"/>
                <a:cs typeface="Roboto Condensed"/>
              </a:rPr>
              <a:t>g 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2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f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f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r 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93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35">
                <a:solidFill>
                  <a:srgbClr val="FFFFFF"/>
                </a:solidFill>
                <a:latin typeface="Roboto Condensed"/>
                <a:cs typeface="Roboto Condensed"/>
              </a:rPr>
              <a:t>a 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u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u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7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87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050" marR="685165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pc="-5"/>
              <a:t>Pandas </a:t>
            </a:r>
            <a:r>
              <a:rPr dirty="0"/>
              <a:t>has a powerful</a:t>
            </a:r>
            <a:r>
              <a:rPr dirty="0" spc="-55"/>
              <a:t> </a:t>
            </a:r>
            <a:r>
              <a:rPr dirty="0"/>
              <a:t>datetime  manipulation</a:t>
            </a:r>
            <a:r>
              <a:rPr dirty="0" spc="-5"/>
              <a:t> </a:t>
            </a:r>
            <a:r>
              <a:rPr dirty="0" spc="-10"/>
              <a:t>capability.</a:t>
            </a:r>
          </a:p>
          <a:p>
            <a:pPr marL="146050" marR="5080" indent="-133985">
              <a:lnSpc>
                <a:spcPct val="115700"/>
              </a:lnSpc>
              <a:spcBef>
                <a:spcPts val="95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/>
              <a:t>It allows </a:t>
            </a:r>
            <a:r>
              <a:rPr dirty="0" spc="-5"/>
              <a:t>you </a:t>
            </a:r>
            <a:r>
              <a:rPr dirty="0" spc="-10"/>
              <a:t>to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convert strings </a:t>
            </a:r>
            <a:r>
              <a:rPr dirty="0" spc="-15" b="1">
                <a:solidFill>
                  <a:srgbClr val="C2132D"/>
                </a:solidFill>
                <a:latin typeface="Roboto"/>
                <a:cs typeface="Roboto"/>
              </a:rPr>
              <a:t>to 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datetime objects</a:t>
            </a:r>
            <a:r>
              <a:rPr dirty="0" spc="-5"/>
              <a:t>,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extract </a:t>
            </a:r>
            <a:r>
              <a:rPr dirty="0" spc="5" b="1">
                <a:solidFill>
                  <a:srgbClr val="C2132D"/>
                </a:solidFill>
                <a:latin typeface="Roboto"/>
                <a:cs typeface="Roboto"/>
              </a:rPr>
              <a:t>parts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of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the 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date</a:t>
            </a:r>
            <a:r>
              <a:rPr dirty="0" spc="-5"/>
              <a:t>,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perform arithmetic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operations</a:t>
            </a:r>
            <a:r>
              <a:rPr dirty="0" spc="-4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on  dates</a:t>
            </a:r>
            <a:r>
              <a:rPr dirty="0" spc="-5"/>
              <a:t>, </a:t>
            </a:r>
            <a:r>
              <a:rPr dirty="0"/>
              <a:t>and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filter data based on</a:t>
            </a:r>
            <a:r>
              <a:rPr dirty="0" spc="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dates</a:t>
            </a:r>
            <a:r>
              <a:rPr dirty="0" spc="-5"/>
              <a:t>.</a:t>
            </a:r>
          </a:p>
          <a:p>
            <a:pPr marL="146050" marR="359410" indent="-133985">
              <a:lnSpc>
                <a:spcPct val="118100"/>
              </a:lnSpc>
              <a:spcBef>
                <a:spcPts val="894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pc="-20"/>
              <a:t>You </a:t>
            </a:r>
            <a:r>
              <a:rPr dirty="0"/>
              <a:t>can </a:t>
            </a:r>
            <a:r>
              <a:rPr dirty="0" spc="-5"/>
              <a:t>create </a:t>
            </a:r>
            <a:r>
              <a:rPr dirty="0"/>
              <a:t>a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Timestamp</a:t>
            </a:r>
            <a:r>
              <a:rPr dirty="0" sz="1700" spc="-62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/>
              <a:t>object  using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pd.to_datetime() </a:t>
            </a:r>
            <a:r>
              <a:rPr dirty="0" sz="1700" spc="5">
                <a:latin typeface="Courier New"/>
                <a:cs typeface="Courier New"/>
              </a:rPr>
              <a:t> </a:t>
            </a:r>
            <a:r>
              <a:rPr dirty="0"/>
              <a:t>function, or </a:t>
            </a:r>
            <a:r>
              <a:rPr dirty="0" spc="-5"/>
              <a:t>by </a:t>
            </a:r>
            <a:r>
              <a:rPr dirty="0"/>
              <a:t>using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datetime </a:t>
            </a:r>
            <a:r>
              <a:rPr dirty="0" sz="1700" spc="5">
                <a:latin typeface="Courier New"/>
                <a:cs typeface="Courier New"/>
              </a:rPr>
              <a:t> </a:t>
            </a:r>
            <a:r>
              <a:rPr dirty="0" spc="-5"/>
              <a:t>library </a:t>
            </a:r>
            <a:r>
              <a:rPr dirty="0"/>
              <a:t>in Python.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8978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Dateime Manipulation with</a:t>
            </a:r>
            <a:r>
              <a:rPr dirty="0" sz="3350" spc="-3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Pandas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399" y="430530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81737" y="4321175"/>
            <a:ext cx="984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39399" y="430530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491786" y="4321175"/>
            <a:ext cx="984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19849" y="4305300"/>
            <a:ext cx="4019550" cy="142875"/>
          </a:xfrm>
          <a:custGeom>
            <a:avLst/>
            <a:gdLst/>
            <a:ahLst/>
            <a:cxnLst/>
            <a:rect l="l" t="t" r="r" b="b"/>
            <a:pathLst>
              <a:path w="4019550" h="142875">
                <a:moveTo>
                  <a:pt x="0" y="0"/>
                </a:moveTo>
                <a:lnTo>
                  <a:pt x="4019549" y="0"/>
                </a:lnTo>
                <a:lnTo>
                  <a:pt x="4019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19849" y="4333875"/>
            <a:ext cx="3181350" cy="85725"/>
          </a:xfrm>
          <a:custGeom>
            <a:avLst/>
            <a:gdLst/>
            <a:ahLst/>
            <a:cxnLst/>
            <a:rect l="l" t="t" r="r" b="b"/>
            <a:pathLst>
              <a:path w="3181350" h="85725">
                <a:moveTo>
                  <a:pt x="3144171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3144171" y="0"/>
                </a:lnTo>
                <a:lnTo>
                  <a:pt x="3175911" y="21208"/>
                </a:lnTo>
                <a:lnTo>
                  <a:pt x="3181349" y="37178"/>
                </a:lnTo>
                <a:lnTo>
                  <a:pt x="3181349" y="48546"/>
                </a:lnTo>
                <a:lnTo>
                  <a:pt x="3160141" y="80286"/>
                </a:lnTo>
                <a:lnTo>
                  <a:pt x="3144171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48400" y="1619249"/>
            <a:ext cx="4362450" cy="2686050"/>
          </a:xfrm>
          <a:custGeom>
            <a:avLst/>
            <a:gdLst/>
            <a:ahLst/>
            <a:cxnLst/>
            <a:rect l="l" t="t" r="r" b="b"/>
            <a:pathLst>
              <a:path w="4362450" h="2686050">
                <a:moveTo>
                  <a:pt x="0" y="0"/>
                </a:moveTo>
                <a:lnTo>
                  <a:pt x="4362449" y="0"/>
                </a:lnTo>
                <a:lnTo>
                  <a:pt x="4362449" y="2686049"/>
                </a:lnTo>
                <a:lnTo>
                  <a:pt x="0" y="268604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34273" y="1677130"/>
            <a:ext cx="4253230" cy="963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100" spc="-1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100">
              <a:latin typeface="Courier New"/>
              <a:cs typeface="Courier New"/>
            </a:endParaRPr>
          </a:p>
          <a:p>
            <a:pPr marL="166370" marR="2910840" indent="-167005">
              <a:lnSpc>
                <a:spcPts val="1280"/>
              </a:lnSpc>
              <a:spcBef>
                <a:spcPts val="1080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duke = ( 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pd.read_excel(</a:t>
            </a:r>
            <a:endParaRPr sz="1100">
              <a:latin typeface="Courier New"/>
              <a:cs typeface="Courier New"/>
            </a:endParaRPr>
          </a:p>
          <a:p>
            <a:pPr marL="333375">
              <a:lnSpc>
                <a:spcPts val="1200"/>
              </a:lnSpc>
              <a:spcBef>
                <a:spcPts val="55"/>
              </a:spcBef>
            </a:pP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'../../data/Actual_Hourly_Loads_by_Class_2025_2 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sheet_name=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'Total Usage'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1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header=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67800" y="2610580"/>
            <a:ext cx="83820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01037" y="2772505"/>
            <a:ext cx="4086225" cy="6686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ts val="1300"/>
              </a:lnSpc>
              <a:spcBef>
                <a:spcPts val="9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100">
              <a:latin typeface="Courier New"/>
              <a:cs typeface="Courier New"/>
            </a:endParaRPr>
          </a:p>
          <a:p>
            <a:pPr marL="333375" marR="993140" indent="-167005">
              <a:lnSpc>
                <a:spcPts val="1270"/>
              </a:lnSpc>
              <a:spcBef>
                <a:spcPts val="60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datetime =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x:  pd.to_datetime(x[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'REPORT DAY'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])</a:t>
            </a:r>
            <a:r>
              <a:rPr dirty="0" sz="1100" spc="-6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+</a:t>
            </a:r>
            <a:endParaRPr sz="1100">
              <a:latin typeface="Courier New"/>
              <a:cs typeface="Courier New"/>
            </a:endParaRPr>
          </a:p>
          <a:p>
            <a:pPr marL="333375">
              <a:lnSpc>
                <a:spcPts val="1170"/>
              </a:lnSpc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pd.to_timedelta(x[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'HOUR ENDING'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]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-1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4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unit=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'h'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34564" y="3410680"/>
            <a:ext cx="83820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1037" y="3572605"/>
            <a:ext cx="1918335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[[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'datetime'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7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'TOTAL'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]]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01037" y="3734530"/>
            <a:ext cx="83820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34273" y="4029805"/>
            <a:ext cx="1167765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duke.head(n=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48399" y="4629150"/>
            <a:ext cx="4362450" cy="495300"/>
          </a:xfrm>
          <a:custGeom>
            <a:avLst/>
            <a:gdLst/>
            <a:ahLst/>
            <a:cxnLst/>
            <a:rect l="l" t="t" r="r" b="b"/>
            <a:pathLst>
              <a:path w="4362450" h="495300">
                <a:moveTo>
                  <a:pt x="0" y="0"/>
                </a:moveTo>
                <a:lnTo>
                  <a:pt x="4362449" y="0"/>
                </a:lnTo>
                <a:lnTo>
                  <a:pt x="4362449" y="495299"/>
                </a:lnTo>
                <a:lnTo>
                  <a:pt x="0" y="49529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334273" y="4682752"/>
            <a:ext cx="1263650" cy="3594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R="5080">
              <a:lnSpc>
                <a:spcPts val="1280"/>
              </a:lnSpc>
              <a:spcBef>
                <a:spcPts val="200"/>
              </a:spcBef>
              <a:tabLst>
                <a:tab pos="583565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datetime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 0</a:t>
            </a:r>
            <a:r>
              <a:rPr dirty="0" sz="1100" spc="-9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2025-01-01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751764" y="4682752"/>
            <a:ext cx="763270" cy="3594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R="5080" indent="333375">
              <a:lnSpc>
                <a:spcPts val="1280"/>
              </a:lnSpc>
              <a:spcBef>
                <a:spcPts val="200"/>
              </a:spcBef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TOTAL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 1944604.4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050" marR="685165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pc="-5"/>
              <a:t>Pandas </a:t>
            </a:r>
            <a:r>
              <a:rPr dirty="0"/>
              <a:t>has a powerful</a:t>
            </a:r>
            <a:r>
              <a:rPr dirty="0" spc="-55"/>
              <a:t> </a:t>
            </a:r>
            <a:r>
              <a:rPr dirty="0"/>
              <a:t>datetime  manipulation</a:t>
            </a:r>
            <a:r>
              <a:rPr dirty="0" spc="-5"/>
              <a:t> </a:t>
            </a:r>
            <a:r>
              <a:rPr dirty="0" spc="-10"/>
              <a:t>capability.</a:t>
            </a:r>
          </a:p>
          <a:p>
            <a:pPr marL="146050" marR="5080" indent="-133985">
              <a:lnSpc>
                <a:spcPct val="115700"/>
              </a:lnSpc>
              <a:spcBef>
                <a:spcPts val="95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/>
              <a:t>It allows </a:t>
            </a:r>
            <a:r>
              <a:rPr dirty="0" spc="-5"/>
              <a:t>you </a:t>
            </a:r>
            <a:r>
              <a:rPr dirty="0" spc="-10"/>
              <a:t>to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convert strings </a:t>
            </a:r>
            <a:r>
              <a:rPr dirty="0" spc="-15" b="1">
                <a:solidFill>
                  <a:srgbClr val="C2132D"/>
                </a:solidFill>
                <a:latin typeface="Roboto"/>
                <a:cs typeface="Roboto"/>
              </a:rPr>
              <a:t>to 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datetime objects</a:t>
            </a:r>
            <a:r>
              <a:rPr dirty="0" spc="-5"/>
              <a:t>,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extract </a:t>
            </a:r>
            <a:r>
              <a:rPr dirty="0" spc="5" b="1">
                <a:solidFill>
                  <a:srgbClr val="C2132D"/>
                </a:solidFill>
                <a:latin typeface="Roboto"/>
                <a:cs typeface="Roboto"/>
              </a:rPr>
              <a:t>parts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of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the 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date</a:t>
            </a:r>
            <a:r>
              <a:rPr dirty="0" spc="-5"/>
              <a:t>, </a:t>
            </a:r>
            <a:r>
              <a:rPr dirty="0" b="1">
                <a:solidFill>
                  <a:srgbClr val="C2132D"/>
                </a:solidFill>
                <a:latin typeface="Roboto"/>
                <a:cs typeface="Roboto"/>
              </a:rPr>
              <a:t>perform arithmetic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operations</a:t>
            </a:r>
            <a:r>
              <a:rPr dirty="0" spc="-4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on  dates</a:t>
            </a:r>
            <a:r>
              <a:rPr dirty="0" spc="-5"/>
              <a:t>, </a:t>
            </a:r>
            <a:r>
              <a:rPr dirty="0"/>
              <a:t>and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filter data based on</a:t>
            </a:r>
            <a:r>
              <a:rPr dirty="0" spc="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dates</a:t>
            </a:r>
            <a:r>
              <a:rPr dirty="0" spc="-5"/>
              <a:t>.</a:t>
            </a:r>
          </a:p>
          <a:p>
            <a:pPr marL="146050" marR="359410" indent="-133985">
              <a:lnSpc>
                <a:spcPct val="118100"/>
              </a:lnSpc>
              <a:spcBef>
                <a:spcPts val="894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pc="-20"/>
              <a:t>You </a:t>
            </a:r>
            <a:r>
              <a:rPr dirty="0"/>
              <a:t>can </a:t>
            </a:r>
            <a:r>
              <a:rPr dirty="0" spc="-5"/>
              <a:t>create </a:t>
            </a:r>
            <a:r>
              <a:rPr dirty="0"/>
              <a:t>a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Timestamp</a:t>
            </a:r>
            <a:r>
              <a:rPr dirty="0" sz="1700" spc="-62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/>
              <a:t>object  using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pd.to_datetime() </a:t>
            </a:r>
            <a:r>
              <a:rPr dirty="0" sz="1700" spc="5">
                <a:latin typeface="Courier New"/>
                <a:cs typeface="Courier New"/>
              </a:rPr>
              <a:t> </a:t>
            </a:r>
            <a:r>
              <a:rPr dirty="0"/>
              <a:t>function, or </a:t>
            </a:r>
            <a:r>
              <a:rPr dirty="0" spc="-5"/>
              <a:t>by </a:t>
            </a:r>
            <a:r>
              <a:rPr dirty="0"/>
              <a:t>using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datetime </a:t>
            </a:r>
            <a:r>
              <a:rPr dirty="0" sz="1700" spc="5">
                <a:latin typeface="Courier New"/>
                <a:cs typeface="Courier New"/>
              </a:rPr>
              <a:t> </a:t>
            </a:r>
            <a:r>
              <a:rPr dirty="0" spc="-5"/>
              <a:t>library </a:t>
            </a:r>
            <a:r>
              <a:rPr dirty="0"/>
              <a:t>in Python.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1084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Datetime Manipulation with </a:t>
            </a:r>
            <a:r>
              <a:rPr dirty="0" sz="3350" spc="5">
                <a:latin typeface="Roboto Condensed"/>
                <a:cs typeface="Roboto Condensed"/>
              </a:rPr>
              <a:t>Pandas: </a:t>
            </a:r>
            <a:r>
              <a:rPr dirty="0" sz="3350" spc="10">
                <a:latin typeface="Roboto Condensed"/>
                <a:cs typeface="Roboto Condensed"/>
              </a:rPr>
              <a:t>Without</a:t>
            </a:r>
            <a:r>
              <a:rPr dirty="0" sz="3350" spc="-1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Chaining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399" y="361950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439399" y="361950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19849" y="3619500"/>
            <a:ext cx="4019550" cy="142875"/>
          </a:xfrm>
          <a:custGeom>
            <a:avLst/>
            <a:gdLst/>
            <a:ahLst/>
            <a:cxnLst/>
            <a:rect l="l" t="t" r="r" b="b"/>
            <a:pathLst>
              <a:path w="4019550" h="142875">
                <a:moveTo>
                  <a:pt x="0" y="0"/>
                </a:moveTo>
                <a:lnTo>
                  <a:pt x="4019549" y="0"/>
                </a:lnTo>
                <a:lnTo>
                  <a:pt x="4019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19849" y="3648075"/>
            <a:ext cx="2076450" cy="85725"/>
          </a:xfrm>
          <a:custGeom>
            <a:avLst/>
            <a:gdLst/>
            <a:ahLst/>
            <a:cxnLst/>
            <a:rect l="l" t="t" r="r" b="b"/>
            <a:pathLst>
              <a:path w="2076450" h="85725">
                <a:moveTo>
                  <a:pt x="2039271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2039271" y="0"/>
                </a:lnTo>
                <a:lnTo>
                  <a:pt x="2071011" y="21208"/>
                </a:lnTo>
                <a:lnTo>
                  <a:pt x="2076449" y="37178"/>
                </a:lnTo>
                <a:lnTo>
                  <a:pt x="2076449" y="48546"/>
                </a:lnTo>
                <a:lnTo>
                  <a:pt x="2055241" y="80286"/>
                </a:lnTo>
                <a:lnTo>
                  <a:pt x="2039271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48400" y="1619249"/>
            <a:ext cx="4362450" cy="2000250"/>
          </a:xfrm>
          <a:custGeom>
            <a:avLst/>
            <a:gdLst/>
            <a:ahLst/>
            <a:cxnLst/>
            <a:rect l="l" t="t" r="r" b="b"/>
            <a:pathLst>
              <a:path w="4362450" h="2000250">
                <a:moveTo>
                  <a:pt x="0" y="0"/>
                </a:moveTo>
                <a:lnTo>
                  <a:pt x="4362449" y="0"/>
                </a:lnTo>
                <a:lnTo>
                  <a:pt x="4362449" y="2000249"/>
                </a:lnTo>
                <a:lnTo>
                  <a:pt x="0" y="200024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67800" y="2448655"/>
            <a:ext cx="83820" cy="192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48399" y="3952875"/>
            <a:ext cx="4362450" cy="485775"/>
          </a:xfrm>
          <a:custGeom>
            <a:avLst/>
            <a:gdLst/>
            <a:ahLst/>
            <a:cxnLst/>
            <a:rect l="l" t="t" r="r" b="b"/>
            <a:pathLst>
              <a:path w="4362450" h="485775">
                <a:moveTo>
                  <a:pt x="0" y="0"/>
                </a:moveTo>
                <a:lnTo>
                  <a:pt x="4362449" y="0"/>
                </a:lnTo>
                <a:lnTo>
                  <a:pt x="4362449" y="485774"/>
                </a:lnTo>
                <a:lnTo>
                  <a:pt x="0" y="48577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34273" y="4006477"/>
            <a:ext cx="1263650" cy="34988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R="5080">
              <a:lnSpc>
                <a:spcPts val="1200"/>
              </a:lnSpc>
              <a:spcBef>
                <a:spcPts val="265"/>
              </a:spcBef>
              <a:tabLst>
                <a:tab pos="583565" algn="l"/>
              </a:tabLst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datetime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 0</a:t>
            </a:r>
            <a:r>
              <a:rPr dirty="0" sz="1100" spc="-9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2025-01-01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81737" y="1677130"/>
            <a:ext cx="4308475" cy="2679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95"/>
              </a:spcBef>
            </a:pP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100" spc="-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100" spc="-1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100">
              <a:latin typeface="Courier New"/>
              <a:cs typeface="Courier New"/>
            </a:endParaRPr>
          </a:p>
          <a:p>
            <a:pPr marL="385445" indent="-334010">
              <a:lnSpc>
                <a:spcPts val="1280"/>
              </a:lnSpc>
              <a:spcBef>
                <a:spcPts val="1080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df = pd.read_excel( 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'../../data/Actual_Hourly_Loads_by_Class_2025_2 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sheet_name=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'Total Usage'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1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header=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  <a:p>
            <a:pPr marL="52069">
              <a:lnSpc>
                <a:spcPct val="176100"/>
              </a:lnSpc>
              <a:spcBef>
                <a:spcPts val="1230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df[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'datetime'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] = pd.to_datetime(df[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'REPORT DAY'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])</a:t>
            </a:r>
            <a:r>
              <a:rPr dirty="0" sz="1100" spc="-4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+  df = df[[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'datetime'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100" spc="-1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5">
                <a:solidFill>
                  <a:srgbClr val="DD1144"/>
                </a:solidFill>
                <a:latin typeface="Courier New"/>
                <a:cs typeface="Courier New"/>
              </a:rPr>
              <a:t>'TOTAL'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]]</a:t>
            </a:r>
            <a:endParaRPr sz="1100">
              <a:latin typeface="Courier New"/>
              <a:cs typeface="Courier New"/>
            </a:endParaRPr>
          </a:p>
          <a:p>
            <a:pPr marL="52069">
              <a:lnSpc>
                <a:spcPct val="100000"/>
              </a:lnSpc>
              <a:spcBef>
                <a:spcPts val="1080"/>
              </a:spcBef>
            </a:pP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df.head(n=</a:t>
            </a:r>
            <a:r>
              <a:rPr dirty="0" sz="1100" spc="-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100" spc="-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tabLst>
                <a:tab pos="4209415" algn="l"/>
              </a:tabLst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	</a:t>
            </a: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  <a:p>
            <a:pPr>
              <a:lnSpc>
                <a:spcPct val="100000"/>
              </a:lnSpc>
            </a:pPr>
            <a:endParaRPr sz="600">
              <a:latin typeface="Segoe Fluent Icons"/>
              <a:cs typeface="Segoe Fluent Icons"/>
            </a:endParaRPr>
          </a:p>
          <a:p>
            <a:pPr>
              <a:lnSpc>
                <a:spcPct val="100000"/>
              </a:lnSpc>
            </a:pPr>
            <a:endParaRPr sz="600">
              <a:latin typeface="Segoe Fluent Icons"/>
              <a:cs typeface="Segoe Fluent Icons"/>
            </a:endParaRPr>
          </a:p>
          <a:p>
            <a:pPr>
              <a:lnSpc>
                <a:spcPct val="100000"/>
              </a:lnSpc>
            </a:pPr>
            <a:endParaRPr sz="600">
              <a:latin typeface="Segoe Fluent Icons"/>
              <a:cs typeface="Segoe Fluent Icons"/>
            </a:endParaRPr>
          </a:p>
          <a:p>
            <a:pPr marL="1470025" marR="2080260" indent="333375">
              <a:lnSpc>
                <a:spcPts val="1200"/>
              </a:lnSpc>
              <a:spcBef>
                <a:spcPts val="484"/>
              </a:spcBef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TOTAL </a:t>
            </a: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 1944604.4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442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💡</a:t>
            </a:r>
            <a:r>
              <a:rPr dirty="0" sz="3300" spc="-160">
                <a:latin typeface="Arial"/>
                <a:cs typeface="Arial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Why Method Chaining? Detailed </a:t>
            </a:r>
            <a:r>
              <a:rPr dirty="0" sz="3350" spc="5">
                <a:latin typeface="Roboto Condensed"/>
                <a:cs typeface="Roboto Condensed"/>
              </a:rPr>
              <a:t>Interpretation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84349"/>
            <a:ext cx="9380220" cy="35794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46050" marR="5080" indent="-133985">
              <a:lnSpc>
                <a:spcPct val="116399"/>
              </a:lnSpc>
              <a:spcBef>
                <a:spcPts val="7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parentheses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this code enable </a:t>
            </a:r>
            <a:r>
              <a:rPr dirty="0" sz="1800" spc="-5" b="1">
                <a:latin typeface="Roboto"/>
                <a:cs typeface="Roboto"/>
              </a:rPr>
              <a:t>method </a:t>
            </a:r>
            <a:r>
              <a:rPr dirty="0" sz="1800" b="1">
                <a:latin typeface="Roboto"/>
                <a:cs typeface="Roboto"/>
              </a:rPr>
              <a:t>chaining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allowing multiple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transformations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 applied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50" spc="100" i="1">
                <a:solidFill>
                  <a:srgbClr val="585D60"/>
                </a:solidFill>
                <a:latin typeface="Gill Sans MT"/>
                <a:cs typeface="Gill Sans MT"/>
              </a:rPr>
              <a:t>DataFrame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sequentially without intermediate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variables.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improves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readability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keeps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workflow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structured.</a:t>
            </a:r>
            <a:endParaRPr sz="1800">
              <a:latin typeface="Roboto"/>
              <a:cs typeface="Roboto"/>
            </a:endParaRPr>
          </a:p>
          <a:p>
            <a:pPr marL="146050" marR="63119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first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step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data using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pd.read_excel()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then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.assign()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datetime</a:t>
            </a:r>
            <a:r>
              <a:rPr dirty="0" sz="1700" spc="-5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column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combining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REPORT</a:t>
            </a:r>
            <a:r>
              <a:rPr dirty="0" sz="1700" spc="-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DAY</a:t>
            </a:r>
            <a:r>
              <a:rPr dirty="0" sz="1700" spc="-5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HOUR</a:t>
            </a:r>
            <a:r>
              <a:rPr dirty="0" sz="1700" spc="-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ENDING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finally,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column  selection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[['datetime', 'TOTAL']]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)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ensures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only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relevant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 is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retained.</a:t>
            </a:r>
            <a:endParaRPr sz="1800">
              <a:latin typeface="Roboto"/>
              <a:cs typeface="Roboto"/>
            </a:endParaRPr>
          </a:p>
          <a:p>
            <a:pPr marL="146050" marR="306705" indent="-133985">
              <a:lnSpc>
                <a:spcPct val="118100"/>
              </a:lnSpc>
              <a:spcBef>
                <a:spcPts val="894"/>
              </a:spcBef>
              <a:buClr>
                <a:srgbClr val="C2132D"/>
              </a:buClr>
              <a:buChar char="•"/>
              <a:tabLst>
                <a:tab pos="146685" algn="l"/>
                <a:tab pos="526542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approach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similar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piping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%&gt;%</a:t>
            </a:r>
            <a:r>
              <a:rPr dirty="0" sz="1700" spc="-484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|&gt;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	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each function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operates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</a:t>
            </a:r>
            <a:r>
              <a:rPr dirty="0" sz="1800" spc="-6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 output of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previous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step,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promoting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clear,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left-to-right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flow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</a:t>
            </a:r>
            <a:r>
              <a:rPr dirty="0" sz="1800" spc="8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transformations.</a:t>
            </a:r>
            <a:endParaRPr sz="1800">
              <a:latin typeface="Roboto"/>
              <a:cs typeface="Roboto"/>
            </a:endParaRPr>
          </a:p>
          <a:p>
            <a:pPr marL="146050" marR="503555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Without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parentheses,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each step would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require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separate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assignments, making the code  longer and less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efficient.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53149" y="3633787"/>
            <a:ext cx="259715" cy="200025"/>
          </a:xfrm>
          <a:custGeom>
            <a:avLst/>
            <a:gdLst/>
            <a:ahLst/>
            <a:cxnLst/>
            <a:rect l="l" t="t" r="r" b="b"/>
            <a:pathLst>
              <a:path w="259714" h="200025">
                <a:moveTo>
                  <a:pt x="151134" y="200025"/>
                </a:moveTo>
                <a:lnTo>
                  <a:pt x="106888" y="200025"/>
                </a:lnTo>
                <a:lnTo>
                  <a:pt x="106888" y="172387"/>
                </a:lnTo>
                <a:lnTo>
                  <a:pt x="64551" y="162010"/>
                </a:lnTo>
                <a:lnTo>
                  <a:pt x="30656" y="142981"/>
                </a:lnTo>
                <a:lnTo>
                  <a:pt x="8156" y="117279"/>
                </a:lnTo>
                <a:lnTo>
                  <a:pt x="0" y="86885"/>
                </a:lnTo>
                <a:lnTo>
                  <a:pt x="10195" y="53061"/>
                </a:lnTo>
                <a:lnTo>
                  <a:pt x="37995" y="25444"/>
                </a:lnTo>
                <a:lnTo>
                  <a:pt x="79224" y="6826"/>
                </a:lnTo>
                <a:lnTo>
                  <a:pt x="129703" y="0"/>
                </a:lnTo>
                <a:lnTo>
                  <a:pt x="180182" y="6826"/>
                </a:lnTo>
                <a:lnTo>
                  <a:pt x="221411" y="25444"/>
                </a:lnTo>
                <a:lnTo>
                  <a:pt x="230001" y="33977"/>
                </a:lnTo>
                <a:lnTo>
                  <a:pt x="149572" y="33977"/>
                </a:lnTo>
                <a:lnTo>
                  <a:pt x="111207" y="38641"/>
                </a:lnTo>
                <a:lnTo>
                  <a:pt x="79870" y="51362"/>
                </a:lnTo>
                <a:lnTo>
                  <a:pt x="58738" y="70236"/>
                </a:lnTo>
                <a:lnTo>
                  <a:pt x="50988" y="93359"/>
                </a:lnTo>
                <a:lnTo>
                  <a:pt x="55054" y="110253"/>
                </a:lnTo>
                <a:lnTo>
                  <a:pt x="55177" y="110460"/>
                </a:lnTo>
                <a:lnTo>
                  <a:pt x="66531" y="125367"/>
                </a:lnTo>
                <a:lnTo>
                  <a:pt x="84196" y="137794"/>
                </a:lnTo>
                <a:lnTo>
                  <a:pt x="106888" y="146893"/>
                </a:lnTo>
                <a:lnTo>
                  <a:pt x="151090" y="146893"/>
                </a:lnTo>
                <a:lnTo>
                  <a:pt x="151090" y="152697"/>
                </a:lnTo>
                <a:lnTo>
                  <a:pt x="221976" y="152697"/>
                </a:lnTo>
                <a:lnTo>
                  <a:pt x="230075" y="166360"/>
                </a:lnTo>
                <a:lnTo>
                  <a:pt x="182120" y="166360"/>
                </a:lnTo>
                <a:lnTo>
                  <a:pt x="174698" y="168384"/>
                </a:lnTo>
                <a:lnTo>
                  <a:pt x="167046" y="170099"/>
                </a:lnTo>
                <a:lnTo>
                  <a:pt x="159184" y="171496"/>
                </a:lnTo>
                <a:lnTo>
                  <a:pt x="151134" y="172566"/>
                </a:lnTo>
                <a:lnTo>
                  <a:pt x="151134" y="200025"/>
                </a:lnTo>
                <a:close/>
              </a:path>
              <a:path w="259714" h="200025">
                <a:moveTo>
                  <a:pt x="230570" y="140865"/>
                </a:moveTo>
                <a:lnTo>
                  <a:pt x="212794" y="140865"/>
                </a:lnTo>
                <a:lnTo>
                  <a:pt x="225949" y="132557"/>
                </a:lnTo>
                <a:lnTo>
                  <a:pt x="235821" y="121918"/>
                </a:lnTo>
                <a:lnTo>
                  <a:pt x="242028" y="108875"/>
                </a:lnTo>
                <a:lnTo>
                  <a:pt x="244182" y="93359"/>
                </a:lnTo>
                <a:lnTo>
                  <a:pt x="237053" y="66695"/>
                </a:lnTo>
                <a:lnTo>
                  <a:pt x="217287" y="48214"/>
                </a:lnTo>
                <a:lnTo>
                  <a:pt x="187316" y="37460"/>
                </a:lnTo>
                <a:lnTo>
                  <a:pt x="149572" y="33977"/>
                </a:lnTo>
                <a:lnTo>
                  <a:pt x="230001" y="33977"/>
                </a:lnTo>
                <a:lnTo>
                  <a:pt x="249212" y="53061"/>
                </a:lnTo>
                <a:lnTo>
                  <a:pt x="259407" y="86885"/>
                </a:lnTo>
                <a:lnTo>
                  <a:pt x="256662" y="104731"/>
                </a:lnTo>
                <a:lnTo>
                  <a:pt x="248797" y="121320"/>
                </a:lnTo>
                <a:lnTo>
                  <a:pt x="236370" y="136286"/>
                </a:lnTo>
                <a:lnTo>
                  <a:pt x="230570" y="140865"/>
                </a:lnTo>
                <a:close/>
              </a:path>
              <a:path w="259714" h="200025">
                <a:moveTo>
                  <a:pt x="151090" y="146893"/>
                </a:moveTo>
                <a:lnTo>
                  <a:pt x="106888" y="146893"/>
                </a:lnTo>
                <a:lnTo>
                  <a:pt x="106888" y="53890"/>
                </a:lnTo>
                <a:lnTo>
                  <a:pt x="195738" y="53890"/>
                </a:lnTo>
                <a:lnTo>
                  <a:pt x="202059" y="54604"/>
                </a:lnTo>
                <a:lnTo>
                  <a:pt x="215964" y="59064"/>
                </a:lnTo>
                <a:lnTo>
                  <a:pt x="229869" y="70748"/>
                </a:lnTo>
                <a:lnTo>
                  <a:pt x="234005" y="85399"/>
                </a:lnTo>
                <a:lnTo>
                  <a:pt x="168504" y="85399"/>
                </a:lnTo>
                <a:lnTo>
                  <a:pt x="151492" y="85635"/>
                </a:lnTo>
                <a:lnTo>
                  <a:pt x="151492" y="110460"/>
                </a:lnTo>
                <a:lnTo>
                  <a:pt x="166960" y="110777"/>
                </a:lnTo>
                <a:lnTo>
                  <a:pt x="231499" y="110777"/>
                </a:lnTo>
                <a:lnTo>
                  <a:pt x="230148" y="115859"/>
                </a:lnTo>
                <a:lnTo>
                  <a:pt x="216857" y="128280"/>
                </a:lnTo>
                <a:lnTo>
                  <a:pt x="203566" y="133477"/>
                </a:lnTo>
                <a:lnTo>
                  <a:pt x="197524" y="134525"/>
                </a:lnTo>
                <a:lnTo>
                  <a:pt x="205382" y="136892"/>
                </a:lnTo>
                <a:lnTo>
                  <a:pt x="209936" y="139213"/>
                </a:lnTo>
                <a:lnTo>
                  <a:pt x="210695" y="139571"/>
                </a:lnTo>
                <a:lnTo>
                  <a:pt x="211722" y="140151"/>
                </a:lnTo>
                <a:lnTo>
                  <a:pt x="212794" y="140865"/>
                </a:lnTo>
                <a:lnTo>
                  <a:pt x="230570" y="140865"/>
                </a:lnTo>
                <a:lnTo>
                  <a:pt x="228082" y="142830"/>
                </a:lnTo>
                <a:lnTo>
                  <a:pt x="151090" y="142830"/>
                </a:lnTo>
                <a:lnTo>
                  <a:pt x="151090" y="146893"/>
                </a:lnTo>
                <a:close/>
              </a:path>
              <a:path w="259714" h="200025">
                <a:moveTo>
                  <a:pt x="231499" y="110777"/>
                </a:moveTo>
                <a:lnTo>
                  <a:pt x="166960" y="110777"/>
                </a:lnTo>
                <a:lnTo>
                  <a:pt x="179397" y="110253"/>
                </a:lnTo>
                <a:lnTo>
                  <a:pt x="187682" y="106674"/>
                </a:lnTo>
                <a:lnTo>
                  <a:pt x="190693" y="97824"/>
                </a:lnTo>
                <a:lnTo>
                  <a:pt x="188197" y="89497"/>
                </a:lnTo>
                <a:lnTo>
                  <a:pt x="180770" y="86020"/>
                </a:lnTo>
                <a:lnTo>
                  <a:pt x="168504" y="85399"/>
                </a:lnTo>
                <a:lnTo>
                  <a:pt x="234005" y="85399"/>
                </a:lnTo>
                <a:lnTo>
                  <a:pt x="236190" y="93136"/>
                </a:lnTo>
                <a:lnTo>
                  <a:pt x="231499" y="110777"/>
                </a:lnTo>
                <a:close/>
              </a:path>
              <a:path w="259714" h="200025">
                <a:moveTo>
                  <a:pt x="221976" y="152697"/>
                </a:moveTo>
                <a:lnTo>
                  <a:pt x="151090" y="152697"/>
                </a:lnTo>
                <a:lnTo>
                  <a:pt x="158948" y="152653"/>
                </a:lnTo>
                <a:lnTo>
                  <a:pt x="166494" y="152251"/>
                </a:lnTo>
                <a:lnTo>
                  <a:pt x="173682" y="151402"/>
                </a:lnTo>
                <a:lnTo>
                  <a:pt x="171405" y="148054"/>
                </a:lnTo>
                <a:lnTo>
                  <a:pt x="167788" y="142830"/>
                </a:lnTo>
                <a:lnTo>
                  <a:pt x="228082" y="142830"/>
                </a:lnTo>
                <a:lnTo>
                  <a:pt x="219938" y="149259"/>
                </a:lnTo>
                <a:lnTo>
                  <a:pt x="221976" y="152697"/>
                </a:lnTo>
                <a:close/>
              </a:path>
              <a:path w="259714" h="200025">
                <a:moveTo>
                  <a:pt x="250031" y="200025"/>
                </a:moveTo>
                <a:lnTo>
                  <a:pt x="200024" y="200025"/>
                </a:lnTo>
                <a:lnTo>
                  <a:pt x="182120" y="166360"/>
                </a:lnTo>
                <a:lnTo>
                  <a:pt x="230075" y="166360"/>
                </a:lnTo>
                <a:lnTo>
                  <a:pt x="250031" y="2000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91273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💡</a:t>
            </a:r>
            <a:r>
              <a:rPr dirty="0" sz="3300" spc="-140">
                <a:latin typeface="Arial"/>
                <a:cs typeface="Arial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Why Method Chaining? </a:t>
            </a:r>
            <a:r>
              <a:rPr dirty="0" sz="3350" spc="-20">
                <a:latin typeface="Roboto Condensed"/>
                <a:cs typeface="Roboto Condensed"/>
              </a:rPr>
              <a:t>Fadel's </a:t>
            </a:r>
            <a:r>
              <a:rPr dirty="0" sz="3350" spc="5">
                <a:latin typeface="Roboto Condensed"/>
                <a:cs typeface="Roboto Condensed"/>
              </a:rPr>
              <a:t>Perspective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3198495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Improves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readability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Avoids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intermediate</a:t>
            </a:r>
            <a:r>
              <a:rPr dirty="0" sz="1800" spc="-6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variables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Mimics </a:t>
            </a:r>
            <a:r>
              <a:rPr dirty="0" sz="1800" spc="-60" b="1">
                <a:solidFill>
                  <a:srgbClr val="C2132D"/>
                </a:solidFill>
                <a:latin typeface="Roboto"/>
                <a:cs typeface="Roboto"/>
              </a:rPr>
              <a:t>R’s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dplyr</a:t>
            </a:r>
            <a:r>
              <a:rPr dirty="0" sz="1800" spc="3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piping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5854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Indexing and Slicing with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Pandas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21495" cy="3890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Indexing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selecting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specific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rows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columns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DataFrame.</a:t>
            </a:r>
            <a:endParaRPr sz="1800">
              <a:latin typeface="Roboto"/>
              <a:cs typeface="Roboto"/>
            </a:endParaRPr>
          </a:p>
          <a:p>
            <a:pPr marL="146050" marR="303530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Slicing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process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selecting a subset of the data based on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specific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criteria.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 slice data based on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row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numbers, column names, or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conditions.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Pandas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provides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several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methods for indexing and slicing data, including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.loc[]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.iloc[]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,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.query()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146685" algn="l"/>
              </a:tabLst>
            </a:pPr>
            <a:r>
              <a:rPr dirty="0" sz="1700" spc="5" b="1">
                <a:solidFill>
                  <a:srgbClr val="C2132D"/>
                </a:solidFill>
                <a:latin typeface="Courier New"/>
                <a:cs typeface="Courier New"/>
              </a:rPr>
              <a:t>.loc[]</a:t>
            </a:r>
            <a:r>
              <a:rPr dirty="0" sz="1700" spc="-580" b="1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used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label-based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indexing, while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 b="1">
                <a:solidFill>
                  <a:srgbClr val="C2132D"/>
                </a:solidFill>
                <a:latin typeface="Courier New"/>
                <a:cs typeface="Courier New"/>
              </a:rPr>
              <a:t>.iloc[]</a:t>
            </a:r>
            <a:r>
              <a:rPr dirty="0" sz="1700" spc="-575" b="1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used for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positional indexing.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527685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df.loc[0:5, 'A':'C']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selects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rows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0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5 and columns A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C, and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527685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df.iloc[0:5, 0:3]</a:t>
            </a:r>
            <a:r>
              <a:rPr dirty="0" sz="1700" spc="-55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selects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first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5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rows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first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3 columns.</a:t>
            </a:r>
            <a:endParaRPr sz="1800">
              <a:latin typeface="Roboto"/>
              <a:cs typeface="Roboto"/>
            </a:endParaRPr>
          </a:p>
          <a:p>
            <a:pPr marL="146050" marR="274955" indent="-133985">
              <a:lnSpc>
                <a:spcPct val="118100"/>
              </a:lnSpc>
              <a:spcBef>
                <a:spcPts val="900"/>
              </a:spcBef>
              <a:buSzPct val="105882"/>
              <a:buFont typeface="Roboto"/>
              <a:buChar char="•"/>
              <a:tabLst>
                <a:tab pos="146685" algn="l"/>
              </a:tabLst>
            </a:pPr>
            <a:r>
              <a:rPr dirty="0" sz="1700" spc="5" b="1">
                <a:solidFill>
                  <a:srgbClr val="C2132D"/>
                </a:solidFill>
                <a:latin typeface="Courier New"/>
                <a:cs typeface="Courier New"/>
              </a:rPr>
              <a:t>.query()</a:t>
            </a:r>
            <a:r>
              <a:rPr dirty="0" sz="1700" spc="-545" b="1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used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filter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 based on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specific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conditions.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discuss this 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more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detail in the next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slides.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3585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Filtering/Querying Data with </a:t>
            </a:r>
            <a:r>
              <a:rPr dirty="0" sz="3350" spc="5">
                <a:latin typeface="Roboto Condensed"/>
                <a:cs typeface="Roboto Condensed"/>
              </a:rPr>
              <a:t>Pandas:</a:t>
            </a:r>
            <a:r>
              <a:rPr dirty="0" sz="3350" spc="-1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Syntax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9175" y="4114800"/>
            <a:ext cx="9486900" cy="200025"/>
          </a:xfrm>
          <a:prstGeom prst="rect">
            <a:avLst/>
          </a:prstGeom>
          <a:solidFill>
            <a:srgbClr val="FFDE65"/>
          </a:solidFill>
        </p:spPr>
        <p:txBody>
          <a:bodyPr wrap="square" lIns="0" tIns="0" rIns="0" bIns="0" rtlCol="0" vert="horz">
            <a:spAutoFit/>
          </a:bodyPr>
          <a:lstStyle/>
          <a:p>
            <a:pPr marL="212090">
              <a:lnSpc>
                <a:spcPts val="1480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.query(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"TOTAL &gt;= 3055456.7"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 use query to filter</a:t>
            </a:r>
            <a:r>
              <a:rPr dirty="0" sz="1400" spc="-3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data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428750"/>
            <a:ext cx="9696450" cy="35623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750"/>
              </a:spcBef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350" spc="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350">
              <a:latin typeface="Courier New"/>
              <a:cs typeface="Courier New"/>
            </a:endParaRPr>
          </a:p>
          <a:p>
            <a:pPr marL="316865" marR="7912100" indent="-208915">
              <a:lnSpc>
                <a:spcPts val="1580"/>
              </a:lnSpc>
              <a:spcBef>
                <a:spcPts val="139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duke = ( 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pd.read_excel(</a:t>
            </a:r>
            <a:endParaRPr sz="1350">
              <a:latin typeface="Courier New"/>
              <a:cs typeface="Courier New"/>
            </a:endParaRPr>
          </a:p>
          <a:p>
            <a:pPr marL="525145">
              <a:lnSpc>
                <a:spcPts val="1500"/>
              </a:lnSpc>
            </a:pP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'../../data/Actual_Hourly_Loads_by_Class_2025_20250814.xlsx'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endParaRPr sz="1350">
              <a:latin typeface="Courier New"/>
              <a:cs typeface="Courier New"/>
            </a:endParaRPr>
          </a:p>
          <a:p>
            <a:pPr marL="52514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sheet_name=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'Total Usage'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header=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endParaRPr sz="1350">
              <a:latin typeface="Courier New"/>
              <a:cs typeface="Courier New"/>
            </a:endParaRPr>
          </a:p>
          <a:p>
            <a:pPr marL="52514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350">
              <a:latin typeface="Courier New"/>
              <a:cs typeface="Courier New"/>
            </a:endParaRPr>
          </a:p>
          <a:p>
            <a:pPr marL="733425" marR="5514340" indent="-208915">
              <a:lnSpc>
                <a:spcPts val="1580"/>
              </a:lnSpc>
              <a:spcBef>
                <a:spcPts val="6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datetime =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x:  pd.to_datetime(x[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'REPORT DAY'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])</a:t>
            </a:r>
            <a:r>
              <a:rPr dirty="0" sz="1350" spc="-7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+</a:t>
            </a:r>
            <a:endParaRPr sz="1350">
              <a:latin typeface="Courier New"/>
              <a:cs typeface="Courier New"/>
            </a:endParaRPr>
          </a:p>
          <a:p>
            <a:pPr marL="733425">
              <a:lnSpc>
                <a:spcPts val="1500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pd.to_timedelta(x[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'HOUR ENDING'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-1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unit=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'h'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73342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[[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'datetime'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'TOTAL'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]]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53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ct val="100000"/>
              </a:lnSpc>
              <a:spcBef>
                <a:spcPts val="130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duke.head(n=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5219700"/>
            <a:ext cx="9696450" cy="619125"/>
          </a:xfrm>
          <a:custGeom>
            <a:avLst/>
            <a:gdLst/>
            <a:ahLst/>
            <a:cxnLst/>
            <a:rect l="l" t="t" r="r" b="b"/>
            <a:pathLst>
              <a:path w="9696450" h="619125">
                <a:moveTo>
                  <a:pt x="0" y="0"/>
                </a:moveTo>
                <a:lnTo>
                  <a:pt x="9696449" y="0"/>
                </a:lnTo>
                <a:lnTo>
                  <a:pt x="9696449" y="619124"/>
                </a:lnTo>
                <a:lnTo>
                  <a:pt x="0" y="61912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22895" y="5294616"/>
            <a:ext cx="2723515" cy="4406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ts val="1625"/>
              </a:lnSpc>
              <a:spcBef>
                <a:spcPts val="110"/>
              </a:spcBef>
              <a:tabLst>
                <a:tab pos="1875789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datetime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ts val="1625"/>
              </a:lnSpc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 198 2025-01-09</a:t>
            </a:r>
            <a:r>
              <a:rPr dirty="0" sz="1400" spc="-10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06:00:00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41660" y="5294616"/>
            <a:ext cx="1055370" cy="44069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R="5080" indent="520700">
              <a:lnSpc>
                <a:spcPts val="1570"/>
              </a:lnSpc>
              <a:spcBef>
                <a:spcPts val="254"/>
              </a:spcBef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TOTAL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 3080142.23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3567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Filtering/Querying Data with </a:t>
            </a:r>
            <a:r>
              <a:rPr dirty="0" sz="3350" spc="5">
                <a:latin typeface="Roboto Condensed"/>
                <a:cs typeface="Roboto Condensed"/>
              </a:rPr>
              <a:t>Pandas: </a:t>
            </a:r>
            <a:r>
              <a:rPr dirty="0" sz="3350" spc="10">
                <a:latin typeface="Roboto Condensed"/>
                <a:cs typeface="Roboto Condensed"/>
              </a:rPr>
              <a:t>Syntax w/</a:t>
            </a:r>
            <a:r>
              <a:rPr dirty="0" sz="33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Objects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9175" y="4486275"/>
            <a:ext cx="9486900" cy="200025"/>
          </a:xfrm>
          <a:prstGeom prst="rect">
            <a:avLst/>
          </a:prstGeom>
          <a:solidFill>
            <a:srgbClr val="FFDE65"/>
          </a:solidFill>
        </p:spPr>
        <p:txBody>
          <a:bodyPr wrap="square" lIns="0" tIns="0" rIns="0" bIns="0" rtlCol="0" vert="horz">
            <a:spAutoFit/>
          </a:bodyPr>
          <a:lstStyle/>
          <a:p>
            <a:pPr marL="212090">
              <a:lnSpc>
                <a:spcPts val="1480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.query(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"TOTAL &gt;= @total_cutoff"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 use query to filter with @ for</a:t>
            </a:r>
            <a:r>
              <a:rPr dirty="0" sz="1400" spc="-4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object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428750"/>
            <a:ext cx="9696450" cy="39338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750"/>
              </a:spcBef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350" spc="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350">
              <a:latin typeface="Courier New"/>
              <a:cs typeface="Courier New"/>
            </a:endParaRPr>
          </a:p>
          <a:p>
            <a:pPr marL="107950" marR="7182484">
              <a:lnSpc>
                <a:spcPct val="180600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total_cutoff=</a:t>
            </a:r>
            <a:r>
              <a:rPr dirty="0" sz="1350" spc="-7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3055456.7 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duke =</a:t>
            </a:r>
            <a:r>
              <a:rPr dirty="0" sz="135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(</a:t>
            </a:r>
            <a:endParaRPr sz="1350">
              <a:latin typeface="Courier New"/>
              <a:cs typeface="Courier New"/>
            </a:endParaRPr>
          </a:p>
          <a:p>
            <a:pPr marL="525145" marR="2804160" indent="-208915">
              <a:lnSpc>
                <a:spcPts val="1580"/>
              </a:lnSpc>
              <a:spcBef>
                <a:spcPts val="4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pd.read_excel(  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'../../data/Actual_Hourly_Loads_by_Class_2025_20250814.xlsx'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sheet_name=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'Total Usage'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header=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endParaRPr sz="1350">
              <a:latin typeface="Courier New"/>
              <a:cs typeface="Courier New"/>
            </a:endParaRPr>
          </a:p>
          <a:p>
            <a:pPr marL="525145">
              <a:lnSpc>
                <a:spcPts val="14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350">
              <a:latin typeface="Courier New"/>
              <a:cs typeface="Courier New"/>
            </a:endParaRPr>
          </a:p>
          <a:p>
            <a:pPr marL="733425" marR="5514340" indent="-208915">
              <a:lnSpc>
                <a:spcPts val="1580"/>
              </a:lnSpc>
              <a:spcBef>
                <a:spcPts val="6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datetime =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x:  pd.to_datetime(x[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'REPORT DAY'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])</a:t>
            </a:r>
            <a:r>
              <a:rPr dirty="0" sz="1350" spc="-7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+</a:t>
            </a:r>
            <a:endParaRPr sz="1350">
              <a:latin typeface="Courier New"/>
              <a:cs typeface="Courier New"/>
            </a:endParaRPr>
          </a:p>
          <a:p>
            <a:pPr marL="733425">
              <a:lnSpc>
                <a:spcPts val="1500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pd.to_timedelta(x[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'HOUR ENDING'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-1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unit=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'h'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73342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[[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'datetime'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'TOTAL'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]]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35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ct val="100000"/>
              </a:lnSpc>
              <a:spcBef>
                <a:spcPts val="130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duke.head(n=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5591174"/>
            <a:ext cx="9696450" cy="619125"/>
          </a:xfrm>
          <a:custGeom>
            <a:avLst/>
            <a:gdLst/>
            <a:ahLst/>
            <a:cxnLst/>
            <a:rect l="l" t="t" r="r" b="b"/>
            <a:pathLst>
              <a:path w="9696450" h="619125">
                <a:moveTo>
                  <a:pt x="0" y="0"/>
                </a:moveTo>
                <a:lnTo>
                  <a:pt x="9696449" y="0"/>
                </a:lnTo>
                <a:lnTo>
                  <a:pt x="9696449" y="619124"/>
                </a:lnTo>
                <a:lnTo>
                  <a:pt x="0" y="61912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22895" y="5666091"/>
            <a:ext cx="2723515" cy="4406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ts val="1630"/>
              </a:lnSpc>
              <a:spcBef>
                <a:spcPts val="110"/>
              </a:spcBef>
              <a:tabLst>
                <a:tab pos="1875789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datetime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ts val="1630"/>
              </a:lnSpc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 198 2025-01-09</a:t>
            </a:r>
            <a:r>
              <a:rPr dirty="0" sz="1400" spc="-10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06:00:00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41660" y="5666091"/>
            <a:ext cx="1055370" cy="44069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R="5080" indent="520700">
              <a:lnSpc>
                <a:spcPts val="1580"/>
              </a:lnSpc>
              <a:spcBef>
                <a:spcPts val="245"/>
              </a:spcBef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TOTAL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 3080142.23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6563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latin typeface="Roboto Condensed"/>
                <a:cs typeface="Roboto Condensed"/>
              </a:rPr>
              <a:t>Querying </a:t>
            </a:r>
            <a:r>
              <a:rPr dirty="0" sz="3350" spc="10">
                <a:latin typeface="Roboto Condensed"/>
                <a:cs typeface="Roboto Condensed"/>
              </a:rPr>
              <a:t>Data w/ </a:t>
            </a:r>
            <a:r>
              <a:rPr dirty="0" sz="3350" spc="5">
                <a:latin typeface="Roboto Condensed"/>
                <a:cs typeface="Roboto Condensed"/>
              </a:rPr>
              <a:t>Pandas: </a:t>
            </a:r>
            <a:r>
              <a:rPr dirty="0" sz="3350" spc="10">
                <a:latin typeface="Roboto Condensed"/>
                <a:cs typeface="Roboto Condensed"/>
              </a:rPr>
              <a:t>No Spaces in Col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15">
                <a:latin typeface="Roboto Condensed"/>
                <a:cs typeface="Roboto Condensed"/>
              </a:rPr>
              <a:t>Names</a:t>
            </a:r>
            <a:endParaRPr sz="3350">
              <a:latin typeface="Roboto Condensed"/>
              <a:cs typeface="Roboto Condensed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400" y="1428750"/>
          <a:ext cx="9696450" cy="4410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"/>
                <a:gridCol w="1619250"/>
                <a:gridCol w="1563370"/>
                <a:gridCol w="6303645"/>
                <a:gridCol w="104775"/>
              </a:tblGrid>
              <a:tr h="2467468">
                <a:tc gridSpan="4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350" spc="10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import 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pandas </a:t>
                      </a:r>
                      <a:r>
                        <a:rPr dirty="0" sz="1350" spc="10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dirty="0" sz="1350" spc="5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pd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316865" marR="7912100" indent="-208915">
                        <a:lnSpc>
                          <a:spcPts val="1580"/>
                        </a:lnSpc>
                        <a:spcBef>
                          <a:spcPts val="1390"/>
                        </a:spcBef>
                      </a:pPr>
                      <a:r>
                        <a:rPr dirty="0" sz="135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duke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( pd.read_excel(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525145">
                        <a:lnSpc>
                          <a:spcPts val="1500"/>
                        </a:lnSpc>
                      </a:pPr>
                      <a:r>
                        <a:rPr dirty="0" sz="1350" spc="1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'../../data/Actual_Hourly_Loads_by_Class_2025_20250814.xlsx'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525145">
                        <a:lnSpc>
                          <a:spcPts val="1575"/>
                        </a:lnSpc>
                      </a:pP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sheet_name=</a:t>
                      </a:r>
                      <a:r>
                        <a:rPr dirty="0" sz="1350" spc="1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'Total Usage'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dirty="0" sz="1350" spc="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header=</a:t>
                      </a:r>
                      <a:r>
                        <a:rPr dirty="0" sz="1350" spc="10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525145">
                        <a:lnSpc>
                          <a:spcPts val="1575"/>
                        </a:lnSpc>
                      </a:pPr>
                      <a:r>
                        <a:rPr dirty="0" sz="135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316865">
                        <a:lnSpc>
                          <a:spcPts val="1575"/>
                        </a:lnSpc>
                      </a:pP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.assign(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733425" marR="5514340" indent="-208915">
                        <a:lnSpc>
                          <a:spcPts val="1580"/>
                        </a:lnSpc>
                        <a:spcBef>
                          <a:spcPts val="65"/>
                        </a:spcBef>
                      </a:pP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datetime = </a:t>
                      </a:r>
                      <a:r>
                        <a:rPr dirty="0" sz="1350" spc="10" b="1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lambda 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x:  pd.to_datetime(x[</a:t>
                      </a:r>
                      <a:r>
                        <a:rPr dirty="0" sz="1350" spc="1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'REPORT DAY'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])  +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733425">
                        <a:lnSpc>
                          <a:spcPts val="1500"/>
                        </a:lnSpc>
                      </a:pP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pd.to_timedelta(x[</a:t>
                      </a:r>
                      <a:r>
                        <a:rPr dirty="0" sz="1350" spc="1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'HOUR ENDING'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r>
                        <a:rPr dirty="0" sz="1350" spc="10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dirty="0" sz="1350" spc="5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unit=</a:t>
                      </a:r>
                      <a:r>
                        <a:rPr dirty="0" sz="1350" spc="1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'h'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733425">
                        <a:lnSpc>
                          <a:spcPts val="1455"/>
                        </a:lnSpc>
                      </a:pPr>
                      <a:r>
                        <a:rPr dirty="0" sz="135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95250"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6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3815">
                        <a:lnSpc>
                          <a:spcPts val="1525"/>
                        </a:lnSpc>
                      </a:pPr>
                      <a:r>
                        <a:rPr dirty="0" sz="135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[[</a:t>
                      </a:r>
                      <a:r>
                        <a:rPr dirty="0" sz="135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'datetime'</a:t>
                      </a:r>
                      <a:r>
                        <a:rPr dirty="0" sz="135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25"/>
                        </a:lnSpc>
                      </a:pPr>
                      <a:r>
                        <a:rPr dirty="0" sz="1350" spc="1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'HOUR</a:t>
                      </a:r>
                      <a:r>
                        <a:rPr dirty="0" sz="1350" spc="-55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ENDING'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25"/>
                        </a:lnSpc>
                      </a:pPr>
                      <a:r>
                        <a:rPr dirty="0" sz="1350" spc="1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'TOTAL'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]]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3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4450">
                        <a:lnSpc>
                          <a:spcPts val="1500"/>
                        </a:lnSpc>
                      </a:pPr>
                      <a:r>
                        <a:rPr dirty="0" sz="135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.query(</a:t>
                      </a:r>
                      <a:r>
                        <a:rPr dirty="0" sz="135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"`HOUR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DE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dirty="0" sz="1350" spc="1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ENDING` ==</a:t>
                      </a:r>
                      <a:r>
                        <a:rPr dirty="0" sz="1350" spc="-65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DD1144"/>
                          </a:solidFill>
                          <a:latin typeface="Courier New"/>
                          <a:cs typeface="Courier New"/>
                        </a:rPr>
                        <a:t>8"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DE65"/>
                    </a:solidFill>
                  </a:tcPr>
                </a:tc>
                <a:tc>
                  <a:txBody>
                    <a:bodyPr/>
                    <a:lstStyle/>
                    <a:p>
                      <a:pPr marL="260350" indent="-208915">
                        <a:lnSpc>
                          <a:spcPts val="1500"/>
                        </a:lnSpc>
                        <a:buChar char="❖"/>
                        <a:tabLst>
                          <a:tab pos="260985" algn="l"/>
                        </a:tabLst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use backticks ` ` for spaces in col</a:t>
                      </a:r>
                      <a:r>
                        <a:rPr dirty="0" sz="1400" spc="-4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names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FDE65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85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540"/>
                        </a:lnSpc>
                      </a:pPr>
                      <a:r>
                        <a:rPr dirty="0" sz="135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399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duke.head(n=</a:t>
                      </a:r>
                      <a:r>
                        <a:rPr dirty="0" sz="1350" spc="10">
                          <a:solidFill>
                            <a:srgbClr val="00808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350" spc="10">
                          <a:solidFill>
                            <a:srgbClr val="333333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75565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28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6191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ts val="1625"/>
                        </a:lnSpc>
                        <a:spcBef>
                          <a:spcPts val="700"/>
                        </a:spcBef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  <a:p>
                      <a:pPr marL="3175">
                        <a:lnSpc>
                          <a:spcPts val="162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 7</a:t>
                      </a:r>
                      <a:r>
                        <a:rPr dirty="0" sz="1400" spc="-9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2025-01-01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889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44450">
                        <a:lnSpc>
                          <a:spcPts val="1570"/>
                        </a:lnSpc>
                        <a:spcBef>
                          <a:spcPts val="840"/>
                        </a:spcBef>
                        <a:tabLst>
                          <a:tab pos="1094105" algn="l"/>
                        </a:tabLst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datetime</a:t>
                      </a: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HOUR </a:t>
                      </a: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07:00:00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10668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572770" marR="4472305" indent="-521334">
                        <a:lnSpc>
                          <a:spcPts val="1570"/>
                        </a:lnSpc>
                        <a:spcBef>
                          <a:spcPts val="840"/>
                        </a:spcBef>
                        <a:tabLst>
                          <a:tab pos="885825" algn="l"/>
                          <a:tab pos="1406525" algn="l"/>
                        </a:tabLst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ENDING 		</a:t>
                      </a: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TOTAL</a:t>
                      </a:r>
                      <a:r>
                        <a:rPr dirty="0" sz="1400" spc="-1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8 </a:t>
                      </a: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	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2006013.99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10668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591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Filtering/Querying Data with </a:t>
            </a:r>
            <a:r>
              <a:rPr dirty="0" sz="3350" spc="5">
                <a:latin typeface="Roboto Condensed"/>
                <a:cs typeface="Roboto Condensed"/>
              </a:rPr>
              <a:t>Pandas: </a:t>
            </a:r>
            <a:r>
              <a:rPr dirty="0" sz="3350" spc="10">
                <a:latin typeface="Roboto Condensed"/>
                <a:cs typeface="Roboto Condensed"/>
              </a:rPr>
              <a:t>Multiple</a:t>
            </a:r>
            <a:r>
              <a:rPr dirty="0" sz="335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Conditions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50" cy="3562350"/>
          </a:xfrm>
          <a:custGeom>
            <a:avLst/>
            <a:gdLst/>
            <a:ahLst/>
            <a:cxnLst/>
            <a:rect l="l" t="t" r="r" b="b"/>
            <a:pathLst>
              <a:path w="9696450" h="3562350">
                <a:moveTo>
                  <a:pt x="0" y="0"/>
                </a:moveTo>
                <a:lnTo>
                  <a:pt x="9696449" y="0"/>
                </a:lnTo>
                <a:lnTo>
                  <a:pt x="969644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19175" y="4114800"/>
            <a:ext cx="9486900" cy="200025"/>
          </a:xfrm>
          <a:custGeom>
            <a:avLst/>
            <a:gdLst/>
            <a:ahLst/>
            <a:cxnLst/>
            <a:rect l="l" t="t" r="r" b="b"/>
            <a:pathLst>
              <a:path w="9486900" h="200025">
                <a:moveTo>
                  <a:pt x="0" y="0"/>
                </a:moveTo>
                <a:lnTo>
                  <a:pt x="9486899" y="0"/>
                </a:lnTo>
                <a:lnTo>
                  <a:pt x="94868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FDE6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22895" y="1509013"/>
            <a:ext cx="9486265" cy="33775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350" spc="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350">
              <a:latin typeface="Courier New"/>
              <a:cs typeface="Courier New"/>
            </a:endParaRPr>
          </a:p>
          <a:p>
            <a:pPr marL="208279" marR="7810500" indent="-208915">
              <a:lnSpc>
                <a:spcPts val="1580"/>
              </a:lnSpc>
              <a:spcBef>
                <a:spcPts val="139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duke = ( 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pd.read_excel(</a:t>
            </a:r>
            <a:endParaRPr sz="1350">
              <a:latin typeface="Courier New"/>
              <a:cs typeface="Courier New"/>
            </a:endParaRPr>
          </a:p>
          <a:p>
            <a:pPr marL="416559">
              <a:lnSpc>
                <a:spcPts val="1500"/>
              </a:lnSpc>
            </a:pP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'../../data/Actual_Hourly_Loads_by_Class_2025_20250814.xlsx'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endParaRPr sz="1350">
              <a:latin typeface="Courier New"/>
              <a:cs typeface="Courier New"/>
            </a:endParaRPr>
          </a:p>
          <a:p>
            <a:pPr marL="416559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sheet_name=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'Total Usage'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header=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endParaRPr sz="1350">
              <a:latin typeface="Courier New"/>
              <a:cs typeface="Courier New"/>
            </a:endParaRPr>
          </a:p>
          <a:p>
            <a:pPr marL="416559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208279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350">
              <a:latin typeface="Courier New"/>
              <a:cs typeface="Courier New"/>
            </a:endParaRPr>
          </a:p>
          <a:p>
            <a:pPr marL="624840" marR="5412740" indent="-208915">
              <a:lnSpc>
                <a:spcPts val="1580"/>
              </a:lnSpc>
              <a:spcBef>
                <a:spcPts val="6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datetime =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x:  pd.to_datetime(x[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'REPORT DAY'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])</a:t>
            </a:r>
            <a:r>
              <a:rPr dirty="0" sz="1350" spc="-7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+</a:t>
            </a:r>
            <a:endParaRPr sz="1350">
              <a:latin typeface="Courier New"/>
              <a:cs typeface="Courier New"/>
            </a:endParaRPr>
          </a:p>
          <a:p>
            <a:pPr marL="624840">
              <a:lnSpc>
                <a:spcPts val="1500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pd.to_timedelta(x[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'HOUR ENDING'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-1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unit=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'h'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624840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208279">
              <a:lnSpc>
                <a:spcPts val="1550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[[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'datetime'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'TOTAL'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]]</a:t>
            </a:r>
            <a:endParaRPr sz="1350">
              <a:latin typeface="Courier New"/>
              <a:cs typeface="Courier New"/>
            </a:endParaRPr>
          </a:p>
          <a:p>
            <a:pPr marL="208279">
              <a:lnSpc>
                <a:spcPts val="160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.query(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"TOTAL &gt;= 3055456 and datetime &gt;= '2025-02-01'"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 use and for multiple</a:t>
            </a:r>
            <a:r>
              <a:rPr dirty="0" sz="140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conditions</a:t>
            </a:r>
            <a:endParaRPr sz="1400">
              <a:latin typeface="Courier New"/>
              <a:cs typeface="Courier New"/>
            </a:endParaRPr>
          </a:p>
          <a:p>
            <a:pPr marL="208279">
              <a:lnSpc>
                <a:spcPts val="1590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duke.head(n=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5219700"/>
            <a:ext cx="9696450" cy="619125"/>
          </a:xfrm>
          <a:custGeom>
            <a:avLst/>
            <a:gdLst/>
            <a:ahLst/>
            <a:cxnLst/>
            <a:rect l="l" t="t" r="r" b="b"/>
            <a:pathLst>
              <a:path w="9696450" h="619125">
                <a:moveTo>
                  <a:pt x="0" y="0"/>
                </a:moveTo>
                <a:lnTo>
                  <a:pt x="9696449" y="0"/>
                </a:lnTo>
                <a:lnTo>
                  <a:pt x="9696449" y="619124"/>
                </a:lnTo>
                <a:lnTo>
                  <a:pt x="0" y="61912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22895" y="5294616"/>
            <a:ext cx="2827655" cy="4406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ts val="1625"/>
              </a:lnSpc>
              <a:spcBef>
                <a:spcPts val="110"/>
              </a:spcBef>
              <a:tabLst>
                <a:tab pos="1979930" algn="l"/>
              </a:tabLst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	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datetime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ts val="1625"/>
              </a:lnSpc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## 1063 2025-02-14</a:t>
            </a:r>
            <a:r>
              <a:rPr dirty="0" sz="1400" spc="-10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07:00:00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45901" y="5294616"/>
            <a:ext cx="1055370" cy="44069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R="5080" indent="520700">
              <a:lnSpc>
                <a:spcPts val="1570"/>
              </a:lnSpc>
              <a:spcBef>
                <a:spcPts val="254"/>
              </a:spcBef>
            </a:pP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TOTAL </a:t>
            </a:r>
            <a:r>
              <a:rPr dirty="0" sz="1400" spc="-20" i="1">
                <a:solidFill>
                  <a:srgbClr val="999987"/>
                </a:solidFill>
                <a:latin typeface="Courier New"/>
                <a:cs typeface="Courier New"/>
              </a:rPr>
              <a:t> 3101980.42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928609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How Filtering/Querying is Used in</a:t>
            </a:r>
            <a:r>
              <a:rPr dirty="0" sz="3350" spc="-30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Forecasting?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03385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Filtering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querying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essential 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select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relevant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</a:t>
            </a:r>
            <a:r>
              <a:rPr dirty="0" sz="1800" spc="5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analysis.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example, we can use data prior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2024 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training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model, and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2024 for testing the model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evaluate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performance.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2407" y="2952273"/>
            <a:ext cx="7996877" cy="29929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06666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10">
                <a:latin typeface="Roboto Condensed"/>
                <a:cs typeface="Roboto Condensed"/>
              </a:rPr>
              <a:t>Kahoot Competition</a:t>
            </a:r>
            <a:r>
              <a:rPr dirty="0" sz="4100" spc="-50">
                <a:latin typeface="Roboto Condensed"/>
                <a:cs typeface="Roboto Condensed"/>
              </a:rPr>
              <a:t> </a:t>
            </a:r>
            <a:r>
              <a:rPr dirty="0" sz="4100" spc="10">
                <a:latin typeface="Roboto Condensed"/>
                <a:cs typeface="Roboto Condensed"/>
              </a:rPr>
              <a:t>#02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80819"/>
            <a:ext cx="9627235" cy="446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4139">
              <a:lnSpc>
                <a:spcPct val="118100"/>
              </a:lnSpc>
              <a:spcBef>
                <a:spcPts val="100"/>
              </a:spcBef>
            </a:pP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assess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understanding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retention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topics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covered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far,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compete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 Kahoot competition (consisting of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5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 questions)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Download and inspect 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01_hotel_occupancy.csv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Go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https://kahoot.it/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Enter the game pin, which will be shown during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Provide your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first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(preferred)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last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name</a:t>
            </a:r>
            <a:endParaRPr sz="1800">
              <a:latin typeface="Roboto"/>
              <a:cs typeface="Roboto"/>
            </a:endParaRPr>
          </a:p>
          <a:p>
            <a:pPr marL="393065" marR="8890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Answer each question within the allocated time window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fast and correct answers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provide 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more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points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)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14599"/>
              </a:lnSpc>
              <a:spcBef>
                <a:spcPts val="1875"/>
              </a:spcBef>
              <a:tabLst>
                <a:tab pos="614299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Winning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competition involves having as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many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correct answers as possible AND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taking the  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shortest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duration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answer these questions.</a:t>
            </a:r>
            <a:r>
              <a:rPr dirty="0" sz="1800" spc="3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winner	of the competition will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receive</a:t>
            </a: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0.15 bonus on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Assignment 02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 Good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luck!!!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34175" y="5363104"/>
            <a:ext cx="256540" cy="227965"/>
          </a:xfrm>
          <a:custGeom>
            <a:avLst/>
            <a:gdLst/>
            <a:ahLst/>
            <a:cxnLst/>
            <a:rect l="l" t="t" r="r" b="b"/>
            <a:pathLst>
              <a:path w="256540" h="227964">
                <a:moveTo>
                  <a:pt x="198387" y="28442"/>
                </a:moveTo>
                <a:lnTo>
                  <a:pt x="57596" y="28442"/>
                </a:lnTo>
                <a:lnTo>
                  <a:pt x="57463" y="26131"/>
                </a:lnTo>
                <a:lnTo>
                  <a:pt x="57285" y="21420"/>
                </a:lnTo>
                <a:lnTo>
                  <a:pt x="58712" y="13124"/>
                </a:lnTo>
                <a:lnTo>
                  <a:pt x="63168" y="6310"/>
                </a:lnTo>
                <a:lnTo>
                  <a:pt x="69915" y="1697"/>
                </a:lnTo>
                <a:lnTo>
                  <a:pt x="78217" y="0"/>
                </a:lnTo>
                <a:lnTo>
                  <a:pt x="177766" y="0"/>
                </a:lnTo>
                <a:lnTo>
                  <a:pt x="186068" y="1697"/>
                </a:lnTo>
                <a:lnTo>
                  <a:pt x="192816" y="6310"/>
                </a:lnTo>
                <a:lnTo>
                  <a:pt x="197271" y="13124"/>
                </a:lnTo>
                <a:lnTo>
                  <a:pt x="198698" y="21420"/>
                </a:lnTo>
                <a:lnTo>
                  <a:pt x="198521" y="26131"/>
                </a:lnTo>
                <a:lnTo>
                  <a:pt x="198387" y="28442"/>
                </a:lnTo>
                <a:close/>
              </a:path>
              <a:path w="256540" h="227964">
                <a:moveTo>
                  <a:pt x="149768" y="199098"/>
                </a:moveTo>
                <a:lnTo>
                  <a:pt x="106215" y="199098"/>
                </a:lnTo>
                <a:lnTo>
                  <a:pt x="113770" y="191543"/>
                </a:lnTo>
                <a:lnTo>
                  <a:pt x="113770" y="182255"/>
                </a:lnTo>
                <a:lnTo>
                  <a:pt x="81977" y="157357"/>
                </a:lnTo>
                <a:lnTo>
                  <a:pt x="66323" y="150496"/>
                </a:lnTo>
                <a:lnTo>
                  <a:pt x="34886" y="128303"/>
                </a:lnTo>
                <a:lnTo>
                  <a:pt x="9943" y="91855"/>
                </a:lnTo>
                <a:lnTo>
                  <a:pt x="0" y="39108"/>
                </a:lnTo>
                <a:lnTo>
                  <a:pt x="0" y="33197"/>
                </a:lnTo>
                <a:lnTo>
                  <a:pt x="4755" y="28442"/>
                </a:lnTo>
                <a:lnTo>
                  <a:pt x="251229" y="28442"/>
                </a:lnTo>
                <a:lnTo>
                  <a:pt x="255984" y="33197"/>
                </a:lnTo>
                <a:lnTo>
                  <a:pt x="255984" y="39108"/>
                </a:lnTo>
                <a:lnTo>
                  <a:pt x="254999" y="49774"/>
                </a:lnTo>
                <a:lnTo>
                  <a:pt x="21776" y="49774"/>
                </a:lnTo>
                <a:lnTo>
                  <a:pt x="25088" y="70142"/>
                </a:lnTo>
                <a:lnTo>
                  <a:pt x="49774" y="113015"/>
                </a:lnTo>
                <a:lnTo>
                  <a:pt x="82306" y="134480"/>
                </a:lnTo>
                <a:lnTo>
                  <a:pt x="213621" y="134480"/>
                </a:lnTo>
                <a:lnTo>
                  <a:pt x="205733" y="140960"/>
                </a:lnTo>
                <a:lnTo>
                  <a:pt x="189699" y="150496"/>
                </a:lnTo>
                <a:lnTo>
                  <a:pt x="174032" y="157357"/>
                </a:lnTo>
                <a:lnTo>
                  <a:pt x="159723" y="161990"/>
                </a:lnTo>
                <a:lnTo>
                  <a:pt x="152560" y="165150"/>
                </a:lnTo>
                <a:lnTo>
                  <a:pt x="147042" y="169939"/>
                </a:lnTo>
                <a:lnTo>
                  <a:pt x="143479" y="175820"/>
                </a:lnTo>
                <a:lnTo>
                  <a:pt x="142213" y="182255"/>
                </a:lnTo>
                <a:lnTo>
                  <a:pt x="142213" y="191543"/>
                </a:lnTo>
                <a:lnTo>
                  <a:pt x="149768" y="199098"/>
                </a:lnTo>
                <a:close/>
              </a:path>
              <a:path w="256540" h="227964">
                <a:moveTo>
                  <a:pt x="173722" y="134480"/>
                </a:moveTo>
                <a:lnTo>
                  <a:pt x="82306" y="134480"/>
                </a:lnTo>
                <a:lnTo>
                  <a:pt x="75014" y="119320"/>
                </a:lnTo>
                <a:lnTo>
                  <a:pt x="68506" y="100427"/>
                </a:lnTo>
                <a:lnTo>
                  <a:pt x="63132" y="77384"/>
                </a:lnTo>
                <a:lnTo>
                  <a:pt x="59240" y="49774"/>
                </a:lnTo>
                <a:lnTo>
                  <a:pt x="196787" y="49774"/>
                </a:lnTo>
                <a:lnTo>
                  <a:pt x="192896" y="77384"/>
                </a:lnTo>
                <a:lnTo>
                  <a:pt x="187521" y="100427"/>
                </a:lnTo>
                <a:lnTo>
                  <a:pt x="181013" y="119320"/>
                </a:lnTo>
                <a:lnTo>
                  <a:pt x="173722" y="134480"/>
                </a:lnTo>
                <a:close/>
              </a:path>
              <a:path w="256540" h="227964">
                <a:moveTo>
                  <a:pt x="213621" y="134480"/>
                </a:moveTo>
                <a:lnTo>
                  <a:pt x="173722" y="134480"/>
                </a:lnTo>
                <a:lnTo>
                  <a:pt x="182074" y="130426"/>
                </a:lnTo>
                <a:lnTo>
                  <a:pt x="190405" y="125547"/>
                </a:lnTo>
                <a:lnTo>
                  <a:pt x="198527" y="119769"/>
                </a:lnTo>
                <a:lnTo>
                  <a:pt x="206254" y="113015"/>
                </a:lnTo>
                <a:lnTo>
                  <a:pt x="216335" y="101446"/>
                </a:lnTo>
                <a:lnTo>
                  <a:pt x="224764" y="87261"/>
                </a:lnTo>
                <a:lnTo>
                  <a:pt x="230959" y="70142"/>
                </a:lnTo>
                <a:lnTo>
                  <a:pt x="234296" y="49774"/>
                </a:lnTo>
                <a:lnTo>
                  <a:pt x="254999" y="49774"/>
                </a:lnTo>
                <a:lnTo>
                  <a:pt x="253346" y="67675"/>
                </a:lnTo>
                <a:lnTo>
                  <a:pt x="246046" y="91855"/>
                </a:lnTo>
                <a:lnTo>
                  <a:pt x="235004" y="111960"/>
                </a:lnTo>
                <a:lnTo>
                  <a:pt x="221142" y="128303"/>
                </a:lnTo>
                <a:lnTo>
                  <a:pt x="213621" y="134480"/>
                </a:lnTo>
                <a:close/>
              </a:path>
              <a:path w="256540" h="227964">
                <a:moveTo>
                  <a:pt x="178522" y="227541"/>
                </a:moveTo>
                <a:lnTo>
                  <a:pt x="77461" y="227541"/>
                </a:lnTo>
                <a:lnTo>
                  <a:pt x="71106" y="221186"/>
                </a:lnTo>
                <a:lnTo>
                  <a:pt x="71106" y="205454"/>
                </a:lnTo>
                <a:lnTo>
                  <a:pt x="77461" y="199098"/>
                </a:lnTo>
                <a:lnTo>
                  <a:pt x="178522" y="199098"/>
                </a:lnTo>
                <a:lnTo>
                  <a:pt x="184877" y="205454"/>
                </a:lnTo>
                <a:lnTo>
                  <a:pt x="184877" y="221186"/>
                </a:lnTo>
                <a:lnTo>
                  <a:pt x="178522" y="227541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077108"/>
            <a:ext cx="9280525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-30" b="1">
                <a:solidFill>
                  <a:srgbClr val="C2132D"/>
                </a:solidFill>
                <a:latin typeface="Roboto"/>
                <a:cs typeface="Roboto"/>
              </a:rPr>
              <a:t>P.S: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Kahoot competition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will have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no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negative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impact on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your grade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It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fun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way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assessing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knowledge,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motivating you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ask questions about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topics covered that you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do not 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have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full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understanding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it,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providing </a:t>
            </a:r>
            <a:r>
              <a:rPr dirty="0" sz="850" spc="20">
                <a:solidFill>
                  <a:srgbClr val="585D60"/>
                </a:solidFill>
                <a:latin typeface="Roboto"/>
                <a:cs typeface="Roboto"/>
              </a:rPr>
              <a:t>me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some data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that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I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can use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pace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today's</a:t>
            </a:r>
            <a:r>
              <a:rPr dirty="0" sz="850" spc="-1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class.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32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35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1009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15">
                <a:latin typeface="Roboto Condensed"/>
                <a:cs typeface="Roboto Condensed"/>
              </a:rPr>
              <a:t>Summary </a:t>
            </a:r>
            <a:r>
              <a:rPr dirty="0" sz="4100" spc="10">
                <a:latin typeface="Roboto Condensed"/>
                <a:cs typeface="Roboto Condensed"/>
              </a:rPr>
              <a:t>of Main</a:t>
            </a:r>
            <a:r>
              <a:rPr dirty="0" sz="4100" spc="-55">
                <a:latin typeface="Roboto Condensed"/>
                <a:cs typeface="Roboto Condensed"/>
              </a:rPr>
              <a:t> </a:t>
            </a:r>
            <a:r>
              <a:rPr dirty="0" sz="4100" spc="5">
                <a:latin typeface="Roboto Condensed"/>
                <a:cs typeface="Roboto Condensed"/>
              </a:rPr>
              <a:t>Points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5994400" cy="2147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able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 the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Setting up Python (Colab, Anaconda, and/or VS</a:t>
            </a:r>
            <a:r>
              <a:rPr dirty="0" sz="1800" spc="-5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Code)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Practice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basic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reading (from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CSVs and the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Web)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800" spc="-2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panda's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datatime, indexing, and slicing</a:t>
            </a:r>
            <a:r>
              <a:rPr dirty="0" sz="1800" spc="-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capabilities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(Optional) Discuss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generative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AI usage in Google</a:t>
            </a:r>
            <a:r>
              <a:rPr dirty="0" sz="1800" spc="-7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Colab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2690"/>
            <a:ext cx="5445760" cy="5492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00" spc="2080">
                <a:latin typeface="Arial"/>
                <a:cs typeface="Arial"/>
              </a:rPr>
              <a:t>📝</a:t>
            </a:r>
            <a:r>
              <a:rPr dirty="0" sz="3400" spc="-225">
                <a:latin typeface="Arial"/>
                <a:cs typeface="Arial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Review </a:t>
            </a:r>
            <a:r>
              <a:rPr dirty="0" sz="3350" spc="10">
                <a:latin typeface="Roboto Condensed"/>
                <a:cs typeface="Roboto Condensed"/>
              </a:rPr>
              <a:t>and </a:t>
            </a:r>
            <a:r>
              <a:rPr dirty="0" sz="3350" spc="-5">
                <a:latin typeface="Roboto Condensed"/>
                <a:cs typeface="Roboto Condensed"/>
              </a:rPr>
              <a:t>Clarification </a:t>
            </a:r>
            <a:r>
              <a:rPr dirty="0" sz="3400" spc="2080">
                <a:latin typeface="Arial"/>
                <a:cs typeface="Arial"/>
              </a:rPr>
              <a:t>📝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13240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Class Notes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Take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some time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revisit 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notes for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insights and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concepts.</a:t>
            </a:r>
            <a:endParaRPr sz="1800">
              <a:latin typeface="Roboto"/>
              <a:cs typeface="Roboto"/>
            </a:endParaRPr>
          </a:p>
          <a:p>
            <a:pPr marL="146050" marR="1016635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Zoom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Recording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recording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today's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will be made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available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Canvas  approximately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3-4 hours after the session ends.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Questions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Please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don't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hesitate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ask 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clarification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any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topics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discussed in class.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It's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crucial not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questions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accumulate.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33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2690"/>
            <a:ext cx="5578475" cy="5492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00" spc="2080">
                <a:latin typeface="Arial"/>
                <a:cs typeface="Arial"/>
              </a:rPr>
              <a:t>📖</a:t>
            </a:r>
            <a:r>
              <a:rPr dirty="0" sz="3400" spc="-210">
                <a:latin typeface="Arial"/>
                <a:cs typeface="Arial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Recommended Readings </a:t>
            </a:r>
            <a:r>
              <a:rPr dirty="0" sz="3400" spc="2080">
                <a:latin typeface="Arial"/>
                <a:cs typeface="Arial"/>
              </a:rPr>
              <a:t>📖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8968740" cy="323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Read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following sections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Pandas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Documentation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10 Minutes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to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Pandas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Pandas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I/O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Indexing and Selecting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Data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6"/>
              </a:rPr>
              <a:t>Time Series / Date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6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6"/>
              </a:rPr>
              <a:t>functionality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7"/>
              </a:rPr>
              <a:t>Comparison with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7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7"/>
              </a:rPr>
              <a:t>SQL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Additionally,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keep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copy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8"/>
              </a:rPr>
              <a:t>Pandas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8"/>
              </a:rPr>
              <a:t>Cheat Sheet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a quick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reference 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 most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important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functions and methods in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Pandas.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444/544: Business Forecasting</dc:title>
  <dcterms:created xsi:type="dcterms:W3CDTF">2025-08-27T23:25:55Z</dcterms:created>
  <dcterms:modified xsi:type="dcterms:W3CDTF">2025-08-27T23:25:55Z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2025-08-27T00:00:00Z</vt:filetime>
  </property>
  <property fmtid="{D5CDD505-2E9C-101B-9397-08002B2CF9AE}" pid="3" name="Creator">
    <vt:lpwstr>Mozilla/5.0 (Windows NT 10.0; Win64; x64) AppleWebKit/537.36 (KHTML, like Gecko) Chrome/139.0.0.0 Safari/537.36</vt:lpwstr>
  </property>
  <property fmtid="{D5CDD505-2E9C-101B-9397-08002B2CF9AE}" pid="4" name="LastSaved">
    <vt:filetime>2025-08-27T00:00:00Z</vt:filetime>
  </property>
</Properties>
</file>