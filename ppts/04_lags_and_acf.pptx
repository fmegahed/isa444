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Default Extension="jpg" ContentType="image/jpg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1531600" cy="6489700"/>
  <p:notesSz cx="11531600" cy="64897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64870" y="2011807"/>
            <a:ext cx="9801860" cy="13628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29740" y="3634232"/>
            <a:ext cx="8072120" cy="1622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17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C2132D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17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C2132D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6580" y="1492631"/>
            <a:ext cx="5016246" cy="4283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938774" y="1492631"/>
            <a:ext cx="5016246" cy="4283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17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C2132D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17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17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9052" y="320675"/>
            <a:ext cx="10653494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C2132D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69605" y="1425575"/>
            <a:ext cx="9592389" cy="1814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920744" y="6035421"/>
            <a:ext cx="3690112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6580" y="6035421"/>
            <a:ext cx="2652268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853587" y="6218137"/>
            <a:ext cx="532129" cy="204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17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twitter.com/FadelMegahed" TargetMode="External"/><Relationship Id="rId3" Type="http://schemas.openxmlformats.org/officeDocument/2006/relationships/hyperlink" Target="https://github.com/fmegahed/" TargetMode="External"/><Relationship Id="rId4" Type="http://schemas.openxmlformats.org/officeDocument/2006/relationships/hyperlink" Target="mailto:fmegahed@miamioh.edu" TargetMode="External"/><Relationship Id="rId5" Type="http://schemas.openxmlformats.org/officeDocument/2006/relationships/hyperlink" Target="https://calendly.com/fmegahed" TargetMode="External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3.png"/><Relationship Id="rId9" Type="http://schemas.openxmlformats.org/officeDocument/2006/relationships/image" Target="../media/image4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6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1700" y="1198165"/>
            <a:ext cx="7805420" cy="1139190"/>
          </a:xfrm>
          <a:prstGeom prst="rect"/>
        </p:spPr>
        <p:txBody>
          <a:bodyPr wrap="square" lIns="0" tIns="908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3350" spc="10">
                <a:solidFill>
                  <a:srgbClr val="FFFFFF"/>
                </a:solidFill>
                <a:latin typeface="Roboto Condensed"/>
                <a:cs typeface="Roboto Condensed"/>
              </a:rPr>
              <a:t>ISA 444/544: Business</a:t>
            </a:r>
            <a:r>
              <a:rPr dirty="0" sz="3350" spc="-15">
                <a:solidFill>
                  <a:srgbClr val="FFFFFF"/>
                </a:solidFill>
                <a:latin typeface="Roboto Condensed"/>
                <a:cs typeface="Roboto Condensed"/>
              </a:rPr>
              <a:t> </a:t>
            </a:r>
            <a:r>
              <a:rPr dirty="0" sz="3350" spc="5">
                <a:solidFill>
                  <a:srgbClr val="FFFFFF"/>
                </a:solidFill>
                <a:latin typeface="Roboto Condensed"/>
                <a:cs typeface="Roboto Condensed"/>
              </a:rPr>
              <a:t>Forecasting</a:t>
            </a:r>
            <a:endParaRPr sz="3350">
              <a:latin typeface="Roboto Condensed"/>
              <a:cs typeface="Roboto Condensed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04: Plotting a Single </a:t>
            </a:r>
            <a:r>
              <a:rPr dirty="0" sz="3000" spc="-30">
                <a:solidFill>
                  <a:srgbClr val="FFFFFF"/>
                </a:solidFill>
                <a:latin typeface="Times New Roman"/>
                <a:cs typeface="Times New Roman"/>
              </a:rPr>
              <a:t>Time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Series in Python</a:t>
            </a:r>
            <a:r>
              <a:rPr dirty="0" sz="3000" spc="-114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(Cont.)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2873375"/>
            <a:ext cx="4276725" cy="33115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Fadel M. Megahed,</a:t>
            </a:r>
            <a:r>
              <a:rPr dirty="0" sz="185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5">
                <a:solidFill>
                  <a:srgbClr val="FFFFFF"/>
                </a:solidFill>
                <a:latin typeface="Arial"/>
                <a:cs typeface="Arial"/>
              </a:rPr>
              <a:t>PhD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800">
              <a:latin typeface="Arial"/>
              <a:cs typeface="Arial"/>
            </a:endParaRPr>
          </a:p>
          <a:p>
            <a:pPr marL="12700" marR="20320">
              <a:lnSpc>
                <a:spcPts val="2100"/>
              </a:lnSpc>
            </a:pPr>
            <a:r>
              <a:rPr dirty="0" sz="1850" spc="15">
                <a:solidFill>
                  <a:srgbClr val="FFFFFF"/>
                </a:solidFill>
                <a:latin typeface="Arial"/>
                <a:cs typeface="Arial"/>
              </a:rPr>
              <a:t>Raymond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E. Glos Professor </a:t>
            </a:r>
            <a:r>
              <a:rPr dirty="0" sz="1850" spc="5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85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Business  Farmer School of</a:t>
            </a:r>
            <a:r>
              <a:rPr dirty="0" sz="185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Business</a:t>
            </a:r>
            <a:endParaRPr sz="1850">
              <a:latin typeface="Arial"/>
              <a:cs typeface="Arial"/>
            </a:endParaRPr>
          </a:p>
          <a:p>
            <a:pPr marL="12700">
              <a:lnSpc>
                <a:spcPts val="1975"/>
              </a:lnSpc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Miami</a:t>
            </a:r>
            <a:r>
              <a:rPr dirty="0" sz="18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University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750">
              <a:latin typeface="Arial"/>
              <a:cs typeface="Arial"/>
            </a:endParaRPr>
          </a:p>
          <a:p>
            <a:pPr marL="309245" marR="1287145" indent="6985">
              <a:lnSpc>
                <a:spcPct val="103000"/>
              </a:lnSpc>
            </a:pP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2"/>
              </a:rPr>
              <a:t>@FadelMegahed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3"/>
              </a:rPr>
              <a:t>fmegahed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4"/>
              </a:rPr>
              <a:t>fmegahed@miamioh.edu</a:t>
            </a:r>
            <a:endParaRPr sz="1850">
              <a:latin typeface="Arial"/>
              <a:cs typeface="Arial"/>
            </a:endParaRPr>
          </a:p>
          <a:p>
            <a:pPr marL="243840">
              <a:lnSpc>
                <a:spcPct val="100000"/>
              </a:lnSpc>
              <a:spcBef>
                <a:spcPts val="105"/>
              </a:spcBef>
            </a:pP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Automated Scheduler </a:t>
            </a:r>
            <a:r>
              <a:rPr dirty="0" sz="1850" spc="5">
                <a:solidFill>
                  <a:srgbClr val="83D5D3"/>
                </a:solidFill>
                <a:latin typeface="Arial"/>
                <a:cs typeface="Arial"/>
                <a:hlinkClick r:id="rId5"/>
              </a:rPr>
              <a:t>for Office</a:t>
            </a:r>
            <a:r>
              <a:rPr dirty="0" sz="1850" spc="-2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Hours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Fall</a:t>
            </a:r>
            <a:r>
              <a:rPr dirty="0" sz="18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2025</a:t>
            </a:r>
            <a:endParaRPr sz="18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4400" y="4537212"/>
            <a:ext cx="238124" cy="1934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14400" y="4804320"/>
            <a:ext cx="230683" cy="2258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29" y="5095881"/>
            <a:ext cx="237909" cy="23782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24888" y="5381624"/>
            <a:ext cx="165083" cy="23812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17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501904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Quick </a:t>
            </a:r>
            <a:r>
              <a:rPr dirty="0" sz="3350" spc="5">
                <a:latin typeface="Roboto Condensed"/>
                <a:cs typeface="Roboto Condensed"/>
              </a:rPr>
              <a:t>Refresher </a:t>
            </a:r>
            <a:r>
              <a:rPr dirty="0" sz="3350" spc="10">
                <a:latin typeface="Roboto Condensed"/>
                <a:cs typeface="Roboto Condensed"/>
              </a:rPr>
              <a:t>of Last</a:t>
            </a:r>
            <a:r>
              <a:rPr dirty="0" sz="3350" spc="-55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Class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425575"/>
            <a:ext cx="4515485" cy="737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65">
                <a:solidFill>
                  <a:srgbClr val="585D60"/>
                </a:solidFill>
                <a:latin typeface="Segoe UI Emoji"/>
                <a:cs typeface="Segoe UI Emoji"/>
              </a:rPr>
              <a:t>✅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Generate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interpret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simple line</a:t>
            </a:r>
            <a:r>
              <a:rPr dirty="0" sz="1800" spc="-12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charts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dirty="0" sz="1750" spc="65">
                <a:solidFill>
                  <a:srgbClr val="585D60"/>
                </a:solidFill>
                <a:latin typeface="Segoe UI Emoji"/>
                <a:cs typeface="Segoe UI Emoji"/>
              </a:rPr>
              <a:t>✅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Create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seasonal plots and</a:t>
            </a:r>
            <a:r>
              <a:rPr dirty="0" sz="1800" spc="-12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subplots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17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32904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Learning </a:t>
            </a:r>
            <a:r>
              <a:rPr dirty="0" sz="3350" spc="5">
                <a:latin typeface="Roboto Condensed"/>
                <a:cs typeface="Roboto Condensed"/>
              </a:rPr>
              <a:t>Objectives for </a:t>
            </a:r>
            <a:r>
              <a:rPr dirty="0" sz="3350" spc="-35">
                <a:latin typeface="Roboto Condensed"/>
                <a:cs typeface="Roboto Condensed"/>
              </a:rPr>
              <a:t>Today's</a:t>
            </a:r>
            <a:r>
              <a:rPr dirty="0" sz="3350" spc="-65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Class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1425575"/>
            <a:ext cx="7193280" cy="737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Describe a lag and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create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lag scatter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plots.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Plot and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interpret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autocorrelation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function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(ACF)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for a</a:t>
            </a:r>
            <a:r>
              <a:rPr dirty="0" sz="1800" spc="2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time-series.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2624" y="2758440"/>
            <a:ext cx="9174480" cy="1039494"/>
          </a:xfrm>
          <a:prstGeom prst="rect"/>
          <a:solidFill>
            <a:srgbClr val="333333"/>
          </a:solidFill>
        </p:spPr>
        <p:txBody>
          <a:bodyPr wrap="square" lIns="0" tIns="140335" rIns="0" bIns="0" rtlCol="0" vert="horz">
            <a:spAutoFit/>
          </a:bodyPr>
          <a:lstStyle/>
          <a:p>
            <a:pPr marL="228600">
              <a:lnSpc>
                <a:spcPct val="100000"/>
              </a:lnSpc>
              <a:spcBef>
                <a:spcPts val="1105"/>
              </a:spcBef>
            </a:pPr>
            <a:r>
              <a:rPr dirty="0" sz="4100" spc="-880">
                <a:solidFill>
                  <a:srgbClr val="000000"/>
                </a:solidFill>
                <a:latin typeface="Roboto Condensed"/>
                <a:cs typeface="Roboto Condensed"/>
              </a:rPr>
              <a:t>D</a:t>
            </a:r>
            <a:r>
              <a:rPr dirty="0" sz="4100" spc="-880">
                <a:solidFill>
                  <a:srgbClr val="FFFFFF"/>
                </a:solidFill>
                <a:latin typeface="Roboto Condensed"/>
                <a:cs typeface="Roboto Condensed"/>
              </a:rPr>
              <a:t>D</a:t>
            </a:r>
            <a:r>
              <a:rPr dirty="0" sz="4100" spc="-880">
                <a:solidFill>
                  <a:srgbClr val="000000"/>
                </a:solidFill>
                <a:latin typeface="Roboto Condensed"/>
                <a:cs typeface="Roboto Condensed"/>
              </a:rPr>
              <a:t>e</a:t>
            </a:r>
            <a:r>
              <a:rPr dirty="0" sz="4100" spc="-880">
                <a:solidFill>
                  <a:srgbClr val="FFFFFF"/>
                </a:solidFill>
                <a:latin typeface="Roboto Condensed"/>
                <a:cs typeface="Roboto Condensed"/>
              </a:rPr>
              <a:t>e</a:t>
            </a:r>
            <a:r>
              <a:rPr dirty="0" sz="4100" spc="-880">
                <a:solidFill>
                  <a:srgbClr val="000000"/>
                </a:solidFill>
                <a:latin typeface="Roboto Condensed"/>
                <a:cs typeface="Roboto Condensed"/>
              </a:rPr>
              <a:t>s</a:t>
            </a:r>
            <a:r>
              <a:rPr dirty="0" sz="4100" spc="-880">
                <a:solidFill>
                  <a:srgbClr val="FFFFFF"/>
                </a:solidFill>
                <a:latin typeface="Roboto Condensed"/>
                <a:cs typeface="Roboto Condensed"/>
              </a:rPr>
              <a:t>s</a:t>
            </a:r>
            <a:r>
              <a:rPr dirty="0" sz="4100" spc="-880">
                <a:solidFill>
                  <a:srgbClr val="000000"/>
                </a:solidFill>
                <a:latin typeface="Roboto Condensed"/>
                <a:cs typeface="Roboto Condensed"/>
              </a:rPr>
              <a:t>c</a:t>
            </a:r>
            <a:r>
              <a:rPr dirty="0" sz="4100" spc="-880">
                <a:solidFill>
                  <a:srgbClr val="FFFFFF"/>
                </a:solidFill>
                <a:latin typeface="Roboto Condensed"/>
                <a:cs typeface="Roboto Condensed"/>
              </a:rPr>
              <a:t>c</a:t>
            </a:r>
            <a:r>
              <a:rPr dirty="0" sz="4100" spc="-880">
                <a:solidFill>
                  <a:srgbClr val="000000"/>
                </a:solidFill>
                <a:latin typeface="Roboto Condensed"/>
                <a:cs typeface="Roboto Condensed"/>
              </a:rPr>
              <a:t>r</a:t>
            </a:r>
            <a:r>
              <a:rPr dirty="0" sz="4100" spc="-880">
                <a:solidFill>
                  <a:srgbClr val="FFFFFF"/>
                </a:solidFill>
                <a:latin typeface="Roboto Condensed"/>
                <a:cs typeface="Roboto Condensed"/>
              </a:rPr>
              <a:t>r</a:t>
            </a:r>
            <a:r>
              <a:rPr dirty="0" sz="4100" spc="-880">
                <a:solidFill>
                  <a:srgbClr val="000000"/>
                </a:solidFill>
                <a:latin typeface="Roboto Condensed"/>
                <a:cs typeface="Roboto Condensed"/>
              </a:rPr>
              <a:t>i</a:t>
            </a:r>
            <a:r>
              <a:rPr dirty="0" sz="4100" spc="-880">
                <a:solidFill>
                  <a:srgbClr val="FFFFFF"/>
                </a:solidFill>
                <a:latin typeface="Roboto Condensed"/>
                <a:cs typeface="Roboto Condensed"/>
              </a:rPr>
              <a:t>i</a:t>
            </a:r>
            <a:r>
              <a:rPr dirty="0" sz="4100" spc="-880">
                <a:solidFill>
                  <a:srgbClr val="000000"/>
                </a:solidFill>
                <a:latin typeface="Roboto Condensed"/>
                <a:cs typeface="Roboto Condensed"/>
              </a:rPr>
              <a:t>b</a:t>
            </a:r>
            <a:r>
              <a:rPr dirty="0" sz="4100" spc="-880">
                <a:solidFill>
                  <a:srgbClr val="FFFFFF"/>
                </a:solidFill>
                <a:latin typeface="Roboto Condensed"/>
                <a:cs typeface="Roboto Condensed"/>
              </a:rPr>
              <a:t>b</a:t>
            </a:r>
            <a:r>
              <a:rPr dirty="0" sz="4100" spc="-880">
                <a:solidFill>
                  <a:srgbClr val="000000"/>
                </a:solidFill>
                <a:latin typeface="Roboto Condensed"/>
                <a:cs typeface="Roboto Condensed"/>
              </a:rPr>
              <a:t>e</a:t>
            </a:r>
            <a:r>
              <a:rPr dirty="0" sz="4100" spc="-880">
                <a:solidFill>
                  <a:srgbClr val="FFFFFF"/>
                </a:solidFill>
                <a:latin typeface="Roboto Condensed"/>
                <a:cs typeface="Roboto Condensed"/>
              </a:rPr>
              <a:t>e </a:t>
            </a:r>
            <a:r>
              <a:rPr dirty="0" sz="4100" spc="-980">
                <a:solidFill>
                  <a:srgbClr val="000000"/>
                </a:solidFill>
                <a:latin typeface="Roboto Condensed"/>
                <a:cs typeface="Roboto Condensed"/>
              </a:rPr>
              <a:t>a</a:t>
            </a:r>
            <a:r>
              <a:rPr dirty="0" sz="4100" spc="-980">
                <a:solidFill>
                  <a:srgbClr val="FFFFFF"/>
                </a:solidFill>
                <a:latin typeface="Roboto Condensed"/>
                <a:cs typeface="Roboto Condensed"/>
              </a:rPr>
              <a:t>a</a:t>
            </a:r>
            <a:r>
              <a:rPr dirty="0" sz="4100" spc="25">
                <a:solidFill>
                  <a:srgbClr val="FFFFFF"/>
                </a:solidFill>
                <a:latin typeface="Roboto Condensed"/>
                <a:cs typeface="Roboto Condensed"/>
              </a:rPr>
              <a:t> </a:t>
            </a:r>
            <a:r>
              <a:rPr dirty="0" sz="4100" spc="-819">
                <a:solidFill>
                  <a:srgbClr val="000000"/>
                </a:solidFill>
                <a:latin typeface="Roboto Condensed"/>
                <a:cs typeface="Roboto Condensed"/>
              </a:rPr>
              <a:t>l</a:t>
            </a:r>
            <a:r>
              <a:rPr dirty="0" sz="4100" spc="-819">
                <a:solidFill>
                  <a:srgbClr val="FFFFFF"/>
                </a:solidFill>
                <a:latin typeface="Roboto Condensed"/>
                <a:cs typeface="Roboto Condensed"/>
              </a:rPr>
              <a:t>l</a:t>
            </a:r>
            <a:r>
              <a:rPr dirty="0" sz="4100" spc="-819">
                <a:solidFill>
                  <a:srgbClr val="000000"/>
                </a:solidFill>
                <a:latin typeface="Roboto Condensed"/>
                <a:cs typeface="Roboto Condensed"/>
              </a:rPr>
              <a:t>a</a:t>
            </a:r>
            <a:r>
              <a:rPr dirty="0" sz="4100" spc="-819">
                <a:solidFill>
                  <a:srgbClr val="FFFFFF"/>
                </a:solidFill>
                <a:latin typeface="Roboto Condensed"/>
                <a:cs typeface="Roboto Condensed"/>
              </a:rPr>
              <a:t>a</a:t>
            </a:r>
            <a:r>
              <a:rPr dirty="0" sz="4100" spc="-819">
                <a:solidFill>
                  <a:srgbClr val="000000"/>
                </a:solidFill>
                <a:latin typeface="Roboto Condensed"/>
                <a:cs typeface="Roboto Condensed"/>
              </a:rPr>
              <a:t>g</a:t>
            </a:r>
            <a:r>
              <a:rPr dirty="0" sz="4100" spc="-819">
                <a:solidFill>
                  <a:srgbClr val="FFFFFF"/>
                </a:solidFill>
                <a:latin typeface="Roboto Condensed"/>
                <a:cs typeface="Roboto Condensed"/>
              </a:rPr>
              <a:t>g </a:t>
            </a:r>
            <a:r>
              <a:rPr dirty="0" sz="4100" spc="-994">
                <a:solidFill>
                  <a:srgbClr val="000000"/>
                </a:solidFill>
                <a:latin typeface="Roboto Condensed"/>
                <a:cs typeface="Roboto Condensed"/>
              </a:rPr>
              <a:t>a</a:t>
            </a:r>
            <a:r>
              <a:rPr dirty="0" sz="4100" spc="-994">
                <a:solidFill>
                  <a:srgbClr val="FFFFFF"/>
                </a:solidFill>
                <a:latin typeface="Roboto Condensed"/>
                <a:cs typeface="Roboto Condensed"/>
              </a:rPr>
              <a:t>a</a:t>
            </a:r>
            <a:r>
              <a:rPr dirty="0" sz="4100" spc="-994">
                <a:solidFill>
                  <a:srgbClr val="000000"/>
                </a:solidFill>
                <a:latin typeface="Roboto Condensed"/>
                <a:cs typeface="Roboto Condensed"/>
              </a:rPr>
              <a:t>n</a:t>
            </a:r>
            <a:r>
              <a:rPr dirty="0" sz="4100" spc="-994">
                <a:solidFill>
                  <a:srgbClr val="FFFFFF"/>
                </a:solidFill>
                <a:latin typeface="Roboto Condensed"/>
                <a:cs typeface="Roboto Condensed"/>
              </a:rPr>
              <a:t>n</a:t>
            </a:r>
            <a:r>
              <a:rPr dirty="0" sz="4100" spc="-994">
                <a:solidFill>
                  <a:srgbClr val="000000"/>
                </a:solidFill>
                <a:latin typeface="Roboto Condensed"/>
                <a:cs typeface="Roboto Condensed"/>
              </a:rPr>
              <a:t>d</a:t>
            </a:r>
            <a:r>
              <a:rPr dirty="0" sz="4100" spc="-994">
                <a:solidFill>
                  <a:srgbClr val="FFFFFF"/>
                </a:solidFill>
                <a:latin typeface="Roboto Condensed"/>
                <a:cs typeface="Roboto Condensed"/>
              </a:rPr>
              <a:t>d</a:t>
            </a:r>
            <a:r>
              <a:rPr dirty="0" sz="4100" spc="25">
                <a:solidFill>
                  <a:srgbClr val="FFFFFF"/>
                </a:solidFill>
                <a:latin typeface="Roboto Condensed"/>
                <a:cs typeface="Roboto Condensed"/>
              </a:rPr>
              <a:t> </a:t>
            </a:r>
            <a:r>
              <a:rPr dirty="0" sz="4100" spc="-850">
                <a:solidFill>
                  <a:srgbClr val="000000"/>
                </a:solidFill>
                <a:latin typeface="Roboto Condensed"/>
                <a:cs typeface="Roboto Condensed"/>
              </a:rPr>
              <a:t>c</a:t>
            </a:r>
            <a:r>
              <a:rPr dirty="0" sz="4100" spc="-850">
                <a:solidFill>
                  <a:srgbClr val="FFFFFF"/>
                </a:solidFill>
                <a:latin typeface="Roboto Condensed"/>
                <a:cs typeface="Roboto Condensed"/>
              </a:rPr>
              <a:t>c</a:t>
            </a:r>
            <a:r>
              <a:rPr dirty="0" sz="4100" spc="-850">
                <a:solidFill>
                  <a:srgbClr val="000000"/>
                </a:solidFill>
                <a:latin typeface="Roboto Condensed"/>
                <a:cs typeface="Roboto Condensed"/>
              </a:rPr>
              <a:t>r</a:t>
            </a:r>
            <a:r>
              <a:rPr dirty="0" sz="4100" spc="-850">
                <a:solidFill>
                  <a:srgbClr val="FFFFFF"/>
                </a:solidFill>
                <a:latin typeface="Roboto Condensed"/>
                <a:cs typeface="Roboto Condensed"/>
              </a:rPr>
              <a:t>r</a:t>
            </a:r>
            <a:r>
              <a:rPr dirty="0" sz="4100" spc="-850">
                <a:solidFill>
                  <a:srgbClr val="000000"/>
                </a:solidFill>
                <a:latin typeface="Roboto Condensed"/>
                <a:cs typeface="Roboto Condensed"/>
              </a:rPr>
              <a:t>e</a:t>
            </a:r>
            <a:r>
              <a:rPr dirty="0" sz="4100" spc="-850">
                <a:solidFill>
                  <a:srgbClr val="FFFFFF"/>
                </a:solidFill>
                <a:latin typeface="Roboto Condensed"/>
                <a:cs typeface="Roboto Condensed"/>
              </a:rPr>
              <a:t>e</a:t>
            </a:r>
            <a:r>
              <a:rPr dirty="0" sz="4100" spc="-850">
                <a:solidFill>
                  <a:srgbClr val="000000"/>
                </a:solidFill>
                <a:latin typeface="Roboto Condensed"/>
                <a:cs typeface="Roboto Condensed"/>
              </a:rPr>
              <a:t>a</a:t>
            </a:r>
            <a:r>
              <a:rPr dirty="0" sz="4100" spc="-850">
                <a:solidFill>
                  <a:srgbClr val="FFFFFF"/>
                </a:solidFill>
                <a:latin typeface="Roboto Condensed"/>
                <a:cs typeface="Roboto Condensed"/>
              </a:rPr>
              <a:t>a</a:t>
            </a:r>
            <a:r>
              <a:rPr dirty="0" sz="4100" spc="-850">
                <a:solidFill>
                  <a:srgbClr val="000000"/>
                </a:solidFill>
                <a:latin typeface="Roboto Condensed"/>
                <a:cs typeface="Roboto Condensed"/>
              </a:rPr>
              <a:t>t</a:t>
            </a:r>
            <a:r>
              <a:rPr dirty="0" sz="4100" spc="-850">
                <a:solidFill>
                  <a:srgbClr val="FFFFFF"/>
                </a:solidFill>
                <a:latin typeface="Roboto Condensed"/>
                <a:cs typeface="Roboto Condensed"/>
              </a:rPr>
              <a:t>t</a:t>
            </a:r>
            <a:r>
              <a:rPr dirty="0" sz="4100" spc="-850">
                <a:solidFill>
                  <a:srgbClr val="000000"/>
                </a:solidFill>
                <a:latin typeface="Roboto Condensed"/>
                <a:cs typeface="Roboto Condensed"/>
              </a:rPr>
              <a:t>e</a:t>
            </a:r>
            <a:r>
              <a:rPr dirty="0" sz="4100" spc="-850">
                <a:solidFill>
                  <a:srgbClr val="FFFFFF"/>
                </a:solidFill>
                <a:latin typeface="Roboto Condensed"/>
                <a:cs typeface="Roboto Condensed"/>
              </a:rPr>
              <a:t>e </a:t>
            </a:r>
            <a:r>
              <a:rPr dirty="0" sz="4100" spc="-819">
                <a:solidFill>
                  <a:srgbClr val="000000"/>
                </a:solidFill>
                <a:latin typeface="Roboto Condensed"/>
                <a:cs typeface="Roboto Condensed"/>
              </a:rPr>
              <a:t>l</a:t>
            </a:r>
            <a:r>
              <a:rPr dirty="0" sz="4100" spc="-819">
                <a:solidFill>
                  <a:srgbClr val="FFFFFF"/>
                </a:solidFill>
                <a:latin typeface="Roboto Condensed"/>
                <a:cs typeface="Roboto Condensed"/>
              </a:rPr>
              <a:t>l</a:t>
            </a:r>
            <a:r>
              <a:rPr dirty="0" sz="4100" spc="-819">
                <a:solidFill>
                  <a:srgbClr val="000000"/>
                </a:solidFill>
                <a:latin typeface="Roboto Condensed"/>
                <a:cs typeface="Roboto Condensed"/>
              </a:rPr>
              <a:t>a</a:t>
            </a:r>
            <a:r>
              <a:rPr dirty="0" sz="4100" spc="-819">
                <a:solidFill>
                  <a:srgbClr val="FFFFFF"/>
                </a:solidFill>
                <a:latin typeface="Roboto Condensed"/>
                <a:cs typeface="Roboto Condensed"/>
              </a:rPr>
              <a:t>a</a:t>
            </a:r>
            <a:r>
              <a:rPr dirty="0" sz="4100" spc="-819">
                <a:solidFill>
                  <a:srgbClr val="000000"/>
                </a:solidFill>
                <a:latin typeface="Roboto Condensed"/>
                <a:cs typeface="Roboto Condensed"/>
              </a:rPr>
              <a:t>g</a:t>
            </a:r>
            <a:r>
              <a:rPr dirty="0" sz="4100" spc="-819">
                <a:solidFill>
                  <a:srgbClr val="FFFFFF"/>
                </a:solidFill>
                <a:latin typeface="Roboto Condensed"/>
                <a:cs typeface="Roboto Condensed"/>
              </a:rPr>
              <a:t>g </a:t>
            </a:r>
            <a:r>
              <a:rPr dirty="0" sz="4100" spc="-805">
                <a:solidFill>
                  <a:srgbClr val="000000"/>
                </a:solidFill>
                <a:latin typeface="Roboto Condensed"/>
                <a:cs typeface="Roboto Condensed"/>
              </a:rPr>
              <a:t>s</a:t>
            </a:r>
            <a:r>
              <a:rPr dirty="0" sz="4100" spc="-805">
                <a:solidFill>
                  <a:srgbClr val="FFFFFF"/>
                </a:solidFill>
                <a:latin typeface="Roboto Condensed"/>
                <a:cs typeface="Roboto Condensed"/>
              </a:rPr>
              <a:t>s</a:t>
            </a:r>
            <a:r>
              <a:rPr dirty="0" sz="4100" spc="-805">
                <a:solidFill>
                  <a:srgbClr val="000000"/>
                </a:solidFill>
                <a:latin typeface="Roboto Condensed"/>
                <a:cs typeface="Roboto Condensed"/>
              </a:rPr>
              <a:t>c</a:t>
            </a:r>
            <a:r>
              <a:rPr dirty="0" sz="4100" spc="-805">
                <a:solidFill>
                  <a:srgbClr val="FFFFFF"/>
                </a:solidFill>
                <a:latin typeface="Roboto Condensed"/>
                <a:cs typeface="Roboto Condensed"/>
              </a:rPr>
              <a:t>c</a:t>
            </a:r>
            <a:r>
              <a:rPr dirty="0" sz="4100" spc="-805">
                <a:solidFill>
                  <a:srgbClr val="000000"/>
                </a:solidFill>
                <a:latin typeface="Roboto Condensed"/>
                <a:cs typeface="Roboto Condensed"/>
              </a:rPr>
              <a:t>a</a:t>
            </a:r>
            <a:r>
              <a:rPr dirty="0" sz="4100" spc="-805">
                <a:solidFill>
                  <a:srgbClr val="FFFFFF"/>
                </a:solidFill>
                <a:latin typeface="Roboto Condensed"/>
                <a:cs typeface="Roboto Condensed"/>
              </a:rPr>
              <a:t>a</a:t>
            </a:r>
            <a:r>
              <a:rPr dirty="0" sz="4100" spc="-805">
                <a:solidFill>
                  <a:srgbClr val="000000"/>
                </a:solidFill>
                <a:latin typeface="Roboto Condensed"/>
                <a:cs typeface="Roboto Condensed"/>
              </a:rPr>
              <a:t>t</a:t>
            </a:r>
            <a:r>
              <a:rPr dirty="0" sz="4100" spc="-805">
                <a:solidFill>
                  <a:srgbClr val="FFFFFF"/>
                </a:solidFill>
                <a:latin typeface="Roboto Condensed"/>
                <a:cs typeface="Roboto Condensed"/>
              </a:rPr>
              <a:t>t</a:t>
            </a:r>
            <a:r>
              <a:rPr dirty="0" sz="4100" spc="-805">
                <a:solidFill>
                  <a:srgbClr val="000000"/>
                </a:solidFill>
                <a:latin typeface="Roboto Condensed"/>
                <a:cs typeface="Roboto Condensed"/>
              </a:rPr>
              <a:t>t</a:t>
            </a:r>
            <a:r>
              <a:rPr dirty="0" sz="4100" spc="-805">
                <a:solidFill>
                  <a:srgbClr val="FFFFFF"/>
                </a:solidFill>
                <a:latin typeface="Roboto Condensed"/>
                <a:cs typeface="Roboto Condensed"/>
              </a:rPr>
              <a:t>t</a:t>
            </a:r>
            <a:r>
              <a:rPr dirty="0" sz="4100" spc="-805">
                <a:solidFill>
                  <a:srgbClr val="000000"/>
                </a:solidFill>
                <a:latin typeface="Roboto Condensed"/>
                <a:cs typeface="Roboto Condensed"/>
              </a:rPr>
              <a:t>e</a:t>
            </a:r>
            <a:r>
              <a:rPr dirty="0" sz="4100" spc="-805">
                <a:solidFill>
                  <a:srgbClr val="FFFFFF"/>
                </a:solidFill>
                <a:latin typeface="Roboto Condensed"/>
                <a:cs typeface="Roboto Condensed"/>
              </a:rPr>
              <a:t>e</a:t>
            </a:r>
            <a:r>
              <a:rPr dirty="0" sz="4100" spc="-805">
                <a:solidFill>
                  <a:srgbClr val="000000"/>
                </a:solidFill>
                <a:latin typeface="Roboto Condensed"/>
                <a:cs typeface="Roboto Condensed"/>
              </a:rPr>
              <a:t>r</a:t>
            </a:r>
            <a:r>
              <a:rPr dirty="0" sz="4100" spc="-805">
                <a:solidFill>
                  <a:srgbClr val="FFFFFF"/>
                </a:solidFill>
                <a:latin typeface="Roboto Condensed"/>
                <a:cs typeface="Roboto Condensed"/>
              </a:rPr>
              <a:t>r</a:t>
            </a:r>
            <a:r>
              <a:rPr dirty="0" sz="4100" spc="-800">
                <a:solidFill>
                  <a:srgbClr val="FFFFFF"/>
                </a:solidFill>
                <a:latin typeface="Roboto Condensed"/>
                <a:cs typeface="Roboto Condensed"/>
              </a:rPr>
              <a:t> </a:t>
            </a:r>
            <a:r>
              <a:rPr dirty="0" sz="4100" spc="-810">
                <a:solidFill>
                  <a:srgbClr val="000000"/>
                </a:solidFill>
                <a:latin typeface="Roboto Condensed"/>
                <a:cs typeface="Roboto Condensed"/>
              </a:rPr>
              <a:t>p</a:t>
            </a:r>
            <a:r>
              <a:rPr dirty="0" sz="4100" spc="-810">
                <a:solidFill>
                  <a:srgbClr val="FFFFFF"/>
                </a:solidFill>
                <a:latin typeface="Roboto Condensed"/>
                <a:cs typeface="Roboto Condensed"/>
              </a:rPr>
              <a:t>p</a:t>
            </a:r>
            <a:r>
              <a:rPr dirty="0" sz="4100" spc="-810">
                <a:solidFill>
                  <a:srgbClr val="000000"/>
                </a:solidFill>
                <a:latin typeface="Roboto Condensed"/>
                <a:cs typeface="Roboto Condensed"/>
              </a:rPr>
              <a:t>l</a:t>
            </a:r>
            <a:r>
              <a:rPr dirty="0" sz="4100" spc="-810">
                <a:solidFill>
                  <a:srgbClr val="FFFFFF"/>
                </a:solidFill>
                <a:latin typeface="Roboto Condensed"/>
                <a:cs typeface="Roboto Condensed"/>
              </a:rPr>
              <a:t>l</a:t>
            </a:r>
            <a:r>
              <a:rPr dirty="0" sz="4100" spc="-810">
                <a:solidFill>
                  <a:srgbClr val="000000"/>
                </a:solidFill>
                <a:latin typeface="Roboto Condensed"/>
                <a:cs typeface="Roboto Condensed"/>
              </a:rPr>
              <a:t>o</a:t>
            </a:r>
            <a:r>
              <a:rPr dirty="0" sz="4100" spc="-810">
                <a:solidFill>
                  <a:srgbClr val="FFFFFF"/>
                </a:solidFill>
                <a:latin typeface="Roboto Condensed"/>
                <a:cs typeface="Roboto Condensed"/>
              </a:rPr>
              <a:t>o</a:t>
            </a:r>
            <a:r>
              <a:rPr dirty="0" sz="4100" spc="-810">
                <a:solidFill>
                  <a:srgbClr val="000000"/>
                </a:solidFill>
                <a:latin typeface="Roboto Condensed"/>
                <a:cs typeface="Roboto Condensed"/>
              </a:rPr>
              <a:t>t</a:t>
            </a:r>
            <a:r>
              <a:rPr dirty="0" sz="4100" spc="-810">
                <a:solidFill>
                  <a:srgbClr val="FFFFFF"/>
                </a:solidFill>
                <a:latin typeface="Roboto Condensed"/>
                <a:cs typeface="Roboto Condensed"/>
              </a:rPr>
              <a:t>t</a:t>
            </a:r>
            <a:r>
              <a:rPr dirty="0" sz="4100" spc="-810">
                <a:solidFill>
                  <a:srgbClr val="000000"/>
                </a:solidFill>
                <a:latin typeface="Roboto Condensed"/>
                <a:cs typeface="Roboto Condensed"/>
              </a:rPr>
              <a:t>s</a:t>
            </a:r>
            <a:r>
              <a:rPr dirty="0" sz="4100" spc="-810">
                <a:solidFill>
                  <a:srgbClr val="FFFFFF"/>
                </a:solidFill>
                <a:latin typeface="Roboto Condensed"/>
                <a:cs typeface="Roboto Condensed"/>
              </a:rPr>
              <a:t>s</a:t>
            </a:r>
            <a:endParaRPr sz="410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713719" y="5995415"/>
            <a:ext cx="811530" cy="491490"/>
          </a:xfrm>
          <a:custGeom>
            <a:avLst/>
            <a:gdLst/>
            <a:ahLst/>
            <a:cxnLst/>
            <a:rect l="l" t="t" r="r" b="b"/>
            <a:pathLst>
              <a:path w="811529" h="491489">
                <a:moveTo>
                  <a:pt x="0" y="0"/>
                </a:moveTo>
                <a:lnTo>
                  <a:pt x="811529" y="0"/>
                </a:lnTo>
                <a:lnTo>
                  <a:pt x="811529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964712" y="6218137"/>
            <a:ext cx="421005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 spc="-340">
                <a:latin typeface="Roboto"/>
                <a:cs typeface="Roboto"/>
              </a:rPr>
              <a:t>4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4</a:t>
            </a:r>
            <a:r>
              <a:rPr dirty="0" sz="1200" spc="-3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250">
                <a:latin typeface="Roboto"/>
                <a:cs typeface="Roboto"/>
              </a:rPr>
              <a:t>/</a:t>
            </a:r>
            <a:r>
              <a:rPr dirty="0" sz="1200" spc="-250">
                <a:solidFill>
                  <a:srgbClr val="FFFFFF"/>
                </a:solidFill>
                <a:latin typeface="Roboto"/>
                <a:cs typeface="Roboto"/>
              </a:rPr>
              <a:t>/</a:t>
            </a:r>
            <a:r>
              <a:rPr dirty="0" sz="1200" spc="-2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340">
                <a:latin typeface="Roboto"/>
                <a:cs typeface="Roboto"/>
              </a:rPr>
              <a:t>1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1</a:t>
            </a:r>
            <a:r>
              <a:rPr dirty="0" sz="1200" spc="-340">
                <a:latin typeface="Roboto"/>
                <a:cs typeface="Roboto"/>
              </a:rPr>
              <a:t>7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7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10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17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248729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What is a</a:t>
            </a:r>
            <a:r>
              <a:rPr dirty="0" sz="3350" spc="-80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Lag?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425575"/>
            <a:ext cx="8926195" cy="1718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lag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refers 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 time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delay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between an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event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its observable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effect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or</a:t>
            </a:r>
            <a:r>
              <a:rPr dirty="0" sz="1800" spc="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measurement.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 time series data, a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lag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simply 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previous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observation in the series.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For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example: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5"/>
              </a:spcBef>
              <a:buFont typeface="Roboto"/>
              <a:buChar char="•"/>
              <a:tabLst>
                <a:tab pos="393700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Lag 1: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Refers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value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immediately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preceding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current</a:t>
            </a:r>
            <a:r>
              <a:rPr dirty="0" sz="1800" spc="3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value.</a:t>
            </a: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1215"/>
              </a:spcBef>
              <a:buFont typeface="Roboto"/>
              <a:buChar char="•"/>
              <a:tabLst>
                <a:tab pos="393700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Lag 2: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Refers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value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two time periods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before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current value,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so</a:t>
            </a:r>
            <a:r>
              <a:rPr dirty="0" sz="1800" spc="4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on.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10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17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376237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What is a Lag</a:t>
            </a:r>
            <a:r>
              <a:rPr dirty="0" sz="3350" spc="-80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(Cont.)?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50900" y="1425575"/>
            <a:ext cx="9680575" cy="4004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Imagine a time series of daily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sales: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>
              <a:latin typeface="Roboto"/>
              <a:cs typeface="Roboto"/>
            </a:endParaRPr>
          </a:p>
          <a:p>
            <a:pPr marL="444500" indent="-133985">
              <a:lnSpc>
                <a:spcPct val="100000"/>
              </a:lnSpc>
              <a:spcBef>
                <a:spcPts val="5"/>
              </a:spcBef>
              <a:buClr>
                <a:srgbClr val="C2132D"/>
              </a:buClr>
              <a:buChar char="•"/>
              <a:tabLst>
                <a:tab pos="444500" algn="l"/>
              </a:tabLst>
            </a:pP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Day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1:</a:t>
            </a:r>
            <a:r>
              <a:rPr dirty="0" sz="1800" spc="-9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$100</a:t>
            </a:r>
            <a:endParaRPr sz="1800">
              <a:latin typeface="Roboto"/>
              <a:cs typeface="Roboto"/>
            </a:endParaRPr>
          </a:p>
          <a:p>
            <a:pPr marL="4445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444500" algn="l"/>
              </a:tabLst>
            </a:pP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Day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2:</a:t>
            </a:r>
            <a:r>
              <a:rPr dirty="0" sz="1800" spc="-9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$150</a:t>
            </a:r>
            <a:endParaRPr sz="1800">
              <a:latin typeface="Roboto"/>
              <a:cs typeface="Roboto"/>
            </a:endParaRPr>
          </a:p>
          <a:p>
            <a:pPr marL="4445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444500" algn="l"/>
              </a:tabLst>
            </a:pP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Day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3:</a:t>
            </a:r>
            <a:r>
              <a:rPr dirty="0" sz="1800" spc="-9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$120</a:t>
            </a:r>
            <a:endParaRPr sz="1800">
              <a:latin typeface="Roboto"/>
              <a:cs typeface="Roboto"/>
            </a:endParaRPr>
          </a:p>
          <a:p>
            <a:pPr marL="63500" marR="55880">
              <a:lnSpc>
                <a:spcPct val="114599"/>
              </a:lnSpc>
              <a:spcBef>
                <a:spcPts val="1875"/>
              </a:spcBef>
            </a:pP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For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Day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3, the lag 1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value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the sales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from Day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2 ($150).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Similarly,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lag 2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value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from Day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1  ($100).</a:t>
            </a:r>
            <a:endParaRPr sz="1800">
              <a:latin typeface="Roboto"/>
              <a:cs typeface="Roboto"/>
            </a:endParaRPr>
          </a:p>
          <a:p>
            <a:pPr marL="63500">
              <a:lnSpc>
                <a:spcPct val="100000"/>
              </a:lnSpc>
              <a:spcBef>
                <a:spcPts val="1290"/>
              </a:spcBef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 mathematical notation, </a:t>
            </a:r>
            <a:r>
              <a:rPr dirty="0" sz="1500" spc="155" i="1">
                <a:solidFill>
                  <a:srgbClr val="585D60"/>
                </a:solidFill>
                <a:latin typeface="Calibri"/>
                <a:cs typeface="Calibri"/>
              </a:rPr>
              <a:t>y</a:t>
            </a:r>
            <a:r>
              <a:rPr dirty="0" baseline="-15873" sz="1575" spc="232" i="1">
                <a:solidFill>
                  <a:srgbClr val="585D60"/>
                </a:solidFill>
                <a:latin typeface="Calibri"/>
                <a:cs typeface="Calibri"/>
              </a:rPr>
              <a:t>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represents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value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at time </a:t>
            </a:r>
            <a:r>
              <a:rPr dirty="0" sz="1500" spc="70" i="1">
                <a:solidFill>
                  <a:srgbClr val="585D60"/>
                </a:solidFill>
                <a:latin typeface="Calibri"/>
                <a:cs typeface="Calibri"/>
              </a:rPr>
              <a:t>t</a:t>
            </a:r>
            <a:r>
              <a:rPr dirty="0" sz="1800" spc="70">
                <a:solidFill>
                  <a:srgbClr val="585D60"/>
                </a:solidFill>
                <a:latin typeface="Roboto"/>
                <a:cs typeface="Roboto"/>
              </a:rPr>
              <a:t>,</a:t>
            </a:r>
            <a:r>
              <a:rPr dirty="0" sz="1800" spc="-24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then: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>
              <a:latin typeface="Roboto"/>
              <a:cs typeface="Roboto"/>
            </a:endParaRPr>
          </a:p>
          <a:p>
            <a:pPr marL="444500" indent="-133985">
              <a:lnSpc>
                <a:spcPct val="100000"/>
              </a:lnSpc>
              <a:buClr>
                <a:srgbClr val="C2132D"/>
              </a:buClr>
              <a:buSzPct val="120000"/>
              <a:buFont typeface="Roboto"/>
              <a:buChar char="•"/>
              <a:tabLst>
                <a:tab pos="444500" algn="l"/>
              </a:tabLst>
            </a:pPr>
            <a:r>
              <a:rPr dirty="0" sz="1500" spc="260" i="1">
                <a:solidFill>
                  <a:srgbClr val="585D60"/>
                </a:solidFill>
                <a:latin typeface="Calibri"/>
                <a:cs typeface="Calibri"/>
              </a:rPr>
              <a:t>y</a:t>
            </a:r>
            <a:r>
              <a:rPr dirty="0" baseline="-13227" sz="1575" spc="390" i="1">
                <a:solidFill>
                  <a:srgbClr val="585D60"/>
                </a:solidFill>
                <a:latin typeface="Calibri"/>
                <a:cs typeface="Calibri"/>
              </a:rPr>
              <a:t>t</a:t>
            </a:r>
            <a:r>
              <a:rPr dirty="0" baseline="-16339" sz="1275" spc="390">
                <a:solidFill>
                  <a:srgbClr val="585D60"/>
                </a:solidFill>
                <a:latin typeface="Times New Roman"/>
                <a:cs typeface="Times New Roman"/>
              </a:rPr>
              <a:t>−1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the lag 1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value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500" spc="155" i="1">
                <a:solidFill>
                  <a:srgbClr val="585D60"/>
                </a:solidFill>
                <a:latin typeface="Calibri"/>
                <a:cs typeface="Calibri"/>
              </a:rPr>
              <a:t>y</a:t>
            </a:r>
            <a:r>
              <a:rPr dirty="0" baseline="-13227" sz="1575" spc="232" i="1">
                <a:solidFill>
                  <a:srgbClr val="585D60"/>
                </a:solidFill>
                <a:latin typeface="Calibri"/>
                <a:cs typeface="Calibri"/>
              </a:rPr>
              <a:t>t</a:t>
            </a:r>
            <a:endParaRPr baseline="-13227" sz="1575">
              <a:latin typeface="Calibri"/>
              <a:cs typeface="Calibri"/>
            </a:endParaRPr>
          </a:p>
          <a:p>
            <a:pPr marL="4445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SzPct val="120000"/>
              <a:buFont typeface="Roboto"/>
              <a:buChar char="•"/>
              <a:tabLst>
                <a:tab pos="444500" algn="l"/>
              </a:tabLst>
            </a:pPr>
            <a:r>
              <a:rPr dirty="0" sz="1500" spc="260" i="1">
                <a:solidFill>
                  <a:srgbClr val="585D60"/>
                </a:solidFill>
                <a:latin typeface="Calibri"/>
                <a:cs typeface="Calibri"/>
              </a:rPr>
              <a:t>y</a:t>
            </a:r>
            <a:r>
              <a:rPr dirty="0" baseline="-15873" sz="1575" spc="390" i="1">
                <a:solidFill>
                  <a:srgbClr val="585D60"/>
                </a:solidFill>
                <a:latin typeface="Calibri"/>
                <a:cs typeface="Calibri"/>
              </a:rPr>
              <a:t>t</a:t>
            </a:r>
            <a:r>
              <a:rPr dirty="0" baseline="-19607" sz="1275" spc="390">
                <a:solidFill>
                  <a:srgbClr val="585D60"/>
                </a:solidFill>
                <a:latin typeface="Times New Roman"/>
                <a:cs typeface="Times New Roman"/>
              </a:rPr>
              <a:t>−2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the lag 2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value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500" spc="155" i="1">
                <a:solidFill>
                  <a:srgbClr val="585D60"/>
                </a:solidFill>
                <a:latin typeface="Calibri"/>
                <a:cs typeface="Calibri"/>
              </a:rPr>
              <a:t>y</a:t>
            </a:r>
            <a:r>
              <a:rPr dirty="0" baseline="-15873" sz="1575" spc="232" i="1">
                <a:solidFill>
                  <a:srgbClr val="585D60"/>
                </a:solidFill>
                <a:latin typeface="Calibri"/>
                <a:cs typeface="Calibri"/>
              </a:rPr>
              <a:t>t</a:t>
            </a:r>
            <a:endParaRPr baseline="-15873" sz="1575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17980" y="4125883"/>
            <a:ext cx="3745474" cy="15129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400046" y="3999114"/>
            <a:ext cx="3780789" cy="163968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332549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20">
                <a:latin typeface="Roboto Condensed"/>
                <a:cs typeface="Roboto Condensed"/>
              </a:rPr>
              <a:t>Importance </a:t>
            </a:r>
            <a:r>
              <a:rPr dirty="0" sz="3350" spc="10">
                <a:latin typeface="Roboto Condensed"/>
                <a:cs typeface="Roboto Condensed"/>
              </a:rPr>
              <a:t>of</a:t>
            </a:r>
            <a:r>
              <a:rPr dirty="0" sz="3350" spc="-95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Lags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10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17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36054" y="1376044"/>
            <a:ext cx="9169400" cy="2178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58750" marR="568960" indent="-133985">
              <a:lnSpc>
                <a:spcPct val="118100"/>
              </a:lnSpc>
              <a:spcBef>
                <a:spcPts val="100"/>
              </a:spcBef>
              <a:buFont typeface="Roboto"/>
              <a:buChar char="•"/>
              <a:tabLst>
                <a:tab pos="1593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Lags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are 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important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 time series analysis because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they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can help us understand the 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relationship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between past and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present values. They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are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used in</a:t>
            </a:r>
            <a:r>
              <a:rPr dirty="0" sz="1800" spc="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latin typeface="Roboto"/>
                <a:cs typeface="Roboto"/>
              </a:rPr>
              <a:t>Forecasting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:</a:t>
            </a:r>
            <a:endParaRPr sz="1800">
              <a:latin typeface="Roboto"/>
              <a:cs typeface="Roboto"/>
            </a:endParaRPr>
          </a:p>
          <a:p>
            <a:pPr algn="just" lvl="1" marL="539750" marR="17780" indent="-133985">
              <a:lnSpc>
                <a:spcPct val="116300"/>
              </a:lnSpc>
              <a:spcBef>
                <a:spcPts val="935"/>
              </a:spcBef>
              <a:buFont typeface="Roboto"/>
              <a:buChar char="•"/>
              <a:tabLst>
                <a:tab pos="540385" algn="l"/>
              </a:tabLst>
            </a:pP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Autoregressive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models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Models such as AR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(AutoRegressive)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ARIMA models use  past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values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(lags) of the series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predict future values.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For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example, an AR(1) model 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uses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p</a:t>
            </a: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r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edicts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500" spc="210" i="1">
                <a:solidFill>
                  <a:srgbClr val="585D60"/>
                </a:solidFill>
                <a:latin typeface="Calibri"/>
                <a:cs typeface="Calibri"/>
              </a:rPr>
              <a:t>y</a:t>
            </a:r>
            <a:r>
              <a:rPr dirty="0" baseline="-13227" sz="1575" spc="157" i="1">
                <a:solidFill>
                  <a:srgbClr val="585D60"/>
                </a:solidFill>
                <a:latin typeface="Calibri"/>
                <a:cs typeface="Calibri"/>
              </a:rPr>
              <a:t>t</a:t>
            </a:r>
            <a:r>
              <a:rPr dirty="0" baseline="-13227" sz="1575" i="1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baseline="-13227" sz="1575" spc="89" i="1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solely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based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on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500" spc="210" i="1">
                <a:solidFill>
                  <a:srgbClr val="585D60"/>
                </a:solidFill>
                <a:latin typeface="Calibri"/>
                <a:cs typeface="Calibri"/>
              </a:rPr>
              <a:t>y</a:t>
            </a:r>
            <a:r>
              <a:rPr dirty="0" baseline="-13227" sz="1575" spc="157" i="1">
                <a:solidFill>
                  <a:srgbClr val="585D60"/>
                </a:solidFill>
                <a:latin typeface="Calibri"/>
                <a:cs typeface="Calibri"/>
              </a:rPr>
              <a:t>t</a:t>
            </a:r>
            <a:r>
              <a:rPr dirty="0" baseline="-16339" sz="1275" spc="765">
                <a:solidFill>
                  <a:srgbClr val="585D60"/>
                </a:solidFill>
                <a:latin typeface="Times New Roman"/>
                <a:cs typeface="Times New Roman"/>
              </a:rPr>
              <a:t>−</a:t>
            </a:r>
            <a:r>
              <a:rPr dirty="0" baseline="-16339" sz="1275" spc="450">
                <a:solidFill>
                  <a:srgbClr val="585D60"/>
                </a:solidFill>
                <a:latin typeface="Times New Roman"/>
                <a:cs typeface="Times New Roman"/>
              </a:rPr>
              <a:t>1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  <a:p>
            <a:pPr algn="just" lvl="1" marL="539750" indent="-134620">
              <a:lnSpc>
                <a:spcPct val="100000"/>
              </a:lnSpc>
              <a:spcBef>
                <a:spcPts val="1215"/>
              </a:spcBef>
              <a:buFont typeface="Roboto"/>
              <a:buChar char="•"/>
              <a:tabLst>
                <a:tab pos="5403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Seasonality: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Lags help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capture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seasonal patterns in data.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10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17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332549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20">
                <a:latin typeface="Roboto Condensed"/>
                <a:cs typeface="Roboto Condensed"/>
              </a:rPr>
              <a:t>Importance </a:t>
            </a:r>
            <a:r>
              <a:rPr dirty="0" sz="3350" spc="10">
                <a:latin typeface="Roboto Condensed"/>
                <a:cs typeface="Roboto Condensed"/>
              </a:rPr>
              <a:t>of</a:t>
            </a:r>
            <a:r>
              <a:rPr dirty="0" sz="3350" spc="-95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Lags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1376044"/>
            <a:ext cx="9335135" cy="2616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marR="748030" indent="-133985">
              <a:lnSpc>
                <a:spcPct val="118100"/>
              </a:lnSpc>
              <a:spcBef>
                <a:spcPts val="100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Lags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are 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important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 time series analysis because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they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can help us understand the 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relationship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between past and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present values.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Hence,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they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are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used</a:t>
            </a:r>
            <a:r>
              <a:rPr dirty="0" sz="1800" spc="3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in: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Font typeface="Roboto"/>
              <a:buChar char="•"/>
              <a:tabLst>
                <a:tab pos="527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Causal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Analysis:</a:t>
            </a:r>
            <a:endParaRPr sz="1800">
              <a:latin typeface="Roboto"/>
              <a:cs typeface="Roboto"/>
            </a:endParaRPr>
          </a:p>
          <a:p>
            <a:pPr lvl="2" marL="908050" marR="5080" indent="-133985">
              <a:lnSpc>
                <a:spcPct val="118100"/>
              </a:lnSpc>
              <a:spcBef>
                <a:spcPts val="819"/>
              </a:spcBef>
              <a:buFont typeface="Roboto"/>
              <a:buChar char="•"/>
              <a:tabLst>
                <a:tab pos="908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Cause and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Effect: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 many business scenarios, past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events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(lags) can be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predictors 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for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current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outcomes; e.g., past advertising spend might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affect current</a:t>
            </a:r>
            <a:r>
              <a:rPr dirty="0" sz="1800" spc="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sales.</a:t>
            </a:r>
            <a:endParaRPr sz="1800">
              <a:latin typeface="Roboto"/>
              <a:cs typeface="Roboto"/>
            </a:endParaRPr>
          </a:p>
          <a:p>
            <a:pPr lvl="2" marL="908050" marR="234315" indent="-133985">
              <a:lnSpc>
                <a:spcPct val="118100"/>
              </a:lnSpc>
              <a:spcBef>
                <a:spcPts val="825"/>
              </a:spcBef>
              <a:buFont typeface="Roboto"/>
              <a:buChar char="•"/>
              <a:tabLst>
                <a:tab pos="908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Policy Evaluation: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Understanding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delayed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impact of policies or changes (e.g.,  price changes,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marketing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campaigns) is essential.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10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17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460057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20">
                <a:latin typeface="Roboto Condensed"/>
                <a:cs typeface="Roboto Condensed"/>
              </a:rPr>
              <a:t>Importance </a:t>
            </a:r>
            <a:r>
              <a:rPr dirty="0" sz="3350" spc="10">
                <a:latin typeface="Roboto Condensed"/>
                <a:cs typeface="Roboto Condensed"/>
              </a:rPr>
              <a:t>of Lags</a:t>
            </a:r>
            <a:r>
              <a:rPr dirty="0" sz="3350" spc="-95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(Cont.)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1376044"/>
            <a:ext cx="9458325" cy="2616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marR="870585" indent="-133985">
              <a:lnSpc>
                <a:spcPct val="118100"/>
              </a:lnSpc>
              <a:spcBef>
                <a:spcPts val="100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Lags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are 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important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 time series analysis because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they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can help us understand the 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relationship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between past and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present values.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Hence,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they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are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used</a:t>
            </a:r>
            <a:r>
              <a:rPr dirty="0" sz="1800" spc="3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in: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Font typeface="Roboto"/>
              <a:buChar char="•"/>
              <a:tabLst>
                <a:tab pos="527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Data Preparation and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Feature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Engineering:</a:t>
            </a:r>
            <a:endParaRPr sz="1800">
              <a:latin typeface="Roboto"/>
              <a:cs typeface="Roboto"/>
            </a:endParaRPr>
          </a:p>
          <a:p>
            <a:pPr lvl="2" marL="908050" marR="5080" indent="-133985">
              <a:lnSpc>
                <a:spcPct val="118100"/>
              </a:lnSpc>
              <a:spcBef>
                <a:spcPts val="819"/>
              </a:spcBef>
              <a:buFont typeface="Roboto"/>
              <a:buChar char="•"/>
              <a:tabLst>
                <a:tab pos="908685" algn="l"/>
              </a:tabLst>
            </a:pP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Feature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Creation: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 machine learning models,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creating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lag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features from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time series  data can help the model understand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historical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patterns and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trends.</a:t>
            </a:r>
            <a:endParaRPr sz="1800">
              <a:latin typeface="Roboto"/>
              <a:cs typeface="Roboto"/>
            </a:endParaRPr>
          </a:p>
          <a:p>
            <a:pPr lvl="2" marL="908050" marR="286385" indent="-133985">
              <a:lnSpc>
                <a:spcPct val="118100"/>
              </a:lnSpc>
              <a:spcBef>
                <a:spcPts val="825"/>
              </a:spcBef>
              <a:buFont typeface="Roboto"/>
              <a:buChar char="•"/>
              <a:tabLst>
                <a:tab pos="908685" algn="l"/>
              </a:tabLst>
            </a:pP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Smoothing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and Differencing: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Lags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are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also used in techniques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like differencing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stabilize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mean of a time series, which is a common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preprocessing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 step.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493458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Implementing Lags in</a:t>
            </a:r>
            <a:r>
              <a:rPr dirty="0" sz="3350" spc="-60">
                <a:latin typeface="Roboto Condensed"/>
                <a:cs typeface="Roboto Condensed"/>
              </a:rPr>
              <a:t> </a:t>
            </a:r>
            <a:r>
              <a:rPr dirty="0" sz="3350" spc="15">
                <a:latin typeface="Roboto Condensed"/>
                <a:cs typeface="Roboto Condensed"/>
              </a:rPr>
              <a:t>Python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425575"/>
            <a:ext cx="6882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 Python, we can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create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lags using the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shift()</a:t>
            </a:r>
            <a:r>
              <a:rPr dirty="0" sz="1700" spc="-620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method in pandas.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4400" y="1981200"/>
            <a:ext cx="9696450" cy="2962275"/>
          </a:xfrm>
          <a:prstGeom prst="rect">
            <a:avLst/>
          </a:prstGeom>
          <a:solidFill>
            <a:srgbClr val="F7F7F7"/>
          </a:solidFill>
        </p:spPr>
        <p:txBody>
          <a:bodyPr wrap="square" lIns="0" tIns="95250" rIns="0" bIns="0" rtlCol="0" vert="horz">
            <a:spAutoFit/>
          </a:bodyPr>
          <a:lstStyle/>
          <a:p>
            <a:pPr marL="107950">
              <a:lnSpc>
                <a:spcPct val="100000"/>
              </a:lnSpc>
              <a:spcBef>
                <a:spcPts val="750"/>
              </a:spcBef>
            </a:pPr>
            <a:r>
              <a:rPr dirty="0" sz="1350" spc="10" b="1">
                <a:solidFill>
                  <a:srgbClr val="333333"/>
                </a:solidFill>
                <a:latin typeface="Courier New"/>
                <a:cs typeface="Courier New"/>
              </a:rPr>
              <a:t>import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pandas </a:t>
            </a:r>
            <a:r>
              <a:rPr dirty="0" sz="1350" spc="10" b="1">
                <a:solidFill>
                  <a:srgbClr val="333333"/>
                </a:solidFill>
                <a:latin typeface="Courier New"/>
                <a:cs typeface="Courier New"/>
              </a:rPr>
              <a:t>as</a:t>
            </a:r>
            <a:r>
              <a:rPr dirty="0" sz="1350" spc="5" b="1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pd</a:t>
            </a:r>
            <a:endParaRPr sz="1350">
              <a:latin typeface="Courier New"/>
              <a:cs typeface="Courier New"/>
            </a:endParaRPr>
          </a:p>
          <a:p>
            <a:pPr marL="107950">
              <a:lnSpc>
                <a:spcPts val="1600"/>
              </a:lnSpc>
              <a:spcBef>
                <a:spcPts val="1305"/>
              </a:spcBef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df =</a:t>
            </a:r>
            <a:r>
              <a:rPr dirty="0" sz="1350" spc="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(</a:t>
            </a:r>
            <a:endParaRPr sz="1350">
              <a:latin typeface="Courier New"/>
              <a:cs typeface="Courier New"/>
            </a:endParaRPr>
          </a:p>
          <a:p>
            <a:pPr marL="316865">
              <a:lnSpc>
                <a:spcPts val="1575"/>
              </a:lnSpc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pd.DataFrame(</a:t>
            </a:r>
            <a:endParaRPr sz="1350">
              <a:latin typeface="Courier New"/>
              <a:cs typeface="Courier New"/>
            </a:endParaRPr>
          </a:p>
          <a:p>
            <a:pPr marL="525145" marR="2491105" indent="-635">
              <a:lnSpc>
                <a:spcPts val="1580"/>
              </a:lnSpc>
              <a:spcBef>
                <a:spcPts val="60"/>
              </a:spcBef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{</a:t>
            </a:r>
            <a:r>
              <a:rPr dirty="0" sz="1350" spc="10">
                <a:solidFill>
                  <a:srgbClr val="DD1144"/>
                </a:solidFill>
                <a:latin typeface="Courier New"/>
                <a:cs typeface="Courier New"/>
              </a:rPr>
              <a:t>'date'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: pd.date_range(start=</a:t>
            </a:r>
            <a:r>
              <a:rPr dirty="0" sz="1350" spc="10">
                <a:solidFill>
                  <a:srgbClr val="DD1144"/>
                </a:solidFill>
                <a:latin typeface="Courier New"/>
                <a:cs typeface="Courier New"/>
              </a:rPr>
              <a:t>'2025-01-01'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, periods=</a:t>
            </a:r>
            <a:r>
              <a:rPr dirty="0" sz="1350" spc="10">
                <a:solidFill>
                  <a:srgbClr val="008080"/>
                </a:solidFill>
                <a:latin typeface="Courier New"/>
                <a:cs typeface="Courier New"/>
              </a:rPr>
              <a:t>5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,</a:t>
            </a:r>
            <a:r>
              <a:rPr dirty="0" sz="1350" spc="-5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freq=</a:t>
            </a:r>
            <a:r>
              <a:rPr dirty="0" sz="1350" spc="10">
                <a:solidFill>
                  <a:srgbClr val="DD1144"/>
                </a:solidFill>
                <a:latin typeface="Courier New"/>
                <a:cs typeface="Courier New"/>
              </a:rPr>
              <a:t>'D'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),  </a:t>
            </a:r>
            <a:r>
              <a:rPr dirty="0" sz="1350" spc="10">
                <a:solidFill>
                  <a:srgbClr val="DD1144"/>
                </a:solidFill>
                <a:latin typeface="Courier New"/>
                <a:cs typeface="Courier New"/>
              </a:rPr>
              <a:t>'sales'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: [</a:t>
            </a:r>
            <a:r>
              <a:rPr dirty="0" sz="1350" spc="10">
                <a:solidFill>
                  <a:srgbClr val="008080"/>
                </a:solidFill>
                <a:latin typeface="Courier New"/>
                <a:cs typeface="Courier New"/>
              </a:rPr>
              <a:t>100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, </a:t>
            </a:r>
            <a:r>
              <a:rPr dirty="0" sz="1350" spc="10">
                <a:solidFill>
                  <a:srgbClr val="008080"/>
                </a:solidFill>
                <a:latin typeface="Courier New"/>
                <a:cs typeface="Courier New"/>
              </a:rPr>
              <a:t>150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, </a:t>
            </a:r>
            <a:r>
              <a:rPr dirty="0" sz="1350" spc="10">
                <a:solidFill>
                  <a:srgbClr val="008080"/>
                </a:solidFill>
                <a:latin typeface="Courier New"/>
                <a:cs typeface="Courier New"/>
              </a:rPr>
              <a:t>120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, </a:t>
            </a:r>
            <a:r>
              <a:rPr dirty="0" sz="1350" spc="10">
                <a:solidFill>
                  <a:srgbClr val="008080"/>
                </a:solidFill>
                <a:latin typeface="Courier New"/>
                <a:cs typeface="Courier New"/>
              </a:rPr>
              <a:t>200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, </a:t>
            </a:r>
            <a:r>
              <a:rPr dirty="0" sz="1350" spc="10">
                <a:solidFill>
                  <a:srgbClr val="008080"/>
                </a:solidFill>
                <a:latin typeface="Courier New"/>
                <a:cs typeface="Courier New"/>
              </a:rPr>
              <a:t>180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]</a:t>
            </a:r>
            <a:r>
              <a:rPr dirty="0" sz="1350" spc="-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}</a:t>
            </a:r>
            <a:endParaRPr sz="1350">
              <a:latin typeface="Courier New"/>
              <a:cs typeface="Courier New"/>
            </a:endParaRPr>
          </a:p>
          <a:p>
            <a:pPr marL="525145">
              <a:lnSpc>
                <a:spcPts val="1500"/>
              </a:lnSpc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350">
              <a:latin typeface="Courier New"/>
              <a:cs typeface="Courier New"/>
            </a:endParaRPr>
          </a:p>
          <a:p>
            <a:pPr marL="316865">
              <a:lnSpc>
                <a:spcPts val="1575"/>
              </a:lnSpc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.assign(</a:t>
            </a:r>
            <a:endParaRPr sz="1350">
              <a:latin typeface="Courier New"/>
              <a:cs typeface="Courier New"/>
            </a:endParaRPr>
          </a:p>
          <a:p>
            <a:pPr marL="733425" marR="5097145">
              <a:lnSpc>
                <a:spcPts val="1580"/>
              </a:lnSpc>
              <a:spcBef>
                <a:spcPts val="65"/>
              </a:spcBef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lag1 = </a:t>
            </a:r>
            <a:r>
              <a:rPr dirty="0" sz="1350" spc="10" b="1">
                <a:solidFill>
                  <a:srgbClr val="333333"/>
                </a:solidFill>
                <a:latin typeface="Courier New"/>
                <a:cs typeface="Courier New"/>
              </a:rPr>
              <a:t>lambda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x:</a:t>
            </a:r>
            <a:r>
              <a:rPr dirty="0" sz="1350" spc="-7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x[</a:t>
            </a:r>
            <a:r>
              <a:rPr dirty="0" sz="1350" spc="10">
                <a:solidFill>
                  <a:srgbClr val="DD1144"/>
                </a:solidFill>
                <a:latin typeface="Courier New"/>
                <a:cs typeface="Courier New"/>
              </a:rPr>
              <a:t>'sales'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].shift(</a:t>
            </a:r>
            <a:r>
              <a:rPr dirty="0" sz="1350" spc="10">
                <a:solidFill>
                  <a:srgbClr val="008080"/>
                </a:solidFill>
                <a:latin typeface="Courier New"/>
                <a:cs typeface="Courier New"/>
              </a:rPr>
              <a:t>1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),  lag2 = </a:t>
            </a:r>
            <a:r>
              <a:rPr dirty="0" sz="1350" spc="10" b="1">
                <a:solidFill>
                  <a:srgbClr val="333333"/>
                </a:solidFill>
                <a:latin typeface="Courier New"/>
                <a:cs typeface="Courier New"/>
              </a:rPr>
              <a:t>lambda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x:</a:t>
            </a:r>
            <a:r>
              <a:rPr dirty="0" sz="1350" spc="-5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x[</a:t>
            </a:r>
            <a:r>
              <a:rPr dirty="0" sz="1350" spc="10">
                <a:solidFill>
                  <a:srgbClr val="DD1144"/>
                </a:solidFill>
                <a:latin typeface="Courier New"/>
                <a:cs typeface="Courier New"/>
              </a:rPr>
              <a:t>'sales'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].shift(</a:t>
            </a:r>
            <a:r>
              <a:rPr dirty="0" sz="1350" spc="10">
                <a:solidFill>
                  <a:srgbClr val="008080"/>
                </a:solidFill>
                <a:latin typeface="Courier New"/>
                <a:cs typeface="Courier New"/>
              </a:rPr>
              <a:t>2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350">
              <a:latin typeface="Courier New"/>
              <a:cs typeface="Courier New"/>
            </a:endParaRPr>
          </a:p>
          <a:p>
            <a:pPr marL="525145">
              <a:lnSpc>
                <a:spcPts val="1500"/>
              </a:lnSpc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350">
              <a:latin typeface="Courier New"/>
              <a:cs typeface="Courier New"/>
            </a:endParaRPr>
          </a:p>
          <a:p>
            <a:pPr marL="107950">
              <a:lnSpc>
                <a:spcPts val="1595"/>
              </a:lnSpc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350">
              <a:latin typeface="Courier New"/>
              <a:cs typeface="Courier New"/>
            </a:endParaRPr>
          </a:p>
          <a:p>
            <a:pPr marL="107950">
              <a:lnSpc>
                <a:spcPct val="100000"/>
              </a:lnSpc>
              <a:spcBef>
                <a:spcPts val="1305"/>
              </a:spcBef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df.head(</a:t>
            </a:r>
            <a:r>
              <a:rPr dirty="0" sz="1350" spc="10">
                <a:solidFill>
                  <a:srgbClr val="008080"/>
                </a:solidFill>
                <a:latin typeface="Courier New"/>
                <a:cs typeface="Courier New"/>
              </a:rPr>
              <a:t>3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4400" y="5172075"/>
            <a:ext cx="9696450" cy="1019175"/>
          </a:xfrm>
          <a:custGeom>
            <a:avLst/>
            <a:gdLst/>
            <a:ahLst/>
            <a:cxnLst/>
            <a:rect l="l" t="t" r="r" b="b"/>
            <a:pathLst>
              <a:path w="9696450" h="1019175">
                <a:moveTo>
                  <a:pt x="0" y="0"/>
                </a:moveTo>
                <a:lnTo>
                  <a:pt x="9696449" y="0"/>
                </a:lnTo>
                <a:lnTo>
                  <a:pt x="9696449" y="1019174"/>
                </a:lnTo>
                <a:lnTo>
                  <a:pt x="0" y="1019174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991145" y="5262557"/>
          <a:ext cx="3816350" cy="825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9295"/>
                <a:gridCol w="989965"/>
                <a:gridCol w="729614"/>
                <a:gridCol w="729614"/>
                <a:gridCol w="657225"/>
              </a:tblGrid>
              <a:tr h="200025">
                <a:tc>
                  <a:txBody>
                    <a:bodyPr/>
                    <a:lstStyle/>
                    <a:p>
                      <a:pPr marL="31750">
                        <a:lnSpc>
                          <a:spcPts val="1475"/>
                        </a:lnSpc>
                      </a:pPr>
                      <a:r>
                        <a:rPr dirty="0" sz="1400" spc="-2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468630">
                        <a:lnSpc>
                          <a:spcPts val="1475"/>
                        </a:lnSpc>
                      </a:pPr>
                      <a:r>
                        <a:rPr dirty="0" sz="1400" spc="-2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date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4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sales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4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lag1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4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lag2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</a:tr>
              <a:tr h="212566">
                <a:tc gridSpan="2">
                  <a:txBody>
                    <a:bodyPr/>
                    <a:lstStyle/>
                    <a:p>
                      <a:pPr marL="31750">
                        <a:lnSpc>
                          <a:spcPts val="1575"/>
                        </a:lnSpc>
                      </a:pPr>
                      <a:r>
                        <a:rPr dirty="0" sz="1400" spc="-2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 0</a:t>
                      </a:r>
                      <a:r>
                        <a:rPr dirty="0" sz="1400" spc="-85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00" spc="-2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2025-01-01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5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100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5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NaN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5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NaN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</a:tr>
              <a:tr h="200024">
                <a:tc gridSpan="2">
                  <a:txBody>
                    <a:bodyPr/>
                    <a:lstStyle/>
                    <a:p>
                      <a:pPr marL="31750">
                        <a:lnSpc>
                          <a:spcPts val="1475"/>
                        </a:lnSpc>
                      </a:pPr>
                      <a:r>
                        <a:rPr dirty="0" sz="1400" spc="-2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 1</a:t>
                      </a:r>
                      <a:r>
                        <a:rPr dirty="0" sz="1400" spc="-85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00" spc="-2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2025-01-02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4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150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4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100.0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475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NaN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</a:tr>
              <a:tr h="212566">
                <a:tc gridSpan="2">
                  <a:txBody>
                    <a:bodyPr/>
                    <a:lstStyle/>
                    <a:p>
                      <a:pPr marL="31750">
                        <a:lnSpc>
                          <a:spcPts val="1570"/>
                        </a:lnSpc>
                      </a:pPr>
                      <a:r>
                        <a:rPr dirty="0" sz="1400" spc="-2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 2</a:t>
                      </a:r>
                      <a:r>
                        <a:rPr dirty="0" sz="1400" spc="-85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00" spc="-2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2025-01-03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570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120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570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150.0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570"/>
                        </a:lnSpc>
                      </a:pPr>
                      <a:r>
                        <a:rPr dirty="0" sz="14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100.0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10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530225"/>
            <a:ext cx="7963534" cy="250952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solidFill>
                  <a:srgbClr val="C2132D"/>
                </a:solidFill>
                <a:latin typeface="Roboto Condensed"/>
                <a:cs typeface="Roboto Condensed"/>
              </a:rPr>
              <a:t>Class </a:t>
            </a:r>
            <a:r>
              <a:rPr dirty="0" sz="3350" spc="5">
                <a:solidFill>
                  <a:srgbClr val="C2132D"/>
                </a:solidFill>
                <a:latin typeface="Roboto Condensed"/>
                <a:cs typeface="Roboto Condensed"/>
              </a:rPr>
              <a:t>Activity: </a:t>
            </a:r>
            <a:r>
              <a:rPr dirty="0" sz="3350" spc="10">
                <a:solidFill>
                  <a:srgbClr val="C2132D"/>
                </a:solidFill>
                <a:latin typeface="Roboto Condensed"/>
                <a:cs typeface="Roboto Condensed"/>
              </a:rPr>
              <a:t>Plot the </a:t>
            </a:r>
            <a:r>
              <a:rPr dirty="0" sz="3200">
                <a:solidFill>
                  <a:srgbClr val="C2132D"/>
                </a:solidFill>
                <a:latin typeface="Courier New"/>
                <a:cs typeface="Courier New"/>
              </a:rPr>
              <a:t>aus_beer</a:t>
            </a:r>
            <a:r>
              <a:rPr dirty="0" sz="3200" spc="-1225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3350" spc="10">
                <a:solidFill>
                  <a:srgbClr val="C2132D"/>
                </a:solidFill>
                <a:latin typeface="Roboto Condensed"/>
                <a:cs typeface="Roboto Condensed"/>
              </a:rPr>
              <a:t>Time Series</a:t>
            </a:r>
            <a:endParaRPr sz="3350">
              <a:latin typeface="Roboto Condensed"/>
              <a:cs typeface="Roboto Condensed"/>
            </a:endParaRPr>
          </a:p>
          <a:p>
            <a:pPr marL="393700" indent="-133985">
              <a:lnSpc>
                <a:spcPct val="100000"/>
              </a:lnSpc>
              <a:spcBef>
                <a:spcPts val="3005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Load the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aus_beer.csv</a:t>
            </a:r>
            <a:r>
              <a:rPr dirty="0" sz="1700" spc="-580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dataset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from Canvas.</a:t>
            </a: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Create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 line plot of the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beer</a:t>
            </a:r>
            <a:r>
              <a:rPr dirty="0" sz="1700" spc="-580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column.</a:t>
            </a: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Color the plot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by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quarter.</a:t>
            </a: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Add a legend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plot.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688208" y="3599699"/>
            <a:ext cx="5822659" cy="23534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403080" y="182880"/>
            <a:ext cx="1978660" cy="966469"/>
          </a:xfrm>
          <a:custGeom>
            <a:avLst/>
            <a:gdLst/>
            <a:ahLst/>
            <a:cxnLst/>
            <a:rect l="l" t="t" r="r" b="b"/>
            <a:pathLst>
              <a:path w="1978659" h="966469">
                <a:moveTo>
                  <a:pt x="1978152" y="966216"/>
                </a:moveTo>
                <a:lnTo>
                  <a:pt x="0" y="966216"/>
                </a:lnTo>
                <a:lnTo>
                  <a:pt x="0" y="0"/>
                </a:lnTo>
                <a:lnTo>
                  <a:pt x="1978152" y="0"/>
                </a:lnTo>
                <a:lnTo>
                  <a:pt x="1978152" y="102870"/>
                </a:lnTo>
                <a:lnTo>
                  <a:pt x="274319" y="102870"/>
                </a:lnTo>
                <a:lnTo>
                  <a:pt x="261182" y="103504"/>
                </a:lnTo>
                <a:lnTo>
                  <a:pt x="223287" y="113020"/>
                </a:lnTo>
                <a:lnTo>
                  <a:pt x="189762" y="133087"/>
                </a:lnTo>
                <a:lnTo>
                  <a:pt x="163420" y="162120"/>
                </a:lnTo>
                <a:lnTo>
                  <a:pt x="146677" y="197568"/>
                </a:lnTo>
                <a:lnTo>
                  <a:pt x="140969" y="236220"/>
                </a:lnTo>
                <a:lnTo>
                  <a:pt x="140969" y="655320"/>
                </a:lnTo>
                <a:lnTo>
                  <a:pt x="146677" y="693971"/>
                </a:lnTo>
                <a:lnTo>
                  <a:pt x="163420" y="729419"/>
                </a:lnTo>
                <a:lnTo>
                  <a:pt x="189762" y="758452"/>
                </a:lnTo>
                <a:lnTo>
                  <a:pt x="223287" y="778519"/>
                </a:lnTo>
                <a:lnTo>
                  <a:pt x="261182" y="788035"/>
                </a:lnTo>
                <a:lnTo>
                  <a:pt x="274319" y="788670"/>
                </a:lnTo>
                <a:lnTo>
                  <a:pt x="1978152" y="788670"/>
                </a:lnTo>
                <a:lnTo>
                  <a:pt x="1978152" y="966216"/>
                </a:lnTo>
                <a:close/>
              </a:path>
              <a:path w="1978659" h="966469">
                <a:moveTo>
                  <a:pt x="1978152" y="788670"/>
                </a:moveTo>
                <a:lnTo>
                  <a:pt x="1703069" y="788670"/>
                </a:lnTo>
                <a:lnTo>
                  <a:pt x="1716205" y="788035"/>
                </a:lnTo>
                <a:lnTo>
                  <a:pt x="1729088" y="786132"/>
                </a:lnTo>
                <a:lnTo>
                  <a:pt x="1765992" y="772906"/>
                </a:lnTo>
                <a:lnTo>
                  <a:pt x="1797360" y="749612"/>
                </a:lnTo>
                <a:lnTo>
                  <a:pt x="1820653" y="718244"/>
                </a:lnTo>
                <a:lnTo>
                  <a:pt x="1833880" y="681340"/>
                </a:lnTo>
                <a:lnTo>
                  <a:pt x="1836419" y="655320"/>
                </a:lnTo>
                <a:lnTo>
                  <a:pt x="1836419" y="236220"/>
                </a:lnTo>
                <a:lnTo>
                  <a:pt x="1830708" y="197568"/>
                </a:lnTo>
                <a:lnTo>
                  <a:pt x="1813965" y="162120"/>
                </a:lnTo>
                <a:lnTo>
                  <a:pt x="1787623" y="133087"/>
                </a:lnTo>
                <a:lnTo>
                  <a:pt x="1754098" y="113020"/>
                </a:lnTo>
                <a:lnTo>
                  <a:pt x="1716205" y="103504"/>
                </a:lnTo>
                <a:lnTo>
                  <a:pt x="1703069" y="102870"/>
                </a:lnTo>
                <a:lnTo>
                  <a:pt x="1978152" y="102870"/>
                </a:lnTo>
                <a:lnTo>
                  <a:pt x="1978152" y="788670"/>
                </a:lnTo>
                <a:close/>
              </a:path>
            </a:pathLst>
          </a:custGeom>
          <a:solidFill>
            <a:srgbClr val="323232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548811" y="290512"/>
            <a:ext cx="1685925" cy="676275"/>
          </a:xfrm>
          <a:custGeom>
            <a:avLst/>
            <a:gdLst/>
            <a:ahLst/>
            <a:cxnLst/>
            <a:rect l="l" t="t" r="r" b="b"/>
            <a:pathLst>
              <a:path w="1685925" h="676275">
                <a:moveTo>
                  <a:pt x="1565780" y="676274"/>
                </a:moveTo>
                <a:lnTo>
                  <a:pt x="120144" y="676274"/>
                </a:lnTo>
                <a:lnTo>
                  <a:pt x="111782" y="675451"/>
                </a:lnTo>
                <a:lnTo>
                  <a:pt x="71578" y="663255"/>
                </a:lnTo>
                <a:lnTo>
                  <a:pt x="31692" y="632642"/>
                </a:lnTo>
                <a:lnTo>
                  <a:pt x="6556" y="589095"/>
                </a:lnTo>
                <a:lnTo>
                  <a:pt x="0" y="556130"/>
                </a:lnTo>
                <a:lnTo>
                  <a:pt x="0" y="120144"/>
                </a:lnTo>
                <a:lnTo>
                  <a:pt x="13018" y="71578"/>
                </a:lnTo>
                <a:lnTo>
                  <a:pt x="43632" y="31692"/>
                </a:lnTo>
                <a:lnTo>
                  <a:pt x="87178" y="6557"/>
                </a:lnTo>
                <a:lnTo>
                  <a:pt x="120144" y="0"/>
                </a:lnTo>
                <a:lnTo>
                  <a:pt x="1565780" y="0"/>
                </a:lnTo>
                <a:lnTo>
                  <a:pt x="1614345" y="13019"/>
                </a:lnTo>
                <a:lnTo>
                  <a:pt x="1654232" y="43632"/>
                </a:lnTo>
                <a:lnTo>
                  <a:pt x="1679366" y="87179"/>
                </a:lnTo>
                <a:lnTo>
                  <a:pt x="1685925" y="120144"/>
                </a:lnTo>
                <a:lnTo>
                  <a:pt x="1685925" y="556130"/>
                </a:lnTo>
                <a:lnTo>
                  <a:pt x="1672904" y="604696"/>
                </a:lnTo>
                <a:lnTo>
                  <a:pt x="1642292" y="644582"/>
                </a:lnTo>
                <a:lnTo>
                  <a:pt x="1598743" y="669717"/>
                </a:lnTo>
                <a:lnTo>
                  <a:pt x="1565780" y="6762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548810" y="290512"/>
            <a:ext cx="1685925" cy="676275"/>
          </a:xfrm>
          <a:custGeom>
            <a:avLst/>
            <a:gdLst/>
            <a:ahLst/>
            <a:cxnLst/>
            <a:rect l="l" t="t" r="r" b="b"/>
            <a:pathLst>
              <a:path w="1685925" h="676275">
                <a:moveTo>
                  <a:pt x="0" y="547687"/>
                </a:moveTo>
                <a:lnTo>
                  <a:pt x="0" y="128587"/>
                </a:lnTo>
                <a:lnTo>
                  <a:pt x="0" y="120144"/>
                </a:lnTo>
                <a:lnTo>
                  <a:pt x="823" y="111782"/>
                </a:lnTo>
                <a:lnTo>
                  <a:pt x="2470" y="103501"/>
                </a:lnTo>
                <a:lnTo>
                  <a:pt x="4117" y="95220"/>
                </a:lnTo>
                <a:lnTo>
                  <a:pt x="6556" y="87179"/>
                </a:lnTo>
                <a:lnTo>
                  <a:pt x="9787" y="79379"/>
                </a:lnTo>
                <a:lnTo>
                  <a:pt x="13018" y="71578"/>
                </a:lnTo>
                <a:lnTo>
                  <a:pt x="37662" y="37662"/>
                </a:lnTo>
                <a:lnTo>
                  <a:pt x="43632" y="31692"/>
                </a:lnTo>
                <a:lnTo>
                  <a:pt x="50127" y="26361"/>
                </a:lnTo>
                <a:lnTo>
                  <a:pt x="57147" y="21670"/>
                </a:lnTo>
                <a:lnTo>
                  <a:pt x="64167" y="16980"/>
                </a:lnTo>
                <a:lnTo>
                  <a:pt x="71577" y="13019"/>
                </a:lnTo>
                <a:lnTo>
                  <a:pt x="79378" y="9788"/>
                </a:lnTo>
                <a:lnTo>
                  <a:pt x="87178" y="6557"/>
                </a:lnTo>
                <a:lnTo>
                  <a:pt x="95219" y="4117"/>
                </a:lnTo>
                <a:lnTo>
                  <a:pt x="103501" y="2470"/>
                </a:lnTo>
                <a:lnTo>
                  <a:pt x="111782" y="823"/>
                </a:lnTo>
                <a:lnTo>
                  <a:pt x="120144" y="0"/>
                </a:lnTo>
                <a:lnTo>
                  <a:pt x="128588" y="0"/>
                </a:lnTo>
                <a:lnTo>
                  <a:pt x="1557337" y="0"/>
                </a:lnTo>
                <a:lnTo>
                  <a:pt x="1565780" y="0"/>
                </a:lnTo>
                <a:lnTo>
                  <a:pt x="1574142" y="823"/>
                </a:lnTo>
                <a:lnTo>
                  <a:pt x="1582422" y="2470"/>
                </a:lnTo>
                <a:lnTo>
                  <a:pt x="1590703" y="4117"/>
                </a:lnTo>
                <a:lnTo>
                  <a:pt x="1598743" y="6557"/>
                </a:lnTo>
                <a:lnTo>
                  <a:pt x="1606544" y="9788"/>
                </a:lnTo>
                <a:lnTo>
                  <a:pt x="1614344" y="13019"/>
                </a:lnTo>
                <a:lnTo>
                  <a:pt x="1648262" y="37662"/>
                </a:lnTo>
                <a:lnTo>
                  <a:pt x="1672904" y="71578"/>
                </a:lnTo>
                <a:lnTo>
                  <a:pt x="1685101" y="111782"/>
                </a:lnTo>
                <a:lnTo>
                  <a:pt x="1685925" y="120144"/>
                </a:lnTo>
                <a:lnTo>
                  <a:pt x="1685925" y="128587"/>
                </a:lnTo>
                <a:lnTo>
                  <a:pt x="1685925" y="547687"/>
                </a:lnTo>
                <a:lnTo>
                  <a:pt x="1685925" y="556130"/>
                </a:lnTo>
                <a:lnTo>
                  <a:pt x="1685101" y="564492"/>
                </a:lnTo>
                <a:lnTo>
                  <a:pt x="1672904" y="604696"/>
                </a:lnTo>
                <a:lnTo>
                  <a:pt x="1648262" y="638612"/>
                </a:lnTo>
                <a:lnTo>
                  <a:pt x="1628775" y="654603"/>
                </a:lnTo>
                <a:lnTo>
                  <a:pt x="1621754" y="659294"/>
                </a:lnTo>
                <a:lnTo>
                  <a:pt x="1614344" y="663255"/>
                </a:lnTo>
                <a:lnTo>
                  <a:pt x="1606544" y="666486"/>
                </a:lnTo>
                <a:lnTo>
                  <a:pt x="1598743" y="669717"/>
                </a:lnTo>
                <a:lnTo>
                  <a:pt x="1590703" y="672156"/>
                </a:lnTo>
                <a:lnTo>
                  <a:pt x="1582422" y="673804"/>
                </a:lnTo>
                <a:lnTo>
                  <a:pt x="1574142" y="675451"/>
                </a:lnTo>
                <a:lnTo>
                  <a:pt x="1565780" y="676274"/>
                </a:lnTo>
                <a:lnTo>
                  <a:pt x="1557337" y="676274"/>
                </a:lnTo>
                <a:lnTo>
                  <a:pt x="128588" y="676274"/>
                </a:lnTo>
                <a:lnTo>
                  <a:pt x="120144" y="676274"/>
                </a:lnTo>
                <a:lnTo>
                  <a:pt x="111782" y="675451"/>
                </a:lnTo>
                <a:lnTo>
                  <a:pt x="103501" y="673804"/>
                </a:lnTo>
                <a:lnTo>
                  <a:pt x="95219" y="672156"/>
                </a:lnTo>
                <a:lnTo>
                  <a:pt x="87178" y="669717"/>
                </a:lnTo>
                <a:lnTo>
                  <a:pt x="79378" y="666486"/>
                </a:lnTo>
                <a:lnTo>
                  <a:pt x="71578" y="663255"/>
                </a:lnTo>
                <a:lnTo>
                  <a:pt x="64167" y="659294"/>
                </a:lnTo>
                <a:lnTo>
                  <a:pt x="57147" y="654603"/>
                </a:lnTo>
                <a:lnTo>
                  <a:pt x="50127" y="649913"/>
                </a:lnTo>
                <a:lnTo>
                  <a:pt x="21670" y="619126"/>
                </a:lnTo>
                <a:lnTo>
                  <a:pt x="16979" y="612106"/>
                </a:lnTo>
                <a:lnTo>
                  <a:pt x="13018" y="604696"/>
                </a:lnTo>
                <a:lnTo>
                  <a:pt x="9787" y="596895"/>
                </a:lnTo>
                <a:lnTo>
                  <a:pt x="6556" y="589095"/>
                </a:lnTo>
                <a:lnTo>
                  <a:pt x="4117" y="581054"/>
                </a:lnTo>
                <a:lnTo>
                  <a:pt x="2470" y="572773"/>
                </a:lnTo>
                <a:lnTo>
                  <a:pt x="823" y="564492"/>
                </a:lnTo>
                <a:lnTo>
                  <a:pt x="0" y="556130"/>
                </a:lnTo>
                <a:lnTo>
                  <a:pt x="0" y="547687"/>
                </a:lnTo>
                <a:close/>
              </a:path>
            </a:pathLst>
          </a:custGeom>
          <a:ln w="28574">
            <a:solidFill>
              <a:srgbClr val="DDDDD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926846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05:00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10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1539875"/>
            <a:ext cx="4195445" cy="1928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 this demo, we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will:</a:t>
            </a:r>
            <a:endParaRPr sz="1800">
              <a:latin typeface="Roboto"/>
              <a:cs typeface="Roboto"/>
            </a:endParaRPr>
          </a:p>
          <a:p>
            <a:pPr marL="393065" marR="398145" indent="-133985">
              <a:lnSpc>
                <a:spcPct val="118100"/>
              </a:lnSpc>
              <a:spcBef>
                <a:spcPts val="1800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Create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lag scatter plots for a</a:t>
            </a:r>
            <a:r>
              <a:rPr dirty="0" sz="1800" spc="-7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time  series.</a:t>
            </a:r>
            <a:endParaRPr sz="1800">
              <a:latin typeface="Roboto"/>
              <a:cs typeface="Roboto"/>
            </a:endParaRPr>
          </a:p>
          <a:p>
            <a:pPr marL="393065" marR="5080" indent="-133985">
              <a:lnSpc>
                <a:spcPct val="118100"/>
              </a:lnSpc>
              <a:spcBef>
                <a:spcPts val="819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Interpret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relationship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between the 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current value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its lagged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values.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248399" y="1543050"/>
            <a:ext cx="4362449" cy="49434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840613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Demo: </a:t>
            </a:r>
            <a:r>
              <a:rPr dirty="0" sz="3350" spc="5">
                <a:latin typeface="Roboto Condensed"/>
                <a:cs typeface="Roboto Condensed"/>
              </a:rPr>
              <a:t>Creating </a:t>
            </a:r>
            <a:r>
              <a:rPr dirty="0" sz="3350" spc="10">
                <a:latin typeface="Roboto Condensed"/>
                <a:cs typeface="Roboto Condensed"/>
              </a:rPr>
              <a:t>and </a:t>
            </a:r>
            <a:r>
              <a:rPr dirty="0" sz="3350" spc="5">
                <a:latin typeface="Roboto Condensed"/>
                <a:cs typeface="Roboto Condensed"/>
              </a:rPr>
              <a:t>Interpreting </a:t>
            </a:r>
            <a:r>
              <a:rPr dirty="0" sz="3350" spc="10">
                <a:latin typeface="Roboto Condensed"/>
                <a:cs typeface="Roboto Condensed"/>
              </a:rPr>
              <a:t>Lag Scatter</a:t>
            </a:r>
            <a:r>
              <a:rPr dirty="0" sz="3350" spc="-10">
                <a:latin typeface="Roboto Condensed"/>
                <a:cs typeface="Roboto Condensed"/>
              </a:rPr>
              <a:t> </a:t>
            </a:r>
            <a:r>
              <a:rPr dirty="0" sz="3350" spc="10">
                <a:latin typeface="Roboto Condensed"/>
                <a:cs typeface="Roboto Condensed"/>
              </a:rPr>
              <a:t>Plots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10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4608" y="2752344"/>
            <a:ext cx="9431020" cy="1042669"/>
          </a:xfrm>
          <a:prstGeom prst="rect"/>
          <a:solidFill>
            <a:srgbClr val="333333"/>
          </a:solidFill>
        </p:spPr>
        <p:txBody>
          <a:bodyPr wrap="square" lIns="0" tIns="146050" rIns="0" bIns="0" rtlCol="0" vert="horz">
            <a:spAutoFit/>
          </a:bodyPr>
          <a:lstStyle/>
          <a:p>
            <a:pPr marL="227965">
              <a:lnSpc>
                <a:spcPct val="100000"/>
              </a:lnSpc>
              <a:spcBef>
                <a:spcPts val="1150"/>
              </a:spcBef>
            </a:pPr>
            <a:r>
              <a:rPr dirty="0" sz="4100" spc="-810">
                <a:solidFill>
                  <a:srgbClr val="000000"/>
                </a:solidFill>
                <a:latin typeface="Roboto Condensed"/>
                <a:cs typeface="Roboto Condensed"/>
              </a:rPr>
              <a:t>P</a:t>
            </a:r>
            <a:r>
              <a:rPr dirty="0" sz="4100" spc="-810">
                <a:solidFill>
                  <a:srgbClr val="FFFFFF"/>
                </a:solidFill>
                <a:latin typeface="Roboto Condensed"/>
                <a:cs typeface="Roboto Condensed"/>
              </a:rPr>
              <a:t>P</a:t>
            </a:r>
            <a:r>
              <a:rPr dirty="0" sz="4100" spc="-810">
                <a:solidFill>
                  <a:srgbClr val="000000"/>
                </a:solidFill>
                <a:latin typeface="Roboto Condensed"/>
                <a:cs typeface="Roboto Condensed"/>
              </a:rPr>
              <a:t>l</a:t>
            </a:r>
            <a:r>
              <a:rPr dirty="0" sz="4100" spc="-810">
                <a:solidFill>
                  <a:srgbClr val="FFFFFF"/>
                </a:solidFill>
                <a:latin typeface="Roboto Condensed"/>
                <a:cs typeface="Roboto Condensed"/>
              </a:rPr>
              <a:t>l</a:t>
            </a:r>
            <a:r>
              <a:rPr dirty="0" sz="4100" spc="-810">
                <a:solidFill>
                  <a:srgbClr val="000000"/>
                </a:solidFill>
                <a:latin typeface="Roboto Condensed"/>
                <a:cs typeface="Roboto Condensed"/>
              </a:rPr>
              <a:t>o</a:t>
            </a:r>
            <a:r>
              <a:rPr dirty="0" sz="4100" spc="-810">
                <a:solidFill>
                  <a:srgbClr val="FFFFFF"/>
                </a:solidFill>
                <a:latin typeface="Roboto Condensed"/>
                <a:cs typeface="Roboto Condensed"/>
              </a:rPr>
              <a:t>o</a:t>
            </a:r>
            <a:r>
              <a:rPr dirty="0" sz="4100" spc="-810">
                <a:solidFill>
                  <a:srgbClr val="000000"/>
                </a:solidFill>
                <a:latin typeface="Roboto Condensed"/>
                <a:cs typeface="Roboto Condensed"/>
              </a:rPr>
              <a:t>t</a:t>
            </a:r>
            <a:r>
              <a:rPr dirty="0" sz="4100" spc="-810">
                <a:solidFill>
                  <a:srgbClr val="FFFFFF"/>
                </a:solidFill>
                <a:latin typeface="Roboto Condensed"/>
                <a:cs typeface="Roboto Condensed"/>
              </a:rPr>
              <a:t>t </a:t>
            </a:r>
            <a:r>
              <a:rPr dirty="0" sz="4100" spc="-994">
                <a:solidFill>
                  <a:srgbClr val="000000"/>
                </a:solidFill>
                <a:latin typeface="Roboto Condensed"/>
                <a:cs typeface="Roboto Condensed"/>
              </a:rPr>
              <a:t>a</a:t>
            </a:r>
            <a:r>
              <a:rPr dirty="0" sz="4100" spc="-994">
                <a:solidFill>
                  <a:srgbClr val="FFFFFF"/>
                </a:solidFill>
                <a:latin typeface="Roboto Condensed"/>
                <a:cs typeface="Roboto Condensed"/>
              </a:rPr>
              <a:t>a</a:t>
            </a:r>
            <a:r>
              <a:rPr dirty="0" sz="4100" spc="-994">
                <a:solidFill>
                  <a:srgbClr val="000000"/>
                </a:solidFill>
                <a:latin typeface="Roboto Condensed"/>
                <a:cs typeface="Roboto Condensed"/>
              </a:rPr>
              <a:t>n</a:t>
            </a:r>
            <a:r>
              <a:rPr dirty="0" sz="4100" spc="-994">
                <a:solidFill>
                  <a:srgbClr val="FFFFFF"/>
                </a:solidFill>
                <a:latin typeface="Roboto Condensed"/>
                <a:cs typeface="Roboto Condensed"/>
              </a:rPr>
              <a:t>n</a:t>
            </a:r>
            <a:r>
              <a:rPr dirty="0" sz="4100" spc="-994">
                <a:solidFill>
                  <a:srgbClr val="000000"/>
                </a:solidFill>
                <a:latin typeface="Roboto Condensed"/>
                <a:cs typeface="Roboto Condensed"/>
              </a:rPr>
              <a:t>d</a:t>
            </a:r>
            <a:r>
              <a:rPr dirty="0" sz="4100" spc="-994">
                <a:solidFill>
                  <a:srgbClr val="FFFFFF"/>
                </a:solidFill>
                <a:latin typeface="Roboto Condensed"/>
                <a:cs typeface="Roboto Condensed"/>
              </a:rPr>
              <a:t>d</a:t>
            </a:r>
            <a:r>
              <a:rPr dirty="0" sz="4100" spc="15">
                <a:solidFill>
                  <a:srgbClr val="FFFFFF"/>
                </a:solidFill>
                <a:latin typeface="Roboto Condensed"/>
                <a:cs typeface="Roboto Condensed"/>
              </a:rPr>
              <a:t> </a:t>
            </a:r>
            <a:r>
              <a:rPr dirty="0" sz="4100" spc="-765">
                <a:solidFill>
                  <a:srgbClr val="000000"/>
                </a:solidFill>
                <a:latin typeface="Roboto Condensed"/>
                <a:cs typeface="Roboto Condensed"/>
              </a:rPr>
              <a:t>I</a:t>
            </a:r>
            <a:r>
              <a:rPr dirty="0" sz="4100" spc="-765">
                <a:solidFill>
                  <a:srgbClr val="FFFFFF"/>
                </a:solidFill>
                <a:latin typeface="Roboto Condensed"/>
                <a:cs typeface="Roboto Condensed"/>
              </a:rPr>
              <a:t>I</a:t>
            </a:r>
            <a:r>
              <a:rPr dirty="0" sz="4100" spc="-765">
                <a:solidFill>
                  <a:srgbClr val="000000"/>
                </a:solidFill>
                <a:latin typeface="Roboto Condensed"/>
                <a:cs typeface="Roboto Condensed"/>
              </a:rPr>
              <a:t>n</a:t>
            </a:r>
            <a:r>
              <a:rPr dirty="0" sz="4100" spc="-765">
                <a:solidFill>
                  <a:srgbClr val="FFFFFF"/>
                </a:solidFill>
                <a:latin typeface="Roboto Condensed"/>
                <a:cs typeface="Roboto Condensed"/>
              </a:rPr>
              <a:t>n</a:t>
            </a:r>
            <a:r>
              <a:rPr dirty="0" sz="4100" spc="-765">
                <a:solidFill>
                  <a:srgbClr val="000000"/>
                </a:solidFill>
                <a:latin typeface="Roboto Condensed"/>
                <a:cs typeface="Roboto Condensed"/>
              </a:rPr>
              <a:t>t</a:t>
            </a:r>
            <a:r>
              <a:rPr dirty="0" sz="4100" spc="-765">
                <a:solidFill>
                  <a:srgbClr val="FFFFFF"/>
                </a:solidFill>
                <a:latin typeface="Roboto Condensed"/>
                <a:cs typeface="Roboto Condensed"/>
              </a:rPr>
              <a:t>t</a:t>
            </a:r>
            <a:r>
              <a:rPr dirty="0" sz="4100" spc="-765">
                <a:solidFill>
                  <a:srgbClr val="000000"/>
                </a:solidFill>
                <a:latin typeface="Roboto Condensed"/>
                <a:cs typeface="Roboto Condensed"/>
              </a:rPr>
              <a:t>e</a:t>
            </a:r>
            <a:r>
              <a:rPr dirty="0" sz="4100" spc="-765">
                <a:solidFill>
                  <a:srgbClr val="FFFFFF"/>
                </a:solidFill>
                <a:latin typeface="Roboto Condensed"/>
                <a:cs typeface="Roboto Condensed"/>
              </a:rPr>
              <a:t>e</a:t>
            </a:r>
            <a:r>
              <a:rPr dirty="0" sz="4100" spc="-765">
                <a:solidFill>
                  <a:srgbClr val="000000"/>
                </a:solidFill>
                <a:latin typeface="Roboto Condensed"/>
                <a:cs typeface="Roboto Condensed"/>
              </a:rPr>
              <a:t>r</a:t>
            </a:r>
            <a:r>
              <a:rPr dirty="0" sz="4100" spc="-765">
                <a:solidFill>
                  <a:srgbClr val="FFFFFF"/>
                </a:solidFill>
                <a:latin typeface="Roboto Condensed"/>
                <a:cs typeface="Roboto Condensed"/>
              </a:rPr>
              <a:t>r</a:t>
            </a:r>
            <a:r>
              <a:rPr dirty="0" sz="4100" spc="-765">
                <a:solidFill>
                  <a:srgbClr val="000000"/>
                </a:solidFill>
                <a:latin typeface="Roboto Condensed"/>
                <a:cs typeface="Roboto Condensed"/>
              </a:rPr>
              <a:t>p</a:t>
            </a:r>
            <a:r>
              <a:rPr dirty="0" sz="4100" spc="-765">
                <a:solidFill>
                  <a:srgbClr val="FFFFFF"/>
                </a:solidFill>
                <a:latin typeface="Roboto Condensed"/>
                <a:cs typeface="Roboto Condensed"/>
              </a:rPr>
              <a:t>p</a:t>
            </a:r>
            <a:r>
              <a:rPr dirty="0" sz="4100" spc="-765">
                <a:solidFill>
                  <a:srgbClr val="000000"/>
                </a:solidFill>
                <a:latin typeface="Roboto Condensed"/>
                <a:cs typeface="Roboto Condensed"/>
              </a:rPr>
              <a:t>r</a:t>
            </a:r>
            <a:r>
              <a:rPr dirty="0" sz="4100" spc="-765">
                <a:solidFill>
                  <a:srgbClr val="FFFFFF"/>
                </a:solidFill>
                <a:latin typeface="Roboto Condensed"/>
                <a:cs typeface="Roboto Condensed"/>
              </a:rPr>
              <a:t>r</a:t>
            </a:r>
            <a:r>
              <a:rPr dirty="0" sz="4100" spc="-765">
                <a:solidFill>
                  <a:srgbClr val="000000"/>
                </a:solidFill>
                <a:latin typeface="Roboto Condensed"/>
                <a:cs typeface="Roboto Condensed"/>
              </a:rPr>
              <a:t>e</a:t>
            </a:r>
            <a:r>
              <a:rPr dirty="0" sz="4100" spc="-765">
                <a:solidFill>
                  <a:srgbClr val="FFFFFF"/>
                </a:solidFill>
                <a:latin typeface="Roboto Condensed"/>
                <a:cs typeface="Roboto Condensed"/>
              </a:rPr>
              <a:t>e</a:t>
            </a:r>
            <a:r>
              <a:rPr dirty="0" sz="4100" spc="-765">
                <a:solidFill>
                  <a:srgbClr val="000000"/>
                </a:solidFill>
                <a:latin typeface="Roboto Condensed"/>
                <a:cs typeface="Roboto Condensed"/>
              </a:rPr>
              <a:t>t</a:t>
            </a:r>
            <a:r>
              <a:rPr dirty="0" sz="4100" spc="-765">
                <a:solidFill>
                  <a:srgbClr val="FFFFFF"/>
                </a:solidFill>
                <a:latin typeface="Roboto Condensed"/>
                <a:cs typeface="Roboto Condensed"/>
              </a:rPr>
              <a:t>t </a:t>
            </a:r>
            <a:r>
              <a:rPr dirty="0" sz="4100" spc="-850">
                <a:solidFill>
                  <a:srgbClr val="000000"/>
                </a:solidFill>
                <a:latin typeface="Roboto Condensed"/>
                <a:cs typeface="Roboto Condensed"/>
              </a:rPr>
              <a:t>t</a:t>
            </a:r>
            <a:r>
              <a:rPr dirty="0" sz="4100" spc="-850">
                <a:solidFill>
                  <a:srgbClr val="FFFFFF"/>
                </a:solidFill>
                <a:latin typeface="Roboto Condensed"/>
                <a:cs typeface="Roboto Condensed"/>
              </a:rPr>
              <a:t>t</a:t>
            </a:r>
            <a:r>
              <a:rPr dirty="0" sz="4100" spc="-850">
                <a:solidFill>
                  <a:srgbClr val="000000"/>
                </a:solidFill>
                <a:latin typeface="Roboto Condensed"/>
                <a:cs typeface="Roboto Condensed"/>
              </a:rPr>
              <a:t>h</a:t>
            </a:r>
            <a:r>
              <a:rPr dirty="0" sz="4100" spc="-850">
                <a:solidFill>
                  <a:srgbClr val="FFFFFF"/>
                </a:solidFill>
                <a:latin typeface="Roboto Condensed"/>
                <a:cs typeface="Roboto Condensed"/>
              </a:rPr>
              <a:t>h</a:t>
            </a:r>
            <a:r>
              <a:rPr dirty="0" sz="4100" spc="-850">
                <a:solidFill>
                  <a:srgbClr val="000000"/>
                </a:solidFill>
                <a:latin typeface="Roboto Condensed"/>
                <a:cs typeface="Roboto Condensed"/>
              </a:rPr>
              <a:t>e</a:t>
            </a:r>
            <a:r>
              <a:rPr dirty="0" sz="4100" spc="-850">
                <a:solidFill>
                  <a:srgbClr val="FFFFFF"/>
                </a:solidFill>
                <a:latin typeface="Roboto Condensed"/>
                <a:cs typeface="Roboto Condensed"/>
              </a:rPr>
              <a:t>e </a:t>
            </a:r>
            <a:r>
              <a:rPr dirty="0" sz="4100" spc="-1110">
                <a:solidFill>
                  <a:srgbClr val="000000"/>
                </a:solidFill>
                <a:latin typeface="Roboto Condensed"/>
                <a:cs typeface="Roboto Condensed"/>
              </a:rPr>
              <a:t>A</a:t>
            </a:r>
            <a:r>
              <a:rPr dirty="0" sz="4100" spc="-1110">
                <a:solidFill>
                  <a:srgbClr val="FFFFFF"/>
                </a:solidFill>
                <a:latin typeface="Roboto Condensed"/>
                <a:cs typeface="Roboto Condensed"/>
              </a:rPr>
              <a:t>A</a:t>
            </a:r>
            <a:r>
              <a:rPr dirty="0" sz="4100" spc="-1110">
                <a:solidFill>
                  <a:srgbClr val="000000"/>
                </a:solidFill>
                <a:latin typeface="Roboto Condensed"/>
                <a:cs typeface="Roboto Condensed"/>
              </a:rPr>
              <a:t>C</a:t>
            </a:r>
            <a:r>
              <a:rPr dirty="0" sz="4100" spc="-1110">
                <a:solidFill>
                  <a:srgbClr val="FFFFFF"/>
                </a:solidFill>
                <a:latin typeface="Roboto Condensed"/>
                <a:cs typeface="Roboto Condensed"/>
              </a:rPr>
              <a:t>C</a:t>
            </a:r>
            <a:r>
              <a:rPr dirty="0" sz="4100" spc="-1110">
                <a:solidFill>
                  <a:srgbClr val="000000"/>
                </a:solidFill>
                <a:latin typeface="Roboto Condensed"/>
                <a:cs typeface="Roboto Condensed"/>
              </a:rPr>
              <a:t>F</a:t>
            </a:r>
            <a:r>
              <a:rPr dirty="0" sz="4100" spc="-1110">
                <a:solidFill>
                  <a:srgbClr val="FFFFFF"/>
                </a:solidFill>
                <a:latin typeface="Roboto Condensed"/>
                <a:cs typeface="Roboto Condensed"/>
              </a:rPr>
              <a:t>F</a:t>
            </a:r>
            <a:r>
              <a:rPr dirty="0" sz="4100" spc="15">
                <a:solidFill>
                  <a:srgbClr val="FFFFFF"/>
                </a:solidFill>
                <a:latin typeface="Roboto Condensed"/>
                <a:cs typeface="Roboto Condensed"/>
              </a:rPr>
              <a:t> </a:t>
            </a:r>
            <a:r>
              <a:rPr dirty="0" sz="4100" spc="-765">
                <a:solidFill>
                  <a:srgbClr val="000000"/>
                </a:solidFill>
                <a:latin typeface="Roboto Condensed"/>
                <a:cs typeface="Roboto Condensed"/>
              </a:rPr>
              <a:t>f</a:t>
            </a:r>
            <a:r>
              <a:rPr dirty="0" sz="4100" spc="-765">
                <a:solidFill>
                  <a:srgbClr val="FFFFFF"/>
                </a:solidFill>
                <a:latin typeface="Roboto Condensed"/>
                <a:cs typeface="Roboto Condensed"/>
              </a:rPr>
              <a:t>f</a:t>
            </a:r>
            <a:r>
              <a:rPr dirty="0" sz="4100" spc="-765">
                <a:solidFill>
                  <a:srgbClr val="000000"/>
                </a:solidFill>
                <a:latin typeface="Roboto Condensed"/>
                <a:cs typeface="Roboto Condensed"/>
              </a:rPr>
              <a:t>o</a:t>
            </a:r>
            <a:r>
              <a:rPr dirty="0" sz="4100" spc="-765">
                <a:solidFill>
                  <a:srgbClr val="FFFFFF"/>
                </a:solidFill>
                <a:latin typeface="Roboto Condensed"/>
                <a:cs typeface="Roboto Condensed"/>
              </a:rPr>
              <a:t>o</a:t>
            </a:r>
            <a:r>
              <a:rPr dirty="0" sz="4100" spc="-765">
                <a:solidFill>
                  <a:srgbClr val="000000"/>
                </a:solidFill>
                <a:latin typeface="Roboto Condensed"/>
                <a:cs typeface="Roboto Condensed"/>
              </a:rPr>
              <a:t>r</a:t>
            </a:r>
            <a:r>
              <a:rPr dirty="0" sz="4100" spc="-765">
                <a:solidFill>
                  <a:srgbClr val="FFFFFF"/>
                </a:solidFill>
                <a:latin typeface="Roboto Condensed"/>
                <a:cs typeface="Roboto Condensed"/>
              </a:rPr>
              <a:t>r</a:t>
            </a:r>
            <a:r>
              <a:rPr dirty="0" sz="4100" spc="-690">
                <a:solidFill>
                  <a:srgbClr val="FFFFFF"/>
                </a:solidFill>
                <a:latin typeface="Roboto Condensed"/>
                <a:cs typeface="Roboto Condensed"/>
              </a:rPr>
              <a:t> </a:t>
            </a:r>
            <a:r>
              <a:rPr dirty="0" sz="4100" spc="-980">
                <a:solidFill>
                  <a:srgbClr val="000000"/>
                </a:solidFill>
                <a:latin typeface="Roboto Condensed"/>
                <a:cs typeface="Roboto Condensed"/>
              </a:rPr>
              <a:t>a</a:t>
            </a:r>
            <a:r>
              <a:rPr dirty="0" sz="4100" spc="-980">
                <a:solidFill>
                  <a:srgbClr val="FFFFFF"/>
                </a:solidFill>
                <a:latin typeface="Roboto Condensed"/>
                <a:cs typeface="Roboto Condensed"/>
              </a:rPr>
              <a:t>a</a:t>
            </a:r>
            <a:r>
              <a:rPr dirty="0" sz="4100" spc="-65">
                <a:solidFill>
                  <a:srgbClr val="FFFFFF"/>
                </a:solidFill>
                <a:latin typeface="Roboto Condensed"/>
                <a:cs typeface="Roboto Condensed"/>
              </a:rPr>
              <a:t> </a:t>
            </a:r>
            <a:r>
              <a:rPr dirty="0" sz="4100" spc="-1005">
                <a:solidFill>
                  <a:srgbClr val="000000"/>
                </a:solidFill>
                <a:latin typeface="Roboto Condensed"/>
                <a:cs typeface="Roboto Condensed"/>
              </a:rPr>
              <a:t>T</a:t>
            </a:r>
            <a:r>
              <a:rPr dirty="0" sz="4100" spc="-1005">
                <a:solidFill>
                  <a:srgbClr val="FFFFFF"/>
                </a:solidFill>
                <a:latin typeface="Roboto Condensed"/>
                <a:cs typeface="Roboto Condensed"/>
              </a:rPr>
              <a:t>T</a:t>
            </a:r>
            <a:r>
              <a:rPr dirty="0" sz="4100" spc="-1005">
                <a:solidFill>
                  <a:srgbClr val="000000"/>
                </a:solidFill>
                <a:latin typeface="Roboto Condensed"/>
                <a:cs typeface="Roboto Condensed"/>
              </a:rPr>
              <a:t>i</a:t>
            </a:r>
            <a:r>
              <a:rPr dirty="0" sz="4100" spc="-1005">
                <a:solidFill>
                  <a:srgbClr val="FFFFFF"/>
                </a:solidFill>
                <a:latin typeface="Roboto Condensed"/>
                <a:cs typeface="Roboto Condensed"/>
              </a:rPr>
              <a:t>i</a:t>
            </a:r>
            <a:r>
              <a:rPr dirty="0" sz="4100" spc="-1005">
                <a:solidFill>
                  <a:srgbClr val="000000"/>
                </a:solidFill>
                <a:latin typeface="Roboto Condensed"/>
                <a:cs typeface="Roboto Condensed"/>
              </a:rPr>
              <a:t>m</a:t>
            </a:r>
            <a:r>
              <a:rPr dirty="0" sz="4100" spc="-1005">
                <a:solidFill>
                  <a:srgbClr val="FFFFFF"/>
                </a:solidFill>
                <a:latin typeface="Roboto Condensed"/>
                <a:cs typeface="Roboto Condensed"/>
              </a:rPr>
              <a:t>m</a:t>
            </a:r>
            <a:r>
              <a:rPr dirty="0" sz="4100" spc="-1005">
                <a:solidFill>
                  <a:srgbClr val="000000"/>
                </a:solidFill>
                <a:latin typeface="Roboto Condensed"/>
                <a:cs typeface="Roboto Condensed"/>
              </a:rPr>
              <a:t>e</a:t>
            </a:r>
            <a:r>
              <a:rPr dirty="0" sz="4100" spc="-1005">
                <a:solidFill>
                  <a:srgbClr val="FFFFFF"/>
                </a:solidFill>
                <a:latin typeface="Roboto Condensed"/>
                <a:cs typeface="Roboto Condensed"/>
              </a:rPr>
              <a:t>e</a:t>
            </a:r>
            <a:r>
              <a:rPr dirty="0" sz="4100" spc="15">
                <a:solidFill>
                  <a:srgbClr val="FFFFFF"/>
                </a:solidFill>
                <a:latin typeface="Roboto Condensed"/>
                <a:cs typeface="Roboto Condensed"/>
              </a:rPr>
              <a:t> </a:t>
            </a:r>
            <a:r>
              <a:rPr dirty="0" sz="4100" spc="-830">
                <a:solidFill>
                  <a:srgbClr val="000000"/>
                </a:solidFill>
                <a:latin typeface="Roboto Condensed"/>
                <a:cs typeface="Roboto Condensed"/>
              </a:rPr>
              <a:t>S</a:t>
            </a:r>
            <a:r>
              <a:rPr dirty="0" sz="4100" spc="-830">
                <a:solidFill>
                  <a:srgbClr val="FFFFFF"/>
                </a:solidFill>
                <a:latin typeface="Roboto Condensed"/>
                <a:cs typeface="Roboto Condensed"/>
              </a:rPr>
              <a:t>S</a:t>
            </a:r>
            <a:r>
              <a:rPr dirty="0" sz="4100" spc="-830">
                <a:solidFill>
                  <a:srgbClr val="000000"/>
                </a:solidFill>
                <a:latin typeface="Roboto Condensed"/>
                <a:cs typeface="Roboto Condensed"/>
              </a:rPr>
              <a:t>e</a:t>
            </a:r>
            <a:r>
              <a:rPr dirty="0" sz="4100" spc="-830">
                <a:solidFill>
                  <a:srgbClr val="FFFFFF"/>
                </a:solidFill>
                <a:latin typeface="Roboto Condensed"/>
                <a:cs typeface="Roboto Condensed"/>
              </a:rPr>
              <a:t>e</a:t>
            </a:r>
            <a:r>
              <a:rPr dirty="0" sz="4100" spc="-830">
                <a:solidFill>
                  <a:srgbClr val="000000"/>
                </a:solidFill>
                <a:latin typeface="Roboto Condensed"/>
                <a:cs typeface="Roboto Condensed"/>
              </a:rPr>
              <a:t>r</a:t>
            </a:r>
            <a:r>
              <a:rPr dirty="0" sz="4100" spc="-830">
                <a:solidFill>
                  <a:srgbClr val="FFFFFF"/>
                </a:solidFill>
                <a:latin typeface="Roboto Condensed"/>
                <a:cs typeface="Roboto Condensed"/>
              </a:rPr>
              <a:t>r</a:t>
            </a:r>
            <a:r>
              <a:rPr dirty="0" sz="4100" spc="-830">
                <a:solidFill>
                  <a:srgbClr val="000000"/>
                </a:solidFill>
                <a:latin typeface="Roboto Condensed"/>
                <a:cs typeface="Roboto Condensed"/>
              </a:rPr>
              <a:t>i</a:t>
            </a:r>
            <a:r>
              <a:rPr dirty="0" sz="4100" spc="-830">
                <a:solidFill>
                  <a:srgbClr val="FFFFFF"/>
                </a:solidFill>
                <a:latin typeface="Roboto Condensed"/>
                <a:cs typeface="Roboto Condensed"/>
              </a:rPr>
              <a:t>i</a:t>
            </a:r>
            <a:r>
              <a:rPr dirty="0" sz="4100" spc="-830">
                <a:solidFill>
                  <a:srgbClr val="000000"/>
                </a:solidFill>
                <a:latin typeface="Roboto Condensed"/>
                <a:cs typeface="Roboto Condensed"/>
              </a:rPr>
              <a:t>e</a:t>
            </a:r>
            <a:r>
              <a:rPr dirty="0" sz="4100" spc="-830">
                <a:solidFill>
                  <a:srgbClr val="FFFFFF"/>
                </a:solidFill>
                <a:latin typeface="Roboto Condensed"/>
                <a:cs typeface="Roboto Condensed"/>
              </a:rPr>
              <a:t>e</a:t>
            </a:r>
            <a:r>
              <a:rPr dirty="0" sz="4100" spc="-830">
                <a:solidFill>
                  <a:srgbClr val="000000"/>
                </a:solidFill>
                <a:latin typeface="Roboto Condensed"/>
                <a:cs typeface="Roboto Condensed"/>
              </a:rPr>
              <a:t>s</a:t>
            </a:r>
            <a:r>
              <a:rPr dirty="0" sz="4100" spc="-830">
                <a:solidFill>
                  <a:srgbClr val="FFFFFF"/>
                </a:solidFill>
                <a:latin typeface="Roboto Condensed"/>
                <a:cs typeface="Roboto Condensed"/>
              </a:rPr>
              <a:t>s</a:t>
            </a:r>
            <a:endParaRPr sz="410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637519" y="5995415"/>
            <a:ext cx="887730" cy="491490"/>
          </a:xfrm>
          <a:custGeom>
            <a:avLst/>
            <a:gdLst/>
            <a:ahLst/>
            <a:cxnLst/>
            <a:rect l="l" t="t" r="r" b="b"/>
            <a:pathLst>
              <a:path w="887729" h="491489">
                <a:moveTo>
                  <a:pt x="0" y="0"/>
                </a:moveTo>
                <a:lnTo>
                  <a:pt x="887729" y="0"/>
                </a:lnTo>
                <a:lnTo>
                  <a:pt x="887729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78987" y="6218137"/>
            <a:ext cx="506730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 spc="-340">
                <a:latin typeface="Roboto"/>
                <a:cs typeface="Roboto"/>
              </a:rPr>
              <a:t>1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1</a:t>
            </a:r>
            <a:r>
              <a:rPr dirty="0" sz="1200" spc="-340">
                <a:latin typeface="Roboto"/>
                <a:cs typeface="Roboto"/>
              </a:rPr>
              <a:t>3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3</a:t>
            </a:r>
            <a:r>
              <a:rPr dirty="0" sz="1200" spc="-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250">
                <a:latin typeface="Roboto"/>
                <a:cs typeface="Roboto"/>
              </a:rPr>
              <a:t>/</a:t>
            </a:r>
            <a:r>
              <a:rPr dirty="0" sz="1200" spc="-250">
                <a:solidFill>
                  <a:srgbClr val="FFFFFF"/>
                </a:solidFill>
                <a:latin typeface="Roboto"/>
                <a:cs typeface="Roboto"/>
              </a:rPr>
              <a:t>/</a:t>
            </a:r>
            <a:r>
              <a:rPr dirty="0" sz="1200" spc="-2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340">
                <a:latin typeface="Roboto"/>
                <a:cs typeface="Roboto"/>
              </a:rPr>
              <a:t>1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1</a:t>
            </a:r>
            <a:r>
              <a:rPr dirty="0" sz="1200" spc="-340">
                <a:latin typeface="Roboto"/>
                <a:cs typeface="Roboto"/>
              </a:rPr>
              <a:t>7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7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00046" y="2379864"/>
            <a:ext cx="3780789" cy="16396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7433309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latin typeface="Roboto Condensed"/>
                <a:cs typeface="Roboto Condensed"/>
              </a:rPr>
              <a:t>What is the </a:t>
            </a:r>
            <a:r>
              <a:rPr dirty="0" sz="3350" spc="5">
                <a:latin typeface="Roboto Condensed"/>
                <a:cs typeface="Roboto Condensed"/>
              </a:rPr>
              <a:t>Autocorrelation Function</a:t>
            </a:r>
            <a:r>
              <a:rPr dirty="0" sz="3350" spc="-55">
                <a:latin typeface="Roboto Condensed"/>
                <a:cs typeface="Roboto Condensed"/>
              </a:rPr>
              <a:t> </a:t>
            </a:r>
            <a:r>
              <a:rPr dirty="0" sz="3350" spc="5">
                <a:latin typeface="Roboto Condensed"/>
                <a:cs typeface="Roboto Condensed"/>
              </a:rPr>
              <a:t>(ACF)?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4400" y="4581525"/>
            <a:ext cx="171450" cy="142875"/>
          </a:xfrm>
          <a:custGeom>
            <a:avLst/>
            <a:gdLst/>
            <a:ahLst/>
            <a:cxnLst/>
            <a:rect l="l" t="t" r="r" b="b"/>
            <a:pathLst>
              <a:path w="171450" h="142875">
                <a:moveTo>
                  <a:pt x="0" y="0"/>
                </a:moveTo>
                <a:lnTo>
                  <a:pt x="171449" y="0"/>
                </a:lnTo>
                <a:lnTo>
                  <a:pt x="171449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105399" y="4581525"/>
            <a:ext cx="171450" cy="142875"/>
          </a:xfrm>
          <a:custGeom>
            <a:avLst/>
            <a:gdLst/>
            <a:ahLst/>
            <a:cxnLst/>
            <a:rect l="l" t="t" r="r" b="b"/>
            <a:pathLst>
              <a:path w="171450" h="142875">
                <a:moveTo>
                  <a:pt x="0" y="0"/>
                </a:moveTo>
                <a:lnTo>
                  <a:pt x="171449" y="0"/>
                </a:lnTo>
                <a:lnTo>
                  <a:pt x="171449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85850" y="4581525"/>
            <a:ext cx="4019550" cy="142875"/>
          </a:xfrm>
          <a:custGeom>
            <a:avLst/>
            <a:gdLst/>
            <a:ahLst/>
            <a:cxnLst/>
            <a:rect l="l" t="t" r="r" b="b"/>
            <a:pathLst>
              <a:path w="4019550" h="142875">
                <a:moveTo>
                  <a:pt x="0" y="0"/>
                </a:moveTo>
                <a:lnTo>
                  <a:pt x="4019549" y="0"/>
                </a:lnTo>
                <a:lnTo>
                  <a:pt x="4019549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085849" y="4610100"/>
            <a:ext cx="3295650" cy="85725"/>
          </a:xfrm>
          <a:custGeom>
            <a:avLst/>
            <a:gdLst/>
            <a:ahLst/>
            <a:cxnLst/>
            <a:rect l="l" t="t" r="r" b="b"/>
            <a:pathLst>
              <a:path w="3295650" h="85725">
                <a:moveTo>
                  <a:pt x="3258471" y="85724"/>
                </a:moveTo>
                <a:lnTo>
                  <a:pt x="37178" y="85724"/>
                </a:lnTo>
                <a:lnTo>
                  <a:pt x="31710" y="84637"/>
                </a:lnTo>
                <a:lnTo>
                  <a:pt x="1087" y="54013"/>
                </a:lnTo>
                <a:lnTo>
                  <a:pt x="0" y="48546"/>
                </a:lnTo>
                <a:lnTo>
                  <a:pt x="0" y="37178"/>
                </a:lnTo>
                <a:lnTo>
                  <a:pt x="21208" y="5437"/>
                </a:lnTo>
                <a:lnTo>
                  <a:pt x="37178" y="0"/>
                </a:lnTo>
                <a:lnTo>
                  <a:pt x="3258471" y="0"/>
                </a:lnTo>
                <a:lnTo>
                  <a:pt x="3290211" y="21208"/>
                </a:lnTo>
                <a:lnTo>
                  <a:pt x="3295649" y="37178"/>
                </a:lnTo>
                <a:lnTo>
                  <a:pt x="3295649" y="48546"/>
                </a:lnTo>
                <a:lnTo>
                  <a:pt x="3274441" y="80286"/>
                </a:lnTo>
                <a:lnTo>
                  <a:pt x="3258471" y="85724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14400" y="2419350"/>
            <a:ext cx="4362450" cy="2162175"/>
          </a:xfrm>
          <a:custGeom>
            <a:avLst/>
            <a:gdLst/>
            <a:ahLst/>
            <a:cxnLst/>
            <a:rect l="l" t="t" r="r" b="b"/>
            <a:pathLst>
              <a:path w="4362450" h="2162175">
                <a:moveTo>
                  <a:pt x="0" y="0"/>
                </a:moveTo>
                <a:lnTo>
                  <a:pt x="4362449" y="0"/>
                </a:lnTo>
                <a:lnTo>
                  <a:pt x="4362449" y="2162174"/>
                </a:lnTo>
                <a:lnTo>
                  <a:pt x="0" y="2162174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901700" y="1376044"/>
            <a:ext cx="9702800" cy="3349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8100"/>
              </a:lnSpc>
              <a:spcBef>
                <a:spcPts val="100"/>
              </a:spcBef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Autocorrelation Function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(ACF)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measure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correlation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between a time series and a  lagged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version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itself.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100">
              <a:latin typeface="Roboto"/>
              <a:cs typeface="Roboto"/>
            </a:endParaRPr>
          </a:p>
          <a:p>
            <a:pPr marL="120650" marR="5299075">
              <a:lnSpc>
                <a:spcPts val="1580"/>
              </a:lnSpc>
              <a:spcBef>
                <a:spcPts val="5"/>
              </a:spcBef>
            </a:pPr>
            <a:r>
              <a:rPr dirty="0" sz="1350" spc="10" b="1">
                <a:solidFill>
                  <a:srgbClr val="333333"/>
                </a:solidFill>
                <a:latin typeface="Courier New"/>
                <a:cs typeface="Courier New"/>
              </a:rPr>
              <a:t>from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statsmodels.graphics.tsaplots</a:t>
            </a:r>
            <a:r>
              <a:rPr dirty="0" sz="1350" spc="-6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350" spc="10" b="1">
                <a:solidFill>
                  <a:srgbClr val="333333"/>
                </a:solidFill>
                <a:latin typeface="Courier New"/>
                <a:cs typeface="Courier New"/>
              </a:rPr>
              <a:t>import  import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matplotlib.pyplot </a:t>
            </a:r>
            <a:r>
              <a:rPr dirty="0" sz="1350" spc="10" b="1">
                <a:solidFill>
                  <a:srgbClr val="333333"/>
                </a:solidFill>
                <a:latin typeface="Courier New"/>
                <a:cs typeface="Courier New"/>
              </a:rPr>
              <a:t>as</a:t>
            </a:r>
            <a:r>
              <a:rPr dirty="0" sz="1350" spc="-10" b="1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plt</a:t>
            </a:r>
            <a:endParaRPr sz="1350">
              <a:latin typeface="Courier New"/>
              <a:cs typeface="Courier New"/>
            </a:endParaRPr>
          </a:p>
          <a:p>
            <a:pPr marL="120650">
              <a:lnSpc>
                <a:spcPct val="100000"/>
              </a:lnSpc>
              <a:spcBef>
                <a:spcPts val="1250"/>
              </a:spcBef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df =</a:t>
            </a:r>
            <a:r>
              <a:rPr dirty="0" sz="1350" spc="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pd.read_csv(</a:t>
            </a:r>
            <a:r>
              <a:rPr dirty="0" sz="1350" spc="10">
                <a:solidFill>
                  <a:srgbClr val="DD1144"/>
                </a:solidFill>
                <a:latin typeface="Courier New"/>
                <a:cs typeface="Courier New"/>
              </a:rPr>
              <a:t>'../../data/aus_beer.csv</a:t>
            </a:r>
            <a:endParaRPr sz="1350">
              <a:latin typeface="Courier New"/>
              <a:cs typeface="Courier New"/>
            </a:endParaRPr>
          </a:p>
          <a:p>
            <a:pPr marL="120650" marR="5299075">
              <a:lnSpc>
                <a:spcPts val="1580"/>
              </a:lnSpc>
              <a:spcBef>
                <a:spcPts val="1395"/>
              </a:spcBef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plot_acf(df[</a:t>
            </a:r>
            <a:r>
              <a:rPr dirty="0" sz="1350" spc="10">
                <a:solidFill>
                  <a:srgbClr val="DD1144"/>
                </a:solidFill>
                <a:latin typeface="Courier New"/>
                <a:cs typeface="Courier New"/>
              </a:rPr>
              <a:t>'beer'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], lags=</a:t>
            </a:r>
            <a:r>
              <a:rPr dirty="0" sz="1350" spc="10">
                <a:solidFill>
                  <a:srgbClr val="008080"/>
                </a:solidFill>
                <a:latin typeface="Courier New"/>
                <a:cs typeface="Courier New"/>
              </a:rPr>
              <a:t>12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)  plt.title(</a:t>
            </a:r>
            <a:r>
              <a:rPr dirty="0" sz="1350" spc="10">
                <a:solidFill>
                  <a:srgbClr val="DD1144"/>
                </a:solidFill>
                <a:latin typeface="Courier New"/>
                <a:cs typeface="Courier New"/>
              </a:rPr>
              <a:t>'Autocorrelation Function</a:t>
            </a:r>
            <a:r>
              <a:rPr dirty="0" sz="1350" spc="-65">
                <a:solidFill>
                  <a:srgbClr val="DD1144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DD1144"/>
                </a:solidFill>
                <a:latin typeface="Courier New"/>
                <a:cs typeface="Courier New"/>
              </a:rPr>
              <a:t>(ACF) 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plt.xlabel(</a:t>
            </a:r>
            <a:r>
              <a:rPr dirty="0" sz="1350" spc="10">
                <a:solidFill>
                  <a:srgbClr val="DD1144"/>
                </a:solidFill>
                <a:latin typeface="Courier New"/>
                <a:cs typeface="Courier New"/>
              </a:rPr>
              <a:t>'Lag (quarter)'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)  plt.ylabel(</a:t>
            </a:r>
            <a:r>
              <a:rPr dirty="0" sz="1350" spc="10">
                <a:solidFill>
                  <a:srgbClr val="DD1144"/>
                </a:solidFill>
                <a:latin typeface="Courier New"/>
                <a:cs typeface="Courier New"/>
              </a:rPr>
              <a:t>'Autocorrelation'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350">
              <a:latin typeface="Courier New"/>
              <a:cs typeface="Courier New"/>
            </a:endParaRPr>
          </a:p>
          <a:p>
            <a:pPr marL="120650">
              <a:lnSpc>
                <a:spcPts val="1515"/>
              </a:lnSpc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plt.show()</a:t>
            </a:r>
            <a:endParaRPr sz="1350">
              <a:latin typeface="Courier New"/>
              <a:cs typeface="Courier New"/>
            </a:endParaRPr>
          </a:p>
          <a:p>
            <a:pPr marL="45720">
              <a:lnSpc>
                <a:spcPct val="100000"/>
              </a:lnSpc>
              <a:spcBef>
                <a:spcPts val="1255"/>
              </a:spcBef>
              <a:tabLst>
                <a:tab pos="4255770" algn="l"/>
              </a:tabLst>
            </a:pPr>
            <a:r>
              <a:rPr dirty="0" sz="650" spc="25">
                <a:solidFill>
                  <a:srgbClr val="8B8B8B"/>
                </a:solidFill>
                <a:latin typeface="Segoe Fluent Icons"/>
                <a:cs typeface="Segoe Fluent Icons"/>
              </a:rPr>
              <a:t>	</a:t>
            </a:r>
            <a:endParaRPr sz="650">
              <a:latin typeface="Segoe Fluent Icons"/>
              <a:cs typeface="Segoe Fluent Ico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878987" y="6218137"/>
            <a:ext cx="506730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14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17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98136" y="2779776"/>
            <a:ext cx="1746885" cy="1015365"/>
          </a:xfrm>
          <a:prstGeom prst="rect"/>
          <a:solidFill>
            <a:srgbClr val="333333"/>
          </a:solidFill>
        </p:spPr>
        <p:txBody>
          <a:bodyPr wrap="square" lIns="0" tIns="118745" rIns="0" bIns="0" rtlCol="0" vert="horz">
            <a:spAutoFit/>
          </a:bodyPr>
          <a:lstStyle/>
          <a:p>
            <a:pPr marL="226695">
              <a:lnSpc>
                <a:spcPct val="100000"/>
              </a:lnSpc>
              <a:spcBef>
                <a:spcPts val="935"/>
              </a:spcBef>
            </a:pPr>
            <a:r>
              <a:rPr dirty="0" sz="4100" spc="-994">
                <a:solidFill>
                  <a:srgbClr val="000000"/>
                </a:solidFill>
                <a:latin typeface="Roboto Condensed"/>
                <a:cs typeface="Roboto Condensed"/>
              </a:rPr>
              <a:t>R</a:t>
            </a:r>
            <a:r>
              <a:rPr dirty="0" sz="4100" spc="-994">
                <a:solidFill>
                  <a:srgbClr val="FFFFFF"/>
                </a:solidFill>
                <a:latin typeface="Roboto Condensed"/>
                <a:cs typeface="Roboto Condensed"/>
              </a:rPr>
              <a:t>R</a:t>
            </a:r>
            <a:r>
              <a:rPr dirty="0" sz="4100" spc="-994">
                <a:solidFill>
                  <a:srgbClr val="000000"/>
                </a:solidFill>
                <a:latin typeface="Roboto Condensed"/>
                <a:cs typeface="Roboto Condensed"/>
              </a:rPr>
              <a:t>e</a:t>
            </a:r>
            <a:r>
              <a:rPr dirty="0" sz="4100" spc="-994">
                <a:solidFill>
                  <a:srgbClr val="FFFFFF"/>
                </a:solidFill>
                <a:latin typeface="Roboto Condensed"/>
                <a:cs typeface="Roboto Condensed"/>
              </a:rPr>
              <a:t>e</a:t>
            </a:r>
            <a:r>
              <a:rPr dirty="0" sz="4100" spc="-994">
                <a:solidFill>
                  <a:srgbClr val="000000"/>
                </a:solidFill>
                <a:latin typeface="Roboto Condensed"/>
                <a:cs typeface="Roboto Condensed"/>
              </a:rPr>
              <a:t>c</a:t>
            </a:r>
            <a:r>
              <a:rPr dirty="0" sz="4100" spc="-994">
                <a:solidFill>
                  <a:srgbClr val="FFFFFF"/>
                </a:solidFill>
                <a:latin typeface="Roboto Condensed"/>
                <a:cs typeface="Roboto Condensed"/>
              </a:rPr>
              <a:t>c</a:t>
            </a:r>
            <a:r>
              <a:rPr dirty="0" sz="4100" spc="-994">
                <a:solidFill>
                  <a:srgbClr val="000000"/>
                </a:solidFill>
                <a:latin typeface="Roboto Condensed"/>
                <a:cs typeface="Roboto Condensed"/>
              </a:rPr>
              <a:t>a</a:t>
            </a:r>
            <a:r>
              <a:rPr dirty="0" sz="4100" spc="-994">
                <a:solidFill>
                  <a:srgbClr val="FFFFFF"/>
                </a:solidFill>
                <a:latin typeface="Roboto Condensed"/>
                <a:cs typeface="Roboto Condensed"/>
              </a:rPr>
              <a:t>a</a:t>
            </a:r>
            <a:r>
              <a:rPr dirty="0" sz="4100" spc="-994">
                <a:solidFill>
                  <a:srgbClr val="000000"/>
                </a:solidFill>
                <a:latin typeface="Roboto Condensed"/>
                <a:cs typeface="Roboto Condensed"/>
              </a:rPr>
              <a:t>p</a:t>
            </a:r>
            <a:r>
              <a:rPr dirty="0" sz="4100" spc="-994">
                <a:solidFill>
                  <a:srgbClr val="FFFFFF"/>
                </a:solidFill>
                <a:latin typeface="Roboto Condensed"/>
                <a:cs typeface="Roboto Condensed"/>
              </a:rPr>
              <a:t>p</a:t>
            </a:r>
            <a:endParaRPr sz="410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637519" y="5995415"/>
            <a:ext cx="887730" cy="491490"/>
          </a:xfrm>
          <a:custGeom>
            <a:avLst/>
            <a:gdLst/>
            <a:ahLst/>
            <a:cxnLst/>
            <a:rect l="l" t="t" r="r" b="b"/>
            <a:pathLst>
              <a:path w="887729" h="491489">
                <a:moveTo>
                  <a:pt x="0" y="0"/>
                </a:moveTo>
                <a:lnTo>
                  <a:pt x="887729" y="0"/>
                </a:lnTo>
                <a:lnTo>
                  <a:pt x="887729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78987" y="6218137"/>
            <a:ext cx="506730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 spc="-340">
                <a:latin typeface="Roboto"/>
                <a:cs typeface="Roboto"/>
              </a:rPr>
              <a:t>1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1</a:t>
            </a:r>
            <a:r>
              <a:rPr dirty="0" sz="1200" spc="-340">
                <a:latin typeface="Roboto"/>
                <a:cs typeface="Roboto"/>
              </a:rPr>
              <a:t>5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5</a:t>
            </a:r>
            <a:r>
              <a:rPr dirty="0" sz="1200" spc="-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250">
                <a:latin typeface="Roboto"/>
                <a:cs typeface="Roboto"/>
              </a:rPr>
              <a:t>/</a:t>
            </a:r>
            <a:r>
              <a:rPr dirty="0" sz="1200" spc="-250">
                <a:solidFill>
                  <a:srgbClr val="FFFFFF"/>
                </a:solidFill>
                <a:latin typeface="Roboto"/>
                <a:cs typeface="Roboto"/>
              </a:rPr>
              <a:t>/</a:t>
            </a:r>
            <a:r>
              <a:rPr dirty="0" sz="1200" spc="-2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340">
                <a:latin typeface="Roboto"/>
                <a:cs typeface="Roboto"/>
              </a:rPr>
              <a:t>1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1</a:t>
            </a:r>
            <a:r>
              <a:rPr dirty="0" sz="1200" spc="-340">
                <a:latin typeface="Roboto"/>
                <a:cs typeface="Roboto"/>
              </a:rPr>
              <a:t>7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7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16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17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417830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5">
                <a:latin typeface="Roboto Condensed"/>
                <a:cs typeface="Roboto Condensed"/>
              </a:rPr>
              <a:t>Summary </a:t>
            </a:r>
            <a:r>
              <a:rPr dirty="0" sz="3350" spc="10">
                <a:latin typeface="Roboto Condensed"/>
                <a:cs typeface="Roboto Condensed"/>
              </a:rPr>
              <a:t>of Main</a:t>
            </a:r>
            <a:r>
              <a:rPr dirty="0" sz="3350" spc="-65">
                <a:latin typeface="Roboto Condensed"/>
                <a:cs typeface="Roboto Condensed"/>
              </a:rPr>
              <a:t> </a:t>
            </a:r>
            <a:r>
              <a:rPr dirty="0" sz="3350" spc="5">
                <a:latin typeface="Roboto Condensed"/>
                <a:cs typeface="Roboto Condensed"/>
              </a:rPr>
              <a:t>Points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425575"/>
            <a:ext cx="4745990" cy="1290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By </a:t>
            </a:r>
            <a:r>
              <a:rPr dirty="0" sz="1800" spc="-30">
                <a:solidFill>
                  <a:srgbClr val="585D60"/>
                </a:solidFill>
                <a:latin typeface="Roboto"/>
                <a:cs typeface="Roboto"/>
              </a:rPr>
              <a:t>now,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should be able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do the</a:t>
            </a:r>
            <a:r>
              <a:rPr dirty="0" sz="1800" spc="-3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following: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5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Describe a lag and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create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lag scatter</a:t>
            </a:r>
            <a:r>
              <a:rPr dirty="0" sz="1800" spc="-6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plots.</a:t>
            </a: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Plot and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interpret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ACF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a</a:t>
            </a:r>
            <a:r>
              <a:rPr dirty="0" sz="1800" spc="-3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time-series.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16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17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544576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00" spc="2155">
                <a:latin typeface="Arial"/>
                <a:cs typeface="Arial"/>
              </a:rPr>
              <a:t>📝</a:t>
            </a:r>
            <a:r>
              <a:rPr dirty="0" sz="3300" spc="-195">
                <a:latin typeface="Arial"/>
                <a:cs typeface="Arial"/>
              </a:rPr>
              <a:t> </a:t>
            </a:r>
            <a:r>
              <a:rPr dirty="0" sz="3350" spc="5">
                <a:latin typeface="Roboto Condensed"/>
                <a:cs typeface="Roboto Condensed"/>
              </a:rPr>
              <a:t>Review </a:t>
            </a:r>
            <a:r>
              <a:rPr dirty="0" sz="3350" spc="10">
                <a:latin typeface="Roboto Condensed"/>
                <a:cs typeface="Roboto Condensed"/>
              </a:rPr>
              <a:t>and </a:t>
            </a:r>
            <a:r>
              <a:rPr dirty="0" sz="3350" spc="-5">
                <a:latin typeface="Roboto Condensed"/>
                <a:cs typeface="Roboto Condensed"/>
              </a:rPr>
              <a:t>Clarification </a:t>
            </a:r>
            <a:r>
              <a:rPr dirty="0" sz="3300" spc="2155">
                <a:latin typeface="Arial"/>
                <a:cs typeface="Arial"/>
              </a:rPr>
              <a:t>📝</a:t>
            </a:r>
            <a:endParaRPr sz="33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25120" indent="-133985">
              <a:lnSpc>
                <a:spcPct val="100000"/>
              </a:lnSpc>
              <a:spcBef>
                <a:spcPts val="100"/>
              </a:spcBef>
              <a:buFont typeface="Roboto"/>
              <a:buChar char="•"/>
              <a:tabLst>
                <a:tab pos="325755" algn="l"/>
              </a:tabLst>
            </a:pP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Class Notes</a:t>
            </a:r>
            <a:r>
              <a:rPr dirty="0" spc="-5"/>
              <a:t>: </a:t>
            </a:r>
            <a:r>
              <a:rPr dirty="0" spc="-30"/>
              <a:t>Take </a:t>
            </a:r>
            <a:r>
              <a:rPr dirty="0"/>
              <a:t>some time </a:t>
            </a:r>
            <a:r>
              <a:rPr dirty="0" spc="-10"/>
              <a:t>to </a:t>
            </a:r>
            <a:r>
              <a:rPr dirty="0" spc="-5"/>
              <a:t>revisit your </a:t>
            </a:r>
            <a:r>
              <a:rPr dirty="0"/>
              <a:t>class notes for </a:t>
            </a:r>
            <a:r>
              <a:rPr dirty="0" spc="-15"/>
              <a:t>key </a:t>
            </a:r>
            <a:r>
              <a:rPr dirty="0"/>
              <a:t>insights and</a:t>
            </a:r>
            <a:r>
              <a:rPr dirty="0" spc="30"/>
              <a:t> </a:t>
            </a:r>
            <a:r>
              <a:rPr dirty="0"/>
              <a:t>concepts.</a:t>
            </a:r>
          </a:p>
          <a:p>
            <a:pPr marL="325120" marR="1016635" indent="-133985">
              <a:lnSpc>
                <a:spcPct val="118100"/>
              </a:lnSpc>
              <a:spcBef>
                <a:spcPts val="900"/>
              </a:spcBef>
              <a:buFont typeface="Roboto"/>
              <a:buChar char="•"/>
              <a:tabLst>
                <a:tab pos="325755" algn="l"/>
              </a:tabLst>
            </a:pPr>
            <a:r>
              <a:rPr dirty="0" spc="-10" b="1">
                <a:solidFill>
                  <a:srgbClr val="C2132D"/>
                </a:solidFill>
                <a:latin typeface="Roboto"/>
                <a:cs typeface="Roboto"/>
              </a:rPr>
              <a:t>Zoom </a:t>
            </a: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Recording</a:t>
            </a:r>
            <a:r>
              <a:rPr dirty="0" spc="-5"/>
              <a:t>: </a:t>
            </a:r>
            <a:r>
              <a:rPr dirty="0"/>
              <a:t>The </a:t>
            </a:r>
            <a:r>
              <a:rPr dirty="0" spc="-5"/>
              <a:t>recording </a:t>
            </a:r>
            <a:r>
              <a:rPr dirty="0"/>
              <a:t>of </a:t>
            </a:r>
            <a:r>
              <a:rPr dirty="0" spc="-15"/>
              <a:t>today's </a:t>
            </a:r>
            <a:r>
              <a:rPr dirty="0"/>
              <a:t>class will be made </a:t>
            </a:r>
            <a:r>
              <a:rPr dirty="0" spc="-5"/>
              <a:t>available </a:t>
            </a:r>
            <a:r>
              <a:rPr dirty="0"/>
              <a:t>on </a:t>
            </a:r>
            <a:r>
              <a:rPr dirty="0" spc="-5"/>
              <a:t>Canvas  approximately </a:t>
            </a:r>
            <a:r>
              <a:rPr dirty="0"/>
              <a:t>3-4 hours after the session ends.</a:t>
            </a:r>
          </a:p>
          <a:p>
            <a:pPr marL="325120" marR="5080" indent="-133985">
              <a:lnSpc>
                <a:spcPct val="118100"/>
              </a:lnSpc>
              <a:spcBef>
                <a:spcPts val="819"/>
              </a:spcBef>
              <a:buFont typeface="Roboto"/>
              <a:buChar char="•"/>
              <a:tabLst>
                <a:tab pos="325755" algn="l"/>
              </a:tabLst>
            </a:pPr>
            <a:r>
              <a:rPr dirty="0" spc="-5" b="1">
                <a:solidFill>
                  <a:srgbClr val="C2132D"/>
                </a:solidFill>
                <a:latin typeface="Roboto"/>
                <a:cs typeface="Roboto"/>
              </a:rPr>
              <a:t>Questions</a:t>
            </a:r>
            <a:r>
              <a:rPr dirty="0" spc="-5"/>
              <a:t>: </a:t>
            </a:r>
            <a:r>
              <a:rPr dirty="0"/>
              <a:t>Please </a:t>
            </a:r>
            <a:r>
              <a:rPr dirty="0" spc="-20"/>
              <a:t>don't </a:t>
            </a:r>
            <a:r>
              <a:rPr dirty="0"/>
              <a:t>hesitate </a:t>
            </a:r>
            <a:r>
              <a:rPr dirty="0" spc="-10"/>
              <a:t>to </a:t>
            </a:r>
            <a:r>
              <a:rPr dirty="0"/>
              <a:t>ask for </a:t>
            </a:r>
            <a:r>
              <a:rPr dirty="0" spc="-5"/>
              <a:t>clarification </a:t>
            </a:r>
            <a:r>
              <a:rPr dirty="0"/>
              <a:t>on any </a:t>
            </a:r>
            <a:r>
              <a:rPr dirty="0" spc="-5"/>
              <a:t>topics </a:t>
            </a:r>
            <a:r>
              <a:rPr dirty="0"/>
              <a:t>discussed in class. </a:t>
            </a:r>
            <a:r>
              <a:rPr dirty="0" spc="-20"/>
              <a:t>It's  </a:t>
            </a:r>
            <a:r>
              <a:rPr dirty="0"/>
              <a:t>crucial not </a:t>
            </a:r>
            <a:r>
              <a:rPr dirty="0" spc="-10"/>
              <a:t>to </a:t>
            </a:r>
            <a:r>
              <a:rPr dirty="0"/>
              <a:t>let questions</a:t>
            </a:r>
            <a:r>
              <a:rPr dirty="0" spc="5"/>
              <a:t> </a:t>
            </a:r>
            <a:r>
              <a:rPr dirty="0"/>
              <a:t>accumulate.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3D5D3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444/544: Business Forecasting</dc:title>
  <dcterms:created xsi:type="dcterms:W3CDTF">2025-09-04T10:52:49Z</dcterms:created>
  <dcterms:modified xsi:type="dcterms:W3CDTF">2025-09-04T10:52:49Z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2025-09-04T00:00:00Z</vt:filetime>
  </property>
  <property fmtid="{D5CDD505-2E9C-101B-9397-08002B2CF9AE}" pid="3" name="Creator">
    <vt:lpwstr>Mozilla/5.0 (Windows NT 10.0; Win64; x64) AppleWebKit/537.36 (KHTML, like Gecko) Chrome/139.0.0.0 Safari/537.36</vt:lpwstr>
  </property>
  <property fmtid="{D5CDD505-2E9C-101B-9397-08002B2CF9AE}" pid="4" name="LastSaved">
    <vt:filetime>2025-09-04T00:00:00Z</vt:filetime>
  </property>
</Properties>
</file>