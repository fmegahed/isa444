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jpg" ContentType="image/jp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x="11531600" cy="6489700"/>
  <p:notesSz cx="11531600" cy="6489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64870" y="2011807"/>
            <a:ext cx="9801860" cy="1362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29740" y="3634232"/>
            <a:ext cx="8072120" cy="162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6580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938774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94912" y="320675"/>
            <a:ext cx="139763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0085" y="1376044"/>
            <a:ext cx="9531429" cy="2616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920744" y="6035421"/>
            <a:ext cx="3690112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6580" y="6035421"/>
            <a:ext cx="2652268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853587" y="6218137"/>
            <a:ext cx="532129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witter.com/FadelMegahed" TargetMode="External"/><Relationship Id="rId3" Type="http://schemas.openxmlformats.org/officeDocument/2006/relationships/hyperlink" Target="https://github.com/fmegahed/" TargetMode="External"/><Relationship Id="rId4" Type="http://schemas.openxmlformats.org/officeDocument/2006/relationships/hyperlink" Target="mailto:fmegahed@miamioh.edu" TargetMode="External"/><Relationship Id="rId5" Type="http://schemas.openxmlformats.org/officeDocument/2006/relationships/hyperlink" Target="https://calendly.com/fmegahed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hyperlink" Target="https://fred.stlouisfed.org/series/CEU4200000001" TargetMode="Externa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texts.com/fpp3/" TargetMode="External"/><Relationship Id="rId3" Type="http://schemas.openxmlformats.org/officeDocument/2006/relationships/hyperlink" Target="https://otexts.com/fpp3/moving-averages.html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texts.com/fpp3/" TargetMode="External"/><Relationship Id="rId3" Type="http://schemas.openxmlformats.org/officeDocument/2006/relationships/hyperlink" Target="https://otexts.com/fpp3/moving-averages.html" TargetMode="Externa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fred.stlouisfed.org/graph/fredgraph.csv?bgcolor=%23ebf3fb&amp;chart_type=line&amp;drp=0&amp;fo=open%20sans&amp;graph_bgcolor=%23ffffff&amp;height=450&amp;mode=fred&amp;recession_bars=on&amp;txtcolor=%23444444&amp;ts=12&amp;tts=12&amp;width=1320&amp;nt=0&amp;thu=0&amp;trc=0&amp;show_legend=yes&amp;show_axis_titles=yes&amp;show_tooltip=yes&amp;id=USTRADE&amp;scale=left&amp;cosd=1992-01-01&amp;coed=2025-01-01&amp;line_color=%230073e6&amp;link_values=false&amp;line_style=solid&amp;mark_type=none&amp;mw=3&amp;lw=3&amp;ost=-99999&amp;oet=99999&amp;mma=0&amp;fml=a&amp;fq=Monthly&amp;fam=avg&amp;fgst=lin&amp;fgsnd=2020-02-01&amp;line_index=1&amp;transformation=lin&amp;vintage_date=2025-02-12&amp;revision_date=2025-02-12&amp;nd=1939-01-01" TargetMode="Externa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texts.com/fpp3/" TargetMode="External"/><Relationship Id="rId3" Type="http://schemas.openxmlformats.org/officeDocument/2006/relationships/hyperlink" Target="https://github.com/robjhyndman/fpp3_slides/blob/main/3-4-classical-decomposition.Rmd" TargetMode="Externa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texts.com/fpp3/" TargetMode="External"/><Relationship Id="rId3" Type="http://schemas.openxmlformats.org/officeDocument/2006/relationships/hyperlink" Target="https://github.com/robjhyndman/fpp3_slides/blob/main/3-4-classical-decomposition.Rmd" TargetMode="Externa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statsmodels.org/devel/_modules/statsmodels/tsa/seasonal/_seasonal.html#seasonal_decompose" TargetMode="External"/><Relationship Id="rId3" Type="http://schemas.openxmlformats.org/officeDocument/2006/relationships/hyperlink" Target="https://numpy.org/doc/stable/glossary.html#term-array_like" TargetMode="Externa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hyperlink" Target="https://stackoverflow.com/a/55350230/10156153" TargetMode="Externa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hyperlink" Target="https://stackoverflow.com/a/55350230/10156153" TargetMode="Externa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texts.com/fpp3/" TargetMode="External"/><Relationship Id="rId3" Type="http://schemas.openxmlformats.org/officeDocument/2006/relationships/hyperlink" Target="https://github.com/robjhyndman/fpp3_slides/blob/main/3-4-classical-decomposition.Rmd" TargetMode="Externa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statsmodels.org/devel/generated/statsmodels.tsa.seasonal.MSTL.html" TargetMode="External"/><Relationship Id="rId3" Type="http://schemas.openxmlformats.org/officeDocument/2006/relationships/hyperlink" Target="https://towardsdatascience.com/multi-seasonal-time-series-decomposition-using-mstl-in-python-136630e67530/" TargetMode="External"/><Relationship Id="rId4" Type="http://schemas.openxmlformats.org/officeDocument/2006/relationships/hyperlink" Target="https://arxiv.org/pdf/2107.13462" TargetMode="External"/><Relationship Id="rId5" Type="http://schemas.openxmlformats.org/officeDocument/2006/relationships/hyperlink" Target="https://miamioh.instructure.com/courses/240425/assignments/3256295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1198165"/>
            <a:ext cx="9139555" cy="1139190"/>
          </a:xfrm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3350" spc="10">
                <a:solidFill>
                  <a:srgbClr val="FFFFFF"/>
                </a:solidFill>
                <a:latin typeface="Roboto Condensed"/>
                <a:cs typeface="Roboto Condensed"/>
              </a:rPr>
              <a:t>ISA 444/544: Business</a:t>
            </a:r>
            <a:r>
              <a:rPr dirty="0" sz="3350" spc="-10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3350" spc="5">
                <a:solidFill>
                  <a:srgbClr val="FFFFFF"/>
                </a:solidFill>
                <a:latin typeface="Roboto Condensed"/>
                <a:cs typeface="Roboto Condensed"/>
              </a:rPr>
              <a:t>Forecasting</a:t>
            </a:r>
            <a:endParaRPr sz="3350">
              <a:latin typeface="Roboto Condensed"/>
              <a:cs typeface="Roboto Condensed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06: Centered Moving </a:t>
            </a:r>
            <a:r>
              <a:rPr dirty="0" sz="3000" spc="-35">
                <a:solidFill>
                  <a:srgbClr val="FFFFFF"/>
                </a:solidFill>
                <a:latin typeface="Times New Roman"/>
                <a:cs typeface="Times New Roman"/>
              </a:rPr>
              <a:t>Average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and Seasonal</a:t>
            </a:r>
            <a:r>
              <a:rPr dirty="0" sz="3000" spc="-2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Decomposition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873375"/>
            <a:ext cx="4276725" cy="3311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Fadel M. Megahed,</a:t>
            </a:r>
            <a:r>
              <a:rPr dirty="0" sz="18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PhD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Arial"/>
              <a:cs typeface="Arial"/>
            </a:endParaRPr>
          </a:p>
          <a:p>
            <a:pPr marL="12700" marR="20320">
              <a:lnSpc>
                <a:spcPts val="2100"/>
              </a:lnSpc>
            </a:pP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Raymond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E. Glos Professor </a:t>
            </a:r>
            <a:r>
              <a:rPr dirty="0" sz="1850" spc="5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5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  Farmer School of</a:t>
            </a:r>
            <a:r>
              <a:rPr dirty="0" sz="18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ts val="1975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Miami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>
              <a:latin typeface="Arial"/>
              <a:cs typeface="Arial"/>
            </a:endParaRPr>
          </a:p>
          <a:p>
            <a:pPr marL="309245" marR="1287145" indent="6985">
              <a:lnSpc>
                <a:spcPct val="103000"/>
              </a:lnSpc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2"/>
              </a:rPr>
              <a:t>@FadelMegahed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3"/>
              </a:rPr>
              <a:t>fmegahed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4"/>
              </a:rPr>
              <a:t>fmegahed@miamioh.edu</a:t>
            </a:r>
            <a:endParaRPr sz="185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105"/>
              </a:spcBef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Automated Scheduler </a:t>
            </a:r>
            <a:r>
              <a:rPr dirty="0" sz="1850" spc="5">
                <a:solidFill>
                  <a:srgbClr val="83D5D3"/>
                </a:solidFill>
                <a:latin typeface="Arial"/>
                <a:cs typeface="Arial"/>
                <a:hlinkClick r:id="rId5"/>
              </a:rPr>
              <a:t>for Office</a:t>
            </a:r>
            <a:r>
              <a:rPr dirty="0" sz="1850" spc="-2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Hours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Fall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2025</a:t>
            </a:r>
            <a:endParaRPr sz="18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4537212"/>
            <a:ext cx="238124" cy="193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4804320"/>
            <a:ext cx="230683" cy="2258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29" y="5095881"/>
            <a:ext cx="237909" cy="2378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24888" y="5381624"/>
            <a:ext cx="165083" cy="2381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0190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Quick </a:t>
            </a:r>
            <a:r>
              <a:rPr dirty="0" sz="3350" spc="5">
                <a:latin typeface="Roboto Condensed"/>
                <a:cs typeface="Roboto Condensed"/>
              </a:rPr>
              <a:t>Refresher </a:t>
            </a:r>
            <a:r>
              <a:rPr dirty="0" sz="3350" spc="10">
                <a:latin typeface="Roboto Condensed"/>
                <a:cs typeface="Roboto Condensed"/>
              </a:rPr>
              <a:t>of Last</a:t>
            </a:r>
            <a:r>
              <a:rPr dirty="0" sz="3350" spc="-5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Class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7369809" cy="1604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Generate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interpret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simple line</a:t>
            </a:r>
            <a:r>
              <a:rPr dirty="0" sz="1800" spc="-9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charts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Create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seasonal plots and</a:t>
            </a:r>
            <a:r>
              <a:rPr dirty="0" sz="1800" spc="-10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subplots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Describe a lag 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create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lag scatter</a:t>
            </a:r>
            <a:r>
              <a:rPr dirty="0" sz="1800" spc="-10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plots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Plot 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interpret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autocorrelation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function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(ACF)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a</a:t>
            </a:r>
            <a:r>
              <a:rPr dirty="0" sz="1800" spc="-7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time-series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3290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Learning </a:t>
            </a:r>
            <a:r>
              <a:rPr dirty="0" sz="3350" spc="5">
                <a:latin typeface="Roboto Condensed"/>
                <a:cs typeface="Roboto Condensed"/>
              </a:rPr>
              <a:t>Objectives for </a:t>
            </a:r>
            <a:r>
              <a:rPr dirty="0" sz="3350" spc="-35">
                <a:latin typeface="Roboto Condensed"/>
                <a:cs typeface="Roboto Condensed"/>
              </a:rPr>
              <a:t>Today's</a:t>
            </a:r>
            <a:r>
              <a:rPr dirty="0" sz="3350" spc="-6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Class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7893050" cy="1604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Describe and compute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centered moving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averages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Estimate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trend-cycle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via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moving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averages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Perform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classical decomposition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(trend-cycle,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seasonal,</a:t>
            </a:r>
            <a:r>
              <a:rPr dirty="0" sz="1800" spc="6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residual/remainder)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Understand STL / MSTL as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alternatives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classical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decomposition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3344" y="2758440"/>
            <a:ext cx="5279390" cy="935990"/>
          </a:xfrm>
          <a:prstGeom prst="rect"/>
          <a:solidFill>
            <a:srgbClr val="333333"/>
          </a:solidFill>
        </p:spPr>
        <p:txBody>
          <a:bodyPr wrap="square" lIns="0" tIns="140335" rIns="0" bIns="0" rtlCol="0" vert="horz">
            <a:spAutoFit/>
          </a:bodyPr>
          <a:lstStyle/>
          <a:p>
            <a:pPr marL="227965">
              <a:lnSpc>
                <a:spcPct val="100000"/>
              </a:lnSpc>
              <a:spcBef>
                <a:spcPts val="1105"/>
              </a:spcBef>
            </a:pP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M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M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v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v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n 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d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d</a:t>
            </a:r>
            <a:r>
              <a:rPr dirty="0" sz="4100" spc="15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890">
                <a:solidFill>
                  <a:srgbClr val="000000"/>
                </a:solidFill>
                <a:latin typeface="Roboto Condensed"/>
                <a:cs typeface="Roboto Condensed"/>
              </a:rPr>
              <a:t>C</a:t>
            </a:r>
            <a:r>
              <a:rPr dirty="0" sz="4100" spc="-890">
                <a:solidFill>
                  <a:srgbClr val="FFFFFF"/>
                </a:solidFill>
                <a:latin typeface="Roboto Condensed"/>
                <a:cs typeface="Roboto Condensed"/>
              </a:rPr>
              <a:t>C</a:t>
            </a:r>
            <a:r>
              <a:rPr dirty="0" sz="4100" spc="-890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890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890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890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890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890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890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890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890">
                <a:solidFill>
                  <a:srgbClr val="000000"/>
                </a:solidFill>
                <a:latin typeface="Roboto Condensed"/>
                <a:cs typeface="Roboto Condensed"/>
              </a:rPr>
              <a:t>x</a:t>
            </a:r>
            <a:r>
              <a:rPr dirty="0" sz="4100" spc="-890">
                <a:solidFill>
                  <a:srgbClr val="FFFFFF"/>
                </a:solidFill>
                <a:latin typeface="Roboto Condensed"/>
                <a:cs typeface="Roboto Condensed"/>
              </a:rPr>
              <a:t>x</a:t>
            </a:r>
            <a:r>
              <a:rPr dirty="0" sz="4100" spc="-890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890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713719" y="5995415"/>
            <a:ext cx="811530" cy="491490"/>
          </a:xfrm>
          <a:custGeom>
            <a:avLst/>
            <a:gdLst/>
            <a:ahLst/>
            <a:cxnLst/>
            <a:rect l="l" t="t" r="r" b="b"/>
            <a:pathLst>
              <a:path w="811529" h="491489">
                <a:moveTo>
                  <a:pt x="0" y="0"/>
                </a:moveTo>
                <a:lnTo>
                  <a:pt x="811529" y="0"/>
                </a:lnTo>
                <a:lnTo>
                  <a:pt x="8115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964712" y="6218137"/>
            <a:ext cx="421005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40">
                <a:latin typeface="Roboto"/>
                <a:cs typeface="Roboto"/>
              </a:rPr>
              <a:t>4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4</a:t>
            </a:r>
            <a:r>
              <a:rPr dirty="0" sz="1200" spc="-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4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4</a:t>
            </a:r>
            <a:r>
              <a:rPr dirty="0" sz="1200" spc="-340">
                <a:latin typeface="Roboto"/>
                <a:cs typeface="Roboto"/>
              </a:rPr>
              <a:t>0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0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5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48068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Recall: Time Series</a:t>
            </a:r>
            <a:r>
              <a:rPr dirty="0" sz="3350" spc="-11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Components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458325" cy="181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Trend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Long-term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increase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decrease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the</a:t>
            </a:r>
            <a:r>
              <a:rPr dirty="0" sz="1800" spc="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</a:t>
            </a:r>
            <a:endParaRPr sz="1800">
              <a:latin typeface="Roboto"/>
              <a:cs typeface="Roboto"/>
            </a:endParaRPr>
          </a:p>
          <a:p>
            <a:pPr marL="146050" marR="5080" indent="-133985">
              <a:lnSpc>
                <a:spcPct val="118100"/>
              </a:lnSpc>
              <a:spcBef>
                <a:spcPts val="9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Seasonal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Regular pattern of up and down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fluctuations influenced by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calendar or time of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day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(e.g.,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quarterly,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monthly,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day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week,</a:t>
            </a:r>
            <a:r>
              <a:rPr dirty="0" sz="1800" spc="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hourly)</a:t>
            </a:r>
            <a:endParaRPr sz="1800">
              <a:latin typeface="Roboto"/>
              <a:cs typeface="Roboto"/>
            </a:endParaRPr>
          </a:p>
          <a:p>
            <a:pPr marL="146050" marR="282575" indent="-133985">
              <a:lnSpc>
                <a:spcPct val="118100"/>
              </a:lnSpc>
              <a:spcBef>
                <a:spcPts val="819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Cyclical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Repeating up and down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movements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that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not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of a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fixed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period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(e.g., business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cycles,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economic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cycles),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typically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over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multiple</a:t>
            </a:r>
            <a:r>
              <a:rPr dirty="0" sz="1800" spc="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years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5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6659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Time Series</a:t>
            </a:r>
            <a:r>
              <a:rPr dirty="0" sz="3350" spc="-4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Decomposition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7954" y="1376044"/>
            <a:ext cx="8471535" cy="4425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6850" marR="118745" indent="-133985">
              <a:lnSpc>
                <a:spcPct val="118100"/>
              </a:lnSpc>
              <a:spcBef>
                <a:spcPts val="100"/>
              </a:spcBef>
              <a:buFont typeface="Roboto"/>
              <a:buChar char="•"/>
              <a:tabLst>
                <a:tab pos="1974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Decomposition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process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breaking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down a time series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into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its constituent  components: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trend-cycle,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seasonal, and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residual/remainder.</a:t>
            </a:r>
            <a:endParaRPr sz="1800">
              <a:latin typeface="Roboto"/>
              <a:cs typeface="Roboto"/>
            </a:endParaRPr>
          </a:p>
          <a:p>
            <a:pPr marL="196850" indent="-133985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1974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Mathematically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we can write a time series </a:t>
            </a:r>
            <a:r>
              <a:rPr dirty="0" sz="1600" spc="10" i="1">
                <a:solidFill>
                  <a:srgbClr val="585D60"/>
                </a:solidFill>
                <a:latin typeface="Lucida Sans"/>
                <a:cs typeface="Lucida Sans"/>
              </a:rPr>
              <a:t>y</a:t>
            </a:r>
            <a:r>
              <a:rPr dirty="0" baseline="-12077" sz="1725" spc="15" i="1">
                <a:solidFill>
                  <a:srgbClr val="585D60"/>
                </a:solidFill>
                <a:latin typeface="Lucida Sans"/>
                <a:cs typeface="Lucida Sans"/>
              </a:rPr>
              <a:t>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as a function of these</a:t>
            </a:r>
            <a:r>
              <a:rPr dirty="0" sz="1800" spc="-2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components:</a:t>
            </a:r>
            <a:endParaRPr sz="1800">
              <a:latin typeface="Roboto"/>
              <a:cs typeface="Roboto"/>
            </a:endParaRPr>
          </a:p>
          <a:p>
            <a:pPr marL="3940175">
              <a:lnSpc>
                <a:spcPct val="100000"/>
              </a:lnSpc>
              <a:spcBef>
                <a:spcPts val="1665"/>
              </a:spcBef>
            </a:pPr>
            <a:r>
              <a:rPr dirty="0" sz="1600" spc="10" i="1">
                <a:solidFill>
                  <a:srgbClr val="585D60"/>
                </a:solidFill>
                <a:latin typeface="Lucida Sans"/>
                <a:cs typeface="Lucida Sans"/>
              </a:rPr>
              <a:t>y</a:t>
            </a:r>
            <a:r>
              <a:rPr dirty="0" baseline="-14492" sz="1725" spc="15" i="1">
                <a:solidFill>
                  <a:srgbClr val="585D60"/>
                </a:solidFill>
                <a:latin typeface="Lucida Sans"/>
                <a:cs typeface="Lucida Sans"/>
              </a:rPr>
              <a:t>t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= </a:t>
            </a:r>
            <a:r>
              <a:rPr dirty="0" sz="1600" spc="125" i="1">
                <a:solidFill>
                  <a:srgbClr val="585D60"/>
                </a:solidFill>
                <a:latin typeface="Lucida Sans"/>
                <a:cs typeface="Lucida Sans"/>
              </a:rPr>
              <a:t>f</a:t>
            </a:r>
            <a:r>
              <a:rPr dirty="0" sz="1800" spc="125">
                <a:solidFill>
                  <a:srgbClr val="585D60"/>
                </a:solidFill>
                <a:latin typeface="Arial"/>
                <a:cs typeface="Arial"/>
              </a:rPr>
              <a:t>(</a:t>
            </a:r>
            <a:r>
              <a:rPr dirty="0" sz="1600" spc="12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4492" sz="1725" spc="187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800" spc="125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z="1600" spc="105" i="1">
                <a:solidFill>
                  <a:srgbClr val="585D60"/>
                </a:solidFill>
                <a:latin typeface="Lucida Sans"/>
                <a:cs typeface="Lucida Sans"/>
              </a:rPr>
              <a:t>S</a:t>
            </a:r>
            <a:r>
              <a:rPr dirty="0" baseline="-14492" sz="1725" spc="157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800" spc="105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1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40" i="1">
                <a:solidFill>
                  <a:srgbClr val="585D60"/>
                </a:solidFill>
                <a:latin typeface="Lucida Sans"/>
                <a:cs typeface="Lucida Sans"/>
              </a:rPr>
              <a:t>R</a:t>
            </a:r>
            <a:r>
              <a:rPr dirty="0" baseline="-14492" sz="1725" spc="209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800" spc="140">
                <a:solidFill>
                  <a:srgbClr val="585D60"/>
                </a:solidFill>
                <a:latin typeface="Arial"/>
                <a:cs typeface="Arial"/>
              </a:rPr>
              <a:t>),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Arial"/>
              <a:cs typeface="Arial"/>
            </a:endParaRPr>
          </a:p>
          <a:p>
            <a:pPr marL="196850">
              <a:lnSpc>
                <a:spcPct val="100000"/>
              </a:lnSpc>
              <a:spcBef>
                <a:spcPts val="5"/>
              </a:spcBef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where:</a:t>
            </a:r>
            <a:endParaRPr sz="1800">
              <a:latin typeface="Roboto"/>
              <a:cs typeface="Roboto"/>
            </a:endParaRPr>
          </a:p>
          <a:p>
            <a:pPr lvl="1" marL="5778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SzPct val="112500"/>
              <a:buFont typeface="Roboto"/>
              <a:buChar char="•"/>
              <a:tabLst>
                <a:tab pos="578485" algn="l"/>
              </a:tabLst>
            </a:pPr>
            <a:r>
              <a:rPr dirty="0" sz="1600" spc="50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4492" sz="1725" spc="7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800" spc="50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Trend-cycle</a:t>
            </a:r>
            <a:r>
              <a:rPr dirty="0" sz="1800" spc="-9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component</a:t>
            </a:r>
            <a:endParaRPr sz="1800">
              <a:latin typeface="Roboto"/>
              <a:cs typeface="Roboto"/>
            </a:endParaRPr>
          </a:p>
          <a:p>
            <a:pPr lvl="1" marL="5778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SzPct val="112500"/>
              <a:buFont typeface="Roboto"/>
              <a:buChar char="•"/>
              <a:tabLst>
                <a:tab pos="578485" algn="l"/>
              </a:tabLst>
            </a:pPr>
            <a:r>
              <a:rPr dirty="0" sz="1600" spc="105" i="1">
                <a:solidFill>
                  <a:srgbClr val="585D60"/>
                </a:solidFill>
                <a:latin typeface="Lucida Sans"/>
                <a:cs typeface="Lucida Sans"/>
              </a:rPr>
              <a:t>S</a:t>
            </a:r>
            <a:r>
              <a:rPr dirty="0" baseline="-12077" sz="1725" spc="157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800" spc="10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Seasonal</a:t>
            </a:r>
            <a:r>
              <a:rPr dirty="0" sz="1800" spc="-1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component</a:t>
            </a:r>
            <a:endParaRPr sz="1800">
              <a:latin typeface="Roboto"/>
              <a:cs typeface="Roboto"/>
            </a:endParaRPr>
          </a:p>
          <a:p>
            <a:pPr lvl="1" marL="5778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SzPct val="112500"/>
              <a:buFont typeface="Roboto"/>
              <a:buChar char="•"/>
              <a:tabLst>
                <a:tab pos="578485" algn="l"/>
              </a:tabLst>
            </a:pPr>
            <a:r>
              <a:rPr dirty="0" sz="1600" spc="150" i="1">
                <a:solidFill>
                  <a:srgbClr val="585D60"/>
                </a:solidFill>
                <a:latin typeface="Lucida Sans"/>
                <a:cs typeface="Lucida Sans"/>
              </a:rPr>
              <a:t>R</a:t>
            </a:r>
            <a:r>
              <a:rPr dirty="0" baseline="-14492" sz="1725" spc="22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800" spc="150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Remainder</a:t>
            </a:r>
            <a:r>
              <a:rPr dirty="0" sz="1800" spc="-15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component</a:t>
            </a:r>
            <a:endParaRPr sz="1800">
              <a:latin typeface="Roboto"/>
              <a:cs typeface="Roboto"/>
            </a:endParaRPr>
          </a:p>
          <a:p>
            <a:pPr lvl="1" marL="5778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SzPct val="112500"/>
              <a:buFont typeface="Roboto"/>
              <a:buChar char="•"/>
              <a:tabLst>
                <a:tab pos="578485" algn="l"/>
              </a:tabLst>
            </a:pPr>
            <a:r>
              <a:rPr dirty="0" sz="1600" spc="140" i="1">
                <a:solidFill>
                  <a:srgbClr val="585D60"/>
                </a:solidFill>
                <a:latin typeface="Lucida Sans"/>
                <a:cs typeface="Lucida Sans"/>
              </a:rPr>
              <a:t>f</a:t>
            </a:r>
            <a:r>
              <a:rPr dirty="0" sz="1800" spc="140">
                <a:solidFill>
                  <a:srgbClr val="585D60"/>
                </a:solidFill>
                <a:latin typeface="Arial"/>
                <a:cs typeface="Arial"/>
              </a:rPr>
              <a:t>()</a:t>
            </a:r>
            <a:r>
              <a:rPr dirty="0" sz="1800" spc="140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Some function that combines the</a:t>
            </a:r>
            <a:r>
              <a:rPr dirty="0" sz="1800" spc="-15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components</a:t>
            </a:r>
            <a:endParaRPr sz="180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Clr>
                <a:srgbClr val="C2132D"/>
              </a:buClr>
              <a:buFont typeface="Roboto"/>
              <a:buChar char="•"/>
            </a:pPr>
            <a:endParaRPr sz="1750">
              <a:latin typeface="Roboto"/>
              <a:cs typeface="Roboto"/>
            </a:endParaRPr>
          </a:p>
          <a:p>
            <a:pPr marL="196850" indent="-133985">
              <a:lnSpc>
                <a:spcPct val="100000"/>
              </a:lnSpc>
              <a:buClr>
                <a:srgbClr val="C2132D"/>
              </a:buClr>
              <a:buChar char="•"/>
              <a:tabLst>
                <a:tab pos="1974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decomposition can be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additive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or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multiplicative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90029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Seasonality: </a:t>
            </a:r>
            <a:r>
              <a:rPr dirty="0" sz="3350" spc="5">
                <a:latin typeface="Roboto Condensed"/>
                <a:cs typeface="Roboto Condensed"/>
              </a:rPr>
              <a:t>Additive</a:t>
            </a:r>
            <a:r>
              <a:rPr dirty="0" sz="3350" spc="-4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Models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28115" y="2737942"/>
            <a:ext cx="8322785" cy="34024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89000" y="1376044"/>
            <a:ext cx="9269730" cy="99695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90"/>
              </a:spcBef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Definition: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additive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model is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appropriate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when 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trend is approximately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linear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, and</a:t>
            </a:r>
            <a:r>
              <a:rPr dirty="0" sz="1800" spc="4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</a:t>
            </a:r>
            <a:endParaRPr sz="1800">
              <a:latin typeface="Roboto"/>
              <a:cs typeface="Roboto"/>
            </a:endParaRPr>
          </a:p>
          <a:p>
            <a:pPr marL="25400">
              <a:lnSpc>
                <a:spcPct val="100000"/>
              </a:lnSpc>
              <a:spcBef>
                <a:spcPts val="390"/>
              </a:spcBef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seasonal components stays constant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over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 time.</a:t>
            </a:r>
            <a:endParaRPr sz="1800">
              <a:latin typeface="Roboto"/>
              <a:cs typeface="Roboto"/>
            </a:endParaRPr>
          </a:p>
          <a:p>
            <a:pPr marL="25400">
              <a:lnSpc>
                <a:spcPct val="100000"/>
              </a:lnSpc>
              <a:spcBef>
                <a:spcPts val="39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It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can be written as: </a:t>
            </a:r>
            <a:r>
              <a:rPr dirty="0" sz="1600" spc="10" i="1">
                <a:solidFill>
                  <a:srgbClr val="585D60"/>
                </a:solidFill>
                <a:latin typeface="Lucida Sans"/>
                <a:cs typeface="Lucida Sans"/>
              </a:rPr>
              <a:t>y</a:t>
            </a:r>
            <a:r>
              <a:rPr dirty="0" baseline="-12077" sz="1725" spc="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2077" sz="1725" spc="337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2077" sz="1725" spc="52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2077" sz="1725" spc="179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+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14" i="1">
                <a:solidFill>
                  <a:srgbClr val="585D60"/>
                </a:solidFill>
                <a:latin typeface="Lucida Sans"/>
                <a:cs typeface="Lucida Sans"/>
              </a:rPr>
              <a:t>S</a:t>
            </a:r>
            <a:r>
              <a:rPr dirty="0" baseline="-12077" sz="1725" spc="172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2077" sz="1725" spc="187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+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0" i="1">
                <a:solidFill>
                  <a:srgbClr val="585D60"/>
                </a:solidFill>
                <a:latin typeface="Lucida Sans"/>
                <a:cs typeface="Lucida Sans"/>
              </a:rPr>
              <a:t>R</a:t>
            </a:r>
            <a:r>
              <a:rPr dirty="0" baseline="-12077" sz="1725" spc="22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800" spc="15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5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7956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Seasonality: </a:t>
            </a:r>
            <a:r>
              <a:rPr dirty="0" sz="3350" spc="5">
                <a:latin typeface="Roboto Condensed"/>
                <a:cs typeface="Roboto Condensed"/>
              </a:rPr>
              <a:t>Multiplicative</a:t>
            </a:r>
            <a:r>
              <a:rPr dirty="0" sz="3350" spc="-2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Models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83454" y="2766750"/>
            <a:ext cx="8067446" cy="35826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89000" y="1376044"/>
            <a:ext cx="9670415" cy="996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 marR="17780">
              <a:lnSpc>
                <a:spcPct val="1181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Definition: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multiplicative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model is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appropriate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when 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trend is nonlinear (e.g., exponential)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and/or 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seasonal component changes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proportionally with the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level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of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the time</a:t>
            </a:r>
            <a:r>
              <a:rPr dirty="0" sz="1800" spc="2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series.</a:t>
            </a:r>
            <a:endParaRPr sz="1800">
              <a:latin typeface="Roboto"/>
              <a:cs typeface="Roboto"/>
            </a:endParaRPr>
          </a:p>
          <a:p>
            <a:pPr marL="25400">
              <a:lnSpc>
                <a:spcPct val="100000"/>
              </a:lnSpc>
              <a:spcBef>
                <a:spcPts val="39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It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can be written as: </a:t>
            </a:r>
            <a:r>
              <a:rPr dirty="0" sz="1600" spc="10" i="1">
                <a:solidFill>
                  <a:srgbClr val="585D60"/>
                </a:solidFill>
                <a:latin typeface="Lucida Sans"/>
                <a:cs typeface="Lucida Sans"/>
              </a:rPr>
              <a:t>y</a:t>
            </a:r>
            <a:r>
              <a:rPr dirty="0" baseline="-12077" sz="1725" spc="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2077" sz="1725" spc="337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2077" sz="1725" spc="52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2077" sz="1725" spc="187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×</a:t>
            </a:r>
            <a:r>
              <a:rPr dirty="0" sz="1800" spc="-1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14" i="1">
                <a:solidFill>
                  <a:srgbClr val="585D60"/>
                </a:solidFill>
                <a:latin typeface="Lucida Sans"/>
                <a:cs typeface="Lucida Sans"/>
              </a:rPr>
              <a:t>S</a:t>
            </a:r>
            <a:r>
              <a:rPr dirty="0" baseline="-12077" sz="1725" spc="172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2077" sz="1725" spc="187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×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0" i="1">
                <a:solidFill>
                  <a:srgbClr val="585D60"/>
                </a:solidFill>
                <a:latin typeface="Lucida Sans"/>
                <a:cs typeface="Lucida Sans"/>
              </a:rPr>
              <a:t>R</a:t>
            </a:r>
            <a:r>
              <a:rPr dirty="0" baseline="-12077" sz="1725" spc="22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800" spc="15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5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3058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latin typeface="Roboto Condensed"/>
                <a:cs typeface="Roboto Condensed"/>
              </a:rPr>
              <a:t>Motivating </a:t>
            </a:r>
            <a:r>
              <a:rPr dirty="0" sz="3350" spc="10">
                <a:latin typeface="Roboto Condensed"/>
                <a:cs typeface="Roboto Condensed"/>
              </a:rPr>
              <a:t>Example: US Retail </a:t>
            </a:r>
            <a:r>
              <a:rPr dirty="0" sz="3350" spc="-30">
                <a:latin typeface="Roboto Condensed"/>
                <a:cs typeface="Roboto Condensed"/>
              </a:rPr>
              <a:t>Trade</a:t>
            </a:r>
            <a:r>
              <a:rPr dirty="0" sz="3350" spc="-8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Employment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2124075"/>
            <a:ext cx="9696450" cy="0"/>
          </a:xfrm>
          <a:custGeom>
            <a:avLst/>
            <a:gdLst/>
            <a:ahLst/>
            <a:cxnLst/>
            <a:rect l="l" t="t" r="r" b="b"/>
            <a:pathLst>
              <a:path w="9696450" h="0">
                <a:moveTo>
                  <a:pt x="0" y="0"/>
                </a:moveTo>
                <a:lnTo>
                  <a:pt x="9696449" y="0"/>
                </a:lnTo>
              </a:path>
            </a:pathLst>
          </a:custGeom>
          <a:ln w="19049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65383" y="3395439"/>
            <a:ext cx="8614045" cy="2738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1552575"/>
            <a:ext cx="933450" cy="0"/>
          </a:xfrm>
          <a:custGeom>
            <a:avLst/>
            <a:gdLst/>
            <a:ahLst/>
            <a:cxnLst/>
            <a:rect l="l" t="t" r="r" b="b"/>
            <a:pathLst>
              <a:path w="933450" h="0">
                <a:moveTo>
                  <a:pt x="0" y="0"/>
                </a:moveTo>
                <a:lnTo>
                  <a:pt x="933449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2124075"/>
            <a:ext cx="933450" cy="0"/>
          </a:xfrm>
          <a:custGeom>
            <a:avLst/>
            <a:gdLst/>
            <a:ahLst/>
            <a:cxnLst/>
            <a:rect l="l" t="t" r="r" b="b"/>
            <a:pathLst>
              <a:path w="933450" h="0">
                <a:moveTo>
                  <a:pt x="0" y="0"/>
                </a:moveTo>
                <a:lnTo>
                  <a:pt x="933449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30300" y="1673225"/>
            <a:ext cx="9113520" cy="1423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2975" algn="l"/>
                <a:tab pos="1805305" algn="l"/>
                <a:tab pos="3112770" algn="l"/>
                <a:tab pos="4419600" algn="l"/>
                <a:tab pos="5895340" algn="l"/>
                <a:tab pos="7203440" algn="l"/>
                <a:tab pos="849249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	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Plot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	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Decomp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	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Decomp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	</a:t>
            </a:r>
            <a:r>
              <a:rPr dirty="0" sz="1800" spc="-70">
                <a:solidFill>
                  <a:srgbClr val="585D60"/>
                </a:solidFill>
                <a:latin typeface="Roboto"/>
                <a:cs typeface="Roboto"/>
              </a:rPr>
              <a:t>T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r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end-C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y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	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</a:t>
            </a:r>
            <a:r>
              <a:rPr dirty="0" sz="1800" spc="-70">
                <a:solidFill>
                  <a:srgbClr val="585D60"/>
                </a:solidFill>
                <a:latin typeface="Roboto"/>
                <a:cs typeface="Roboto"/>
              </a:rPr>
              <a:t>T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r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end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	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SeasAdj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	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Notes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650">
              <a:latin typeface="Roboto"/>
              <a:cs typeface="Roboto"/>
            </a:endParaRPr>
          </a:p>
          <a:p>
            <a:pPr marL="165100" indent="-133985">
              <a:lnSpc>
                <a:spcPct val="100000"/>
              </a:lnSpc>
              <a:spcBef>
                <a:spcPts val="5"/>
              </a:spcBef>
              <a:buClr>
                <a:srgbClr val="C2132D"/>
              </a:buClr>
              <a:buChar char="•"/>
              <a:tabLst>
                <a:tab pos="1651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data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contains the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total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employment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in U.S.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retail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trade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sector from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1992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</a:t>
            </a:r>
            <a:r>
              <a:rPr dirty="0" sz="1800" spc="2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2025.</a:t>
            </a:r>
            <a:endParaRPr sz="1800">
              <a:latin typeface="Roboto"/>
              <a:cs typeface="Roboto"/>
            </a:endParaRPr>
          </a:p>
          <a:p>
            <a:pPr marL="1651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651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data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monthly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not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seasonally</a:t>
            </a:r>
            <a:r>
              <a:rPr dirty="0" sz="1800" spc="-2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adjusted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5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3680" y="2758440"/>
            <a:ext cx="5986780" cy="1039494"/>
          </a:xfrm>
          <a:prstGeom prst="rect"/>
          <a:solidFill>
            <a:srgbClr val="333333"/>
          </a:solidFill>
        </p:spPr>
        <p:txBody>
          <a:bodyPr wrap="square" lIns="0" tIns="140335" rIns="0" bIns="0" rtlCol="0" vert="horz">
            <a:spAutoFit/>
          </a:bodyPr>
          <a:lstStyle/>
          <a:p>
            <a:pPr marL="234950">
              <a:lnSpc>
                <a:spcPct val="100000"/>
              </a:lnSpc>
              <a:spcBef>
                <a:spcPts val="1105"/>
              </a:spcBef>
            </a:pPr>
            <a:r>
              <a:rPr dirty="0" sz="4100" spc="-910">
                <a:solidFill>
                  <a:srgbClr val="000000"/>
                </a:solidFill>
                <a:latin typeface="Roboto Condensed"/>
                <a:cs typeface="Roboto Condensed"/>
              </a:rPr>
              <a:t>C</a:t>
            </a:r>
            <a:r>
              <a:rPr dirty="0" sz="4100" spc="-910">
                <a:solidFill>
                  <a:srgbClr val="FFFFFF"/>
                </a:solidFill>
                <a:latin typeface="Roboto Condensed"/>
                <a:cs typeface="Roboto Condensed"/>
              </a:rPr>
              <a:t>C</a:t>
            </a:r>
            <a:r>
              <a:rPr dirty="0" sz="4100" spc="-910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910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910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910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910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910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910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910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910">
                <a:solidFill>
                  <a:srgbClr val="000000"/>
                </a:solidFill>
                <a:latin typeface="Roboto Condensed"/>
                <a:cs typeface="Roboto Condensed"/>
              </a:rPr>
              <a:t>r</a:t>
            </a:r>
            <a:r>
              <a:rPr dirty="0" sz="4100" spc="-910">
                <a:solidFill>
                  <a:srgbClr val="FFFFFF"/>
                </a:solidFill>
                <a:latin typeface="Roboto Condensed"/>
                <a:cs typeface="Roboto Condensed"/>
              </a:rPr>
              <a:t>r</a:t>
            </a:r>
            <a:r>
              <a:rPr dirty="0" sz="4100" spc="-910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910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910">
                <a:solidFill>
                  <a:srgbClr val="000000"/>
                </a:solidFill>
                <a:latin typeface="Roboto Condensed"/>
                <a:cs typeface="Roboto Condensed"/>
              </a:rPr>
              <a:t>d</a:t>
            </a:r>
            <a:r>
              <a:rPr dirty="0" sz="4100" spc="-910">
                <a:solidFill>
                  <a:srgbClr val="FFFFFF"/>
                </a:solidFill>
                <a:latin typeface="Roboto Condensed"/>
                <a:cs typeface="Roboto Condensed"/>
              </a:rPr>
              <a:t>d </a:t>
            </a:r>
            <a:r>
              <a:rPr dirty="0" sz="4100" spc="-990">
                <a:solidFill>
                  <a:srgbClr val="000000"/>
                </a:solidFill>
                <a:latin typeface="Roboto Condensed"/>
                <a:cs typeface="Roboto Condensed"/>
              </a:rPr>
              <a:t>M</a:t>
            </a:r>
            <a:r>
              <a:rPr dirty="0" sz="4100" spc="-990">
                <a:solidFill>
                  <a:srgbClr val="FFFFFF"/>
                </a:solidFill>
                <a:latin typeface="Roboto Condensed"/>
                <a:cs typeface="Roboto Condensed"/>
              </a:rPr>
              <a:t>M</a:t>
            </a:r>
            <a:r>
              <a:rPr dirty="0" sz="4100" spc="-990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990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990">
                <a:solidFill>
                  <a:srgbClr val="000000"/>
                </a:solidFill>
                <a:latin typeface="Roboto Condensed"/>
                <a:cs typeface="Roboto Condensed"/>
              </a:rPr>
              <a:t>v</a:t>
            </a:r>
            <a:r>
              <a:rPr dirty="0" sz="4100" spc="-990">
                <a:solidFill>
                  <a:srgbClr val="FFFFFF"/>
                </a:solidFill>
                <a:latin typeface="Roboto Condensed"/>
                <a:cs typeface="Roboto Condensed"/>
              </a:rPr>
              <a:t>v</a:t>
            </a:r>
            <a:r>
              <a:rPr dirty="0" sz="4100" spc="-990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990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990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990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990">
                <a:solidFill>
                  <a:srgbClr val="000000"/>
                </a:solidFill>
                <a:latin typeface="Roboto Condensed"/>
                <a:cs typeface="Roboto Condensed"/>
              </a:rPr>
              <a:t>g</a:t>
            </a:r>
            <a:r>
              <a:rPr dirty="0" sz="4100" spc="-990">
                <a:solidFill>
                  <a:srgbClr val="FFFFFF"/>
                </a:solidFill>
                <a:latin typeface="Roboto Condensed"/>
                <a:cs typeface="Roboto Condensed"/>
              </a:rPr>
              <a:t>g</a:t>
            </a:r>
            <a:r>
              <a:rPr dirty="0" sz="4100" spc="20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950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950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950">
                <a:solidFill>
                  <a:srgbClr val="000000"/>
                </a:solidFill>
                <a:latin typeface="Roboto Condensed"/>
                <a:cs typeface="Roboto Condensed"/>
              </a:rPr>
              <a:t>v</a:t>
            </a:r>
            <a:r>
              <a:rPr dirty="0" sz="4100" spc="-950">
                <a:solidFill>
                  <a:srgbClr val="FFFFFF"/>
                </a:solidFill>
                <a:latin typeface="Roboto Condensed"/>
                <a:cs typeface="Roboto Condensed"/>
              </a:rPr>
              <a:t>v</a:t>
            </a:r>
            <a:r>
              <a:rPr dirty="0" sz="4100" spc="-950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950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950">
                <a:solidFill>
                  <a:srgbClr val="000000"/>
                </a:solidFill>
                <a:latin typeface="Roboto Condensed"/>
                <a:cs typeface="Roboto Condensed"/>
              </a:rPr>
              <a:t>r</a:t>
            </a:r>
            <a:r>
              <a:rPr dirty="0" sz="4100" spc="-950">
                <a:solidFill>
                  <a:srgbClr val="FFFFFF"/>
                </a:solidFill>
                <a:latin typeface="Roboto Condensed"/>
                <a:cs typeface="Roboto Condensed"/>
              </a:rPr>
              <a:t>r</a:t>
            </a:r>
            <a:r>
              <a:rPr dirty="0" sz="4100" spc="-950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950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950">
                <a:solidFill>
                  <a:srgbClr val="000000"/>
                </a:solidFill>
                <a:latin typeface="Roboto Condensed"/>
                <a:cs typeface="Roboto Condensed"/>
              </a:rPr>
              <a:t>g</a:t>
            </a:r>
            <a:r>
              <a:rPr dirty="0" sz="4100" spc="-950">
                <a:solidFill>
                  <a:srgbClr val="FFFFFF"/>
                </a:solidFill>
                <a:latin typeface="Roboto Condensed"/>
                <a:cs typeface="Roboto Condensed"/>
              </a:rPr>
              <a:t>g</a:t>
            </a:r>
            <a:r>
              <a:rPr dirty="0" sz="4100" spc="-950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950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950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950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40">
                <a:latin typeface="Roboto"/>
                <a:cs typeface="Roboto"/>
              </a:rPr>
              <a:t>1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r>
              <a:rPr dirty="0" sz="1200" spc="-340">
                <a:latin typeface="Roboto"/>
                <a:cs typeface="Roboto"/>
              </a:rPr>
              <a:t>0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0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4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4</a:t>
            </a:r>
            <a:r>
              <a:rPr dirty="0" sz="1200" spc="-340">
                <a:latin typeface="Roboto"/>
                <a:cs typeface="Roboto"/>
              </a:rPr>
              <a:t>0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0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956183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Relation of </a:t>
            </a:r>
            <a:r>
              <a:rPr dirty="0" sz="3350" spc="5">
                <a:latin typeface="Roboto Condensed"/>
                <a:cs typeface="Roboto Condensed"/>
              </a:rPr>
              <a:t>Moving </a:t>
            </a:r>
            <a:r>
              <a:rPr dirty="0" sz="3350" spc="-10">
                <a:latin typeface="Roboto Condensed"/>
                <a:cs typeface="Roboto Condensed"/>
              </a:rPr>
              <a:t>Averages to </a:t>
            </a:r>
            <a:r>
              <a:rPr dirty="0" sz="3350" spc="10">
                <a:latin typeface="Roboto Condensed"/>
                <a:cs typeface="Roboto Condensed"/>
              </a:rPr>
              <a:t>Classical</a:t>
            </a:r>
            <a:r>
              <a:rPr dirty="0" sz="335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Decomposition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94640" marR="5080" indent="-133985">
              <a:lnSpc>
                <a:spcPct val="1181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295275" algn="l"/>
              </a:tabLst>
            </a:pPr>
            <a:r>
              <a:rPr dirty="0"/>
              <a:t>The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classical method of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time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series decomposition </a:t>
            </a:r>
            <a:r>
              <a:rPr dirty="0"/>
              <a:t>originated in the 1920s and was widely  used until the</a:t>
            </a:r>
            <a:r>
              <a:rPr dirty="0" spc="-5"/>
              <a:t> </a:t>
            </a:r>
            <a:r>
              <a:rPr dirty="0"/>
              <a:t>1950s.</a:t>
            </a:r>
          </a:p>
          <a:p>
            <a:pPr marL="294640" marR="306705" indent="-133985">
              <a:lnSpc>
                <a:spcPct val="114599"/>
              </a:lnSpc>
              <a:spcBef>
                <a:spcPts val="969"/>
              </a:spcBef>
              <a:buClr>
                <a:srgbClr val="C2132D"/>
              </a:buClr>
              <a:buChar char="•"/>
              <a:tabLst>
                <a:tab pos="295275" algn="l"/>
              </a:tabLst>
            </a:pPr>
            <a:r>
              <a:rPr dirty="0"/>
              <a:t>It still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forms the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basis of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many time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series decomposition methods</a:t>
            </a:r>
            <a:r>
              <a:rPr dirty="0" spc="-5"/>
              <a:t>, </a:t>
            </a:r>
            <a:r>
              <a:rPr dirty="0"/>
              <a:t>so it is </a:t>
            </a:r>
            <a:r>
              <a:rPr dirty="0" spc="5"/>
              <a:t>important </a:t>
            </a:r>
            <a:r>
              <a:rPr dirty="0" spc="-10"/>
              <a:t>to  </a:t>
            </a:r>
            <a:r>
              <a:rPr dirty="0"/>
              <a:t>understand how it</a:t>
            </a:r>
            <a:r>
              <a:rPr dirty="0" spc="-5"/>
              <a:t> </a:t>
            </a:r>
            <a:r>
              <a:rPr dirty="0"/>
              <a:t>works.</a:t>
            </a:r>
          </a:p>
          <a:p>
            <a:pPr marL="294640" marR="53340" indent="-133985">
              <a:lnSpc>
                <a:spcPct val="114599"/>
              </a:lnSpc>
              <a:spcBef>
                <a:spcPts val="975"/>
              </a:spcBef>
              <a:buClr>
                <a:srgbClr val="C2132D"/>
              </a:buClr>
              <a:buChar char="•"/>
              <a:tabLst>
                <a:tab pos="295275" algn="l"/>
              </a:tabLst>
            </a:pPr>
            <a:r>
              <a:rPr dirty="0"/>
              <a:t>The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first step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in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a classical decomposition is </a:t>
            </a:r>
            <a:r>
              <a:rPr dirty="0" spc="-15" b="1">
                <a:solidFill>
                  <a:srgbClr val="C2132D"/>
                </a:solidFill>
                <a:latin typeface="Roboto"/>
                <a:cs typeface="Roboto"/>
              </a:rPr>
              <a:t>to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use a moving </a:t>
            </a:r>
            <a:r>
              <a:rPr dirty="0" spc="-10" b="1">
                <a:solidFill>
                  <a:srgbClr val="C2132D"/>
                </a:solidFill>
                <a:latin typeface="Roboto"/>
                <a:cs typeface="Roboto"/>
              </a:rPr>
              <a:t>average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method </a:t>
            </a:r>
            <a:r>
              <a:rPr dirty="0" spc="-15" b="1">
                <a:solidFill>
                  <a:srgbClr val="C2132D"/>
                </a:solidFill>
                <a:latin typeface="Roboto"/>
                <a:cs typeface="Roboto"/>
              </a:rPr>
              <a:t>to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estimate 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trend-cycle</a:t>
            </a:r>
            <a:r>
              <a:rPr dirty="0" spc="-5"/>
              <a:t>, </a:t>
            </a:r>
            <a:r>
              <a:rPr dirty="0"/>
              <a:t>so we begin </a:t>
            </a:r>
            <a:r>
              <a:rPr dirty="0" spc="-5"/>
              <a:t>by </a:t>
            </a:r>
            <a:r>
              <a:rPr dirty="0"/>
              <a:t>discussing </a:t>
            </a:r>
            <a:r>
              <a:rPr dirty="0" spc="-5"/>
              <a:t>moving</a:t>
            </a:r>
            <a:r>
              <a:rPr dirty="0"/>
              <a:t> </a:t>
            </a:r>
            <a:r>
              <a:rPr dirty="0" spc="-10"/>
              <a:t>averages.</a:t>
            </a:r>
          </a:p>
        </p:txBody>
      </p:sp>
      <p:sp>
        <p:nvSpPr>
          <p:cNvPr id="4" name="object 4"/>
          <p:cNvSpPr/>
          <p:nvPr/>
        </p:nvSpPr>
        <p:spPr>
          <a:xfrm>
            <a:off x="914400" y="602456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0340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39374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6077108"/>
            <a:ext cx="9110345" cy="349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Source: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Hyndman,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R.J.,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&amp; Athanasopoulos, G. (2021)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Forecasting: principles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practice, 3rd edition,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OTexts: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Melbourne,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Australia.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https://otexts.com/fpp3/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.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Accessed on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February 12, 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2025.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Chapter</a:t>
            </a:r>
            <a:r>
              <a:rPr dirty="0" sz="850" spc="-1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3.3</a:t>
            </a:r>
            <a:endParaRPr sz="85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11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40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5880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latin typeface="Roboto Condensed"/>
                <a:cs typeface="Roboto Condensed"/>
              </a:rPr>
              <a:t>Moving </a:t>
            </a:r>
            <a:r>
              <a:rPr dirty="0" sz="3350" spc="-15">
                <a:latin typeface="Roboto Condensed"/>
                <a:cs typeface="Roboto Condensed"/>
              </a:rPr>
              <a:t>Average </a:t>
            </a:r>
            <a:r>
              <a:rPr dirty="0" sz="3350" spc="15">
                <a:latin typeface="Roboto Condensed"/>
                <a:cs typeface="Roboto Condensed"/>
              </a:rPr>
              <a:t>(MA)</a:t>
            </a:r>
            <a:r>
              <a:rPr dirty="0" sz="3350" spc="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Smoothing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94640" marR="5080" indent="-133985">
              <a:lnSpc>
                <a:spcPct val="118100"/>
              </a:lnSpc>
              <a:spcBef>
                <a:spcPts val="100"/>
              </a:spcBef>
              <a:buFont typeface="Roboto"/>
              <a:buChar char="•"/>
              <a:tabLst>
                <a:tab pos="295275" algn="l"/>
              </a:tabLst>
            </a:pP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Moving </a:t>
            </a:r>
            <a:r>
              <a:rPr dirty="0" spc="-10" b="1">
                <a:solidFill>
                  <a:srgbClr val="C2132D"/>
                </a:solidFill>
                <a:latin typeface="Roboto"/>
                <a:cs typeface="Roboto"/>
              </a:rPr>
              <a:t>averages </a:t>
            </a:r>
            <a:r>
              <a:rPr dirty="0" spc="-10"/>
              <a:t>are </a:t>
            </a:r>
            <a:r>
              <a:rPr dirty="0"/>
              <a:t>used </a:t>
            </a:r>
            <a:r>
              <a:rPr dirty="0" spc="-10"/>
              <a:t>to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smooth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out </a:t>
            </a:r>
            <a:r>
              <a:rPr dirty="0" spc="5" b="1">
                <a:solidFill>
                  <a:srgbClr val="C2132D"/>
                </a:solidFill>
                <a:latin typeface="Roboto"/>
                <a:cs typeface="Roboto"/>
              </a:rPr>
              <a:t>short-term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fluctuations </a:t>
            </a:r>
            <a:r>
              <a:rPr dirty="0"/>
              <a:t>and highlight longer-term  </a:t>
            </a:r>
            <a:r>
              <a:rPr dirty="0" spc="-5"/>
              <a:t>trends </a:t>
            </a:r>
            <a:r>
              <a:rPr dirty="0"/>
              <a:t>or </a:t>
            </a:r>
            <a:r>
              <a:rPr dirty="0" spc="-5"/>
              <a:t>cycles.</a:t>
            </a:r>
          </a:p>
          <a:p>
            <a:pPr marL="294640" marR="569595" indent="-133985">
              <a:lnSpc>
                <a:spcPct val="114599"/>
              </a:lnSpc>
              <a:spcBef>
                <a:spcPts val="969"/>
              </a:spcBef>
              <a:buClr>
                <a:srgbClr val="C2132D"/>
              </a:buClr>
              <a:buChar char="•"/>
              <a:tabLst>
                <a:tab pos="295275" algn="l"/>
              </a:tabLst>
            </a:pPr>
            <a:r>
              <a:rPr dirty="0"/>
              <a:t>In classical decomposition, the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trend-cycle component is estimated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using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a centered  moving</a:t>
            </a:r>
            <a:r>
              <a:rPr dirty="0" spc="-10" b="1">
                <a:solidFill>
                  <a:srgbClr val="C2132D"/>
                </a:solidFill>
                <a:latin typeface="Roboto"/>
                <a:cs typeface="Roboto"/>
              </a:rPr>
              <a:t> average</a:t>
            </a:r>
            <a:r>
              <a:rPr dirty="0" spc="-10"/>
              <a:t>.</a:t>
            </a:r>
          </a:p>
          <a:p>
            <a:pPr marL="294640" marR="211454" indent="-133985">
              <a:lnSpc>
                <a:spcPct val="114599"/>
              </a:lnSpc>
              <a:spcBef>
                <a:spcPts val="975"/>
              </a:spcBef>
              <a:buClr>
                <a:srgbClr val="C2132D"/>
              </a:buClr>
              <a:buChar char="•"/>
              <a:tabLst>
                <a:tab pos="295275" algn="l"/>
              </a:tabLst>
            </a:pPr>
            <a:r>
              <a:rPr dirty="0"/>
              <a:t>A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centered moving </a:t>
            </a:r>
            <a:r>
              <a:rPr dirty="0" spc="-10" b="1">
                <a:solidFill>
                  <a:srgbClr val="C2132D"/>
                </a:solidFill>
                <a:latin typeface="Roboto"/>
                <a:cs typeface="Roboto"/>
              </a:rPr>
              <a:t>average </a:t>
            </a:r>
            <a:r>
              <a:rPr dirty="0"/>
              <a:t>is calculated </a:t>
            </a:r>
            <a:r>
              <a:rPr dirty="0" spc="-5"/>
              <a:t>by </a:t>
            </a:r>
            <a:r>
              <a:rPr dirty="0"/>
              <a:t>taking the </a:t>
            </a:r>
            <a:r>
              <a:rPr dirty="0" spc="-10"/>
              <a:t>average </a:t>
            </a:r>
            <a:r>
              <a:rPr dirty="0"/>
              <a:t>of </a:t>
            </a:r>
            <a:r>
              <a:rPr dirty="0" spc="-5"/>
              <a:t>values </a:t>
            </a:r>
            <a:r>
              <a:rPr dirty="0"/>
              <a:t>on either side of  the data point in</a:t>
            </a:r>
            <a:r>
              <a:rPr dirty="0" spc="-5"/>
              <a:t> </a:t>
            </a:r>
            <a:r>
              <a:rPr dirty="0"/>
              <a:t>question.</a:t>
            </a:r>
          </a:p>
          <a:p>
            <a:pPr marL="29464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295275" algn="l"/>
              </a:tabLst>
            </a:pPr>
            <a:r>
              <a:rPr dirty="0" spc="-10"/>
              <a:t>Mathematically,a </a:t>
            </a:r>
            <a:r>
              <a:rPr dirty="0" spc="-5"/>
              <a:t>centered moving </a:t>
            </a:r>
            <a:r>
              <a:rPr dirty="0" spc="-10"/>
              <a:t>average </a:t>
            </a:r>
            <a:r>
              <a:rPr dirty="0"/>
              <a:t>of </a:t>
            </a:r>
            <a:r>
              <a:rPr dirty="0" spc="-5"/>
              <a:t>order </a:t>
            </a:r>
            <a:r>
              <a:rPr dirty="0" sz="1600" spc="85" i="1">
                <a:latin typeface="Lucida Sans"/>
                <a:cs typeface="Lucida Sans"/>
              </a:rPr>
              <a:t>m </a:t>
            </a:r>
            <a:r>
              <a:rPr dirty="0"/>
              <a:t>can be written</a:t>
            </a:r>
            <a:r>
              <a:rPr dirty="0" spc="-105"/>
              <a:t> </a:t>
            </a:r>
            <a:r>
              <a:rPr dirty="0"/>
              <a:t>as:</a:t>
            </a:r>
            <a:endParaRPr sz="160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28604" y="4416424"/>
            <a:ext cx="5676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600" spc="-140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13888" sz="2700" spc="-209">
                <a:solidFill>
                  <a:srgbClr val="585D60"/>
                </a:solidFill>
                <a:latin typeface="Arial"/>
                <a:cs typeface="Arial"/>
              </a:rPr>
              <a:t>^</a:t>
            </a:r>
            <a:r>
              <a:rPr dirty="0" baseline="-14492" sz="1725" spc="-209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4492" sz="1725" spc="-82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=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22763" y="4231319"/>
            <a:ext cx="955040" cy="738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6850">
              <a:lnSpc>
                <a:spcPts val="715"/>
              </a:lnSpc>
              <a:spcBef>
                <a:spcPts val="105"/>
              </a:spcBef>
            </a:pPr>
            <a:r>
              <a:rPr dirty="0" sz="1150" i="1">
                <a:solidFill>
                  <a:srgbClr val="585D60"/>
                </a:solidFill>
                <a:latin typeface="Lucida Sans"/>
                <a:cs typeface="Lucida Sans"/>
              </a:rPr>
              <a:t>k</a:t>
            </a:r>
            <a:endParaRPr sz="1150">
              <a:latin typeface="Lucida Sans"/>
              <a:cs typeface="Lucida Sans"/>
            </a:endParaRPr>
          </a:p>
          <a:p>
            <a:pPr marL="73660">
              <a:lnSpc>
                <a:spcPts val="3175"/>
              </a:lnSpc>
            </a:pPr>
            <a:r>
              <a:rPr dirty="0" sz="3200" spc="270">
                <a:solidFill>
                  <a:srgbClr val="585D60"/>
                </a:solidFill>
                <a:latin typeface="Verdana"/>
                <a:cs typeface="Verdana"/>
              </a:rPr>
              <a:t>∑</a:t>
            </a:r>
            <a:r>
              <a:rPr dirty="0" sz="3200" spc="-590">
                <a:solidFill>
                  <a:srgbClr val="585D60"/>
                </a:solidFill>
                <a:latin typeface="Verdana"/>
                <a:cs typeface="Verdana"/>
              </a:rPr>
              <a:t> </a:t>
            </a:r>
            <a:r>
              <a:rPr dirty="0" sz="1600" spc="100" i="1">
                <a:solidFill>
                  <a:srgbClr val="585D60"/>
                </a:solidFill>
                <a:latin typeface="Lucida Sans"/>
                <a:cs typeface="Lucida Sans"/>
              </a:rPr>
              <a:t>y</a:t>
            </a:r>
            <a:r>
              <a:rPr dirty="0" baseline="-14492" sz="1725" spc="150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3333" sz="1875" spc="150">
                <a:solidFill>
                  <a:srgbClr val="585D60"/>
                </a:solidFill>
                <a:latin typeface="Arial"/>
                <a:cs typeface="Arial"/>
              </a:rPr>
              <a:t>+</a:t>
            </a:r>
            <a:r>
              <a:rPr dirty="0" baseline="-14492" sz="1725" spc="150" i="1">
                <a:solidFill>
                  <a:srgbClr val="585D60"/>
                </a:solidFill>
                <a:latin typeface="Lucida Sans"/>
                <a:cs typeface="Lucida Sans"/>
              </a:rPr>
              <a:t>j</a:t>
            </a:r>
            <a:r>
              <a:rPr dirty="0" sz="1800" spc="100">
                <a:solidFill>
                  <a:srgbClr val="585D60"/>
                </a:solidFill>
                <a:latin typeface="Arial"/>
                <a:cs typeface="Arial"/>
              </a:rPr>
              <a:t>,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10"/>
              </a:spcBef>
            </a:pPr>
            <a:r>
              <a:rPr dirty="0" sz="1150" spc="165" i="1">
                <a:solidFill>
                  <a:srgbClr val="585D60"/>
                </a:solidFill>
                <a:latin typeface="Lucida Sans"/>
                <a:cs typeface="Lucida Sans"/>
              </a:rPr>
              <a:t>j</a:t>
            </a:r>
            <a:r>
              <a:rPr dirty="0" sz="1250" spc="165">
                <a:solidFill>
                  <a:srgbClr val="585D60"/>
                </a:solidFill>
                <a:latin typeface="Arial"/>
                <a:cs typeface="Arial"/>
              </a:rPr>
              <a:t>=−</a:t>
            </a:r>
            <a:r>
              <a:rPr dirty="0" sz="1150" spc="165" i="1">
                <a:solidFill>
                  <a:srgbClr val="585D60"/>
                </a:solidFill>
                <a:latin typeface="Lucida Sans"/>
                <a:cs typeface="Lucida Sans"/>
              </a:rPr>
              <a:t>k</a:t>
            </a:r>
            <a:endParaRPr sz="115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59139" y="4197454"/>
            <a:ext cx="226695" cy="67691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55244">
              <a:lnSpc>
                <a:spcPct val="100000"/>
              </a:lnSpc>
              <a:spcBef>
                <a:spcPts val="625"/>
              </a:spcBef>
            </a:pP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1600" spc="85" i="1">
                <a:solidFill>
                  <a:srgbClr val="585D60"/>
                </a:solidFill>
                <a:latin typeface="Lucida Sans"/>
                <a:cs typeface="Lucida Sans"/>
              </a:rPr>
              <a:t>m</a:t>
            </a:r>
            <a:endParaRPr sz="1600">
              <a:latin typeface="Lucida Sans"/>
              <a:cs typeface="Lucida San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48324" y="4605337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49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82699" y="5226049"/>
            <a:ext cx="65944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where </a:t>
            </a:r>
            <a:r>
              <a:rPr dirty="0" sz="1600" spc="85" i="1">
                <a:solidFill>
                  <a:srgbClr val="585D60"/>
                </a:solidFill>
                <a:latin typeface="Lucida Sans"/>
                <a:cs typeface="Lucida Sans"/>
              </a:rPr>
              <a:t>m</a:t>
            </a:r>
            <a:r>
              <a:rPr dirty="0" sz="1600" spc="-10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2</a:t>
            </a:r>
            <a:r>
              <a:rPr dirty="0" sz="1600" spc="-45" i="1">
                <a:solidFill>
                  <a:srgbClr val="585D60"/>
                </a:solidFill>
                <a:latin typeface="Lucida Sans"/>
                <a:cs typeface="Lucida Sans"/>
              </a:rPr>
              <a:t>k</a:t>
            </a:r>
            <a:r>
              <a:rPr dirty="0" sz="1600" spc="-110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+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 1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the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number of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values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in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moving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average.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0900" y="530225"/>
            <a:ext cx="9061450" cy="2185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solidFill>
                  <a:srgbClr val="C2132D"/>
                </a:solidFill>
                <a:latin typeface="Roboto Condensed"/>
                <a:cs typeface="Roboto Condensed"/>
              </a:rPr>
              <a:t>Activity: Centered Moving </a:t>
            </a:r>
            <a:r>
              <a:rPr dirty="0" sz="3350" spc="-15">
                <a:solidFill>
                  <a:srgbClr val="C2132D"/>
                </a:solidFill>
                <a:latin typeface="Roboto Condensed"/>
                <a:cs typeface="Roboto Condensed"/>
              </a:rPr>
              <a:t>Average</a:t>
            </a:r>
            <a:endParaRPr sz="3350">
              <a:latin typeface="Roboto Condensed"/>
              <a:cs typeface="Roboto Condensed"/>
            </a:endParaRPr>
          </a:p>
          <a:p>
            <a:pPr marL="63500">
              <a:lnSpc>
                <a:spcPct val="100000"/>
              </a:lnSpc>
              <a:spcBef>
                <a:spcPts val="3005"/>
              </a:spcBef>
            </a:pP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Let's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consider the following series: </a:t>
            </a:r>
            <a:r>
              <a:rPr dirty="0" sz="1600" spc="10" i="1">
                <a:solidFill>
                  <a:srgbClr val="585D60"/>
                </a:solidFill>
                <a:latin typeface="Lucida Sans"/>
                <a:cs typeface="Lucida Sans"/>
              </a:rPr>
              <a:t>y</a:t>
            </a:r>
            <a:r>
              <a:rPr dirty="0" baseline="-14492" sz="1725" spc="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4492" sz="1725" spc="337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585D60"/>
                </a:solidFill>
                <a:latin typeface="Arial"/>
                <a:cs typeface="Arial"/>
              </a:rPr>
              <a:t>{4,</a:t>
            </a:r>
            <a:r>
              <a:rPr dirty="0" sz="1800" spc="-20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7,</a:t>
            </a:r>
            <a:r>
              <a:rPr dirty="0" sz="1800" spc="-20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7,</a:t>
            </a:r>
            <a:r>
              <a:rPr dirty="0" sz="1800" spc="-20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585D60"/>
                </a:solidFill>
                <a:latin typeface="Arial"/>
                <a:cs typeface="Arial"/>
              </a:rPr>
              <a:t>10,</a:t>
            </a:r>
            <a:r>
              <a:rPr dirty="0" sz="1800" spc="-20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585D60"/>
                </a:solidFill>
                <a:latin typeface="Arial"/>
                <a:cs typeface="Arial"/>
              </a:rPr>
              <a:t>13,</a:t>
            </a:r>
            <a:r>
              <a:rPr dirty="0" sz="1800" spc="-20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585D60"/>
                </a:solidFill>
                <a:latin typeface="Arial"/>
                <a:cs typeface="Arial"/>
              </a:rPr>
              <a:t>13,</a:t>
            </a:r>
            <a:r>
              <a:rPr dirty="0" sz="1800" spc="-20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16}</a:t>
            </a:r>
            <a:endParaRPr sz="18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129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Calculate a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centered moving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average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of order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3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, and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input it in the CMA3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column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20" b="1">
                <a:solidFill>
                  <a:srgbClr val="C2132D"/>
                </a:solidFill>
                <a:latin typeface="Roboto"/>
                <a:cs typeface="Roboto"/>
              </a:rPr>
              <a:t>below.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Roboto"/>
              <a:cs typeface="Roboto"/>
            </a:endParaRPr>
          </a:p>
          <a:p>
            <a:pPr marL="444500" indent="-133985">
              <a:lnSpc>
                <a:spcPct val="100000"/>
              </a:lnSpc>
              <a:spcBef>
                <a:spcPts val="5"/>
              </a:spcBef>
              <a:buClr>
                <a:srgbClr val="C2132D"/>
              </a:buClr>
              <a:buChar char="•"/>
              <a:tabLst>
                <a:tab pos="4445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Note each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cell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the table is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editable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but please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only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edit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the CMA3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column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400" y="2962274"/>
          <a:ext cx="9696450" cy="3028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85515"/>
                <a:gridCol w="1785619"/>
                <a:gridCol w="4425315"/>
              </a:tblGrid>
              <a:tr h="409574">
                <a:tc>
                  <a:txBody>
                    <a:bodyPr/>
                    <a:lstStyle/>
                    <a:p>
                      <a:pPr marL="1892300">
                        <a:lnSpc>
                          <a:spcPts val="1355"/>
                        </a:lnSpc>
                        <a:spcBef>
                          <a:spcPts val="235"/>
                        </a:spcBef>
                      </a:pPr>
                      <a:r>
                        <a:rPr dirty="0" baseline="-15325" sz="2175" spc="37" b="1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dirty="0" sz="1150" spc="25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▲</a:t>
                      </a:r>
                      <a:endParaRPr sz="1150">
                        <a:latin typeface="Arial"/>
                        <a:cs typeface="Arial"/>
                      </a:endParaRPr>
                    </a:p>
                    <a:p>
                      <a:pPr marL="1961514">
                        <a:lnSpc>
                          <a:spcPts val="994"/>
                        </a:lnSpc>
                      </a:pPr>
                      <a:r>
                        <a:rPr dirty="0" sz="1150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▼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29845"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1430">
                        <a:lnSpc>
                          <a:spcPts val="1170"/>
                        </a:lnSpc>
                        <a:spcBef>
                          <a:spcPts val="610"/>
                        </a:spcBef>
                      </a:pPr>
                      <a:r>
                        <a:rPr dirty="0" sz="1450" b="1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y</a:t>
                      </a:r>
                      <a:r>
                        <a:rPr dirty="0" sz="1450" b="1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_</a:t>
                      </a:r>
                      <a:r>
                        <a:rPr dirty="0" sz="1450" spc="55" b="1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dirty="0" baseline="16908" sz="1725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▲</a:t>
                      </a:r>
                      <a:endParaRPr baseline="16908" sz="1725">
                        <a:latin typeface="Arial"/>
                        <a:cs typeface="Arial"/>
                      </a:endParaRPr>
                    </a:p>
                    <a:p>
                      <a:pPr algn="r" marR="11430">
                        <a:lnSpc>
                          <a:spcPts val="810"/>
                        </a:lnSpc>
                      </a:pPr>
                      <a:r>
                        <a:rPr dirty="0" sz="1150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▼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77470"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1170"/>
                        </a:lnSpc>
                        <a:spcBef>
                          <a:spcPts val="610"/>
                        </a:spcBef>
                        <a:tabLst>
                          <a:tab pos="4185285" algn="l"/>
                        </a:tabLst>
                      </a:pPr>
                      <a:r>
                        <a:rPr dirty="0" sz="1450" spc="-10" b="1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cma3	</a:t>
                      </a:r>
                      <a:r>
                        <a:rPr dirty="0" baseline="16908" sz="1725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▲</a:t>
                      </a:r>
                      <a:endParaRPr baseline="16908" sz="1725">
                        <a:latin typeface="Arial"/>
                        <a:cs typeface="Arial"/>
                      </a:endParaRPr>
                    </a:p>
                    <a:p>
                      <a:pPr algn="r" marR="87630">
                        <a:lnSpc>
                          <a:spcPts val="810"/>
                        </a:lnSpc>
                      </a:pPr>
                      <a:r>
                        <a:rPr dirty="0" sz="1150" b="1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▼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77470"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71474">
                <a:tc>
                  <a:txBody>
                    <a:bodyPr/>
                    <a:lstStyle/>
                    <a:p>
                      <a:pPr algn="r" marR="137096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1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R="1143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4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</a:tr>
              <a:tr h="371474">
                <a:tc gridSpan="3">
                  <a:txBody>
                    <a:bodyPr/>
                    <a:lstStyle/>
                    <a:p>
                      <a:pPr marL="2003425">
                        <a:lnSpc>
                          <a:spcPct val="100000"/>
                        </a:lnSpc>
                        <a:spcBef>
                          <a:spcPts val="459"/>
                        </a:spcBef>
                        <a:tabLst>
                          <a:tab pos="5148580" algn="l"/>
                        </a:tabLst>
                      </a:pPr>
                      <a:r>
                        <a:rPr dirty="0" sz="1450" spc="-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2	7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80999">
                <a:tc>
                  <a:txBody>
                    <a:bodyPr/>
                    <a:lstStyle/>
                    <a:p>
                      <a:pPr algn="r" marR="137096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3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R="1143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7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</a:tr>
              <a:tr h="371474">
                <a:tc gridSpan="3">
                  <a:txBody>
                    <a:bodyPr/>
                    <a:lstStyle/>
                    <a:p>
                      <a:pPr marL="2003425">
                        <a:lnSpc>
                          <a:spcPct val="100000"/>
                        </a:lnSpc>
                        <a:spcBef>
                          <a:spcPts val="459"/>
                        </a:spcBef>
                        <a:tabLst>
                          <a:tab pos="5045710" algn="l"/>
                        </a:tabLst>
                      </a:pPr>
                      <a:r>
                        <a:rPr dirty="0" sz="1450" spc="-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4	10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1474">
                <a:tc>
                  <a:txBody>
                    <a:bodyPr/>
                    <a:lstStyle/>
                    <a:p>
                      <a:pPr algn="r" marR="137096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5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R="1143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13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</a:tr>
              <a:tr h="371474">
                <a:tc gridSpan="3">
                  <a:txBody>
                    <a:bodyPr/>
                    <a:lstStyle/>
                    <a:p>
                      <a:pPr marL="2003425">
                        <a:lnSpc>
                          <a:spcPct val="100000"/>
                        </a:lnSpc>
                        <a:spcBef>
                          <a:spcPts val="459"/>
                        </a:spcBef>
                        <a:tabLst>
                          <a:tab pos="5045710" algn="l"/>
                        </a:tabLst>
                      </a:pPr>
                      <a:r>
                        <a:rPr dirty="0" sz="1450" spc="-5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6	13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1474">
                <a:tc>
                  <a:txBody>
                    <a:bodyPr/>
                    <a:lstStyle/>
                    <a:p>
                      <a:pPr algn="r" marR="137096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7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R="1143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solidFill>
                            <a:srgbClr val="333333"/>
                          </a:solidFill>
                          <a:latin typeface="Roboto"/>
                          <a:cs typeface="Roboto"/>
                        </a:rPr>
                        <a:t>16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234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9403080" y="182880"/>
            <a:ext cx="1978660" cy="966469"/>
          </a:xfrm>
          <a:custGeom>
            <a:avLst/>
            <a:gdLst/>
            <a:ahLst/>
            <a:cxnLst/>
            <a:rect l="l" t="t" r="r" b="b"/>
            <a:pathLst>
              <a:path w="1978659" h="966469">
                <a:moveTo>
                  <a:pt x="1978152" y="966216"/>
                </a:moveTo>
                <a:lnTo>
                  <a:pt x="0" y="966216"/>
                </a:lnTo>
                <a:lnTo>
                  <a:pt x="0" y="0"/>
                </a:lnTo>
                <a:lnTo>
                  <a:pt x="1978152" y="0"/>
                </a:lnTo>
                <a:lnTo>
                  <a:pt x="1978152" y="102870"/>
                </a:lnTo>
                <a:lnTo>
                  <a:pt x="274319" y="102870"/>
                </a:lnTo>
                <a:lnTo>
                  <a:pt x="261182" y="103504"/>
                </a:lnTo>
                <a:lnTo>
                  <a:pt x="223287" y="113020"/>
                </a:lnTo>
                <a:lnTo>
                  <a:pt x="189762" y="133087"/>
                </a:lnTo>
                <a:lnTo>
                  <a:pt x="163420" y="162120"/>
                </a:lnTo>
                <a:lnTo>
                  <a:pt x="146677" y="197568"/>
                </a:lnTo>
                <a:lnTo>
                  <a:pt x="140969" y="236220"/>
                </a:lnTo>
                <a:lnTo>
                  <a:pt x="140969" y="655320"/>
                </a:lnTo>
                <a:lnTo>
                  <a:pt x="146677" y="693971"/>
                </a:lnTo>
                <a:lnTo>
                  <a:pt x="163420" y="729419"/>
                </a:lnTo>
                <a:lnTo>
                  <a:pt x="189762" y="758452"/>
                </a:lnTo>
                <a:lnTo>
                  <a:pt x="223287" y="778519"/>
                </a:lnTo>
                <a:lnTo>
                  <a:pt x="261182" y="788035"/>
                </a:lnTo>
                <a:lnTo>
                  <a:pt x="274319" y="788670"/>
                </a:lnTo>
                <a:lnTo>
                  <a:pt x="1978152" y="788670"/>
                </a:lnTo>
                <a:lnTo>
                  <a:pt x="1978152" y="966216"/>
                </a:lnTo>
                <a:close/>
              </a:path>
              <a:path w="1978659" h="966469">
                <a:moveTo>
                  <a:pt x="1978152" y="788670"/>
                </a:moveTo>
                <a:lnTo>
                  <a:pt x="1703069" y="788670"/>
                </a:lnTo>
                <a:lnTo>
                  <a:pt x="1716205" y="788035"/>
                </a:lnTo>
                <a:lnTo>
                  <a:pt x="1729088" y="786132"/>
                </a:lnTo>
                <a:lnTo>
                  <a:pt x="1765992" y="772906"/>
                </a:lnTo>
                <a:lnTo>
                  <a:pt x="1797360" y="749612"/>
                </a:lnTo>
                <a:lnTo>
                  <a:pt x="1820653" y="718244"/>
                </a:lnTo>
                <a:lnTo>
                  <a:pt x="1833880" y="681340"/>
                </a:lnTo>
                <a:lnTo>
                  <a:pt x="1836419" y="655320"/>
                </a:lnTo>
                <a:lnTo>
                  <a:pt x="1836419" y="236220"/>
                </a:lnTo>
                <a:lnTo>
                  <a:pt x="1830708" y="197568"/>
                </a:lnTo>
                <a:lnTo>
                  <a:pt x="1813965" y="162120"/>
                </a:lnTo>
                <a:lnTo>
                  <a:pt x="1787623" y="133087"/>
                </a:lnTo>
                <a:lnTo>
                  <a:pt x="1754098" y="113020"/>
                </a:lnTo>
                <a:lnTo>
                  <a:pt x="1716205" y="103504"/>
                </a:lnTo>
                <a:lnTo>
                  <a:pt x="1703069" y="102870"/>
                </a:lnTo>
                <a:lnTo>
                  <a:pt x="1978152" y="102870"/>
                </a:lnTo>
                <a:lnTo>
                  <a:pt x="1978152" y="788670"/>
                </a:lnTo>
                <a:close/>
              </a:path>
            </a:pathLst>
          </a:custGeom>
          <a:solidFill>
            <a:srgbClr val="323232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548811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1565780" y="676274"/>
                </a:moveTo>
                <a:lnTo>
                  <a:pt x="120144" y="676274"/>
                </a:lnTo>
                <a:lnTo>
                  <a:pt x="111782" y="675451"/>
                </a:lnTo>
                <a:lnTo>
                  <a:pt x="71578" y="663255"/>
                </a:lnTo>
                <a:lnTo>
                  <a:pt x="31692" y="632642"/>
                </a:lnTo>
                <a:lnTo>
                  <a:pt x="6556" y="589095"/>
                </a:lnTo>
                <a:lnTo>
                  <a:pt x="0" y="556130"/>
                </a:lnTo>
                <a:lnTo>
                  <a:pt x="0" y="120144"/>
                </a:lnTo>
                <a:lnTo>
                  <a:pt x="13018" y="71578"/>
                </a:lnTo>
                <a:lnTo>
                  <a:pt x="43632" y="31692"/>
                </a:lnTo>
                <a:lnTo>
                  <a:pt x="87178" y="6557"/>
                </a:lnTo>
                <a:lnTo>
                  <a:pt x="120144" y="0"/>
                </a:lnTo>
                <a:lnTo>
                  <a:pt x="1565780" y="0"/>
                </a:lnTo>
                <a:lnTo>
                  <a:pt x="1614345" y="13019"/>
                </a:lnTo>
                <a:lnTo>
                  <a:pt x="1654232" y="43632"/>
                </a:lnTo>
                <a:lnTo>
                  <a:pt x="1679366" y="87179"/>
                </a:lnTo>
                <a:lnTo>
                  <a:pt x="1685925" y="120144"/>
                </a:lnTo>
                <a:lnTo>
                  <a:pt x="1685925" y="556130"/>
                </a:lnTo>
                <a:lnTo>
                  <a:pt x="1672904" y="604696"/>
                </a:lnTo>
                <a:lnTo>
                  <a:pt x="1642292" y="644582"/>
                </a:lnTo>
                <a:lnTo>
                  <a:pt x="1598743" y="669717"/>
                </a:lnTo>
                <a:lnTo>
                  <a:pt x="1565780" y="6762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548810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0" y="547687"/>
                </a:moveTo>
                <a:lnTo>
                  <a:pt x="0" y="128587"/>
                </a:lnTo>
                <a:lnTo>
                  <a:pt x="0" y="120144"/>
                </a:lnTo>
                <a:lnTo>
                  <a:pt x="823" y="111782"/>
                </a:lnTo>
                <a:lnTo>
                  <a:pt x="2470" y="103501"/>
                </a:lnTo>
                <a:lnTo>
                  <a:pt x="4117" y="95220"/>
                </a:lnTo>
                <a:lnTo>
                  <a:pt x="6556" y="87179"/>
                </a:lnTo>
                <a:lnTo>
                  <a:pt x="9787" y="79379"/>
                </a:lnTo>
                <a:lnTo>
                  <a:pt x="13018" y="71578"/>
                </a:lnTo>
                <a:lnTo>
                  <a:pt x="37662" y="37662"/>
                </a:lnTo>
                <a:lnTo>
                  <a:pt x="43632" y="31692"/>
                </a:lnTo>
                <a:lnTo>
                  <a:pt x="50127" y="26361"/>
                </a:lnTo>
                <a:lnTo>
                  <a:pt x="57147" y="21670"/>
                </a:lnTo>
                <a:lnTo>
                  <a:pt x="64167" y="16980"/>
                </a:lnTo>
                <a:lnTo>
                  <a:pt x="71577" y="13019"/>
                </a:lnTo>
                <a:lnTo>
                  <a:pt x="79378" y="9788"/>
                </a:lnTo>
                <a:lnTo>
                  <a:pt x="87178" y="6557"/>
                </a:lnTo>
                <a:lnTo>
                  <a:pt x="95219" y="4117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8" y="0"/>
                </a:lnTo>
                <a:lnTo>
                  <a:pt x="1557337" y="0"/>
                </a:lnTo>
                <a:lnTo>
                  <a:pt x="1565780" y="0"/>
                </a:lnTo>
                <a:lnTo>
                  <a:pt x="1574142" y="823"/>
                </a:lnTo>
                <a:lnTo>
                  <a:pt x="1582422" y="2470"/>
                </a:lnTo>
                <a:lnTo>
                  <a:pt x="1590703" y="4117"/>
                </a:lnTo>
                <a:lnTo>
                  <a:pt x="1598743" y="6557"/>
                </a:lnTo>
                <a:lnTo>
                  <a:pt x="1606544" y="9788"/>
                </a:lnTo>
                <a:lnTo>
                  <a:pt x="1614344" y="13019"/>
                </a:lnTo>
                <a:lnTo>
                  <a:pt x="1648262" y="37662"/>
                </a:lnTo>
                <a:lnTo>
                  <a:pt x="1672904" y="71578"/>
                </a:lnTo>
                <a:lnTo>
                  <a:pt x="1685101" y="111782"/>
                </a:lnTo>
                <a:lnTo>
                  <a:pt x="1685925" y="120144"/>
                </a:lnTo>
                <a:lnTo>
                  <a:pt x="1685925" y="128587"/>
                </a:lnTo>
                <a:lnTo>
                  <a:pt x="1685925" y="547687"/>
                </a:lnTo>
                <a:lnTo>
                  <a:pt x="1685925" y="556130"/>
                </a:lnTo>
                <a:lnTo>
                  <a:pt x="1685101" y="564492"/>
                </a:lnTo>
                <a:lnTo>
                  <a:pt x="1672904" y="604696"/>
                </a:lnTo>
                <a:lnTo>
                  <a:pt x="1648262" y="638612"/>
                </a:lnTo>
                <a:lnTo>
                  <a:pt x="1628775" y="654603"/>
                </a:lnTo>
                <a:lnTo>
                  <a:pt x="1621754" y="659294"/>
                </a:lnTo>
                <a:lnTo>
                  <a:pt x="1614344" y="663255"/>
                </a:lnTo>
                <a:lnTo>
                  <a:pt x="1606544" y="666486"/>
                </a:lnTo>
                <a:lnTo>
                  <a:pt x="1598743" y="669717"/>
                </a:lnTo>
                <a:lnTo>
                  <a:pt x="1590703" y="672156"/>
                </a:lnTo>
                <a:lnTo>
                  <a:pt x="1582422" y="673804"/>
                </a:lnTo>
                <a:lnTo>
                  <a:pt x="1574142" y="675451"/>
                </a:lnTo>
                <a:lnTo>
                  <a:pt x="1565780" y="676274"/>
                </a:lnTo>
                <a:lnTo>
                  <a:pt x="1557337" y="676274"/>
                </a:lnTo>
                <a:lnTo>
                  <a:pt x="128588" y="676274"/>
                </a:lnTo>
                <a:lnTo>
                  <a:pt x="120144" y="676274"/>
                </a:lnTo>
                <a:lnTo>
                  <a:pt x="111782" y="675451"/>
                </a:lnTo>
                <a:lnTo>
                  <a:pt x="103501" y="673804"/>
                </a:lnTo>
                <a:lnTo>
                  <a:pt x="95219" y="672156"/>
                </a:lnTo>
                <a:lnTo>
                  <a:pt x="87178" y="669717"/>
                </a:lnTo>
                <a:lnTo>
                  <a:pt x="79378" y="666486"/>
                </a:lnTo>
                <a:lnTo>
                  <a:pt x="71578" y="663255"/>
                </a:lnTo>
                <a:lnTo>
                  <a:pt x="64167" y="659294"/>
                </a:lnTo>
                <a:lnTo>
                  <a:pt x="57147" y="654603"/>
                </a:lnTo>
                <a:lnTo>
                  <a:pt x="50127" y="649913"/>
                </a:lnTo>
                <a:lnTo>
                  <a:pt x="21670" y="619126"/>
                </a:lnTo>
                <a:lnTo>
                  <a:pt x="16979" y="612106"/>
                </a:lnTo>
                <a:lnTo>
                  <a:pt x="13018" y="604696"/>
                </a:lnTo>
                <a:lnTo>
                  <a:pt x="9787" y="596895"/>
                </a:lnTo>
                <a:lnTo>
                  <a:pt x="6556" y="589095"/>
                </a:lnTo>
                <a:lnTo>
                  <a:pt x="4117" y="581054"/>
                </a:lnTo>
                <a:lnTo>
                  <a:pt x="2470" y="572773"/>
                </a:lnTo>
                <a:lnTo>
                  <a:pt x="823" y="564492"/>
                </a:lnTo>
                <a:lnTo>
                  <a:pt x="0" y="556130"/>
                </a:lnTo>
                <a:lnTo>
                  <a:pt x="0" y="547687"/>
                </a:lnTo>
                <a:close/>
              </a:path>
            </a:pathLst>
          </a:custGeom>
          <a:ln w="28574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03:00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2103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latin typeface="Roboto Condensed"/>
                <a:cs typeface="Roboto Condensed"/>
              </a:rPr>
              <a:t>Centered Moving </a:t>
            </a:r>
            <a:r>
              <a:rPr dirty="0" sz="3350" spc="-10">
                <a:latin typeface="Roboto Condensed"/>
                <a:cs typeface="Roboto Condensed"/>
              </a:rPr>
              <a:t>Averages </a:t>
            </a:r>
            <a:r>
              <a:rPr dirty="0" sz="3350" spc="10">
                <a:latin typeface="Roboto Condensed"/>
                <a:cs typeface="Roboto Condensed"/>
              </a:rPr>
              <a:t>in</a:t>
            </a:r>
            <a:r>
              <a:rPr dirty="0" sz="3350" spc="-30">
                <a:latin typeface="Roboto Condensed"/>
                <a:cs typeface="Roboto Condensed"/>
              </a:rPr>
              <a:t> </a:t>
            </a:r>
            <a:r>
              <a:rPr dirty="0" sz="3350" spc="15">
                <a:latin typeface="Roboto Condensed"/>
                <a:cs typeface="Roboto Condensed"/>
              </a:rPr>
              <a:t>Python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6092824"/>
            <a:ext cx="48825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Which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of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two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CMA4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cols is correct?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Edit</a:t>
            </a:r>
            <a:r>
              <a:rPr dirty="0" sz="1800" spc="-3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me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1428750"/>
            <a:ext cx="9696450" cy="2390775"/>
          </a:xfrm>
          <a:prstGeom prst="rect">
            <a:avLst/>
          </a:prstGeom>
          <a:solidFill>
            <a:srgbClr val="F7F7F7"/>
          </a:solidFill>
        </p:spPr>
        <p:txBody>
          <a:bodyPr wrap="square" lIns="0" tIns="95250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750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y_t = [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4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 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7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 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7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 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10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 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13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 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13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35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16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]</a:t>
            </a:r>
            <a:endParaRPr sz="1350">
              <a:latin typeface="Courier New"/>
              <a:cs typeface="Courier New"/>
            </a:endParaRPr>
          </a:p>
          <a:p>
            <a:pPr marL="107950">
              <a:lnSpc>
                <a:spcPts val="1600"/>
              </a:lnSpc>
              <a:spcBef>
                <a:spcPts val="1305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df =</a:t>
            </a:r>
            <a:r>
              <a:rPr dirty="0" sz="135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(</a:t>
            </a:r>
            <a:endParaRPr sz="1350">
              <a:latin typeface="Courier New"/>
              <a:cs typeface="Courier New"/>
            </a:endParaRPr>
          </a:p>
          <a:p>
            <a:pPr marL="316865">
              <a:lnSpc>
                <a:spcPts val="157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pd.DataFrame({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"t"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: range(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 len(y_t) + 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), 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"y_t"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:</a:t>
            </a:r>
            <a:r>
              <a:rPr dirty="0" sz="135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y_t})</a:t>
            </a:r>
            <a:endParaRPr sz="1350">
              <a:latin typeface="Courier New"/>
              <a:cs typeface="Courier New"/>
            </a:endParaRPr>
          </a:p>
          <a:p>
            <a:pPr marL="316865">
              <a:lnSpc>
                <a:spcPts val="157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.assign(</a:t>
            </a:r>
            <a:endParaRPr sz="1350">
              <a:latin typeface="Courier New"/>
              <a:cs typeface="Courier New"/>
            </a:endParaRPr>
          </a:p>
          <a:p>
            <a:pPr marL="525145" marR="1969770">
              <a:lnSpc>
                <a:spcPts val="1580"/>
              </a:lnSpc>
              <a:spcBef>
                <a:spcPts val="60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cma3 = </a:t>
            </a: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lambda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x: x[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'y_t'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].rolling(window = 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3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 center = </a:t>
            </a: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True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).mean(),  cma4r = </a:t>
            </a: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lambda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x: x[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'y_t'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].rolling(window = 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4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 center =</a:t>
            </a:r>
            <a:r>
              <a:rPr dirty="0" sz="1350" spc="-5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True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).mean(),  cma4l = </a:t>
            </a: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lambda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x:</a:t>
            </a:r>
            <a:r>
              <a:rPr dirty="0" sz="135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x[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'cma4r'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].shift(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-1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525145">
              <a:lnSpc>
                <a:spcPts val="149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316865">
              <a:lnSpc>
                <a:spcPts val="157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107950">
              <a:lnSpc>
                <a:spcPts val="159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df.head(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7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4048125"/>
            <a:ext cx="9696450" cy="1819275"/>
          </a:xfrm>
          <a:custGeom>
            <a:avLst/>
            <a:gdLst/>
            <a:ahLst/>
            <a:cxnLst/>
            <a:rect l="l" t="t" r="r" b="b"/>
            <a:pathLst>
              <a:path w="9696450" h="1819275">
                <a:moveTo>
                  <a:pt x="0" y="0"/>
                </a:moveTo>
                <a:lnTo>
                  <a:pt x="9696449" y="0"/>
                </a:lnTo>
                <a:lnTo>
                  <a:pt x="9696449" y="1819274"/>
                </a:lnTo>
                <a:lnTo>
                  <a:pt x="0" y="1819274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91145" y="4138607"/>
          <a:ext cx="3399790" cy="425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3085"/>
                <a:gridCol w="313054"/>
                <a:gridCol w="521334"/>
                <a:gridCol w="625475"/>
                <a:gridCol w="729614"/>
                <a:gridCol w="657225"/>
              </a:tblGrid>
              <a:tr h="212566">
                <a:tc>
                  <a:txBody>
                    <a:bodyPr/>
                    <a:lstStyle/>
                    <a:p>
                      <a:pPr marL="31750">
                        <a:lnSpc>
                          <a:spcPts val="1575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15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5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y_t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5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cma3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5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cma4r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cma4l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212566">
                <a:tc>
                  <a:txBody>
                    <a:bodyPr/>
                    <a:lstStyle/>
                    <a:p>
                      <a:pPr marL="31750">
                        <a:lnSpc>
                          <a:spcPts val="1570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r>
                        <a:rPr dirty="0" sz="1400" spc="-7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1570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570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570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NaN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570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NaN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70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NaN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010195" y="4513566"/>
            <a:ext cx="2631440" cy="12407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1630"/>
              </a:lnSpc>
              <a:spcBef>
                <a:spcPts val="110"/>
              </a:spcBef>
              <a:tabLst>
                <a:tab pos="637540" algn="l"/>
                <a:tab pos="1158875" algn="l"/>
                <a:tab pos="1576070" algn="l"/>
                <a:tab pos="2305685" algn="l"/>
              </a:tabLst>
            </a:pP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##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1</a:t>
            </a:r>
            <a:r>
              <a:rPr dirty="0" sz="1400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2</a:t>
            </a:r>
            <a:r>
              <a:rPr dirty="0" sz="1400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7</a:t>
            </a:r>
            <a:r>
              <a:rPr dirty="0" sz="1400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6.0</a:t>
            </a:r>
            <a:r>
              <a:rPr dirty="0" sz="1400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NaN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75"/>
              </a:lnSpc>
              <a:tabLst>
                <a:tab pos="637540" algn="l"/>
                <a:tab pos="1158875" algn="l"/>
                <a:tab pos="1576070" algn="l"/>
                <a:tab pos="2201545" algn="l"/>
              </a:tabLst>
            </a:pP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##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2</a:t>
            </a:r>
            <a:r>
              <a:rPr dirty="0" sz="1400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3</a:t>
            </a:r>
            <a:r>
              <a:rPr dirty="0" sz="1400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7</a:t>
            </a:r>
            <a:r>
              <a:rPr dirty="0" sz="1400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8.0</a:t>
            </a:r>
            <a:r>
              <a:rPr dirty="0" sz="1400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7.00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75"/>
              </a:lnSpc>
              <a:tabLst>
                <a:tab pos="637540" algn="l"/>
                <a:tab pos="1054735" algn="l"/>
                <a:tab pos="1471930" algn="l"/>
                <a:tab pos="2201545" algn="l"/>
              </a:tabLst>
            </a:pP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##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3</a:t>
            </a:r>
            <a:r>
              <a:rPr dirty="0" sz="1400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4</a:t>
            </a:r>
            <a:r>
              <a:rPr dirty="0" sz="1400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10</a:t>
            </a:r>
            <a:r>
              <a:rPr dirty="0" sz="1400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10.0</a:t>
            </a:r>
            <a:r>
              <a:rPr dirty="0" sz="1400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9.25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75"/>
              </a:lnSpc>
              <a:tabLst>
                <a:tab pos="637540" algn="l"/>
                <a:tab pos="1054735" algn="l"/>
                <a:tab pos="1471930" algn="l"/>
                <a:tab pos="2097405" algn="l"/>
              </a:tabLst>
            </a:pP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##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4</a:t>
            </a:r>
            <a:r>
              <a:rPr dirty="0" sz="1400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5</a:t>
            </a:r>
            <a:r>
              <a:rPr dirty="0" sz="1400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13</a:t>
            </a:r>
            <a:r>
              <a:rPr dirty="0" sz="1400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12.0</a:t>
            </a:r>
            <a:r>
              <a:rPr dirty="0" sz="1400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10.75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75"/>
              </a:lnSpc>
              <a:tabLst>
                <a:tab pos="637540" algn="l"/>
                <a:tab pos="1054735" algn="l"/>
                <a:tab pos="1471930" algn="l"/>
                <a:tab pos="2097405" algn="l"/>
              </a:tabLst>
            </a:pP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##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5</a:t>
            </a:r>
            <a:r>
              <a:rPr dirty="0" sz="1400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6</a:t>
            </a:r>
            <a:r>
              <a:rPr dirty="0" sz="1400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13</a:t>
            </a:r>
            <a:r>
              <a:rPr dirty="0" sz="1400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14.0</a:t>
            </a:r>
            <a:r>
              <a:rPr dirty="0" sz="1400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13.00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25"/>
              </a:lnSpc>
              <a:tabLst>
                <a:tab pos="637540" algn="l"/>
                <a:tab pos="1054735" algn="l"/>
                <a:tab pos="1576070" algn="l"/>
                <a:tab pos="2305685" algn="l"/>
              </a:tabLst>
            </a:pP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##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6</a:t>
            </a:r>
            <a:r>
              <a:rPr dirty="0" sz="1400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7</a:t>
            </a:r>
            <a:r>
              <a:rPr dirty="0" sz="1400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16</a:t>
            </a:r>
            <a:r>
              <a:rPr dirty="0" sz="1400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NaN</a:t>
            </a:r>
            <a:r>
              <a:rPr dirty="0" sz="1400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NaN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24718" y="4513566"/>
            <a:ext cx="546735" cy="12407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16839">
              <a:lnSpc>
                <a:spcPts val="1630"/>
              </a:lnSpc>
              <a:spcBef>
                <a:spcPts val="110"/>
              </a:spcBef>
            </a:pP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7.00</a:t>
            </a:r>
            <a:endParaRPr sz="1400">
              <a:latin typeface="Courier New"/>
              <a:cs typeface="Courier New"/>
            </a:endParaRPr>
          </a:p>
          <a:p>
            <a:pPr marL="116839">
              <a:lnSpc>
                <a:spcPts val="1575"/>
              </a:lnSpc>
            </a:pP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9.25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75"/>
              </a:lnSpc>
            </a:pP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10.75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75"/>
              </a:lnSpc>
            </a:pP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13.00</a:t>
            </a:r>
            <a:endParaRPr sz="1400">
              <a:latin typeface="Courier New"/>
              <a:cs typeface="Courier New"/>
            </a:endParaRPr>
          </a:p>
          <a:p>
            <a:pPr marL="220979" marR="5080">
              <a:lnSpc>
                <a:spcPts val="1570"/>
              </a:lnSpc>
              <a:spcBef>
                <a:spcPts val="90"/>
              </a:spcBef>
            </a:pP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NaN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 NaN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14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40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902271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latin typeface="Roboto Condensed"/>
                <a:cs typeface="Roboto Condensed"/>
              </a:rPr>
              <a:t>Centered Moving </a:t>
            </a:r>
            <a:r>
              <a:rPr dirty="0" sz="3350" spc="-10">
                <a:latin typeface="Roboto Condensed"/>
                <a:cs typeface="Roboto Condensed"/>
              </a:rPr>
              <a:t>Averages </a:t>
            </a:r>
            <a:r>
              <a:rPr dirty="0" sz="3350" spc="10">
                <a:latin typeface="Roboto Condensed"/>
                <a:cs typeface="Roboto Condensed"/>
              </a:rPr>
              <a:t>as </a:t>
            </a:r>
            <a:r>
              <a:rPr dirty="0" sz="3350" spc="-10">
                <a:latin typeface="Roboto Condensed"/>
                <a:cs typeface="Roboto Condensed"/>
              </a:rPr>
              <a:t>Trend-Cycle</a:t>
            </a:r>
            <a:r>
              <a:rPr dirty="0" sz="3350" spc="-15">
                <a:latin typeface="Roboto Condensed"/>
                <a:cs typeface="Roboto Condensed"/>
              </a:rPr>
              <a:t> </a:t>
            </a:r>
            <a:r>
              <a:rPr dirty="0" sz="3350" spc="5">
                <a:latin typeface="Roboto Condensed"/>
                <a:cs typeface="Roboto Condensed"/>
              </a:rPr>
              <a:t>Estimators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59846" y="1587253"/>
            <a:ext cx="9415252" cy="37976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16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15442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latin typeface="Roboto Condensed"/>
                <a:cs typeface="Roboto Condensed"/>
              </a:rPr>
              <a:t>Moving </a:t>
            </a:r>
            <a:r>
              <a:rPr dirty="0" sz="3350" spc="-15">
                <a:latin typeface="Roboto Condensed"/>
                <a:cs typeface="Roboto Condensed"/>
              </a:rPr>
              <a:t>Average </a:t>
            </a:r>
            <a:r>
              <a:rPr dirty="0" sz="3350" spc="10">
                <a:latin typeface="Roboto Condensed"/>
                <a:cs typeface="Roboto Condensed"/>
              </a:rPr>
              <a:t>of </a:t>
            </a:r>
            <a:r>
              <a:rPr dirty="0" sz="3350" spc="5">
                <a:latin typeface="Roboto Condensed"/>
                <a:cs typeface="Roboto Condensed"/>
              </a:rPr>
              <a:t>Moving</a:t>
            </a:r>
            <a:r>
              <a:rPr dirty="0" sz="3350" spc="-20">
                <a:latin typeface="Roboto Condensed"/>
                <a:cs typeface="Roboto Condensed"/>
              </a:rPr>
              <a:t> </a:t>
            </a:r>
            <a:r>
              <a:rPr dirty="0" sz="3350" spc="-10">
                <a:latin typeface="Roboto Condensed"/>
                <a:cs typeface="Roboto Condensed"/>
              </a:rPr>
              <a:t>Averages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2276475"/>
            <a:ext cx="9696450" cy="2171700"/>
          </a:xfrm>
          <a:custGeom>
            <a:avLst/>
            <a:gdLst/>
            <a:ahLst/>
            <a:cxnLst/>
            <a:rect l="l" t="t" r="r" b="b"/>
            <a:pathLst>
              <a:path w="9696450" h="2171700">
                <a:moveTo>
                  <a:pt x="0" y="0"/>
                </a:moveTo>
                <a:lnTo>
                  <a:pt x="9696449" y="0"/>
                </a:lnTo>
                <a:lnTo>
                  <a:pt x="9696449" y="2171699"/>
                </a:lnTo>
                <a:lnTo>
                  <a:pt x="0" y="2171699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09650" y="3457575"/>
            <a:ext cx="9505950" cy="180975"/>
          </a:xfrm>
          <a:custGeom>
            <a:avLst/>
            <a:gdLst/>
            <a:ahLst/>
            <a:cxnLst/>
            <a:rect l="l" t="t" r="r" b="b"/>
            <a:pathLst>
              <a:path w="9505950" h="180975">
                <a:moveTo>
                  <a:pt x="0" y="0"/>
                </a:moveTo>
                <a:lnTo>
                  <a:pt x="9505949" y="0"/>
                </a:lnTo>
                <a:lnTo>
                  <a:pt x="9505949" y="180974"/>
                </a:lnTo>
                <a:lnTo>
                  <a:pt x="0" y="180974"/>
                </a:lnTo>
                <a:lnTo>
                  <a:pt x="0" y="0"/>
                </a:lnTo>
                <a:close/>
              </a:path>
            </a:pathLst>
          </a:custGeom>
          <a:solidFill>
            <a:srgbClr val="FFDE6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09650" y="3638550"/>
            <a:ext cx="9505950" cy="171450"/>
          </a:xfrm>
          <a:custGeom>
            <a:avLst/>
            <a:gdLst/>
            <a:ahLst/>
            <a:cxnLst/>
            <a:rect l="l" t="t" r="r" b="b"/>
            <a:pathLst>
              <a:path w="9505950" h="171450">
                <a:moveTo>
                  <a:pt x="0" y="0"/>
                </a:moveTo>
                <a:lnTo>
                  <a:pt x="9505949" y="0"/>
                </a:lnTo>
                <a:lnTo>
                  <a:pt x="9505949" y="171449"/>
                </a:lnTo>
                <a:lnTo>
                  <a:pt x="0" y="171449"/>
                </a:lnTo>
                <a:lnTo>
                  <a:pt x="0" y="0"/>
                </a:lnTo>
                <a:close/>
              </a:path>
            </a:pathLst>
          </a:custGeom>
          <a:solidFill>
            <a:srgbClr val="FFDE6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1700" y="1376044"/>
            <a:ext cx="9415780" cy="2983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When </a:t>
            </a:r>
            <a:r>
              <a:rPr dirty="0" sz="1600" spc="85" i="1">
                <a:solidFill>
                  <a:srgbClr val="585D60"/>
                </a:solidFill>
                <a:latin typeface="Lucida Sans"/>
                <a:cs typeface="Lucida Sans"/>
              </a:rPr>
              <a:t>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even,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we often resort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using a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moving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average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of moving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averages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center the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moving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average.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Let us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revisit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our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previous</a:t>
            </a:r>
            <a:r>
              <a:rPr dirty="0" sz="1800" spc="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example: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100">
              <a:latin typeface="Roboto"/>
              <a:cs typeface="Roboto"/>
            </a:endParaRPr>
          </a:p>
          <a:p>
            <a:pPr marL="109855">
              <a:lnSpc>
                <a:spcPts val="143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df =</a:t>
            </a:r>
            <a:r>
              <a:rPr dirty="0" sz="1200" spc="1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(</a:t>
            </a:r>
            <a:endParaRPr sz="1200">
              <a:latin typeface="Courier New"/>
              <a:cs typeface="Courier New"/>
            </a:endParaRPr>
          </a:p>
          <a:p>
            <a:pPr marL="297815">
              <a:lnSpc>
                <a:spcPts val="142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pd.DataFrame({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"t"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: range(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len(y_t) + 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),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"y_t"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:</a:t>
            </a:r>
            <a:r>
              <a:rPr dirty="0" sz="1200" spc="2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y_t})</a:t>
            </a:r>
            <a:endParaRPr sz="1200">
              <a:latin typeface="Courier New"/>
              <a:cs typeface="Courier New"/>
            </a:endParaRPr>
          </a:p>
          <a:p>
            <a:pPr marL="297815">
              <a:lnSpc>
                <a:spcPts val="142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.assign(</a:t>
            </a:r>
            <a:endParaRPr sz="1200">
              <a:latin typeface="Courier New"/>
              <a:cs typeface="Courier New"/>
            </a:endParaRPr>
          </a:p>
          <a:p>
            <a:pPr marL="485140" marR="2450465">
              <a:lnSpc>
                <a:spcPts val="1420"/>
              </a:lnSpc>
              <a:spcBef>
                <a:spcPts val="60"/>
              </a:spcBef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cma3 =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lambda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x: x[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'y_t'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].rolling(window = 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3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center =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True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).mean(),  cma4r =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lambda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x: x[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'y_t'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].rolling(window = 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4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center =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True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).mean(),  cma4l =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lambda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x: x[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'cma4r'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].shift(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-1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),</a:t>
            </a:r>
            <a:endParaRPr sz="1200">
              <a:latin typeface="Courier New"/>
              <a:cs typeface="Courier New"/>
            </a:endParaRPr>
          </a:p>
          <a:p>
            <a:pPr marL="485140" marR="2169160">
              <a:lnSpc>
                <a:spcPts val="1430"/>
              </a:lnSpc>
              <a:spcBef>
                <a:spcPts val="5"/>
              </a:spcBef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cma4_2 =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lambda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x: x[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'cma4l'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].rolling(window = 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2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center =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True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).mean(),  cma4_2_alt =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lambda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x: (x[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'cma4r'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] +</a:t>
            </a:r>
            <a:r>
              <a:rPr dirty="0" sz="1200" spc="2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x[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'cma4l'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])/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2</a:t>
            </a:r>
            <a:endParaRPr sz="1200">
              <a:latin typeface="Courier New"/>
              <a:cs typeface="Courier New"/>
            </a:endParaRPr>
          </a:p>
          <a:p>
            <a:pPr marL="485140">
              <a:lnSpc>
                <a:spcPts val="129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297815">
              <a:lnSpc>
                <a:spcPts val="142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109855">
              <a:lnSpc>
                <a:spcPts val="143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df.head(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7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4400" y="4657725"/>
            <a:ext cx="9696450" cy="1628775"/>
          </a:xfrm>
          <a:custGeom>
            <a:avLst/>
            <a:gdLst/>
            <a:ahLst/>
            <a:cxnLst/>
            <a:rect l="l" t="t" r="r" b="b"/>
            <a:pathLst>
              <a:path w="9696450" h="1628775">
                <a:moveTo>
                  <a:pt x="0" y="0"/>
                </a:moveTo>
                <a:lnTo>
                  <a:pt x="9696449" y="0"/>
                </a:lnTo>
                <a:lnTo>
                  <a:pt x="9696449" y="1628774"/>
                </a:lnTo>
                <a:lnTo>
                  <a:pt x="0" y="1628774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980281" y="4737312"/>
          <a:ext cx="4940300" cy="1459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0380"/>
                <a:gridCol w="281305"/>
                <a:gridCol w="468629"/>
                <a:gridCol w="562610"/>
                <a:gridCol w="656589"/>
                <a:gridCol w="656589"/>
                <a:gridCol w="750570"/>
                <a:gridCol w="1063625"/>
              </a:tblGrid>
              <a:tr h="191748">
                <a:tc>
                  <a:txBody>
                    <a:bodyPr/>
                    <a:lstStyle/>
                    <a:p>
                      <a:pPr marL="31750">
                        <a:lnSpc>
                          <a:spcPts val="1410"/>
                        </a:lnSpc>
                      </a:pPr>
                      <a:r>
                        <a:rPr dirty="0" sz="1250" spc="-1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10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410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y_t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410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cma3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410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cma4r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410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cma4l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410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cma4_2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410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cma4_2_alt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31750">
                        <a:lnSpc>
                          <a:spcPts val="1325"/>
                        </a:lnSpc>
                      </a:pPr>
                      <a:r>
                        <a:rPr dirty="0" sz="1250" spc="-1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r>
                        <a:rPr dirty="0" sz="1250" spc="-6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250" spc="-1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32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32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NaN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32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NaN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32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NaN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32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NaN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32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NaN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31750">
                        <a:lnSpc>
                          <a:spcPts val="1325"/>
                        </a:lnSpc>
                      </a:pPr>
                      <a:r>
                        <a:rPr dirty="0" sz="1250" spc="-1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r>
                        <a:rPr dirty="0" sz="1250" spc="-6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250" spc="-1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32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32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6.0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32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NaN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32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7.00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32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NaN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32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NaN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31750">
                        <a:lnSpc>
                          <a:spcPts val="1325"/>
                        </a:lnSpc>
                      </a:pPr>
                      <a:r>
                        <a:rPr dirty="0" sz="1250" spc="-1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r>
                        <a:rPr dirty="0" sz="1250" spc="-6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250" spc="-1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32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32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8.0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32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7.00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32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9.25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32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8.125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32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8.125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180974">
                <a:tc>
                  <a:txBody>
                    <a:bodyPr/>
                    <a:lstStyle/>
                    <a:p>
                      <a:pPr marL="31750">
                        <a:lnSpc>
                          <a:spcPts val="1325"/>
                        </a:lnSpc>
                      </a:pPr>
                      <a:r>
                        <a:rPr dirty="0" sz="1250" spc="-1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r>
                        <a:rPr dirty="0" sz="1250" spc="-6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250" spc="-1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32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32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10.0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32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9.25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32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10.75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32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10.000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32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10.000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176212">
                <a:tc>
                  <a:txBody>
                    <a:bodyPr/>
                    <a:lstStyle/>
                    <a:p>
                      <a:pPr marL="31750">
                        <a:lnSpc>
                          <a:spcPts val="1285"/>
                        </a:lnSpc>
                      </a:pPr>
                      <a:r>
                        <a:rPr dirty="0" sz="1250" spc="-1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r>
                        <a:rPr dirty="0" sz="1250" spc="-6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250" spc="-1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28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13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28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12.0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28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10.75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28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13.00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28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11.875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285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11.875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176212">
                <a:tc>
                  <a:txBody>
                    <a:bodyPr/>
                    <a:lstStyle/>
                    <a:p>
                      <a:pPr marL="31750">
                        <a:lnSpc>
                          <a:spcPts val="1290"/>
                        </a:lnSpc>
                      </a:pPr>
                      <a:r>
                        <a:rPr dirty="0" sz="1250" spc="-1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r>
                        <a:rPr dirty="0" sz="1250" spc="-6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250" spc="-1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290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13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290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14.0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290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13.00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290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NaN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290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NaN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290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NaN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191748">
                <a:tc>
                  <a:txBody>
                    <a:bodyPr/>
                    <a:lstStyle/>
                    <a:p>
                      <a:pPr marL="31750">
                        <a:lnSpc>
                          <a:spcPts val="1410"/>
                        </a:lnSpc>
                      </a:pPr>
                      <a:r>
                        <a:rPr dirty="0" sz="1250" spc="-1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r>
                        <a:rPr dirty="0" sz="1250" spc="-6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250" spc="-1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10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410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16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410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NaN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410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NaN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410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NaN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410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NaN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410"/>
                        </a:lnSpc>
                      </a:pPr>
                      <a:r>
                        <a:rPr dirty="0" sz="125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NaN</a:t>
                      </a:r>
                      <a:endParaRPr sz="12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16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4295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latin typeface="Roboto Condensed"/>
                <a:cs typeface="Roboto Condensed"/>
              </a:rPr>
              <a:t>Moving </a:t>
            </a:r>
            <a:r>
              <a:rPr dirty="0" sz="3350" spc="-15">
                <a:latin typeface="Roboto Condensed"/>
                <a:cs typeface="Roboto Condensed"/>
              </a:rPr>
              <a:t>Average </a:t>
            </a:r>
            <a:r>
              <a:rPr dirty="0" sz="3350" spc="10">
                <a:latin typeface="Roboto Condensed"/>
                <a:cs typeface="Roboto Condensed"/>
              </a:rPr>
              <a:t>of </a:t>
            </a:r>
            <a:r>
              <a:rPr dirty="0" sz="3350" spc="5">
                <a:latin typeface="Roboto Condensed"/>
                <a:cs typeface="Roboto Condensed"/>
              </a:rPr>
              <a:t>Moving </a:t>
            </a:r>
            <a:r>
              <a:rPr dirty="0" sz="3350" spc="-10">
                <a:latin typeface="Roboto Condensed"/>
                <a:cs typeface="Roboto Condensed"/>
              </a:rPr>
              <a:t>Averages</a:t>
            </a:r>
            <a:r>
              <a:rPr dirty="0" sz="3350" spc="-1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(Cont.)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376044"/>
            <a:ext cx="9698355" cy="1863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68630">
              <a:lnSpc>
                <a:spcPct val="1181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When a 2-MA follows 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moving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average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an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even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order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(such as 4), it is called a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“centered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moving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average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order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4”.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This is because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results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now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symmetric.</a:t>
            </a:r>
            <a:endParaRPr sz="1800">
              <a:latin typeface="Roboto"/>
              <a:cs typeface="Roboto"/>
            </a:endParaRPr>
          </a:p>
          <a:p>
            <a:pPr marL="12700" marR="5080">
              <a:lnSpc>
                <a:spcPct val="118100"/>
              </a:lnSpc>
              <a:spcBef>
                <a:spcPts val="819"/>
              </a:spcBef>
            </a:pPr>
            <a:r>
              <a:rPr dirty="0" sz="1800" spc="-45">
                <a:solidFill>
                  <a:srgbClr val="585D60"/>
                </a:solidFill>
                <a:latin typeface="Roboto"/>
                <a:cs typeface="Roboto"/>
              </a:rPr>
              <a:t>To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see that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this is the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case, we can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write the 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2</a:t>
            </a:r>
            <a:r>
              <a:rPr dirty="0" sz="1800" spc="-1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×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4</a:t>
            </a:r>
            <a:r>
              <a:rPr dirty="0" sz="1800" spc="-25">
                <a:solidFill>
                  <a:srgbClr val="585D60"/>
                </a:solidFill>
                <a:latin typeface="Roboto"/>
                <a:cs typeface="Roboto"/>
              </a:rPr>
              <a:t>-MA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(named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as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cma4_2</a:t>
            </a:r>
            <a:r>
              <a:rPr dirty="0" sz="1700" spc="-58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or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cma4_2_alt</a:t>
            </a:r>
            <a:r>
              <a:rPr dirty="0" sz="1700" spc="-57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our  Python code) as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follows: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4599" y="3511549"/>
            <a:ext cx="2565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19097" sz="2400" spc="-322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800" spc="-215">
                <a:solidFill>
                  <a:srgbClr val="585D60"/>
                </a:solidFill>
                <a:latin typeface="Arial"/>
                <a:cs typeface="Arial"/>
              </a:rPr>
              <a:t>^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20081" y="3688394"/>
            <a:ext cx="8382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endParaRPr sz="115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3465" y="3673855"/>
            <a:ext cx="958215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80085" algn="l"/>
              </a:tabLst>
            </a:pPr>
            <a:r>
              <a:rPr dirty="0" sz="1150" spc="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250" spc="254">
                <a:solidFill>
                  <a:srgbClr val="585D60"/>
                </a:solidFill>
                <a:latin typeface="Arial"/>
                <a:cs typeface="Arial"/>
              </a:rPr>
              <a:t>−</a:t>
            </a:r>
            <a:r>
              <a:rPr dirty="0" sz="1250" spc="-60">
                <a:solidFill>
                  <a:srgbClr val="585D60"/>
                </a:solidFill>
                <a:latin typeface="Arial"/>
                <a:cs typeface="Arial"/>
              </a:rPr>
              <a:t>2</a:t>
            </a:r>
            <a:r>
              <a:rPr dirty="0" sz="1250" spc="-60">
                <a:solidFill>
                  <a:srgbClr val="585D60"/>
                </a:solidFill>
                <a:latin typeface="Arial"/>
                <a:cs typeface="Arial"/>
              </a:rPr>
              <a:t>	</a:t>
            </a:r>
            <a:r>
              <a:rPr dirty="0" sz="1150" spc="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250" spc="254">
                <a:solidFill>
                  <a:srgbClr val="585D60"/>
                </a:solidFill>
                <a:latin typeface="Arial"/>
                <a:cs typeface="Arial"/>
              </a:rPr>
              <a:t>−</a:t>
            </a:r>
            <a:r>
              <a:rPr dirty="0" sz="1250" spc="-60">
                <a:solidFill>
                  <a:srgbClr val="585D60"/>
                </a:solidFill>
                <a:latin typeface="Arial"/>
                <a:cs typeface="Arial"/>
              </a:rPr>
              <a:t>1</a:t>
            </a:r>
            <a:endParaRPr sz="12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68751" y="3688394"/>
            <a:ext cx="8382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endParaRPr sz="115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29820" y="3673855"/>
            <a:ext cx="314706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072515" algn="l"/>
                <a:tab pos="1740535" algn="l"/>
                <a:tab pos="2201545" algn="l"/>
                <a:tab pos="2868930" algn="l"/>
              </a:tabLst>
            </a:pPr>
            <a:r>
              <a:rPr dirty="0" sz="1150" spc="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250" spc="254">
                <a:solidFill>
                  <a:srgbClr val="585D60"/>
                </a:solidFill>
                <a:latin typeface="Arial"/>
                <a:cs typeface="Arial"/>
              </a:rPr>
              <a:t>+</a:t>
            </a:r>
            <a:r>
              <a:rPr dirty="0" sz="1250" spc="-60">
                <a:solidFill>
                  <a:srgbClr val="585D60"/>
                </a:solidFill>
                <a:latin typeface="Arial"/>
                <a:cs typeface="Arial"/>
              </a:rPr>
              <a:t>1</a:t>
            </a:r>
            <a:r>
              <a:rPr dirty="0" sz="1250" spc="-60">
                <a:solidFill>
                  <a:srgbClr val="585D60"/>
                </a:solidFill>
                <a:latin typeface="Arial"/>
                <a:cs typeface="Arial"/>
              </a:rPr>
              <a:t>	</a:t>
            </a:r>
            <a:r>
              <a:rPr dirty="0" sz="1150" spc="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250" spc="254">
                <a:solidFill>
                  <a:srgbClr val="585D60"/>
                </a:solidFill>
                <a:latin typeface="Arial"/>
                <a:cs typeface="Arial"/>
              </a:rPr>
              <a:t>−</a:t>
            </a:r>
            <a:r>
              <a:rPr dirty="0" sz="1250" spc="-60">
                <a:solidFill>
                  <a:srgbClr val="585D60"/>
                </a:solidFill>
                <a:latin typeface="Arial"/>
                <a:cs typeface="Arial"/>
              </a:rPr>
              <a:t>1</a:t>
            </a:r>
            <a:r>
              <a:rPr dirty="0" sz="1250" spc="-60">
                <a:solidFill>
                  <a:srgbClr val="585D60"/>
                </a:solidFill>
                <a:latin typeface="Arial"/>
                <a:cs typeface="Arial"/>
              </a:rPr>
              <a:t>	</a:t>
            </a:r>
            <a:r>
              <a:rPr dirty="0" sz="1150" spc="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150" spc="15" i="1">
                <a:solidFill>
                  <a:srgbClr val="585D60"/>
                </a:solidFill>
                <a:latin typeface="Lucida Sans"/>
                <a:cs typeface="Lucida Sans"/>
              </a:rPr>
              <a:t>	</a:t>
            </a:r>
            <a:r>
              <a:rPr dirty="0" sz="1150" spc="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250" spc="254">
                <a:solidFill>
                  <a:srgbClr val="585D60"/>
                </a:solidFill>
                <a:latin typeface="Arial"/>
                <a:cs typeface="Arial"/>
              </a:rPr>
              <a:t>+</a:t>
            </a:r>
            <a:r>
              <a:rPr dirty="0" sz="1250" spc="-60">
                <a:solidFill>
                  <a:srgbClr val="585D60"/>
                </a:solidFill>
                <a:latin typeface="Arial"/>
                <a:cs typeface="Arial"/>
              </a:rPr>
              <a:t>1</a:t>
            </a:r>
            <a:r>
              <a:rPr dirty="0" sz="1250" spc="-60">
                <a:solidFill>
                  <a:srgbClr val="585D60"/>
                </a:solidFill>
                <a:latin typeface="Arial"/>
                <a:cs typeface="Arial"/>
              </a:rPr>
              <a:t>	</a:t>
            </a:r>
            <a:r>
              <a:rPr dirty="0" sz="1150" spc="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250" spc="254">
                <a:solidFill>
                  <a:srgbClr val="585D60"/>
                </a:solidFill>
                <a:latin typeface="Arial"/>
                <a:cs typeface="Arial"/>
              </a:rPr>
              <a:t>+</a:t>
            </a:r>
            <a:r>
              <a:rPr dirty="0" sz="1250" spc="-60">
                <a:solidFill>
                  <a:srgbClr val="585D60"/>
                </a:solidFill>
                <a:latin typeface="Arial"/>
                <a:cs typeface="Arial"/>
              </a:rPr>
              <a:t>2</a:t>
            </a:r>
            <a:endParaRPr sz="12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53431" y="3395573"/>
            <a:ext cx="6132195" cy="5194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68630" algn="l"/>
                <a:tab pos="791210" algn="l"/>
                <a:tab pos="5304790" algn="l"/>
                <a:tab pos="5922010" algn="l"/>
              </a:tabLst>
            </a:pP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=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	</a:t>
            </a:r>
            <a:r>
              <a:rPr dirty="0" sz="3200" spc="-605">
                <a:solidFill>
                  <a:srgbClr val="585D60"/>
                </a:solidFill>
                <a:latin typeface="Verdana"/>
                <a:cs typeface="Verdana"/>
              </a:rPr>
              <a:t>[</a:t>
            </a:r>
            <a:r>
              <a:rPr dirty="0" sz="3200" spc="-605">
                <a:solidFill>
                  <a:srgbClr val="585D60"/>
                </a:solidFill>
                <a:latin typeface="Verdana"/>
                <a:cs typeface="Verdana"/>
              </a:rPr>
              <a:t>	</a:t>
            </a:r>
            <a:r>
              <a:rPr dirty="0" sz="1800" spc="100">
                <a:solidFill>
                  <a:srgbClr val="585D60"/>
                </a:solidFill>
                <a:latin typeface="Arial"/>
                <a:cs typeface="Arial"/>
              </a:rPr>
              <a:t>(</a:t>
            </a:r>
            <a:r>
              <a:rPr dirty="0" sz="1600" i="1">
                <a:solidFill>
                  <a:srgbClr val="585D60"/>
                </a:solidFill>
                <a:latin typeface="Lucida Sans"/>
                <a:cs typeface="Lucida Sans"/>
              </a:rPr>
              <a:t>y</a:t>
            </a:r>
            <a:r>
              <a:rPr dirty="0" sz="1600" i="1">
                <a:solidFill>
                  <a:srgbClr val="585D60"/>
                </a:solidFill>
                <a:latin typeface="Lucida Sans"/>
                <a:cs typeface="Lucida Sans"/>
              </a:rPr>
              <a:t>	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+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585D60"/>
                </a:solidFill>
                <a:latin typeface="Lucida Sans"/>
                <a:cs typeface="Lucida Sans"/>
              </a:rPr>
              <a:t>y</a:t>
            </a:r>
            <a:r>
              <a:rPr dirty="0" sz="1600" i="1">
                <a:solidFill>
                  <a:srgbClr val="585D60"/>
                </a:solidFill>
                <a:latin typeface="Lucida Sans"/>
                <a:cs typeface="Lucida Sans"/>
              </a:rPr>
              <a:t>	</a:t>
            </a:r>
            <a:r>
              <a:rPr dirty="0" sz="1800" spc="100">
                <a:solidFill>
                  <a:srgbClr val="585D60"/>
                </a:solidFill>
                <a:latin typeface="Arial"/>
                <a:cs typeface="Arial"/>
              </a:rPr>
              <a:t>)</a:t>
            </a:r>
            <a:r>
              <a:rPr dirty="0" sz="3200" spc="-605">
                <a:solidFill>
                  <a:srgbClr val="585D60"/>
                </a:solidFill>
                <a:latin typeface="Verdana"/>
                <a:cs typeface="Verdana"/>
              </a:rPr>
              <a:t>]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133724" y="3757612"/>
            <a:ext cx="161925" cy="0"/>
          </a:xfrm>
          <a:custGeom>
            <a:avLst/>
            <a:gdLst/>
            <a:ahLst/>
            <a:cxnLst/>
            <a:rect l="l" t="t" r="r" b="b"/>
            <a:pathLst>
              <a:path w="161925" h="0">
                <a:moveTo>
                  <a:pt x="0" y="0"/>
                </a:moveTo>
                <a:lnTo>
                  <a:pt x="161924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145134" y="3416299"/>
            <a:ext cx="4629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280" algn="l"/>
              </a:tabLst>
            </a:pP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1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	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457575" y="3757612"/>
            <a:ext cx="161925" cy="0"/>
          </a:xfrm>
          <a:custGeom>
            <a:avLst/>
            <a:gdLst/>
            <a:ahLst/>
            <a:cxnLst/>
            <a:rect l="l" t="t" r="r" b="b"/>
            <a:pathLst>
              <a:path w="161925" h="0">
                <a:moveTo>
                  <a:pt x="0" y="0"/>
                </a:moveTo>
                <a:lnTo>
                  <a:pt x="161924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160440" y="3416299"/>
            <a:ext cx="3684270" cy="461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783590">
              <a:lnSpc>
                <a:spcPts val="1720"/>
              </a:lnSpc>
              <a:spcBef>
                <a:spcPts val="100"/>
              </a:spcBef>
            </a:pP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1714"/>
              </a:lnSpc>
              <a:tabLst>
                <a:tab pos="667385" algn="l"/>
                <a:tab pos="1745614" algn="l"/>
                <a:tab pos="2328545" algn="l"/>
                <a:tab pos="2856230" algn="l"/>
              </a:tabLst>
            </a:pP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+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585D60"/>
                </a:solidFill>
                <a:latin typeface="Lucida Sans"/>
                <a:cs typeface="Lucida Sans"/>
              </a:rPr>
              <a:t>y	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+ </a:t>
            </a:r>
            <a:r>
              <a:rPr dirty="0" sz="1600" i="1">
                <a:solidFill>
                  <a:srgbClr val="585D60"/>
                </a:solidFill>
                <a:latin typeface="Lucida Sans"/>
                <a:cs typeface="Lucida Sans"/>
              </a:rPr>
              <a:t>y</a:t>
            </a:r>
            <a:r>
              <a:rPr dirty="0" sz="1600" spc="-5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+</a:t>
            </a:r>
            <a:r>
              <a:rPr dirty="0" sz="1800" spc="-10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585D60"/>
                </a:solidFill>
                <a:latin typeface="Lucida Sans"/>
                <a:cs typeface="Lucida Sans"/>
              </a:rPr>
              <a:t>y	</a:t>
            </a:r>
            <a:r>
              <a:rPr dirty="0" sz="1800" spc="100">
                <a:solidFill>
                  <a:srgbClr val="585D60"/>
                </a:solidFill>
                <a:latin typeface="Arial"/>
                <a:cs typeface="Arial"/>
              </a:rPr>
              <a:t>)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+	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(</a:t>
            </a:r>
            <a:r>
              <a:rPr dirty="0" sz="1600" spc="50" i="1">
                <a:solidFill>
                  <a:srgbClr val="585D60"/>
                </a:solidFill>
                <a:latin typeface="Lucida Sans"/>
                <a:cs typeface="Lucida Sans"/>
              </a:rPr>
              <a:t>y	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+ </a:t>
            </a:r>
            <a:r>
              <a:rPr dirty="0" sz="1600" i="1">
                <a:solidFill>
                  <a:srgbClr val="585D60"/>
                </a:solidFill>
                <a:latin typeface="Lucida Sans"/>
                <a:cs typeface="Lucida Sans"/>
              </a:rPr>
              <a:t>y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+</a:t>
            </a:r>
            <a:r>
              <a:rPr dirty="0" sz="1800" spc="-19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585D60"/>
                </a:solidFill>
                <a:latin typeface="Lucida Sans"/>
                <a:cs typeface="Lucida Sans"/>
              </a:rPr>
              <a:t>y</a:t>
            </a:r>
            <a:endParaRPr sz="1600">
              <a:latin typeface="Lucida Sans"/>
              <a:cs typeface="Lucida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45134" y="3721099"/>
            <a:ext cx="3319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280" algn="l"/>
                <a:tab pos="3191510" algn="l"/>
              </a:tabLst>
            </a:pP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2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	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4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	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315074" y="3757612"/>
            <a:ext cx="161925" cy="0"/>
          </a:xfrm>
          <a:custGeom>
            <a:avLst/>
            <a:gdLst/>
            <a:ahLst/>
            <a:cxnLst/>
            <a:rect l="l" t="t" r="r" b="b"/>
            <a:pathLst>
              <a:path w="161925" h="0">
                <a:moveTo>
                  <a:pt x="0" y="0"/>
                </a:moveTo>
                <a:lnTo>
                  <a:pt x="161924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133724" y="4300537"/>
            <a:ext cx="161925" cy="0"/>
          </a:xfrm>
          <a:custGeom>
            <a:avLst/>
            <a:gdLst/>
            <a:ahLst/>
            <a:cxnLst/>
            <a:rect l="l" t="t" r="r" b="b"/>
            <a:pathLst>
              <a:path w="161925" h="0">
                <a:moveTo>
                  <a:pt x="0" y="0"/>
                </a:moveTo>
                <a:lnTo>
                  <a:pt x="161924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019550" y="4300537"/>
            <a:ext cx="161925" cy="0"/>
          </a:xfrm>
          <a:custGeom>
            <a:avLst/>
            <a:gdLst/>
            <a:ahLst/>
            <a:cxnLst/>
            <a:rect l="l" t="t" r="r" b="b"/>
            <a:pathLst>
              <a:path w="161925" h="0">
                <a:moveTo>
                  <a:pt x="0" y="0"/>
                </a:moveTo>
                <a:lnTo>
                  <a:pt x="161924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895849" y="4300537"/>
            <a:ext cx="161925" cy="0"/>
          </a:xfrm>
          <a:custGeom>
            <a:avLst/>
            <a:gdLst/>
            <a:ahLst/>
            <a:cxnLst/>
            <a:rect l="l" t="t" r="r" b="b"/>
            <a:pathLst>
              <a:path w="161925" h="0">
                <a:moveTo>
                  <a:pt x="0" y="0"/>
                </a:moveTo>
                <a:lnTo>
                  <a:pt x="161924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572124" y="4300537"/>
            <a:ext cx="161925" cy="0"/>
          </a:xfrm>
          <a:custGeom>
            <a:avLst/>
            <a:gdLst/>
            <a:ahLst/>
            <a:cxnLst/>
            <a:rect l="l" t="t" r="r" b="b"/>
            <a:pathLst>
              <a:path w="161925" h="0">
                <a:moveTo>
                  <a:pt x="0" y="0"/>
                </a:moveTo>
                <a:lnTo>
                  <a:pt x="161924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145134" y="3959224"/>
            <a:ext cx="3463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4715" algn="l"/>
                <a:tab pos="1777364" algn="l"/>
                <a:tab pos="2453005" algn="l"/>
                <a:tab pos="3335654" algn="l"/>
              </a:tabLst>
            </a:pP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1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	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1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	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1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	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1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	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6300" y="4149724"/>
            <a:ext cx="6542405" cy="9093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89455">
              <a:lnSpc>
                <a:spcPct val="100000"/>
              </a:lnSpc>
              <a:spcBef>
                <a:spcPts val="100"/>
              </a:spcBef>
            </a:pPr>
            <a:r>
              <a:rPr dirty="0" baseline="6172" sz="2700" spc="517">
                <a:solidFill>
                  <a:srgbClr val="585D60"/>
                </a:solidFill>
                <a:latin typeface="Arial"/>
                <a:cs typeface="Arial"/>
              </a:rPr>
              <a:t>= </a:t>
            </a:r>
            <a:r>
              <a:rPr dirty="0" baseline="-30864" sz="2700" spc="-157">
                <a:solidFill>
                  <a:srgbClr val="585D60"/>
                </a:solidFill>
                <a:latin typeface="Arial"/>
                <a:cs typeface="Arial"/>
              </a:rPr>
              <a:t>8 </a:t>
            </a:r>
            <a:r>
              <a:rPr dirty="0" baseline="6944" sz="2400" spc="82" i="1">
                <a:solidFill>
                  <a:srgbClr val="585D60"/>
                </a:solidFill>
                <a:latin typeface="Lucida Sans"/>
                <a:cs typeface="Lucida Sans"/>
              </a:rPr>
              <a:t>y</a:t>
            </a:r>
            <a:r>
              <a:rPr dirty="0" sz="1150" spc="5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250" spc="55">
                <a:solidFill>
                  <a:srgbClr val="585D60"/>
                </a:solidFill>
                <a:latin typeface="Arial"/>
                <a:cs typeface="Arial"/>
              </a:rPr>
              <a:t>−2 </a:t>
            </a:r>
            <a:r>
              <a:rPr dirty="0" baseline="6172" sz="2700" spc="517">
                <a:solidFill>
                  <a:srgbClr val="585D60"/>
                </a:solidFill>
                <a:latin typeface="Arial"/>
                <a:cs typeface="Arial"/>
              </a:rPr>
              <a:t>+ </a:t>
            </a:r>
            <a:r>
              <a:rPr dirty="0" baseline="-27777" sz="2700" spc="-157">
                <a:solidFill>
                  <a:srgbClr val="585D60"/>
                </a:solidFill>
                <a:latin typeface="Arial"/>
                <a:cs typeface="Arial"/>
              </a:rPr>
              <a:t>4 </a:t>
            </a:r>
            <a:r>
              <a:rPr dirty="0" baseline="6944" sz="2400" spc="82" i="1">
                <a:solidFill>
                  <a:srgbClr val="585D60"/>
                </a:solidFill>
                <a:latin typeface="Lucida Sans"/>
                <a:cs typeface="Lucida Sans"/>
              </a:rPr>
              <a:t>y</a:t>
            </a:r>
            <a:r>
              <a:rPr dirty="0" sz="1150" spc="5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250" spc="55">
                <a:solidFill>
                  <a:srgbClr val="585D60"/>
                </a:solidFill>
                <a:latin typeface="Arial"/>
                <a:cs typeface="Arial"/>
              </a:rPr>
              <a:t>−1 </a:t>
            </a:r>
            <a:r>
              <a:rPr dirty="0" baseline="6172" sz="2700" spc="517">
                <a:solidFill>
                  <a:srgbClr val="585D60"/>
                </a:solidFill>
                <a:latin typeface="Arial"/>
                <a:cs typeface="Arial"/>
              </a:rPr>
              <a:t>+ </a:t>
            </a:r>
            <a:r>
              <a:rPr dirty="0" baseline="-27777" sz="2700" spc="-157">
                <a:solidFill>
                  <a:srgbClr val="585D60"/>
                </a:solidFill>
                <a:latin typeface="Arial"/>
                <a:cs typeface="Arial"/>
              </a:rPr>
              <a:t>4 </a:t>
            </a:r>
            <a:r>
              <a:rPr dirty="0" baseline="6944" sz="2400" spc="15" i="1">
                <a:solidFill>
                  <a:srgbClr val="585D60"/>
                </a:solidFill>
                <a:latin typeface="Lucida Sans"/>
                <a:cs typeface="Lucida Sans"/>
              </a:rPr>
              <a:t>y</a:t>
            </a:r>
            <a:r>
              <a:rPr dirty="0" sz="1150" spc="10" i="1">
                <a:solidFill>
                  <a:srgbClr val="585D60"/>
                </a:solidFill>
                <a:latin typeface="Lucida Sans"/>
                <a:cs typeface="Lucida Sans"/>
              </a:rPr>
              <a:t>t </a:t>
            </a:r>
            <a:r>
              <a:rPr dirty="0" baseline="6172" sz="2700" spc="517">
                <a:solidFill>
                  <a:srgbClr val="585D60"/>
                </a:solidFill>
                <a:latin typeface="Arial"/>
                <a:cs typeface="Arial"/>
              </a:rPr>
              <a:t>+ </a:t>
            </a:r>
            <a:r>
              <a:rPr dirty="0" baseline="-27777" sz="2700" spc="-157">
                <a:solidFill>
                  <a:srgbClr val="585D60"/>
                </a:solidFill>
                <a:latin typeface="Arial"/>
                <a:cs typeface="Arial"/>
              </a:rPr>
              <a:t>4 </a:t>
            </a:r>
            <a:r>
              <a:rPr dirty="0" baseline="6944" sz="2400" spc="82" i="1">
                <a:solidFill>
                  <a:srgbClr val="585D60"/>
                </a:solidFill>
                <a:latin typeface="Lucida Sans"/>
                <a:cs typeface="Lucida Sans"/>
              </a:rPr>
              <a:t>y</a:t>
            </a:r>
            <a:r>
              <a:rPr dirty="0" sz="1150" spc="5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250" spc="55">
                <a:solidFill>
                  <a:srgbClr val="585D60"/>
                </a:solidFill>
                <a:latin typeface="Arial"/>
                <a:cs typeface="Arial"/>
              </a:rPr>
              <a:t>+1 </a:t>
            </a:r>
            <a:r>
              <a:rPr dirty="0" baseline="6172" sz="2700" spc="517">
                <a:solidFill>
                  <a:srgbClr val="585D60"/>
                </a:solidFill>
                <a:latin typeface="Arial"/>
                <a:cs typeface="Arial"/>
              </a:rPr>
              <a:t>+ </a:t>
            </a:r>
            <a:r>
              <a:rPr dirty="0" baseline="-30864" sz="2700" spc="-157">
                <a:solidFill>
                  <a:srgbClr val="585D60"/>
                </a:solidFill>
                <a:latin typeface="Arial"/>
                <a:cs typeface="Arial"/>
              </a:rPr>
              <a:t>8</a:t>
            </a:r>
            <a:r>
              <a:rPr dirty="0" baseline="-30864" sz="2700" spc="-4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baseline="6944" sz="2400" spc="89" i="1">
                <a:solidFill>
                  <a:srgbClr val="585D60"/>
                </a:solidFill>
                <a:latin typeface="Lucida Sans"/>
                <a:cs typeface="Lucida Sans"/>
              </a:rPr>
              <a:t>y</a:t>
            </a:r>
            <a:r>
              <a:rPr dirty="0" sz="1150" spc="60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250" spc="60">
                <a:solidFill>
                  <a:srgbClr val="585D60"/>
                </a:solidFill>
                <a:latin typeface="Arial"/>
                <a:cs typeface="Arial"/>
              </a:rPr>
              <a:t>+2</a:t>
            </a:r>
            <a:r>
              <a:rPr dirty="0" baseline="6172" sz="2700" spc="89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baseline="6172" sz="27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64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It is now a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weighted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average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of observations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that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is</a:t>
            </a:r>
            <a:r>
              <a:rPr dirty="0" sz="1800" spc="2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symmetric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457949" y="4300537"/>
            <a:ext cx="161925" cy="0"/>
          </a:xfrm>
          <a:custGeom>
            <a:avLst/>
            <a:gdLst/>
            <a:ahLst/>
            <a:cxnLst/>
            <a:rect l="l" t="t" r="r" b="b"/>
            <a:pathLst>
              <a:path w="161925" h="0">
                <a:moveTo>
                  <a:pt x="0" y="0"/>
                </a:moveTo>
                <a:lnTo>
                  <a:pt x="161924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14400" y="602456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14400" y="60340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0239374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14400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901700" y="6077108"/>
            <a:ext cx="9110345" cy="349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Source: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Hyndman,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R.J.,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&amp; Athanasopoulos, G. (2021)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Forecasting: principles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practice, 3rd edition,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OTexts: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Melbourne,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Australia.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https://otexts.com/fpp3/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.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Accessed on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February 12, 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2025.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Chapter</a:t>
            </a:r>
            <a:r>
              <a:rPr dirty="0" sz="850" spc="-1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3.3</a:t>
            </a:r>
            <a:endParaRPr sz="85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17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40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908748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latin typeface="Roboto Condensed"/>
                <a:cs typeface="Roboto Condensed"/>
              </a:rPr>
              <a:t>Centered Moving </a:t>
            </a:r>
            <a:r>
              <a:rPr dirty="0" sz="3350" spc="-10">
                <a:latin typeface="Roboto Condensed"/>
                <a:cs typeface="Roboto Condensed"/>
              </a:rPr>
              <a:t>Averages </a:t>
            </a:r>
            <a:r>
              <a:rPr dirty="0" sz="3350" spc="5">
                <a:latin typeface="Roboto Condensed"/>
                <a:cs typeface="Roboto Condensed"/>
              </a:rPr>
              <a:t>for </a:t>
            </a:r>
            <a:r>
              <a:rPr dirty="0" sz="3350" spc="-10">
                <a:latin typeface="Roboto Condensed"/>
                <a:cs typeface="Roboto Condensed"/>
              </a:rPr>
              <a:t>Trend-Cycle</a:t>
            </a:r>
            <a:r>
              <a:rPr dirty="0" sz="3350" spc="-2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Estimation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376044"/>
            <a:ext cx="9006205" cy="1863725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1750" spc="1155">
                <a:solidFill>
                  <a:srgbClr val="585D60"/>
                </a:solidFill>
                <a:latin typeface="Arial"/>
                <a:cs typeface="Arial"/>
              </a:rPr>
              <a:t>📊</a:t>
            </a:r>
            <a:r>
              <a:rPr dirty="0" sz="175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Key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Idea:</a:t>
            </a:r>
            <a:endParaRPr sz="1800">
              <a:latin typeface="Roboto"/>
              <a:cs typeface="Roboto"/>
            </a:endParaRPr>
          </a:p>
          <a:p>
            <a:pPr marL="12700" marR="5080">
              <a:lnSpc>
                <a:spcPct val="118100"/>
              </a:lnSpc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Centered moving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averages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(CMAs) help estimate 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trend-cycle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by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smoothing seasonal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fluctuations.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2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Example: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2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×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4 </a:t>
            </a:r>
            <a:r>
              <a:rPr dirty="0" sz="1800" spc="10" b="1">
                <a:solidFill>
                  <a:srgbClr val="C2132D"/>
                </a:solidFill>
                <a:latin typeface="Roboto"/>
                <a:cs typeface="Roboto"/>
              </a:rPr>
              <a:t>-</a:t>
            </a:r>
            <a:r>
              <a:rPr dirty="0" sz="1800" spc="-2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5" b="1">
                <a:solidFill>
                  <a:srgbClr val="C2132D"/>
                </a:solidFill>
                <a:latin typeface="Roboto"/>
                <a:cs typeface="Roboto"/>
              </a:rPr>
              <a:t>MA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4595494"/>
            <a:ext cx="4749800" cy="67310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Balances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across</a:t>
            </a:r>
            <a:r>
              <a:rPr dirty="0" sz="1800" spc="-1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quarters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Averages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out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seasonal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/quarterly</a:t>
            </a:r>
            <a:r>
              <a:rPr dirty="0" sz="1800" spc="-7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variation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83917" y="3511549"/>
            <a:ext cx="2565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15625" sz="2400" spc="-322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800" spc="-215">
                <a:solidFill>
                  <a:srgbClr val="585D60"/>
                </a:solidFill>
                <a:latin typeface="Arial"/>
                <a:cs typeface="Arial"/>
              </a:rPr>
              <a:t>^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89399" y="3688394"/>
            <a:ext cx="8382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endParaRPr sz="115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91124" y="3673855"/>
            <a:ext cx="29083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250" spc="254">
                <a:solidFill>
                  <a:srgbClr val="585D60"/>
                </a:solidFill>
                <a:latin typeface="Arial"/>
                <a:cs typeface="Arial"/>
              </a:rPr>
              <a:t>−</a:t>
            </a:r>
            <a:r>
              <a:rPr dirty="0" sz="1250" spc="-60">
                <a:solidFill>
                  <a:srgbClr val="585D60"/>
                </a:solidFill>
                <a:latin typeface="Arial"/>
                <a:cs typeface="Arial"/>
              </a:rPr>
              <a:t>2</a:t>
            </a:r>
            <a:endParaRPr sz="12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73526" y="3673855"/>
            <a:ext cx="29083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250" spc="254">
                <a:solidFill>
                  <a:srgbClr val="585D60"/>
                </a:solidFill>
                <a:latin typeface="Arial"/>
                <a:cs typeface="Arial"/>
              </a:rPr>
              <a:t>−</a:t>
            </a:r>
            <a:r>
              <a:rPr dirty="0" sz="1250" spc="-60">
                <a:solidFill>
                  <a:srgbClr val="585D60"/>
                </a:solidFill>
                <a:latin typeface="Arial"/>
                <a:cs typeface="Arial"/>
              </a:rPr>
              <a:t>1</a:t>
            </a:r>
            <a:endParaRPr sz="12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55927" y="3688394"/>
            <a:ext cx="8382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endParaRPr sz="1150">
              <a:latin typeface="Lucida Sans"/>
              <a:cs typeface="Lucida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31756" y="3673855"/>
            <a:ext cx="29083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250" spc="254">
                <a:solidFill>
                  <a:srgbClr val="585D60"/>
                </a:solidFill>
                <a:latin typeface="Arial"/>
                <a:cs typeface="Arial"/>
              </a:rPr>
              <a:t>+</a:t>
            </a:r>
            <a:r>
              <a:rPr dirty="0" sz="1250" spc="-60">
                <a:solidFill>
                  <a:srgbClr val="585D60"/>
                </a:solidFill>
                <a:latin typeface="Arial"/>
                <a:cs typeface="Arial"/>
              </a:rPr>
              <a:t>1</a:t>
            </a:r>
            <a:endParaRPr sz="12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14158" y="3673855"/>
            <a:ext cx="29083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250" spc="254">
                <a:solidFill>
                  <a:srgbClr val="585D60"/>
                </a:solidFill>
                <a:latin typeface="Arial"/>
                <a:cs typeface="Arial"/>
              </a:rPr>
              <a:t>+</a:t>
            </a:r>
            <a:r>
              <a:rPr dirty="0" sz="1250" spc="-60">
                <a:solidFill>
                  <a:srgbClr val="585D60"/>
                </a:solidFill>
                <a:latin typeface="Arial"/>
                <a:cs typeface="Arial"/>
              </a:rPr>
              <a:t>2</a:t>
            </a:r>
            <a:endParaRPr sz="12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97349" y="3568699"/>
            <a:ext cx="6445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= </a:t>
            </a:r>
            <a:r>
              <a:rPr dirty="0" baseline="37037" sz="2700" spc="-157">
                <a:solidFill>
                  <a:srgbClr val="585D60"/>
                </a:solidFill>
                <a:latin typeface="Arial"/>
                <a:cs typeface="Arial"/>
              </a:rPr>
              <a:t>1</a:t>
            </a:r>
            <a:r>
              <a:rPr dirty="0" baseline="37037" sz="2700" spc="-19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585D60"/>
                </a:solidFill>
                <a:latin typeface="Lucida Sans"/>
                <a:cs typeface="Lucida Sans"/>
              </a:rPr>
              <a:t>y</a:t>
            </a:r>
            <a:endParaRPr sz="1600">
              <a:latin typeface="Lucida Sans"/>
              <a:cs typeface="Lucida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14452" y="3721099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8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105275" y="3757612"/>
            <a:ext cx="161925" cy="0"/>
          </a:xfrm>
          <a:custGeom>
            <a:avLst/>
            <a:gdLst/>
            <a:ahLst/>
            <a:cxnLst/>
            <a:rect l="l" t="t" r="r" b="b"/>
            <a:pathLst>
              <a:path w="161925" h="0">
                <a:moveTo>
                  <a:pt x="0" y="0"/>
                </a:moveTo>
                <a:lnTo>
                  <a:pt x="161924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692699" y="3568699"/>
            <a:ext cx="6318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+ </a:t>
            </a:r>
            <a:r>
              <a:rPr dirty="0" baseline="37037" sz="2700" spc="-157">
                <a:solidFill>
                  <a:srgbClr val="585D60"/>
                </a:solidFill>
                <a:latin typeface="Arial"/>
                <a:cs typeface="Arial"/>
              </a:rPr>
              <a:t>1</a:t>
            </a:r>
            <a:r>
              <a:rPr dirty="0" baseline="37037" sz="2700" spc="-352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585D60"/>
                </a:solidFill>
                <a:latin typeface="Lucida Sans"/>
                <a:cs typeface="Lucida Sans"/>
              </a:rPr>
              <a:t>y</a:t>
            </a:r>
            <a:endParaRPr sz="1600">
              <a:latin typeface="Lucida Sans"/>
              <a:cs typeface="Lucida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96854" y="3721099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991099" y="3757612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399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867399" y="3757612"/>
            <a:ext cx="161925" cy="0"/>
          </a:xfrm>
          <a:custGeom>
            <a:avLst/>
            <a:gdLst/>
            <a:ahLst/>
            <a:cxnLst/>
            <a:rect l="l" t="t" r="r" b="b"/>
            <a:pathLst>
              <a:path w="161925" h="0">
                <a:moveTo>
                  <a:pt x="0" y="0"/>
                </a:moveTo>
                <a:lnTo>
                  <a:pt x="161924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879256" y="3721099"/>
            <a:ext cx="8159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8340" algn="l"/>
              </a:tabLst>
            </a:pP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4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	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543675" y="3757612"/>
            <a:ext cx="161925" cy="0"/>
          </a:xfrm>
          <a:custGeom>
            <a:avLst/>
            <a:gdLst/>
            <a:ahLst/>
            <a:cxnLst/>
            <a:rect l="l" t="t" r="r" b="b"/>
            <a:pathLst>
              <a:path w="161925" h="0">
                <a:moveTo>
                  <a:pt x="0" y="0"/>
                </a:moveTo>
                <a:lnTo>
                  <a:pt x="161924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562401" y="3568699"/>
            <a:ext cx="22155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608455" algn="l"/>
              </a:tabLst>
            </a:pP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+ </a:t>
            </a:r>
            <a:r>
              <a:rPr dirty="0" baseline="37037" sz="2700" spc="-157">
                <a:solidFill>
                  <a:srgbClr val="585D60"/>
                </a:solidFill>
                <a:latin typeface="Arial"/>
                <a:cs typeface="Arial"/>
              </a:rPr>
              <a:t>1 </a:t>
            </a:r>
            <a:r>
              <a:rPr dirty="0" sz="1600" i="1">
                <a:solidFill>
                  <a:srgbClr val="585D60"/>
                </a:solidFill>
                <a:latin typeface="Lucida Sans"/>
                <a:cs typeface="Lucida Sans"/>
              </a:rPr>
              <a:t>y 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+</a:t>
            </a:r>
            <a:r>
              <a:rPr dirty="0" sz="1800" spc="18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baseline="37037" sz="2700" spc="-157">
                <a:solidFill>
                  <a:srgbClr val="585D60"/>
                </a:solidFill>
                <a:latin typeface="Arial"/>
                <a:cs typeface="Arial"/>
              </a:rPr>
              <a:t>1 </a:t>
            </a:r>
            <a:r>
              <a:rPr dirty="0" sz="1600" i="1">
                <a:solidFill>
                  <a:srgbClr val="585D60"/>
                </a:solidFill>
                <a:latin typeface="Lucida Sans"/>
                <a:cs typeface="Lucida Sans"/>
              </a:rPr>
              <a:t>y	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+ </a:t>
            </a:r>
            <a:r>
              <a:rPr dirty="0" baseline="37037" sz="2700" spc="-157">
                <a:solidFill>
                  <a:srgbClr val="585D60"/>
                </a:solidFill>
                <a:latin typeface="Arial"/>
                <a:cs typeface="Arial"/>
              </a:rPr>
              <a:t>1</a:t>
            </a:r>
            <a:r>
              <a:rPr dirty="0" baseline="37037" sz="2700" spc="-337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585D60"/>
                </a:solidFill>
                <a:latin typeface="Lucida Sans"/>
                <a:cs typeface="Lucida Sans"/>
              </a:rPr>
              <a:t>y</a:t>
            </a:r>
            <a:endParaRPr sz="1600">
              <a:latin typeface="Lucida Sans"/>
              <a:cs typeface="Lucida San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37487" y="3721099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8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429500" y="3757612"/>
            <a:ext cx="161925" cy="0"/>
          </a:xfrm>
          <a:custGeom>
            <a:avLst/>
            <a:gdLst/>
            <a:ahLst/>
            <a:cxnLst/>
            <a:rect l="l" t="t" r="r" b="b"/>
            <a:pathLst>
              <a:path w="161925" h="0">
                <a:moveTo>
                  <a:pt x="0" y="0"/>
                </a:moveTo>
                <a:lnTo>
                  <a:pt x="161924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18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52749" y="1433512"/>
            <a:ext cx="5619750" cy="0"/>
          </a:xfrm>
          <a:custGeom>
            <a:avLst/>
            <a:gdLst/>
            <a:ahLst/>
            <a:cxnLst/>
            <a:rect l="l" t="t" r="r" b="b"/>
            <a:pathLst>
              <a:path w="5619750" h="0">
                <a:moveTo>
                  <a:pt x="0" y="0"/>
                </a:moveTo>
                <a:lnTo>
                  <a:pt x="561974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952749" y="2605087"/>
            <a:ext cx="5619750" cy="0"/>
          </a:xfrm>
          <a:custGeom>
            <a:avLst/>
            <a:gdLst/>
            <a:ahLst/>
            <a:cxnLst/>
            <a:rect l="l" t="t" r="r" b="b"/>
            <a:pathLst>
              <a:path w="5619750" h="0">
                <a:moveTo>
                  <a:pt x="0" y="0"/>
                </a:moveTo>
                <a:lnTo>
                  <a:pt x="561974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71799" y="1457325"/>
          <a:ext cx="5581650" cy="1123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14725"/>
                <a:gridCol w="2066925"/>
              </a:tblGrid>
              <a:tr h="366712">
                <a:tc>
                  <a:txBody>
                    <a:bodyPr/>
                    <a:lstStyle/>
                    <a:p>
                      <a:pPr marL="7099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 spc="-5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Seasonal Period</a:t>
                      </a:r>
                      <a:r>
                        <a:rPr dirty="0" sz="1800" spc="-15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800" spc="-5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(m)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Recommended</a:t>
                      </a:r>
                      <a:r>
                        <a:rPr dirty="0" sz="1800" spc="-60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800" spc="5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MA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404812"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800" spc="-10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Even </a:t>
                      </a: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(e.g., 12 months, 4</a:t>
                      </a:r>
                      <a:r>
                        <a:rPr dirty="0" sz="1800" spc="-7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800" spc="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quarters)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52069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800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2 </a:t>
                      </a:r>
                      <a:r>
                        <a:rPr dirty="0" sz="1800" spc="-5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× </a:t>
                      </a:r>
                      <a:r>
                        <a:rPr dirty="0" sz="1800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m </a:t>
                      </a:r>
                      <a:r>
                        <a:rPr dirty="0" sz="1800" spc="10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-</a:t>
                      </a:r>
                      <a:r>
                        <a:rPr dirty="0" sz="1800" spc="-35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800" spc="5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MA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52069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352424"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 spc="-5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Odd </a:t>
                      </a:r>
                      <a:r>
                        <a:rPr dirty="0" sz="180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(e.g., 7</a:t>
                      </a:r>
                      <a:r>
                        <a:rPr dirty="0" sz="180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80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days)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 spc="5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m-MA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18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01281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Choosing the Right </a:t>
            </a:r>
            <a:r>
              <a:rPr dirty="0" sz="3350" spc="5">
                <a:latin typeface="Roboto Condensed"/>
                <a:cs typeface="Roboto Condensed"/>
              </a:rPr>
              <a:t>Moving</a:t>
            </a:r>
            <a:r>
              <a:rPr dirty="0" sz="3350" spc="-45">
                <a:latin typeface="Roboto Condensed"/>
                <a:cs typeface="Roboto Condensed"/>
              </a:rPr>
              <a:t> </a:t>
            </a:r>
            <a:r>
              <a:rPr dirty="0" sz="3350" spc="-15">
                <a:latin typeface="Roboto Condensed"/>
                <a:cs typeface="Roboto Condensed"/>
              </a:rPr>
              <a:t>Average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3119119"/>
            <a:ext cx="8190230" cy="2168525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1800">
                <a:solidFill>
                  <a:srgbClr val="585D60"/>
                </a:solidFill>
                <a:latin typeface="Segoe UI Symbol"/>
                <a:cs typeface="Segoe UI Symbol"/>
              </a:rPr>
              <a:t>✔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2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×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12 </a:t>
            </a:r>
            <a:r>
              <a:rPr dirty="0" sz="1800" spc="10" b="1">
                <a:solidFill>
                  <a:srgbClr val="C2132D"/>
                </a:solidFill>
                <a:latin typeface="Roboto"/>
                <a:cs typeface="Roboto"/>
              </a:rPr>
              <a:t>- </a:t>
            </a:r>
            <a:r>
              <a:rPr dirty="0" sz="1800" spc="5" b="1">
                <a:solidFill>
                  <a:srgbClr val="C2132D"/>
                </a:solidFill>
                <a:latin typeface="Roboto"/>
                <a:cs typeface="Roboto"/>
              </a:rPr>
              <a:t>MA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monthly seasonality in annual</a:t>
            </a:r>
            <a:r>
              <a:rPr dirty="0" sz="1800" spc="-1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800">
                <a:solidFill>
                  <a:srgbClr val="585D60"/>
                </a:solidFill>
                <a:latin typeface="Segoe UI Symbol"/>
                <a:cs typeface="Segoe UI Symbol"/>
              </a:rPr>
              <a:t>✔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2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×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4 </a:t>
            </a:r>
            <a:r>
              <a:rPr dirty="0" sz="1800" spc="10" b="1">
                <a:solidFill>
                  <a:srgbClr val="C2132D"/>
                </a:solidFill>
                <a:latin typeface="Roboto"/>
                <a:cs typeface="Roboto"/>
              </a:rPr>
              <a:t>- </a:t>
            </a:r>
            <a:r>
              <a:rPr dirty="0" sz="1800" spc="5" b="1">
                <a:solidFill>
                  <a:srgbClr val="C2132D"/>
                </a:solidFill>
                <a:latin typeface="Roboto"/>
                <a:cs typeface="Roboto"/>
              </a:rPr>
              <a:t>MA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quarterly seasonality in annual</a:t>
            </a:r>
            <a:r>
              <a:rPr dirty="0" sz="1800" spc="-9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800">
                <a:solidFill>
                  <a:srgbClr val="585D60"/>
                </a:solidFill>
                <a:latin typeface="Segoe UI Symbol"/>
                <a:cs typeface="Segoe UI Symbol"/>
              </a:rPr>
              <a:t>✔ </a:t>
            </a:r>
            <a:r>
              <a:rPr dirty="0" sz="1800" spc="5" b="1">
                <a:solidFill>
                  <a:srgbClr val="C2132D"/>
                </a:solidFill>
                <a:latin typeface="Roboto"/>
                <a:cs typeface="Roboto"/>
              </a:rPr>
              <a:t>7-MA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weekly seasonality in daily</a:t>
            </a:r>
            <a:r>
              <a:rPr dirty="0" sz="1800" spc="-7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2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dirty="0" sz="1800">
                <a:solidFill>
                  <a:srgbClr val="585D60"/>
                </a:solidFill>
                <a:latin typeface="Segoe UI Symbol"/>
                <a:cs typeface="Segoe UI Symbol"/>
              </a:rPr>
              <a:t>⚠</a:t>
            </a:r>
            <a:r>
              <a:rPr dirty="0" sz="1800" spc="-55">
                <a:solidFill>
                  <a:srgbClr val="585D60"/>
                </a:solidFill>
                <a:latin typeface="Segoe UI Symbol"/>
                <a:cs typeface="Segoe UI Symbol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Beware!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Using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wrong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MA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order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retains seasonal noise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instead of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extracting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</a:t>
            </a:r>
            <a:r>
              <a:rPr dirty="0" sz="1800" spc="4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trend.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30225"/>
            <a:ext cx="7522209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solidFill>
                  <a:srgbClr val="C2132D"/>
                </a:solidFill>
                <a:latin typeface="Roboto Condensed"/>
                <a:cs typeface="Roboto Condensed"/>
              </a:rPr>
              <a:t>Activity: </a:t>
            </a:r>
            <a:r>
              <a:rPr dirty="0" sz="3350" spc="-10">
                <a:solidFill>
                  <a:srgbClr val="C2132D"/>
                </a:solidFill>
                <a:latin typeface="Roboto Condensed"/>
                <a:cs typeface="Roboto Condensed"/>
              </a:rPr>
              <a:t>Trend-Cycle </a:t>
            </a: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Estimation Using</a:t>
            </a:r>
            <a:r>
              <a:rPr dirty="0" sz="3350" spc="-25">
                <a:solidFill>
                  <a:srgbClr val="C2132D"/>
                </a:solidFill>
                <a:latin typeface="Roboto Condensed"/>
                <a:cs typeface="Roboto Condensed"/>
              </a:rPr>
              <a:t> </a:t>
            </a:r>
            <a:r>
              <a:rPr dirty="0" sz="3350" spc="20">
                <a:solidFill>
                  <a:srgbClr val="C2132D"/>
                </a:solidFill>
                <a:latin typeface="Roboto Condensed"/>
                <a:cs typeface="Roboto Condensed"/>
              </a:rPr>
              <a:t>CMAs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2124075"/>
            <a:ext cx="9696450" cy="0"/>
          </a:xfrm>
          <a:custGeom>
            <a:avLst/>
            <a:gdLst/>
            <a:ahLst/>
            <a:cxnLst/>
            <a:rect l="l" t="t" r="r" b="b"/>
            <a:pathLst>
              <a:path w="9696450" h="0">
                <a:moveTo>
                  <a:pt x="0" y="0"/>
                </a:moveTo>
                <a:lnTo>
                  <a:pt x="9696449" y="0"/>
                </a:lnTo>
              </a:path>
            </a:pathLst>
          </a:custGeom>
          <a:ln w="19049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1552575"/>
            <a:ext cx="933450" cy="0"/>
          </a:xfrm>
          <a:custGeom>
            <a:avLst/>
            <a:gdLst/>
            <a:ahLst/>
            <a:cxnLst/>
            <a:rect l="l" t="t" r="r" b="b"/>
            <a:pathLst>
              <a:path w="933450" h="0">
                <a:moveTo>
                  <a:pt x="0" y="0"/>
                </a:moveTo>
                <a:lnTo>
                  <a:pt x="933449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2124075"/>
            <a:ext cx="933450" cy="0"/>
          </a:xfrm>
          <a:custGeom>
            <a:avLst/>
            <a:gdLst/>
            <a:ahLst/>
            <a:cxnLst/>
            <a:rect l="l" t="t" r="r" b="b"/>
            <a:pathLst>
              <a:path w="933450" h="0">
                <a:moveTo>
                  <a:pt x="0" y="0"/>
                </a:moveTo>
                <a:lnTo>
                  <a:pt x="933449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30300" y="1673225"/>
            <a:ext cx="9234805" cy="2604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2975" algn="l"/>
                <a:tab pos="180530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	Plot	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Printout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50">
              <a:latin typeface="Roboto"/>
              <a:cs typeface="Roboto"/>
            </a:endParaRPr>
          </a:p>
          <a:p>
            <a:pPr marL="164465" marR="5080" indent="-133985">
              <a:lnSpc>
                <a:spcPct val="118100"/>
              </a:lnSpc>
              <a:buClr>
                <a:srgbClr val="C2132D"/>
              </a:buClr>
              <a:buChar char="•"/>
              <a:tabLst>
                <a:tab pos="1651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Download the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CEU4200000001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, capturing the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total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employment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in U.S.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retail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trade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sector  from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1992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2025.</a:t>
            </a:r>
            <a:endParaRPr sz="1800">
              <a:latin typeface="Roboto"/>
              <a:cs typeface="Roboto"/>
            </a:endParaRPr>
          </a:p>
          <a:p>
            <a:pPr marL="1651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1651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data is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monthly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not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seasonally</a:t>
            </a:r>
            <a:r>
              <a:rPr dirty="0" sz="1800" spc="-2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adjusted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1651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651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Use an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appropriate moving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average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estimate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trend-cycle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component.</a:t>
            </a:r>
            <a:endParaRPr sz="1800">
              <a:latin typeface="Roboto"/>
              <a:cs typeface="Roboto"/>
            </a:endParaRPr>
          </a:p>
          <a:p>
            <a:pPr marL="1651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165100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Recreate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plot of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raw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series and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trend-cycle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component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next</a:t>
            </a:r>
            <a:r>
              <a:rPr dirty="0" sz="1800" spc="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tab.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03080" y="182880"/>
            <a:ext cx="1978660" cy="966469"/>
          </a:xfrm>
          <a:custGeom>
            <a:avLst/>
            <a:gdLst/>
            <a:ahLst/>
            <a:cxnLst/>
            <a:rect l="l" t="t" r="r" b="b"/>
            <a:pathLst>
              <a:path w="1978659" h="966469">
                <a:moveTo>
                  <a:pt x="1978152" y="966216"/>
                </a:moveTo>
                <a:lnTo>
                  <a:pt x="0" y="966216"/>
                </a:lnTo>
                <a:lnTo>
                  <a:pt x="0" y="0"/>
                </a:lnTo>
                <a:lnTo>
                  <a:pt x="1978152" y="0"/>
                </a:lnTo>
                <a:lnTo>
                  <a:pt x="1978152" y="102870"/>
                </a:lnTo>
                <a:lnTo>
                  <a:pt x="274319" y="102870"/>
                </a:lnTo>
                <a:lnTo>
                  <a:pt x="261182" y="103504"/>
                </a:lnTo>
                <a:lnTo>
                  <a:pt x="223287" y="113020"/>
                </a:lnTo>
                <a:lnTo>
                  <a:pt x="189762" y="133087"/>
                </a:lnTo>
                <a:lnTo>
                  <a:pt x="163420" y="162120"/>
                </a:lnTo>
                <a:lnTo>
                  <a:pt x="146677" y="197568"/>
                </a:lnTo>
                <a:lnTo>
                  <a:pt x="140969" y="236220"/>
                </a:lnTo>
                <a:lnTo>
                  <a:pt x="140969" y="655320"/>
                </a:lnTo>
                <a:lnTo>
                  <a:pt x="146677" y="693971"/>
                </a:lnTo>
                <a:lnTo>
                  <a:pt x="163420" y="729419"/>
                </a:lnTo>
                <a:lnTo>
                  <a:pt x="189762" y="758452"/>
                </a:lnTo>
                <a:lnTo>
                  <a:pt x="223287" y="778519"/>
                </a:lnTo>
                <a:lnTo>
                  <a:pt x="261182" y="788035"/>
                </a:lnTo>
                <a:lnTo>
                  <a:pt x="274319" y="788670"/>
                </a:lnTo>
                <a:lnTo>
                  <a:pt x="1978152" y="788670"/>
                </a:lnTo>
                <a:lnTo>
                  <a:pt x="1978152" y="966216"/>
                </a:lnTo>
                <a:close/>
              </a:path>
              <a:path w="1978659" h="966469">
                <a:moveTo>
                  <a:pt x="1978152" y="788670"/>
                </a:moveTo>
                <a:lnTo>
                  <a:pt x="1703069" y="788670"/>
                </a:lnTo>
                <a:lnTo>
                  <a:pt x="1716205" y="788035"/>
                </a:lnTo>
                <a:lnTo>
                  <a:pt x="1729088" y="786132"/>
                </a:lnTo>
                <a:lnTo>
                  <a:pt x="1765992" y="772906"/>
                </a:lnTo>
                <a:lnTo>
                  <a:pt x="1797360" y="749612"/>
                </a:lnTo>
                <a:lnTo>
                  <a:pt x="1820653" y="718244"/>
                </a:lnTo>
                <a:lnTo>
                  <a:pt x="1833880" y="681340"/>
                </a:lnTo>
                <a:lnTo>
                  <a:pt x="1836419" y="655320"/>
                </a:lnTo>
                <a:lnTo>
                  <a:pt x="1836419" y="236220"/>
                </a:lnTo>
                <a:lnTo>
                  <a:pt x="1830708" y="197568"/>
                </a:lnTo>
                <a:lnTo>
                  <a:pt x="1813965" y="162120"/>
                </a:lnTo>
                <a:lnTo>
                  <a:pt x="1787623" y="133087"/>
                </a:lnTo>
                <a:lnTo>
                  <a:pt x="1754098" y="113020"/>
                </a:lnTo>
                <a:lnTo>
                  <a:pt x="1716205" y="103504"/>
                </a:lnTo>
                <a:lnTo>
                  <a:pt x="1703069" y="102870"/>
                </a:lnTo>
                <a:lnTo>
                  <a:pt x="1978152" y="102870"/>
                </a:lnTo>
                <a:lnTo>
                  <a:pt x="1978152" y="788670"/>
                </a:lnTo>
                <a:close/>
              </a:path>
            </a:pathLst>
          </a:custGeom>
          <a:solidFill>
            <a:srgbClr val="323232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548811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1565780" y="676274"/>
                </a:moveTo>
                <a:lnTo>
                  <a:pt x="120144" y="676274"/>
                </a:lnTo>
                <a:lnTo>
                  <a:pt x="111782" y="675451"/>
                </a:lnTo>
                <a:lnTo>
                  <a:pt x="71578" y="663255"/>
                </a:lnTo>
                <a:lnTo>
                  <a:pt x="31692" y="632642"/>
                </a:lnTo>
                <a:lnTo>
                  <a:pt x="6556" y="589095"/>
                </a:lnTo>
                <a:lnTo>
                  <a:pt x="0" y="556130"/>
                </a:lnTo>
                <a:lnTo>
                  <a:pt x="0" y="120144"/>
                </a:lnTo>
                <a:lnTo>
                  <a:pt x="13018" y="71578"/>
                </a:lnTo>
                <a:lnTo>
                  <a:pt x="43632" y="31692"/>
                </a:lnTo>
                <a:lnTo>
                  <a:pt x="87178" y="6557"/>
                </a:lnTo>
                <a:lnTo>
                  <a:pt x="120144" y="0"/>
                </a:lnTo>
                <a:lnTo>
                  <a:pt x="1565780" y="0"/>
                </a:lnTo>
                <a:lnTo>
                  <a:pt x="1614345" y="13019"/>
                </a:lnTo>
                <a:lnTo>
                  <a:pt x="1654232" y="43632"/>
                </a:lnTo>
                <a:lnTo>
                  <a:pt x="1679366" y="87179"/>
                </a:lnTo>
                <a:lnTo>
                  <a:pt x="1685925" y="120144"/>
                </a:lnTo>
                <a:lnTo>
                  <a:pt x="1685925" y="556130"/>
                </a:lnTo>
                <a:lnTo>
                  <a:pt x="1672904" y="604696"/>
                </a:lnTo>
                <a:lnTo>
                  <a:pt x="1642292" y="644582"/>
                </a:lnTo>
                <a:lnTo>
                  <a:pt x="1598743" y="669717"/>
                </a:lnTo>
                <a:lnTo>
                  <a:pt x="1565780" y="6762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548810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0" y="547687"/>
                </a:moveTo>
                <a:lnTo>
                  <a:pt x="0" y="128587"/>
                </a:lnTo>
                <a:lnTo>
                  <a:pt x="0" y="120144"/>
                </a:lnTo>
                <a:lnTo>
                  <a:pt x="823" y="111782"/>
                </a:lnTo>
                <a:lnTo>
                  <a:pt x="2470" y="103501"/>
                </a:lnTo>
                <a:lnTo>
                  <a:pt x="4117" y="95220"/>
                </a:lnTo>
                <a:lnTo>
                  <a:pt x="6556" y="87179"/>
                </a:lnTo>
                <a:lnTo>
                  <a:pt x="9787" y="79379"/>
                </a:lnTo>
                <a:lnTo>
                  <a:pt x="13018" y="71578"/>
                </a:lnTo>
                <a:lnTo>
                  <a:pt x="37662" y="37662"/>
                </a:lnTo>
                <a:lnTo>
                  <a:pt x="43632" y="31692"/>
                </a:lnTo>
                <a:lnTo>
                  <a:pt x="50127" y="26361"/>
                </a:lnTo>
                <a:lnTo>
                  <a:pt x="57147" y="21670"/>
                </a:lnTo>
                <a:lnTo>
                  <a:pt x="64167" y="16980"/>
                </a:lnTo>
                <a:lnTo>
                  <a:pt x="71577" y="13019"/>
                </a:lnTo>
                <a:lnTo>
                  <a:pt x="79378" y="9788"/>
                </a:lnTo>
                <a:lnTo>
                  <a:pt x="87178" y="6557"/>
                </a:lnTo>
                <a:lnTo>
                  <a:pt x="95219" y="4117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8" y="0"/>
                </a:lnTo>
                <a:lnTo>
                  <a:pt x="1557337" y="0"/>
                </a:lnTo>
                <a:lnTo>
                  <a:pt x="1565780" y="0"/>
                </a:lnTo>
                <a:lnTo>
                  <a:pt x="1574142" y="823"/>
                </a:lnTo>
                <a:lnTo>
                  <a:pt x="1582422" y="2470"/>
                </a:lnTo>
                <a:lnTo>
                  <a:pt x="1590703" y="4117"/>
                </a:lnTo>
                <a:lnTo>
                  <a:pt x="1598743" y="6557"/>
                </a:lnTo>
                <a:lnTo>
                  <a:pt x="1606544" y="9788"/>
                </a:lnTo>
                <a:lnTo>
                  <a:pt x="1614344" y="13019"/>
                </a:lnTo>
                <a:lnTo>
                  <a:pt x="1648262" y="37662"/>
                </a:lnTo>
                <a:lnTo>
                  <a:pt x="1672904" y="71578"/>
                </a:lnTo>
                <a:lnTo>
                  <a:pt x="1685101" y="111782"/>
                </a:lnTo>
                <a:lnTo>
                  <a:pt x="1685925" y="120144"/>
                </a:lnTo>
                <a:lnTo>
                  <a:pt x="1685925" y="128587"/>
                </a:lnTo>
                <a:lnTo>
                  <a:pt x="1685925" y="547687"/>
                </a:lnTo>
                <a:lnTo>
                  <a:pt x="1685925" y="556130"/>
                </a:lnTo>
                <a:lnTo>
                  <a:pt x="1685101" y="564492"/>
                </a:lnTo>
                <a:lnTo>
                  <a:pt x="1672904" y="604696"/>
                </a:lnTo>
                <a:lnTo>
                  <a:pt x="1648262" y="638612"/>
                </a:lnTo>
                <a:lnTo>
                  <a:pt x="1628775" y="654603"/>
                </a:lnTo>
                <a:lnTo>
                  <a:pt x="1621754" y="659294"/>
                </a:lnTo>
                <a:lnTo>
                  <a:pt x="1614344" y="663255"/>
                </a:lnTo>
                <a:lnTo>
                  <a:pt x="1606544" y="666486"/>
                </a:lnTo>
                <a:lnTo>
                  <a:pt x="1598743" y="669717"/>
                </a:lnTo>
                <a:lnTo>
                  <a:pt x="1590703" y="672156"/>
                </a:lnTo>
                <a:lnTo>
                  <a:pt x="1582422" y="673804"/>
                </a:lnTo>
                <a:lnTo>
                  <a:pt x="1574142" y="675451"/>
                </a:lnTo>
                <a:lnTo>
                  <a:pt x="1565780" y="676274"/>
                </a:lnTo>
                <a:lnTo>
                  <a:pt x="1557337" y="676274"/>
                </a:lnTo>
                <a:lnTo>
                  <a:pt x="128588" y="676274"/>
                </a:lnTo>
                <a:lnTo>
                  <a:pt x="120144" y="676274"/>
                </a:lnTo>
                <a:lnTo>
                  <a:pt x="111782" y="675451"/>
                </a:lnTo>
                <a:lnTo>
                  <a:pt x="103501" y="673804"/>
                </a:lnTo>
                <a:lnTo>
                  <a:pt x="95219" y="672156"/>
                </a:lnTo>
                <a:lnTo>
                  <a:pt x="87178" y="669717"/>
                </a:lnTo>
                <a:lnTo>
                  <a:pt x="79378" y="666486"/>
                </a:lnTo>
                <a:lnTo>
                  <a:pt x="71578" y="663255"/>
                </a:lnTo>
                <a:lnTo>
                  <a:pt x="64167" y="659294"/>
                </a:lnTo>
                <a:lnTo>
                  <a:pt x="57147" y="654603"/>
                </a:lnTo>
                <a:lnTo>
                  <a:pt x="50127" y="649913"/>
                </a:lnTo>
                <a:lnTo>
                  <a:pt x="21670" y="619126"/>
                </a:lnTo>
                <a:lnTo>
                  <a:pt x="16979" y="612106"/>
                </a:lnTo>
                <a:lnTo>
                  <a:pt x="13018" y="604696"/>
                </a:lnTo>
                <a:lnTo>
                  <a:pt x="9787" y="596895"/>
                </a:lnTo>
                <a:lnTo>
                  <a:pt x="6556" y="589095"/>
                </a:lnTo>
                <a:lnTo>
                  <a:pt x="4117" y="581054"/>
                </a:lnTo>
                <a:lnTo>
                  <a:pt x="2470" y="572773"/>
                </a:lnTo>
                <a:lnTo>
                  <a:pt x="823" y="564492"/>
                </a:lnTo>
                <a:lnTo>
                  <a:pt x="0" y="556130"/>
                </a:lnTo>
                <a:lnTo>
                  <a:pt x="0" y="547687"/>
                </a:lnTo>
                <a:close/>
              </a:path>
            </a:pathLst>
          </a:custGeom>
          <a:ln w="28574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05:00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18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8752" y="2758440"/>
            <a:ext cx="5587365" cy="1036319"/>
          </a:xfrm>
          <a:prstGeom prst="rect"/>
          <a:solidFill>
            <a:srgbClr val="333333"/>
          </a:solidFill>
        </p:spPr>
        <p:txBody>
          <a:bodyPr wrap="square" lIns="0" tIns="140335" rIns="0" bIns="0" rtlCol="0" vert="horz">
            <a:spAutoFit/>
          </a:bodyPr>
          <a:lstStyle/>
          <a:p>
            <a:pPr marL="235585">
              <a:lnSpc>
                <a:spcPct val="100000"/>
              </a:lnSpc>
              <a:spcBef>
                <a:spcPts val="1105"/>
              </a:spcBef>
            </a:pPr>
            <a:r>
              <a:rPr dirty="0" sz="4100" spc="-815">
                <a:solidFill>
                  <a:srgbClr val="000000"/>
                </a:solidFill>
                <a:latin typeface="Roboto Condensed"/>
                <a:cs typeface="Roboto Condensed"/>
              </a:rPr>
              <a:t>C</a:t>
            </a:r>
            <a:r>
              <a:rPr dirty="0" sz="4100" spc="-815">
                <a:solidFill>
                  <a:srgbClr val="FFFFFF"/>
                </a:solidFill>
                <a:latin typeface="Roboto Condensed"/>
                <a:cs typeface="Roboto Condensed"/>
              </a:rPr>
              <a:t>C</a:t>
            </a:r>
            <a:r>
              <a:rPr dirty="0" sz="4100" spc="-815">
                <a:solidFill>
                  <a:srgbClr val="000000"/>
                </a:solidFill>
                <a:latin typeface="Roboto Condensed"/>
                <a:cs typeface="Roboto Condensed"/>
              </a:rPr>
              <a:t>l</a:t>
            </a:r>
            <a:r>
              <a:rPr dirty="0" sz="4100" spc="-815">
                <a:solidFill>
                  <a:srgbClr val="FFFFFF"/>
                </a:solidFill>
                <a:latin typeface="Roboto Condensed"/>
                <a:cs typeface="Roboto Condensed"/>
              </a:rPr>
              <a:t>l</a:t>
            </a:r>
            <a:r>
              <a:rPr dirty="0" sz="4100" spc="-815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815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815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815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r>
              <a:rPr dirty="0" sz="4100" spc="-815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815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r>
              <a:rPr dirty="0" sz="4100" spc="-815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815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815">
                <a:solidFill>
                  <a:srgbClr val="000000"/>
                </a:solidFill>
                <a:latin typeface="Roboto Condensed"/>
                <a:cs typeface="Roboto Condensed"/>
              </a:rPr>
              <a:t>c</a:t>
            </a:r>
            <a:r>
              <a:rPr dirty="0" sz="4100" spc="-815">
                <a:solidFill>
                  <a:srgbClr val="FFFFFF"/>
                </a:solidFill>
                <a:latin typeface="Roboto Condensed"/>
                <a:cs typeface="Roboto Condensed"/>
              </a:rPr>
              <a:t>c</a:t>
            </a:r>
            <a:r>
              <a:rPr dirty="0" sz="4100" spc="-815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815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815">
                <a:solidFill>
                  <a:srgbClr val="000000"/>
                </a:solidFill>
                <a:latin typeface="Roboto Condensed"/>
                <a:cs typeface="Roboto Condensed"/>
              </a:rPr>
              <a:t>l</a:t>
            </a:r>
            <a:r>
              <a:rPr dirty="0" sz="4100" spc="-815">
                <a:solidFill>
                  <a:srgbClr val="FFFFFF"/>
                </a:solidFill>
                <a:latin typeface="Roboto Condensed"/>
                <a:cs typeface="Roboto Condensed"/>
              </a:rPr>
              <a:t>l</a:t>
            </a:r>
            <a:r>
              <a:rPr dirty="0" sz="4100" spc="-720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D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D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c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c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m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m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p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p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40">
                <a:latin typeface="Roboto"/>
                <a:cs typeface="Roboto"/>
              </a:rPr>
              <a:t>2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r>
              <a:rPr dirty="0" sz="1200" spc="-340">
                <a:latin typeface="Roboto"/>
                <a:cs typeface="Roboto"/>
              </a:rPr>
              <a:t>1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4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4</a:t>
            </a:r>
            <a:r>
              <a:rPr dirty="0" sz="1200" spc="-340">
                <a:latin typeface="Roboto"/>
                <a:cs typeface="Roboto"/>
              </a:rPr>
              <a:t>0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0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428750"/>
            <a:ext cx="9696450" cy="1371600"/>
          </a:xfrm>
          <a:custGeom>
            <a:avLst/>
            <a:gdLst/>
            <a:ahLst/>
            <a:cxnLst/>
            <a:rect l="l" t="t" r="r" b="b"/>
            <a:pathLst>
              <a:path w="9696450" h="1371600">
                <a:moveTo>
                  <a:pt x="9553574" y="1371599"/>
                </a:moveTo>
                <a:lnTo>
                  <a:pt x="142874" y="1371599"/>
                </a:lnTo>
                <a:lnTo>
                  <a:pt x="135855" y="1371428"/>
                </a:lnTo>
                <a:lnTo>
                  <a:pt x="94749" y="1363251"/>
                </a:lnTo>
                <a:lnTo>
                  <a:pt x="57756" y="1343478"/>
                </a:lnTo>
                <a:lnTo>
                  <a:pt x="28120" y="1313842"/>
                </a:lnTo>
                <a:lnTo>
                  <a:pt x="8348" y="1276850"/>
                </a:lnTo>
                <a:lnTo>
                  <a:pt x="171" y="1235743"/>
                </a:lnTo>
                <a:lnTo>
                  <a:pt x="0" y="1228724"/>
                </a:lnTo>
                <a:lnTo>
                  <a:pt x="0" y="142874"/>
                </a:lnTo>
                <a:lnTo>
                  <a:pt x="6150" y="101400"/>
                </a:lnTo>
                <a:lnTo>
                  <a:pt x="24078" y="63497"/>
                </a:lnTo>
                <a:lnTo>
                  <a:pt x="52234" y="32429"/>
                </a:lnTo>
                <a:lnTo>
                  <a:pt x="88198" y="10875"/>
                </a:lnTo>
                <a:lnTo>
                  <a:pt x="128870" y="686"/>
                </a:lnTo>
                <a:lnTo>
                  <a:pt x="142874" y="0"/>
                </a:lnTo>
                <a:lnTo>
                  <a:pt x="9553574" y="0"/>
                </a:lnTo>
                <a:lnTo>
                  <a:pt x="9595047" y="6150"/>
                </a:lnTo>
                <a:lnTo>
                  <a:pt x="9632951" y="24078"/>
                </a:lnTo>
                <a:lnTo>
                  <a:pt x="9664019" y="52234"/>
                </a:lnTo>
                <a:lnTo>
                  <a:pt x="9685573" y="88198"/>
                </a:lnTo>
                <a:lnTo>
                  <a:pt x="9695763" y="128870"/>
                </a:lnTo>
                <a:lnTo>
                  <a:pt x="9696449" y="142874"/>
                </a:lnTo>
                <a:lnTo>
                  <a:pt x="9696449" y="1228724"/>
                </a:lnTo>
                <a:lnTo>
                  <a:pt x="9690298" y="1270199"/>
                </a:lnTo>
                <a:lnTo>
                  <a:pt x="9672370" y="1308101"/>
                </a:lnTo>
                <a:lnTo>
                  <a:pt x="9644214" y="1339170"/>
                </a:lnTo>
                <a:lnTo>
                  <a:pt x="9608250" y="1360724"/>
                </a:lnTo>
                <a:lnTo>
                  <a:pt x="9567577" y="1370913"/>
                </a:lnTo>
                <a:lnTo>
                  <a:pt x="9553574" y="1371599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21132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Classical</a:t>
            </a:r>
            <a:r>
              <a:rPr dirty="0" sz="3350" spc="-5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Decomposition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4100" y="1739900"/>
            <a:ext cx="9419590" cy="3246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dirty="0" baseline="1543" sz="2700" spc="-7" b="1">
                <a:solidFill>
                  <a:srgbClr val="C2132D"/>
                </a:solidFill>
                <a:latin typeface="Roboto"/>
                <a:cs typeface="Roboto"/>
              </a:rPr>
              <a:t>Additive decomposition: </a:t>
            </a:r>
            <a:r>
              <a:rPr dirty="0" sz="1600" spc="10" i="1">
                <a:solidFill>
                  <a:srgbClr val="585D60"/>
                </a:solidFill>
                <a:latin typeface="Lucida Sans"/>
                <a:cs typeface="Lucida Sans"/>
              </a:rPr>
              <a:t>y</a:t>
            </a:r>
            <a:r>
              <a:rPr dirty="0" baseline="-12077" sz="1725" spc="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2077" sz="1725" spc="337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2077" sz="1725" spc="52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2077" sz="1725" spc="187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+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14" i="1">
                <a:solidFill>
                  <a:srgbClr val="585D60"/>
                </a:solidFill>
                <a:latin typeface="Lucida Sans"/>
                <a:cs typeface="Lucida Sans"/>
              </a:rPr>
              <a:t>S</a:t>
            </a:r>
            <a:r>
              <a:rPr dirty="0" baseline="-12077" sz="1725" spc="172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2077" sz="1725" spc="187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+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85" i="1">
                <a:solidFill>
                  <a:srgbClr val="585D60"/>
                </a:solidFill>
                <a:latin typeface="Lucida Sans"/>
                <a:cs typeface="Lucida Sans"/>
              </a:rPr>
              <a:t>R</a:t>
            </a:r>
            <a:r>
              <a:rPr dirty="0" baseline="-12077" sz="1725" spc="277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2077" sz="1725" spc="337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40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15432" sz="2700" spc="-209">
                <a:solidFill>
                  <a:srgbClr val="585D60"/>
                </a:solidFill>
                <a:latin typeface="Arial"/>
                <a:cs typeface="Arial"/>
              </a:rPr>
              <a:t>^</a:t>
            </a:r>
            <a:r>
              <a:rPr dirty="0" baseline="-12077" sz="1725" spc="-209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2077" sz="1725" spc="-142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+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55" i="1">
                <a:solidFill>
                  <a:srgbClr val="585D60"/>
                </a:solidFill>
                <a:latin typeface="Lucida Sans"/>
                <a:cs typeface="Lucida Sans"/>
              </a:rPr>
              <a:t>S</a:t>
            </a:r>
            <a:r>
              <a:rPr dirty="0" baseline="15432" sz="2700" spc="-232">
                <a:solidFill>
                  <a:srgbClr val="585D60"/>
                </a:solidFill>
                <a:latin typeface="Arial"/>
                <a:cs typeface="Arial"/>
              </a:rPr>
              <a:t>^</a:t>
            </a:r>
            <a:r>
              <a:rPr dirty="0" baseline="-12077" sz="1725" spc="-232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2077" sz="1725" spc="-127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+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60" i="1">
                <a:solidFill>
                  <a:srgbClr val="585D60"/>
                </a:solidFill>
                <a:latin typeface="Lucida Sans"/>
                <a:cs typeface="Lucida Sans"/>
              </a:rPr>
              <a:t>R</a:t>
            </a:r>
            <a:r>
              <a:rPr dirty="0" baseline="15432" sz="2700" spc="-240">
                <a:solidFill>
                  <a:srgbClr val="585D60"/>
                </a:solidFill>
                <a:latin typeface="Arial"/>
                <a:cs typeface="Arial"/>
              </a:rPr>
              <a:t>^</a:t>
            </a:r>
            <a:r>
              <a:rPr dirty="0" baseline="-12077" sz="1725" spc="-240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endParaRPr baseline="-12077" sz="1725">
              <a:latin typeface="Lucida Sans"/>
              <a:cs typeface="Lucida Sans"/>
            </a:endParaRPr>
          </a:p>
          <a:p>
            <a:pPr marL="50800">
              <a:lnSpc>
                <a:spcPct val="100000"/>
              </a:lnSpc>
              <a:spcBef>
                <a:spcPts val="1290"/>
              </a:spcBef>
            </a:pPr>
            <a:r>
              <a:rPr dirty="0" baseline="1543" sz="2700" spc="-7" b="1">
                <a:solidFill>
                  <a:srgbClr val="C2132D"/>
                </a:solidFill>
                <a:latin typeface="Roboto"/>
                <a:cs typeface="Roboto"/>
              </a:rPr>
              <a:t>Multiplicative decomposition: </a:t>
            </a:r>
            <a:r>
              <a:rPr dirty="0" sz="1600" spc="10" i="1">
                <a:solidFill>
                  <a:srgbClr val="585D60"/>
                </a:solidFill>
                <a:latin typeface="Lucida Sans"/>
                <a:cs typeface="Lucida Sans"/>
              </a:rPr>
              <a:t>y</a:t>
            </a:r>
            <a:r>
              <a:rPr dirty="0" baseline="-12077" sz="1725" spc="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2077" sz="1725" spc="337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2077" sz="1725" spc="52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2077" sz="1725" spc="195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×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14" i="1">
                <a:solidFill>
                  <a:srgbClr val="585D60"/>
                </a:solidFill>
                <a:latin typeface="Lucida Sans"/>
                <a:cs typeface="Lucida Sans"/>
              </a:rPr>
              <a:t>S</a:t>
            </a:r>
            <a:r>
              <a:rPr dirty="0" baseline="-12077" sz="1725" spc="172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2077" sz="1725" spc="187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×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85" i="1">
                <a:solidFill>
                  <a:srgbClr val="585D60"/>
                </a:solidFill>
                <a:latin typeface="Lucida Sans"/>
                <a:cs typeface="Lucida Sans"/>
              </a:rPr>
              <a:t>R</a:t>
            </a:r>
            <a:r>
              <a:rPr dirty="0" baseline="-12077" sz="1725" spc="277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2077" sz="1725" spc="337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=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40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15432" sz="2700" spc="-209">
                <a:solidFill>
                  <a:srgbClr val="585D60"/>
                </a:solidFill>
                <a:latin typeface="Arial"/>
                <a:cs typeface="Arial"/>
              </a:rPr>
              <a:t>^</a:t>
            </a:r>
            <a:r>
              <a:rPr dirty="0" baseline="-12077" sz="1725" spc="-209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2077" sz="1725" spc="-150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×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55" i="1">
                <a:solidFill>
                  <a:srgbClr val="585D60"/>
                </a:solidFill>
                <a:latin typeface="Lucida Sans"/>
                <a:cs typeface="Lucida Sans"/>
              </a:rPr>
              <a:t>S</a:t>
            </a:r>
            <a:r>
              <a:rPr dirty="0" baseline="15432" sz="2700" spc="-232">
                <a:solidFill>
                  <a:srgbClr val="585D60"/>
                </a:solidFill>
                <a:latin typeface="Arial"/>
                <a:cs typeface="Arial"/>
              </a:rPr>
              <a:t>^</a:t>
            </a:r>
            <a:r>
              <a:rPr dirty="0" baseline="-12077" sz="1725" spc="-232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2077" sz="1725" spc="-120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×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60" i="1">
                <a:solidFill>
                  <a:srgbClr val="585D60"/>
                </a:solidFill>
                <a:latin typeface="Lucida Sans"/>
                <a:cs typeface="Lucida Sans"/>
              </a:rPr>
              <a:t>R</a:t>
            </a:r>
            <a:r>
              <a:rPr dirty="0" baseline="15432" sz="2700" spc="-240">
                <a:solidFill>
                  <a:srgbClr val="585D60"/>
                </a:solidFill>
                <a:latin typeface="Arial"/>
                <a:cs typeface="Arial"/>
              </a:rPr>
              <a:t>^</a:t>
            </a:r>
            <a:r>
              <a:rPr dirty="0" baseline="-12077" sz="1725" spc="-240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endParaRPr baseline="-12077" sz="1725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2300">
              <a:latin typeface="Lucida Sans"/>
              <a:cs typeface="Lucida Sans"/>
            </a:endParaRPr>
          </a:p>
          <a:p>
            <a:pPr marL="241300" indent="-133985">
              <a:lnSpc>
                <a:spcPct val="100000"/>
              </a:lnSpc>
              <a:spcBef>
                <a:spcPts val="1880"/>
              </a:spcBef>
              <a:buFont typeface="Roboto"/>
              <a:buChar char="•"/>
              <a:tabLst>
                <a:tab pos="241300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Estimate </a:t>
            </a:r>
            <a:r>
              <a:rPr dirty="0" sz="1600" spc="-2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13888" sz="2700" spc="-322">
                <a:solidFill>
                  <a:srgbClr val="585D60"/>
                </a:solidFill>
                <a:latin typeface="Arial"/>
                <a:cs typeface="Arial"/>
              </a:rPr>
              <a:t>^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using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(2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× </a:t>
            </a:r>
            <a:r>
              <a:rPr dirty="0" sz="1600" spc="40" i="1">
                <a:solidFill>
                  <a:srgbClr val="585D60"/>
                </a:solidFill>
                <a:latin typeface="Lucida Sans"/>
                <a:cs typeface="Lucida Sans"/>
              </a:rPr>
              <a:t>m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)</a:t>
            </a:r>
            <a:r>
              <a:rPr dirty="0" sz="1800" spc="40">
                <a:solidFill>
                  <a:srgbClr val="585D60"/>
                </a:solidFill>
                <a:latin typeface="Roboto"/>
                <a:cs typeface="Roboto"/>
              </a:rPr>
              <a:t>-MA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if </a:t>
            </a:r>
            <a:r>
              <a:rPr dirty="0" sz="1600" spc="85" i="1">
                <a:solidFill>
                  <a:srgbClr val="585D60"/>
                </a:solidFill>
                <a:latin typeface="Lucida Sans"/>
                <a:cs typeface="Lucida Sans"/>
              </a:rPr>
              <a:t>m</a:t>
            </a:r>
            <a:r>
              <a:rPr dirty="0" sz="1600" spc="-315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even.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Otherwise, estimate </a:t>
            </a:r>
            <a:r>
              <a:rPr dirty="0" sz="1600" spc="-2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13888" sz="2700" spc="-322">
                <a:solidFill>
                  <a:srgbClr val="585D60"/>
                </a:solidFill>
                <a:latin typeface="Arial"/>
                <a:cs typeface="Arial"/>
              </a:rPr>
              <a:t>^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using </a:t>
            </a:r>
            <a:r>
              <a:rPr dirty="0" sz="1600" spc="25" i="1">
                <a:solidFill>
                  <a:srgbClr val="585D60"/>
                </a:solidFill>
                <a:latin typeface="Lucida Sans"/>
                <a:cs typeface="Lucida Sans"/>
              </a:rPr>
              <a:t>m</a:t>
            </a:r>
            <a:r>
              <a:rPr dirty="0" sz="1800" spc="25">
                <a:solidFill>
                  <a:srgbClr val="585D60"/>
                </a:solidFill>
                <a:latin typeface="Roboto"/>
                <a:cs typeface="Roboto"/>
              </a:rPr>
              <a:t>-MA</a:t>
            </a:r>
            <a:endParaRPr sz="1800">
              <a:latin typeface="Roboto"/>
              <a:cs typeface="Roboto"/>
            </a:endParaRPr>
          </a:p>
          <a:p>
            <a:pPr marL="240665" marR="43180" indent="-133985">
              <a:lnSpc>
                <a:spcPct val="118100"/>
              </a:lnSpc>
              <a:spcBef>
                <a:spcPts val="900"/>
              </a:spcBef>
              <a:buFont typeface="Roboto"/>
              <a:buChar char="•"/>
              <a:tabLst>
                <a:tab pos="241300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Compute de-trended series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using: (a) </a:t>
            </a:r>
            <a:r>
              <a:rPr dirty="0" sz="1600" spc="10" i="1">
                <a:solidFill>
                  <a:srgbClr val="585D60"/>
                </a:solidFill>
                <a:latin typeface="Lucida Sans"/>
                <a:cs typeface="Lucida Sans"/>
              </a:rPr>
              <a:t>y</a:t>
            </a:r>
            <a:r>
              <a:rPr dirty="0" baseline="-14492" sz="1725" spc="15" i="1">
                <a:solidFill>
                  <a:srgbClr val="585D60"/>
                </a:solidFill>
                <a:latin typeface="Lucida Sans"/>
                <a:cs typeface="Lucida Sans"/>
              </a:rPr>
              <a:t>t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− </a:t>
            </a:r>
            <a:r>
              <a:rPr dirty="0" sz="1600" spc="-140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13888" sz="2700" spc="-209">
                <a:solidFill>
                  <a:srgbClr val="585D60"/>
                </a:solidFill>
                <a:latin typeface="Arial"/>
                <a:cs typeface="Arial"/>
              </a:rPr>
              <a:t>^</a:t>
            </a:r>
            <a:r>
              <a:rPr dirty="0" baseline="-14492" sz="1725" spc="-209" i="1">
                <a:solidFill>
                  <a:srgbClr val="585D60"/>
                </a:solidFill>
                <a:latin typeface="Lucida Sans"/>
                <a:cs typeface="Lucida Sans"/>
              </a:rPr>
              <a:t>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additive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decomposition, and (b) </a:t>
            </a:r>
            <a:r>
              <a:rPr dirty="0" sz="1600" spc="15" i="1">
                <a:solidFill>
                  <a:srgbClr val="585D60"/>
                </a:solidFill>
                <a:latin typeface="Lucida Sans"/>
                <a:cs typeface="Lucida Sans"/>
              </a:rPr>
              <a:t>y</a:t>
            </a:r>
            <a:r>
              <a:rPr dirty="0" baseline="-14492" sz="1725" spc="22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600" spc="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13888" sz="2700" spc="22">
                <a:solidFill>
                  <a:srgbClr val="585D60"/>
                </a:solidFill>
                <a:latin typeface="Arial"/>
                <a:cs typeface="Arial"/>
              </a:rPr>
              <a:t>^</a:t>
            </a:r>
            <a:r>
              <a:rPr dirty="0" baseline="-14492" sz="1725" spc="22" i="1">
                <a:solidFill>
                  <a:srgbClr val="585D60"/>
                </a:solidFill>
                <a:latin typeface="Lucida Sans"/>
                <a:cs typeface="Lucida Sans"/>
              </a:rPr>
              <a:t>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multiplicative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decomposition.</a:t>
            </a:r>
            <a:endParaRPr sz="1800">
              <a:latin typeface="Roboto"/>
              <a:cs typeface="Roboto"/>
            </a:endParaRPr>
          </a:p>
          <a:p>
            <a:pPr marL="2413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2413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Once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de-trended,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we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are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left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with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600" spc="114" i="1">
                <a:solidFill>
                  <a:srgbClr val="585D60"/>
                </a:solidFill>
                <a:latin typeface="Lucida Sans"/>
                <a:cs typeface="Lucida Sans"/>
              </a:rPr>
              <a:t>S</a:t>
            </a:r>
            <a:r>
              <a:rPr dirty="0" baseline="-14492" sz="1725" spc="172" i="1">
                <a:solidFill>
                  <a:srgbClr val="585D60"/>
                </a:solidFill>
                <a:latin typeface="Lucida Sans"/>
                <a:cs typeface="Lucida Sans"/>
              </a:rPr>
              <a:t>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600" spc="185" i="1">
                <a:solidFill>
                  <a:srgbClr val="585D60"/>
                </a:solidFill>
                <a:latin typeface="Lucida Sans"/>
                <a:cs typeface="Lucida Sans"/>
              </a:rPr>
              <a:t>R</a:t>
            </a:r>
            <a:r>
              <a:rPr dirty="0" baseline="-14492" sz="1725" spc="277" i="1">
                <a:solidFill>
                  <a:srgbClr val="585D60"/>
                </a:solidFill>
                <a:latin typeface="Lucida Sans"/>
                <a:cs typeface="Lucida Sans"/>
              </a:rPr>
              <a:t>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components.</a:t>
            </a:r>
            <a:r>
              <a:rPr dirty="0" sz="1800" spc="4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Specifically:</a:t>
            </a:r>
            <a:endParaRPr sz="1800">
              <a:latin typeface="Roboto"/>
              <a:cs typeface="Roboto"/>
            </a:endParaRPr>
          </a:p>
          <a:p>
            <a:pPr lvl="1" marL="622300" indent="-133985">
              <a:lnSpc>
                <a:spcPts val="1540"/>
              </a:lnSpc>
              <a:spcBef>
                <a:spcPts val="1315"/>
              </a:spcBef>
              <a:buFont typeface="Roboto"/>
              <a:buChar char="•"/>
              <a:tabLst>
                <a:tab pos="622300" algn="l"/>
                <a:tab pos="535495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Additive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model: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baseline="1736" sz="2400" spc="15" i="1">
                <a:solidFill>
                  <a:srgbClr val="585D60"/>
                </a:solidFill>
                <a:latin typeface="Lucida Sans"/>
                <a:cs typeface="Lucida Sans"/>
              </a:rPr>
              <a:t>y</a:t>
            </a:r>
            <a:r>
              <a:rPr dirty="0" baseline="-12077" sz="1725" spc="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2077" sz="1725" spc="202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baseline="1543" sz="2700" spc="517">
                <a:solidFill>
                  <a:srgbClr val="585D60"/>
                </a:solidFill>
                <a:latin typeface="Arial"/>
                <a:cs typeface="Arial"/>
              </a:rPr>
              <a:t>−</a:t>
            </a:r>
            <a:r>
              <a:rPr dirty="0" baseline="1543" sz="2700" spc="-1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baseline="1736" sz="2400" spc="-209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15432" sz="2700" spc="-209">
                <a:solidFill>
                  <a:srgbClr val="585D60"/>
                </a:solidFill>
                <a:latin typeface="Arial"/>
                <a:cs typeface="Arial"/>
              </a:rPr>
              <a:t>^</a:t>
            </a:r>
            <a:r>
              <a:rPr dirty="0" baseline="-12077" sz="1725" spc="-209" i="1">
                <a:solidFill>
                  <a:srgbClr val="585D60"/>
                </a:solidFill>
                <a:latin typeface="Lucida Sans"/>
                <a:cs typeface="Lucida Sans"/>
              </a:rPr>
              <a:t>t </a:t>
            </a:r>
            <a:r>
              <a:rPr dirty="0" baseline="-12077" sz="1725" spc="15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baseline="1543" sz="2700" spc="517">
                <a:solidFill>
                  <a:srgbClr val="585D60"/>
                </a:solidFill>
                <a:latin typeface="Arial"/>
                <a:cs typeface="Arial"/>
              </a:rPr>
              <a:t>=</a:t>
            </a:r>
            <a:r>
              <a:rPr dirty="0" baseline="1543" sz="2700" spc="7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baseline="1543" sz="2700" spc="-120">
                <a:solidFill>
                  <a:srgbClr val="585D60"/>
                </a:solidFill>
                <a:latin typeface="Arial"/>
                <a:cs typeface="Arial"/>
              </a:rPr>
              <a:t>(</a:t>
            </a:r>
            <a:r>
              <a:rPr dirty="0" baseline="1736" sz="2400" spc="-120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15432" sz="2700" spc="-120">
                <a:solidFill>
                  <a:srgbClr val="585D60"/>
                </a:solidFill>
                <a:latin typeface="Arial"/>
                <a:cs typeface="Arial"/>
              </a:rPr>
              <a:t>^</a:t>
            </a:r>
            <a:r>
              <a:rPr dirty="0" baseline="-12077" sz="1725" spc="-120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2077" sz="1725" spc="202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baseline="1543" sz="2700" spc="517">
                <a:solidFill>
                  <a:srgbClr val="585D60"/>
                </a:solidFill>
                <a:latin typeface="Arial"/>
                <a:cs typeface="Arial"/>
              </a:rPr>
              <a:t>+</a:t>
            </a:r>
            <a:r>
              <a:rPr dirty="0" baseline="1543" sz="2700" spc="-1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baseline="1736" sz="2400" spc="-359" i="1">
                <a:solidFill>
                  <a:srgbClr val="585D60"/>
                </a:solidFill>
                <a:latin typeface="Lucida Sans"/>
                <a:cs typeface="Lucida Sans"/>
              </a:rPr>
              <a:t>S</a:t>
            </a:r>
            <a:r>
              <a:rPr dirty="0" baseline="16975" sz="2700" spc="-359">
                <a:solidFill>
                  <a:srgbClr val="585D60"/>
                </a:solidFill>
                <a:latin typeface="Arial"/>
                <a:cs typeface="Arial"/>
              </a:rPr>
              <a:t>^  </a:t>
            </a:r>
            <a:r>
              <a:rPr dirty="0" baseline="16975" sz="2700" spc="-89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baseline="1543" sz="2700" spc="517">
                <a:solidFill>
                  <a:srgbClr val="585D60"/>
                </a:solidFill>
                <a:latin typeface="Arial"/>
                <a:cs typeface="Arial"/>
              </a:rPr>
              <a:t>+</a:t>
            </a:r>
            <a:r>
              <a:rPr dirty="0" baseline="1543" sz="2700" spc="-1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baseline="1736" sz="2400" spc="-434" i="1">
                <a:solidFill>
                  <a:srgbClr val="585D60"/>
                </a:solidFill>
                <a:latin typeface="Lucida Sans"/>
                <a:cs typeface="Lucida Sans"/>
              </a:rPr>
              <a:t>R</a:t>
            </a:r>
            <a:r>
              <a:rPr dirty="0" baseline="15432" sz="2700" spc="-434">
                <a:solidFill>
                  <a:srgbClr val="585D60"/>
                </a:solidFill>
                <a:latin typeface="Arial"/>
                <a:cs typeface="Arial"/>
              </a:rPr>
              <a:t>^  </a:t>
            </a:r>
            <a:r>
              <a:rPr dirty="0" baseline="15432" sz="2700" spc="-419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baseline="1543" sz="2700" spc="150">
                <a:solidFill>
                  <a:srgbClr val="585D60"/>
                </a:solidFill>
                <a:latin typeface="Arial"/>
                <a:cs typeface="Arial"/>
              </a:rPr>
              <a:t>)</a:t>
            </a:r>
            <a:r>
              <a:rPr dirty="0" baseline="1543" sz="2700" spc="-1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baseline="1543" sz="2700" spc="517">
                <a:solidFill>
                  <a:srgbClr val="585D60"/>
                </a:solidFill>
                <a:latin typeface="Arial"/>
                <a:cs typeface="Arial"/>
              </a:rPr>
              <a:t>−</a:t>
            </a:r>
            <a:r>
              <a:rPr dirty="0" baseline="1543" sz="2700" spc="-1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baseline="1736" sz="2400" spc="-322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15432" sz="2700" spc="-322">
                <a:solidFill>
                  <a:srgbClr val="585D60"/>
                </a:solidFill>
                <a:latin typeface="Arial"/>
                <a:cs typeface="Arial"/>
              </a:rPr>
              <a:t>^	</a:t>
            </a:r>
            <a:r>
              <a:rPr dirty="0" baseline="1543" sz="2700" spc="517">
                <a:solidFill>
                  <a:srgbClr val="585D60"/>
                </a:solidFill>
                <a:latin typeface="Arial"/>
                <a:cs typeface="Arial"/>
              </a:rPr>
              <a:t>= </a:t>
            </a:r>
            <a:r>
              <a:rPr dirty="0" baseline="1736" sz="2400" spc="-359" i="1">
                <a:solidFill>
                  <a:srgbClr val="585D60"/>
                </a:solidFill>
                <a:latin typeface="Lucida Sans"/>
                <a:cs typeface="Lucida Sans"/>
              </a:rPr>
              <a:t>S</a:t>
            </a:r>
            <a:r>
              <a:rPr dirty="0" baseline="16975" sz="2700" spc="-359">
                <a:solidFill>
                  <a:srgbClr val="585D60"/>
                </a:solidFill>
                <a:latin typeface="Arial"/>
                <a:cs typeface="Arial"/>
              </a:rPr>
              <a:t>^ </a:t>
            </a:r>
            <a:r>
              <a:rPr dirty="0" baseline="1543" sz="2700" spc="517">
                <a:solidFill>
                  <a:srgbClr val="585D60"/>
                </a:solidFill>
                <a:latin typeface="Arial"/>
                <a:cs typeface="Arial"/>
              </a:rPr>
              <a:t>+</a:t>
            </a:r>
            <a:r>
              <a:rPr dirty="0" baseline="1543" sz="2700" spc="-434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baseline="1736" sz="2400" spc="-434" i="1">
                <a:solidFill>
                  <a:srgbClr val="585D60"/>
                </a:solidFill>
                <a:latin typeface="Lucida Sans"/>
                <a:cs typeface="Lucida Sans"/>
              </a:rPr>
              <a:t>R</a:t>
            </a:r>
            <a:r>
              <a:rPr dirty="0" baseline="15432" sz="2700" spc="-434">
                <a:solidFill>
                  <a:srgbClr val="585D60"/>
                </a:solidFill>
                <a:latin typeface="Arial"/>
                <a:cs typeface="Arial"/>
              </a:rPr>
              <a:t>^</a:t>
            </a:r>
            <a:endParaRPr baseline="15432" sz="2700">
              <a:latin typeface="Arial"/>
              <a:cs typeface="Arial"/>
            </a:endParaRPr>
          </a:p>
          <a:p>
            <a:pPr marL="4081145">
              <a:lnSpc>
                <a:spcPts val="760"/>
              </a:lnSpc>
              <a:tabLst>
                <a:tab pos="4603750" algn="l"/>
                <a:tab pos="5221605" algn="l"/>
                <a:tab pos="5757545" algn="l"/>
                <a:tab pos="6279515" algn="l"/>
              </a:tabLst>
            </a:pPr>
            <a:r>
              <a:rPr dirty="0" sz="1150" spc="15" i="1">
                <a:solidFill>
                  <a:srgbClr val="585D60"/>
                </a:solidFill>
                <a:latin typeface="Lucida Sans"/>
                <a:cs typeface="Lucida Sans"/>
              </a:rPr>
              <a:t>t	t	t	t	t</a:t>
            </a:r>
            <a:endParaRPr sz="115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9754" y="5149998"/>
            <a:ext cx="28733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  <a:tab pos="2682240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Multiplicati</a:t>
            </a:r>
            <a:r>
              <a:rPr dirty="0" sz="1800" spc="-20" b="1">
                <a:solidFill>
                  <a:srgbClr val="C2132D"/>
                </a:solidFill>
                <a:latin typeface="Roboto"/>
                <a:cs typeface="Roboto"/>
              </a:rPr>
              <a:t>v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model: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	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=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49478" y="5260019"/>
            <a:ext cx="8382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endParaRPr sz="115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22093" y="5149849"/>
            <a:ext cx="990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= </a:t>
            </a:r>
            <a:r>
              <a:rPr dirty="0" sz="1600" spc="-240" i="1">
                <a:solidFill>
                  <a:srgbClr val="585D60"/>
                </a:solidFill>
                <a:latin typeface="Lucida Sans"/>
                <a:cs typeface="Lucida Sans"/>
              </a:rPr>
              <a:t>S</a:t>
            </a:r>
            <a:r>
              <a:rPr dirty="0" baseline="18518" sz="2700" spc="-359">
                <a:solidFill>
                  <a:srgbClr val="585D60"/>
                </a:solidFill>
                <a:latin typeface="Arial"/>
                <a:cs typeface="Arial"/>
              </a:rPr>
              <a:t>^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×</a:t>
            </a:r>
            <a:r>
              <a:rPr dirty="0" sz="1800" spc="-3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290" i="1">
                <a:solidFill>
                  <a:srgbClr val="585D60"/>
                </a:solidFill>
                <a:latin typeface="Lucida Sans"/>
                <a:cs typeface="Lucida Sans"/>
              </a:rPr>
              <a:t>R</a:t>
            </a:r>
            <a:r>
              <a:rPr dirty="0" baseline="15432" sz="2700" spc="-434">
                <a:solidFill>
                  <a:srgbClr val="585D60"/>
                </a:solidFill>
                <a:latin typeface="Arial"/>
                <a:cs typeface="Arial"/>
              </a:rPr>
              <a:t>^</a:t>
            </a:r>
            <a:endParaRPr baseline="15432" sz="2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72013" y="5260019"/>
            <a:ext cx="8382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endParaRPr sz="115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15519" y="5098094"/>
            <a:ext cx="19685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150" i="1">
                <a:solidFill>
                  <a:srgbClr val="585D60"/>
                </a:solidFill>
                <a:latin typeface="Lucida Sans"/>
                <a:cs typeface="Lucida Sans"/>
              </a:rPr>
              <a:t>y</a:t>
            </a:r>
            <a:r>
              <a:rPr dirty="0" baseline="-17361" sz="1200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endParaRPr baseline="-17361" sz="1200">
              <a:latin typeface="Lucida Sans"/>
              <a:cs typeface="Lucida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91408" y="5302630"/>
            <a:ext cx="203835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14492" sz="1725" spc="-232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250" spc="-155">
                <a:solidFill>
                  <a:srgbClr val="585D60"/>
                </a:solidFill>
                <a:latin typeface="Arial"/>
                <a:cs typeface="Arial"/>
              </a:rPr>
              <a:t>^</a:t>
            </a:r>
            <a:endParaRPr sz="12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44057" y="5426923"/>
            <a:ext cx="66675" cy="1504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 spc="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endParaRPr sz="800">
              <a:latin typeface="Lucida Sans"/>
              <a:cs typeface="Lucida San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914775" y="5329237"/>
            <a:ext cx="209550" cy="0"/>
          </a:xfrm>
          <a:custGeom>
            <a:avLst/>
            <a:gdLst/>
            <a:ahLst/>
            <a:cxnLst/>
            <a:rect l="l" t="t" r="r" b="b"/>
            <a:pathLst>
              <a:path w="209550" h="0">
                <a:moveTo>
                  <a:pt x="0" y="0"/>
                </a:moveTo>
                <a:lnTo>
                  <a:pt x="209549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455467" y="5102605"/>
            <a:ext cx="831215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1150" spc="-30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15555" sz="1875" spc="-44">
                <a:solidFill>
                  <a:srgbClr val="585D60"/>
                </a:solidFill>
                <a:latin typeface="Arial"/>
                <a:cs typeface="Arial"/>
              </a:rPr>
              <a:t>^</a:t>
            </a:r>
            <a:r>
              <a:rPr dirty="0" baseline="-10416" sz="1200" spc="-44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×</a:t>
            </a:r>
            <a:r>
              <a:rPr dirty="0" sz="1150" spc="-30" i="1">
                <a:solidFill>
                  <a:srgbClr val="585D60"/>
                </a:solidFill>
                <a:latin typeface="Lucida Sans"/>
                <a:cs typeface="Lucida Sans"/>
              </a:rPr>
              <a:t>S</a:t>
            </a:r>
            <a:r>
              <a:rPr dirty="0" baseline="15555" sz="1875" spc="-44">
                <a:solidFill>
                  <a:srgbClr val="585D60"/>
                </a:solidFill>
                <a:latin typeface="Arial"/>
                <a:cs typeface="Arial"/>
              </a:rPr>
              <a:t>^</a:t>
            </a:r>
            <a:r>
              <a:rPr dirty="0" baseline="-10416" sz="1200" spc="-44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250" spc="-30">
                <a:solidFill>
                  <a:srgbClr val="585D60"/>
                </a:solidFill>
                <a:latin typeface="Arial"/>
                <a:cs typeface="Arial"/>
              </a:rPr>
              <a:t>×</a:t>
            </a:r>
            <a:r>
              <a:rPr dirty="0" sz="1150" spc="-30" i="1">
                <a:solidFill>
                  <a:srgbClr val="585D60"/>
                </a:solidFill>
                <a:latin typeface="Lucida Sans"/>
                <a:cs typeface="Lucida Sans"/>
              </a:rPr>
              <a:t>R</a:t>
            </a:r>
            <a:r>
              <a:rPr dirty="0" baseline="15555" sz="1875" spc="-44">
                <a:solidFill>
                  <a:srgbClr val="585D60"/>
                </a:solidFill>
                <a:latin typeface="Arial"/>
                <a:cs typeface="Arial"/>
              </a:rPr>
              <a:t>^</a:t>
            </a:r>
            <a:r>
              <a:rPr dirty="0" baseline="-10416" sz="1200" spc="-44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endParaRPr baseline="-10416" sz="1200">
              <a:latin typeface="Lucida Sans"/>
              <a:cs typeface="Lucida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48658" y="5302630"/>
            <a:ext cx="203835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14492" sz="1725" spc="-232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250" spc="-155">
                <a:solidFill>
                  <a:srgbClr val="585D60"/>
                </a:solidFill>
                <a:latin typeface="Arial"/>
                <a:cs typeface="Arial"/>
              </a:rPr>
              <a:t>^</a:t>
            </a:r>
            <a:endParaRPr sz="12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01306" y="5426923"/>
            <a:ext cx="66675" cy="1504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00" spc="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endParaRPr sz="800">
              <a:latin typeface="Lucida Sans"/>
              <a:cs typeface="Lucida San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476750" y="5329237"/>
            <a:ext cx="790575" cy="0"/>
          </a:xfrm>
          <a:custGeom>
            <a:avLst/>
            <a:gdLst/>
            <a:ahLst/>
            <a:cxnLst/>
            <a:rect l="l" t="t" r="r" b="b"/>
            <a:pathLst>
              <a:path w="790575" h="0">
                <a:moveTo>
                  <a:pt x="0" y="0"/>
                </a:moveTo>
                <a:lnTo>
                  <a:pt x="790574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14400" y="602456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14400" y="60340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0239374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14400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901700" y="6112818"/>
            <a:ext cx="9110345" cy="31877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Source: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Hyndman,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R.J.,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&amp; Athanasopoulos, G. (2021)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Forecasting: principles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practice, 3rd edition,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OTexts: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Melbourne,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Australia.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https://otexts.com/fpp3/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.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Accessed on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February</a:t>
            </a:r>
            <a:r>
              <a:rPr dirty="0" sz="850" spc="7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12,</a:t>
            </a:r>
            <a:endParaRPr sz="8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2025.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Chapter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3.4</a:t>
            </a:r>
            <a:r>
              <a:rPr dirty="0" sz="850" spc="-2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Slides</a:t>
            </a:r>
            <a:endParaRPr sz="850">
              <a:latin typeface="Roboto"/>
              <a:cs typeface="Roboto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5289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Estimating Seasonal</a:t>
            </a:r>
            <a:r>
              <a:rPr dirty="0" sz="3350" spc="-3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Component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6054" y="1376044"/>
            <a:ext cx="9298940" cy="3806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 marR="422275" indent="-133985">
              <a:lnSpc>
                <a:spcPct val="1181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593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seasonal component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can be estimated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by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averaging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detrended series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that  season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across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all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years.</a:t>
            </a:r>
            <a:endParaRPr sz="1800">
              <a:latin typeface="Roboto"/>
              <a:cs typeface="Roboto"/>
            </a:endParaRPr>
          </a:p>
          <a:p>
            <a:pPr marL="158750" marR="66675" indent="-133985">
              <a:lnSpc>
                <a:spcPct val="116300"/>
              </a:lnSpc>
              <a:spcBef>
                <a:spcPts val="935"/>
              </a:spcBef>
              <a:buClr>
                <a:srgbClr val="C2132D"/>
              </a:buClr>
              <a:buChar char="•"/>
              <a:tabLst>
                <a:tab pos="159385" algn="l"/>
              </a:tabLst>
            </a:pP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For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example, if we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have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monthly data, we can estimate the seasonal index for January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by 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averaging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all the January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detrended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series. Do this for each month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get the  seasonal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index.</a:t>
            </a:r>
            <a:endParaRPr sz="1800">
              <a:latin typeface="Roboto"/>
              <a:cs typeface="Roboto"/>
            </a:endParaRPr>
          </a:p>
          <a:p>
            <a:pPr marL="158750" indent="-133985">
              <a:lnSpc>
                <a:spcPct val="100000"/>
              </a:lnSpc>
              <a:spcBef>
                <a:spcPts val="1215"/>
              </a:spcBef>
              <a:buFont typeface="Roboto"/>
              <a:buChar char="•"/>
              <a:tabLst>
                <a:tab pos="1593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Adjust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seasonal indices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ensure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that</a:t>
            </a:r>
            <a:r>
              <a:rPr dirty="0" sz="1800" spc="-3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that:</a:t>
            </a:r>
            <a:endParaRPr sz="1800">
              <a:latin typeface="Roboto"/>
              <a:cs typeface="Roboto"/>
            </a:endParaRPr>
          </a:p>
          <a:p>
            <a:pPr lvl="1" marL="5397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403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additive: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 spc="215" i="1">
                <a:solidFill>
                  <a:srgbClr val="585D60"/>
                </a:solidFill>
                <a:latin typeface="Lucida Sans"/>
                <a:cs typeface="Lucida Sans"/>
              </a:rPr>
              <a:t>S</a:t>
            </a:r>
            <a:r>
              <a:rPr dirty="0" sz="1600" spc="-345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baseline="28888" sz="1875" spc="44">
                <a:solidFill>
                  <a:srgbClr val="585D60"/>
                </a:solidFill>
                <a:latin typeface="Arial"/>
                <a:cs typeface="Arial"/>
              </a:rPr>
              <a:t>(1)</a:t>
            </a:r>
            <a:r>
              <a:rPr dirty="0" baseline="28888" sz="1875" spc="209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+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15" i="1">
                <a:solidFill>
                  <a:srgbClr val="585D60"/>
                </a:solidFill>
                <a:latin typeface="Lucida Sans"/>
                <a:cs typeface="Lucida Sans"/>
              </a:rPr>
              <a:t>S</a:t>
            </a:r>
            <a:r>
              <a:rPr dirty="0" sz="1600" spc="-345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baseline="28888" sz="1875" spc="44">
                <a:solidFill>
                  <a:srgbClr val="585D60"/>
                </a:solidFill>
                <a:latin typeface="Arial"/>
                <a:cs typeface="Arial"/>
              </a:rPr>
              <a:t>(2)</a:t>
            </a:r>
            <a:r>
              <a:rPr dirty="0" baseline="28888" sz="1875" spc="209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+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5">
                <a:solidFill>
                  <a:srgbClr val="585D60"/>
                </a:solidFill>
                <a:latin typeface="Arial"/>
                <a:cs typeface="Arial"/>
              </a:rPr>
              <a:t>…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+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15" i="1">
                <a:solidFill>
                  <a:srgbClr val="585D60"/>
                </a:solidFill>
                <a:latin typeface="Lucida Sans"/>
                <a:cs typeface="Lucida Sans"/>
              </a:rPr>
              <a:t>S</a:t>
            </a:r>
            <a:r>
              <a:rPr dirty="0" sz="1600" spc="-345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baseline="28888" sz="1875" spc="7">
                <a:solidFill>
                  <a:srgbClr val="585D60"/>
                </a:solidFill>
                <a:latin typeface="Arial"/>
                <a:cs typeface="Arial"/>
              </a:rPr>
              <a:t>(12)</a:t>
            </a:r>
            <a:r>
              <a:rPr dirty="0" baseline="28888" sz="1875" spc="367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  <a:p>
            <a:pPr lvl="1" marL="5397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403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multiplicative: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 spc="215" i="1">
                <a:solidFill>
                  <a:srgbClr val="585D60"/>
                </a:solidFill>
                <a:latin typeface="Lucida Sans"/>
                <a:cs typeface="Lucida Sans"/>
              </a:rPr>
              <a:t>S</a:t>
            </a:r>
            <a:r>
              <a:rPr dirty="0" sz="1600" spc="-345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baseline="28888" sz="1875" spc="44">
                <a:solidFill>
                  <a:srgbClr val="585D60"/>
                </a:solidFill>
                <a:latin typeface="Arial"/>
                <a:cs typeface="Arial"/>
              </a:rPr>
              <a:t>(1)</a:t>
            </a:r>
            <a:r>
              <a:rPr dirty="0" baseline="28888" sz="1875" spc="209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+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15" i="1">
                <a:solidFill>
                  <a:srgbClr val="585D60"/>
                </a:solidFill>
                <a:latin typeface="Lucida Sans"/>
                <a:cs typeface="Lucida Sans"/>
              </a:rPr>
              <a:t>S</a:t>
            </a:r>
            <a:r>
              <a:rPr dirty="0" sz="1600" spc="-345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baseline="28888" sz="1875" spc="44">
                <a:solidFill>
                  <a:srgbClr val="585D60"/>
                </a:solidFill>
                <a:latin typeface="Arial"/>
                <a:cs typeface="Arial"/>
              </a:rPr>
              <a:t>(2)</a:t>
            </a:r>
            <a:r>
              <a:rPr dirty="0" baseline="28888" sz="1875" spc="209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+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5">
                <a:solidFill>
                  <a:srgbClr val="585D60"/>
                </a:solidFill>
                <a:latin typeface="Arial"/>
                <a:cs typeface="Arial"/>
              </a:rPr>
              <a:t>…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+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15" i="1">
                <a:solidFill>
                  <a:srgbClr val="585D60"/>
                </a:solidFill>
                <a:latin typeface="Lucida Sans"/>
                <a:cs typeface="Lucida Sans"/>
              </a:rPr>
              <a:t>S</a:t>
            </a:r>
            <a:r>
              <a:rPr dirty="0" sz="1600" spc="-345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baseline="28888" sz="1875" spc="7">
                <a:solidFill>
                  <a:srgbClr val="585D60"/>
                </a:solidFill>
                <a:latin typeface="Arial"/>
                <a:cs typeface="Arial"/>
              </a:rPr>
              <a:t>(12)</a:t>
            </a:r>
            <a:r>
              <a:rPr dirty="0" baseline="28888" sz="1875" spc="367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85" i="1">
                <a:solidFill>
                  <a:srgbClr val="585D60"/>
                </a:solidFill>
                <a:latin typeface="Lucida Sans"/>
                <a:cs typeface="Lucida Sans"/>
              </a:rPr>
              <a:t>m</a:t>
            </a:r>
            <a:endParaRPr sz="1600">
              <a:latin typeface="Lucida Sans"/>
              <a:cs typeface="Lucida Sans"/>
            </a:endParaRPr>
          </a:p>
          <a:p>
            <a:pPr marL="158750" marR="17780" indent="-133985">
              <a:lnSpc>
                <a:spcPct val="118100"/>
              </a:lnSpc>
              <a:spcBef>
                <a:spcPts val="825"/>
              </a:spcBef>
              <a:buClr>
                <a:srgbClr val="C2132D"/>
              </a:buClr>
              <a:buChar char="•"/>
              <a:tabLst>
                <a:tab pos="1593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seasonal component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then obtained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by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repeating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seasonal indices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each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year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the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602456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0340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39374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6112818"/>
            <a:ext cx="9110345" cy="31877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Source: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Hyndman,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R.J.,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&amp; Athanasopoulos, G. (2021)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Forecasting: principles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practice, 3rd edition,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OTexts: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Melbourne,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Australia.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https://otexts.com/fpp3/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.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Accessed on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February</a:t>
            </a:r>
            <a:r>
              <a:rPr dirty="0" sz="850" spc="7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12,</a:t>
            </a:r>
            <a:endParaRPr sz="8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2025.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Chapter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3.4</a:t>
            </a:r>
            <a:r>
              <a:rPr dirty="0" sz="850" spc="-2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Slides</a:t>
            </a:r>
            <a:endParaRPr sz="850">
              <a:latin typeface="Roboto"/>
              <a:cs typeface="Robo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25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4185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Estimating the Remainder</a:t>
            </a:r>
            <a:r>
              <a:rPr dirty="0" sz="3350" spc="-2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Component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9000" y="1435100"/>
            <a:ext cx="4598670" cy="737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baseline="1543" sz="2700" spc="-7">
                <a:solidFill>
                  <a:srgbClr val="585D60"/>
                </a:solidFill>
                <a:latin typeface="Roboto"/>
                <a:cs typeface="Roboto"/>
              </a:rPr>
              <a:t>Additive </a:t>
            </a:r>
            <a:r>
              <a:rPr dirty="0" baseline="1543" sz="2700">
                <a:solidFill>
                  <a:srgbClr val="585D60"/>
                </a:solidFill>
                <a:latin typeface="Roboto"/>
                <a:cs typeface="Roboto"/>
              </a:rPr>
              <a:t>decomposition: </a:t>
            </a:r>
            <a:r>
              <a:rPr dirty="0" sz="1600" spc="-160" i="1">
                <a:solidFill>
                  <a:srgbClr val="585D60"/>
                </a:solidFill>
                <a:latin typeface="Lucida Sans"/>
                <a:cs typeface="Lucida Sans"/>
              </a:rPr>
              <a:t>R</a:t>
            </a:r>
            <a:r>
              <a:rPr dirty="0" baseline="15432" sz="2700" spc="-240">
                <a:solidFill>
                  <a:srgbClr val="585D60"/>
                </a:solidFill>
                <a:latin typeface="Arial"/>
                <a:cs typeface="Arial"/>
              </a:rPr>
              <a:t>^</a:t>
            </a:r>
            <a:r>
              <a:rPr dirty="0" baseline="-12077" sz="1725" spc="-240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2077" sz="1725" spc="22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=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 i="1">
                <a:solidFill>
                  <a:srgbClr val="585D60"/>
                </a:solidFill>
                <a:latin typeface="Lucida Sans"/>
                <a:cs typeface="Lucida Sans"/>
              </a:rPr>
              <a:t>y</a:t>
            </a:r>
            <a:r>
              <a:rPr dirty="0" baseline="-12077" sz="1725" spc="1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2077" sz="1725" spc="187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−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40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15432" sz="2700" spc="-209">
                <a:solidFill>
                  <a:srgbClr val="585D60"/>
                </a:solidFill>
                <a:latin typeface="Arial"/>
                <a:cs typeface="Arial"/>
              </a:rPr>
              <a:t>^</a:t>
            </a:r>
            <a:r>
              <a:rPr dirty="0" baseline="-12077" sz="1725" spc="-209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-12077" sz="1725" spc="-157" i="1">
                <a:solidFill>
                  <a:srgbClr val="585D60"/>
                </a:solidFill>
                <a:latin typeface="Lucida Sans"/>
                <a:cs typeface="Lucida Sans"/>
              </a:rPr>
              <a:t>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−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55" i="1">
                <a:solidFill>
                  <a:srgbClr val="585D60"/>
                </a:solidFill>
                <a:latin typeface="Lucida Sans"/>
                <a:cs typeface="Lucida Sans"/>
              </a:rPr>
              <a:t>S</a:t>
            </a:r>
            <a:r>
              <a:rPr dirty="0" baseline="15432" sz="2700" spc="-232">
                <a:solidFill>
                  <a:srgbClr val="585D60"/>
                </a:solidFill>
                <a:latin typeface="Arial"/>
                <a:cs typeface="Arial"/>
              </a:rPr>
              <a:t>^</a:t>
            </a:r>
            <a:r>
              <a:rPr dirty="0" baseline="-12077" sz="1725" spc="-232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endParaRPr baseline="-12077" sz="1725">
              <a:latin typeface="Lucida Sans"/>
              <a:cs typeface="Lucida Sans"/>
            </a:endParaRPr>
          </a:p>
          <a:p>
            <a:pPr marL="25400">
              <a:lnSpc>
                <a:spcPct val="100000"/>
              </a:lnSpc>
              <a:spcBef>
                <a:spcPts val="1290"/>
              </a:spcBef>
            </a:pPr>
            <a:r>
              <a:rPr dirty="0" baseline="1543" sz="2700" spc="-7">
                <a:solidFill>
                  <a:srgbClr val="585D60"/>
                </a:solidFill>
                <a:latin typeface="Roboto"/>
                <a:cs typeface="Roboto"/>
              </a:rPr>
              <a:t>Multiplicative </a:t>
            </a:r>
            <a:r>
              <a:rPr dirty="0" baseline="1543" sz="2700">
                <a:solidFill>
                  <a:srgbClr val="585D60"/>
                </a:solidFill>
                <a:latin typeface="Roboto"/>
                <a:cs typeface="Roboto"/>
              </a:rPr>
              <a:t>decomposition: </a:t>
            </a:r>
            <a:r>
              <a:rPr dirty="0" sz="1600" spc="-160" i="1">
                <a:solidFill>
                  <a:srgbClr val="585D60"/>
                </a:solidFill>
                <a:latin typeface="Lucida Sans"/>
                <a:cs typeface="Lucida Sans"/>
              </a:rPr>
              <a:t>R</a:t>
            </a:r>
            <a:r>
              <a:rPr dirty="0" baseline="15432" sz="2700" spc="-240">
                <a:solidFill>
                  <a:srgbClr val="585D60"/>
                </a:solidFill>
                <a:latin typeface="Arial"/>
                <a:cs typeface="Arial"/>
              </a:rPr>
              <a:t>^</a:t>
            </a:r>
            <a:r>
              <a:rPr dirty="0" baseline="-12077" sz="1725" spc="-240" i="1">
                <a:solidFill>
                  <a:srgbClr val="585D60"/>
                </a:solidFill>
                <a:latin typeface="Lucida Sans"/>
                <a:cs typeface="Lucida Sans"/>
              </a:rPr>
              <a:t>t </a:t>
            </a:r>
            <a:r>
              <a:rPr dirty="0" sz="1800" spc="345">
                <a:solidFill>
                  <a:srgbClr val="585D60"/>
                </a:solidFill>
                <a:latin typeface="Arial"/>
                <a:cs typeface="Arial"/>
              </a:rPr>
              <a:t>=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585D60"/>
                </a:solidFill>
                <a:latin typeface="Lucida Sans"/>
                <a:cs typeface="Lucida Sans"/>
              </a:rPr>
              <a:t>y</a:t>
            </a:r>
            <a:r>
              <a:rPr dirty="0" baseline="-12077" sz="172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/(</a:t>
            </a:r>
            <a:r>
              <a:rPr dirty="0" sz="1600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baseline="15432" sz="2700">
                <a:solidFill>
                  <a:srgbClr val="585D60"/>
                </a:solidFill>
                <a:latin typeface="Arial"/>
                <a:cs typeface="Arial"/>
              </a:rPr>
              <a:t>^</a:t>
            </a:r>
            <a:r>
              <a:rPr dirty="0" baseline="-12077" sz="172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600" i="1">
                <a:solidFill>
                  <a:srgbClr val="585D60"/>
                </a:solidFill>
                <a:latin typeface="Lucida Sans"/>
                <a:cs typeface="Lucida Sans"/>
              </a:rPr>
              <a:t>S</a:t>
            </a:r>
            <a:r>
              <a:rPr dirty="0" baseline="15432" sz="2700">
                <a:solidFill>
                  <a:srgbClr val="585D60"/>
                </a:solidFill>
                <a:latin typeface="Arial"/>
                <a:cs typeface="Arial"/>
              </a:rPr>
              <a:t>^</a:t>
            </a:r>
            <a:r>
              <a:rPr dirty="0" baseline="-12077" sz="1725" i="1">
                <a:solidFill>
                  <a:srgbClr val="585D60"/>
                </a:solidFill>
                <a:latin typeface="Lucida Sans"/>
                <a:cs typeface="Lucida Sans"/>
              </a:rPr>
              <a:t>t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82752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Classical Decomposition in </a:t>
            </a:r>
            <a:r>
              <a:rPr dirty="0" sz="3350" spc="15">
                <a:latin typeface="Roboto Condensed"/>
                <a:cs typeface="Roboto Condensed"/>
              </a:rPr>
              <a:t>Python</a:t>
            </a:r>
            <a:r>
              <a:rPr dirty="0" sz="3350" spc="-65">
                <a:latin typeface="Roboto Condensed"/>
                <a:cs typeface="Roboto Condensed"/>
              </a:rPr>
              <a:t> </a:t>
            </a:r>
            <a:r>
              <a:rPr dirty="0" sz="3350" spc="15">
                <a:latin typeface="Roboto Condensed"/>
                <a:cs typeface="Roboto Condensed"/>
              </a:rPr>
              <a:t>(Ref)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1438275"/>
            <a:ext cx="9734550" cy="0"/>
          </a:xfrm>
          <a:custGeom>
            <a:avLst/>
            <a:gdLst/>
            <a:ahLst/>
            <a:cxnLst/>
            <a:rect l="l" t="t" r="r" b="b"/>
            <a:pathLst>
              <a:path w="9734550" h="0">
                <a:moveTo>
                  <a:pt x="0" y="0"/>
                </a:moveTo>
                <a:lnTo>
                  <a:pt x="9734549" y="0"/>
                </a:lnTo>
              </a:path>
            </a:pathLst>
          </a:custGeom>
          <a:ln w="19049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219824"/>
            <a:ext cx="9734550" cy="0"/>
          </a:xfrm>
          <a:custGeom>
            <a:avLst/>
            <a:gdLst/>
            <a:ahLst/>
            <a:cxnLst/>
            <a:rect l="l" t="t" r="r" b="b"/>
            <a:pathLst>
              <a:path w="9734550" h="0">
                <a:moveTo>
                  <a:pt x="0" y="0"/>
                </a:moveTo>
                <a:lnTo>
                  <a:pt x="9734549" y="0"/>
                </a:lnTo>
              </a:path>
            </a:pathLst>
          </a:custGeom>
          <a:ln w="19049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639424" y="1428750"/>
            <a:ext cx="0" cy="4800600"/>
          </a:xfrm>
          <a:custGeom>
            <a:avLst/>
            <a:gdLst/>
            <a:ahLst/>
            <a:cxnLst/>
            <a:rect l="l" t="t" r="r" b="b"/>
            <a:pathLst>
              <a:path w="0" h="4800600">
                <a:moveTo>
                  <a:pt x="0" y="0"/>
                </a:moveTo>
                <a:lnTo>
                  <a:pt x="0" y="4800599"/>
                </a:lnTo>
              </a:path>
            </a:pathLst>
          </a:custGeom>
          <a:ln w="19049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23925" y="1428750"/>
            <a:ext cx="0" cy="4800600"/>
          </a:xfrm>
          <a:custGeom>
            <a:avLst/>
            <a:gdLst/>
            <a:ahLst/>
            <a:cxnLst/>
            <a:rect l="l" t="t" r="r" b="b"/>
            <a:pathLst>
              <a:path w="0" h="4800600">
                <a:moveTo>
                  <a:pt x="0" y="0"/>
                </a:moveTo>
                <a:lnTo>
                  <a:pt x="0" y="4800599"/>
                </a:lnTo>
              </a:path>
            </a:pathLst>
          </a:custGeom>
          <a:ln w="19049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85850" y="2581275"/>
            <a:ext cx="9248775" cy="1971675"/>
          </a:xfrm>
          <a:custGeom>
            <a:avLst/>
            <a:gdLst/>
            <a:ahLst/>
            <a:cxnLst/>
            <a:rect l="l" t="t" r="r" b="b"/>
            <a:pathLst>
              <a:path w="9248775" h="1971675">
                <a:moveTo>
                  <a:pt x="0" y="0"/>
                </a:moveTo>
                <a:lnTo>
                  <a:pt x="9248774" y="0"/>
                </a:lnTo>
                <a:lnTo>
                  <a:pt x="9248774" y="1971674"/>
                </a:lnTo>
                <a:lnTo>
                  <a:pt x="0" y="1971674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577238" y="4273550"/>
            <a:ext cx="699135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 spc="15">
                <a:solidFill>
                  <a:srgbClr val="4050B4"/>
                </a:solidFill>
                <a:latin typeface="Courier New"/>
                <a:cs typeface="Courier New"/>
                <a:hlinkClick r:id="rId2"/>
              </a:rPr>
              <a:t>[source]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73150" y="1909445"/>
            <a:ext cx="5360035" cy="3365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000" spc="-5" b="0">
                <a:latin typeface="Roboto Light"/>
                <a:cs typeface="Roboto Light"/>
              </a:rPr>
              <a:t>statsmodels.tsa.seasonal.seasonal_decompose</a:t>
            </a:r>
            <a:endParaRPr sz="2000">
              <a:latin typeface="Roboto Light"/>
              <a:cs typeface="Roboto Ligh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19300" y="3133724"/>
            <a:ext cx="857250" cy="190500"/>
          </a:xfrm>
          <a:custGeom>
            <a:avLst/>
            <a:gdLst/>
            <a:ahLst/>
            <a:cxnLst/>
            <a:rect l="l" t="t" r="r" b="b"/>
            <a:pathLst>
              <a:path w="857250" h="190500">
                <a:moveTo>
                  <a:pt x="0" y="0"/>
                </a:moveTo>
                <a:lnTo>
                  <a:pt x="857249" y="0"/>
                </a:lnTo>
                <a:lnTo>
                  <a:pt x="857249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933575" y="3362325"/>
            <a:ext cx="342900" cy="190500"/>
          </a:xfrm>
          <a:custGeom>
            <a:avLst/>
            <a:gdLst/>
            <a:ahLst/>
            <a:cxnLst/>
            <a:rect l="l" t="t" r="r" b="b"/>
            <a:pathLst>
              <a:path w="342900" h="190500">
                <a:moveTo>
                  <a:pt x="0" y="0"/>
                </a:moveTo>
                <a:lnTo>
                  <a:pt x="342899" y="0"/>
                </a:lnTo>
                <a:lnTo>
                  <a:pt x="342899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05025" y="3590925"/>
            <a:ext cx="342900" cy="190500"/>
          </a:xfrm>
          <a:custGeom>
            <a:avLst/>
            <a:gdLst/>
            <a:ahLst/>
            <a:cxnLst/>
            <a:rect l="l" t="t" r="r" b="b"/>
            <a:pathLst>
              <a:path w="342900" h="190500">
                <a:moveTo>
                  <a:pt x="0" y="0"/>
                </a:moveTo>
                <a:lnTo>
                  <a:pt x="342899" y="0"/>
                </a:lnTo>
                <a:lnTo>
                  <a:pt x="342899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362200" y="3819525"/>
            <a:ext cx="342900" cy="190500"/>
          </a:xfrm>
          <a:custGeom>
            <a:avLst/>
            <a:gdLst/>
            <a:ahLst/>
            <a:cxnLst/>
            <a:rect l="l" t="t" r="r" b="b"/>
            <a:pathLst>
              <a:path w="342900" h="190500">
                <a:moveTo>
                  <a:pt x="0" y="0"/>
                </a:moveTo>
                <a:lnTo>
                  <a:pt x="342899" y="0"/>
                </a:lnTo>
                <a:lnTo>
                  <a:pt x="342899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90862" y="4048125"/>
            <a:ext cx="0" cy="190500"/>
          </a:xfrm>
          <a:custGeom>
            <a:avLst/>
            <a:gdLst/>
            <a:ahLst/>
            <a:cxnLst/>
            <a:rect l="l" t="t" r="r" b="b"/>
            <a:pathLst>
              <a:path w="0" h="190500">
                <a:moveTo>
                  <a:pt x="0" y="0"/>
                </a:moveTo>
                <a:lnTo>
                  <a:pt x="0" y="190499"/>
                </a:lnTo>
              </a:path>
            </a:pathLst>
          </a:custGeom>
          <a:ln w="85724">
            <a:solidFill>
              <a:srgbClr val="F5F5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57287" y="2616200"/>
            <a:ext cx="3773170" cy="1625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42900" indent="-343535">
              <a:lnSpc>
                <a:spcPct val="136400"/>
              </a:lnSpc>
              <a:spcBef>
                <a:spcPts val="95"/>
              </a:spcBef>
            </a:pPr>
            <a:r>
              <a:rPr dirty="0" sz="1100" spc="15">
                <a:solidFill>
                  <a:srgbClr val="36454E"/>
                </a:solidFill>
                <a:latin typeface="Courier New"/>
                <a:cs typeface="Courier New"/>
              </a:rPr>
              <a:t>statsmodels.tsa.seasonal.</a:t>
            </a:r>
            <a:r>
              <a:rPr dirty="0" sz="1100" spc="15" b="1">
                <a:solidFill>
                  <a:srgbClr val="36454E"/>
                </a:solidFill>
                <a:latin typeface="Courier New"/>
                <a:cs typeface="Courier New"/>
              </a:rPr>
              <a:t>seasonal_decompose</a:t>
            </a:r>
            <a:r>
              <a:rPr dirty="0" sz="1100" spc="15">
                <a:latin typeface="Courier New"/>
                <a:cs typeface="Courier New"/>
              </a:rPr>
              <a:t>(  </a:t>
            </a:r>
            <a:r>
              <a:rPr dirty="0" sz="1100" spc="15">
                <a:solidFill>
                  <a:srgbClr val="4050B4"/>
                </a:solidFill>
                <a:latin typeface="Courier New"/>
                <a:cs typeface="Courier New"/>
              </a:rPr>
              <a:t>x</a:t>
            </a:r>
            <a:r>
              <a:rPr dirty="0" sz="1100" spc="15">
                <a:latin typeface="Courier New"/>
                <a:cs typeface="Courier New"/>
              </a:rPr>
              <a:t>,</a:t>
            </a:r>
            <a:endParaRPr sz="1100">
              <a:latin typeface="Courier New"/>
              <a:cs typeface="Courier New"/>
            </a:endParaRPr>
          </a:p>
          <a:p>
            <a:pPr marL="342900" marR="1792605">
              <a:lnSpc>
                <a:spcPct val="136400"/>
              </a:lnSpc>
            </a:pPr>
            <a:r>
              <a:rPr dirty="0" sz="1100" spc="15">
                <a:solidFill>
                  <a:srgbClr val="4050B4"/>
                </a:solidFill>
                <a:latin typeface="Courier New"/>
                <a:cs typeface="Courier New"/>
              </a:rPr>
              <a:t>model</a:t>
            </a:r>
            <a:r>
              <a:rPr dirty="0" sz="1100" spc="15">
                <a:latin typeface="Courier New"/>
                <a:cs typeface="Courier New"/>
              </a:rPr>
              <a:t>=</a:t>
            </a:r>
            <a:r>
              <a:rPr dirty="0" sz="1100" spc="15">
                <a:solidFill>
                  <a:srgbClr val="1B7D4D"/>
                </a:solidFill>
                <a:latin typeface="Courier New"/>
                <a:cs typeface="Courier New"/>
              </a:rPr>
              <a:t>'additive'</a:t>
            </a:r>
            <a:r>
              <a:rPr dirty="0" sz="1100" spc="15">
                <a:latin typeface="Courier New"/>
                <a:cs typeface="Courier New"/>
              </a:rPr>
              <a:t>,  </a:t>
            </a:r>
            <a:r>
              <a:rPr dirty="0" sz="1100" spc="15">
                <a:solidFill>
                  <a:srgbClr val="4050B4"/>
                </a:solidFill>
                <a:latin typeface="Courier New"/>
                <a:cs typeface="Courier New"/>
              </a:rPr>
              <a:t>filt</a:t>
            </a:r>
            <a:r>
              <a:rPr dirty="0" sz="1100" spc="15">
                <a:latin typeface="Courier New"/>
                <a:cs typeface="Courier New"/>
              </a:rPr>
              <a:t>=</a:t>
            </a:r>
            <a:r>
              <a:rPr dirty="0" sz="1100" spc="15">
                <a:solidFill>
                  <a:srgbClr val="6E58D9"/>
                </a:solidFill>
                <a:latin typeface="Courier New"/>
                <a:cs typeface="Courier New"/>
              </a:rPr>
              <a:t>None</a:t>
            </a:r>
            <a:r>
              <a:rPr dirty="0" sz="1100" spc="15">
                <a:latin typeface="Courier New"/>
                <a:cs typeface="Courier New"/>
              </a:rPr>
              <a:t>,  </a:t>
            </a:r>
            <a:r>
              <a:rPr dirty="0" sz="1100" spc="15">
                <a:solidFill>
                  <a:srgbClr val="4050B4"/>
                </a:solidFill>
                <a:latin typeface="Courier New"/>
                <a:cs typeface="Courier New"/>
              </a:rPr>
              <a:t>period</a:t>
            </a:r>
            <a:r>
              <a:rPr dirty="0" sz="1100" spc="15">
                <a:latin typeface="Courier New"/>
                <a:cs typeface="Courier New"/>
              </a:rPr>
              <a:t>=</a:t>
            </a:r>
            <a:r>
              <a:rPr dirty="0" sz="1100" spc="15">
                <a:solidFill>
                  <a:srgbClr val="6E58D9"/>
                </a:solidFill>
                <a:latin typeface="Courier New"/>
                <a:cs typeface="Courier New"/>
              </a:rPr>
              <a:t>None</a:t>
            </a:r>
            <a:r>
              <a:rPr dirty="0" sz="1100" spc="15">
                <a:latin typeface="Courier New"/>
                <a:cs typeface="Courier New"/>
              </a:rPr>
              <a:t>,  </a:t>
            </a:r>
            <a:r>
              <a:rPr dirty="0" sz="1100" spc="15">
                <a:solidFill>
                  <a:srgbClr val="4050B4"/>
                </a:solidFill>
                <a:latin typeface="Courier New"/>
                <a:cs typeface="Courier New"/>
              </a:rPr>
              <a:t>two_sided</a:t>
            </a:r>
            <a:r>
              <a:rPr dirty="0" sz="1100" spc="15">
                <a:latin typeface="Courier New"/>
                <a:cs typeface="Courier New"/>
              </a:rPr>
              <a:t>=</a:t>
            </a:r>
            <a:r>
              <a:rPr dirty="0" sz="1100" spc="15">
                <a:solidFill>
                  <a:srgbClr val="6E58D9"/>
                </a:solidFill>
                <a:latin typeface="Courier New"/>
                <a:cs typeface="Courier New"/>
              </a:rPr>
              <a:t>True</a:t>
            </a:r>
            <a:r>
              <a:rPr dirty="0" sz="1100" spc="15">
                <a:latin typeface="Courier New"/>
                <a:cs typeface="Courier New"/>
              </a:rPr>
              <a:t>,  </a:t>
            </a:r>
            <a:r>
              <a:rPr dirty="0" sz="1100" spc="15">
                <a:solidFill>
                  <a:srgbClr val="4050B4"/>
                </a:solidFill>
                <a:latin typeface="Courier New"/>
                <a:cs typeface="Courier New"/>
              </a:rPr>
              <a:t>extrapolate_trend</a:t>
            </a:r>
            <a:r>
              <a:rPr dirty="0" sz="1100" spc="15">
                <a:latin typeface="Courier New"/>
                <a:cs typeface="Courier New"/>
              </a:rPr>
              <a:t>=</a:t>
            </a:r>
            <a:r>
              <a:rPr dirty="0" sz="1100" spc="15">
                <a:solidFill>
                  <a:srgbClr val="D52929"/>
                </a:solidFill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57287" y="4273550"/>
            <a:ext cx="8636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 spc="15"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695699" y="6124574"/>
            <a:ext cx="590550" cy="85725"/>
          </a:xfrm>
          <a:custGeom>
            <a:avLst/>
            <a:gdLst/>
            <a:ahLst/>
            <a:cxnLst/>
            <a:rect l="l" t="t" r="r" b="b"/>
            <a:pathLst>
              <a:path w="590550" h="85725">
                <a:moveTo>
                  <a:pt x="590550" y="85725"/>
                </a:moveTo>
                <a:lnTo>
                  <a:pt x="0" y="85725"/>
                </a:lnTo>
                <a:lnTo>
                  <a:pt x="0" y="16523"/>
                </a:lnTo>
                <a:lnTo>
                  <a:pt x="16523" y="0"/>
                </a:lnTo>
                <a:lnTo>
                  <a:pt x="574026" y="0"/>
                </a:lnTo>
                <a:lnTo>
                  <a:pt x="590550" y="85725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316037" y="4686934"/>
            <a:ext cx="5391785" cy="15906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10">
                <a:latin typeface="Roboto"/>
                <a:cs typeface="Roboto"/>
              </a:rPr>
              <a:t>Seasonal decomposition using </a:t>
            </a:r>
            <a:r>
              <a:rPr dirty="0" sz="1000" spc="5">
                <a:latin typeface="Roboto"/>
                <a:cs typeface="Roboto"/>
              </a:rPr>
              <a:t>moving</a:t>
            </a:r>
            <a:r>
              <a:rPr dirty="0" sz="1000" spc="-15">
                <a:latin typeface="Roboto"/>
                <a:cs typeface="Roboto"/>
              </a:rPr>
              <a:t> </a:t>
            </a:r>
            <a:r>
              <a:rPr dirty="0" sz="1000" spc="5">
                <a:latin typeface="Roboto"/>
                <a:cs typeface="Roboto"/>
              </a:rPr>
              <a:t>averages.</a:t>
            </a:r>
            <a:endParaRPr sz="10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5" b="1">
                <a:latin typeface="Roboto"/>
                <a:cs typeface="Roboto"/>
              </a:rPr>
              <a:t>Parameters</a:t>
            </a:r>
            <a:endParaRPr sz="10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Roboto"/>
              <a:cs typeface="Roboto"/>
            </a:endParaRPr>
          </a:p>
          <a:p>
            <a:pPr marL="255270">
              <a:lnSpc>
                <a:spcPct val="100000"/>
              </a:lnSpc>
              <a:spcBef>
                <a:spcPts val="5"/>
              </a:spcBef>
            </a:pPr>
            <a:r>
              <a:rPr dirty="0" sz="1000" spc="10" b="1">
                <a:latin typeface="Roboto"/>
                <a:cs typeface="Roboto"/>
              </a:rPr>
              <a:t>x </a:t>
            </a:r>
            <a:r>
              <a:rPr dirty="0" sz="1000">
                <a:latin typeface="Roboto"/>
                <a:cs typeface="Roboto"/>
              </a:rPr>
              <a:t>:</a:t>
            </a:r>
            <a:r>
              <a:rPr dirty="0" sz="1000" spc="245">
                <a:latin typeface="Roboto"/>
                <a:cs typeface="Roboto"/>
              </a:rPr>
              <a:t> </a:t>
            </a:r>
            <a:r>
              <a:rPr dirty="0" sz="1000">
                <a:solidFill>
                  <a:srgbClr val="4050B4"/>
                </a:solidFill>
                <a:latin typeface="Roboto"/>
                <a:cs typeface="Roboto"/>
                <a:hlinkClick r:id="rId3"/>
              </a:rPr>
              <a:t>array_like</a:t>
            </a:r>
            <a:endParaRPr sz="10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5"/>
              </a:spcBef>
            </a:pPr>
            <a:r>
              <a:rPr dirty="0" sz="1000" spc="10">
                <a:latin typeface="Roboto"/>
                <a:cs typeface="Roboto"/>
              </a:rPr>
              <a:t>Time </a:t>
            </a:r>
            <a:r>
              <a:rPr dirty="0" sz="1000" spc="5">
                <a:latin typeface="Roboto"/>
                <a:cs typeface="Roboto"/>
              </a:rPr>
              <a:t>series. If 2d, individual series are in </a:t>
            </a:r>
            <a:r>
              <a:rPr dirty="0" sz="1000" spc="10">
                <a:latin typeface="Roboto"/>
                <a:cs typeface="Roboto"/>
              </a:rPr>
              <a:t>columns. x must </a:t>
            </a:r>
            <a:r>
              <a:rPr dirty="0" sz="1000" spc="5">
                <a:latin typeface="Roboto"/>
                <a:cs typeface="Roboto"/>
              </a:rPr>
              <a:t>contain </a:t>
            </a:r>
            <a:r>
              <a:rPr dirty="0" sz="1000" spc="10">
                <a:latin typeface="Roboto"/>
                <a:cs typeface="Roboto"/>
              </a:rPr>
              <a:t>2 complete</a:t>
            </a:r>
            <a:r>
              <a:rPr dirty="0" sz="1000" spc="70">
                <a:latin typeface="Roboto"/>
                <a:cs typeface="Roboto"/>
              </a:rPr>
              <a:t> </a:t>
            </a:r>
            <a:r>
              <a:rPr dirty="0" sz="1000" spc="5">
                <a:latin typeface="Roboto"/>
                <a:cs typeface="Roboto"/>
              </a:rPr>
              <a:t>cycles.</a:t>
            </a:r>
            <a:endParaRPr sz="10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00">
              <a:latin typeface="Roboto"/>
              <a:cs typeface="Roboto"/>
            </a:endParaRPr>
          </a:p>
          <a:p>
            <a:pPr marL="255270">
              <a:lnSpc>
                <a:spcPct val="100000"/>
              </a:lnSpc>
              <a:spcBef>
                <a:spcPts val="5"/>
              </a:spcBef>
            </a:pPr>
            <a:r>
              <a:rPr dirty="0" sz="1000" spc="10" b="1">
                <a:latin typeface="Roboto"/>
                <a:cs typeface="Roboto"/>
              </a:rPr>
              <a:t>model </a:t>
            </a:r>
            <a:r>
              <a:rPr dirty="0" sz="1000">
                <a:latin typeface="Roboto"/>
                <a:cs typeface="Roboto"/>
              </a:rPr>
              <a:t>: {“additive” </a:t>
            </a:r>
            <a:r>
              <a:rPr dirty="0" sz="1000" spc="5">
                <a:latin typeface="Roboto"/>
                <a:cs typeface="Roboto"/>
              </a:rPr>
              <a:t>“multiplicative”}</a:t>
            </a:r>
            <a:r>
              <a:rPr dirty="0" sz="1000" spc="160">
                <a:latin typeface="Roboto"/>
                <a:cs typeface="Roboto"/>
              </a:rPr>
              <a:t> </a:t>
            </a:r>
            <a:r>
              <a:rPr dirty="0" sz="850" spc="10">
                <a:solidFill>
                  <a:srgbClr val="36454E"/>
                </a:solidFill>
                <a:latin typeface="Courier New"/>
                <a:cs typeface="Courier New"/>
              </a:rPr>
              <a:t>optional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25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91019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Classical Decomposition in </a:t>
            </a:r>
            <a:r>
              <a:rPr dirty="0" sz="3350" spc="15">
                <a:latin typeface="Roboto Condensed"/>
                <a:cs typeface="Roboto Condensed"/>
              </a:rPr>
              <a:t>Python</a:t>
            </a:r>
            <a:r>
              <a:rPr dirty="0" sz="3350" spc="-5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(Code-Add)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6181724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35037" y="6197599"/>
            <a:ext cx="111125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</a:t>
            </a:r>
            <a:endParaRPr sz="650">
              <a:latin typeface="Segoe Fluent Icons"/>
              <a:cs typeface="Segoe Fluent Icon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439399" y="6181724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479086" y="6197599"/>
            <a:ext cx="111125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</a:t>
            </a:r>
            <a:endParaRPr sz="650">
              <a:latin typeface="Segoe Fluent Icons"/>
              <a:cs typeface="Segoe Fluent Icon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85850" y="6181724"/>
            <a:ext cx="9353550" cy="142875"/>
          </a:xfrm>
          <a:custGeom>
            <a:avLst/>
            <a:gdLst/>
            <a:ahLst/>
            <a:cxnLst/>
            <a:rect l="l" t="t" r="r" b="b"/>
            <a:pathLst>
              <a:path w="9353550" h="142875">
                <a:moveTo>
                  <a:pt x="0" y="0"/>
                </a:moveTo>
                <a:lnTo>
                  <a:pt x="9353549" y="0"/>
                </a:lnTo>
                <a:lnTo>
                  <a:pt x="93535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85849" y="6210299"/>
            <a:ext cx="1581150" cy="85725"/>
          </a:xfrm>
          <a:custGeom>
            <a:avLst/>
            <a:gdLst/>
            <a:ahLst/>
            <a:cxnLst/>
            <a:rect l="l" t="t" r="r" b="b"/>
            <a:pathLst>
              <a:path w="1581150" h="85725">
                <a:moveTo>
                  <a:pt x="1543971" y="85724"/>
                </a:moveTo>
                <a:lnTo>
                  <a:pt x="37178" y="85724"/>
                </a:lnTo>
                <a:lnTo>
                  <a:pt x="31710" y="84636"/>
                </a:lnTo>
                <a:lnTo>
                  <a:pt x="1087" y="54013"/>
                </a:lnTo>
                <a:lnTo>
                  <a:pt x="0" y="48546"/>
                </a:lnTo>
                <a:lnTo>
                  <a:pt x="0" y="37178"/>
                </a:lnTo>
                <a:lnTo>
                  <a:pt x="21208" y="5437"/>
                </a:lnTo>
                <a:lnTo>
                  <a:pt x="37178" y="0"/>
                </a:lnTo>
                <a:lnTo>
                  <a:pt x="1543971" y="0"/>
                </a:lnTo>
                <a:lnTo>
                  <a:pt x="1575712" y="21207"/>
                </a:lnTo>
                <a:lnTo>
                  <a:pt x="1581149" y="37178"/>
                </a:lnTo>
                <a:lnTo>
                  <a:pt x="1581149" y="48546"/>
                </a:lnTo>
                <a:lnTo>
                  <a:pt x="1559941" y="80286"/>
                </a:lnTo>
                <a:lnTo>
                  <a:pt x="1543971" y="8572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14400" y="1428750"/>
            <a:ext cx="9696450" cy="4752975"/>
          </a:xfrm>
          <a:custGeom>
            <a:avLst/>
            <a:gdLst/>
            <a:ahLst/>
            <a:cxnLst/>
            <a:rect l="l" t="t" r="r" b="b"/>
            <a:pathLst>
              <a:path w="9696450" h="4752975">
                <a:moveTo>
                  <a:pt x="0" y="0"/>
                </a:moveTo>
                <a:lnTo>
                  <a:pt x="9696449" y="0"/>
                </a:lnTo>
                <a:lnTo>
                  <a:pt x="9696449" y="4752974"/>
                </a:lnTo>
                <a:lnTo>
                  <a:pt x="0" y="4752974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12031" y="1507394"/>
            <a:ext cx="9566275" cy="45853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from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statsmodels.tsa.seasonal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seasonal_decompose</a:t>
            </a:r>
            <a:endParaRPr sz="1200">
              <a:latin typeface="Courier New"/>
              <a:cs typeface="Courier New"/>
            </a:endParaRPr>
          </a:p>
          <a:p>
            <a:pPr marL="187325" indent="-187960">
              <a:lnSpc>
                <a:spcPts val="1430"/>
              </a:lnSpc>
              <a:spcBef>
                <a:spcPts val="1240"/>
              </a:spcBef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retail_empl = (  pd.read_csv(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"https://fred.stlouisfed.org/graph/fredgraph.csv?bgcolor=%23ebf3fb&amp;chart_type=line&amp;drp=0</a:t>
            </a:r>
            <a:endParaRPr sz="1200">
              <a:latin typeface="Courier New"/>
              <a:cs typeface="Courier New"/>
            </a:endParaRPr>
          </a:p>
          <a:p>
            <a:pPr marL="187325">
              <a:lnSpc>
                <a:spcPts val="136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.rename(columns = {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"observation_date"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: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"date"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"CEU4200000001"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:</a:t>
            </a:r>
            <a:r>
              <a:rPr dirty="0" sz="1200" spc="4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"CEU4200000001"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})</a:t>
            </a:r>
            <a:endParaRPr sz="1200">
              <a:latin typeface="Courier New"/>
              <a:cs typeface="Courier New"/>
            </a:endParaRPr>
          </a:p>
          <a:p>
            <a:pPr marL="187325">
              <a:lnSpc>
                <a:spcPts val="139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.assign(</a:t>
            </a:r>
            <a:endParaRPr sz="1200">
              <a:latin typeface="Courier New"/>
              <a:cs typeface="Courier New"/>
            </a:endParaRPr>
          </a:p>
          <a:p>
            <a:pPr marL="374650">
              <a:lnSpc>
                <a:spcPts val="139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date =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lambda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x: pd.to_datetime(x[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"date"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]),</a:t>
            </a:r>
            <a:endParaRPr sz="1200">
              <a:latin typeface="Courier New"/>
              <a:cs typeface="Courier New"/>
            </a:endParaRPr>
          </a:p>
          <a:p>
            <a:pPr marL="562610">
              <a:lnSpc>
                <a:spcPts val="142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187325">
              <a:lnSpc>
                <a:spcPts val="143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187325" indent="-187960">
              <a:lnSpc>
                <a:spcPts val="1450"/>
              </a:lnSpc>
              <a:spcBef>
                <a:spcPts val="1210"/>
              </a:spcBef>
              <a:buChar char="❖"/>
              <a:tabLst>
                <a:tab pos="187960" algn="l"/>
              </a:tabLst>
            </a:pP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Set the date as index and set the frequency of the</a:t>
            </a:r>
            <a:r>
              <a:rPr dirty="0" sz="1250" spc="-1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data</a:t>
            </a:r>
            <a:endParaRPr sz="1250">
              <a:latin typeface="Courier New"/>
              <a:cs typeface="Courier New"/>
            </a:endParaRPr>
          </a:p>
          <a:p>
            <a:pPr marR="5525135">
              <a:lnSpc>
                <a:spcPts val="1430"/>
              </a:lnSpc>
              <a:spcBef>
                <a:spcPts val="5"/>
              </a:spcBef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retail_empl = retail_empl.set_index(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"date"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  retail_empl =</a:t>
            </a:r>
            <a:r>
              <a:rPr dirty="0" sz="1200" spc="2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retail_empl.asfreq(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"MS"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187325" indent="-187960">
              <a:lnSpc>
                <a:spcPts val="1450"/>
              </a:lnSpc>
              <a:spcBef>
                <a:spcPts val="1160"/>
              </a:spcBef>
              <a:buChar char="❖"/>
              <a:tabLst>
                <a:tab pos="187960" algn="l"/>
              </a:tabLst>
            </a:pP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Decompose the time</a:t>
            </a:r>
            <a:r>
              <a:rPr dirty="0" sz="1250" spc="-2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series</a:t>
            </a:r>
            <a:endParaRPr sz="1250">
              <a:latin typeface="Courier New"/>
              <a:cs typeface="Courier New"/>
            </a:endParaRPr>
          </a:p>
          <a:p>
            <a:pPr>
              <a:lnSpc>
                <a:spcPts val="139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res = seasonal_decompose( retail_empl[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"CEU4200000001"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], model =</a:t>
            </a:r>
            <a:r>
              <a:rPr dirty="0" sz="1200" spc="3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"additive"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187325" indent="-187960">
              <a:lnSpc>
                <a:spcPts val="1490"/>
              </a:lnSpc>
              <a:spcBef>
                <a:spcPts val="1210"/>
              </a:spcBef>
              <a:buChar char="❖"/>
              <a:tabLst>
                <a:tab pos="187960" algn="l"/>
              </a:tabLst>
            </a:pP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Extract the trend, seasonal, and residual</a:t>
            </a:r>
            <a:r>
              <a:rPr dirty="0" sz="1250" spc="-1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components</a:t>
            </a:r>
            <a:endParaRPr sz="1250">
              <a:latin typeface="Courier New"/>
              <a:cs typeface="Courier New"/>
            </a:endParaRPr>
          </a:p>
          <a:p>
            <a:pPr>
              <a:lnSpc>
                <a:spcPts val="138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res_df =</a:t>
            </a:r>
            <a:r>
              <a:rPr dirty="0" sz="1200" spc="1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pd.DataFrame({</a:t>
            </a:r>
            <a:endParaRPr sz="1200">
              <a:latin typeface="Courier New"/>
              <a:cs typeface="Courier New"/>
            </a:endParaRPr>
          </a:p>
          <a:p>
            <a:pPr marL="187325">
              <a:lnSpc>
                <a:spcPts val="1390"/>
              </a:lnSpc>
            </a:pP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"observed"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: res.observed,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"trend"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: res.trend,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"seasonal"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: res.seasonal,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"residual"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:</a:t>
            </a:r>
            <a:r>
              <a:rPr dirty="0" sz="1200" spc="10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res.resid</a:t>
            </a:r>
            <a:endParaRPr sz="1200">
              <a:latin typeface="Courier New"/>
              <a:cs typeface="Courier New"/>
            </a:endParaRPr>
          </a:p>
          <a:p>
            <a:pPr marL="187325">
              <a:lnSpc>
                <a:spcPts val="143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})</a:t>
            </a:r>
            <a:endParaRPr sz="1200">
              <a:latin typeface="Courier New"/>
              <a:cs typeface="Courier New"/>
            </a:endParaRPr>
          </a:p>
          <a:p>
            <a:pPr marR="6463030">
              <a:lnSpc>
                <a:spcPct val="97000"/>
              </a:lnSpc>
              <a:spcBef>
                <a:spcPts val="1255"/>
              </a:spcBef>
              <a:buChar char="❖"/>
              <a:tabLst>
                <a:tab pos="187960" algn="l"/>
              </a:tabLst>
            </a:pP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Plot the decomposed time </a:t>
            </a:r>
            <a:r>
              <a:rPr dirty="0" sz="1250" spc="-105" i="1">
                <a:solidFill>
                  <a:srgbClr val="999987"/>
                </a:solidFill>
                <a:latin typeface="Courier New"/>
                <a:cs typeface="Courier New"/>
              </a:rPr>
              <a:t>series </a:t>
            </a:r>
            <a:r>
              <a:rPr dirty="0" sz="1250" spc="-105" i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fig = res.plot()  fig.set_size_inches(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10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4.75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  fig.tight_layout()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26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40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17562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Classical Decomposition in </a:t>
            </a:r>
            <a:r>
              <a:rPr dirty="0" sz="3350" spc="15">
                <a:latin typeface="Roboto Condensed"/>
                <a:cs typeface="Roboto Condensed"/>
              </a:rPr>
              <a:t>Python</a:t>
            </a:r>
            <a:r>
              <a:rPr dirty="0" sz="3350" spc="-5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(Output-Add)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9543" y="1587272"/>
            <a:ext cx="9405556" cy="42801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02456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0340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39374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6077108"/>
            <a:ext cx="9314815" cy="34925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Comment: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can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have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more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control over the plot by plotting the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data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frame </a:t>
            </a:r>
            <a:r>
              <a:rPr dirty="0" sz="700">
                <a:solidFill>
                  <a:srgbClr val="C2132D"/>
                </a:solidFill>
                <a:latin typeface="Courier New"/>
                <a:cs typeface="Courier New"/>
              </a:rPr>
              <a:t>res_df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directly.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See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this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example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from </a:t>
            </a:r>
            <a:r>
              <a:rPr dirty="0" sz="850" spc="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StackOverflow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while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noting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that their </a:t>
            </a:r>
            <a:r>
              <a:rPr dirty="0" sz="700">
                <a:solidFill>
                  <a:srgbClr val="C2132D"/>
                </a:solidFill>
                <a:latin typeface="Courier New"/>
                <a:cs typeface="Courier New"/>
              </a:rPr>
              <a:t>decomposition</a:t>
            </a:r>
            <a:r>
              <a:rPr dirty="0" sz="700" spc="-229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is equivalent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our</a:t>
            </a:r>
            <a:endParaRPr sz="8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700">
                <a:solidFill>
                  <a:srgbClr val="C2132D"/>
                </a:solidFill>
                <a:latin typeface="Courier New"/>
                <a:cs typeface="Courier New"/>
              </a:rPr>
              <a:t>res</a:t>
            </a:r>
            <a:r>
              <a:rPr dirty="0" sz="700" spc="-204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object.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 You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can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also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convert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data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into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long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format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using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700">
                <a:solidFill>
                  <a:srgbClr val="C2132D"/>
                </a:solidFill>
                <a:latin typeface="Courier New"/>
                <a:cs typeface="Courier New"/>
              </a:rPr>
              <a:t>pd.melt</a:t>
            </a:r>
            <a:r>
              <a:rPr dirty="0" sz="850">
                <a:solidFill>
                  <a:srgbClr val="585D60"/>
                </a:solidFill>
                <a:latin typeface="Roboto"/>
                <a:cs typeface="Roboto"/>
              </a:rPr>
              <a:t>,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then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700">
                <a:solidFill>
                  <a:srgbClr val="C2132D"/>
                </a:solidFill>
                <a:latin typeface="Courier New"/>
                <a:cs typeface="Courier New"/>
              </a:rPr>
              <a:t>.reset_index()</a:t>
            </a:r>
            <a:r>
              <a:rPr dirty="0" sz="700" spc="-20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convert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date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 into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column,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and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 plot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 it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using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700">
                <a:solidFill>
                  <a:srgbClr val="C2132D"/>
                </a:solidFill>
                <a:latin typeface="Courier New"/>
                <a:cs typeface="Courier New"/>
              </a:rPr>
              <a:t>sns.relplot</a:t>
            </a:r>
            <a:r>
              <a:rPr dirty="0" sz="85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85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27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40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99401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Classical Decomposition in </a:t>
            </a:r>
            <a:r>
              <a:rPr dirty="0" sz="3350" spc="15">
                <a:latin typeface="Roboto Condensed"/>
                <a:cs typeface="Roboto Condensed"/>
              </a:rPr>
              <a:t>Python</a:t>
            </a:r>
            <a:r>
              <a:rPr dirty="0" sz="3350" spc="-5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(Code-Mult)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6181724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35037" y="6197599"/>
            <a:ext cx="111125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</a:t>
            </a:r>
            <a:endParaRPr sz="650">
              <a:latin typeface="Segoe Fluent Icons"/>
              <a:cs typeface="Segoe Fluent Icon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439399" y="6181724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479086" y="6197599"/>
            <a:ext cx="111125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</a:t>
            </a:r>
            <a:endParaRPr sz="650">
              <a:latin typeface="Segoe Fluent Icons"/>
              <a:cs typeface="Segoe Fluent Icon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85850" y="6181724"/>
            <a:ext cx="9353550" cy="142875"/>
          </a:xfrm>
          <a:custGeom>
            <a:avLst/>
            <a:gdLst/>
            <a:ahLst/>
            <a:cxnLst/>
            <a:rect l="l" t="t" r="r" b="b"/>
            <a:pathLst>
              <a:path w="9353550" h="142875">
                <a:moveTo>
                  <a:pt x="0" y="0"/>
                </a:moveTo>
                <a:lnTo>
                  <a:pt x="9353549" y="0"/>
                </a:lnTo>
                <a:lnTo>
                  <a:pt x="93535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85849" y="6210299"/>
            <a:ext cx="1581150" cy="85725"/>
          </a:xfrm>
          <a:custGeom>
            <a:avLst/>
            <a:gdLst/>
            <a:ahLst/>
            <a:cxnLst/>
            <a:rect l="l" t="t" r="r" b="b"/>
            <a:pathLst>
              <a:path w="1581150" h="85725">
                <a:moveTo>
                  <a:pt x="1543971" y="85724"/>
                </a:moveTo>
                <a:lnTo>
                  <a:pt x="37178" y="85724"/>
                </a:lnTo>
                <a:lnTo>
                  <a:pt x="31710" y="84636"/>
                </a:lnTo>
                <a:lnTo>
                  <a:pt x="1087" y="54013"/>
                </a:lnTo>
                <a:lnTo>
                  <a:pt x="0" y="48546"/>
                </a:lnTo>
                <a:lnTo>
                  <a:pt x="0" y="37178"/>
                </a:lnTo>
                <a:lnTo>
                  <a:pt x="21208" y="5437"/>
                </a:lnTo>
                <a:lnTo>
                  <a:pt x="37178" y="0"/>
                </a:lnTo>
                <a:lnTo>
                  <a:pt x="1543971" y="0"/>
                </a:lnTo>
                <a:lnTo>
                  <a:pt x="1575712" y="21207"/>
                </a:lnTo>
                <a:lnTo>
                  <a:pt x="1581149" y="37178"/>
                </a:lnTo>
                <a:lnTo>
                  <a:pt x="1581149" y="48546"/>
                </a:lnTo>
                <a:lnTo>
                  <a:pt x="1559941" y="80286"/>
                </a:lnTo>
                <a:lnTo>
                  <a:pt x="1543971" y="8572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14400" y="1428750"/>
            <a:ext cx="9696450" cy="4752975"/>
          </a:xfrm>
          <a:custGeom>
            <a:avLst/>
            <a:gdLst/>
            <a:ahLst/>
            <a:cxnLst/>
            <a:rect l="l" t="t" r="r" b="b"/>
            <a:pathLst>
              <a:path w="9696450" h="4752975">
                <a:moveTo>
                  <a:pt x="0" y="0"/>
                </a:moveTo>
                <a:lnTo>
                  <a:pt x="9696449" y="0"/>
                </a:lnTo>
                <a:lnTo>
                  <a:pt x="9696449" y="4752974"/>
                </a:lnTo>
                <a:lnTo>
                  <a:pt x="0" y="4752974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12031" y="1507394"/>
            <a:ext cx="9566275" cy="45853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from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statsmodels.tsa.seasonal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seasonal_decompose</a:t>
            </a:r>
            <a:endParaRPr sz="1200">
              <a:latin typeface="Courier New"/>
              <a:cs typeface="Courier New"/>
            </a:endParaRPr>
          </a:p>
          <a:p>
            <a:pPr marL="187325" indent="-187960">
              <a:lnSpc>
                <a:spcPts val="1430"/>
              </a:lnSpc>
              <a:spcBef>
                <a:spcPts val="1240"/>
              </a:spcBef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retail_empl = (  pd.read_csv(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"https://fred.stlouisfed.org/graph/fredgraph.csv?bgcolor=%23ebf3fb&amp;chart_type=line&amp;drp=0</a:t>
            </a:r>
            <a:endParaRPr sz="1200">
              <a:latin typeface="Courier New"/>
              <a:cs typeface="Courier New"/>
            </a:endParaRPr>
          </a:p>
          <a:p>
            <a:pPr marL="187325">
              <a:lnSpc>
                <a:spcPts val="136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.rename(columns = {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"observation_date"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: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"date"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"CEU4200000001"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:</a:t>
            </a:r>
            <a:r>
              <a:rPr dirty="0" sz="1200" spc="4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"CEU4200000001"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})</a:t>
            </a:r>
            <a:endParaRPr sz="1200">
              <a:latin typeface="Courier New"/>
              <a:cs typeface="Courier New"/>
            </a:endParaRPr>
          </a:p>
          <a:p>
            <a:pPr marL="187325">
              <a:lnSpc>
                <a:spcPts val="139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.assign(</a:t>
            </a:r>
            <a:endParaRPr sz="1200">
              <a:latin typeface="Courier New"/>
              <a:cs typeface="Courier New"/>
            </a:endParaRPr>
          </a:p>
          <a:p>
            <a:pPr marL="374650">
              <a:lnSpc>
                <a:spcPts val="139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date =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lambda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x: pd.to_datetime(x[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"date"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]),</a:t>
            </a:r>
            <a:endParaRPr sz="1200">
              <a:latin typeface="Courier New"/>
              <a:cs typeface="Courier New"/>
            </a:endParaRPr>
          </a:p>
          <a:p>
            <a:pPr marL="562610">
              <a:lnSpc>
                <a:spcPts val="142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187325">
              <a:lnSpc>
                <a:spcPts val="143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187325" indent="-187960">
              <a:lnSpc>
                <a:spcPts val="1450"/>
              </a:lnSpc>
              <a:spcBef>
                <a:spcPts val="1210"/>
              </a:spcBef>
              <a:buChar char="❖"/>
              <a:tabLst>
                <a:tab pos="187960" algn="l"/>
              </a:tabLst>
            </a:pP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Set the date as index and set the frequency of the</a:t>
            </a:r>
            <a:r>
              <a:rPr dirty="0" sz="1250" spc="-1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data</a:t>
            </a:r>
            <a:endParaRPr sz="1250">
              <a:latin typeface="Courier New"/>
              <a:cs typeface="Courier New"/>
            </a:endParaRPr>
          </a:p>
          <a:p>
            <a:pPr marR="5525135">
              <a:lnSpc>
                <a:spcPts val="1430"/>
              </a:lnSpc>
              <a:spcBef>
                <a:spcPts val="5"/>
              </a:spcBef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retail_empl = retail_empl.set_index(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"date"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  retail_empl =</a:t>
            </a:r>
            <a:r>
              <a:rPr dirty="0" sz="1200" spc="2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retail_empl.asfreq(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"MS"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187325" indent="-187960">
              <a:lnSpc>
                <a:spcPts val="1450"/>
              </a:lnSpc>
              <a:spcBef>
                <a:spcPts val="1160"/>
              </a:spcBef>
              <a:buChar char="❖"/>
              <a:tabLst>
                <a:tab pos="187960" algn="l"/>
              </a:tabLst>
            </a:pP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Decompose the time</a:t>
            </a:r>
            <a:r>
              <a:rPr dirty="0" sz="1250" spc="-2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series</a:t>
            </a:r>
            <a:endParaRPr sz="1250">
              <a:latin typeface="Courier New"/>
              <a:cs typeface="Courier New"/>
            </a:endParaRPr>
          </a:p>
          <a:p>
            <a:pPr>
              <a:lnSpc>
                <a:spcPts val="139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res = seasonal_decompose( retail_empl[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"CEU4200000001"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], model =</a:t>
            </a:r>
            <a:r>
              <a:rPr dirty="0" sz="1200" spc="4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"multiplicative"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187325" indent="-187960">
              <a:lnSpc>
                <a:spcPts val="1490"/>
              </a:lnSpc>
              <a:spcBef>
                <a:spcPts val="1210"/>
              </a:spcBef>
              <a:buChar char="❖"/>
              <a:tabLst>
                <a:tab pos="187960" algn="l"/>
              </a:tabLst>
            </a:pP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Extract the trend, seasonal, and residual</a:t>
            </a:r>
            <a:r>
              <a:rPr dirty="0" sz="1250" spc="-1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components</a:t>
            </a:r>
            <a:endParaRPr sz="1250">
              <a:latin typeface="Courier New"/>
              <a:cs typeface="Courier New"/>
            </a:endParaRPr>
          </a:p>
          <a:p>
            <a:pPr>
              <a:lnSpc>
                <a:spcPts val="138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res_df =</a:t>
            </a:r>
            <a:r>
              <a:rPr dirty="0" sz="1200" spc="1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pd.DataFrame({</a:t>
            </a:r>
            <a:endParaRPr sz="1200">
              <a:latin typeface="Courier New"/>
              <a:cs typeface="Courier New"/>
            </a:endParaRPr>
          </a:p>
          <a:p>
            <a:pPr marL="187325">
              <a:lnSpc>
                <a:spcPts val="1390"/>
              </a:lnSpc>
            </a:pP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"observed"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: res.observed,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"trend"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: res.trend,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"seasonal"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: res.seasonal,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"residual"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:</a:t>
            </a:r>
            <a:r>
              <a:rPr dirty="0" sz="1200" spc="10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res.resid</a:t>
            </a:r>
            <a:endParaRPr sz="1200">
              <a:latin typeface="Courier New"/>
              <a:cs typeface="Courier New"/>
            </a:endParaRPr>
          </a:p>
          <a:p>
            <a:pPr marL="187325">
              <a:lnSpc>
                <a:spcPts val="143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})</a:t>
            </a:r>
            <a:endParaRPr sz="1200">
              <a:latin typeface="Courier New"/>
              <a:cs typeface="Courier New"/>
            </a:endParaRPr>
          </a:p>
          <a:p>
            <a:pPr marR="6463030">
              <a:lnSpc>
                <a:spcPct val="97000"/>
              </a:lnSpc>
              <a:spcBef>
                <a:spcPts val="1255"/>
              </a:spcBef>
              <a:buChar char="❖"/>
              <a:tabLst>
                <a:tab pos="187960" algn="l"/>
              </a:tabLst>
            </a:pP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Plot the decomposed time </a:t>
            </a:r>
            <a:r>
              <a:rPr dirty="0" sz="1250" spc="-105" i="1">
                <a:solidFill>
                  <a:srgbClr val="999987"/>
                </a:solidFill>
                <a:latin typeface="Courier New"/>
                <a:cs typeface="Courier New"/>
              </a:rPr>
              <a:t>series </a:t>
            </a:r>
            <a:r>
              <a:rPr dirty="0" sz="1250" spc="-105" i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fig = res.plot()  fig.set_size_inches(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10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4.75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  fig.tight_layout()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28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40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2594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Classical Decomposition in </a:t>
            </a:r>
            <a:r>
              <a:rPr dirty="0" sz="3350" spc="15">
                <a:latin typeface="Roboto Condensed"/>
                <a:cs typeface="Roboto Condensed"/>
              </a:rPr>
              <a:t>Python</a:t>
            </a:r>
            <a:r>
              <a:rPr dirty="0" sz="3350" spc="-6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(Output-Mult)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53382" y="1587272"/>
            <a:ext cx="9421716" cy="42801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02456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0340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39374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6077108"/>
            <a:ext cx="9314815" cy="34925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Comment: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can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have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more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control over the plot by plotting the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data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frame </a:t>
            </a:r>
            <a:r>
              <a:rPr dirty="0" sz="700">
                <a:solidFill>
                  <a:srgbClr val="C2132D"/>
                </a:solidFill>
                <a:latin typeface="Courier New"/>
                <a:cs typeface="Courier New"/>
              </a:rPr>
              <a:t>res_df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directly.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See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this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example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from </a:t>
            </a:r>
            <a:r>
              <a:rPr dirty="0" sz="850" spc="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StackOverflow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while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noting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that their </a:t>
            </a:r>
            <a:r>
              <a:rPr dirty="0" sz="700">
                <a:solidFill>
                  <a:srgbClr val="C2132D"/>
                </a:solidFill>
                <a:latin typeface="Courier New"/>
                <a:cs typeface="Courier New"/>
              </a:rPr>
              <a:t>decomposition</a:t>
            </a:r>
            <a:r>
              <a:rPr dirty="0" sz="700" spc="-229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is equivalent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our</a:t>
            </a:r>
            <a:endParaRPr sz="8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700">
                <a:solidFill>
                  <a:srgbClr val="C2132D"/>
                </a:solidFill>
                <a:latin typeface="Courier New"/>
                <a:cs typeface="Courier New"/>
              </a:rPr>
              <a:t>res</a:t>
            </a:r>
            <a:r>
              <a:rPr dirty="0" sz="700" spc="-204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object.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 You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can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also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convert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data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into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long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format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using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700">
                <a:solidFill>
                  <a:srgbClr val="C2132D"/>
                </a:solidFill>
                <a:latin typeface="Courier New"/>
                <a:cs typeface="Courier New"/>
              </a:rPr>
              <a:t>pd.melt</a:t>
            </a:r>
            <a:r>
              <a:rPr dirty="0" sz="850">
                <a:solidFill>
                  <a:srgbClr val="585D60"/>
                </a:solidFill>
                <a:latin typeface="Roboto"/>
                <a:cs typeface="Roboto"/>
              </a:rPr>
              <a:t>,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then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700">
                <a:solidFill>
                  <a:srgbClr val="C2132D"/>
                </a:solidFill>
                <a:latin typeface="Courier New"/>
                <a:cs typeface="Courier New"/>
              </a:rPr>
              <a:t>.reset_index()</a:t>
            </a:r>
            <a:r>
              <a:rPr dirty="0" sz="700" spc="-20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convert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date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 into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column,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and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 plot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 it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using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700">
                <a:solidFill>
                  <a:srgbClr val="C2132D"/>
                </a:solidFill>
                <a:latin typeface="Courier New"/>
                <a:cs typeface="Courier New"/>
              </a:rPr>
              <a:t>sns.relplot</a:t>
            </a:r>
            <a:r>
              <a:rPr dirty="0" sz="85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85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29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40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29869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Comments on the Classical</a:t>
            </a:r>
            <a:r>
              <a:rPr dirty="0" sz="3350" spc="-2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Decomposition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212580" cy="2242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Estimate of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trend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unavailable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first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few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last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few</a:t>
            </a:r>
            <a:r>
              <a:rPr dirty="0" sz="1800" spc="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observations.</a:t>
            </a:r>
            <a:endParaRPr sz="1800">
              <a:latin typeface="Roboto"/>
              <a:cs typeface="Roboto"/>
            </a:endParaRPr>
          </a:p>
          <a:p>
            <a:pPr marL="146050" marR="5080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seasonal component repeats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 year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25">
                <a:solidFill>
                  <a:srgbClr val="585D60"/>
                </a:solidFill>
                <a:latin typeface="Roboto"/>
                <a:cs typeface="Roboto"/>
              </a:rPr>
              <a:t>year,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which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may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not be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realistic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(especially  for long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time-series).</a:t>
            </a:r>
            <a:endParaRPr sz="1800">
              <a:latin typeface="Roboto"/>
              <a:cs typeface="Roboto"/>
            </a:endParaRPr>
          </a:p>
          <a:p>
            <a:pPr marL="146050" marR="516890" indent="-133985">
              <a:lnSpc>
                <a:spcPct val="118100"/>
              </a:lnSpc>
              <a:spcBef>
                <a:spcPts val="819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Since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trend-cycle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estimated using an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average-based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method, it is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not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robust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to 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outliers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Newer methods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designed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overcome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these</a:t>
            </a:r>
            <a:r>
              <a:rPr dirty="0" sz="1800" spc="3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problems.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602456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0340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39374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6077108"/>
            <a:ext cx="9110345" cy="349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Source: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Hyndman,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R.J.,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&amp; Athanasopoulos, G. (2021)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Forecasting: principles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practice, 3rd edition,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OTexts: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Melbourne,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Australia.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https://otexts.com/fpp3/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.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Accessed on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February 12, 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2025.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Chapter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3.4</a:t>
            </a:r>
            <a:r>
              <a:rPr dirty="0" sz="850" spc="-2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Slides</a:t>
            </a:r>
            <a:endParaRPr sz="85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30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40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2152" y="2773680"/>
            <a:ext cx="4511040" cy="1021080"/>
          </a:xfrm>
          <a:prstGeom prst="rect"/>
          <a:solidFill>
            <a:srgbClr val="333333"/>
          </a:solidFill>
        </p:spPr>
        <p:txBody>
          <a:bodyPr wrap="square" lIns="0" tIns="125095" rIns="0" bIns="0" rtlCol="0" vert="horz">
            <a:spAutoFit/>
          </a:bodyPr>
          <a:lstStyle/>
          <a:p>
            <a:pPr marL="245110">
              <a:lnSpc>
                <a:spcPct val="100000"/>
              </a:lnSpc>
              <a:spcBef>
                <a:spcPts val="985"/>
              </a:spcBef>
            </a:pPr>
            <a:r>
              <a:rPr dirty="0" sz="4100" spc="-1030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1030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r>
              <a:rPr dirty="0" sz="4100" spc="-1030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1030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1030">
                <a:solidFill>
                  <a:srgbClr val="000000"/>
                </a:solidFill>
                <a:latin typeface="Roboto Condensed"/>
                <a:cs typeface="Roboto Condensed"/>
              </a:rPr>
              <a:t>L</a:t>
            </a:r>
            <a:r>
              <a:rPr dirty="0" sz="4100" spc="-1030">
                <a:solidFill>
                  <a:srgbClr val="FFFFFF"/>
                </a:solidFill>
                <a:latin typeface="Roboto Condensed"/>
                <a:cs typeface="Roboto Condensed"/>
              </a:rPr>
              <a:t>L</a:t>
            </a:r>
            <a:r>
              <a:rPr dirty="0" sz="4100" spc="5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D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D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c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c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m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m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p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p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1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4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4</a:t>
            </a:r>
            <a:r>
              <a:rPr dirty="0" sz="1200" spc="-340">
                <a:latin typeface="Roboto"/>
                <a:cs typeface="Roboto"/>
              </a:rPr>
              <a:t>0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0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33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5267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>
                <a:latin typeface="Roboto Condensed"/>
                <a:cs typeface="Roboto Condensed"/>
              </a:rPr>
              <a:t>Seasonal-Trend </a:t>
            </a:r>
            <a:r>
              <a:rPr dirty="0" sz="3350" spc="10">
                <a:latin typeface="Roboto Condensed"/>
                <a:cs typeface="Roboto Condensed"/>
              </a:rPr>
              <a:t>Decomposition using </a:t>
            </a:r>
            <a:r>
              <a:rPr dirty="0" sz="3350" spc="-10">
                <a:latin typeface="Roboto Condensed"/>
                <a:cs typeface="Roboto Condensed"/>
              </a:rPr>
              <a:t>LOESS</a:t>
            </a:r>
            <a:r>
              <a:rPr dirty="0" sz="3350" spc="-3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(STL)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8789670" cy="2471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STL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a very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flexible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method for decomposing time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series.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It can handle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any type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of seasonality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allows for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non-constant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seasonal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patterns.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It is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robust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outliers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However,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it: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527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cannot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handle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trading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day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or calendar adjustments,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it is only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additive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(take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logs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get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multiplicative</a:t>
            </a:r>
            <a:r>
              <a:rPr dirty="0" sz="1800" spc="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decomposition).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93915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STL Decomposition in </a:t>
            </a:r>
            <a:r>
              <a:rPr dirty="0" sz="3350" spc="15">
                <a:latin typeface="Roboto Condensed"/>
                <a:cs typeface="Roboto Condensed"/>
              </a:rPr>
              <a:t>Python</a:t>
            </a:r>
            <a:r>
              <a:rPr dirty="0" sz="3350" spc="-60">
                <a:latin typeface="Roboto Condensed"/>
                <a:cs typeface="Roboto Condensed"/>
              </a:rPr>
              <a:t> </a:t>
            </a:r>
            <a:r>
              <a:rPr dirty="0" sz="3350" spc="15">
                <a:latin typeface="Roboto Condensed"/>
                <a:cs typeface="Roboto Condensed"/>
              </a:rPr>
              <a:t>(Ref)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1438275"/>
            <a:ext cx="9734550" cy="0"/>
          </a:xfrm>
          <a:custGeom>
            <a:avLst/>
            <a:gdLst/>
            <a:ahLst/>
            <a:cxnLst/>
            <a:rect l="l" t="t" r="r" b="b"/>
            <a:pathLst>
              <a:path w="9734550" h="0">
                <a:moveTo>
                  <a:pt x="0" y="0"/>
                </a:moveTo>
                <a:lnTo>
                  <a:pt x="9734549" y="0"/>
                </a:lnTo>
              </a:path>
            </a:pathLst>
          </a:custGeom>
          <a:ln w="19049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219824"/>
            <a:ext cx="9734550" cy="0"/>
          </a:xfrm>
          <a:custGeom>
            <a:avLst/>
            <a:gdLst/>
            <a:ahLst/>
            <a:cxnLst/>
            <a:rect l="l" t="t" r="r" b="b"/>
            <a:pathLst>
              <a:path w="9734550" h="0">
                <a:moveTo>
                  <a:pt x="0" y="0"/>
                </a:moveTo>
                <a:lnTo>
                  <a:pt x="9734549" y="0"/>
                </a:lnTo>
              </a:path>
            </a:pathLst>
          </a:custGeom>
          <a:ln w="19049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639424" y="1428750"/>
            <a:ext cx="0" cy="4800600"/>
          </a:xfrm>
          <a:custGeom>
            <a:avLst/>
            <a:gdLst/>
            <a:ahLst/>
            <a:cxnLst/>
            <a:rect l="l" t="t" r="r" b="b"/>
            <a:pathLst>
              <a:path w="0" h="4800600">
                <a:moveTo>
                  <a:pt x="0" y="0"/>
                </a:moveTo>
                <a:lnTo>
                  <a:pt x="0" y="4800599"/>
                </a:lnTo>
              </a:path>
            </a:pathLst>
          </a:custGeom>
          <a:ln w="19049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23925" y="1428750"/>
            <a:ext cx="0" cy="4800600"/>
          </a:xfrm>
          <a:custGeom>
            <a:avLst/>
            <a:gdLst/>
            <a:ahLst/>
            <a:cxnLst/>
            <a:rect l="l" t="t" r="r" b="b"/>
            <a:pathLst>
              <a:path w="0" h="4800600">
                <a:moveTo>
                  <a:pt x="0" y="0"/>
                </a:moveTo>
                <a:lnTo>
                  <a:pt x="0" y="4800599"/>
                </a:lnTo>
              </a:path>
            </a:pathLst>
          </a:custGeom>
          <a:ln w="19049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73150" y="1909445"/>
            <a:ext cx="3371215" cy="3365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000" spc="-5" b="0">
                <a:latin typeface="Roboto Light"/>
                <a:cs typeface="Roboto Light"/>
              </a:rPr>
              <a:t>statsmodels.tsa.seasonal.STL</a:t>
            </a:r>
            <a:endParaRPr sz="2000">
              <a:latin typeface="Roboto Light"/>
              <a:cs typeface="Roboto Ligh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33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85850" y="2581275"/>
            <a:ext cx="9248775" cy="3343275"/>
          </a:xfrm>
          <a:prstGeom prst="rect">
            <a:avLst/>
          </a:prstGeom>
          <a:solidFill>
            <a:srgbClr val="F5F5F5"/>
          </a:solidFill>
        </p:spPr>
        <p:txBody>
          <a:bodyPr wrap="square" lIns="0" tIns="46990" rIns="0" bIns="0" rtlCol="0" vert="horz">
            <a:spAutoFit/>
          </a:bodyPr>
          <a:lstStyle/>
          <a:p>
            <a:pPr marL="414020" marR="6168390" indent="-343535">
              <a:lnSpc>
                <a:spcPct val="136400"/>
              </a:lnSpc>
              <a:spcBef>
                <a:spcPts val="370"/>
              </a:spcBef>
            </a:pPr>
            <a:r>
              <a:rPr dirty="0" sz="1100" spc="15" b="1">
                <a:solidFill>
                  <a:srgbClr val="3F6EC6"/>
                </a:solidFill>
                <a:latin typeface="Courier New"/>
                <a:cs typeface="Courier New"/>
              </a:rPr>
              <a:t>class</a:t>
            </a:r>
            <a:r>
              <a:rPr dirty="0" sz="1100" spc="-85" b="1">
                <a:solidFill>
                  <a:srgbClr val="3F6EC6"/>
                </a:solidFill>
                <a:latin typeface="Courier New"/>
                <a:cs typeface="Courier New"/>
              </a:rPr>
              <a:t> </a:t>
            </a:r>
            <a:r>
              <a:rPr dirty="0" sz="1100" spc="15">
                <a:solidFill>
                  <a:srgbClr val="36454E"/>
                </a:solidFill>
                <a:latin typeface="Courier New"/>
                <a:cs typeface="Courier New"/>
              </a:rPr>
              <a:t>statsmodels.tsa.seasonal.</a:t>
            </a:r>
            <a:r>
              <a:rPr dirty="0" sz="1100" spc="15" b="1">
                <a:solidFill>
                  <a:srgbClr val="36454E"/>
                </a:solidFill>
                <a:latin typeface="Courier New"/>
                <a:cs typeface="Courier New"/>
              </a:rPr>
              <a:t>STL</a:t>
            </a:r>
            <a:r>
              <a:rPr dirty="0" sz="1100" spc="15">
                <a:latin typeface="Courier New"/>
                <a:cs typeface="Courier New"/>
              </a:rPr>
              <a:t>(  </a:t>
            </a:r>
            <a:r>
              <a:rPr dirty="0" sz="1100" spc="15">
                <a:solidFill>
                  <a:srgbClr val="4050B4"/>
                </a:solidFill>
                <a:latin typeface="Courier New"/>
                <a:cs typeface="Courier New"/>
              </a:rPr>
              <a:t>endog</a:t>
            </a:r>
            <a:r>
              <a:rPr dirty="0" sz="1100" spc="15">
                <a:latin typeface="Courier New"/>
                <a:cs typeface="Courier New"/>
              </a:rPr>
              <a:t>,</a:t>
            </a:r>
            <a:endParaRPr sz="1100">
              <a:latin typeface="Courier New"/>
              <a:cs typeface="Courier New"/>
            </a:endParaRPr>
          </a:p>
          <a:p>
            <a:pPr marL="414020" marR="7454265">
              <a:lnSpc>
                <a:spcPct val="136400"/>
              </a:lnSpc>
            </a:pPr>
            <a:r>
              <a:rPr dirty="0" sz="1100" spc="15">
                <a:solidFill>
                  <a:srgbClr val="4050B4"/>
                </a:solidFill>
                <a:latin typeface="Courier New"/>
                <a:cs typeface="Courier New"/>
              </a:rPr>
              <a:t>period</a:t>
            </a:r>
            <a:r>
              <a:rPr dirty="0" sz="1100" spc="15">
                <a:latin typeface="Courier New"/>
                <a:cs typeface="Courier New"/>
              </a:rPr>
              <a:t>=</a:t>
            </a:r>
            <a:r>
              <a:rPr dirty="0" sz="1100" spc="15">
                <a:solidFill>
                  <a:srgbClr val="6E58D9"/>
                </a:solidFill>
                <a:latin typeface="Courier New"/>
                <a:cs typeface="Courier New"/>
              </a:rPr>
              <a:t>None</a:t>
            </a:r>
            <a:r>
              <a:rPr dirty="0" sz="1100" spc="15">
                <a:latin typeface="Courier New"/>
                <a:cs typeface="Courier New"/>
              </a:rPr>
              <a:t>,  </a:t>
            </a:r>
            <a:r>
              <a:rPr dirty="0" sz="1100" spc="15">
                <a:solidFill>
                  <a:srgbClr val="4050B4"/>
                </a:solidFill>
                <a:latin typeface="Courier New"/>
                <a:cs typeface="Courier New"/>
              </a:rPr>
              <a:t>seasonal</a:t>
            </a:r>
            <a:r>
              <a:rPr dirty="0" sz="1100" spc="15">
                <a:latin typeface="Courier New"/>
                <a:cs typeface="Courier New"/>
              </a:rPr>
              <a:t>=</a:t>
            </a:r>
            <a:r>
              <a:rPr dirty="0" sz="1100" spc="15">
                <a:solidFill>
                  <a:srgbClr val="D52929"/>
                </a:solidFill>
                <a:latin typeface="Courier New"/>
                <a:cs typeface="Courier New"/>
              </a:rPr>
              <a:t>7</a:t>
            </a:r>
            <a:r>
              <a:rPr dirty="0" sz="1100" spc="15">
                <a:latin typeface="Courier New"/>
                <a:cs typeface="Courier New"/>
              </a:rPr>
              <a:t>,  </a:t>
            </a:r>
            <a:r>
              <a:rPr dirty="0" sz="1100" spc="15">
                <a:solidFill>
                  <a:srgbClr val="4050B4"/>
                </a:solidFill>
                <a:latin typeface="Courier New"/>
                <a:cs typeface="Courier New"/>
              </a:rPr>
              <a:t>trend</a:t>
            </a:r>
            <a:r>
              <a:rPr dirty="0" sz="1100" spc="15">
                <a:latin typeface="Courier New"/>
                <a:cs typeface="Courier New"/>
              </a:rPr>
              <a:t>=</a:t>
            </a:r>
            <a:r>
              <a:rPr dirty="0" sz="1100" spc="15">
                <a:solidFill>
                  <a:srgbClr val="6E58D9"/>
                </a:solidFill>
                <a:latin typeface="Courier New"/>
                <a:cs typeface="Courier New"/>
              </a:rPr>
              <a:t>None</a:t>
            </a:r>
            <a:r>
              <a:rPr dirty="0" sz="1100" spc="15">
                <a:latin typeface="Courier New"/>
                <a:cs typeface="Courier New"/>
              </a:rPr>
              <a:t>,  </a:t>
            </a:r>
            <a:r>
              <a:rPr dirty="0" sz="1100" spc="15">
                <a:solidFill>
                  <a:srgbClr val="4050B4"/>
                </a:solidFill>
                <a:latin typeface="Courier New"/>
                <a:cs typeface="Courier New"/>
              </a:rPr>
              <a:t>low_pass</a:t>
            </a:r>
            <a:r>
              <a:rPr dirty="0" sz="1100" spc="15">
                <a:latin typeface="Courier New"/>
                <a:cs typeface="Courier New"/>
              </a:rPr>
              <a:t>=</a:t>
            </a:r>
            <a:r>
              <a:rPr dirty="0" sz="1100" spc="15">
                <a:solidFill>
                  <a:srgbClr val="6E58D9"/>
                </a:solidFill>
                <a:latin typeface="Courier New"/>
                <a:cs typeface="Courier New"/>
              </a:rPr>
              <a:t>None</a:t>
            </a:r>
            <a:r>
              <a:rPr dirty="0" sz="1100" spc="15">
                <a:latin typeface="Courier New"/>
                <a:cs typeface="Courier New"/>
              </a:rPr>
              <a:t>,  </a:t>
            </a:r>
            <a:r>
              <a:rPr dirty="0" sz="1100" spc="15">
                <a:solidFill>
                  <a:srgbClr val="4050B4"/>
                </a:solidFill>
                <a:latin typeface="Courier New"/>
                <a:cs typeface="Courier New"/>
              </a:rPr>
              <a:t>seasonal_deg</a:t>
            </a:r>
            <a:r>
              <a:rPr dirty="0" sz="1100" spc="15">
                <a:latin typeface="Courier New"/>
                <a:cs typeface="Courier New"/>
              </a:rPr>
              <a:t>=</a:t>
            </a:r>
            <a:r>
              <a:rPr dirty="0" sz="1100" spc="15">
                <a:solidFill>
                  <a:srgbClr val="D52929"/>
                </a:solidFill>
                <a:latin typeface="Courier New"/>
                <a:cs typeface="Courier New"/>
              </a:rPr>
              <a:t>1</a:t>
            </a:r>
            <a:r>
              <a:rPr dirty="0" sz="1100" spc="15">
                <a:latin typeface="Courier New"/>
                <a:cs typeface="Courier New"/>
              </a:rPr>
              <a:t>,  </a:t>
            </a:r>
            <a:r>
              <a:rPr dirty="0" sz="1100" spc="15">
                <a:solidFill>
                  <a:srgbClr val="4050B4"/>
                </a:solidFill>
                <a:latin typeface="Courier New"/>
                <a:cs typeface="Courier New"/>
              </a:rPr>
              <a:t>trend_deg</a:t>
            </a:r>
            <a:r>
              <a:rPr dirty="0" sz="1100" spc="15">
                <a:latin typeface="Courier New"/>
                <a:cs typeface="Courier New"/>
              </a:rPr>
              <a:t>=</a:t>
            </a:r>
            <a:r>
              <a:rPr dirty="0" sz="1100" spc="15">
                <a:solidFill>
                  <a:srgbClr val="D52929"/>
                </a:solidFill>
                <a:latin typeface="Courier New"/>
                <a:cs typeface="Courier New"/>
              </a:rPr>
              <a:t>1</a:t>
            </a:r>
            <a:r>
              <a:rPr dirty="0" sz="1100" spc="15">
                <a:latin typeface="Courier New"/>
                <a:cs typeface="Courier New"/>
              </a:rPr>
              <a:t>,  </a:t>
            </a:r>
            <a:r>
              <a:rPr dirty="0" sz="1100" spc="15">
                <a:solidFill>
                  <a:srgbClr val="4050B4"/>
                </a:solidFill>
                <a:latin typeface="Courier New"/>
                <a:cs typeface="Courier New"/>
              </a:rPr>
              <a:t>low_pass_deg</a:t>
            </a:r>
            <a:r>
              <a:rPr dirty="0" sz="1100" spc="15">
                <a:latin typeface="Courier New"/>
                <a:cs typeface="Courier New"/>
              </a:rPr>
              <a:t>=</a:t>
            </a:r>
            <a:r>
              <a:rPr dirty="0" sz="1100" spc="15">
                <a:solidFill>
                  <a:srgbClr val="D52929"/>
                </a:solidFill>
                <a:latin typeface="Courier New"/>
                <a:cs typeface="Courier New"/>
              </a:rPr>
              <a:t>1</a:t>
            </a:r>
            <a:r>
              <a:rPr dirty="0" sz="1100" spc="15">
                <a:latin typeface="Courier New"/>
                <a:cs typeface="Courier New"/>
              </a:rPr>
              <a:t>,  </a:t>
            </a:r>
            <a:r>
              <a:rPr dirty="0" sz="1100" spc="15">
                <a:solidFill>
                  <a:srgbClr val="4050B4"/>
                </a:solidFill>
                <a:latin typeface="Courier New"/>
                <a:cs typeface="Courier New"/>
              </a:rPr>
              <a:t>robust</a:t>
            </a:r>
            <a:r>
              <a:rPr dirty="0" sz="1100" spc="15">
                <a:latin typeface="Courier New"/>
                <a:cs typeface="Courier New"/>
              </a:rPr>
              <a:t>=</a:t>
            </a:r>
            <a:r>
              <a:rPr dirty="0" sz="1100" spc="15">
                <a:solidFill>
                  <a:srgbClr val="6E58D9"/>
                </a:solidFill>
                <a:latin typeface="Courier New"/>
                <a:cs typeface="Courier New"/>
              </a:rPr>
              <a:t>False</a:t>
            </a:r>
            <a:r>
              <a:rPr dirty="0" sz="1100" spc="15">
                <a:latin typeface="Courier New"/>
                <a:cs typeface="Courier New"/>
              </a:rPr>
              <a:t>,  </a:t>
            </a:r>
            <a:r>
              <a:rPr dirty="0" sz="1100" spc="15">
                <a:solidFill>
                  <a:srgbClr val="4050B4"/>
                </a:solidFill>
                <a:latin typeface="Courier New"/>
                <a:cs typeface="Courier New"/>
              </a:rPr>
              <a:t>seasonal_jump</a:t>
            </a:r>
            <a:r>
              <a:rPr dirty="0" sz="1100" spc="15">
                <a:latin typeface="Courier New"/>
                <a:cs typeface="Courier New"/>
              </a:rPr>
              <a:t>=</a:t>
            </a:r>
            <a:r>
              <a:rPr dirty="0" sz="1100" spc="15">
                <a:solidFill>
                  <a:srgbClr val="D52929"/>
                </a:solidFill>
                <a:latin typeface="Courier New"/>
                <a:cs typeface="Courier New"/>
              </a:rPr>
              <a:t>1</a:t>
            </a:r>
            <a:r>
              <a:rPr dirty="0" sz="1100" spc="15">
                <a:latin typeface="Courier New"/>
                <a:cs typeface="Courier New"/>
              </a:rPr>
              <a:t>,  </a:t>
            </a:r>
            <a:r>
              <a:rPr dirty="0" sz="1100" spc="15">
                <a:solidFill>
                  <a:srgbClr val="4050B4"/>
                </a:solidFill>
                <a:latin typeface="Courier New"/>
                <a:cs typeface="Courier New"/>
              </a:rPr>
              <a:t>trend_jump</a:t>
            </a:r>
            <a:r>
              <a:rPr dirty="0" sz="1100" spc="15">
                <a:latin typeface="Courier New"/>
                <a:cs typeface="Courier New"/>
              </a:rPr>
              <a:t>=</a:t>
            </a:r>
            <a:r>
              <a:rPr dirty="0" sz="1100" spc="15">
                <a:solidFill>
                  <a:srgbClr val="D52929"/>
                </a:solidFill>
                <a:latin typeface="Courier New"/>
                <a:cs typeface="Courier New"/>
              </a:rPr>
              <a:t>1</a:t>
            </a:r>
            <a:r>
              <a:rPr dirty="0" sz="1100" spc="15">
                <a:latin typeface="Courier New"/>
                <a:cs typeface="Courier New"/>
              </a:rPr>
              <a:t>,  </a:t>
            </a:r>
            <a:r>
              <a:rPr dirty="0" sz="1100" spc="15">
                <a:solidFill>
                  <a:srgbClr val="4050B4"/>
                </a:solidFill>
                <a:latin typeface="Courier New"/>
                <a:cs typeface="Courier New"/>
              </a:rPr>
              <a:t>low_pass_jump</a:t>
            </a:r>
            <a:r>
              <a:rPr dirty="0" sz="1100" spc="15">
                <a:latin typeface="Courier New"/>
                <a:cs typeface="Courier New"/>
              </a:rPr>
              <a:t>=</a:t>
            </a:r>
            <a:r>
              <a:rPr dirty="0" sz="1100" spc="15">
                <a:solidFill>
                  <a:srgbClr val="D52929"/>
                </a:solidFill>
                <a:latin typeface="Courier New"/>
                <a:cs typeface="Courier New"/>
              </a:rPr>
              <a:t>1</a:t>
            </a:r>
            <a:endParaRPr sz="1100">
              <a:latin typeface="Courier New"/>
              <a:cs typeface="Courier New"/>
            </a:endParaRPr>
          </a:p>
          <a:p>
            <a:pPr marL="71120">
              <a:lnSpc>
                <a:spcPct val="100000"/>
              </a:lnSpc>
              <a:spcBef>
                <a:spcPts val="480"/>
              </a:spcBef>
            </a:pPr>
            <a:r>
              <a:rPr dirty="0" sz="1100" spc="15"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16037" y="6058534"/>
            <a:ext cx="250634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5">
                <a:latin typeface="Roboto"/>
                <a:cs typeface="Roboto"/>
              </a:rPr>
              <a:t>Season-Trend </a:t>
            </a:r>
            <a:r>
              <a:rPr dirty="0" sz="1000" spc="10">
                <a:latin typeface="Roboto"/>
                <a:cs typeface="Roboto"/>
              </a:rPr>
              <a:t>decomposition using</a:t>
            </a:r>
            <a:r>
              <a:rPr dirty="0" sz="1000" spc="-65">
                <a:latin typeface="Roboto"/>
                <a:cs typeface="Roboto"/>
              </a:rPr>
              <a:t> </a:t>
            </a:r>
            <a:r>
              <a:rPr dirty="0" sz="1000" spc="5">
                <a:latin typeface="Roboto"/>
                <a:cs typeface="Roboto"/>
              </a:rPr>
              <a:t>LOESS.</a:t>
            </a:r>
            <a:endParaRPr sz="1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24268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STL Decomposition in </a:t>
            </a:r>
            <a:r>
              <a:rPr dirty="0" sz="3350" spc="15">
                <a:latin typeface="Roboto Condensed"/>
                <a:cs typeface="Roboto Condensed"/>
              </a:rPr>
              <a:t>Python</a:t>
            </a:r>
            <a:r>
              <a:rPr dirty="0" sz="3350" spc="-5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(Code)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6181724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439399" y="6181724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479086" y="6197599"/>
            <a:ext cx="111125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</a:t>
            </a:r>
            <a:endParaRPr sz="650">
              <a:latin typeface="Segoe Fluent Icons"/>
              <a:cs typeface="Segoe Fluent Icon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85850" y="6181724"/>
            <a:ext cx="9353550" cy="142875"/>
          </a:xfrm>
          <a:custGeom>
            <a:avLst/>
            <a:gdLst/>
            <a:ahLst/>
            <a:cxnLst/>
            <a:rect l="l" t="t" r="r" b="b"/>
            <a:pathLst>
              <a:path w="9353550" h="142875">
                <a:moveTo>
                  <a:pt x="0" y="0"/>
                </a:moveTo>
                <a:lnTo>
                  <a:pt x="9353549" y="0"/>
                </a:lnTo>
                <a:lnTo>
                  <a:pt x="93535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85849" y="6210299"/>
            <a:ext cx="1581150" cy="85725"/>
          </a:xfrm>
          <a:custGeom>
            <a:avLst/>
            <a:gdLst/>
            <a:ahLst/>
            <a:cxnLst/>
            <a:rect l="l" t="t" r="r" b="b"/>
            <a:pathLst>
              <a:path w="1581150" h="85725">
                <a:moveTo>
                  <a:pt x="1543971" y="85724"/>
                </a:moveTo>
                <a:lnTo>
                  <a:pt x="37178" y="85724"/>
                </a:lnTo>
                <a:lnTo>
                  <a:pt x="31710" y="84636"/>
                </a:lnTo>
                <a:lnTo>
                  <a:pt x="1087" y="54013"/>
                </a:lnTo>
                <a:lnTo>
                  <a:pt x="0" y="48546"/>
                </a:lnTo>
                <a:lnTo>
                  <a:pt x="0" y="37178"/>
                </a:lnTo>
                <a:lnTo>
                  <a:pt x="21208" y="5437"/>
                </a:lnTo>
                <a:lnTo>
                  <a:pt x="37178" y="0"/>
                </a:lnTo>
                <a:lnTo>
                  <a:pt x="1543971" y="0"/>
                </a:lnTo>
                <a:lnTo>
                  <a:pt x="1575712" y="21207"/>
                </a:lnTo>
                <a:lnTo>
                  <a:pt x="1581149" y="37178"/>
                </a:lnTo>
                <a:lnTo>
                  <a:pt x="1581149" y="48546"/>
                </a:lnTo>
                <a:lnTo>
                  <a:pt x="1559941" y="80286"/>
                </a:lnTo>
                <a:lnTo>
                  <a:pt x="1543971" y="8572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4400" y="1428750"/>
            <a:ext cx="9696450" cy="4752975"/>
          </a:xfrm>
          <a:custGeom>
            <a:avLst/>
            <a:gdLst/>
            <a:ahLst/>
            <a:cxnLst/>
            <a:rect l="l" t="t" r="r" b="b"/>
            <a:pathLst>
              <a:path w="9696450" h="4752975">
                <a:moveTo>
                  <a:pt x="0" y="0"/>
                </a:moveTo>
                <a:lnTo>
                  <a:pt x="9696449" y="0"/>
                </a:lnTo>
                <a:lnTo>
                  <a:pt x="9696449" y="4752974"/>
                </a:lnTo>
                <a:lnTo>
                  <a:pt x="0" y="4752974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09650" y="3981450"/>
            <a:ext cx="9505950" cy="352425"/>
          </a:xfrm>
          <a:prstGeom prst="rect">
            <a:avLst/>
          </a:prstGeom>
          <a:solidFill>
            <a:srgbClr val="FFDE65"/>
          </a:solidFill>
        </p:spPr>
        <p:txBody>
          <a:bodyPr wrap="square" lIns="0" tIns="5715" rIns="0" bIns="0" rtlCol="0" vert="horz">
            <a:spAutoFit/>
          </a:bodyPr>
          <a:lstStyle/>
          <a:p>
            <a:pPr marL="1905" marR="3023870">
              <a:lnSpc>
                <a:spcPts val="1350"/>
              </a:lnSpc>
              <a:spcBef>
                <a:spcPts val="45"/>
              </a:spcBef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stl = STL(retail_empl[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"CEU4200000001"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], seasonal = 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13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robust =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True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  res =</a:t>
            </a:r>
            <a:r>
              <a:rPr dirty="0" sz="1200" spc="1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stl.fit()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9331" y="1507394"/>
            <a:ext cx="9578975" cy="248094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065">
              <a:lnSpc>
                <a:spcPct val="100000"/>
              </a:lnSpc>
              <a:spcBef>
                <a:spcPts val="130"/>
              </a:spcBef>
            </a:pP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from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statsmodels.tsa.seasonal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STL</a:t>
            </a:r>
            <a:endParaRPr sz="1200">
              <a:latin typeface="Courier New"/>
              <a:cs typeface="Courier New"/>
            </a:endParaRPr>
          </a:p>
          <a:p>
            <a:pPr marL="200025" indent="-187960">
              <a:lnSpc>
                <a:spcPts val="1430"/>
              </a:lnSpc>
              <a:spcBef>
                <a:spcPts val="1240"/>
              </a:spcBef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retail_empl = (  pd.read_csv(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"https://fred.stlouisfed.org/graph/fredgraph.csv?bgcolor=%23ebf3fb&amp;chart_type=line&amp;drp=0</a:t>
            </a:r>
            <a:endParaRPr sz="1200">
              <a:latin typeface="Courier New"/>
              <a:cs typeface="Courier New"/>
            </a:endParaRPr>
          </a:p>
          <a:p>
            <a:pPr marL="200025">
              <a:lnSpc>
                <a:spcPts val="136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.rename(columns = {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"observation_date"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: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"date"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"CEU4200000001"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:</a:t>
            </a:r>
            <a:r>
              <a:rPr dirty="0" sz="1200" spc="4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"CEU4200000001"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})</a:t>
            </a:r>
            <a:endParaRPr sz="1200">
              <a:latin typeface="Courier New"/>
              <a:cs typeface="Courier New"/>
            </a:endParaRPr>
          </a:p>
          <a:p>
            <a:pPr marL="200025">
              <a:lnSpc>
                <a:spcPts val="139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.assign(</a:t>
            </a:r>
            <a:endParaRPr sz="1200">
              <a:latin typeface="Courier New"/>
              <a:cs typeface="Courier New"/>
            </a:endParaRPr>
          </a:p>
          <a:p>
            <a:pPr marL="387350">
              <a:lnSpc>
                <a:spcPts val="139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date =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lambda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x: pd.to_datetime(x[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"date"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]),</a:t>
            </a:r>
            <a:endParaRPr sz="1200">
              <a:latin typeface="Courier New"/>
              <a:cs typeface="Courier New"/>
            </a:endParaRPr>
          </a:p>
          <a:p>
            <a:pPr marL="575310">
              <a:lnSpc>
                <a:spcPts val="142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200025">
              <a:lnSpc>
                <a:spcPts val="143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Courier New"/>
              <a:cs typeface="Courier New"/>
            </a:endParaRPr>
          </a:p>
          <a:p>
            <a:pPr marL="12065" marR="5525135">
              <a:lnSpc>
                <a:spcPts val="135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retail_empl = retail_empl.set_index(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"date"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  retail_empl =</a:t>
            </a:r>
            <a:r>
              <a:rPr dirty="0" sz="1200" spc="2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retail_empl.asfreq(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"MS"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200025" indent="-187960">
              <a:lnSpc>
                <a:spcPct val="100000"/>
              </a:lnSpc>
              <a:spcBef>
                <a:spcPts val="1180"/>
              </a:spcBef>
              <a:buChar char="❖"/>
              <a:tabLst>
                <a:tab pos="200660" algn="l"/>
              </a:tabLst>
            </a:pP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Decompose the time</a:t>
            </a:r>
            <a:r>
              <a:rPr dirty="0" sz="1250" spc="-2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series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35037" y="4464858"/>
            <a:ext cx="8999855" cy="186118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64160" indent="-187960">
              <a:lnSpc>
                <a:spcPts val="1490"/>
              </a:lnSpc>
              <a:spcBef>
                <a:spcPts val="114"/>
              </a:spcBef>
              <a:buChar char="❖"/>
              <a:tabLst>
                <a:tab pos="264795" algn="l"/>
              </a:tabLst>
            </a:pP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Extract the trend, seasonal, and residual</a:t>
            </a:r>
            <a:r>
              <a:rPr dirty="0" sz="1250" spc="-1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components</a:t>
            </a:r>
            <a:endParaRPr sz="1250">
              <a:latin typeface="Courier New"/>
              <a:cs typeface="Courier New"/>
            </a:endParaRPr>
          </a:p>
          <a:p>
            <a:pPr marL="76835">
              <a:lnSpc>
                <a:spcPts val="138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res_df =</a:t>
            </a:r>
            <a:r>
              <a:rPr dirty="0" sz="1200" spc="1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pd.DataFrame({</a:t>
            </a:r>
            <a:endParaRPr sz="1200">
              <a:latin typeface="Courier New"/>
              <a:cs typeface="Courier New"/>
            </a:endParaRPr>
          </a:p>
          <a:p>
            <a:pPr marL="264160">
              <a:lnSpc>
                <a:spcPts val="1390"/>
              </a:lnSpc>
            </a:pP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"observed"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: res.observed,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"trend"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: res.trend,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"seasonal"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: res.seasonal,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"residual"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:</a:t>
            </a:r>
            <a:r>
              <a:rPr dirty="0" sz="1200" spc="19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res.resid</a:t>
            </a:r>
            <a:endParaRPr sz="1200">
              <a:latin typeface="Courier New"/>
              <a:cs typeface="Courier New"/>
            </a:endParaRPr>
          </a:p>
          <a:p>
            <a:pPr marL="264160">
              <a:lnSpc>
                <a:spcPts val="143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})</a:t>
            </a:r>
            <a:endParaRPr sz="1200">
              <a:latin typeface="Courier New"/>
              <a:cs typeface="Courier New"/>
            </a:endParaRPr>
          </a:p>
          <a:p>
            <a:pPr marL="76835" marR="5819775">
              <a:lnSpc>
                <a:spcPct val="97000"/>
              </a:lnSpc>
              <a:spcBef>
                <a:spcPts val="1255"/>
              </a:spcBef>
              <a:buChar char="❖"/>
              <a:tabLst>
                <a:tab pos="264795" algn="l"/>
              </a:tabLst>
            </a:pP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Plot the decomposed time </a:t>
            </a:r>
            <a:r>
              <a:rPr dirty="0" sz="1250" spc="-100" i="1">
                <a:solidFill>
                  <a:srgbClr val="999987"/>
                </a:solidFill>
                <a:latin typeface="Courier New"/>
                <a:cs typeface="Courier New"/>
              </a:rPr>
              <a:t>series </a:t>
            </a:r>
            <a:r>
              <a:rPr dirty="0" sz="1250" spc="-100" i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fig = res.plot()  fig.set_size_inches(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10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4.75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  fig.tight_layout()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</a:t>
            </a:r>
            <a:endParaRPr sz="650">
              <a:latin typeface="Segoe Fluent Icons"/>
              <a:cs typeface="Segoe Fluent Ico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34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40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96265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STL Decomposition in </a:t>
            </a:r>
            <a:r>
              <a:rPr dirty="0" sz="3350" spc="15">
                <a:latin typeface="Roboto Condensed"/>
                <a:cs typeface="Roboto Condensed"/>
              </a:rPr>
              <a:t>Python</a:t>
            </a:r>
            <a:r>
              <a:rPr dirty="0" sz="3350" spc="-6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(Out)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9543" y="1587272"/>
            <a:ext cx="9405556" cy="42801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35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30225"/>
            <a:ext cx="8084184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STL Decomposition vs Classical</a:t>
            </a:r>
            <a:r>
              <a:rPr dirty="0" sz="3350" spc="-30">
                <a:solidFill>
                  <a:srgbClr val="C2132D"/>
                </a:solidFill>
                <a:latin typeface="Roboto Condensed"/>
                <a:cs typeface="Roboto Condensed"/>
              </a:rPr>
              <a:t> </a:t>
            </a: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Decomposition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376044"/>
            <a:ext cx="8841105" cy="3397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800" b="1">
                <a:latin typeface="Roboto"/>
                <a:cs typeface="Roboto"/>
              </a:rPr>
              <a:t>In </a:t>
            </a:r>
            <a:r>
              <a:rPr dirty="0" sz="1800" spc="-5" b="1">
                <a:latin typeface="Roboto"/>
                <a:cs typeface="Roboto"/>
              </a:rPr>
              <a:t>two </a:t>
            </a:r>
            <a:r>
              <a:rPr dirty="0" sz="1800" b="1">
                <a:latin typeface="Roboto"/>
                <a:cs typeface="Roboto"/>
              </a:rPr>
              <a:t>minutes, </a:t>
            </a:r>
            <a:r>
              <a:rPr dirty="0" sz="1800" spc="-5" b="1">
                <a:latin typeface="Roboto"/>
                <a:cs typeface="Roboto"/>
              </a:rPr>
              <a:t>examine </a:t>
            </a:r>
            <a:r>
              <a:rPr dirty="0" sz="1800" b="1">
                <a:latin typeface="Roboto"/>
                <a:cs typeface="Roboto"/>
              </a:rPr>
              <a:t>the </a:t>
            </a:r>
            <a:r>
              <a:rPr dirty="0" sz="1800" spc="-5" b="1">
                <a:latin typeface="Roboto"/>
                <a:cs typeface="Roboto"/>
              </a:rPr>
              <a:t>differences between </a:t>
            </a:r>
            <a:r>
              <a:rPr dirty="0" sz="1800" b="1">
                <a:latin typeface="Roboto"/>
                <a:cs typeface="Roboto"/>
              </a:rPr>
              <a:t>the output </a:t>
            </a:r>
            <a:r>
              <a:rPr dirty="0" sz="1800" spc="-10" b="1">
                <a:latin typeface="Roboto"/>
                <a:cs typeface="Roboto"/>
              </a:rPr>
              <a:t>figures from </a:t>
            </a:r>
            <a:r>
              <a:rPr dirty="0" sz="1800" b="1">
                <a:latin typeface="Roboto"/>
                <a:cs typeface="Roboto"/>
              </a:rPr>
              <a:t>the </a:t>
            </a:r>
            <a:r>
              <a:rPr dirty="0" sz="1800" spc="-5" b="1">
                <a:latin typeface="Roboto"/>
                <a:cs typeface="Roboto"/>
              </a:rPr>
              <a:t>classical  decomposition (additive) and </a:t>
            </a:r>
            <a:r>
              <a:rPr dirty="0" sz="1800" b="1">
                <a:latin typeface="Roboto"/>
                <a:cs typeface="Roboto"/>
              </a:rPr>
              <a:t>the STL</a:t>
            </a:r>
            <a:r>
              <a:rPr dirty="0" sz="1800" spc="-10" b="1">
                <a:latin typeface="Roboto"/>
                <a:cs typeface="Roboto"/>
              </a:rPr>
              <a:t> </a:t>
            </a:r>
            <a:r>
              <a:rPr dirty="0" sz="1800" spc="-5" b="1">
                <a:latin typeface="Roboto"/>
                <a:cs typeface="Roboto"/>
              </a:rPr>
              <a:t>decomposition.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Edit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me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...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...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...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...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...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403080" y="182880"/>
            <a:ext cx="1978660" cy="966469"/>
          </a:xfrm>
          <a:custGeom>
            <a:avLst/>
            <a:gdLst/>
            <a:ahLst/>
            <a:cxnLst/>
            <a:rect l="l" t="t" r="r" b="b"/>
            <a:pathLst>
              <a:path w="1978659" h="966469">
                <a:moveTo>
                  <a:pt x="1978152" y="966216"/>
                </a:moveTo>
                <a:lnTo>
                  <a:pt x="0" y="966216"/>
                </a:lnTo>
                <a:lnTo>
                  <a:pt x="0" y="0"/>
                </a:lnTo>
                <a:lnTo>
                  <a:pt x="1978152" y="0"/>
                </a:lnTo>
                <a:lnTo>
                  <a:pt x="1978152" y="102870"/>
                </a:lnTo>
                <a:lnTo>
                  <a:pt x="274319" y="102870"/>
                </a:lnTo>
                <a:lnTo>
                  <a:pt x="261182" y="103504"/>
                </a:lnTo>
                <a:lnTo>
                  <a:pt x="223287" y="113020"/>
                </a:lnTo>
                <a:lnTo>
                  <a:pt x="189762" y="133087"/>
                </a:lnTo>
                <a:lnTo>
                  <a:pt x="163420" y="162120"/>
                </a:lnTo>
                <a:lnTo>
                  <a:pt x="146677" y="197568"/>
                </a:lnTo>
                <a:lnTo>
                  <a:pt x="140969" y="236220"/>
                </a:lnTo>
                <a:lnTo>
                  <a:pt x="140969" y="655320"/>
                </a:lnTo>
                <a:lnTo>
                  <a:pt x="146677" y="693971"/>
                </a:lnTo>
                <a:lnTo>
                  <a:pt x="163420" y="729419"/>
                </a:lnTo>
                <a:lnTo>
                  <a:pt x="189762" y="758452"/>
                </a:lnTo>
                <a:lnTo>
                  <a:pt x="223287" y="778519"/>
                </a:lnTo>
                <a:lnTo>
                  <a:pt x="261182" y="788035"/>
                </a:lnTo>
                <a:lnTo>
                  <a:pt x="274319" y="788670"/>
                </a:lnTo>
                <a:lnTo>
                  <a:pt x="1978152" y="788670"/>
                </a:lnTo>
                <a:lnTo>
                  <a:pt x="1978152" y="966216"/>
                </a:lnTo>
                <a:close/>
              </a:path>
              <a:path w="1978659" h="966469">
                <a:moveTo>
                  <a:pt x="1978152" y="788670"/>
                </a:moveTo>
                <a:lnTo>
                  <a:pt x="1703069" y="788670"/>
                </a:lnTo>
                <a:lnTo>
                  <a:pt x="1716205" y="788035"/>
                </a:lnTo>
                <a:lnTo>
                  <a:pt x="1729088" y="786132"/>
                </a:lnTo>
                <a:lnTo>
                  <a:pt x="1765992" y="772906"/>
                </a:lnTo>
                <a:lnTo>
                  <a:pt x="1797360" y="749612"/>
                </a:lnTo>
                <a:lnTo>
                  <a:pt x="1820653" y="718244"/>
                </a:lnTo>
                <a:lnTo>
                  <a:pt x="1833880" y="681340"/>
                </a:lnTo>
                <a:lnTo>
                  <a:pt x="1836419" y="655320"/>
                </a:lnTo>
                <a:lnTo>
                  <a:pt x="1836419" y="236220"/>
                </a:lnTo>
                <a:lnTo>
                  <a:pt x="1830708" y="197568"/>
                </a:lnTo>
                <a:lnTo>
                  <a:pt x="1813965" y="162120"/>
                </a:lnTo>
                <a:lnTo>
                  <a:pt x="1787623" y="133087"/>
                </a:lnTo>
                <a:lnTo>
                  <a:pt x="1754098" y="113020"/>
                </a:lnTo>
                <a:lnTo>
                  <a:pt x="1716205" y="103504"/>
                </a:lnTo>
                <a:lnTo>
                  <a:pt x="1703069" y="102870"/>
                </a:lnTo>
                <a:lnTo>
                  <a:pt x="1978152" y="102870"/>
                </a:lnTo>
                <a:lnTo>
                  <a:pt x="1978152" y="788670"/>
                </a:lnTo>
                <a:close/>
              </a:path>
            </a:pathLst>
          </a:custGeom>
          <a:solidFill>
            <a:srgbClr val="323232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548811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1565780" y="676274"/>
                </a:moveTo>
                <a:lnTo>
                  <a:pt x="120144" y="676274"/>
                </a:lnTo>
                <a:lnTo>
                  <a:pt x="111782" y="675451"/>
                </a:lnTo>
                <a:lnTo>
                  <a:pt x="71578" y="663255"/>
                </a:lnTo>
                <a:lnTo>
                  <a:pt x="31692" y="632642"/>
                </a:lnTo>
                <a:lnTo>
                  <a:pt x="6556" y="589095"/>
                </a:lnTo>
                <a:lnTo>
                  <a:pt x="0" y="556130"/>
                </a:lnTo>
                <a:lnTo>
                  <a:pt x="0" y="120144"/>
                </a:lnTo>
                <a:lnTo>
                  <a:pt x="13018" y="71578"/>
                </a:lnTo>
                <a:lnTo>
                  <a:pt x="43632" y="31692"/>
                </a:lnTo>
                <a:lnTo>
                  <a:pt x="87178" y="6557"/>
                </a:lnTo>
                <a:lnTo>
                  <a:pt x="120144" y="0"/>
                </a:lnTo>
                <a:lnTo>
                  <a:pt x="1565780" y="0"/>
                </a:lnTo>
                <a:lnTo>
                  <a:pt x="1614345" y="13019"/>
                </a:lnTo>
                <a:lnTo>
                  <a:pt x="1654232" y="43632"/>
                </a:lnTo>
                <a:lnTo>
                  <a:pt x="1679366" y="87179"/>
                </a:lnTo>
                <a:lnTo>
                  <a:pt x="1685925" y="120144"/>
                </a:lnTo>
                <a:lnTo>
                  <a:pt x="1685925" y="556130"/>
                </a:lnTo>
                <a:lnTo>
                  <a:pt x="1672904" y="604696"/>
                </a:lnTo>
                <a:lnTo>
                  <a:pt x="1642292" y="644582"/>
                </a:lnTo>
                <a:lnTo>
                  <a:pt x="1598743" y="669717"/>
                </a:lnTo>
                <a:lnTo>
                  <a:pt x="1565780" y="6762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548810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0" y="547687"/>
                </a:moveTo>
                <a:lnTo>
                  <a:pt x="0" y="128587"/>
                </a:lnTo>
                <a:lnTo>
                  <a:pt x="0" y="120144"/>
                </a:lnTo>
                <a:lnTo>
                  <a:pt x="823" y="111782"/>
                </a:lnTo>
                <a:lnTo>
                  <a:pt x="2470" y="103501"/>
                </a:lnTo>
                <a:lnTo>
                  <a:pt x="4117" y="95220"/>
                </a:lnTo>
                <a:lnTo>
                  <a:pt x="6556" y="87179"/>
                </a:lnTo>
                <a:lnTo>
                  <a:pt x="9787" y="79379"/>
                </a:lnTo>
                <a:lnTo>
                  <a:pt x="13018" y="71578"/>
                </a:lnTo>
                <a:lnTo>
                  <a:pt x="37662" y="37662"/>
                </a:lnTo>
                <a:lnTo>
                  <a:pt x="43632" y="31692"/>
                </a:lnTo>
                <a:lnTo>
                  <a:pt x="50127" y="26361"/>
                </a:lnTo>
                <a:lnTo>
                  <a:pt x="57147" y="21670"/>
                </a:lnTo>
                <a:lnTo>
                  <a:pt x="64167" y="16980"/>
                </a:lnTo>
                <a:lnTo>
                  <a:pt x="71577" y="13019"/>
                </a:lnTo>
                <a:lnTo>
                  <a:pt x="79378" y="9788"/>
                </a:lnTo>
                <a:lnTo>
                  <a:pt x="87178" y="6557"/>
                </a:lnTo>
                <a:lnTo>
                  <a:pt x="95219" y="4117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8" y="0"/>
                </a:lnTo>
                <a:lnTo>
                  <a:pt x="1557337" y="0"/>
                </a:lnTo>
                <a:lnTo>
                  <a:pt x="1565780" y="0"/>
                </a:lnTo>
                <a:lnTo>
                  <a:pt x="1574142" y="823"/>
                </a:lnTo>
                <a:lnTo>
                  <a:pt x="1582422" y="2470"/>
                </a:lnTo>
                <a:lnTo>
                  <a:pt x="1590703" y="4117"/>
                </a:lnTo>
                <a:lnTo>
                  <a:pt x="1598743" y="6557"/>
                </a:lnTo>
                <a:lnTo>
                  <a:pt x="1606544" y="9788"/>
                </a:lnTo>
                <a:lnTo>
                  <a:pt x="1614344" y="13019"/>
                </a:lnTo>
                <a:lnTo>
                  <a:pt x="1648262" y="37662"/>
                </a:lnTo>
                <a:lnTo>
                  <a:pt x="1672904" y="71578"/>
                </a:lnTo>
                <a:lnTo>
                  <a:pt x="1685101" y="111782"/>
                </a:lnTo>
                <a:lnTo>
                  <a:pt x="1685925" y="120144"/>
                </a:lnTo>
                <a:lnTo>
                  <a:pt x="1685925" y="128587"/>
                </a:lnTo>
                <a:lnTo>
                  <a:pt x="1685925" y="547687"/>
                </a:lnTo>
                <a:lnTo>
                  <a:pt x="1685925" y="556130"/>
                </a:lnTo>
                <a:lnTo>
                  <a:pt x="1685101" y="564492"/>
                </a:lnTo>
                <a:lnTo>
                  <a:pt x="1672904" y="604696"/>
                </a:lnTo>
                <a:lnTo>
                  <a:pt x="1648262" y="638612"/>
                </a:lnTo>
                <a:lnTo>
                  <a:pt x="1628775" y="654603"/>
                </a:lnTo>
                <a:lnTo>
                  <a:pt x="1621754" y="659294"/>
                </a:lnTo>
                <a:lnTo>
                  <a:pt x="1614344" y="663255"/>
                </a:lnTo>
                <a:lnTo>
                  <a:pt x="1606544" y="666486"/>
                </a:lnTo>
                <a:lnTo>
                  <a:pt x="1598743" y="669717"/>
                </a:lnTo>
                <a:lnTo>
                  <a:pt x="1590703" y="672156"/>
                </a:lnTo>
                <a:lnTo>
                  <a:pt x="1582422" y="673804"/>
                </a:lnTo>
                <a:lnTo>
                  <a:pt x="1574142" y="675451"/>
                </a:lnTo>
                <a:lnTo>
                  <a:pt x="1565780" y="676274"/>
                </a:lnTo>
                <a:lnTo>
                  <a:pt x="1557337" y="676274"/>
                </a:lnTo>
                <a:lnTo>
                  <a:pt x="128588" y="676274"/>
                </a:lnTo>
                <a:lnTo>
                  <a:pt x="120144" y="676274"/>
                </a:lnTo>
                <a:lnTo>
                  <a:pt x="111782" y="675451"/>
                </a:lnTo>
                <a:lnTo>
                  <a:pt x="103501" y="673804"/>
                </a:lnTo>
                <a:lnTo>
                  <a:pt x="95219" y="672156"/>
                </a:lnTo>
                <a:lnTo>
                  <a:pt x="87178" y="669717"/>
                </a:lnTo>
                <a:lnTo>
                  <a:pt x="79378" y="666486"/>
                </a:lnTo>
                <a:lnTo>
                  <a:pt x="71578" y="663255"/>
                </a:lnTo>
                <a:lnTo>
                  <a:pt x="64167" y="659294"/>
                </a:lnTo>
                <a:lnTo>
                  <a:pt x="57147" y="654603"/>
                </a:lnTo>
                <a:lnTo>
                  <a:pt x="50127" y="649913"/>
                </a:lnTo>
                <a:lnTo>
                  <a:pt x="21670" y="619126"/>
                </a:lnTo>
                <a:lnTo>
                  <a:pt x="16979" y="612106"/>
                </a:lnTo>
                <a:lnTo>
                  <a:pt x="13018" y="604696"/>
                </a:lnTo>
                <a:lnTo>
                  <a:pt x="9787" y="596895"/>
                </a:lnTo>
                <a:lnTo>
                  <a:pt x="6556" y="589095"/>
                </a:lnTo>
                <a:lnTo>
                  <a:pt x="4117" y="581054"/>
                </a:lnTo>
                <a:lnTo>
                  <a:pt x="2470" y="572773"/>
                </a:lnTo>
                <a:lnTo>
                  <a:pt x="823" y="564492"/>
                </a:lnTo>
                <a:lnTo>
                  <a:pt x="0" y="556130"/>
                </a:lnTo>
                <a:lnTo>
                  <a:pt x="0" y="547687"/>
                </a:lnTo>
                <a:close/>
              </a:path>
            </a:pathLst>
          </a:custGeom>
          <a:ln w="28574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02:00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35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98136" y="2779776"/>
            <a:ext cx="1746885" cy="1015365"/>
          </a:xfrm>
          <a:prstGeom prst="rect"/>
          <a:solidFill>
            <a:srgbClr val="333333"/>
          </a:solidFill>
        </p:spPr>
        <p:txBody>
          <a:bodyPr wrap="square" lIns="0" tIns="118745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935"/>
              </a:spcBef>
            </a:pP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R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R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c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c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p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p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7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7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4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4</a:t>
            </a:r>
            <a:r>
              <a:rPr dirty="0" sz="1200" spc="-340">
                <a:latin typeface="Roboto"/>
                <a:cs typeface="Roboto"/>
              </a:rPr>
              <a:t>0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0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38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1783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5">
                <a:latin typeface="Roboto Condensed"/>
                <a:cs typeface="Roboto Condensed"/>
              </a:rPr>
              <a:t>Summary </a:t>
            </a:r>
            <a:r>
              <a:rPr dirty="0" sz="3350" spc="10">
                <a:latin typeface="Roboto Condensed"/>
                <a:cs typeface="Roboto Condensed"/>
              </a:rPr>
              <a:t>of Main</a:t>
            </a:r>
            <a:r>
              <a:rPr dirty="0" sz="3350" spc="-65">
                <a:latin typeface="Roboto Condensed"/>
                <a:cs typeface="Roboto Condensed"/>
              </a:rPr>
              <a:t> </a:t>
            </a:r>
            <a:r>
              <a:rPr dirty="0" sz="3350" spc="5">
                <a:latin typeface="Roboto Condensed"/>
                <a:cs typeface="Roboto Condensed"/>
              </a:rPr>
              <a:t>Points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8140065" cy="2157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By </a:t>
            </a:r>
            <a:r>
              <a:rPr dirty="0" sz="1800" spc="-30">
                <a:solidFill>
                  <a:srgbClr val="585D60"/>
                </a:solidFill>
                <a:latin typeface="Roboto"/>
                <a:cs typeface="Roboto"/>
              </a:rPr>
              <a:t>now,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should be able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do the</a:t>
            </a:r>
            <a:r>
              <a:rPr dirty="0" sz="1800" spc="3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following: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Describe and compute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centered moving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averages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Estimate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trend-cycle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via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moving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averages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Perform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classical decomposition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(trend-cycle,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seasonal,</a:t>
            </a:r>
            <a:r>
              <a:rPr dirty="0" sz="1800" spc="6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residual/remainder)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Understand STL / MSTL as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alternatives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classical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decomposition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38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4457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00" spc="2155">
                <a:latin typeface="Arial"/>
                <a:cs typeface="Arial"/>
              </a:rPr>
              <a:t>📝</a:t>
            </a:r>
            <a:r>
              <a:rPr dirty="0" sz="3300" spc="-195">
                <a:latin typeface="Arial"/>
                <a:cs typeface="Arial"/>
              </a:rPr>
              <a:t> </a:t>
            </a:r>
            <a:r>
              <a:rPr dirty="0" sz="3350" spc="5">
                <a:latin typeface="Roboto Condensed"/>
                <a:cs typeface="Roboto Condensed"/>
              </a:rPr>
              <a:t>Review </a:t>
            </a:r>
            <a:r>
              <a:rPr dirty="0" sz="3350" spc="10">
                <a:latin typeface="Roboto Condensed"/>
                <a:cs typeface="Roboto Condensed"/>
              </a:rPr>
              <a:t>and </a:t>
            </a:r>
            <a:r>
              <a:rPr dirty="0" sz="3350" spc="-5">
                <a:latin typeface="Roboto Condensed"/>
                <a:cs typeface="Roboto Condensed"/>
              </a:rPr>
              <a:t>Clarification </a:t>
            </a:r>
            <a:r>
              <a:rPr dirty="0" sz="3300" spc="2155">
                <a:latin typeface="Arial"/>
                <a:cs typeface="Arial"/>
              </a:rPr>
              <a:t>📝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413240" cy="181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Class Notes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 spc="-30">
                <a:solidFill>
                  <a:srgbClr val="585D60"/>
                </a:solidFill>
                <a:latin typeface="Roboto"/>
                <a:cs typeface="Roboto"/>
              </a:rPr>
              <a:t>Take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some time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revisit your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class notes for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key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insights and</a:t>
            </a:r>
            <a:r>
              <a:rPr dirty="0" sz="1800" spc="3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concepts.</a:t>
            </a:r>
            <a:endParaRPr sz="1800">
              <a:latin typeface="Roboto"/>
              <a:cs typeface="Roboto"/>
            </a:endParaRPr>
          </a:p>
          <a:p>
            <a:pPr marL="146050" marR="1016635" indent="-133985">
              <a:lnSpc>
                <a:spcPct val="118100"/>
              </a:lnSpc>
              <a:spcBef>
                <a:spcPts val="9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Zoom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Recording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recording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today's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class will be made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available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Canvas  approximately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3-4 hours after the session ends.</a:t>
            </a:r>
            <a:endParaRPr sz="1800">
              <a:latin typeface="Roboto"/>
              <a:cs typeface="Roboto"/>
            </a:endParaRPr>
          </a:p>
          <a:p>
            <a:pPr marL="146050" marR="5080" indent="-133985">
              <a:lnSpc>
                <a:spcPct val="118100"/>
              </a:lnSpc>
              <a:spcBef>
                <a:spcPts val="819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Questions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Please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don't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hesitate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ask for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clarification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on any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topics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discussed in class.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It's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crucial not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let questions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accumulate.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38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40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341312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00" spc="2155">
                <a:latin typeface="Arial"/>
                <a:cs typeface="Arial"/>
              </a:rPr>
              <a:t>🎯</a:t>
            </a:r>
            <a:r>
              <a:rPr dirty="0" sz="3300" spc="-204">
                <a:latin typeface="Arial"/>
                <a:cs typeface="Arial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Assignment </a:t>
            </a:r>
            <a:r>
              <a:rPr dirty="0" sz="3300" spc="2155">
                <a:latin typeface="Arial"/>
                <a:cs typeface="Arial"/>
              </a:rPr>
              <a:t>🎯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333230" cy="3004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preparation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the assignment,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encouraged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thoroughly read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</a:t>
            </a:r>
            <a:r>
              <a:rPr dirty="0" sz="1800" spc="3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following: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MSTL API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Reference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statsmodels package.</a:t>
            </a:r>
            <a:endParaRPr sz="1800">
              <a:latin typeface="Roboto"/>
              <a:cs typeface="Roboto"/>
            </a:endParaRPr>
          </a:p>
          <a:p>
            <a:pPr lvl="1" marL="527050" marR="485140" indent="-133985">
              <a:lnSpc>
                <a:spcPct val="116300"/>
              </a:lnSpc>
              <a:spcBef>
                <a:spcPts val="935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Multi-Seasonal Time Series Decomposition using MSTL in Python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, a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Towards</a:t>
            </a:r>
            <a:r>
              <a:rPr dirty="0" sz="1800" spc="-9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  Science Blog, which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demonstrates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how the MSTL method works and can be  implemented on a similar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dataset.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Skim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through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MSTL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Research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 </a:t>
            </a:r>
            <a:r>
              <a:rPr dirty="0" sz="1800" spc="-2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Paper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146050" marR="5080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Once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read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references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went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over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our class notes,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now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ready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examine  and complete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5"/>
              </a:rPr>
              <a:t>Assignment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5"/>
              </a:rPr>
              <a:t>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5"/>
              </a:rPr>
              <a:t>04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444/544: Business Forecasting</dc:title>
  <dcterms:created xsi:type="dcterms:W3CDTF">2025-09-11T12:40:12Z</dcterms:created>
  <dcterms:modified xsi:type="dcterms:W3CDTF">2025-09-11T12:40:12Z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2025-09-11T00:00:00Z</vt:filetime>
  </property>
  <property fmtid="{D5CDD505-2E9C-101B-9397-08002B2CF9AE}" pid="3" name="Creator">
    <vt:lpwstr>Mozilla/5.0 (Windows NT 10.0; Win64; x64) AppleWebKit/537.36 (KHTML, like Gecko) Chrome/140.0.0.0 Safari/537.36</vt:lpwstr>
  </property>
  <property fmtid="{D5CDD505-2E9C-101B-9397-08002B2CF9AE}" pid="4" name="LastSaved">
    <vt:filetime>2025-09-11T00:00:00Z</vt:filetime>
  </property>
</Properties>
</file>