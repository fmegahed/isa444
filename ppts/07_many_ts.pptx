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64870" y="2011807"/>
            <a:ext cx="9801860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33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9052" y="320675"/>
            <a:ext cx="1065349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2031" y="1507394"/>
            <a:ext cx="7223125" cy="2661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33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eaborn.pydata.org/generated/seaborn.relplot.html" TargetMode="External"/><Relationship Id="rId3" Type="http://schemas.openxmlformats.org/officeDocument/2006/relationships/hyperlink" Target="https://nixtlaverse.nixtla.io/utilsforecast/index.html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nixtlaverse.nixtla.io/statsforecast/docs/getting-started/getting_started_complete.html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nixtlaverse.nixtla.io/statsforecast/docs/getting-started/getting_started_complete.html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eaborn.pydata.org/generated/seaborn.objects.Plot.html" TargetMode="External"/><Relationship Id="rId3" Type="http://schemas.openxmlformats.org/officeDocument/2006/relationships/hyperlink" Target="https://seaborn.pydata.org/generated/seaborn.scatterplot.html#seaborn.scatterplot" TargetMode="External"/><Relationship Id="rId4" Type="http://schemas.openxmlformats.org/officeDocument/2006/relationships/hyperlink" Target="https://seaborn.pydata.org/generated/seaborn.lineplot.html#seaborn.lineplot" TargetMode="External"/><Relationship Id="rId5" Type="http://schemas.openxmlformats.org/officeDocument/2006/relationships/hyperlink" Target="https://seaborn.pydata.org/generated/seaborn.objects.Dot.html" TargetMode="External"/><Relationship Id="rId6" Type="http://schemas.openxmlformats.org/officeDocument/2006/relationships/hyperlink" Target="https://seaborn.pydata.org/generated/seaborn.objects.Dots.html" TargetMode="External"/><Relationship Id="rId7" Type="http://schemas.openxmlformats.org/officeDocument/2006/relationships/hyperlink" Target="https://seaborn.pydata.org/generated/seaborn.objects.Line.html" TargetMode="External"/><Relationship Id="rId8" Type="http://schemas.openxmlformats.org/officeDocument/2006/relationships/hyperlink" Target="https://seaborn.pydata.org/generated/seaborn.objects.Lines.html" TargetMode="External"/><Relationship Id="rId9" Type="http://schemas.openxmlformats.org/officeDocument/2006/relationships/hyperlink" Target="https://seaborn.pydata.org/generated/seaborn.objects.Path.html" TargetMode="External"/><Relationship Id="rId10" Type="http://schemas.openxmlformats.org/officeDocument/2006/relationships/hyperlink" Target="https://seaborn.pydata.org/generated/seaborn.objects.Paths.html" TargetMode="External"/><Relationship Id="rId11" Type="http://schemas.openxmlformats.org/officeDocument/2006/relationships/hyperlink" Target="https://seaborn.pydata.org/generated/seaborn.objects.Dash.html" TargetMode="External"/><Relationship Id="rId12" Type="http://schemas.openxmlformats.org/officeDocument/2006/relationships/hyperlink" Target="https://seaborn.pydata.org/generated/seaborn.objects.Range.html" TargetMode="External"/><Relationship Id="rId13" Type="http://schemas.openxmlformats.org/officeDocument/2006/relationships/hyperlink" Target="https://seaborn.pydata.org/generated/seaborn.objects.Bar.html" TargetMode="External"/><Relationship Id="rId14" Type="http://schemas.openxmlformats.org/officeDocument/2006/relationships/hyperlink" Target="https://seaborn.pydata.org/generated/seaborn.objects.Bars.html" TargetMode="External"/><Relationship Id="rId15" Type="http://schemas.openxmlformats.org/officeDocument/2006/relationships/hyperlink" Target="https://seaborn.pydata.org/generated/seaborn.objects.Area.html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iamioh.instructure.com/courses/240425/files/36714508?module_item_id=6207531" TargetMode="External"/><Relationship Id="rId3" Type="http://schemas.openxmlformats.org/officeDocument/2006/relationships/hyperlink" Target="https://nixtlaverse.nixtla.io/utilsforecast/index.html" TargetMode="External"/><Relationship Id="rId4" Type="http://schemas.openxmlformats.org/officeDocument/2006/relationships/hyperlink" Target="https://nixtlaverse.nixtla.io/utilsforecast/plotting.html" TargetMode="Externa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eaborn.pydata.org/generated/seaborn.relplot.html" TargetMode="External"/><Relationship Id="rId3" Type="http://schemas.openxmlformats.org/officeDocument/2006/relationships/hyperlink" Target="https://nixtlaverse.nixtla.io/utilsforecast/index.html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5948045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10">
                <a:solidFill>
                  <a:srgbClr val="FFFFFF"/>
                </a:solidFill>
                <a:latin typeface="Roboto Condensed"/>
                <a:cs typeface="Roboto Condensed"/>
              </a:rPr>
              <a:t>ISA 444/544: Business</a:t>
            </a:r>
            <a:r>
              <a:rPr dirty="0" sz="3350" spc="-6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3350" spc="5">
                <a:solidFill>
                  <a:srgbClr val="FFFFFF"/>
                </a:solidFill>
                <a:latin typeface="Roboto Condensed"/>
                <a:cs typeface="Roboto Condensed"/>
              </a:rPr>
              <a:t>Forecasting</a:t>
            </a:r>
            <a:endParaRPr sz="3350">
              <a:latin typeface="Roboto Condensed"/>
              <a:cs typeface="Roboto Condensed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07: </a:t>
            </a:r>
            <a:r>
              <a:rPr dirty="0" sz="3000" spc="-20">
                <a:solidFill>
                  <a:srgbClr val="FFFFFF"/>
                </a:solidFill>
                <a:latin typeface="Times New Roman"/>
                <a:cs typeface="Times New Roman"/>
              </a:rPr>
              <a:t>Visualizing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Many</a:t>
            </a:r>
            <a:r>
              <a:rPr dirty="0" sz="3000" spc="-1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Time-Series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"/>
              <a:cs typeface="Arial"/>
            </a:endParaRPr>
          </a:p>
          <a:p>
            <a:pPr marL="12700" marR="20320">
              <a:lnSpc>
                <a:spcPts val="2100"/>
              </a:lnSpc>
            </a:pP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Raymond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E. Glos Professor </a:t>
            </a:r>
            <a:r>
              <a:rPr dirty="0" sz="1850" spc="5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Farmer School of</a:t>
            </a:r>
            <a:r>
              <a:rPr dirty="0" sz="18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1975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Fall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0190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Quick </a:t>
            </a:r>
            <a:r>
              <a:rPr dirty="0" sz="3350" spc="5">
                <a:latin typeface="Roboto Condensed"/>
                <a:cs typeface="Roboto Condensed"/>
              </a:rPr>
              <a:t>Refresher </a:t>
            </a:r>
            <a:r>
              <a:rPr dirty="0" sz="3350" spc="10">
                <a:latin typeface="Roboto Condensed"/>
                <a:cs typeface="Roboto Condensed"/>
              </a:rPr>
              <a:t>of Last</a:t>
            </a:r>
            <a:r>
              <a:rPr dirty="0" sz="3350" spc="-5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Class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8129905" cy="160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Describe and compute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centered moving</a:t>
            </a:r>
            <a:r>
              <a:rPr dirty="0" sz="1800" spc="-1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averages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Estimate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trend-cycle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via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moving</a:t>
            </a:r>
            <a:r>
              <a:rPr dirty="0" sz="1800" spc="-1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averages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Perform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classical decomposition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(trend-cycle,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seasonal,</a:t>
            </a:r>
            <a:r>
              <a:rPr dirty="0" sz="1800" spc="-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residual/remainder)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 STL / MSTL as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alternatives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classical</a:t>
            </a:r>
            <a:r>
              <a:rPr dirty="0" sz="1800" spc="-9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decomposition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290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Learning </a:t>
            </a:r>
            <a:r>
              <a:rPr dirty="0" sz="3350" spc="5">
                <a:latin typeface="Roboto Condensed"/>
                <a:cs typeface="Roboto Condensed"/>
              </a:rPr>
              <a:t>Objectives for </a:t>
            </a:r>
            <a:r>
              <a:rPr dirty="0" sz="3350" spc="-35">
                <a:latin typeface="Roboto Condensed"/>
                <a:cs typeface="Roboto Condensed"/>
              </a:rPr>
              <a:t>Today's</a:t>
            </a:r>
            <a:r>
              <a:rPr dirty="0" sz="3350" spc="-6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Class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6282055" cy="161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Explain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differences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between wide vs. long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format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seaborn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plot multiple time-series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Convert a data set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Nixtla's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long format (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unique_id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ds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</a:t>
            </a:r>
            <a:r>
              <a:rPr dirty="0" sz="1800" spc="7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y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)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UtilsForecast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visualize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multiple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series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6976" y="2758440"/>
            <a:ext cx="5047615" cy="1039494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105"/>
              </a:spcBef>
            </a:pPr>
            <a:r>
              <a:rPr dirty="0" sz="4100" spc="-1000">
                <a:solidFill>
                  <a:srgbClr val="000000"/>
                </a:solidFill>
                <a:latin typeface="Roboto Condensed"/>
                <a:cs typeface="Roboto Condensed"/>
              </a:rPr>
              <a:t>W</a:t>
            </a:r>
            <a:r>
              <a:rPr dirty="0" sz="4100" spc="-1000">
                <a:solidFill>
                  <a:srgbClr val="FFFFFF"/>
                </a:solidFill>
                <a:latin typeface="Roboto Condensed"/>
                <a:cs typeface="Roboto Condensed"/>
              </a:rPr>
              <a:t>W</a:t>
            </a:r>
            <a:r>
              <a:rPr dirty="0" sz="4100" spc="-100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100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1000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1000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-100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100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1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869">
                <a:solidFill>
                  <a:srgbClr val="000000"/>
                </a:solidFill>
                <a:latin typeface="Roboto Condensed"/>
                <a:cs typeface="Roboto Condensed"/>
              </a:rPr>
              <a:t>V</a:t>
            </a:r>
            <a:r>
              <a:rPr dirty="0" sz="4100" spc="-869">
                <a:solidFill>
                  <a:srgbClr val="FFFFFF"/>
                </a:solidFill>
                <a:latin typeface="Roboto Condensed"/>
                <a:cs typeface="Roboto Condensed"/>
              </a:rPr>
              <a:t>V</a:t>
            </a:r>
            <a:r>
              <a:rPr dirty="0" sz="4100" spc="-869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869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869">
                <a:solidFill>
                  <a:srgbClr val="000000"/>
                </a:solidFill>
                <a:latin typeface="Roboto Condensed"/>
                <a:cs typeface="Roboto Condensed"/>
              </a:rPr>
              <a:t>.</a:t>
            </a:r>
            <a:r>
              <a:rPr dirty="0" sz="4100" spc="-869">
                <a:solidFill>
                  <a:srgbClr val="FFFFFF"/>
                </a:solidFill>
                <a:latin typeface="Roboto Condensed"/>
                <a:cs typeface="Roboto Condensed"/>
              </a:rPr>
              <a:t>.</a:t>
            </a:r>
            <a:r>
              <a:rPr dirty="0" sz="4100" spc="-80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1000">
                <a:solidFill>
                  <a:srgbClr val="000000"/>
                </a:solidFill>
                <a:latin typeface="Roboto Condensed"/>
                <a:cs typeface="Roboto Condensed"/>
              </a:rPr>
              <a:t>L</a:t>
            </a:r>
            <a:r>
              <a:rPr dirty="0" sz="4100" spc="-1000">
                <a:solidFill>
                  <a:srgbClr val="FFFFFF"/>
                </a:solidFill>
                <a:latin typeface="Roboto Condensed"/>
                <a:cs typeface="Roboto Condensed"/>
              </a:rPr>
              <a:t>L</a:t>
            </a:r>
            <a:r>
              <a:rPr dirty="0" sz="4100" spc="-100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100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100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100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1000">
                <a:solidFill>
                  <a:srgbClr val="000000"/>
                </a:solidFill>
                <a:latin typeface="Roboto Condensed"/>
                <a:cs typeface="Roboto Condensed"/>
              </a:rPr>
              <a:t>g</a:t>
            </a:r>
            <a:r>
              <a:rPr dirty="0" sz="4100" spc="-1000">
                <a:solidFill>
                  <a:srgbClr val="FFFFFF"/>
                </a:solidFill>
                <a:latin typeface="Roboto Condensed"/>
                <a:cs typeface="Roboto Condensed"/>
              </a:rPr>
              <a:t>g</a:t>
            </a:r>
            <a:r>
              <a:rPr dirty="0" sz="4100" spc="2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F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F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m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713719" y="5995415"/>
            <a:ext cx="811530" cy="491490"/>
          </a:xfrm>
          <a:custGeom>
            <a:avLst/>
            <a:gdLst/>
            <a:ahLst/>
            <a:cxnLst/>
            <a:rect l="l" t="t" r="r" b="b"/>
            <a:pathLst>
              <a:path w="811529" h="491489">
                <a:moveTo>
                  <a:pt x="0" y="0"/>
                </a:moveTo>
                <a:lnTo>
                  <a:pt x="811529" y="0"/>
                </a:lnTo>
                <a:lnTo>
                  <a:pt x="8115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95549" y="1433512"/>
            <a:ext cx="6534150" cy="0"/>
          </a:xfrm>
          <a:custGeom>
            <a:avLst/>
            <a:gdLst/>
            <a:ahLst/>
            <a:cxnLst/>
            <a:rect l="l" t="t" r="r" b="b"/>
            <a:pathLst>
              <a:path w="6534150" h="0">
                <a:moveTo>
                  <a:pt x="0" y="0"/>
                </a:moveTo>
                <a:lnTo>
                  <a:pt x="65341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495549" y="6376987"/>
            <a:ext cx="6534150" cy="0"/>
          </a:xfrm>
          <a:custGeom>
            <a:avLst/>
            <a:gdLst/>
            <a:ahLst/>
            <a:cxnLst/>
            <a:rect l="l" t="t" r="r" b="b"/>
            <a:pathLst>
              <a:path w="6534150" h="0">
                <a:moveTo>
                  <a:pt x="0" y="0"/>
                </a:moveTo>
                <a:lnTo>
                  <a:pt x="65341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14599" y="1457325"/>
          <a:ext cx="6496050" cy="4895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0"/>
                <a:gridCol w="1866900"/>
                <a:gridCol w="1371600"/>
                <a:gridCol w="2000250"/>
              </a:tblGrid>
              <a:tr h="366712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5" b="1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Date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15" b="1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Temperature</a:t>
                      </a:r>
                      <a:r>
                        <a:rPr dirty="0" sz="1800" spc="-55" b="1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 spc="-5" b="1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(°F)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b="1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Muggy</a:t>
                      </a:r>
                      <a:r>
                        <a:rPr dirty="0" sz="1800" spc="-100" b="1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 spc="-5" b="1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Days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8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b="1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Rainy/Snowy</a:t>
                      </a:r>
                      <a:r>
                        <a:rPr dirty="0" sz="1800" spc="-100" b="1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 spc="-5" b="1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Days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404812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2024-01-01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52069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31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5206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0.0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5206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683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7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5206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2024-02-01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34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0.0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8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6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400049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2024-03-01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44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0.0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83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9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2024-04-01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54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0.1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8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10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400049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2024-05-01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64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3.4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83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12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61949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2024-06-01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72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12.3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8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11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90524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2024-07-01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76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4762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18.2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83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11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61949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2024-08-01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74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15.5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8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9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90524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2024-09-01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67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7.0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83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7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61949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2024-10-01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55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0.9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8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7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400049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2024-11-01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45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0.0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83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7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2024-12-01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35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0.0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8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8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21647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Wide</a:t>
            </a:r>
            <a:r>
              <a:rPr dirty="0" sz="3350" spc="-65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Format</a:t>
            </a:r>
            <a:endParaRPr sz="3350">
              <a:latin typeface="Roboto Condensed"/>
              <a:cs typeface="Roboto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37591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Characteristics </a:t>
            </a:r>
            <a:r>
              <a:rPr dirty="0" sz="3350" spc="10">
                <a:latin typeface="Roboto Condensed"/>
                <a:cs typeface="Roboto Condensed"/>
              </a:rPr>
              <a:t>of Wide </a:t>
            </a:r>
            <a:r>
              <a:rPr dirty="0" sz="3350" spc="-5">
                <a:latin typeface="Roboto Condensed"/>
                <a:cs typeface="Roboto Condensed"/>
              </a:rPr>
              <a:t>TS</a:t>
            </a:r>
            <a:r>
              <a:rPr dirty="0" sz="3350" spc="-12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Data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8338184" cy="1490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Each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row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represents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single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observation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Each column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represents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different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 series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Easy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understand (but not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appropriate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analysis if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using 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nixtlaverse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group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Python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packages)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71900" y="1433512"/>
            <a:ext cx="3981450" cy="0"/>
          </a:xfrm>
          <a:custGeom>
            <a:avLst/>
            <a:gdLst/>
            <a:ahLst/>
            <a:cxnLst/>
            <a:rect l="l" t="t" r="r" b="b"/>
            <a:pathLst>
              <a:path w="3981450" h="0">
                <a:moveTo>
                  <a:pt x="0" y="0"/>
                </a:moveTo>
                <a:lnTo>
                  <a:pt x="39814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771900" y="6376987"/>
            <a:ext cx="3981450" cy="0"/>
          </a:xfrm>
          <a:custGeom>
            <a:avLst/>
            <a:gdLst/>
            <a:ahLst/>
            <a:cxnLst/>
            <a:rect l="l" t="t" r="r" b="b"/>
            <a:pathLst>
              <a:path w="3981450" h="0">
                <a:moveTo>
                  <a:pt x="0" y="0"/>
                </a:moveTo>
                <a:lnTo>
                  <a:pt x="39814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90950" y="1457325"/>
          <a:ext cx="3943350" cy="4895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825"/>
                <a:gridCol w="1990725"/>
                <a:gridCol w="685800"/>
              </a:tblGrid>
              <a:tr h="366712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5" b="1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Date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10" b="1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Variable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45" b="1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V</a:t>
                      </a:r>
                      <a:r>
                        <a:rPr dirty="0" sz="1800" b="1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alue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404812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2024-01-01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52069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Muggy</a:t>
                      </a:r>
                      <a:r>
                        <a:rPr dirty="0" sz="180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Days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5206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0.0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5206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2024-01-01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Rainy/Snowy</a:t>
                      </a:r>
                      <a:r>
                        <a:rPr dirty="0" sz="1800" spc="-4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Days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7.0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400049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2024-01-01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1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Temperature</a:t>
                      </a:r>
                      <a:r>
                        <a:rPr dirty="0" sz="1800" spc="-2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(°F)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31.0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2024-02-01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Muggy</a:t>
                      </a:r>
                      <a:r>
                        <a:rPr dirty="0" sz="180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Days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0.0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400049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2024-02-01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Rainy/Snowy</a:t>
                      </a:r>
                      <a:r>
                        <a:rPr dirty="0" sz="1800" spc="-4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Days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6.0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61949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2024-02-01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1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Temperature</a:t>
                      </a:r>
                      <a:r>
                        <a:rPr dirty="0" sz="1800" spc="-2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(°F)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34.0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90524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2024-03-01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Muggy</a:t>
                      </a:r>
                      <a:r>
                        <a:rPr dirty="0" sz="180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Days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0.0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61949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2024-03-01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Rainy/Snowy</a:t>
                      </a:r>
                      <a:r>
                        <a:rPr dirty="0" sz="1800" spc="-4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Days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9.0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90524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2024-03-01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1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Temperature</a:t>
                      </a:r>
                      <a:r>
                        <a:rPr dirty="0" sz="1800" spc="-2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(°F)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44.0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61949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2024-04-01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Muggy</a:t>
                      </a:r>
                      <a:r>
                        <a:rPr dirty="0" sz="180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Days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0.1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400049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2024-04-01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Rainy/Snowy</a:t>
                      </a:r>
                      <a:r>
                        <a:rPr dirty="0" sz="1800" spc="-4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Days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10.0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2024-04-01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1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Temperature</a:t>
                      </a:r>
                      <a:r>
                        <a:rPr dirty="0" sz="1800" spc="-2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(°F)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54.0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21647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Long</a:t>
            </a:r>
            <a:r>
              <a:rPr dirty="0" sz="3350" spc="-65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Format</a:t>
            </a:r>
            <a:endParaRPr sz="3350">
              <a:latin typeface="Roboto Condensed"/>
              <a:cs typeface="Roboto Condens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37527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Characteristics </a:t>
            </a:r>
            <a:r>
              <a:rPr dirty="0" sz="3350" spc="10">
                <a:latin typeface="Roboto Condensed"/>
                <a:cs typeface="Roboto Condensed"/>
              </a:rPr>
              <a:t>of Long </a:t>
            </a:r>
            <a:r>
              <a:rPr dirty="0" sz="3350" spc="-5">
                <a:latin typeface="Roboto Condensed"/>
                <a:cs typeface="Roboto Condensed"/>
              </a:rPr>
              <a:t>TS</a:t>
            </a:r>
            <a:r>
              <a:rPr dirty="0" sz="3350" spc="-12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Data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328150" cy="1490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Observations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now split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multiple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rows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Variable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ids/labels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stored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a single column, and their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corresponding values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stored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another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column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Easy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analyze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visualize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(especially with the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nixtlaverse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group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Python</a:t>
            </a:r>
            <a:r>
              <a:rPr dirty="0" sz="1800" spc="5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packages)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55917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5">
                <a:latin typeface="Roboto Condensed"/>
                <a:cs typeface="Roboto Condensed"/>
              </a:rPr>
              <a:t>A </a:t>
            </a:r>
            <a:r>
              <a:rPr dirty="0" sz="3350" spc="10">
                <a:latin typeface="Roboto Condensed"/>
                <a:cs typeface="Roboto Condensed"/>
              </a:rPr>
              <a:t>Visual</a:t>
            </a:r>
            <a:r>
              <a:rPr dirty="0" sz="3350" spc="-6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Comparison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30757" y="1622678"/>
            <a:ext cx="9473431" cy="45670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699262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Class 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Activity: </a:t>
            </a:r>
            <a:r>
              <a:rPr dirty="0" sz="3350" spc="-10">
                <a:solidFill>
                  <a:srgbClr val="C2132D"/>
                </a:solidFill>
                <a:latin typeface="Roboto Condensed"/>
                <a:cs typeface="Roboto Condensed"/>
              </a:rPr>
              <a:t>From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Wide </a:t>
            </a:r>
            <a:r>
              <a:rPr dirty="0" sz="3350" spc="-10">
                <a:solidFill>
                  <a:srgbClr val="C2132D"/>
                </a:solidFill>
                <a:latin typeface="Roboto Condensed"/>
                <a:cs typeface="Roboto Condensed"/>
              </a:rPr>
              <a:t>to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Long</a:t>
            </a:r>
            <a:r>
              <a:rPr dirty="0" sz="3350" spc="3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Format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2124075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19049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1552575"/>
            <a:ext cx="1619250" cy="0"/>
          </a:xfrm>
          <a:custGeom>
            <a:avLst/>
            <a:gdLst/>
            <a:ahLst/>
            <a:cxnLst/>
            <a:rect l="l" t="t" r="r" b="b"/>
            <a:pathLst>
              <a:path w="1619250" h="0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2124075"/>
            <a:ext cx="1619250" cy="0"/>
          </a:xfrm>
          <a:custGeom>
            <a:avLst/>
            <a:gdLst/>
            <a:ahLst/>
            <a:cxnLst/>
            <a:rect l="l" t="t" r="r" b="b"/>
            <a:pathLst>
              <a:path w="1619250" h="0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1700" y="1673225"/>
            <a:ext cx="9514205" cy="3271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  <a:tabLst>
                <a:tab pos="1855470" algn="l"/>
                <a:tab pos="359029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Description	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Starter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Code	Notes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Roboto"/>
              <a:cs typeface="Roboto"/>
            </a:endParaRPr>
          </a:p>
          <a:p>
            <a:pPr marL="12700" marR="5080">
              <a:lnSpc>
                <a:spcPct val="118100"/>
              </a:lnSpc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this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activity,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extract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adjusted closing prices of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five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stocks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(AAPL, </a:t>
            </a:r>
            <a:r>
              <a:rPr dirty="0" sz="1800" spc="-40">
                <a:solidFill>
                  <a:srgbClr val="585D60"/>
                </a:solidFill>
                <a:latin typeface="Roboto"/>
                <a:cs typeface="Roboto"/>
              </a:rPr>
              <a:t>MSFT,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GOOGL,  AMZN, TSLA)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Yahoo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Finance. Once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extract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data,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should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report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following: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buFont typeface="Roboto"/>
              <a:buChar char="•"/>
              <a:tabLst>
                <a:tab pos="393700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Summary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statistics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adjusted closing prices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for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each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stock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393700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Convert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wide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long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format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and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report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shape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long format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393700" algn="l"/>
              </a:tabLst>
            </a:pP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Save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long format data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CSV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file.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Hint: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Read and convert the column names prior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converting the data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long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format.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26846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05:00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60576" y="2502408"/>
            <a:ext cx="8382000" cy="1036319"/>
          </a:xfrm>
          <a:custGeom>
            <a:avLst/>
            <a:gdLst/>
            <a:ahLst/>
            <a:cxnLst/>
            <a:rect l="l" t="t" r="r" b="b"/>
            <a:pathLst>
              <a:path w="8382000" h="1036320">
                <a:moveTo>
                  <a:pt x="0" y="0"/>
                </a:moveTo>
                <a:lnTo>
                  <a:pt x="8382000" y="0"/>
                </a:lnTo>
                <a:lnTo>
                  <a:pt x="8382000" y="1036320"/>
                </a:lnTo>
                <a:lnTo>
                  <a:pt x="0" y="103632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663440" y="3023616"/>
            <a:ext cx="2185670" cy="935990"/>
          </a:xfrm>
          <a:custGeom>
            <a:avLst/>
            <a:gdLst/>
            <a:ahLst/>
            <a:cxnLst/>
            <a:rect l="l" t="t" r="r" b="b"/>
            <a:pathLst>
              <a:path w="2185670" h="935989">
                <a:moveTo>
                  <a:pt x="0" y="0"/>
                </a:moveTo>
                <a:lnTo>
                  <a:pt x="2185416" y="0"/>
                </a:lnTo>
                <a:lnTo>
                  <a:pt x="2185416" y="935736"/>
                </a:lnTo>
                <a:lnTo>
                  <a:pt x="0" y="935736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05533" y="2625725"/>
            <a:ext cx="7914005" cy="1177925"/>
          </a:xfrm>
          <a:prstGeom prst="rect"/>
        </p:spPr>
        <p:txBody>
          <a:bodyPr wrap="square" lIns="0" tIns="117475" rIns="0" bIns="0" rtlCol="0" vert="horz">
            <a:spAutoFit/>
          </a:bodyPr>
          <a:lstStyle/>
          <a:p>
            <a:pPr marL="3105150" marR="5080" indent="-3093085">
              <a:lnSpc>
                <a:spcPts val="4120"/>
              </a:lnSpc>
              <a:spcBef>
                <a:spcPts val="925"/>
              </a:spcBef>
            </a:pPr>
            <a:r>
              <a:rPr dirty="0" sz="4100" spc="-800">
                <a:solidFill>
                  <a:srgbClr val="000000"/>
                </a:solidFill>
                <a:latin typeface="Roboto Condensed"/>
                <a:cs typeface="Roboto Condensed"/>
              </a:rPr>
              <a:t>V</a:t>
            </a:r>
            <a:r>
              <a:rPr dirty="0" sz="4100" spc="-800">
                <a:solidFill>
                  <a:srgbClr val="FFFFFF"/>
                </a:solidFill>
                <a:latin typeface="Roboto Condensed"/>
                <a:cs typeface="Roboto Condensed"/>
              </a:rPr>
              <a:t>V</a:t>
            </a:r>
            <a:r>
              <a:rPr dirty="0" sz="4100" spc="-80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0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0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80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800">
                <a:solidFill>
                  <a:srgbClr val="000000"/>
                </a:solidFill>
                <a:latin typeface="Roboto Condensed"/>
                <a:cs typeface="Roboto Condensed"/>
              </a:rPr>
              <a:t>u</a:t>
            </a:r>
            <a:r>
              <a:rPr dirty="0" sz="4100" spc="-800">
                <a:solidFill>
                  <a:srgbClr val="FFFFFF"/>
                </a:solidFill>
                <a:latin typeface="Roboto Condensed"/>
                <a:cs typeface="Roboto Condensed"/>
              </a:rPr>
              <a:t>u</a:t>
            </a:r>
            <a:r>
              <a:rPr dirty="0" sz="4100" spc="-800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0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00">
                <a:solidFill>
                  <a:srgbClr val="000000"/>
                </a:solidFill>
                <a:latin typeface="Roboto Condensed"/>
                <a:cs typeface="Roboto Condensed"/>
              </a:rPr>
              <a:t>l</a:t>
            </a:r>
            <a:r>
              <a:rPr dirty="0" sz="4100" spc="-800">
                <a:solidFill>
                  <a:srgbClr val="FFFFFF"/>
                </a:solidFill>
                <a:latin typeface="Roboto Condensed"/>
                <a:cs typeface="Roboto Condensed"/>
              </a:rPr>
              <a:t>l</a:t>
            </a:r>
            <a:r>
              <a:rPr dirty="0" sz="4100" spc="-80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0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00">
                <a:solidFill>
                  <a:srgbClr val="000000"/>
                </a:solidFill>
                <a:latin typeface="Roboto Condensed"/>
                <a:cs typeface="Roboto Condensed"/>
              </a:rPr>
              <a:t>z</a:t>
            </a:r>
            <a:r>
              <a:rPr dirty="0" sz="4100" spc="-800">
                <a:solidFill>
                  <a:srgbClr val="FFFFFF"/>
                </a:solidFill>
                <a:latin typeface="Roboto Condensed"/>
                <a:cs typeface="Roboto Condensed"/>
              </a:rPr>
              <a:t>z</a:t>
            </a:r>
            <a:r>
              <a:rPr dirty="0" sz="4100" spc="-80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0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0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80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800">
                <a:solidFill>
                  <a:srgbClr val="000000"/>
                </a:solidFill>
                <a:latin typeface="Roboto Condensed"/>
                <a:cs typeface="Roboto Condensed"/>
              </a:rPr>
              <a:t>g</a:t>
            </a:r>
            <a:r>
              <a:rPr dirty="0" sz="4100" spc="-800">
                <a:solidFill>
                  <a:srgbClr val="FFFFFF"/>
                </a:solidFill>
                <a:latin typeface="Roboto Condensed"/>
                <a:cs typeface="Roboto Condensed"/>
              </a:rPr>
              <a:t>g 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M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u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u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l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l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l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l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e </a:t>
            </a:r>
            <a:r>
              <a:rPr dirty="0" sz="4100" spc="-86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6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65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6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65">
                <a:solidFill>
                  <a:srgbClr val="000000"/>
                </a:solidFill>
                <a:latin typeface="Roboto Condensed"/>
                <a:cs typeface="Roboto Condensed"/>
              </a:rPr>
              <a:t>m</a:t>
            </a:r>
            <a:r>
              <a:rPr dirty="0" sz="4100" spc="-865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865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6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65">
                <a:solidFill>
                  <a:srgbClr val="000000"/>
                </a:solidFill>
                <a:latin typeface="Roboto Condensed"/>
                <a:cs typeface="Roboto Condensed"/>
              </a:rPr>
              <a:t>-</a:t>
            </a:r>
            <a:r>
              <a:rPr dirty="0" sz="4100" spc="-865">
                <a:solidFill>
                  <a:srgbClr val="FFFFFF"/>
                </a:solidFill>
                <a:latin typeface="Roboto Condensed"/>
                <a:cs typeface="Roboto Condensed"/>
              </a:rPr>
              <a:t>-</a:t>
            </a:r>
            <a:r>
              <a:rPr dirty="0" sz="4100" spc="-865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865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865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6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65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865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865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6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65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6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65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865">
                <a:solidFill>
                  <a:srgbClr val="FFFFFF"/>
                </a:solidFill>
                <a:latin typeface="Roboto Condensed"/>
                <a:cs typeface="Roboto Condensed"/>
              </a:rPr>
              <a:t>s 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U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U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g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g  </a:t>
            </a:r>
            <a:r>
              <a:rPr dirty="0" sz="4100" spc="-109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1090">
                <a:solidFill>
                  <a:srgbClr val="FFFFFF"/>
                </a:solidFill>
                <a:latin typeface="Roboto Condensed"/>
                <a:cs typeface="Roboto Condensed"/>
              </a:rPr>
              <a:t>Se</a:t>
            </a:r>
            <a:r>
              <a:rPr dirty="0" sz="4100" spc="-109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109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1090">
                <a:solidFill>
                  <a:srgbClr val="000000"/>
                </a:solidFill>
                <a:latin typeface="Roboto Condensed"/>
                <a:cs typeface="Roboto Condensed"/>
              </a:rPr>
              <a:t>ab</a:t>
            </a:r>
            <a:r>
              <a:rPr dirty="0" sz="4100" spc="-1090">
                <a:solidFill>
                  <a:srgbClr val="FFFFFF"/>
                </a:solidFill>
                <a:latin typeface="Roboto Condensed"/>
                <a:cs typeface="Roboto Condensed"/>
              </a:rPr>
              <a:t>b</a:t>
            </a:r>
            <a:r>
              <a:rPr dirty="0" sz="4100" spc="-109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1090">
                <a:solidFill>
                  <a:srgbClr val="FFFFFF"/>
                </a:solidFill>
                <a:latin typeface="Roboto Condensed"/>
                <a:cs typeface="Roboto Condensed"/>
              </a:rPr>
              <a:t>or</a:t>
            </a:r>
            <a:r>
              <a:rPr dirty="0" sz="4100" spc="-1090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109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109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4713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Recall: </a:t>
            </a:r>
            <a:r>
              <a:rPr dirty="0" sz="3350" spc="-25">
                <a:latin typeface="Roboto Condensed"/>
                <a:cs typeface="Roboto Condensed"/>
              </a:rPr>
              <a:t>Seaborn's </a:t>
            </a:r>
            <a:r>
              <a:rPr dirty="0" sz="3200"/>
              <a:t>relplot</a:t>
            </a:r>
            <a:r>
              <a:rPr dirty="0" sz="3200" spc="-1160"/>
              <a:t> </a:t>
            </a:r>
            <a:r>
              <a:rPr dirty="0" sz="3350" spc="5">
                <a:latin typeface="Roboto Condensed"/>
                <a:cs typeface="Roboto Condensed"/>
              </a:rPr>
              <a:t>Function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86611" y="4129087"/>
            <a:ext cx="352425" cy="180975"/>
          </a:xfrm>
          <a:custGeom>
            <a:avLst/>
            <a:gdLst/>
            <a:ahLst/>
            <a:cxnLst/>
            <a:rect l="l" t="t" r="r" b="b"/>
            <a:pathLst>
              <a:path w="352425" h="180975">
                <a:moveTo>
                  <a:pt x="0" y="150018"/>
                </a:moveTo>
                <a:lnTo>
                  <a:pt x="0" y="30956"/>
                </a:lnTo>
                <a:lnTo>
                  <a:pt x="0" y="26850"/>
                </a:lnTo>
                <a:lnTo>
                  <a:pt x="785" y="22901"/>
                </a:lnTo>
                <a:lnTo>
                  <a:pt x="2356" y="19109"/>
                </a:lnTo>
                <a:lnTo>
                  <a:pt x="3927" y="15316"/>
                </a:lnTo>
                <a:lnTo>
                  <a:pt x="6164" y="11969"/>
                </a:lnTo>
                <a:lnTo>
                  <a:pt x="9066" y="9066"/>
                </a:lnTo>
                <a:lnTo>
                  <a:pt x="11969" y="6163"/>
                </a:lnTo>
                <a:lnTo>
                  <a:pt x="15316" y="3926"/>
                </a:lnTo>
                <a:lnTo>
                  <a:pt x="19109" y="2356"/>
                </a:lnTo>
                <a:lnTo>
                  <a:pt x="22902" y="785"/>
                </a:lnTo>
                <a:lnTo>
                  <a:pt x="26851" y="0"/>
                </a:lnTo>
                <a:lnTo>
                  <a:pt x="30956" y="0"/>
                </a:lnTo>
                <a:lnTo>
                  <a:pt x="321469" y="0"/>
                </a:lnTo>
                <a:lnTo>
                  <a:pt x="325573" y="0"/>
                </a:lnTo>
                <a:lnTo>
                  <a:pt x="329522" y="785"/>
                </a:lnTo>
                <a:lnTo>
                  <a:pt x="333315" y="2356"/>
                </a:lnTo>
                <a:lnTo>
                  <a:pt x="337107" y="3926"/>
                </a:lnTo>
                <a:lnTo>
                  <a:pt x="340454" y="6163"/>
                </a:lnTo>
                <a:lnTo>
                  <a:pt x="343358" y="9066"/>
                </a:lnTo>
                <a:lnTo>
                  <a:pt x="346260" y="11969"/>
                </a:lnTo>
                <a:lnTo>
                  <a:pt x="352425" y="30956"/>
                </a:lnTo>
                <a:lnTo>
                  <a:pt x="352425" y="150018"/>
                </a:lnTo>
                <a:lnTo>
                  <a:pt x="325573" y="180974"/>
                </a:lnTo>
                <a:lnTo>
                  <a:pt x="321469" y="180974"/>
                </a:lnTo>
                <a:lnTo>
                  <a:pt x="30956" y="180974"/>
                </a:lnTo>
                <a:lnTo>
                  <a:pt x="26851" y="180974"/>
                </a:lnTo>
                <a:lnTo>
                  <a:pt x="22902" y="180189"/>
                </a:lnTo>
                <a:lnTo>
                  <a:pt x="19109" y="178618"/>
                </a:lnTo>
                <a:lnTo>
                  <a:pt x="15316" y="177047"/>
                </a:lnTo>
                <a:lnTo>
                  <a:pt x="11969" y="174810"/>
                </a:lnTo>
                <a:lnTo>
                  <a:pt x="9066" y="171908"/>
                </a:lnTo>
                <a:lnTo>
                  <a:pt x="6164" y="169005"/>
                </a:lnTo>
                <a:lnTo>
                  <a:pt x="3927" y="165657"/>
                </a:lnTo>
                <a:lnTo>
                  <a:pt x="2356" y="161865"/>
                </a:lnTo>
                <a:lnTo>
                  <a:pt x="785" y="158072"/>
                </a:lnTo>
                <a:lnTo>
                  <a:pt x="0" y="154123"/>
                </a:lnTo>
                <a:lnTo>
                  <a:pt x="0" y="150018"/>
                </a:lnTo>
                <a:close/>
              </a:path>
            </a:pathLst>
          </a:custGeom>
          <a:ln w="9524">
            <a:solidFill>
              <a:srgbClr val="E1E1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990974" y="48387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57662" y="4767262"/>
            <a:ext cx="971550" cy="180975"/>
          </a:xfrm>
          <a:custGeom>
            <a:avLst/>
            <a:gdLst/>
            <a:ahLst/>
            <a:cxnLst/>
            <a:rect l="l" t="t" r="r" b="b"/>
            <a:pathLst>
              <a:path w="971550" h="180975">
                <a:moveTo>
                  <a:pt x="0" y="150018"/>
                </a:moveTo>
                <a:lnTo>
                  <a:pt x="0" y="30956"/>
                </a:lnTo>
                <a:lnTo>
                  <a:pt x="0" y="26850"/>
                </a:lnTo>
                <a:lnTo>
                  <a:pt x="785" y="22902"/>
                </a:lnTo>
                <a:lnTo>
                  <a:pt x="2356" y="19109"/>
                </a:lnTo>
                <a:lnTo>
                  <a:pt x="3927" y="15316"/>
                </a:lnTo>
                <a:lnTo>
                  <a:pt x="6163" y="11969"/>
                </a:lnTo>
                <a:lnTo>
                  <a:pt x="9066" y="9066"/>
                </a:lnTo>
                <a:lnTo>
                  <a:pt x="11969" y="6163"/>
                </a:lnTo>
                <a:lnTo>
                  <a:pt x="15317" y="3927"/>
                </a:lnTo>
                <a:lnTo>
                  <a:pt x="19109" y="2355"/>
                </a:lnTo>
                <a:lnTo>
                  <a:pt x="22902" y="785"/>
                </a:lnTo>
                <a:lnTo>
                  <a:pt x="26851" y="0"/>
                </a:lnTo>
                <a:lnTo>
                  <a:pt x="30956" y="0"/>
                </a:lnTo>
                <a:lnTo>
                  <a:pt x="940593" y="0"/>
                </a:lnTo>
                <a:lnTo>
                  <a:pt x="944698" y="0"/>
                </a:lnTo>
                <a:lnTo>
                  <a:pt x="948647" y="785"/>
                </a:lnTo>
                <a:lnTo>
                  <a:pt x="969193" y="19109"/>
                </a:lnTo>
                <a:lnTo>
                  <a:pt x="970764" y="22902"/>
                </a:lnTo>
                <a:lnTo>
                  <a:pt x="971549" y="26850"/>
                </a:lnTo>
                <a:lnTo>
                  <a:pt x="971550" y="30956"/>
                </a:lnTo>
                <a:lnTo>
                  <a:pt x="971550" y="150018"/>
                </a:lnTo>
                <a:lnTo>
                  <a:pt x="971549" y="154123"/>
                </a:lnTo>
                <a:lnTo>
                  <a:pt x="970764" y="158071"/>
                </a:lnTo>
                <a:lnTo>
                  <a:pt x="969193" y="161864"/>
                </a:lnTo>
                <a:lnTo>
                  <a:pt x="967622" y="165656"/>
                </a:lnTo>
                <a:lnTo>
                  <a:pt x="952440" y="178617"/>
                </a:lnTo>
                <a:lnTo>
                  <a:pt x="948647" y="180188"/>
                </a:lnTo>
                <a:lnTo>
                  <a:pt x="944698" y="180974"/>
                </a:lnTo>
                <a:lnTo>
                  <a:pt x="940593" y="180974"/>
                </a:lnTo>
                <a:lnTo>
                  <a:pt x="30956" y="180974"/>
                </a:lnTo>
                <a:lnTo>
                  <a:pt x="26851" y="180974"/>
                </a:lnTo>
                <a:lnTo>
                  <a:pt x="22902" y="180188"/>
                </a:lnTo>
                <a:lnTo>
                  <a:pt x="19109" y="178617"/>
                </a:lnTo>
                <a:lnTo>
                  <a:pt x="15317" y="177046"/>
                </a:lnTo>
                <a:lnTo>
                  <a:pt x="11969" y="174809"/>
                </a:lnTo>
                <a:lnTo>
                  <a:pt x="9066" y="171907"/>
                </a:lnTo>
                <a:lnTo>
                  <a:pt x="6163" y="169004"/>
                </a:lnTo>
                <a:lnTo>
                  <a:pt x="3927" y="165656"/>
                </a:lnTo>
                <a:lnTo>
                  <a:pt x="2356" y="161864"/>
                </a:lnTo>
                <a:lnTo>
                  <a:pt x="785" y="158071"/>
                </a:lnTo>
                <a:lnTo>
                  <a:pt x="0" y="154123"/>
                </a:lnTo>
                <a:lnTo>
                  <a:pt x="0" y="150018"/>
                </a:lnTo>
                <a:close/>
              </a:path>
            </a:pathLst>
          </a:custGeom>
          <a:ln w="9524">
            <a:solidFill>
              <a:srgbClr val="E1E1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29261" y="4767262"/>
            <a:ext cx="1038225" cy="180975"/>
          </a:xfrm>
          <a:custGeom>
            <a:avLst/>
            <a:gdLst/>
            <a:ahLst/>
            <a:cxnLst/>
            <a:rect l="l" t="t" r="r" b="b"/>
            <a:pathLst>
              <a:path w="1038225" h="180975">
                <a:moveTo>
                  <a:pt x="0" y="150018"/>
                </a:moveTo>
                <a:lnTo>
                  <a:pt x="0" y="30956"/>
                </a:lnTo>
                <a:lnTo>
                  <a:pt x="0" y="26850"/>
                </a:lnTo>
                <a:lnTo>
                  <a:pt x="785" y="22902"/>
                </a:lnTo>
                <a:lnTo>
                  <a:pt x="2356" y="19109"/>
                </a:lnTo>
                <a:lnTo>
                  <a:pt x="3927" y="15316"/>
                </a:lnTo>
                <a:lnTo>
                  <a:pt x="6163" y="11969"/>
                </a:lnTo>
                <a:lnTo>
                  <a:pt x="9066" y="9066"/>
                </a:lnTo>
                <a:lnTo>
                  <a:pt x="11969" y="6163"/>
                </a:lnTo>
                <a:lnTo>
                  <a:pt x="15317" y="3927"/>
                </a:lnTo>
                <a:lnTo>
                  <a:pt x="19109" y="2355"/>
                </a:lnTo>
                <a:lnTo>
                  <a:pt x="22902" y="785"/>
                </a:lnTo>
                <a:lnTo>
                  <a:pt x="26851" y="0"/>
                </a:lnTo>
                <a:lnTo>
                  <a:pt x="30956" y="0"/>
                </a:lnTo>
                <a:lnTo>
                  <a:pt x="1007268" y="0"/>
                </a:lnTo>
                <a:lnTo>
                  <a:pt x="1011373" y="0"/>
                </a:lnTo>
                <a:lnTo>
                  <a:pt x="1015322" y="785"/>
                </a:lnTo>
                <a:lnTo>
                  <a:pt x="1038225" y="30956"/>
                </a:lnTo>
                <a:lnTo>
                  <a:pt x="1038225" y="150018"/>
                </a:lnTo>
                <a:lnTo>
                  <a:pt x="1019114" y="178617"/>
                </a:lnTo>
                <a:lnTo>
                  <a:pt x="1015322" y="180188"/>
                </a:lnTo>
                <a:lnTo>
                  <a:pt x="1011373" y="180974"/>
                </a:lnTo>
                <a:lnTo>
                  <a:pt x="1007268" y="180974"/>
                </a:lnTo>
                <a:lnTo>
                  <a:pt x="30956" y="180974"/>
                </a:lnTo>
                <a:lnTo>
                  <a:pt x="26851" y="180974"/>
                </a:lnTo>
                <a:lnTo>
                  <a:pt x="22902" y="180188"/>
                </a:lnTo>
                <a:lnTo>
                  <a:pt x="19109" y="178617"/>
                </a:lnTo>
                <a:lnTo>
                  <a:pt x="15317" y="177046"/>
                </a:lnTo>
                <a:lnTo>
                  <a:pt x="2356" y="161864"/>
                </a:lnTo>
                <a:lnTo>
                  <a:pt x="785" y="158071"/>
                </a:lnTo>
                <a:lnTo>
                  <a:pt x="0" y="154123"/>
                </a:lnTo>
                <a:lnTo>
                  <a:pt x="0" y="150018"/>
                </a:lnTo>
                <a:close/>
              </a:path>
            </a:pathLst>
          </a:custGeom>
          <a:ln w="9524">
            <a:solidFill>
              <a:srgbClr val="E1E1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90974" y="51054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57662" y="5043487"/>
            <a:ext cx="762000" cy="180975"/>
          </a:xfrm>
          <a:custGeom>
            <a:avLst/>
            <a:gdLst/>
            <a:ahLst/>
            <a:cxnLst/>
            <a:rect l="l" t="t" r="r" b="b"/>
            <a:pathLst>
              <a:path w="762000" h="180975">
                <a:moveTo>
                  <a:pt x="0" y="150018"/>
                </a:moveTo>
                <a:lnTo>
                  <a:pt x="0" y="30956"/>
                </a:lnTo>
                <a:lnTo>
                  <a:pt x="0" y="26850"/>
                </a:lnTo>
                <a:lnTo>
                  <a:pt x="785" y="22902"/>
                </a:lnTo>
                <a:lnTo>
                  <a:pt x="2356" y="19109"/>
                </a:lnTo>
                <a:lnTo>
                  <a:pt x="3927" y="15316"/>
                </a:lnTo>
                <a:lnTo>
                  <a:pt x="6163" y="11969"/>
                </a:lnTo>
                <a:lnTo>
                  <a:pt x="9066" y="9066"/>
                </a:lnTo>
                <a:lnTo>
                  <a:pt x="11969" y="6163"/>
                </a:lnTo>
                <a:lnTo>
                  <a:pt x="15317" y="3927"/>
                </a:lnTo>
                <a:lnTo>
                  <a:pt x="19109" y="2356"/>
                </a:lnTo>
                <a:lnTo>
                  <a:pt x="22902" y="785"/>
                </a:lnTo>
                <a:lnTo>
                  <a:pt x="26851" y="0"/>
                </a:lnTo>
                <a:lnTo>
                  <a:pt x="30956" y="0"/>
                </a:lnTo>
                <a:lnTo>
                  <a:pt x="731043" y="0"/>
                </a:lnTo>
                <a:lnTo>
                  <a:pt x="735148" y="0"/>
                </a:lnTo>
                <a:lnTo>
                  <a:pt x="739097" y="785"/>
                </a:lnTo>
                <a:lnTo>
                  <a:pt x="742889" y="2356"/>
                </a:lnTo>
                <a:lnTo>
                  <a:pt x="746682" y="3927"/>
                </a:lnTo>
                <a:lnTo>
                  <a:pt x="750030" y="6163"/>
                </a:lnTo>
                <a:lnTo>
                  <a:pt x="762000" y="30956"/>
                </a:lnTo>
                <a:lnTo>
                  <a:pt x="762000" y="150018"/>
                </a:lnTo>
                <a:lnTo>
                  <a:pt x="742889" y="178617"/>
                </a:lnTo>
                <a:lnTo>
                  <a:pt x="739097" y="180188"/>
                </a:lnTo>
                <a:lnTo>
                  <a:pt x="735148" y="180974"/>
                </a:lnTo>
                <a:lnTo>
                  <a:pt x="731043" y="180974"/>
                </a:lnTo>
                <a:lnTo>
                  <a:pt x="30956" y="180974"/>
                </a:lnTo>
                <a:lnTo>
                  <a:pt x="26851" y="180974"/>
                </a:lnTo>
                <a:lnTo>
                  <a:pt x="22902" y="180188"/>
                </a:lnTo>
                <a:lnTo>
                  <a:pt x="19109" y="178617"/>
                </a:lnTo>
                <a:lnTo>
                  <a:pt x="15317" y="177046"/>
                </a:lnTo>
                <a:lnTo>
                  <a:pt x="11969" y="174809"/>
                </a:lnTo>
                <a:lnTo>
                  <a:pt x="9066" y="171907"/>
                </a:lnTo>
                <a:lnTo>
                  <a:pt x="6163" y="169004"/>
                </a:lnTo>
                <a:lnTo>
                  <a:pt x="3927" y="165657"/>
                </a:lnTo>
                <a:lnTo>
                  <a:pt x="2356" y="161864"/>
                </a:lnTo>
                <a:lnTo>
                  <a:pt x="785" y="158072"/>
                </a:lnTo>
                <a:lnTo>
                  <a:pt x="0" y="154123"/>
                </a:lnTo>
                <a:lnTo>
                  <a:pt x="0" y="150018"/>
                </a:lnTo>
                <a:close/>
              </a:path>
            </a:pathLst>
          </a:custGeom>
          <a:ln w="9524">
            <a:solidFill>
              <a:srgbClr val="E1E1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19711" y="5043487"/>
            <a:ext cx="838200" cy="180975"/>
          </a:xfrm>
          <a:custGeom>
            <a:avLst/>
            <a:gdLst/>
            <a:ahLst/>
            <a:cxnLst/>
            <a:rect l="l" t="t" r="r" b="b"/>
            <a:pathLst>
              <a:path w="838200" h="180975">
                <a:moveTo>
                  <a:pt x="0" y="150018"/>
                </a:moveTo>
                <a:lnTo>
                  <a:pt x="0" y="30956"/>
                </a:lnTo>
                <a:lnTo>
                  <a:pt x="0" y="26850"/>
                </a:lnTo>
                <a:lnTo>
                  <a:pt x="785" y="22902"/>
                </a:lnTo>
                <a:lnTo>
                  <a:pt x="2356" y="19109"/>
                </a:lnTo>
                <a:lnTo>
                  <a:pt x="3927" y="15316"/>
                </a:lnTo>
                <a:lnTo>
                  <a:pt x="6163" y="11969"/>
                </a:lnTo>
                <a:lnTo>
                  <a:pt x="9066" y="9066"/>
                </a:lnTo>
                <a:lnTo>
                  <a:pt x="11969" y="6163"/>
                </a:lnTo>
                <a:lnTo>
                  <a:pt x="15317" y="3927"/>
                </a:lnTo>
                <a:lnTo>
                  <a:pt x="19109" y="2356"/>
                </a:lnTo>
                <a:lnTo>
                  <a:pt x="22902" y="785"/>
                </a:lnTo>
                <a:lnTo>
                  <a:pt x="26851" y="0"/>
                </a:lnTo>
                <a:lnTo>
                  <a:pt x="30956" y="0"/>
                </a:lnTo>
                <a:lnTo>
                  <a:pt x="807243" y="0"/>
                </a:lnTo>
                <a:lnTo>
                  <a:pt x="811348" y="0"/>
                </a:lnTo>
                <a:lnTo>
                  <a:pt x="815297" y="785"/>
                </a:lnTo>
                <a:lnTo>
                  <a:pt x="819089" y="2356"/>
                </a:lnTo>
                <a:lnTo>
                  <a:pt x="822881" y="3927"/>
                </a:lnTo>
                <a:lnTo>
                  <a:pt x="826230" y="6163"/>
                </a:lnTo>
                <a:lnTo>
                  <a:pt x="829132" y="9066"/>
                </a:lnTo>
                <a:lnTo>
                  <a:pt x="832035" y="11969"/>
                </a:lnTo>
                <a:lnTo>
                  <a:pt x="834272" y="15316"/>
                </a:lnTo>
                <a:lnTo>
                  <a:pt x="835843" y="19109"/>
                </a:lnTo>
                <a:lnTo>
                  <a:pt x="837414" y="22902"/>
                </a:lnTo>
                <a:lnTo>
                  <a:pt x="838199" y="26850"/>
                </a:lnTo>
                <a:lnTo>
                  <a:pt x="838200" y="30956"/>
                </a:lnTo>
                <a:lnTo>
                  <a:pt x="838200" y="150018"/>
                </a:lnTo>
                <a:lnTo>
                  <a:pt x="819089" y="178617"/>
                </a:lnTo>
                <a:lnTo>
                  <a:pt x="815296" y="180188"/>
                </a:lnTo>
                <a:lnTo>
                  <a:pt x="811348" y="180974"/>
                </a:lnTo>
                <a:lnTo>
                  <a:pt x="807243" y="180974"/>
                </a:lnTo>
                <a:lnTo>
                  <a:pt x="30956" y="180974"/>
                </a:lnTo>
                <a:lnTo>
                  <a:pt x="26851" y="180974"/>
                </a:lnTo>
                <a:lnTo>
                  <a:pt x="22902" y="180188"/>
                </a:lnTo>
                <a:lnTo>
                  <a:pt x="19109" y="178617"/>
                </a:lnTo>
                <a:lnTo>
                  <a:pt x="15317" y="177046"/>
                </a:lnTo>
                <a:lnTo>
                  <a:pt x="11969" y="174809"/>
                </a:lnTo>
                <a:lnTo>
                  <a:pt x="9066" y="171907"/>
                </a:lnTo>
                <a:lnTo>
                  <a:pt x="6163" y="169004"/>
                </a:lnTo>
                <a:lnTo>
                  <a:pt x="3927" y="165657"/>
                </a:lnTo>
                <a:lnTo>
                  <a:pt x="2355" y="161864"/>
                </a:lnTo>
                <a:lnTo>
                  <a:pt x="785" y="158072"/>
                </a:lnTo>
                <a:lnTo>
                  <a:pt x="0" y="154123"/>
                </a:lnTo>
                <a:lnTo>
                  <a:pt x="0" y="150018"/>
                </a:lnTo>
                <a:close/>
              </a:path>
            </a:pathLst>
          </a:custGeom>
          <a:ln w="9524">
            <a:solidFill>
              <a:srgbClr val="E1E1E1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14400" y="1428750"/>
          <a:ext cx="9744075" cy="4324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0064"/>
                <a:gridCol w="624839"/>
                <a:gridCol w="7301230"/>
              </a:tblGrid>
              <a:tr h="438149">
                <a:tc gridSpan="3">
                  <a:txBody>
                    <a:bodyPr/>
                    <a:lstStyle/>
                    <a:p>
                      <a:pPr marL="2559685">
                        <a:lnSpc>
                          <a:spcPts val="2225"/>
                        </a:lnSpc>
                        <a:spcBef>
                          <a:spcPts val="1125"/>
                        </a:spcBef>
                      </a:pPr>
                      <a:r>
                        <a:rPr dirty="0" sz="2850">
                          <a:solidFill>
                            <a:srgbClr val="333662"/>
                          </a:solidFill>
                          <a:latin typeface="Segoe UI"/>
                          <a:cs typeface="Segoe UI"/>
                        </a:rPr>
                        <a:t>seaborn.relplot</a:t>
                      </a:r>
                      <a:endParaRPr sz="2850">
                        <a:latin typeface="Segoe UI"/>
                        <a:cs typeface="Segoe UI"/>
                      </a:endParaRPr>
                    </a:p>
                  </a:txBody>
                  <a:tcPr marL="0" marR="0" marB="0" marT="142875">
                    <a:lnL w="19050">
                      <a:solidFill>
                        <a:srgbClr val="999999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19050">
                      <a:solidFill>
                        <a:srgbClr val="99999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087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dirty="0" u="sng" sz="1000" spc="-42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</a:rPr>
                        <a:t>s</a:t>
                      </a:r>
                      <a:r>
                        <a:rPr dirty="0" sz="1000" spc="165">
                          <a:solidFill>
                            <a:srgbClr val="646464"/>
                          </a:solidFill>
                          <a:latin typeface="Segoe UI"/>
                          <a:cs typeface="Segoe UI"/>
                          <a:hlinkClick r:id="rId2"/>
                        </a:rPr>
                        <a:t> </a:t>
                      </a:r>
                      <a:r>
                        <a:rPr dirty="0" u="sng" sz="1000" spc="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  <a:hlinkClick r:id="rId2"/>
                        </a:rPr>
                        <a:t>eaborn.objects.Plot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B="0" marT="0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60680">
                        <a:lnSpc>
                          <a:spcPct val="100000"/>
                        </a:lnSpc>
                      </a:pPr>
                      <a:r>
                        <a:rPr dirty="0" sz="850">
                          <a:solidFill>
                            <a:srgbClr val="323232"/>
                          </a:solidFill>
                          <a:latin typeface="Arial"/>
                          <a:cs typeface="Arial"/>
                          <a:hlinkClick r:id="rId2"/>
                        </a:rPr>
                        <a:t>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9525">
                      <a:solidFill>
                        <a:srgbClr val="C8C8C8"/>
                      </a:solidFill>
                      <a:prstDash val="solid"/>
                    </a:lnR>
                  </a:tcPr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44780" marR="948055">
                        <a:lnSpc>
                          <a:spcPct val="139700"/>
                        </a:lnSpc>
                        <a:spcBef>
                          <a:spcPts val="5"/>
                        </a:spcBef>
                      </a:pPr>
                      <a:r>
                        <a:rPr dirty="0" sz="1100" spc="15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seaborn.</a:t>
                      </a:r>
                      <a:r>
                        <a:rPr dirty="0" sz="1200" spc="15" b="1">
                          <a:solidFill>
                            <a:srgbClr val="253833"/>
                          </a:solidFill>
                          <a:latin typeface="Consolas"/>
                          <a:cs typeface="Consolas"/>
                        </a:rPr>
                        <a:t>relplot</a:t>
                      </a:r>
                      <a:r>
                        <a:rPr dirty="0" sz="1350" spc="15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dirty="0" sz="1100" spc="15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data=</a:t>
                      </a:r>
                      <a:r>
                        <a:rPr dirty="0" sz="1100" spc="15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5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*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x=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y=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hue=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size=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style=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units=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weights=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row=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col=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col_wrap=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row_order=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col_order=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palette=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hue_order=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hue_norm=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sizes=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size_order=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size_norm=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markers=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dashes=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style_order=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legend=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'auto'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kind=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'scatter'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height=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aspect=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facet_kws=</a:t>
                      </a:r>
                      <a:r>
                        <a:rPr dirty="0" sz="1100" spc="10" i="1">
                          <a:solidFill>
                            <a:srgbClr val="323837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10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100" spc="105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100" spc="10" i="1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**kwargs</a:t>
                      </a:r>
                      <a:r>
                        <a:rPr dirty="0" sz="1350" spc="10">
                          <a:solidFill>
                            <a:srgbClr val="333662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350">
                        <a:latin typeface="Consolas"/>
                        <a:cs typeface="Consolas"/>
                      </a:endParaRPr>
                    </a:p>
                    <a:p>
                      <a:pPr marL="43053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00" spc="10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Figure-level interface for drawing relational plots onto a</a:t>
                      </a:r>
                      <a:r>
                        <a:rPr dirty="0" sz="1100" spc="-35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00" spc="5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FacetGrid.</a:t>
                      </a:r>
                      <a:endParaRPr sz="1100">
                        <a:latin typeface="Segoe UI"/>
                        <a:cs typeface="Segoe UI"/>
                      </a:endParaRPr>
                    </a:p>
                    <a:p>
                      <a:pPr marL="430530" marR="276225">
                        <a:lnSpc>
                          <a:spcPct val="142000"/>
                        </a:lnSpc>
                        <a:spcBef>
                          <a:spcPts val="1275"/>
                        </a:spcBef>
                      </a:pPr>
                      <a:r>
                        <a:rPr dirty="0" sz="1100" spc="10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This function provides access to several different axes-level functions that show the relationship between  two variables with semantic mappings of subsets. The </a:t>
                      </a:r>
                      <a:r>
                        <a:rPr dirty="0" baseline="2923" sz="1425" spc="22">
                          <a:solidFill>
                            <a:srgbClr val="253833"/>
                          </a:solidFill>
                          <a:latin typeface="Consolas"/>
                          <a:cs typeface="Consolas"/>
                        </a:rPr>
                        <a:t>kind </a:t>
                      </a:r>
                      <a:r>
                        <a:rPr dirty="0" sz="1100" spc="10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parameter selects the underlying axes-level  function to</a:t>
                      </a:r>
                      <a:r>
                        <a:rPr dirty="0" sz="1100" spc="-5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00" spc="10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use:</a:t>
                      </a:r>
                      <a:endParaRPr sz="1100">
                        <a:latin typeface="Segoe UI"/>
                        <a:cs typeface="Segoe U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856615">
                        <a:lnSpc>
                          <a:spcPct val="100000"/>
                        </a:lnSpc>
                      </a:pPr>
                      <a:r>
                        <a:rPr dirty="0" u="sng" baseline="2923" sz="1425" spc="-794" b="1">
                          <a:solidFill>
                            <a:srgbClr val="4A6990"/>
                          </a:solidFill>
                          <a:uFill>
                            <a:solidFill>
                              <a:srgbClr val="4A6990"/>
                            </a:solidFill>
                          </a:uFill>
                          <a:latin typeface="Consolas"/>
                          <a:cs typeface="Consolas"/>
                          <a:hlinkClick r:id="rId3"/>
                        </a:rPr>
                        <a:t>s</a:t>
                      </a:r>
                      <a:r>
                        <a:rPr dirty="0" baseline="2923" sz="1425" spc="52" b="1">
                          <a:solidFill>
                            <a:srgbClr val="4A6990"/>
                          </a:solidFill>
                          <a:latin typeface="Consolas"/>
                          <a:cs typeface="Consolas"/>
                          <a:hlinkClick r:id="rId3"/>
                        </a:rPr>
                        <a:t> </a:t>
                      </a:r>
                      <a:r>
                        <a:rPr dirty="0" u="sng" baseline="2923" sz="1425" spc="22" b="1">
                          <a:solidFill>
                            <a:srgbClr val="4A6990"/>
                          </a:solidFill>
                          <a:uFill>
                            <a:solidFill>
                              <a:srgbClr val="4A6990"/>
                            </a:solidFill>
                          </a:uFill>
                          <a:latin typeface="Consolas"/>
                          <a:cs typeface="Consolas"/>
                          <a:hlinkClick r:id="rId3"/>
                        </a:rPr>
                        <a:t>catter</a:t>
                      </a:r>
                      <a:r>
                        <a:rPr dirty="0" baseline="2923" sz="1425" spc="22" b="1">
                          <a:solidFill>
                            <a:srgbClr val="4A6990"/>
                          </a:solidFill>
                          <a:latin typeface="Consolas"/>
                          <a:cs typeface="Consolas"/>
                          <a:hlinkClick r:id="rId3"/>
                        </a:rPr>
                        <a:t>p</a:t>
                      </a:r>
                      <a:r>
                        <a:rPr dirty="0" u="sng" baseline="2923" sz="1425" spc="22" b="1">
                          <a:solidFill>
                            <a:srgbClr val="4A6990"/>
                          </a:solidFill>
                          <a:uFill>
                            <a:solidFill>
                              <a:srgbClr val="4A6990"/>
                            </a:solidFill>
                          </a:uFill>
                          <a:latin typeface="Consolas"/>
                          <a:cs typeface="Consolas"/>
                          <a:hlinkClick r:id="rId3"/>
                        </a:rPr>
                        <a:t>lot()</a:t>
                      </a:r>
                      <a:r>
                        <a:rPr dirty="0" baseline="2923" sz="1425" spc="22" b="1">
                          <a:solidFill>
                            <a:srgbClr val="4A6990"/>
                          </a:solidFill>
                          <a:latin typeface="Consolas"/>
                          <a:cs typeface="Consolas"/>
                          <a:hlinkClick r:id="rId3"/>
                        </a:rPr>
                        <a:t> </a:t>
                      </a:r>
                      <a:r>
                        <a:rPr dirty="0" sz="1100" spc="10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(with </a:t>
                      </a:r>
                      <a:r>
                        <a:rPr dirty="0" baseline="2923" sz="1425" spc="22">
                          <a:solidFill>
                            <a:srgbClr val="253833"/>
                          </a:solidFill>
                          <a:latin typeface="Consolas"/>
                          <a:cs typeface="Consolas"/>
                        </a:rPr>
                        <a:t>kind="scatter" </a:t>
                      </a:r>
                      <a:r>
                        <a:rPr dirty="0" sz="1100" spc="5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; </a:t>
                      </a:r>
                      <a:r>
                        <a:rPr dirty="0" sz="1100" spc="10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100" spc="-15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00" spc="10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default)</a:t>
                      </a:r>
                      <a:endParaRPr sz="1100">
                        <a:latin typeface="Segoe UI"/>
                        <a:cs typeface="Segoe UI"/>
                      </a:endParaRPr>
                    </a:p>
                    <a:p>
                      <a:pPr marL="85661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u="sng" sz="950" spc="-530" b="1">
                          <a:solidFill>
                            <a:srgbClr val="4A6990"/>
                          </a:solidFill>
                          <a:uFill>
                            <a:solidFill>
                              <a:srgbClr val="4A6990"/>
                            </a:solidFill>
                          </a:uFill>
                          <a:latin typeface="Consolas"/>
                          <a:cs typeface="Consolas"/>
                          <a:hlinkClick r:id="rId4"/>
                        </a:rPr>
                        <a:t>l</a:t>
                      </a:r>
                      <a:r>
                        <a:rPr dirty="0" sz="950" spc="35" b="1">
                          <a:solidFill>
                            <a:srgbClr val="4A6990"/>
                          </a:solidFill>
                          <a:latin typeface="Consolas"/>
                          <a:cs typeface="Consolas"/>
                          <a:hlinkClick r:id="rId4"/>
                        </a:rPr>
                        <a:t> </a:t>
                      </a:r>
                      <a:r>
                        <a:rPr dirty="0" u="sng" sz="950" spc="15" b="1">
                          <a:solidFill>
                            <a:srgbClr val="4A6990"/>
                          </a:solidFill>
                          <a:uFill>
                            <a:solidFill>
                              <a:srgbClr val="4A6990"/>
                            </a:solidFill>
                          </a:uFill>
                          <a:latin typeface="Consolas"/>
                          <a:cs typeface="Consolas"/>
                          <a:hlinkClick r:id="rId4"/>
                        </a:rPr>
                        <a:t>ine</a:t>
                      </a:r>
                      <a:r>
                        <a:rPr dirty="0" sz="950" spc="15" b="1">
                          <a:solidFill>
                            <a:srgbClr val="4A6990"/>
                          </a:solidFill>
                          <a:latin typeface="Consolas"/>
                          <a:cs typeface="Consolas"/>
                          <a:hlinkClick r:id="rId4"/>
                        </a:rPr>
                        <a:t>p</a:t>
                      </a:r>
                      <a:r>
                        <a:rPr dirty="0" u="sng" sz="950" spc="15" b="1">
                          <a:solidFill>
                            <a:srgbClr val="4A6990"/>
                          </a:solidFill>
                          <a:uFill>
                            <a:solidFill>
                              <a:srgbClr val="4A6990"/>
                            </a:solidFill>
                          </a:uFill>
                          <a:latin typeface="Consolas"/>
                          <a:cs typeface="Consolas"/>
                          <a:hlinkClick r:id="rId4"/>
                        </a:rPr>
                        <a:t>lot()</a:t>
                      </a:r>
                      <a:r>
                        <a:rPr dirty="0" sz="950" spc="15" b="1">
                          <a:solidFill>
                            <a:srgbClr val="4A6990"/>
                          </a:solidFill>
                          <a:latin typeface="Consolas"/>
                          <a:cs typeface="Consolas"/>
                          <a:hlinkClick r:id="rId4"/>
                        </a:rPr>
                        <a:t> </a:t>
                      </a:r>
                      <a:r>
                        <a:rPr dirty="0" baseline="2525" sz="1650" spc="15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(with </a:t>
                      </a:r>
                      <a:r>
                        <a:rPr dirty="0" sz="950" spc="15">
                          <a:solidFill>
                            <a:srgbClr val="253833"/>
                          </a:solidFill>
                          <a:latin typeface="Consolas"/>
                          <a:cs typeface="Consolas"/>
                        </a:rPr>
                        <a:t>kind="line"</a:t>
                      </a:r>
                      <a:r>
                        <a:rPr dirty="0" sz="950" spc="-5">
                          <a:solidFill>
                            <a:srgbClr val="25383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baseline="2525" sz="1650" spc="7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endParaRPr baseline="2525" sz="1650">
                        <a:latin typeface="Segoe UI"/>
                        <a:cs typeface="Segoe UI"/>
                      </a:endParaRPr>
                    </a:p>
                    <a:p>
                      <a:pPr marL="430530" marR="1167765">
                        <a:lnSpc>
                          <a:spcPts val="1870"/>
                        </a:lnSpc>
                        <a:spcBef>
                          <a:spcPts val="869"/>
                        </a:spcBef>
                      </a:pPr>
                      <a:r>
                        <a:rPr dirty="0" sz="1100" spc="10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Extra keyword arguments are passed to the underlying function, so you should refer to the  documentation for each to see kind-specific</a:t>
                      </a:r>
                      <a:r>
                        <a:rPr dirty="0" sz="1100" spc="-25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00" spc="10">
                          <a:solidFill>
                            <a:srgbClr val="323232"/>
                          </a:solidFill>
                          <a:latin typeface="Segoe UI"/>
                          <a:cs typeface="Segoe UI"/>
                        </a:rPr>
                        <a:t>options.</a:t>
                      </a:r>
                      <a:endParaRPr sz="1100">
                        <a:latin typeface="Segoe UI"/>
                        <a:cs typeface="Segoe UI"/>
                      </a:endParaRPr>
                    </a:p>
                  </a:txBody>
                  <a:tcPr marL="0" marR="0" marB="0" marT="1270">
                    <a:lnL w="9525">
                      <a:solidFill>
                        <a:srgbClr val="C8C8C8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280987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u="sng" sz="1000" spc="-42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</a:rPr>
                        <a:t>s</a:t>
                      </a:r>
                      <a:r>
                        <a:rPr dirty="0" sz="1000" spc="165">
                          <a:solidFill>
                            <a:srgbClr val="646464"/>
                          </a:solidFill>
                          <a:latin typeface="Segoe UI"/>
                          <a:cs typeface="Segoe UI"/>
                          <a:hlinkClick r:id="rId5"/>
                        </a:rPr>
                        <a:t> </a:t>
                      </a:r>
                      <a:r>
                        <a:rPr dirty="0" u="sng" sz="1000" spc="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  <a:hlinkClick r:id="rId5"/>
                        </a:rPr>
                        <a:t>eaborn.ob</a:t>
                      </a:r>
                      <a:r>
                        <a:rPr dirty="0" sz="1000" spc="5">
                          <a:solidFill>
                            <a:srgbClr val="646464"/>
                          </a:solidFill>
                          <a:latin typeface="Segoe UI"/>
                          <a:cs typeface="Segoe UI"/>
                          <a:hlinkClick r:id="rId5"/>
                        </a:rPr>
                        <a:t>j</a:t>
                      </a:r>
                      <a:r>
                        <a:rPr dirty="0" u="sng" sz="1000" spc="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  <a:hlinkClick r:id="rId5"/>
                        </a:rPr>
                        <a:t>ects.Dot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B="0" marT="64135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C8C8C8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70">
                    <a:lnL w="9525">
                      <a:solidFill>
                        <a:srgbClr val="C8C8C8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285749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u="sng" sz="1000" spc="-42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</a:rPr>
                        <a:t>s</a:t>
                      </a:r>
                      <a:r>
                        <a:rPr dirty="0" sz="1000" spc="160">
                          <a:solidFill>
                            <a:srgbClr val="646464"/>
                          </a:solidFill>
                          <a:latin typeface="Segoe UI"/>
                          <a:cs typeface="Segoe UI"/>
                          <a:hlinkClick r:id="rId6"/>
                        </a:rPr>
                        <a:t> </a:t>
                      </a:r>
                      <a:r>
                        <a:rPr dirty="0" u="sng" sz="1000" spc="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  <a:hlinkClick r:id="rId6"/>
                        </a:rPr>
                        <a:t>eaborn.objects.Dots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B="0" marT="69215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C8C8C8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70">
                    <a:lnL w="9525">
                      <a:solidFill>
                        <a:srgbClr val="C8C8C8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285749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u="sng" sz="1000" spc="-42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</a:rPr>
                        <a:t>s</a:t>
                      </a:r>
                      <a:r>
                        <a:rPr dirty="0" sz="1000" spc="165">
                          <a:solidFill>
                            <a:srgbClr val="646464"/>
                          </a:solidFill>
                          <a:latin typeface="Segoe UI"/>
                          <a:cs typeface="Segoe UI"/>
                          <a:hlinkClick r:id="rId7"/>
                        </a:rPr>
                        <a:t> </a:t>
                      </a:r>
                      <a:r>
                        <a:rPr dirty="0" u="sng" sz="1000" spc="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  <a:hlinkClick r:id="rId7"/>
                        </a:rPr>
                        <a:t>eaborn.objects.Line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B="0" marT="69215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C8C8C8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70">
                    <a:lnL w="9525">
                      <a:solidFill>
                        <a:srgbClr val="C8C8C8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280987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u="sng" sz="1000" spc="-42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</a:rPr>
                        <a:t>s</a:t>
                      </a:r>
                      <a:r>
                        <a:rPr dirty="0" sz="1000" spc="160">
                          <a:solidFill>
                            <a:srgbClr val="646464"/>
                          </a:solidFill>
                          <a:latin typeface="Segoe UI"/>
                          <a:cs typeface="Segoe UI"/>
                          <a:hlinkClick r:id="rId8"/>
                        </a:rPr>
                        <a:t> </a:t>
                      </a:r>
                      <a:r>
                        <a:rPr dirty="0" u="sng" sz="1000" spc="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  <a:hlinkClick r:id="rId8"/>
                        </a:rPr>
                        <a:t>eaborn.objects.Lines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B="0" marT="69215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C8C8C8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70">
                    <a:lnL w="9525">
                      <a:solidFill>
                        <a:srgbClr val="C8C8C8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280987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u="sng" sz="1000" spc="-42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</a:rPr>
                        <a:t>s</a:t>
                      </a:r>
                      <a:r>
                        <a:rPr dirty="0" sz="1000" spc="170">
                          <a:solidFill>
                            <a:srgbClr val="646464"/>
                          </a:solidFill>
                          <a:latin typeface="Segoe UI"/>
                          <a:cs typeface="Segoe UI"/>
                          <a:hlinkClick r:id="rId9"/>
                        </a:rPr>
                        <a:t> </a:t>
                      </a:r>
                      <a:r>
                        <a:rPr dirty="0" u="sng" sz="1000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  <a:hlinkClick r:id="rId9"/>
                        </a:rPr>
                        <a:t>eaborn.ob</a:t>
                      </a:r>
                      <a:r>
                        <a:rPr dirty="0" sz="1000">
                          <a:solidFill>
                            <a:srgbClr val="646464"/>
                          </a:solidFill>
                          <a:latin typeface="Segoe UI"/>
                          <a:cs typeface="Segoe UI"/>
                          <a:hlinkClick r:id="rId9"/>
                        </a:rPr>
                        <a:t>j</a:t>
                      </a:r>
                      <a:r>
                        <a:rPr dirty="0" u="sng" sz="1000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  <a:hlinkClick r:id="rId9"/>
                        </a:rPr>
                        <a:t>ects.Path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B="0" marT="64135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C8C8C8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70">
                    <a:lnL w="9525">
                      <a:solidFill>
                        <a:srgbClr val="C8C8C8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285749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u="sng" sz="1000" spc="-42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</a:rPr>
                        <a:t>s</a:t>
                      </a:r>
                      <a:r>
                        <a:rPr dirty="0" sz="1000" spc="170">
                          <a:solidFill>
                            <a:srgbClr val="646464"/>
                          </a:solidFill>
                          <a:latin typeface="Segoe UI"/>
                          <a:cs typeface="Segoe UI"/>
                          <a:hlinkClick r:id="rId10"/>
                        </a:rPr>
                        <a:t> </a:t>
                      </a:r>
                      <a:r>
                        <a:rPr dirty="0" u="sng" sz="1000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  <a:hlinkClick r:id="rId10"/>
                        </a:rPr>
                        <a:t>eaborn.objects.Paths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B="0" marT="69215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C8C8C8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70">
                    <a:lnL w="9525">
                      <a:solidFill>
                        <a:srgbClr val="C8C8C8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285749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u="sng" sz="1000" spc="-42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</a:rPr>
                        <a:t>s</a:t>
                      </a:r>
                      <a:r>
                        <a:rPr dirty="0" sz="1000" spc="160">
                          <a:solidFill>
                            <a:srgbClr val="646464"/>
                          </a:solidFill>
                          <a:latin typeface="Segoe UI"/>
                          <a:cs typeface="Segoe UI"/>
                          <a:hlinkClick r:id="rId11"/>
                        </a:rPr>
                        <a:t> </a:t>
                      </a:r>
                      <a:r>
                        <a:rPr dirty="0" u="sng" sz="1000" spc="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  <a:hlinkClick r:id="rId11"/>
                        </a:rPr>
                        <a:t>eaborn.objects.Dash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B="0" marT="69215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C8C8C8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70">
                    <a:lnL w="9525">
                      <a:solidFill>
                        <a:srgbClr val="C8C8C8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280987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u="sng" sz="1000" spc="-42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</a:rPr>
                        <a:t>s</a:t>
                      </a:r>
                      <a:r>
                        <a:rPr dirty="0" sz="1000" spc="160">
                          <a:solidFill>
                            <a:srgbClr val="646464"/>
                          </a:solidFill>
                          <a:latin typeface="Segoe UI"/>
                          <a:cs typeface="Segoe UI"/>
                          <a:hlinkClick r:id="rId12"/>
                        </a:rPr>
                        <a:t> </a:t>
                      </a:r>
                      <a:r>
                        <a:rPr dirty="0" u="sng" sz="1000" spc="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  <a:hlinkClick r:id="rId12"/>
                        </a:rPr>
                        <a:t>eaborn.objects.Range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B="0" marT="69215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C8C8C8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70">
                    <a:lnL w="9525">
                      <a:solidFill>
                        <a:srgbClr val="C8C8C8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280987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u="sng" sz="1000" spc="-42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</a:rPr>
                        <a:t>s</a:t>
                      </a:r>
                      <a:r>
                        <a:rPr dirty="0" sz="1000" spc="165">
                          <a:solidFill>
                            <a:srgbClr val="646464"/>
                          </a:solidFill>
                          <a:latin typeface="Segoe UI"/>
                          <a:cs typeface="Segoe UI"/>
                          <a:hlinkClick r:id="rId13"/>
                        </a:rPr>
                        <a:t> </a:t>
                      </a:r>
                      <a:r>
                        <a:rPr dirty="0" u="sng" sz="1000" spc="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  <a:hlinkClick r:id="rId13"/>
                        </a:rPr>
                        <a:t>eaborn.ob</a:t>
                      </a:r>
                      <a:r>
                        <a:rPr dirty="0" sz="1000" spc="5">
                          <a:solidFill>
                            <a:srgbClr val="646464"/>
                          </a:solidFill>
                          <a:latin typeface="Segoe UI"/>
                          <a:cs typeface="Segoe UI"/>
                          <a:hlinkClick r:id="rId13"/>
                        </a:rPr>
                        <a:t>j</a:t>
                      </a:r>
                      <a:r>
                        <a:rPr dirty="0" u="sng" sz="1000" spc="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  <a:hlinkClick r:id="rId13"/>
                        </a:rPr>
                        <a:t>ects.Bar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B="0" marT="64135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C8C8C8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70">
                    <a:lnL w="9525">
                      <a:solidFill>
                        <a:srgbClr val="C8C8C8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285749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u="sng" sz="1000" spc="-42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</a:rPr>
                        <a:t>s</a:t>
                      </a:r>
                      <a:r>
                        <a:rPr dirty="0" sz="1000" spc="160">
                          <a:solidFill>
                            <a:srgbClr val="646464"/>
                          </a:solidFill>
                          <a:latin typeface="Segoe UI"/>
                          <a:cs typeface="Segoe UI"/>
                          <a:hlinkClick r:id="rId14"/>
                        </a:rPr>
                        <a:t> </a:t>
                      </a:r>
                      <a:r>
                        <a:rPr dirty="0" u="sng" sz="1000" spc="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  <a:hlinkClick r:id="rId14"/>
                        </a:rPr>
                        <a:t>eaborn.ob</a:t>
                      </a:r>
                      <a:r>
                        <a:rPr dirty="0" sz="1000" spc="5">
                          <a:solidFill>
                            <a:srgbClr val="646464"/>
                          </a:solidFill>
                          <a:latin typeface="Segoe UI"/>
                          <a:cs typeface="Segoe UI"/>
                          <a:hlinkClick r:id="rId14"/>
                        </a:rPr>
                        <a:t>j</a:t>
                      </a:r>
                      <a:r>
                        <a:rPr dirty="0" u="sng" sz="1000" spc="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  <a:hlinkClick r:id="rId14"/>
                        </a:rPr>
                        <a:t>ects.Bars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B="0" marT="69215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C8C8C8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70">
                    <a:lnL w="9525">
                      <a:solidFill>
                        <a:srgbClr val="C8C8C8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424718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u="sng" sz="1000" spc="-42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</a:rPr>
                        <a:t>s</a:t>
                      </a:r>
                      <a:r>
                        <a:rPr dirty="0" sz="1000" spc="160">
                          <a:solidFill>
                            <a:srgbClr val="646464"/>
                          </a:solidFill>
                          <a:latin typeface="Segoe UI"/>
                          <a:cs typeface="Segoe UI"/>
                          <a:hlinkClick r:id="rId15"/>
                        </a:rPr>
                        <a:t> </a:t>
                      </a:r>
                      <a:r>
                        <a:rPr dirty="0" u="sng" sz="1000" spc="5">
                          <a:solidFill>
                            <a:srgbClr val="646464"/>
                          </a:solidFill>
                          <a:uFill>
                            <a:solidFill>
                              <a:srgbClr val="646464"/>
                            </a:solidFill>
                          </a:uFill>
                          <a:latin typeface="Segoe UI"/>
                          <a:cs typeface="Segoe UI"/>
                          <a:hlinkClick r:id="rId15"/>
                        </a:rPr>
                        <a:t>eaborn.objects.Area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B="0" marT="69215">
                    <a:lnL w="19050">
                      <a:solidFill>
                        <a:srgbClr val="999999"/>
                      </a:solidFill>
                      <a:prstDash val="solid"/>
                    </a:lnL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C8C8C8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70">
                    <a:lnL w="9525">
                      <a:solidFill>
                        <a:srgbClr val="C8C8C8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90982" y="2388330"/>
            <a:ext cx="3246392" cy="2719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6466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5">
                <a:latin typeface="Roboto Condensed"/>
                <a:cs typeface="Roboto Condensed"/>
              </a:rPr>
              <a:t>Seaborn's </a:t>
            </a:r>
            <a:r>
              <a:rPr dirty="0" sz="3200"/>
              <a:t>relplot</a:t>
            </a:r>
            <a:r>
              <a:rPr dirty="0" sz="3200" spc="-1145"/>
              <a:t> </a:t>
            </a:r>
            <a:r>
              <a:rPr dirty="0" sz="3350" spc="5">
                <a:latin typeface="Roboto Condensed"/>
                <a:cs typeface="Roboto Condensed"/>
              </a:rPr>
              <a:t>Function </a:t>
            </a:r>
            <a:r>
              <a:rPr dirty="0" sz="3350" spc="10">
                <a:latin typeface="Roboto Condensed"/>
                <a:cs typeface="Roboto Condensed"/>
              </a:rPr>
              <a:t>with Wide Data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1638300"/>
            <a:ext cx="5819775" cy="4438650"/>
          </a:xfrm>
          <a:custGeom>
            <a:avLst/>
            <a:gdLst/>
            <a:ahLst/>
            <a:cxnLst/>
            <a:rect l="l" t="t" r="r" b="b"/>
            <a:pathLst>
              <a:path w="5819775" h="4438650">
                <a:moveTo>
                  <a:pt x="0" y="0"/>
                </a:moveTo>
                <a:lnTo>
                  <a:pt x="5819774" y="0"/>
                </a:lnTo>
                <a:lnTo>
                  <a:pt x="5819774" y="4438649"/>
                </a:lnTo>
                <a:lnTo>
                  <a:pt x="0" y="4438649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2031" y="1707419"/>
            <a:ext cx="5440045" cy="428053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R="3462020">
              <a:lnSpc>
                <a:spcPts val="1430"/>
              </a:lnSpc>
              <a:spcBef>
                <a:spcPts val="185"/>
              </a:spcBef>
            </a:pP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datetime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200" spc="-2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dt 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yfinance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200" spc="-2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yf 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pandas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as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pd 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seaborn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200" spc="-2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sns</a:t>
            </a:r>
            <a:endParaRPr sz="1200">
              <a:latin typeface="Courier New"/>
              <a:cs typeface="Courier New"/>
            </a:endParaRPr>
          </a:p>
          <a:p>
            <a:pPr marL="187325" indent="-187960">
              <a:lnSpc>
                <a:spcPts val="1490"/>
              </a:lnSpc>
              <a:spcBef>
                <a:spcPts val="1075"/>
              </a:spcBef>
              <a:buChar char="❖"/>
              <a:tabLst>
                <a:tab pos="1879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Download the stock data for the following</a:t>
            </a:r>
            <a:r>
              <a:rPr dirty="0" sz="1250" spc="1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companies</a:t>
            </a:r>
            <a:endParaRPr sz="1250">
              <a:latin typeface="Courier New"/>
              <a:cs typeface="Courier New"/>
            </a:endParaRPr>
          </a:p>
          <a:p>
            <a:pPr marL="187325" marR="4118610" indent="-187960">
              <a:lnSpc>
                <a:spcPts val="1430"/>
              </a:lnSpc>
              <a:spcBef>
                <a:spcPts val="45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stock_data =</a:t>
            </a:r>
            <a:r>
              <a:rPr dirty="0" sz="1200" spc="-4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( 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yf.download(</a:t>
            </a:r>
            <a:endParaRPr sz="1200">
              <a:latin typeface="Courier New"/>
              <a:cs typeface="Courier New"/>
            </a:endParaRPr>
          </a:p>
          <a:p>
            <a:pPr marL="374650">
              <a:lnSpc>
                <a:spcPts val="136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'AAPL'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'MSFT'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'GOOGL'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'AMZN'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200" spc="2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'TSLA'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],</a:t>
            </a:r>
            <a:endParaRPr sz="1200">
              <a:latin typeface="Courier New"/>
              <a:cs typeface="Courier New"/>
            </a:endParaRPr>
          </a:p>
          <a:p>
            <a:pPr marL="374650">
              <a:lnSpc>
                <a:spcPts val="142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start=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'2020-01-01'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endParaRPr sz="1200">
              <a:latin typeface="Courier New"/>
              <a:cs typeface="Courier New"/>
            </a:endParaRPr>
          </a:p>
          <a:p>
            <a:pPr marL="374650">
              <a:lnSpc>
                <a:spcPts val="139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end= (dt.datetime.now().date() -</a:t>
            </a:r>
            <a:r>
              <a:rPr dirty="0" sz="1200" spc="8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dt.timedelta(days=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))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36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lvl="1" marL="374650" indent="-187960">
              <a:lnSpc>
                <a:spcPts val="1455"/>
              </a:lnSpc>
              <a:buChar char="❖"/>
              <a:tabLst>
                <a:tab pos="375285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Keep only the adjusted closing price</a:t>
            </a:r>
            <a:endParaRPr sz="1250">
              <a:latin typeface="Courier New"/>
              <a:cs typeface="Courier New"/>
            </a:endParaRPr>
          </a:p>
          <a:p>
            <a:pPr marL="187325">
              <a:lnSpc>
                <a:spcPts val="142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[[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'Close'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]].reset_index()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ts val="143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87325" indent="-187960">
              <a:lnSpc>
                <a:spcPts val="1490"/>
              </a:lnSpc>
              <a:spcBef>
                <a:spcPts val="1135"/>
              </a:spcBef>
              <a:buChar char="❖"/>
              <a:tabLst>
                <a:tab pos="1879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Overwrite the multi-index column names w/ single</a:t>
            </a:r>
            <a:r>
              <a:rPr dirty="0" sz="1250" spc="2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level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ts val="142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stock_data.columns =</a:t>
            </a:r>
            <a:r>
              <a:rPr dirty="0" sz="12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(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43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'Date'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'AAPL'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'MSFT'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'GOOGL'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'AMZN'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'TSLA'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</a:t>
            </a:r>
            <a:r>
              <a:rPr dirty="0" sz="1200" spc="4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87325" indent="-187960">
              <a:lnSpc>
                <a:spcPts val="1490"/>
              </a:lnSpc>
              <a:spcBef>
                <a:spcPts val="1135"/>
              </a:spcBef>
              <a:buChar char="❖"/>
              <a:tabLst>
                <a:tab pos="1879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Plot the closing</a:t>
            </a:r>
            <a:r>
              <a:rPr dirty="0" sz="1250" spc="-2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prices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ts val="142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sns.relplot(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42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data=stock_data, kind=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'line'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palette</a:t>
            </a:r>
            <a:r>
              <a:rPr dirty="0" sz="1200" spc="2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'Paired'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ts val="143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646034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5">
                <a:latin typeface="Roboto Condensed"/>
                <a:cs typeface="Roboto Condensed"/>
              </a:rPr>
              <a:t>Seaborn's </a:t>
            </a:r>
            <a:r>
              <a:rPr dirty="0" sz="3200"/>
              <a:t>relplot</a:t>
            </a:r>
            <a:r>
              <a:rPr dirty="0" sz="3200" spc="-1140"/>
              <a:t> </a:t>
            </a:r>
            <a:r>
              <a:rPr dirty="0" sz="3350" spc="5">
                <a:latin typeface="Roboto Condensed"/>
                <a:cs typeface="Roboto Condensed"/>
              </a:rPr>
              <a:t>Function </a:t>
            </a:r>
            <a:r>
              <a:rPr dirty="0" sz="3350" spc="10">
                <a:latin typeface="Roboto Condensed"/>
                <a:cs typeface="Roboto Condensed"/>
              </a:rPr>
              <a:t>with Long Data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38299" y="1544796"/>
            <a:ext cx="9459425" cy="29794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91414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5">
                <a:latin typeface="Roboto Condensed"/>
                <a:cs typeface="Roboto Condensed"/>
              </a:rPr>
              <a:t>Seaborn's </a:t>
            </a:r>
            <a:r>
              <a:rPr dirty="0" sz="3200"/>
              <a:t>relplot</a:t>
            </a:r>
            <a:r>
              <a:rPr dirty="0" sz="3200" spc="-1115"/>
              <a:t> </a:t>
            </a:r>
            <a:r>
              <a:rPr dirty="0" sz="3350" spc="5">
                <a:latin typeface="Roboto Condensed"/>
                <a:cs typeface="Roboto Condensed"/>
              </a:rPr>
              <a:t>Function </a:t>
            </a:r>
            <a:r>
              <a:rPr dirty="0" sz="3350" spc="10">
                <a:latin typeface="Roboto Condensed"/>
                <a:cs typeface="Roboto Condensed"/>
              </a:rPr>
              <a:t>with Long Data </a:t>
            </a:r>
            <a:r>
              <a:rPr dirty="0" sz="3350">
                <a:latin typeface="Roboto Condensed"/>
                <a:cs typeface="Roboto Condensed"/>
              </a:rPr>
              <a:t>(Facets)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6349" y="1490699"/>
            <a:ext cx="9577937" cy="47148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782955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Activity: </a:t>
            </a:r>
            <a:r>
              <a:rPr dirty="0" sz="3350" spc="-10">
                <a:solidFill>
                  <a:srgbClr val="C2132D"/>
                </a:solidFill>
                <a:latin typeface="Roboto Condensed"/>
                <a:cs typeface="Roboto Condensed"/>
              </a:rPr>
              <a:t>Reflect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on the </a:t>
            </a:r>
            <a:r>
              <a:rPr dirty="0" sz="3350">
                <a:solidFill>
                  <a:srgbClr val="C2132D"/>
                </a:solidFill>
                <a:latin typeface="Roboto Condensed"/>
                <a:cs typeface="Roboto Condensed"/>
              </a:rPr>
              <a:t>Previous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Seaborn</a:t>
            </a:r>
            <a:r>
              <a:rPr dirty="0" sz="3350" spc="2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Plots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9434830" cy="3921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10795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Whether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plotting multiple lines in a single plot or using facets, 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relplot</a:t>
            </a:r>
            <a:r>
              <a:rPr dirty="0" sz="1700" spc="-60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function  is quite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versatile.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However,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approach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only suitable for a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few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(in my opinion </a:t>
            </a:r>
            <a:r>
              <a:rPr dirty="0" sz="1450" spc="550">
                <a:solidFill>
                  <a:srgbClr val="585D60"/>
                </a:solidFill>
                <a:latin typeface="Gill Sans MT"/>
                <a:cs typeface="Gill Sans MT"/>
              </a:rPr>
              <a:t>≤ </a:t>
            </a:r>
            <a:r>
              <a:rPr dirty="0" sz="1450" spc="175">
                <a:solidFill>
                  <a:srgbClr val="585D60"/>
                </a:solidFill>
                <a:latin typeface="Gill Sans MT"/>
                <a:cs typeface="Gill Sans MT"/>
              </a:rPr>
              <a:t>9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  series).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what options, do we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have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if we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have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more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than 9 time</a:t>
            </a:r>
            <a:r>
              <a:rPr dirty="0" sz="1800" spc="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series?</a:t>
            </a:r>
            <a:endParaRPr sz="1800">
              <a:latin typeface="Roboto"/>
              <a:cs typeface="Roboto"/>
            </a:endParaRPr>
          </a:p>
          <a:p>
            <a:pPr marL="146050" marR="610235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 think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there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three alternative </a:t>
            </a:r>
            <a:r>
              <a:rPr dirty="0" sz="1800" spc="5" b="1">
                <a:solidFill>
                  <a:srgbClr val="C2132D"/>
                </a:solidFill>
                <a:latin typeface="Roboto"/>
                <a:cs typeface="Roboto"/>
              </a:rPr>
              <a:t>charting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approaches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(I am not talking about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specific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libraries).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Can you guess what they are?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4599"/>
              </a:lnSpc>
              <a:spcBef>
                <a:spcPts val="187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the next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three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minutes, edit the bullet points below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reflect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three alternative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charting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approaches.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...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...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...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26846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03:00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6672" y="2758440"/>
            <a:ext cx="8366759" cy="935990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57810">
              <a:lnSpc>
                <a:spcPct val="100000"/>
              </a:lnSpc>
              <a:spcBef>
                <a:spcPts val="1105"/>
              </a:spcBef>
            </a:pP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v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v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3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V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V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u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u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l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l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z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z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s </a:t>
            </a:r>
            <a:r>
              <a:rPr dirty="0" sz="4100" spc="-850">
                <a:solidFill>
                  <a:srgbClr val="000000"/>
                </a:solidFill>
                <a:latin typeface="Roboto Condensed"/>
                <a:cs typeface="Roboto Condensed"/>
              </a:rPr>
              <a:t>w</a:t>
            </a:r>
            <a:r>
              <a:rPr dirty="0" sz="4100" spc="-850">
                <a:solidFill>
                  <a:srgbClr val="FFFFFF"/>
                </a:solidFill>
                <a:latin typeface="Roboto Condensed"/>
                <a:cs typeface="Roboto Condensed"/>
              </a:rPr>
              <a:t>w</a:t>
            </a:r>
            <a:r>
              <a:rPr dirty="0" sz="4100" spc="-85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5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5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5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50">
                <a:solidFill>
                  <a:srgbClr val="000000"/>
                </a:solidFill>
                <a:latin typeface="Roboto Condensed"/>
                <a:cs typeface="Roboto Condensed"/>
              </a:rPr>
              <a:t>h</a:t>
            </a:r>
            <a:r>
              <a:rPr dirty="0" sz="4100" spc="-850">
                <a:solidFill>
                  <a:srgbClr val="FFFFFF"/>
                </a:solidFill>
                <a:latin typeface="Roboto Condensed"/>
                <a:cs typeface="Roboto Condensed"/>
              </a:rPr>
              <a:t>h</a:t>
            </a:r>
            <a:r>
              <a:rPr dirty="0" sz="4100" spc="-82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95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95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95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5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50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5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50">
                <a:solidFill>
                  <a:srgbClr val="000000"/>
                </a:solidFill>
                <a:latin typeface="Roboto Condensed"/>
                <a:cs typeface="Roboto Condensed"/>
              </a:rPr>
              <a:t>b</a:t>
            </a:r>
            <a:r>
              <a:rPr dirty="0" sz="4100" spc="-950">
                <a:solidFill>
                  <a:srgbClr val="FFFFFF"/>
                </a:solidFill>
                <a:latin typeface="Roboto Condensed"/>
                <a:cs typeface="Roboto Condensed"/>
              </a:rPr>
              <a:t>b</a:t>
            </a:r>
            <a:r>
              <a:rPr dirty="0" sz="4100" spc="-95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95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950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950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95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95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41693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Approach 1:</a:t>
            </a:r>
            <a:r>
              <a:rPr dirty="0" sz="3350" spc="-4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Sample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9159875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Sample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subset of the time series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plot. This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approach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useful when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have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large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number of time series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want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visualize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representative</a:t>
            </a:r>
            <a:r>
              <a:rPr dirty="0" sz="1800" spc="1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sample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Key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Point: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sample should be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representative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entire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set.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19633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Approach 1: </a:t>
            </a:r>
            <a:r>
              <a:rPr dirty="0" sz="3350" spc="10">
                <a:latin typeface="Roboto Condensed"/>
                <a:cs typeface="Roboto Condensed"/>
              </a:rPr>
              <a:t>Sample (Code</a:t>
            </a:r>
            <a:r>
              <a:rPr dirty="0" sz="3350" spc="-2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Example)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428750"/>
            <a:ext cx="9696450" cy="3181350"/>
          </a:xfrm>
          <a:custGeom>
            <a:avLst/>
            <a:gdLst/>
            <a:ahLst/>
            <a:cxnLst/>
            <a:rect l="l" t="t" r="r" b="b"/>
            <a:pathLst>
              <a:path w="9696450" h="3181350">
                <a:moveTo>
                  <a:pt x="0" y="0"/>
                </a:moveTo>
                <a:lnTo>
                  <a:pt x="9696449" y="0"/>
                </a:lnTo>
                <a:lnTo>
                  <a:pt x="9696449" y="3181349"/>
                </a:lnTo>
                <a:lnTo>
                  <a:pt x="0" y="3181349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09650" y="3619500"/>
            <a:ext cx="9505950" cy="180975"/>
          </a:xfrm>
          <a:custGeom>
            <a:avLst/>
            <a:gdLst/>
            <a:ahLst/>
            <a:cxnLst/>
            <a:rect l="l" t="t" r="r" b="b"/>
            <a:pathLst>
              <a:path w="9505950" h="180975">
                <a:moveTo>
                  <a:pt x="0" y="0"/>
                </a:moveTo>
                <a:lnTo>
                  <a:pt x="9505949" y="0"/>
                </a:lnTo>
                <a:lnTo>
                  <a:pt x="9505949" y="180974"/>
                </a:lnTo>
                <a:lnTo>
                  <a:pt x="0" y="180974"/>
                </a:lnTo>
                <a:lnTo>
                  <a:pt x="0" y="0"/>
                </a:lnTo>
                <a:close/>
              </a:path>
            </a:pathLst>
          </a:custGeom>
          <a:solidFill>
            <a:srgbClr val="FFDE6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09650" y="2228850"/>
            <a:ext cx="9505950" cy="180975"/>
          </a:xfrm>
          <a:prstGeom prst="rect">
            <a:avLst/>
          </a:prstGeom>
          <a:solidFill>
            <a:srgbClr val="FFDE65"/>
          </a:solidFill>
        </p:spPr>
        <p:txBody>
          <a:bodyPr wrap="square" lIns="0" tIns="0" rIns="0" bIns="0" rtlCol="0" vert="horz">
            <a:spAutoFit/>
          </a:bodyPr>
          <a:lstStyle/>
          <a:p>
            <a:pPr marL="1905">
              <a:lnSpc>
                <a:spcPts val="137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random.seed(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2025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# for reproducibility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9650" y="2743200"/>
            <a:ext cx="9505950" cy="361950"/>
          </a:xfrm>
          <a:prstGeom prst="rect">
            <a:avLst/>
          </a:prstGeom>
          <a:solidFill>
            <a:srgbClr val="FFDE65"/>
          </a:solidFill>
        </p:spPr>
        <p:txBody>
          <a:bodyPr wrap="square" lIns="0" tIns="0" rIns="0" bIns="0" rtlCol="0" vert="horz">
            <a:spAutoFit/>
          </a:bodyPr>
          <a:lstStyle/>
          <a:p>
            <a:pPr marL="1905">
              <a:lnSpc>
                <a:spcPts val="136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sampled_stocks = stock_data[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'Stock'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].unique().tolist()</a:t>
            </a:r>
            <a:endParaRPr sz="1200">
              <a:latin typeface="Courier New"/>
              <a:cs typeface="Courier New"/>
            </a:endParaRPr>
          </a:p>
          <a:p>
            <a:pPr marL="1905">
              <a:lnSpc>
                <a:spcPts val="143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sampled_stocks = random.sample(sampled_stocks,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2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2860" rIns="0" bIns="0" rtlCol="0" vert="horz">
            <a:spAutoFit/>
          </a:bodyPr>
          <a:lstStyle/>
          <a:p>
            <a:pPr marR="5245100">
              <a:lnSpc>
                <a:spcPct val="96400"/>
              </a:lnSpc>
              <a:spcBef>
                <a:spcPts val="180"/>
              </a:spcBef>
            </a:pPr>
            <a:r>
              <a:rPr dirty="0" spc="15" b="1">
                <a:latin typeface="Courier New"/>
                <a:cs typeface="Courier New"/>
              </a:rPr>
              <a:t>import </a:t>
            </a:r>
            <a:r>
              <a:rPr dirty="0" spc="15"/>
              <a:t>pandas </a:t>
            </a:r>
            <a:r>
              <a:rPr dirty="0" spc="15" b="1">
                <a:latin typeface="Courier New"/>
                <a:cs typeface="Courier New"/>
              </a:rPr>
              <a:t>as </a:t>
            </a:r>
            <a:r>
              <a:rPr dirty="0" spc="15"/>
              <a:t>pd  </a:t>
            </a:r>
            <a:r>
              <a:rPr dirty="0" spc="15" b="1">
                <a:latin typeface="Courier New"/>
                <a:cs typeface="Courier New"/>
              </a:rPr>
              <a:t>import </a:t>
            </a:r>
            <a:r>
              <a:rPr dirty="0" spc="15"/>
              <a:t>seaborn </a:t>
            </a:r>
            <a:r>
              <a:rPr dirty="0" spc="15" b="1">
                <a:latin typeface="Courier New"/>
                <a:cs typeface="Courier New"/>
              </a:rPr>
              <a:t>as</a:t>
            </a:r>
            <a:r>
              <a:rPr dirty="0" spc="-25" b="1">
                <a:latin typeface="Courier New"/>
                <a:cs typeface="Courier New"/>
              </a:rPr>
              <a:t> </a:t>
            </a:r>
            <a:r>
              <a:rPr dirty="0" spc="15"/>
              <a:t>sns  </a:t>
            </a:r>
            <a:r>
              <a:rPr dirty="0" spc="15" b="1">
                <a:latin typeface="Courier New"/>
                <a:cs typeface="Courier New"/>
              </a:rPr>
              <a:t>import</a:t>
            </a:r>
            <a:r>
              <a:rPr dirty="0" spc="5" b="1">
                <a:latin typeface="Courier New"/>
                <a:cs typeface="Courier New"/>
              </a:rPr>
              <a:t> </a:t>
            </a:r>
            <a:r>
              <a:rPr dirty="0" spc="15"/>
              <a:t>random</a:t>
            </a:r>
          </a:p>
          <a:p>
            <a:pPr marR="2056764">
              <a:lnSpc>
                <a:spcPts val="5470"/>
              </a:lnSpc>
              <a:spcBef>
                <a:spcPts val="710"/>
              </a:spcBef>
              <a:buChar char="❖"/>
              <a:tabLst>
                <a:tab pos="1879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Start with the long format data and sample two </a:t>
            </a:r>
            <a:r>
              <a:rPr dirty="0" sz="1250" spc="-100" i="1">
                <a:solidFill>
                  <a:srgbClr val="999987"/>
                </a:solidFill>
                <a:latin typeface="Courier New"/>
                <a:cs typeface="Courier New"/>
              </a:rPr>
              <a:t>stocks 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# Plot the adjusted closing</a:t>
            </a:r>
            <a:r>
              <a:rPr dirty="0" sz="1250" spc="-2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prices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ts val="570"/>
              </a:lnSpc>
            </a:pPr>
            <a:r>
              <a:rPr dirty="0" spc="15"/>
              <a:t>fig =</a:t>
            </a:r>
            <a:r>
              <a:rPr dirty="0" spc="10"/>
              <a:t> </a:t>
            </a:r>
            <a:r>
              <a:rPr dirty="0" spc="15"/>
              <a:t>sns.relplot(</a:t>
            </a:r>
          </a:p>
          <a:p>
            <a:pPr marL="187325">
              <a:lnSpc>
                <a:spcPts val="1425"/>
              </a:lnSpc>
            </a:pPr>
            <a:r>
              <a:rPr dirty="0" spc="15"/>
              <a:t>data=stock_data.query(</a:t>
            </a:r>
            <a:r>
              <a:rPr dirty="0" spc="15">
                <a:solidFill>
                  <a:srgbClr val="DD1144"/>
                </a:solidFill>
              </a:rPr>
              <a:t>'Stock in @sampled_stocks'</a:t>
            </a:r>
            <a:r>
              <a:rPr dirty="0" spc="15"/>
              <a:t>),</a:t>
            </a:r>
          </a:p>
          <a:p>
            <a:pPr marL="187325">
              <a:lnSpc>
                <a:spcPts val="1430"/>
              </a:lnSpc>
              <a:spcBef>
                <a:spcPts val="50"/>
              </a:spcBef>
              <a:tabLst>
                <a:tab pos="3094990" algn="l"/>
              </a:tabLst>
            </a:pPr>
            <a:r>
              <a:rPr dirty="0" spc="15"/>
              <a:t>x=</a:t>
            </a:r>
            <a:r>
              <a:rPr dirty="0" spc="15">
                <a:solidFill>
                  <a:srgbClr val="DD1144"/>
                </a:solidFill>
              </a:rPr>
              <a:t>'Date'</a:t>
            </a:r>
            <a:r>
              <a:rPr dirty="0" spc="15"/>
              <a:t>, y=</a:t>
            </a:r>
            <a:r>
              <a:rPr dirty="0" spc="15">
                <a:solidFill>
                  <a:srgbClr val="DD1144"/>
                </a:solidFill>
              </a:rPr>
              <a:t>'Close'</a:t>
            </a:r>
            <a:r>
              <a:rPr dirty="0" spc="15"/>
              <a:t>, kind=</a:t>
            </a:r>
            <a:r>
              <a:rPr dirty="0" spc="15">
                <a:solidFill>
                  <a:srgbClr val="DD1144"/>
                </a:solidFill>
              </a:rPr>
              <a:t>'line'</a:t>
            </a:r>
            <a:r>
              <a:rPr dirty="0" spc="15"/>
              <a:t>, legend=</a:t>
            </a:r>
            <a:r>
              <a:rPr dirty="0" spc="15" b="1">
                <a:latin typeface="Courier New"/>
                <a:cs typeface="Courier New"/>
              </a:rPr>
              <a:t>False</a:t>
            </a:r>
            <a:r>
              <a:rPr dirty="0" spc="15"/>
              <a:t>, hue=</a:t>
            </a:r>
            <a:r>
              <a:rPr dirty="0" spc="15">
                <a:solidFill>
                  <a:srgbClr val="DD1144"/>
                </a:solidFill>
              </a:rPr>
              <a:t>'Stock'</a:t>
            </a:r>
            <a:r>
              <a:rPr dirty="0" spc="15"/>
              <a:t>, col=</a:t>
            </a:r>
            <a:r>
              <a:rPr dirty="0" spc="15">
                <a:solidFill>
                  <a:srgbClr val="DD1144"/>
                </a:solidFill>
              </a:rPr>
              <a:t>'Stock'</a:t>
            </a:r>
            <a:r>
              <a:rPr dirty="0" spc="15"/>
              <a:t>,  palette=</a:t>
            </a:r>
            <a:r>
              <a:rPr dirty="0" spc="15">
                <a:solidFill>
                  <a:srgbClr val="DD1144"/>
                </a:solidFill>
              </a:rPr>
              <a:t>'Paired'</a:t>
            </a:r>
            <a:r>
              <a:rPr dirty="0" spc="15"/>
              <a:t>,</a:t>
            </a:r>
            <a:r>
              <a:rPr dirty="0" spc="60"/>
              <a:t> </a:t>
            </a:r>
            <a:r>
              <a:rPr dirty="0" spc="15"/>
              <a:t>col_wrap=</a:t>
            </a:r>
            <a:r>
              <a:rPr dirty="0" spc="15">
                <a:solidFill>
                  <a:srgbClr val="008080"/>
                </a:solidFill>
              </a:rPr>
              <a:t>2</a:t>
            </a:r>
            <a:r>
              <a:rPr dirty="0" spc="15"/>
              <a:t>,	facet_kws={</a:t>
            </a:r>
            <a:r>
              <a:rPr dirty="0" spc="15">
                <a:solidFill>
                  <a:srgbClr val="DD1144"/>
                </a:solidFill>
              </a:rPr>
              <a:t>'sharey'</a:t>
            </a:r>
            <a:r>
              <a:rPr dirty="0" spc="15"/>
              <a:t>: </a:t>
            </a:r>
            <a:r>
              <a:rPr dirty="0" spc="15" b="1">
                <a:latin typeface="Courier New"/>
                <a:cs typeface="Courier New"/>
              </a:rPr>
              <a:t>False</a:t>
            </a:r>
            <a:r>
              <a:rPr dirty="0" spc="15"/>
              <a:t>, </a:t>
            </a:r>
            <a:r>
              <a:rPr dirty="0" spc="15">
                <a:solidFill>
                  <a:srgbClr val="DD1144"/>
                </a:solidFill>
              </a:rPr>
              <a:t>'sharex'</a:t>
            </a:r>
            <a:r>
              <a:rPr dirty="0" spc="15"/>
              <a:t>:</a:t>
            </a:r>
            <a:r>
              <a:rPr dirty="0" spc="50"/>
              <a:t> </a:t>
            </a:r>
            <a:r>
              <a:rPr dirty="0" spc="15" b="1">
                <a:latin typeface="Courier New"/>
                <a:cs typeface="Courier New"/>
              </a:rPr>
              <a:t>False</a:t>
            </a:r>
            <a:r>
              <a:rPr dirty="0" spc="15"/>
              <a:t>}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12031" y="4126769"/>
            <a:ext cx="4314190" cy="3949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ts val="1405"/>
              </a:lnSpc>
              <a:spcBef>
                <a:spcPts val="130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ts val="147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plt.tight_layout()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# improves title</a:t>
            </a:r>
            <a:r>
              <a:rPr dirty="0" sz="1250" spc="2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visibility</a:t>
            </a:r>
            <a:endParaRPr sz="12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8387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>
                <a:latin typeface="Roboto Condensed"/>
                <a:cs typeface="Roboto Condensed"/>
              </a:rPr>
              <a:t>Appraoch </a:t>
            </a:r>
            <a:r>
              <a:rPr dirty="0" sz="3350" spc="5">
                <a:latin typeface="Roboto Condensed"/>
                <a:cs typeface="Roboto Condensed"/>
              </a:rPr>
              <a:t>1: </a:t>
            </a:r>
            <a:r>
              <a:rPr dirty="0" sz="3350" spc="10">
                <a:latin typeface="Roboto Condensed"/>
                <a:cs typeface="Roboto Condensed"/>
              </a:rPr>
              <a:t>Sample</a:t>
            </a:r>
            <a:r>
              <a:rPr dirty="0" sz="3350" spc="-3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(Result)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6310" y="1574196"/>
            <a:ext cx="9408788" cy="45314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7491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Approach 2: </a:t>
            </a:r>
            <a:r>
              <a:rPr dirty="0" sz="3350" spc="10">
                <a:latin typeface="Roboto Condensed"/>
                <a:cs typeface="Roboto Condensed"/>
              </a:rPr>
              <a:t>Animated</a:t>
            </a:r>
            <a:r>
              <a:rPr dirty="0" sz="3350" spc="-3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Plots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9471025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Animate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time series data. This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approach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useful when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have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large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number of time  series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want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visualize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all of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them.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Key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Point: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Animated plots can be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interactive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engaging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528559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Approach 2: </a:t>
            </a:r>
            <a:r>
              <a:rPr dirty="0" sz="3350" spc="10">
                <a:latin typeface="Roboto Condensed"/>
                <a:cs typeface="Roboto Condensed"/>
              </a:rPr>
              <a:t>Animated Plots (Code</a:t>
            </a:r>
            <a:r>
              <a:rPr dirty="0" sz="3350" spc="-1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Example)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6410324"/>
            <a:ext cx="9696449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1428750"/>
            <a:ext cx="9696450" cy="4781550"/>
          </a:xfrm>
          <a:custGeom>
            <a:avLst/>
            <a:gdLst/>
            <a:ahLst/>
            <a:cxnLst/>
            <a:rect l="l" t="t" r="r" b="b"/>
            <a:pathLst>
              <a:path w="9696450" h="4781550">
                <a:moveTo>
                  <a:pt x="0" y="0"/>
                </a:moveTo>
                <a:lnTo>
                  <a:pt x="9696449" y="0"/>
                </a:lnTo>
                <a:lnTo>
                  <a:pt x="9696449" y="4781549"/>
                </a:lnTo>
                <a:lnTo>
                  <a:pt x="0" y="4781549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2031" y="1507394"/>
            <a:ext cx="7315834" cy="46139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ts val="1430"/>
              </a:lnSpc>
              <a:spcBef>
                <a:spcPts val="130"/>
              </a:spcBef>
            </a:pP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matplotlib.pyplot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200" spc="10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plt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ts val="1390"/>
              </a:lnSpc>
            </a:pP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pandas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200" spc="10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pd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ts val="1390"/>
              </a:lnSpc>
            </a:pP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seaborn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200" spc="10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sns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ts val="1430"/>
              </a:lnSpc>
            </a:pP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imageio.v2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200" spc="10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imageio</a:t>
            </a:r>
            <a:endParaRPr sz="1200">
              <a:latin typeface="Courier New"/>
              <a:cs typeface="Courier New"/>
            </a:endParaRPr>
          </a:p>
          <a:p>
            <a:pPr marL="187325" indent="-187960">
              <a:lnSpc>
                <a:spcPts val="1450"/>
              </a:lnSpc>
              <a:spcBef>
                <a:spcPts val="1210"/>
              </a:spcBef>
              <a:buChar char="❖"/>
              <a:tabLst>
                <a:tab pos="1879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Start with long format</a:t>
            </a:r>
            <a:r>
              <a:rPr dirty="0" sz="1250" spc="-2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data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ts val="139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stocks = stock_data[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'Stock'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].unique().tolist()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image_paths =</a:t>
            </a:r>
            <a:r>
              <a:rPr dirty="0" sz="1200" spc="-4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[]</a:t>
            </a:r>
            <a:endParaRPr sz="1200">
              <a:latin typeface="Courier New"/>
              <a:cs typeface="Courier New"/>
            </a:endParaRPr>
          </a:p>
          <a:p>
            <a:pPr marL="374650" marR="5431790" indent="-375285">
              <a:lnSpc>
                <a:spcPts val="1430"/>
              </a:lnSpc>
              <a:spcBef>
                <a:spcPts val="1240"/>
              </a:spcBef>
            </a:pP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for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stock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in</a:t>
            </a:r>
            <a:r>
              <a:rPr dirty="0" sz="1200" spc="-30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stocks:  sns.relplot(</a:t>
            </a:r>
            <a:endParaRPr sz="1200">
              <a:latin typeface="Courier New"/>
              <a:cs typeface="Courier New"/>
            </a:endParaRPr>
          </a:p>
          <a:p>
            <a:pPr marL="562610">
              <a:lnSpc>
                <a:spcPts val="136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data=stock_data.query(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'Stock == @stock'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), kind</a:t>
            </a:r>
            <a:r>
              <a:rPr dirty="0" sz="1200" spc="2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'line'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endParaRPr sz="1200">
              <a:latin typeface="Courier New"/>
              <a:cs typeface="Courier New"/>
            </a:endParaRPr>
          </a:p>
          <a:p>
            <a:pPr marL="562610" marR="3368040">
              <a:lnSpc>
                <a:spcPts val="1430"/>
              </a:lnSpc>
              <a:spcBef>
                <a:spcPts val="50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x=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'Date'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y=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'Close'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color 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'black'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 height =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4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aspect =</a:t>
            </a:r>
            <a:r>
              <a:rPr dirty="0" sz="120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3</a:t>
            </a:r>
            <a:endParaRPr sz="1200">
              <a:latin typeface="Courier New"/>
              <a:cs typeface="Courier New"/>
            </a:endParaRPr>
          </a:p>
          <a:p>
            <a:pPr marL="374650">
              <a:lnSpc>
                <a:spcPts val="129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374650" marR="179705">
              <a:lnSpc>
                <a:spcPts val="1430"/>
              </a:lnSpc>
              <a:spcBef>
                <a:spcPts val="45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plt.title(f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"Adjusted Closing Price of {stock} (2020-2025)"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fontsize=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14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 plt.xlabel(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"Date"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fontsize=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12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374650">
              <a:lnSpc>
                <a:spcPts val="136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plt.ylabel(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"Adjusted Closing Price"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200" spc="2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fontsize=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12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374650" marR="1117600">
              <a:lnSpc>
                <a:spcPts val="1430"/>
              </a:lnSpc>
              <a:spcBef>
                <a:spcPts val="50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plt.tight_layout()  plt.savefig(f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'../../figures/{stock}_animated_plot.png'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 image_paths.append(f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'../../figures/{stock}_animated_plot.png'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87325" indent="-187960">
              <a:lnSpc>
                <a:spcPts val="1490"/>
              </a:lnSpc>
              <a:spcBef>
                <a:spcPts val="1080"/>
              </a:spcBef>
              <a:buChar char="❖"/>
              <a:tabLst>
                <a:tab pos="1879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Create a GIF from the</a:t>
            </a:r>
            <a:r>
              <a:rPr dirty="0" sz="1250" spc="-2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images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ts val="1430"/>
              </a:lnSpc>
              <a:spcBef>
                <a:spcPts val="45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images = [imageio.imread(path)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for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path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in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image_paths]  imageio.mimsave(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'../../figures/animated_stock_lineplot.gif'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images,</a:t>
            </a:r>
            <a:r>
              <a:rPr dirty="0" sz="1200" spc="16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fps=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0.25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1747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Approach 2: </a:t>
            </a:r>
            <a:r>
              <a:rPr dirty="0" sz="3350" spc="10">
                <a:latin typeface="Roboto Condensed"/>
                <a:cs typeface="Roboto Condensed"/>
              </a:rPr>
              <a:t>Animated Plots</a:t>
            </a:r>
            <a:r>
              <a:rPr dirty="0" sz="3350" spc="-3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(Result)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27525" y="1428750"/>
            <a:ext cx="9583324" cy="3238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5421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Approach 3: </a:t>
            </a:r>
            <a:r>
              <a:rPr dirty="0" sz="3350" spc="10">
                <a:latin typeface="Roboto Condensed"/>
                <a:cs typeface="Roboto Condensed"/>
              </a:rPr>
              <a:t>Spaghetti</a:t>
            </a:r>
            <a:r>
              <a:rPr dirty="0" sz="3350" spc="-4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Plot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9286240" cy="2292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Plot all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time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series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 a single plot. This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approach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useful when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have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large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number  of time series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want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visualize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all of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them.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Key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Points: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light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gray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the lines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de-emphasize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individual time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series.</a:t>
            </a:r>
            <a:endParaRPr sz="1800">
              <a:latin typeface="Roboto"/>
              <a:cs typeface="Roboto"/>
            </a:endParaRPr>
          </a:p>
          <a:p>
            <a:pPr lvl="1" marL="527050" marR="160655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bold colors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the lines of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specific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time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series (or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summary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statistics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across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all 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time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series)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emphasize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them.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322184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Approach 3: </a:t>
            </a:r>
            <a:r>
              <a:rPr dirty="0" sz="3350" spc="10">
                <a:latin typeface="Roboto Condensed"/>
                <a:cs typeface="Roboto Condensed"/>
              </a:rPr>
              <a:t>Spaghetti Plot (Code</a:t>
            </a:r>
            <a:r>
              <a:rPr dirty="0" sz="3350" spc="-3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Example)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428750"/>
            <a:ext cx="9696450" cy="2828925"/>
          </a:xfrm>
          <a:custGeom>
            <a:avLst/>
            <a:gdLst/>
            <a:ahLst/>
            <a:cxnLst/>
            <a:rect l="l" t="t" r="r" b="b"/>
            <a:pathLst>
              <a:path w="9696450" h="2828925">
                <a:moveTo>
                  <a:pt x="0" y="0"/>
                </a:moveTo>
                <a:lnTo>
                  <a:pt x="9696449" y="0"/>
                </a:lnTo>
                <a:lnTo>
                  <a:pt x="9696449" y="2828924"/>
                </a:lnTo>
                <a:lnTo>
                  <a:pt x="0" y="282892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99331" y="1507394"/>
            <a:ext cx="8841740" cy="26612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1430"/>
              </a:lnSpc>
              <a:spcBef>
                <a:spcPts val="130"/>
              </a:spcBef>
            </a:pP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pandas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200" spc="10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pd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390"/>
              </a:lnSpc>
            </a:pP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matplotlib.pyplot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200" spc="10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plt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395"/>
              </a:lnSpc>
            </a:pP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seaborn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200" spc="10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sns</a:t>
            </a:r>
            <a:endParaRPr sz="1200">
              <a:latin typeface="Courier New"/>
              <a:cs typeface="Courier New"/>
            </a:endParaRPr>
          </a:p>
          <a:p>
            <a:pPr marL="200025" indent="-187960">
              <a:lnSpc>
                <a:spcPts val="1490"/>
              </a:lnSpc>
              <a:spcBef>
                <a:spcPts val="1210"/>
              </a:spcBef>
              <a:buChar char="❖"/>
              <a:tabLst>
                <a:tab pos="2006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for each stock, plot the closing price over time as a light gray</a:t>
            </a:r>
            <a:r>
              <a:rPr dirty="0" sz="1250" spc="1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line</a:t>
            </a:r>
            <a:endParaRPr sz="1250">
              <a:latin typeface="Courier New"/>
              <a:cs typeface="Courier New"/>
            </a:endParaRPr>
          </a:p>
          <a:p>
            <a:pPr marL="12700">
              <a:lnSpc>
                <a:spcPts val="1380"/>
              </a:lnSpc>
            </a:pP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for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stock, group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in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stock_data.groupby(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"Stock"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):</a:t>
            </a:r>
            <a:endParaRPr sz="1200">
              <a:latin typeface="Courier New"/>
              <a:cs typeface="Courier New"/>
            </a:endParaRPr>
          </a:p>
          <a:p>
            <a:pPr marL="200025">
              <a:lnSpc>
                <a:spcPts val="139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ax = sns.lineplot(data=group, x=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'Date'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y=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'Close'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color=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'lightgray'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200" spc="6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alpha=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0.5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200025" indent="-187960">
              <a:lnSpc>
                <a:spcPts val="1485"/>
              </a:lnSpc>
              <a:spcBef>
                <a:spcPts val="1210"/>
              </a:spcBef>
              <a:buChar char="❖"/>
              <a:tabLst>
                <a:tab pos="2006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Calculate and overlay percentiles across all time series for each</a:t>
            </a:r>
            <a:r>
              <a:rPr dirty="0" sz="1250" spc="1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date</a:t>
            </a:r>
            <a:endParaRPr sz="1250">
              <a:latin typeface="Courier New"/>
              <a:cs typeface="Courier New"/>
            </a:endParaRPr>
          </a:p>
          <a:p>
            <a:pPr marL="12700">
              <a:lnSpc>
                <a:spcPts val="142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quantiles = stock_data.groupby(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'Date'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'Close'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].quantile([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0.05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0.5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200" spc="6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0.95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]).unstack()</a:t>
            </a:r>
            <a:endParaRPr sz="1200">
              <a:latin typeface="Courier New"/>
              <a:cs typeface="Courier New"/>
            </a:endParaRPr>
          </a:p>
          <a:p>
            <a:pPr marL="200025" indent="-187960">
              <a:lnSpc>
                <a:spcPts val="1490"/>
              </a:lnSpc>
              <a:spcBef>
                <a:spcPts val="1135"/>
              </a:spcBef>
              <a:buChar char="❖"/>
              <a:tabLst>
                <a:tab pos="2006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Plot the median, 5th, and 95th percentiles</a:t>
            </a:r>
            <a:endParaRPr sz="1250">
              <a:latin typeface="Courier New"/>
              <a:cs typeface="Courier New"/>
            </a:endParaRPr>
          </a:p>
          <a:p>
            <a:pPr marL="12700" marR="5080">
              <a:lnSpc>
                <a:spcPts val="1430"/>
              </a:lnSpc>
              <a:spcBef>
                <a:spcPts val="45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sns.lineplot(data=quantiles, x=quantiles.index, y=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0.5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color=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'black'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label=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'Median'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ax = ax)  sns.lineplot(data=quantiles, x=quantiles.index, y=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0.05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color=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'blue'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label=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'5%'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ax=ax)  sns.lineplot(data=quantiles, x=quantiles.index, y=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0.95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color=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'red'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label=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'95%'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200" spc="9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ax=ax)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9683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Approach 3: </a:t>
            </a:r>
            <a:r>
              <a:rPr dirty="0" sz="3350" spc="10">
                <a:latin typeface="Roboto Condensed"/>
                <a:cs typeface="Roboto Condensed"/>
              </a:rPr>
              <a:t>Spaghetti Plot</a:t>
            </a:r>
            <a:r>
              <a:rPr dirty="0" sz="3350" spc="-4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(Result)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49072" y="1550193"/>
            <a:ext cx="9448651" cy="29578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9855" y="2758440"/>
            <a:ext cx="4706620" cy="1039494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105"/>
              </a:spcBef>
            </a:pP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x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x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l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l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'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'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67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1000">
                <a:solidFill>
                  <a:srgbClr val="000000"/>
                </a:solidFill>
                <a:latin typeface="Roboto Condensed"/>
                <a:cs typeface="Roboto Condensed"/>
              </a:rPr>
              <a:t>L</a:t>
            </a:r>
            <a:r>
              <a:rPr dirty="0" sz="4100" spc="-1000">
                <a:solidFill>
                  <a:srgbClr val="FFFFFF"/>
                </a:solidFill>
                <a:latin typeface="Roboto Condensed"/>
                <a:cs typeface="Roboto Condensed"/>
              </a:rPr>
              <a:t>L</a:t>
            </a:r>
            <a:r>
              <a:rPr dirty="0" sz="4100" spc="-100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100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100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100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1000">
                <a:solidFill>
                  <a:srgbClr val="000000"/>
                </a:solidFill>
                <a:latin typeface="Roboto Condensed"/>
                <a:cs typeface="Roboto Condensed"/>
              </a:rPr>
              <a:t>g</a:t>
            </a:r>
            <a:r>
              <a:rPr dirty="0" sz="4100" spc="-1000">
                <a:solidFill>
                  <a:srgbClr val="FFFFFF"/>
                </a:solidFill>
                <a:latin typeface="Roboto Condensed"/>
                <a:cs typeface="Roboto Condensed"/>
              </a:rPr>
              <a:t>g</a:t>
            </a:r>
            <a:r>
              <a:rPr dirty="0" sz="4100" spc="2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F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F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m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7770495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Class 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Activity: </a:t>
            </a:r>
            <a:r>
              <a:rPr dirty="0" sz="3350" spc="15">
                <a:solidFill>
                  <a:srgbClr val="C2132D"/>
                </a:solidFill>
                <a:latin typeface="Roboto Condensed"/>
                <a:cs typeface="Roboto Condensed"/>
              </a:rPr>
              <a:t>Convert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Data </a:t>
            </a:r>
            <a:r>
              <a:rPr dirty="0" sz="3350" spc="-10">
                <a:solidFill>
                  <a:srgbClr val="C2132D"/>
                </a:solidFill>
                <a:latin typeface="Roboto Condensed"/>
                <a:cs typeface="Roboto Condensed"/>
              </a:rPr>
              <a:t>to </a:t>
            </a:r>
            <a:r>
              <a:rPr dirty="0" sz="3350" spc="-25">
                <a:solidFill>
                  <a:srgbClr val="C2132D"/>
                </a:solidFill>
                <a:latin typeface="Roboto Condensed"/>
                <a:cs typeface="Roboto Condensed"/>
              </a:rPr>
              <a:t>Nixtla's</a:t>
            </a:r>
            <a:r>
              <a:rPr dirty="0" sz="3350" spc="40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Format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10236835" cy="5039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938530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Data: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This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COVID-19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data set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contains the daily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cumulative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number of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confirmed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cases for  each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county.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Objectives: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Read the data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set.</a:t>
            </a:r>
            <a:endParaRPr sz="1800">
              <a:latin typeface="Roboto"/>
              <a:cs typeface="Roboto"/>
            </a:endParaRPr>
          </a:p>
          <a:p>
            <a:pPr lvl="1" marL="527050" marR="1272540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Filter the data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include only the 88 counties in Ohio, and dates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2020-04-01</a:t>
            </a:r>
            <a:r>
              <a:rPr dirty="0" sz="1800" spc="-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2022-12-31.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Convert the data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Nixtla's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long format (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unique_id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ds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y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),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where</a:t>
            </a:r>
            <a:r>
              <a:rPr dirty="0" sz="1800" spc="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the:</a:t>
            </a:r>
            <a:endParaRPr sz="1800">
              <a:latin typeface="Roboto"/>
              <a:cs typeface="Roboto"/>
            </a:endParaRPr>
          </a:p>
          <a:p>
            <a:pPr lvl="2" marL="908050" indent="-134620">
              <a:lnSpc>
                <a:spcPct val="100000"/>
              </a:lnSpc>
              <a:spcBef>
                <a:spcPts val="1290"/>
              </a:spcBef>
              <a:buSzPct val="105882"/>
              <a:buFont typeface="Roboto"/>
              <a:buChar char="•"/>
              <a:tabLst>
                <a:tab pos="908685" algn="l"/>
              </a:tabLst>
            </a:pP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unique_id</a:t>
            </a:r>
            <a:r>
              <a:rPr dirty="0" sz="1700" spc="-57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column is used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identify each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county.</a:t>
            </a:r>
            <a:endParaRPr sz="1800">
              <a:latin typeface="Roboto"/>
              <a:cs typeface="Roboto"/>
            </a:endParaRPr>
          </a:p>
          <a:p>
            <a:pPr lvl="2" marL="908050" indent="-134620">
              <a:lnSpc>
                <a:spcPct val="100000"/>
              </a:lnSpc>
              <a:spcBef>
                <a:spcPts val="1290"/>
              </a:spcBef>
              <a:buSzPct val="105882"/>
              <a:buFont typeface="Roboto"/>
              <a:buChar char="•"/>
              <a:tabLst>
                <a:tab pos="908685" algn="l"/>
              </a:tabLst>
            </a:pP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ds</a:t>
            </a:r>
            <a:r>
              <a:rPr dirty="0" sz="1700" spc="-57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column is used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represent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date.</a:t>
            </a:r>
            <a:endParaRPr sz="1800">
              <a:latin typeface="Roboto"/>
              <a:cs typeface="Roboto"/>
            </a:endParaRPr>
          </a:p>
          <a:p>
            <a:pPr lvl="2" marL="908050" indent="-134620">
              <a:lnSpc>
                <a:spcPct val="100000"/>
              </a:lnSpc>
              <a:spcBef>
                <a:spcPts val="1290"/>
              </a:spcBef>
              <a:buSzPct val="105882"/>
              <a:buFont typeface="Roboto"/>
              <a:buChar char="•"/>
              <a:tabLst>
                <a:tab pos="908685" algn="l"/>
              </a:tabLst>
            </a:pP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y</a:t>
            </a:r>
            <a:r>
              <a:rPr dirty="0" sz="1700" spc="-54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column is used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represent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cumulative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number of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confirmed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cases.</a:t>
            </a:r>
            <a:endParaRPr sz="1800">
              <a:latin typeface="Roboto"/>
              <a:cs typeface="Roboto"/>
            </a:endParaRPr>
          </a:p>
          <a:p>
            <a:pPr lvl="1" marL="527050" marR="90424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plot_series</a:t>
            </a:r>
            <a:r>
              <a:rPr dirty="0" sz="1700" spc="-55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method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UtilsForecast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visualize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data. See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here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learn about how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import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here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see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arguments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plot_series</a:t>
            </a:r>
            <a:r>
              <a:rPr dirty="0" sz="1700" spc="-57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method.</a:t>
            </a:r>
            <a:endParaRPr sz="1800">
              <a:latin typeface="Roboto"/>
              <a:cs typeface="Roboto"/>
            </a:endParaRPr>
          </a:p>
          <a:p>
            <a:pPr algn="r" marR="5080">
              <a:lnSpc>
                <a:spcPct val="100000"/>
              </a:lnSpc>
              <a:spcBef>
                <a:spcPts val="39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28 /</a:t>
            </a:r>
            <a:r>
              <a:rPr dirty="0" sz="1200" spc="-1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31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26846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08:00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40">
                <a:latin typeface="Roboto"/>
                <a:cs typeface="Roboto"/>
              </a:rPr>
              <a:t>9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9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178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5">
                <a:latin typeface="Roboto Condensed"/>
                <a:cs typeface="Roboto Condensed"/>
              </a:rPr>
              <a:t>Summary </a:t>
            </a:r>
            <a:r>
              <a:rPr dirty="0" sz="3350" spc="10">
                <a:latin typeface="Roboto Condensed"/>
                <a:cs typeface="Roboto Condensed"/>
              </a:rPr>
              <a:t>of Main</a:t>
            </a:r>
            <a:r>
              <a:rPr dirty="0" sz="3350" spc="-65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Points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6529070" cy="2157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now,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should be able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do the</a:t>
            </a:r>
            <a:r>
              <a:rPr dirty="0" sz="1800" spc="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following: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Explain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differences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between wide vs. long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format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seaborn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plot multiple time-series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Convert a data set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Nixtla's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long format (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unique_id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ds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</a:t>
            </a:r>
            <a:r>
              <a:rPr dirty="0" sz="1800" spc="7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y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)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UtilsForecast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visualize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multiple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series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4457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2155">
                <a:latin typeface="Arial"/>
                <a:cs typeface="Arial"/>
              </a:rPr>
              <a:t>📝</a:t>
            </a:r>
            <a:r>
              <a:rPr dirty="0" sz="3300" spc="-195">
                <a:latin typeface="Arial"/>
                <a:cs typeface="Arial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Review </a:t>
            </a:r>
            <a:r>
              <a:rPr dirty="0" sz="3350" spc="10">
                <a:latin typeface="Roboto Condensed"/>
                <a:cs typeface="Roboto Condensed"/>
              </a:rPr>
              <a:t>and </a:t>
            </a:r>
            <a:r>
              <a:rPr dirty="0" sz="3350" spc="-5">
                <a:latin typeface="Roboto Condensed"/>
                <a:cs typeface="Roboto Condensed"/>
              </a:rPr>
              <a:t>Clarification </a:t>
            </a:r>
            <a:r>
              <a:rPr dirty="0" sz="3300" spc="2155">
                <a:latin typeface="Arial"/>
                <a:cs typeface="Arial"/>
              </a:rPr>
              <a:t>📝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413240" cy="181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Class Notes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Take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some time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revisit 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 notes for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key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insights and</a:t>
            </a:r>
            <a:r>
              <a:rPr dirty="0" sz="1800" spc="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concepts.</a:t>
            </a:r>
            <a:endParaRPr sz="1800">
              <a:latin typeface="Roboto"/>
              <a:cs typeface="Roboto"/>
            </a:endParaRPr>
          </a:p>
          <a:p>
            <a:pPr marL="146050" marR="1016635" indent="-133985">
              <a:lnSpc>
                <a:spcPct val="118100"/>
              </a:lnSpc>
              <a:spcBef>
                <a:spcPts val="9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Zoom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Recording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recording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today's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 will be made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available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Canvas  approximately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3-4 hours after the session ends.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8100"/>
              </a:lnSpc>
              <a:spcBef>
                <a:spcPts val="819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Questions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Please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don't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hesitate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ask 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clarification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 any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topics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discussed in class.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It's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crucial not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let questions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accumulate.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444/544: Business Forecasting</dc:title>
  <dcterms:created xsi:type="dcterms:W3CDTF">2025-09-16T11:09:57Z</dcterms:created>
  <dcterms:modified xsi:type="dcterms:W3CDTF">2025-09-16T11:09:57Z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Creator">
    <vt:lpwstr>Mozilla/5.0 (Windows NT 10.0; Win64; x64) AppleWebKit/537.36 (KHTML, like Gecko) Chrome/140.0.0.0 Safari/537.36</vt:lpwstr>
  </property>
  <property fmtid="{D5CDD505-2E9C-101B-9397-08002B2CF9AE}" pid="4" name="LastSaved">
    <vt:filetime>2025-09-16T00:00:00Z</vt:filetime>
  </property>
</Properties>
</file>