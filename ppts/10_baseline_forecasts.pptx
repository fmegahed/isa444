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1700" y="530225"/>
            <a:ext cx="972820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530225"/>
            <a:ext cx="972820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8754" y="2480945"/>
            <a:ext cx="9100820" cy="1635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302752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index.html" TargetMode="External"/><Relationship Id="rId3" Type="http://schemas.openxmlformats.org/officeDocument/2006/relationships/hyperlink" Target="https://nixtlaverse.nixtla.io/mlforecast/index.html" TargetMode="External"/><Relationship Id="rId4" Type="http://schemas.openxmlformats.org/officeDocument/2006/relationships/hyperlink" Target="https://nixtlaverse.nixtla.io/neuralforecast/docs/getting-started/introduction.html" TargetMode="External"/><Relationship Id="rId5" Type="http://schemas.openxmlformats.org/officeDocument/2006/relationships/hyperlink" Target="https://nixtlaverse.nixtla.io/utilsforecast/index.html" TargetMode="External"/><Relationship Id="rId6" Type="http://schemas.openxmlformats.org/officeDocument/2006/relationships/hyperlink" Target="https://nixtlaverse.nixtla.io/nixtla/docs/getting-started/introduction.html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index.html#baseline-models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index.html#baseline-models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5154295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pc="5">
                <a:solidFill>
                  <a:srgbClr val="FFFFFF"/>
                </a:solidFill>
              </a:rPr>
              <a:t>ISA </a:t>
            </a:r>
            <a:r>
              <a:rPr dirty="0" spc="-180">
                <a:solidFill>
                  <a:srgbClr val="FFFFFF"/>
                </a:solidFill>
              </a:rPr>
              <a:t>444: </a:t>
            </a:r>
            <a:r>
              <a:rPr dirty="0" spc="-45">
                <a:solidFill>
                  <a:srgbClr val="FFFFFF"/>
                </a:solidFill>
              </a:rPr>
              <a:t>Business</a:t>
            </a:r>
            <a:r>
              <a:rPr dirty="0" spc="-545">
                <a:solidFill>
                  <a:srgbClr val="FFFFFF"/>
                </a:solidFill>
              </a:rPr>
              <a:t> </a:t>
            </a:r>
            <a:r>
              <a:rPr dirty="0" spc="-150">
                <a:solidFill>
                  <a:srgbClr val="FFFFFF"/>
                </a:solidFill>
              </a:rPr>
              <a:t>Forecasting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10: Baseline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Forecasts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Professor</a:t>
            </a:r>
            <a:endParaRPr sz="1850">
              <a:latin typeface="Arial"/>
              <a:cs typeface="Arial"/>
            </a:endParaRPr>
          </a:p>
          <a:p>
            <a:pPr marL="12700" marR="1397000">
              <a:lnSpc>
                <a:spcPts val="2030"/>
              </a:lnSpc>
              <a:spcBef>
                <a:spcPts val="16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Farmer School of</a:t>
            </a:r>
            <a:r>
              <a:rPr dirty="0" sz="18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Spring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190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80"/>
              <a:t>Quick </a:t>
            </a:r>
            <a:r>
              <a:rPr dirty="0" spc="-185"/>
              <a:t>Refresher </a:t>
            </a:r>
            <a:r>
              <a:rPr dirty="0" spc="-140"/>
              <a:t>of </a:t>
            </a:r>
            <a:r>
              <a:rPr dirty="0" spc="-100"/>
              <a:t>Last</a:t>
            </a:r>
            <a:r>
              <a:rPr dirty="0" spc="-475"/>
              <a:t> </a:t>
            </a:r>
            <a:r>
              <a:rPr dirty="0" spc="-2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8389620" cy="153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750" spc="-20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Install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import</a:t>
            </a:r>
            <a:r>
              <a:rPr dirty="0" sz="18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Nixtla's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libraries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(</a:t>
            </a:r>
            <a:r>
              <a:rPr dirty="0" sz="1800" spc="-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StatsForecast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,</a:t>
            </a:r>
            <a:r>
              <a:rPr dirty="0" sz="1800" spc="-8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MLForecast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,</a:t>
            </a:r>
            <a:r>
              <a:rPr dirty="0" sz="1800" spc="-7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NeuralForecast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,  </a:t>
            </a:r>
            <a:r>
              <a:rPr dirty="0" sz="1800" spc="-25">
                <a:solidFill>
                  <a:srgbClr val="83D5D3"/>
                </a:solidFill>
                <a:latin typeface="Trebuchet MS"/>
                <a:cs typeface="Trebuchet MS"/>
                <a:hlinkClick r:id="rId5"/>
              </a:rPr>
              <a:t>UtilsForecast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,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 </a:t>
            </a:r>
            <a:r>
              <a:rPr dirty="0" sz="1800" spc="15">
                <a:solidFill>
                  <a:srgbClr val="83D5D3"/>
                </a:solidFill>
                <a:latin typeface="Trebuchet MS"/>
                <a:cs typeface="Trebuchet MS"/>
                <a:hlinkClick r:id="rId6"/>
              </a:rPr>
              <a:t>TimeGPT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)</a:t>
            </a:r>
            <a:r>
              <a:rPr dirty="0" sz="1800" spc="-4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for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forecasting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750" spc="-40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Distinguish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fixed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window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from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rolling-origin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750" spc="-40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Introduce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forecast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accuracy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metrics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(MAE,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Trebuchet MS"/>
                <a:cs typeface="Trebuchet MS"/>
              </a:rPr>
              <a:t>MAPE,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Trebuchet MS"/>
                <a:cs typeface="Trebuchet MS"/>
              </a:rPr>
              <a:t>RMSE)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2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0"/>
              <a:t>Learning </a:t>
            </a:r>
            <a:r>
              <a:rPr dirty="0" spc="-204"/>
              <a:t>Objectives </a:t>
            </a:r>
            <a:r>
              <a:rPr dirty="0" spc="-185"/>
              <a:t>for </a:t>
            </a:r>
            <a:r>
              <a:rPr dirty="0" spc="-135"/>
              <a:t>Today's</a:t>
            </a:r>
            <a:r>
              <a:rPr dirty="0" spc="-495"/>
              <a:t> </a:t>
            </a:r>
            <a:r>
              <a:rPr dirty="0" spc="-2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7631430" cy="117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Recognize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importance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baseline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forecasts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in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time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series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forecasting</a:t>
            </a:r>
            <a:endParaRPr sz="1800">
              <a:latin typeface="Trebuchet MS"/>
              <a:cs typeface="Trebuchet MS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Identify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Trebuchet MS"/>
                <a:cs typeface="Trebuchet MS"/>
              </a:rPr>
              <a:t>common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baseline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forecasts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(Naive,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Seasonal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Naive,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etc.)</a:t>
            </a:r>
            <a:endParaRPr sz="1800">
              <a:latin typeface="Trebuchet MS"/>
              <a:cs typeface="Trebuchet MS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Implement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baseline </a:t>
            </a:r>
            <a:r>
              <a:rPr dirty="0" sz="1800" spc="3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models</a:t>
            </a:r>
            <a:r>
              <a:rPr dirty="0" sz="1800" spc="-34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-4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with </a:t>
            </a:r>
            <a:r>
              <a:rPr dirty="0" sz="1800" spc="2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StatsForecast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3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448" y="2752344"/>
            <a:ext cx="7421880" cy="1042669"/>
          </a:xfrm>
          <a:prstGeom prst="rect"/>
          <a:solidFill>
            <a:srgbClr val="333333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25425">
              <a:lnSpc>
                <a:spcPct val="100000"/>
              </a:lnSpc>
              <a:spcBef>
                <a:spcPts val="1150"/>
              </a:spcBef>
            </a:pPr>
            <a:r>
              <a:rPr dirty="0" sz="4100" spc="-1165">
                <a:solidFill>
                  <a:srgbClr val="000000"/>
                </a:solidFill>
              </a:rPr>
              <a:t>I</a:t>
            </a:r>
            <a:r>
              <a:rPr dirty="0" sz="4100" spc="-1165">
                <a:solidFill>
                  <a:srgbClr val="FFFFFF"/>
                </a:solidFill>
              </a:rPr>
              <a:t>I</a:t>
            </a:r>
            <a:r>
              <a:rPr dirty="0" sz="4100" spc="-1165">
                <a:solidFill>
                  <a:srgbClr val="000000"/>
                </a:solidFill>
              </a:rPr>
              <a:t>m</a:t>
            </a:r>
            <a:r>
              <a:rPr dirty="0" sz="4100" spc="-1165">
                <a:solidFill>
                  <a:srgbClr val="FFFFFF"/>
                </a:solidFill>
              </a:rPr>
              <a:t>m</a:t>
            </a:r>
            <a:r>
              <a:rPr dirty="0" sz="4100" spc="-1165">
                <a:solidFill>
                  <a:srgbClr val="000000"/>
                </a:solidFill>
              </a:rPr>
              <a:t>p</a:t>
            </a:r>
            <a:r>
              <a:rPr dirty="0" sz="4100" spc="-1165">
                <a:solidFill>
                  <a:srgbClr val="FFFFFF"/>
                </a:solidFill>
              </a:rPr>
              <a:t>p</a:t>
            </a:r>
            <a:r>
              <a:rPr dirty="0" sz="4100" spc="-1165">
                <a:solidFill>
                  <a:srgbClr val="000000"/>
                </a:solidFill>
              </a:rPr>
              <a:t>o</a:t>
            </a:r>
            <a:r>
              <a:rPr dirty="0" sz="4100" spc="-1165">
                <a:solidFill>
                  <a:srgbClr val="FFFFFF"/>
                </a:solidFill>
              </a:rPr>
              <a:t>o</a:t>
            </a:r>
            <a:r>
              <a:rPr dirty="0" sz="4100" spc="-1165">
                <a:solidFill>
                  <a:srgbClr val="000000"/>
                </a:solidFill>
              </a:rPr>
              <a:t>r</a:t>
            </a:r>
            <a:r>
              <a:rPr dirty="0" sz="4100" spc="-1165">
                <a:solidFill>
                  <a:srgbClr val="FFFFFF"/>
                </a:solidFill>
              </a:rPr>
              <a:t>r</a:t>
            </a:r>
            <a:r>
              <a:rPr dirty="0" sz="4100" spc="-1165">
                <a:solidFill>
                  <a:srgbClr val="000000"/>
                </a:solidFill>
              </a:rPr>
              <a:t>t</a:t>
            </a:r>
            <a:r>
              <a:rPr dirty="0" sz="4100" spc="-1165">
                <a:solidFill>
                  <a:srgbClr val="FFFFFF"/>
                </a:solidFill>
              </a:rPr>
              <a:t>t</a:t>
            </a:r>
            <a:r>
              <a:rPr dirty="0" sz="4100" spc="-1165">
                <a:solidFill>
                  <a:srgbClr val="000000"/>
                </a:solidFill>
              </a:rPr>
              <a:t>a</a:t>
            </a:r>
            <a:r>
              <a:rPr dirty="0" sz="4100" spc="-1165">
                <a:solidFill>
                  <a:srgbClr val="FFFFFF"/>
                </a:solidFill>
              </a:rPr>
              <a:t>a</a:t>
            </a:r>
            <a:r>
              <a:rPr dirty="0" sz="4100" spc="-1165">
                <a:solidFill>
                  <a:srgbClr val="000000"/>
                </a:solidFill>
              </a:rPr>
              <a:t>n</a:t>
            </a:r>
            <a:r>
              <a:rPr dirty="0" sz="4100" spc="-1165">
                <a:solidFill>
                  <a:srgbClr val="FFFFFF"/>
                </a:solidFill>
              </a:rPr>
              <a:t>n</a:t>
            </a:r>
            <a:r>
              <a:rPr dirty="0" sz="4100" spc="-1165">
                <a:solidFill>
                  <a:srgbClr val="000000"/>
                </a:solidFill>
              </a:rPr>
              <a:t>c</a:t>
            </a:r>
            <a:r>
              <a:rPr dirty="0" sz="4100" spc="-1165">
                <a:solidFill>
                  <a:srgbClr val="FFFFFF"/>
                </a:solidFill>
              </a:rPr>
              <a:t>c</a:t>
            </a:r>
            <a:r>
              <a:rPr dirty="0" sz="4100" spc="-1165">
                <a:solidFill>
                  <a:srgbClr val="000000"/>
                </a:solidFill>
              </a:rPr>
              <a:t>e</a:t>
            </a:r>
            <a:r>
              <a:rPr dirty="0" sz="4100" spc="-1165">
                <a:solidFill>
                  <a:srgbClr val="FFFFFF"/>
                </a:solidFill>
              </a:rPr>
              <a:t>e </a:t>
            </a:r>
            <a:r>
              <a:rPr dirty="0" sz="4100" spc="-1019">
                <a:solidFill>
                  <a:srgbClr val="000000"/>
                </a:solidFill>
              </a:rPr>
              <a:t>o</a:t>
            </a:r>
            <a:r>
              <a:rPr dirty="0" sz="4100" spc="-1019">
                <a:solidFill>
                  <a:srgbClr val="FFFFFF"/>
                </a:solidFill>
              </a:rPr>
              <a:t>o</a:t>
            </a:r>
            <a:r>
              <a:rPr dirty="0" sz="4100" spc="-1019">
                <a:solidFill>
                  <a:srgbClr val="000000"/>
                </a:solidFill>
              </a:rPr>
              <a:t>f</a:t>
            </a:r>
            <a:r>
              <a:rPr dirty="0" sz="4100" spc="-1019">
                <a:solidFill>
                  <a:srgbClr val="FFFFFF"/>
                </a:solidFill>
              </a:rPr>
              <a:t>f </a:t>
            </a:r>
            <a:r>
              <a:rPr dirty="0" sz="4100" spc="-1040">
                <a:solidFill>
                  <a:srgbClr val="000000"/>
                </a:solidFill>
              </a:rPr>
              <a:t>B</a:t>
            </a:r>
            <a:r>
              <a:rPr dirty="0" sz="4100" spc="-1040">
                <a:solidFill>
                  <a:srgbClr val="FFFFFF"/>
                </a:solidFill>
              </a:rPr>
              <a:t>B</a:t>
            </a:r>
            <a:r>
              <a:rPr dirty="0" sz="4100" spc="-1040">
                <a:solidFill>
                  <a:srgbClr val="000000"/>
                </a:solidFill>
              </a:rPr>
              <a:t>a</a:t>
            </a:r>
            <a:r>
              <a:rPr dirty="0" sz="4100" spc="-1040">
                <a:solidFill>
                  <a:srgbClr val="FFFFFF"/>
                </a:solidFill>
              </a:rPr>
              <a:t>a</a:t>
            </a:r>
            <a:r>
              <a:rPr dirty="0" sz="4100" spc="-1040">
                <a:solidFill>
                  <a:srgbClr val="000000"/>
                </a:solidFill>
              </a:rPr>
              <a:t>s</a:t>
            </a:r>
            <a:r>
              <a:rPr dirty="0" sz="4100" spc="-1040">
                <a:solidFill>
                  <a:srgbClr val="FFFFFF"/>
                </a:solidFill>
              </a:rPr>
              <a:t>s</a:t>
            </a:r>
            <a:r>
              <a:rPr dirty="0" sz="4100" spc="-1040">
                <a:solidFill>
                  <a:srgbClr val="000000"/>
                </a:solidFill>
              </a:rPr>
              <a:t>e</a:t>
            </a:r>
            <a:r>
              <a:rPr dirty="0" sz="4100" spc="-1040">
                <a:solidFill>
                  <a:srgbClr val="FFFFFF"/>
                </a:solidFill>
              </a:rPr>
              <a:t>e</a:t>
            </a:r>
            <a:r>
              <a:rPr dirty="0" sz="4100" spc="-1040">
                <a:solidFill>
                  <a:srgbClr val="000000"/>
                </a:solidFill>
              </a:rPr>
              <a:t>l</a:t>
            </a:r>
            <a:r>
              <a:rPr dirty="0" sz="4100" spc="-1040">
                <a:solidFill>
                  <a:srgbClr val="FFFFFF"/>
                </a:solidFill>
              </a:rPr>
              <a:t>l</a:t>
            </a:r>
            <a:r>
              <a:rPr dirty="0" sz="4100" spc="-1040">
                <a:solidFill>
                  <a:srgbClr val="000000"/>
                </a:solidFill>
              </a:rPr>
              <a:t>i</a:t>
            </a:r>
            <a:r>
              <a:rPr dirty="0" sz="4100" spc="-1040">
                <a:solidFill>
                  <a:srgbClr val="FFFFFF"/>
                </a:solidFill>
              </a:rPr>
              <a:t>i</a:t>
            </a:r>
            <a:r>
              <a:rPr dirty="0" sz="4100" spc="-1040">
                <a:solidFill>
                  <a:srgbClr val="000000"/>
                </a:solidFill>
              </a:rPr>
              <a:t>n</a:t>
            </a:r>
            <a:r>
              <a:rPr dirty="0" sz="4100" spc="-1040">
                <a:solidFill>
                  <a:srgbClr val="FFFFFF"/>
                </a:solidFill>
              </a:rPr>
              <a:t>n</a:t>
            </a:r>
            <a:r>
              <a:rPr dirty="0" sz="4100" spc="-1040">
                <a:solidFill>
                  <a:srgbClr val="000000"/>
                </a:solidFill>
              </a:rPr>
              <a:t>e</a:t>
            </a:r>
            <a:r>
              <a:rPr dirty="0" sz="4100" spc="-1040">
                <a:solidFill>
                  <a:srgbClr val="FFFFFF"/>
                </a:solidFill>
              </a:rPr>
              <a:t>e</a:t>
            </a:r>
            <a:r>
              <a:rPr dirty="0" sz="4100" spc="-969">
                <a:solidFill>
                  <a:srgbClr val="FFFFFF"/>
                </a:solidFill>
              </a:rPr>
              <a:t> </a:t>
            </a:r>
            <a:r>
              <a:rPr dirty="0" sz="4100" spc="-1035">
                <a:solidFill>
                  <a:srgbClr val="000000"/>
                </a:solidFill>
              </a:rPr>
              <a:t>F</a:t>
            </a:r>
            <a:r>
              <a:rPr dirty="0" sz="4100" spc="-1035">
                <a:solidFill>
                  <a:srgbClr val="FFFFFF"/>
                </a:solidFill>
              </a:rPr>
              <a:t>F</a:t>
            </a:r>
            <a:r>
              <a:rPr dirty="0" sz="4100" spc="-1035">
                <a:solidFill>
                  <a:srgbClr val="000000"/>
                </a:solidFill>
              </a:rPr>
              <a:t>o</a:t>
            </a:r>
            <a:r>
              <a:rPr dirty="0" sz="4100" spc="-1035">
                <a:solidFill>
                  <a:srgbClr val="FFFFFF"/>
                </a:solidFill>
              </a:rPr>
              <a:t>o</a:t>
            </a:r>
            <a:r>
              <a:rPr dirty="0" sz="4100" spc="-1035">
                <a:solidFill>
                  <a:srgbClr val="000000"/>
                </a:solidFill>
              </a:rPr>
              <a:t>r</a:t>
            </a:r>
            <a:r>
              <a:rPr dirty="0" sz="4100" spc="-1035">
                <a:solidFill>
                  <a:srgbClr val="FFFFFF"/>
                </a:solidFill>
              </a:rPr>
              <a:t>r</a:t>
            </a:r>
            <a:r>
              <a:rPr dirty="0" sz="4100" spc="-1035">
                <a:solidFill>
                  <a:srgbClr val="000000"/>
                </a:solidFill>
              </a:rPr>
              <a:t>e</a:t>
            </a:r>
            <a:r>
              <a:rPr dirty="0" sz="4100" spc="-1035">
                <a:solidFill>
                  <a:srgbClr val="FFFFFF"/>
                </a:solidFill>
              </a:rPr>
              <a:t>e</a:t>
            </a:r>
            <a:r>
              <a:rPr dirty="0" sz="4100" spc="-1035">
                <a:solidFill>
                  <a:srgbClr val="000000"/>
                </a:solidFill>
              </a:rPr>
              <a:t>c</a:t>
            </a:r>
            <a:r>
              <a:rPr dirty="0" sz="4100" spc="-1035">
                <a:solidFill>
                  <a:srgbClr val="FFFFFF"/>
                </a:solidFill>
              </a:rPr>
              <a:t>c</a:t>
            </a:r>
            <a:r>
              <a:rPr dirty="0" sz="4100" spc="-1035">
                <a:solidFill>
                  <a:srgbClr val="000000"/>
                </a:solidFill>
              </a:rPr>
              <a:t>a</a:t>
            </a:r>
            <a:r>
              <a:rPr dirty="0" sz="4100" spc="-1035">
                <a:solidFill>
                  <a:srgbClr val="FFFFFF"/>
                </a:solidFill>
              </a:rPr>
              <a:t>a</a:t>
            </a:r>
            <a:r>
              <a:rPr dirty="0" sz="4100" spc="-1035">
                <a:solidFill>
                  <a:srgbClr val="000000"/>
                </a:solidFill>
              </a:rPr>
              <a:t>s</a:t>
            </a:r>
            <a:r>
              <a:rPr dirty="0" sz="4100" spc="-1035">
                <a:solidFill>
                  <a:srgbClr val="FFFFFF"/>
                </a:solidFill>
              </a:rPr>
              <a:t>s</a:t>
            </a:r>
            <a:r>
              <a:rPr dirty="0" sz="4100" spc="-1035">
                <a:solidFill>
                  <a:srgbClr val="000000"/>
                </a:solidFill>
              </a:rPr>
              <a:t>t</a:t>
            </a:r>
            <a:r>
              <a:rPr dirty="0" sz="4100" spc="-1035">
                <a:solidFill>
                  <a:srgbClr val="FFFFFF"/>
                </a:solidFill>
              </a:rPr>
              <a:t>t</a:t>
            </a:r>
            <a:r>
              <a:rPr dirty="0" sz="4100" spc="-1035">
                <a:solidFill>
                  <a:srgbClr val="000000"/>
                </a:solidFill>
              </a:rPr>
              <a:t>s</a:t>
            </a:r>
            <a:r>
              <a:rPr dirty="0" sz="4100" spc="-1035">
                <a:solidFill>
                  <a:srgbClr val="FFFFFF"/>
                </a:solidFill>
              </a:rPr>
              <a:t>s</a:t>
            </a:r>
            <a:endParaRPr sz="4100"/>
          </a:p>
        </p:txBody>
      </p:sp>
      <p:sp>
        <p:nvSpPr>
          <p:cNvPr id="3" name="object 3"/>
          <p:cNvSpPr/>
          <p:nvPr/>
        </p:nvSpPr>
        <p:spPr>
          <a:xfrm>
            <a:off x="10713719" y="5995415"/>
            <a:ext cx="811530" cy="491490"/>
          </a:xfrm>
          <a:custGeom>
            <a:avLst/>
            <a:gdLst/>
            <a:ahLst/>
            <a:cxnLst/>
            <a:rect l="l" t="t" r="r" b="b"/>
            <a:pathLst>
              <a:path w="811529" h="491489">
                <a:moveTo>
                  <a:pt x="0" y="0"/>
                </a:moveTo>
                <a:lnTo>
                  <a:pt x="811529" y="0"/>
                </a:lnTo>
                <a:lnTo>
                  <a:pt x="8115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4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dirty="0" sz="12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7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8754" y="1604644"/>
            <a:ext cx="4097654" cy="3692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9905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Baseline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forecasts</a:t>
            </a:r>
            <a:r>
              <a:rPr dirty="0" sz="1800" spc="-3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are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simple,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yet 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powerful</a:t>
            </a:r>
            <a:r>
              <a:rPr dirty="0" sz="1800" spc="-70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146050" marR="88265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Baseline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forecasts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serve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Trebuchet MS"/>
                <a:cs typeface="Trebuchet MS"/>
              </a:rPr>
              <a:t>as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important 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benchmarks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They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provide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a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performance</a:t>
            </a:r>
            <a:r>
              <a:rPr dirty="0" sz="1800" spc="-31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"floor"</a:t>
            </a:r>
            <a:endParaRPr sz="1800">
              <a:latin typeface="Trebuchet MS"/>
              <a:cs typeface="Trebuchet MS"/>
            </a:endParaRPr>
          </a:p>
          <a:p>
            <a:pPr marL="527050">
              <a:lnSpc>
                <a:spcPct val="100000"/>
              </a:lnSpc>
              <a:spcBef>
                <a:spcPts val="315"/>
              </a:spcBef>
            </a:pP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for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more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complex</a:t>
            </a:r>
            <a:r>
              <a:rPr dirty="0" sz="1800" spc="-2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models.</a:t>
            </a:r>
            <a:endParaRPr sz="1800">
              <a:latin typeface="Trebuchet MS"/>
              <a:cs typeface="Trebuchet MS"/>
            </a:endParaRPr>
          </a:p>
          <a:p>
            <a:pPr lvl="1" marL="527050" marR="26416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Help </a:t>
            </a:r>
            <a:r>
              <a:rPr dirty="0" sz="1800" spc="85" b="1">
                <a:solidFill>
                  <a:srgbClr val="C2132D"/>
                </a:solidFill>
                <a:latin typeface="Trebuchet MS"/>
                <a:cs typeface="Trebuchet MS"/>
              </a:rPr>
              <a:t>assess</a:t>
            </a:r>
            <a:r>
              <a:rPr dirty="0" sz="1800" spc="-30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if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advanced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models 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can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add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meaningful</a:t>
            </a:r>
            <a:r>
              <a:rPr dirty="0" sz="1800" spc="-26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value</a:t>
            </a:r>
            <a:r>
              <a:rPr dirty="0" sz="1800" spc="-70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146050" marR="118110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They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are </a:t>
            </a: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easy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to 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interpret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36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require 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minimal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computational</a:t>
            </a:r>
            <a:r>
              <a:rPr dirty="0" sz="1800" spc="-1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resources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45775" y="1608040"/>
            <a:ext cx="4226123" cy="34704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464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45"/>
              <a:t>Why </a:t>
            </a:r>
            <a:r>
              <a:rPr dirty="0" spc="-150"/>
              <a:t>do </a:t>
            </a:r>
            <a:r>
              <a:rPr dirty="0" spc="-275"/>
              <a:t>we </a:t>
            </a:r>
            <a:r>
              <a:rPr dirty="0" spc="-220"/>
              <a:t>need </a:t>
            </a:r>
            <a:r>
              <a:rPr dirty="0" spc="-140"/>
              <a:t>Baseline</a:t>
            </a:r>
            <a:r>
              <a:rPr dirty="0" spc="-330"/>
              <a:t> </a:t>
            </a:r>
            <a:r>
              <a:rPr dirty="0" spc="-85"/>
              <a:t>Forecasts?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5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5560" y="2758440"/>
            <a:ext cx="6383020" cy="935990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35585">
              <a:lnSpc>
                <a:spcPct val="100000"/>
              </a:lnSpc>
              <a:spcBef>
                <a:spcPts val="1105"/>
              </a:spcBef>
            </a:pPr>
            <a:r>
              <a:rPr dirty="0" sz="4100" spc="-1430">
                <a:solidFill>
                  <a:srgbClr val="000000"/>
                </a:solidFill>
              </a:rPr>
              <a:t>C</a:t>
            </a:r>
            <a:r>
              <a:rPr dirty="0" sz="4100" spc="-1430">
                <a:solidFill>
                  <a:srgbClr val="FFFFFF"/>
                </a:solidFill>
              </a:rPr>
              <a:t>C</a:t>
            </a:r>
            <a:r>
              <a:rPr dirty="0" sz="4100" spc="-1430">
                <a:solidFill>
                  <a:srgbClr val="000000"/>
                </a:solidFill>
              </a:rPr>
              <a:t>o</a:t>
            </a:r>
            <a:r>
              <a:rPr dirty="0" sz="4100" spc="-1430">
                <a:solidFill>
                  <a:srgbClr val="FFFFFF"/>
                </a:solidFill>
              </a:rPr>
              <a:t>o</a:t>
            </a:r>
            <a:r>
              <a:rPr dirty="0" sz="4100" spc="-1430">
                <a:solidFill>
                  <a:srgbClr val="000000"/>
                </a:solidFill>
              </a:rPr>
              <a:t>m</a:t>
            </a:r>
            <a:r>
              <a:rPr dirty="0" sz="4100" spc="-1430">
                <a:solidFill>
                  <a:srgbClr val="FFFFFF"/>
                </a:solidFill>
              </a:rPr>
              <a:t>m</a:t>
            </a:r>
            <a:r>
              <a:rPr dirty="0" sz="4100" spc="-1430">
                <a:solidFill>
                  <a:srgbClr val="000000"/>
                </a:solidFill>
              </a:rPr>
              <a:t>m</a:t>
            </a:r>
            <a:r>
              <a:rPr dirty="0" sz="4100" spc="-1430">
                <a:solidFill>
                  <a:srgbClr val="FFFFFF"/>
                </a:solidFill>
              </a:rPr>
              <a:t>m</a:t>
            </a:r>
            <a:r>
              <a:rPr dirty="0" sz="4100" spc="-1430">
                <a:solidFill>
                  <a:srgbClr val="000000"/>
                </a:solidFill>
              </a:rPr>
              <a:t>o</a:t>
            </a:r>
            <a:r>
              <a:rPr dirty="0" sz="4100" spc="-1430">
                <a:solidFill>
                  <a:srgbClr val="FFFFFF"/>
                </a:solidFill>
              </a:rPr>
              <a:t>o</a:t>
            </a:r>
            <a:r>
              <a:rPr dirty="0" sz="4100" spc="-1430">
                <a:solidFill>
                  <a:srgbClr val="000000"/>
                </a:solidFill>
              </a:rPr>
              <a:t>n</a:t>
            </a:r>
            <a:r>
              <a:rPr dirty="0" sz="4100" spc="-1430">
                <a:solidFill>
                  <a:srgbClr val="FFFFFF"/>
                </a:solidFill>
              </a:rPr>
              <a:t>n</a:t>
            </a:r>
            <a:r>
              <a:rPr dirty="0" sz="4100" spc="-280">
                <a:solidFill>
                  <a:srgbClr val="FFFFFF"/>
                </a:solidFill>
              </a:rPr>
              <a:t> </a:t>
            </a:r>
            <a:r>
              <a:rPr dirty="0" sz="4100" spc="-1040">
                <a:solidFill>
                  <a:srgbClr val="000000"/>
                </a:solidFill>
              </a:rPr>
              <a:t>B</a:t>
            </a:r>
            <a:r>
              <a:rPr dirty="0" sz="4100" spc="-1040">
                <a:solidFill>
                  <a:srgbClr val="FFFFFF"/>
                </a:solidFill>
              </a:rPr>
              <a:t>B</a:t>
            </a:r>
            <a:r>
              <a:rPr dirty="0" sz="4100" spc="-1040">
                <a:solidFill>
                  <a:srgbClr val="000000"/>
                </a:solidFill>
              </a:rPr>
              <a:t>a</a:t>
            </a:r>
            <a:r>
              <a:rPr dirty="0" sz="4100" spc="-1040">
                <a:solidFill>
                  <a:srgbClr val="FFFFFF"/>
                </a:solidFill>
              </a:rPr>
              <a:t>a</a:t>
            </a:r>
            <a:r>
              <a:rPr dirty="0" sz="4100" spc="-1040">
                <a:solidFill>
                  <a:srgbClr val="000000"/>
                </a:solidFill>
              </a:rPr>
              <a:t>s</a:t>
            </a:r>
            <a:r>
              <a:rPr dirty="0" sz="4100" spc="-1040">
                <a:solidFill>
                  <a:srgbClr val="FFFFFF"/>
                </a:solidFill>
              </a:rPr>
              <a:t>s</a:t>
            </a:r>
            <a:r>
              <a:rPr dirty="0" sz="4100" spc="-1040">
                <a:solidFill>
                  <a:srgbClr val="000000"/>
                </a:solidFill>
              </a:rPr>
              <a:t>e</a:t>
            </a:r>
            <a:r>
              <a:rPr dirty="0" sz="4100" spc="-1040">
                <a:solidFill>
                  <a:srgbClr val="FFFFFF"/>
                </a:solidFill>
              </a:rPr>
              <a:t>e</a:t>
            </a:r>
            <a:r>
              <a:rPr dirty="0" sz="4100" spc="-1040">
                <a:solidFill>
                  <a:srgbClr val="000000"/>
                </a:solidFill>
              </a:rPr>
              <a:t>l</a:t>
            </a:r>
            <a:r>
              <a:rPr dirty="0" sz="4100" spc="-1040">
                <a:solidFill>
                  <a:srgbClr val="FFFFFF"/>
                </a:solidFill>
              </a:rPr>
              <a:t>l</a:t>
            </a:r>
            <a:r>
              <a:rPr dirty="0" sz="4100" spc="-1040">
                <a:solidFill>
                  <a:srgbClr val="000000"/>
                </a:solidFill>
              </a:rPr>
              <a:t>i</a:t>
            </a:r>
            <a:r>
              <a:rPr dirty="0" sz="4100" spc="-1040">
                <a:solidFill>
                  <a:srgbClr val="FFFFFF"/>
                </a:solidFill>
              </a:rPr>
              <a:t>i</a:t>
            </a:r>
            <a:r>
              <a:rPr dirty="0" sz="4100" spc="-1040">
                <a:solidFill>
                  <a:srgbClr val="000000"/>
                </a:solidFill>
              </a:rPr>
              <a:t>n</a:t>
            </a:r>
            <a:r>
              <a:rPr dirty="0" sz="4100" spc="-1040">
                <a:solidFill>
                  <a:srgbClr val="FFFFFF"/>
                </a:solidFill>
              </a:rPr>
              <a:t>n</a:t>
            </a:r>
            <a:r>
              <a:rPr dirty="0" sz="4100" spc="-1040">
                <a:solidFill>
                  <a:srgbClr val="000000"/>
                </a:solidFill>
              </a:rPr>
              <a:t>e</a:t>
            </a:r>
            <a:r>
              <a:rPr dirty="0" sz="4100" spc="-1040">
                <a:solidFill>
                  <a:srgbClr val="FFFFFF"/>
                </a:solidFill>
              </a:rPr>
              <a:t>e</a:t>
            </a:r>
            <a:r>
              <a:rPr dirty="0" sz="4100" spc="-869">
                <a:solidFill>
                  <a:srgbClr val="FFFFFF"/>
                </a:solidFill>
              </a:rPr>
              <a:t> </a:t>
            </a:r>
            <a:r>
              <a:rPr dirty="0" sz="4100" spc="-1035">
                <a:solidFill>
                  <a:srgbClr val="000000"/>
                </a:solidFill>
              </a:rPr>
              <a:t>F</a:t>
            </a:r>
            <a:r>
              <a:rPr dirty="0" sz="4100" spc="-1035">
                <a:solidFill>
                  <a:srgbClr val="FFFFFF"/>
                </a:solidFill>
              </a:rPr>
              <a:t>F</a:t>
            </a:r>
            <a:r>
              <a:rPr dirty="0" sz="4100" spc="-1035">
                <a:solidFill>
                  <a:srgbClr val="000000"/>
                </a:solidFill>
              </a:rPr>
              <a:t>o</a:t>
            </a:r>
            <a:r>
              <a:rPr dirty="0" sz="4100" spc="-1035">
                <a:solidFill>
                  <a:srgbClr val="FFFFFF"/>
                </a:solidFill>
              </a:rPr>
              <a:t>o</a:t>
            </a:r>
            <a:r>
              <a:rPr dirty="0" sz="4100" spc="-1035">
                <a:solidFill>
                  <a:srgbClr val="000000"/>
                </a:solidFill>
              </a:rPr>
              <a:t>r</a:t>
            </a:r>
            <a:r>
              <a:rPr dirty="0" sz="4100" spc="-1035">
                <a:solidFill>
                  <a:srgbClr val="FFFFFF"/>
                </a:solidFill>
              </a:rPr>
              <a:t>r</a:t>
            </a:r>
            <a:r>
              <a:rPr dirty="0" sz="4100" spc="-1035">
                <a:solidFill>
                  <a:srgbClr val="000000"/>
                </a:solidFill>
              </a:rPr>
              <a:t>e</a:t>
            </a:r>
            <a:r>
              <a:rPr dirty="0" sz="4100" spc="-1035">
                <a:solidFill>
                  <a:srgbClr val="FFFFFF"/>
                </a:solidFill>
              </a:rPr>
              <a:t>e</a:t>
            </a:r>
            <a:r>
              <a:rPr dirty="0" sz="4100" spc="-1035">
                <a:solidFill>
                  <a:srgbClr val="000000"/>
                </a:solidFill>
              </a:rPr>
              <a:t>c</a:t>
            </a:r>
            <a:r>
              <a:rPr dirty="0" sz="4100" spc="-1035">
                <a:solidFill>
                  <a:srgbClr val="FFFFFF"/>
                </a:solidFill>
              </a:rPr>
              <a:t>c</a:t>
            </a:r>
            <a:r>
              <a:rPr dirty="0" sz="4100" spc="-1035">
                <a:solidFill>
                  <a:srgbClr val="000000"/>
                </a:solidFill>
              </a:rPr>
              <a:t>a</a:t>
            </a:r>
            <a:r>
              <a:rPr dirty="0" sz="4100" spc="-1035">
                <a:solidFill>
                  <a:srgbClr val="FFFFFF"/>
                </a:solidFill>
              </a:rPr>
              <a:t>a</a:t>
            </a:r>
            <a:r>
              <a:rPr dirty="0" sz="4100" spc="-1035">
                <a:solidFill>
                  <a:srgbClr val="000000"/>
                </a:solidFill>
              </a:rPr>
              <a:t>s</a:t>
            </a:r>
            <a:r>
              <a:rPr dirty="0" sz="4100" spc="-1035">
                <a:solidFill>
                  <a:srgbClr val="FFFFFF"/>
                </a:solidFill>
              </a:rPr>
              <a:t>s</a:t>
            </a:r>
            <a:r>
              <a:rPr dirty="0" sz="4100" spc="-1035">
                <a:solidFill>
                  <a:srgbClr val="000000"/>
                </a:solidFill>
              </a:rPr>
              <a:t>t</a:t>
            </a:r>
            <a:r>
              <a:rPr dirty="0" sz="4100" spc="-1035">
                <a:solidFill>
                  <a:srgbClr val="FFFFFF"/>
                </a:solidFill>
              </a:rPr>
              <a:t>t</a:t>
            </a:r>
            <a:r>
              <a:rPr dirty="0" sz="4100" spc="-1035">
                <a:solidFill>
                  <a:srgbClr val="000000"/>
                </a:solidFill>
              </a:rPr>
              <a:t>s</a:t>
            </a:r>
            <a:r>
              <a:rPr dirty="0" sz="4100" spc="-1035">
                <a:solidFill>
                  <a:srgbClr val="FFFFFF"/>
                </a:solidFill>
              </a:rPr>
              <a:t>s</a:t>
            </a:r>
            <a:endParaRPr sz="4100"/>
          </a:p>
        </p:txBody>
      </p:sp>
      <p:sp>
        <p:nvSpPr>
          <p:cNvPr id="3" name="object 3"/>
          <p:cNvSpPr/>
          <p:nvPr/>
        </p:nvSpPr>
        <p:spPr>
          <a:xfrm>
            <a:off x="10719815" y="5995415"/>
            <a:ext cx="805815" cy="491490"/>
          </a:xfrm>
          <a:custGeom>
            <a:avLst/>
            <a:gdLst/>
            <a:ahLst/>
            <a:cxnLst/>
            <a:rect l="l" t="t" r="r" b="b"/>
            <a:pathLst>
              <a:path w="805815" h="491489">
                <a:moveTo>
                  <a:pt x="0" y="0"/>
                </a:moveTo>
                <a:lnTo>
                  <a:pt x="805433" y="0"/>
                </a:lnTo>
                <a:lnTo>
                  <a:pt x="805433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6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r>
              <a:rPr dirty="0" sz="12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7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9033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40"/>
              <a:t>Historic</a:t>
            </a:r>
            <a:r>
              <a:rPr dirty="0" spc="-295"/>
              <a:t> </a:t>
            </a:r>
            <a:r>
              <a:rPr dirty="0" spc="-190"/>
              <a:t>Mean/Average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854329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Historic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Mean/Average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r>
              <a:rPr dirty="0" sz="1800" spc="-1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simplest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baseline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forecast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Trebuchet MS"/>
                <a:cs typeface="Trebuchet MS"/>
              </a:rPr>
              <a:t>use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average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 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historical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data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Trebuchet MS"/>
                <a:cs typeface="Trebuchet MS"/>
              </a:rPr>
              <a:t>as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forecast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for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Trebuchet MS"/>
                <a:cs typeface="Trebuchet MS"/>
              </a:rPr>
              <a:t>all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future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periods.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7005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31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pc="15"/>
              <a:t>Assumptions </a:t>
            </a:r>
            <a:r>
              <a:rPr dirty="0" spc="-40"/>
              <a:t>about </a:t>
            </a:r>
            <a:r>
              <a:rPr dirty="0" spc="-80"/>
              <a:t>the </a:t>
            </a:r>
            <a:r>
              <a:rPr dirty="0" spc="-25"/>
              <a:t>Data </a:t>
            </a:r>
            <a:r>
              <a:rPr dirty="0" spc="-40"/>
              <a:t>Generating </a:t>
            </a:r>
            <a:r>
              <a:rPr dirty="0" spc="30"/>
              <a:t>Process</a:t>
            </a:r>
            <a:r>
              <a:rPr dirty="0" spc="-400"/>
              <a:t> </a:t>
            </a:r>
            <a:r>
              <a:rPr dirty="0" spc="-25"/>
              <a:t>(DGP)</a:t>
            </a:r>
            <a:r>
              <a:rPr dirty="0" spc="-25" b="0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Future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values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will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be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similar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past.</a:t>
            </a:r>
            <a:endParaRPr sz="1800">
              <a:latin typeface="Trebuchet MS"/>
              <a:cs typeface="Trebuchet MS"/>
            </a:endParaRPr>
          </a:p>
          <a:p>
            <a:pPr lvl="1" marL="527050" marR="50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data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generating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process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relatively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stationary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(fixed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mean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with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random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noise)</a:t>
            </a:r>
            <a:r>
              <a:rPr dirty="0" sz="1800" spc="-55">
                <a:solidFill>
                  <a:srgbClr val="585D60"/>
                </a:solidFill>
                <a:latin typeface="Trebuchet MS"/>
                <a:cs typeface="Trebuchet MS"/>
              </a:rPr>
              <a:t>, 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with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no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seasonality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no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trends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(obviously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since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mean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fixed).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63616" y="2328097"/>
            <a:ext cx="30289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950" spc="229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9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8754" y="2187575"/>
            <a:ext cx="39706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  <a:tab pos="3779520" algn="l"/>
              </a:tabLst>
            </a:pP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Mathematical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Rep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r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esentation</a:t>
            </a:r>
            <a:r>
              <a:rPr dirty="0" sz="1800" spc="-225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64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984" sz="2100" spc="15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1984" sz="2100">
                <a:solidFill>
                  <a:srgbClr val="585D60"/>
                </a:solidFill>
                <a:latin typeface="Lucida Sans Unicode"/>
                <a:cs typeface="Lucida Sans Unicode"/>
              </a:rPr>
              <a:t>	</a:t>
            </a:r>
            <a:r>
              <a:rPr dirty="0" sz="1400" spc="28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91509" y="2210663"/>
            <a:ext cx="244475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600" spc="8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127" i="1">
                <a:solidFill>
                  <a:srgbClr val="585D60"/>
                </a:solidFill>
                <a:latin typeface="Trebuchet MS"/>
                <a:cs typeface="Trebuchet MS"/>
              </a:rPr>
              <a:t>i</a:t>
            </a:r>
            <a:endParaRPr baseline="-12077" sz="1725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75498" y="2073275"/>
            <a:ext cx="539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u="sng" baseline="-8771" sz="1425" spc="52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Lucida Sans Unicode"/>
                <a:cs typeface="Lucida Sans Unicode"/>
              </a:rPr>
              <a:t>1</a:t>
            </a:r>
            <a:r>
              <a:rPr dirty="0" baseline="-8771" sz="1425" spc="412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-27777" sz="2700" spc="442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sz="1150" spc="29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12208" y="2347147"/>
            <a:ext cx="68072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5130" algn="l"/>
              </a:tabLst>
            </a:pP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	</a:t>
            </a:r>
            <a:r>
              <a:rPr dirty="0" baseline="2415" sz="1725" spc="127" i="1">
                <a:solidFill>
                  <a:srgbClr val="585D60"/>
                </a:solidFill>
                <a:latin typeface="Trebuchet MS"/>
                <a:cs typeface="Trebuchet MS"/>
              </a:rPr>
              <a:t>i</a:t>
            </a:r>
            <a:r>
              <a:rPr dirty="0" baseline="2923" sz="1425" spc="34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baseline="2923" sz="1425" spc="52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baseline="2923" sz="1425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7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4408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40"/>
              <a:t>Historic </a:t>
            </a:r>
            <a:r>
              <a:rPr dirty="0" spc="-210"/>
              <a:t>Mean/Average: </a:t>
            </a:r>
            <a:r>
              <a:rPr dirty="0" spc="-200"/>
              <a:t>Fixed</a:t>
            </a:r>
            <a:r>
              <a:rPr dirty="0" spc="-395"/>
              <a:t> </a:t>
            </a:r>
            <a:r>
              <a:rPr dirty="0" spc="-210"/>
              <a:t>Window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428750"/>
            <a:ext cx="9696449" cy="5057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58054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581501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580072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580072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5877083"/>
            <a:ext cx="9159240" cy="549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Notes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: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The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plot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above </a:t>
            </a:r>
            <a:r>
              <a:rPr dirty="0" sz="850" spc="60">
                <a:solidFill>
                  <a:srgbClr val="585D60"/>
                </a:solidFill>
                <a:latin typeface="Trebuchet MS"/>
                <a:cs typeface="Trebuchet MS"/>
              </a:rPr>
              <a:t>shows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historic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average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forecast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for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 </a:t>
            </a:r>
            <a:r>
              <a:rPr dirty="0" sz="850" spc="-20">
                <a:solidFill>
                  <a:srgbClr val="585D60"/>
                </a:solidFill>
                <a:latin typeface="Trebuchet MS"/>
                <a:cs typeface="Trebuchet MS"/>
              </a:rPr>
              <a:t>retail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trade data.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The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light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gray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region represents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training </a:t>
            </a:r>
            <a:r>
              <a:rPr dirty="0" sz="850" spc="-20">
                <a:solidFill>
                  <a:srgbClr val="585D60"/>
                </a:solidFill>
                <a:latin typeface="Trebuchet MS"/>
                <a:cs typeface="Trebuchet MS"/>
              </a:rPr>
              <a:t>data,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while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red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region represents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test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data.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The 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vertical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Trebuchet MS"/>
                <a:cs typeface="Trebuchet MS"/>
              </a:rPr>
              <a:t>dashed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line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indicates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split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point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between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training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test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data.</a:t>
            </a:r>
            <a:r>
              <a:rPr dirty="0" sz="850" spc="-4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training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data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4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Trebuchet MS"/>
                <a:cs typeface="Trebuchet MS"/>
              </a:rPr>
              <a:t>used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585D60"/>
                </a:solidFill>
                <a:latin typeface="Trebuchet MS"/>
                <a:cs typeface="Trebuchet MS"/>
              </a:rPr>
              <a:t>fit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model,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while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test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data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4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Trebuchet MS"/>
                <a:cs typeface="Trebuchet MS"/>
              </a:rPr>
              <a:t>used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evaluate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Trebuchet MS"/>
                <a:cs typeface="Trebuchet MS"/>
              </a:rPr>
              <a:t>model's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performance.</a:t>
            </a:r>
            <a:endParaRPr sz="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850" spc="-15" b="1">
                <a:solidFill>
                  <a:srgbClr val="C2132D"/>
                </a:solidFill>
                <a:latin typeface="Trebuchet MS"/>
                <a:cs typeface="Trebuchet MS"/>
              </a:rPr>
              <a:t>Obviously,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5" b="1">
                <a:solidFill>
                  <a:srgbClr val="C2132D"/>
                </a:solidFill>
                <a:latin typeface="Trebuchet MS"/>
                <a:cs typeface="Trebuchet MS"/>
              </a:rPr>
              <a:t>historic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average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forecast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30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15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straight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line,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0" b="1">
                <a:solidFill>
                  <a:srgbClr val="C2132D"/>
                </a:solidFill>
                <a:latin typeface="Trebuchet MS"/>
                <a:cs typeface="Trebuchet MS"/>
              </a:rPr>
              <a:t>as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it </a:t>
            </a:r>
            <a:r>
              <a:rPr dirty="0" sz="850" spc="30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30" b="1">
                <a:solidFill>
                  <a:srgbClr val="C2132D"/>
                </a:solidFill>
                <a:latin typeface="Trebuchet MS"/>
                <a:cs typeface="Trebuchet MS"/>
              </a:rPr>
              <a:t>same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for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all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0" b="1">
                <a:solidFill>
                  <a:srgbClr val="C2132D"/>
                </a:solidFill>
                <a:latin typeface="Trebuchet MS"/>
                <a:cs typeface="Trebuchet MS"/>
              </a:rPr>
              <a:t>future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5" b="1">
                <a:solidFill>
                  <a:srgbClr val="C2132D"/>
                </a:solidFill>
                <a:latin typeface="Trebuchet MS"/>
                <a:cs typeface="Trebuchet MS"/>
              </a:rPr>
              <a:t>periods.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Furthermore,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it </a:t>
            </a:r>
            <a:r>
              <a:rPr dirty="0" sz="850" spc="30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15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terrible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choice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for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this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dataset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10" b="1">
                <a:solidFill>
                  <a:srgbClr val="C2132D"/>
                </a:solidFill>
                <a:latin typeface="Trebuchet MS"/>
                <a:cs typeface="Trebuchet MS"/>
              </a:rPr>
              <a:t>since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it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clearly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30" b="1">
                <a:solidFill>
                  <a:srgbClr val="C2132D"/>
                </a:solidFill>
                <a:latin typeface="Trebuchet MS"/>
                <a:cs typeface="Trebuchet MS"/>
              </a:rPr>
              <a:t>has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15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5" b="1">
                <a:solidFill>
                  <a:srgbClr val="C2132D"/>
                </a:solidFill>
                <a:latin typeface="Trebuchet MS"/>
                <a:cs typeface="Trebuchet MS"/>
              </a:rPr>
              <a:t>positive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trend.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8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5450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0"/>
              <a:t>Naive</a:t>
            </a:r>
            <a:r>
              <a:rPr dirty="0" spc="-295"/>
              <a:t> </a:t>
            </a:r>
            <a:r>
              <a:rPr dirty="0" spc="-155"/>
              <a:t>Forecast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6054" y="1376044"/>
            <a:ext cx="9478645" cy="2416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marR="345440" indent="-133985">
              <a:lnSpc>
                <a:spcPct val="118100"/>
              </a:lnSpc>
              <a:spcBef>
                <a:spcPts val="100"/>
              </a:spcBef>
              <a:buFont typeface="Trebuchet MS"/>
              <a:buChar char="•"/>
              <a:tabLst>
                <a:tab pos="159385" algn="l"/>
              </a:tabLst>
            </a:pP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Naive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Forecast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r>
              <a:rPr dirty="0" sz="1800" spc="-1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naive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forecast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Trebuchet MS"/>
                <a:cs typeface="Trebuchet MS"/>
              </a:rPr>
              <a:t>assumes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Trebuchet MS"/>
                <a:cs typeface="Trebuchet MS"/>
              </a:rPr>
              <a:t>that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future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value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will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be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Trebuchet MS"/>
                <a:cs typeface="Trebuchet MS"/>
              </a:rPr>
              <a:t>same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Trebuchet MS"/>
                <a:cs typeface="Trebuchet MS"/>
              </a:rPr>
              <a:t>as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 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last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observed</a:t>
            </a:r>
            <a:r>
              <a:rPr dirty="0" sz="1800" spc="-204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value.</a:t>
            </a:r>
            <a:endParaRPr sz="1800">
              <a:latin typeface="Trebuchet MS"/>
              <a:cs typeface="Trebuchet MS"/>
            </a:endParaRPr>
          </a:p>
          <a:p>
            <a:pPr marL="158750" indent="-133985">
              <a:lnSpc>
                <a:spcPts val="1630"/>
              </a:lnSpc>
              <a:spcBef>
                <a:spcPts val="1290"/>
              </a:spcBef>
              <a:buFont typeface="Trebuchet MS"/>
              <a:buChar char="•"/>
              <a:tabLst>
                <a:tab pos="159385" algn="l"/>
                <a:tab pos="3792220" algn="l"/>
              </a:tabLst>
            </a:pP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Mathematical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Representation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1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984" sz="2100" spc="-472">
                <a:solidFill>
                  <a:srgbClr val="585D60"/>
                </a:solidFill>
                <a:latin typeface="Lucida Sans Unicode"/>
                <a:cs typeface="Lucida Sans Unicode"/>
              </a:rPr>
              <a:t>^	</a:t>
            </a:r>
            <a:r>
              <a:rPr dirty="0" sz="1400" spc="28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400" spc="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3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4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  <a:p>
            <a:pPr algn="ctr" marR="2312670">
              <a:lnSpc>
                <a:spcPts val="850"/>
              </a:lnSpc>
            </a:pPr>
            <a:r>
              <a:rPr dirty="0" sz="1150" spc="10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950" spc="10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10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endParaRPr sz="1150">
              <a:latin typeface="Trebuchet MS"/>
              <a:cs typeface="Trebuchet MS"/>
            </a:endParaRPr>
          </a:p>
          <a:p>
            <a:pPr marL="158750" indent="-133985">
              <a:lnSpc>
                <a:spcPct val="100000"/>
              </a:lnSpc>
              <a:spcBef>
                <a:spcPts val="970"/>
              </a:spcBef>
              <a:buFont typeface="Trebuchet MS"/>
              <a:buChar char="•"/>
              <a:tabLst>
                <a:tab pos="159385" algn="l"/>
              </a:tabLst>
            </a:pPr>
            <a:r>
              <a:rPr dirty="0" sz="1800" spc="15" b="1">
                <a:solidFill>
                  <a:srgbClr val="C2132D"/>
                </a:solidFill>
                <a:latin typeface="Trebuchet MS"/>
                <a:cs typeface="Trebuchet MS"/>
              </a:rPr>
              <a:t>Assumptions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about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Data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Generating </a:t>
            </a:r>
            <a:r>
              <a:rPr dirty="0" sz="1800" spc="30" b="1">
                <a:solidFill>
                  <a:srgbClr val="C2132D"/>
                </a:solidFill>
                <a:latin typeface="Trebuchet MS"/>
                <a:cs typeface="Trebuchet MS"/>
              </a:rPr>
              <a:t>Process</a:t>
            </a:r>
            <a:r>
              <a:rPr dirty="0" sz="1800" spc="-4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(DGP)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lvl="1" marL="5397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40385" algn="l"/>
              </a:tabLst>
            </a:pP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Future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values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will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be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similar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Trebuchet MS"/>
                <a:cs typeface="Trebuchet MS"/>
              </a:rPr>
              <a:t>most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recent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past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value.</a:t>
            </a:r>
            <a:endParaRPr sz="1800">
              <a:latin typeface="Trebuchet MS"/>
              <a:cs typeface="Trebuchet MS"/>
            </a:endParaRPr>
          </a:p>
          <a:p>
            <a:pPr lvl="1" marL="5397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40385" algn="l"/>
              </a:tabLst>
            </a:pP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data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generating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process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can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585D60"/>
                </a:solidFill>
                <a:latin typeface="Trebuchet MS"/>
                <a:cs typeface="Trebuchet MS"/>
              </a:rPr>
              <a:t>either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be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relatively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stationary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or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follow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random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walk</a:t>
            </a:r>
            <a:r>
              <a:rPr dirty="0" sz="1800" spc="-70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9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825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0"/>
              <a:t>Naive </a:t>
            </a:r>
            <a:r>
              <a:rPr dirty="0" spc="-185"/>
              <a:t>Forecast: </a:t>
            </a:r>
            <a:r>
              <a:rPr dirty="0" spc="-200"/>
              <a:t>Fixed</a:t>
            </a:r>
            <a:r>
              <a:rPr dirty="0" spc="-409"/>
              <a:t> </a:t>
            </a:r>
            <a:r>
              <a:rPr dirty="0" spc="-210"/>
              <a:t>Window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428750"/>
            <a:ext cx="9696449" cy="5057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5653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566261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564832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564832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5705633"/>
            <a:ext cx="9258300" cy="720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Notes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r>
              <a:rPr dirty="0" sz="850" spc="-5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plot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above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60">
                <a:solidFill>
                  <a:srgbClr val="585D60"/>
                </a:solidFill>
                <a:latin typeface="Trebuchet MS"/>
                <a:cs typeface="Trebuchet MS"/>
              </a:rPr>
              <a:t>shows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naive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forecast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for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585D60"/>
                </a:solidFill>
                <a:latin typeface="Trebuchet MS"/>
                <a:cs typeface="Trebuchet MS"/>
              </a:rPr>
              <a:t>retail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trade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data.</a:t>
            </a:r>
            <a:r>
              <a:rPr dirty="0" sz="850" spc="-5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light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gray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region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represents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training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585D60"/>
                </a:solidFill>
                <a:latin typeface="Trebuchet MS"/>
                <a:cs typeface="Trebuchet MS"/>
              </a:rPr>
              <a:t>data,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while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red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region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represents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test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data.</a:t>
            </a:r>
            <a:r>
              <a:rPr dirty="0" sz="850" spc="-4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vertical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Trebuchet MS"/>
                <a:cs typeface="Trebuchet MS"/>
              </a:rPr>
              <a:t>dashed 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line</a:t>
            </a:r>
            <a:r>
              <a:rPr dirty="0" sz="850" spc="-4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indicates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split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point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between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training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test</a:t>
            </a:r>
            <a:r>
              <a:rPr dirty="0" sz="850" spc="-4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data.</a:t>
            </a:r>
            <a:r>
              <a:rPr dirty="0" sz="850" spc="-5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training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data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4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Trebuchet MS"/>
                <a:cs typeface="Trebuchet MS"/>
              </a:rPr>
              <a:t>used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585D60"/>
                </a:solidFill>
                <a:latin typeface="Trebuchet MS"/>
                <a:cs typeface="Trebuchet MS"/>
              </a:rPr>
              <a:t>fit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model,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while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test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data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4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Trebuchet MS"/>
                <a:cs typeface="Trebuchet MS"/>
              </a:rPr>
              <a:t>used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850" spc="-4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evaluate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Trebuchet MS"/>
                <a:cs typeface="Trebuchet MS"/>
              </a:rPr>
              <a:t>model's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performance.</a:t>
            </a:r>
            <a:endParaRPr sz="850">
              <a:latin typeface="Trebuchet MS"/>
              <a:cs typeface="Trebuchet MS"/>
            </a:endParaRPr>
          </a:p>
          <a:p>
            <a:pPr marL="12700" marR="196850">
              <a:lnSpc>
                <a:spcPct val="125000"/>
              </a:lnSpc>
              <a:spcBef>
                <a:spcPts val="375"/>
              </a:spcBef>
            </a:pP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naive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forecast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40" b="1">
                <a:solidFill>
                  <a:srgbClr val="C2132D"/>
                </a:solidFill>
                <a:latin typeface="Trebuchet MS"/>
                <a:cs typeface="Trebuchet MS"/>
              </a:rPr>
              <a:t>lags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training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0" b="1">
                <a:solidFill>
                  <a:srgbClr val="C2132D"/>
                </a:solidFill>
                <a:latin typeface="Trebuchet MS"/>
                <a:cs typeface="Trebuchet MS"/>
              </a:rPr>
              <a:t>data,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and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30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15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5" b="1">
                <a:solidFill>
                  <a:srgbClr val="C2132D"/>
                </a:solidFill>
                <a:latin typeface="Trebuchet MS"/>
                <a:cs typeface="Trebuchet MS"/>
              </a:rPr>
              <a:t>straightline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for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holdout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dataset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10" b="1">
                <a:solidFill>
                  <a:srgbClr val="C2132D"/>
                </a:solidFill>
                <a:latin typeface="Trebuchet MS"/>
                <a:cs typeface="Trebuchet MS"/>
              </a:rPr>
              <a:t>since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0" b="1">
                <a:solidFill>
                  <a:srgbClr val="C2132D"/>
                </a:solidFill>
                <a:latin typeface="Trebuchet MS"/>
                <a:cs typeface="Trebuchet MS"/>
              </a:rPr>
              <a:t>we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do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5" b="1">
                <a:solidFill>
                  <a:srgbClr val="C2132D"/>
                </a:solidFill>
                <a:latin typeface="Trebuchet MS"/>
                <a:cs typeface="Trebuchet MS"/>
              </a:rPr>
              <a:t>not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update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naive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forecast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for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5" b="1">
                <a:solidFill>
                  <a:srgbClr val="C2132D"/>
                </a:solidFill>
                <a:latin typeface="Trebuchet MS"/>
                <a:cs typeface="Trebuchet MS"/>
              </a:rPr>
              <a:t>fixed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window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5" b="1">
                <a:solidFill>
                  <a:srgbClr val="C2132D"/>
                </a:solidFill>
                <a:latin typeface="Trebuchet MS"/>
                <a:cs typeface="Trebuchet MS"/>
              </a:rPr>
              <a:t>approach.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Similar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0" b="1">
                <a:solidFill>
                  <a:srgbClr val="C2132D"/>
                </a:solidFill>
                <a:latin typeface="Trebuchet MS"/>
                <a:cs typeface="Trebuchet MS"/>
              </a:rPr>
              <a:t>to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5" b="1">
                <a:solidFill>
                  <a:srgbClr val="C2132D"/>
                </a:solidFill>
                <a:latin typeface="Trebuchet MS"/>
                <a:cs typeface="Trebuchet MS"/>
              </a:rPr>
              <a:t>historic 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average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forecast,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naive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forecast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30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15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terrible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choice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for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this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dataset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10" b="1">
                <a:solidFill>
                  <a:srgbClr val="C2132D"/>
                </a:solidFill>
                <a:latin typeface="Trebuchet MS"/>
                <a:cs typeface="Trebuchet MS"/>
              </a:rPr>
              <a:t>since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it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clearly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30" b="1">
                <a:solidFill>
                  <a:srgbClr val="C2132D"/>
                </a:solidFill>
                <a:latin typeface="Trebuchet MS"/>
                <a:cs typeface="Trebuchet MS"/>
              </a:rPr>
              <a:t>has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15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5" b="1">
                <a:solidFill>
                  <a:srgbClr val="C2132D"/>
                </a:solidFill>
                <a:latin typeface="Trebuchet MS"/>
                <a:cs typeface="Trebuchet MS"/>
              </a:rPr>
              <a:t>positive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trend.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10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935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95"/>
              <a:t>Seasonal </a:t>
            </a:r>
            <a:r>
              <a:rPr dirty="0" spc="-170"/>
              <a:t>Naive</a:t>
            </a:r>
            <a:r>
              <a:rPr dirty="0" spc="-405"/>
              <a:t> </a:t>
            </a:r>
            <a:r>
              <a:rPr dirty="0" spc="-155"/>
              <a:t>Forecast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6054" y="1376044"/>
            <a:ext cx="9448800" cy="2416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marR="17780" indent="-133985">
              <a:lnSpc>
                <a:spcPct val="118100"/>
              </a:lnSpc>
              <a:spcBef>
                <a:spcPts val="100"/>
              </a:spcBef>
              <a:buFont typeface="Trebuchet MS"/>
              <a:buChar char="•"/>
              <a:tabLst>
                <a:tab pos="159385" algn="l"/>
              </a:tabLst>
            </a:pPr>
            <a:r>
              <a:rPr dirty="0" sz="1800" spc="20" b="1">
                <a:solidFill>
                  <a:srgbClr val="C2132D"/>
                </a:solidFill>
                <a:latin typeface="Trebuchet MS"/>
                <a:cs typeface="Trebuchet MS"/>
              </a:rPr>
              <a:t>Seasonal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Naive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Forecast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r>
              <a:rPr dirty="0" sz="1800" spc="-1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seasonal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naive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forecast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Trebuchet MS"/>
                <a:cs typeface="Trebuchet MS"/>
              </a:rPr>
              <a:t>assumes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Trebuchet MS"/>
                <a:cs typeface="Trebuchet MS"/>
              </a:rPr>
              <a:t>that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future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value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will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be 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Trebuchet MS"/>
                <a:cs typeface="Trebuchet MS"/>
              </a:rPr>
              <a:t>same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Trebuchet MS"/>
                <a:cs typeface="Trebuchet MS"/>
              </a:rPr>
              <a:t>as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last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observed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value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from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Trebuchet MS"/>
                <a:cs typeface="Trebuchet MS"/>
              </a:rPr>
              <a:t>same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Trebuchet MS"/>
                <a:cs typeface="Trebuchet MS"/>
              </a:rPr>
              <a:t>season.</a:t>
            </a:r>
            <a:endParaRPr sz="1800">
              <a:latin typeface="Trebuchet MS"/>
              <a:cs typeface="Trebuchet MS"/>
            </a:endParaRPr>
          </a:p>
          <a:p>
            <a:pPr marL="158750" indent="-133985">
              <a:lnSpc>
                <a:spcPts val="1630"/>
              </a:lnSpc>
              <a:spcBef>
                <a:spcPts val="1290"/>
              </a:spcBef>
              <a:buFont typeface="Trebuchet MS"/>
              <a:buChar char="•"/>
              <a:tabLst>
                <a:tab pos="159385" algn="l"/>
                <a:tab pos="3792220" algn="l"/>
              </a:tabLst>
            </a:pP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Mathematical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Representation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-31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984" sz="2100" spc="-472">
                <a:solidFill>
                  <a:srgbClr val="585D60"/>
                </a:solidFill>
                <a:latin typeface="Lucida Sans Unicode"/>
                <a:cs typeface="Lucida Sans Unicode"/>
              </a:rPr>
              <a:t>^	</a:t>
            </a:r>
            <a:r>
              <a:rPr dirty="0" sz="1400" spc="28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400" spc="5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8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12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4619" sz="1425" spc="12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-12077" sz="1725" spc="12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baseline="-14619" sz="1425" spc="12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2077" sz="1725" spc="120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r>
              <a:rPr dirty="0" sz="1800" spc="80">
                <a:solidFill>
                  <a:srgbClr val="585D60"/>
                </a:solidFill>
                <a:latin typeface="Trebuchet MS"/>
                <a:cs typeface="Trebuchet MS"/>
              </a:rPr>
              <a:t>,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where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600" spc="250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r>
              <a:rPr dirty="0" sz="1600" spc="-4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seasonal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period.</a:t>
            </a:r>
            <a:endParaRPr sz="1800">
              <a:latin typeface="Trebuchet MS"/>
              <a:cs typeface="Trebuchet MS"/>
            </a:endParaRPr>
          </a:p>
          <a:p>
            <a:pPr algn="ctr" marR="2282825">
              <a:lnSpc>
                <a:spcPts val="850"/>
              </a:lnSpc>
            </a:pPr>
            <a:r>
              <a:rPr dirty="0" sz="1150" spc="10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950" spc="10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10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endParaRPr sz="1150">
              <a:latin typeface="Trebuchet MS"/>
              <a:cs typeface="Trebuchet MS"/>
            </a:endParaRPr>
          </a:p>
          <a:p>
            <a:pPr marL="158750" indent="-133985">
              <a:lnSpc>
                <a:spcPct val="100000"/>
              </a:lnSpc>
              <a:spcBef>
                <a:spcPts val="970"/>
              </a:spcBef>
              <a:buFont typeface="Trebuchet MS"/>
              <a:buChar char="•"/>
              <a:tabLst>
                <a:tab pos="159385" algn="l"/>
              </a:tabLst>
            </a:pPr>
            <a:r>
              <a:rPr dirty="0" sz="1800" spc="15" b="1">
                <a:solidFill>
                  <a:srgbClr val="C2132D"/>
                </a:solidFill>
                <a:latin typeface="Trebuchet MS"/>
                <a:cs typeface="Trebuchet MS"/>
              </a:rPr>
              <a:t>Assumptions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about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Data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Generating </a:t>
            </a:r>
            <a:r>
              <a:rPr dirty="0" sz="1800" spc="30" b="1">
                <a:solidFill>
                  <a:srgbClr val="C2132D"/>
                </a:solidFill>
                <a:latin typeface="Trebuchet MS"/>
                <a:cs typeface="Trebuchet MS"/>
              </a:rPr>
              <a:t>Process</a:t>
            </a:r>
            <a:r>
              <a:rPr dirty="0" sz="1800" spc="-4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(DGP)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lvl="1" marL="5397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40385" algn="l"/>
              </a:tabLst>
            </a:pP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Future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values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will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be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similar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Trebuchet MS"/>
                <a:cs typeface="Trebuchet MS"/>
              </a:rPr>
              <a:t>most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recent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past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value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from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Trebuchet MS"/>
                <a:cs typeface="Trebuchet MS"/>
              </a:rPr>
              <a:t>same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Trebuchet MS"/>
                <a:cs typeface="Trebuchet MS"/>
              </a:rPr>
              <a:t>season.</a:t>
            </a:r>
            <a:endParaRPr sz="1800">
              <a:latin typeface="Trebuchet MS"/>
              <a:cs typeface="Trebuchet MS"/>
            </a:endParaRPr>
          </a:p>
          <a:p>
            <a:pPr lvl="1" marL="5397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40385" algn="l"/>
              </a:tabLst>
            </a:pP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data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generating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process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will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be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 b="1">
                <a:solidFill>
                  <a:srgbClr val="C2132D"/>
                </a:solidFill>
                <a:latin typeface="Trebuchet MS"/>
                <a:cs typeface="Trebuchet MS"/>
              </a:rPr>
              <a:t>seasonal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but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with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no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trends</a:t>
            </a:r>
            <a:r>
              <a:rPr dirty="0" sz="1800" spc="-60">
                <a:solidFill>
                  <a:srgbClr val="585D60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11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73163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95"/>
              <a:t>Seasonal </a:t>
            </a:r>
            <a:r>
              <a:rPr dirty="0" spc="-170"/>
              <a:t>Naive </a:t>
            </a:r>
            <a:r>
              <a:rPr dirty="0" spc="-185"/>
              <a:t>Forecast: </a:t>
            </a:r>
            <a:r>
              <a:rPr dirty="0" spc="-200"/>
              <a:t>Fixed</a:t>
            </a:r>
            <a:r>
              <a:rPr dirty="0" spc="-515"/>
              <a:t> </a:t>
            </a:r>
            <a:r>
              <a:rPr dirty="0" spc="-210"/>
              <a:t>Window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428750"/>
            <a:ext cx="9696449" cy="5057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5653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566261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564832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564832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5705633"/>
            <a:ext cx="9342120" cy="720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Notes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r>
              <a:rPr dirty="0" sz="850" spc="-5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plot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above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60">
                <a:solidFill>
                  <a:srgbClr val="585D60"/>
                </a:solidFill>
                <a:latin typeface="Trebuchet MS"/>
                <a:cs typeface="Trebuchet MS"/>
              </a:rPr>
              <a:t>shows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40">
                <a:solidFill>
                  <a:srgbClr val="585D60"/>
                </a:solidFill>
                <a:latin typeface="Trebuchet MS"/>
                <a:cs typeface="Trebuchet MS"/>
              </a:rPr>
              <a:t>seasonal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naive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forecast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for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585D60"/>
                </a:solidFill>
                <a:latin typeface="Trebuchet MS"/>
                <a:cs typeface="Trebuchet MS"/>
              </a:rPr>
              <a:t>retail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trade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data.</a:t>
            </a:r>
            <a:r>
              <a:rPr dirty="0" sz="850" spc="-4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light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gray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region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represents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training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585D60"/>
                </a:solidFill>
                <a:latin typeface="Trebuchet MS"/>
                <a:cs typeface="Trebuchet MS"/>
              </a:rPr>
              <a:t>data,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while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red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region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represents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test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data.</a:t>
            </a:r>
            <a:r>
              <a:rPr dirty="0" sz="850" spc="-4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vertical  </a:t>
            </a:r>
            <a:r>
              <a:rPr dirty="0" sz="850" spc="35">
                <a:solidFill>
                  <a:srgbClr val="585D60"/>
                </a:solidFill>
                <a:latin typeface="Trebuchet MS"/>
                <a:cs typeface="Trebuchet MS"/>
              </a:rPr>
              <a:t>dashed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line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indicates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split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point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between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training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test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data.</a:t>
            </a:r>
            <a:r>
              <a:rPr dirty="0" sz="850" spc="-5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training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data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4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Trebuchet MS"/>
                <a:cs typeface="Trebuchet MS"/>
              </a:rPr>
              <a:t>used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585D60"/>
                </a:solidFill>
                <a:latin typeface="Trebuchet MS"/>
                <a:cs typeface="Trebuchet MS"/>
              </a:rPr>
              <a:t>fit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model,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5">
                <a:solidFill>
                  <a:srgbClr val="585D60"/>
                </a:solidFill>
                <a:latin typeface="Trebuchet MS"/>
                <a:cs typeface="Trebuchet MS"/>
              </a:rPr>
              <a:t>while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test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Trebuchet MS"/>
                <a:cs typeface="Trebuchet MS"/>
              </a:rPr>
              <a:t>data</a:t>
            </a:r>
            <a:r>
              <a:rPr dirty="0" sz="850" spc="-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40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Trebuchet MS"/>
                <a:cs typeface="Trebuchet MS"/>
              </a:rPr>
              <a:t>used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Trebuchet MS"/>
                <a:cs typeface="Trebuchet MS"/>
              </a:rPr>
              <a:t>evaluate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Trebuchet MS"/>
                <a:cs typeface="Trebuchet MS"/>
              </a:rPr>
              <a:t>model's</a:t>
            </a:r>
            <a:r>
              <a:rPr dirty="0" sz="850" spc="-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Trebuchet MS"/>
                <a:cs typeface="Trebuchet MS"/>
              </a:rPr>
              <a:t>performance.</a:t>
            </a:r>
            <a:endParaRPr sz="850">
              <a:latin typeface="Trebuchet MS"/>
              <a:cs typeface="Trebuchet MS"/>
            </a:endParaRPr>
          </a:p>
          <a:p>
            <a:pPr marL="12700" marR="20955">
              <a:lnSpc>
                <a:spcPct val="125000"/>
              </a:lnSpc>
              <a:spcBef>
                <a:spcPts val="375"/>
              </a:spcBef>
            </a:pP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20" b="1">
                <a:solidFill>
                  <a:srgbClr val="C2132D"/>
                </a:solidFill>
                <a:latin typeface="Trebuchet MS"/>
                <a:cs typeface="Trebuchet MS"/>
              </a:rPr>
              <a:t>seasonal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naive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forecast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40" b="1">
                <a:solidFill>
                  <a:srgbClr val="C2132D"/>
                </a:solidFill>
                <a:latin typeface="Trebuchet MS"/>
                <a:cs typeface="Trebuchet MS"/>
              </a:rPr>
              <a:t>lags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training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0" b="1">
                <a:solidFill>
                  <a:srgbClr val="C2132D"/>
                </a:solidFill>
                <a:latin typeface="Trebuchet MS"/>
                <a:cs typeface="Trebuchet MS"/>
              </a:rPr>
              <a:t>data,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and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30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worse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than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naive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model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10" b="1">
                <a:solidFill>
                  <a:srgbClr val="C2132D"/>
                </a:solidFill>
                <a:latin typeface="Trebuchet MS"/>
                <a:cs typeface="Trebuchet MS"/>
              </a:rPr>
              <a:t>(since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5" b="1">
                <a:solidFill>
                  <a:srgbClr val="C2132D"/>
                </a:solidFill>
                <a:latin typeface="Trebuchet MS"/>
                <a:cs typeface="Trebuchet MS"/>
              </a:rPr>
              <a:t>now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data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40" b="1">
                <a:solidFill>
                  <a:srgbClr val="C2132D"/>
                </a:solidFill>
                <a:latin typeface="Trebuchet MS"/>
                <a:cs typeface="Trebuchet MS"/>
              </a:rPr>
              <a:t>lags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by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12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10" b="1">
                <a:solidFill>
                  <a:srgbClr val="C2132D"/>
                </a:solidFill>
                <a:latin typeface="Trebuchet MS"/>
                <a:cs typeface="Trebuchet MS"/>
              </a:rPr>
              <a:t>months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instead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1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5" b="1">
                <a:solidFill>
                  <a:srgbClr val="C2132D"/>
                </a:solidFill>
                <a:latin typeface="Trebuchet MS"/>
                <a:cs typeface="Trebuchet MS"/>
              </a:rPr>
              <a:t>month);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it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would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be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better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Trebuchet MS"/>
                <a:cs typeface="Trebuchet MS"/>
              </a:rPr>
              <a:t>if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data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30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20" b="1">
                <a:solidFill>
                  <a:srgbClr val="C2132D"/>
                </a:solidFill>
                <a:latin typeface="Trebuchet MS"/>
                <a:cs typeface="Trebuchet MS"/>
              </a:rPr>
              <a:t>seasonal  </a:t>
            </a:r>
            <a:r>
              <a:rPr dirty="0" sz="850" spc="-25" b="1">
                <a:solidFill>
                  <a:srgbClr val="C2132D"/>
                </a:solidFill>
                <a:latin typeface="Trebuchet MS"/>
                <a:cs typeface="Trebuchet MS"/>
              </a:rPr>
              <a:t>with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no</a:t>
            </a:r>
            <a:r>
              <a:rPr dirty="0" sz="850" spc="-6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5" b="1">
                <a:solidFill>
                  <a:srgbClr val="C2132D"/>
                </a:solidFill>
                <a:latin typeface="Trebuchet MS"/>
                <a:cs typeface="Trebuchet MS"/>
              </a:rPr>
              <a:t>trends.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12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65376" y="2502408"/>
            <a:ext cx="7802880" cy="1036319"/>
          </a:xfrm>
          <a:custGeom>
            <a:avLst/>
            <a:gdLst/>
            <a:ahLst/>
            <a:cxnLst/>
            <a:rect l="l" t="t" r="r" b="b"/>
            <a:pathLst>
              <a:path w="7802880" h="1036320">
                <a:moveTo>
                  <a:pt x="0" y="0"/>
                </a:moveTo>
                <a:lnTo>
                  <a:pt x="7802880" y="0"/>
                </a:lnTo>
                <a:lnTo>
                  <a:pt x="7802880" y="1036320"/>
                </a:lnTo>
                <a:lnTo>
                  <a:pt x="0" y="103632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81272" y="3041904"/>
            <a:ext cx="3365500" cy="917575"/>
          </a:xfrm>
          <a:custGeom>
            <a:avLst/>
            <a:gdLst/>
            <a:ahLst/>
            <a:cxnLst/>
            <a:rect l="l" t="t" r="r" b="b"/>
            <a:pathLst>
              <a:path w="3365500" h="917575">
                <a:moveTo>
                  <a:pt x="0" y="0"/>
                </a:moveTo>
                <a:lnTo>
                  <a:pt x="3364992" y="0"/>
                </a:lnTo>
                <a:lnTo>
                  <a:pt x="3364992" y="917448"/>
                </a:lnTo>
                <a:lnTo>
                  <a:pt x="0" y="91744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0291" y="2625725"/>
            <a:ext cx="6949440" cy="11779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algn="ctr" marR="125095">
              <a:lnSpc>
                <a:spcPts val="4520"/>
              </a:lnSpc>
              <a:spcBef>
                <a:spcPts val="125"/>
              </a:spcBef>
              <a:tabLst>
                <a:tab pos="4831715" algn="l"/>
              </a:tabLst>
            </a:pPr>
            <a:r>
              <a:rPr dirty="0" sz="4100" spc="-1180">
                <a:solidFill>
                  <a:srgbClr val="000000"/>
                </a:solidFill>
              </a:rPr>
              <a:t>I</a:t>
            </a:r>
            <a:r>
              <a:rPr dirty="0" sz="4100" spc="-1180">
                <a:solidFill>
                  <a:srgbClr val="FFFFFF"/>
                </a:solidFill>
              </a:rPr>
              <a:t>I</a:t>
            </a:r>
            <a:r>
              <a:rPr dirty="0" sz="4100" spc="-1180">
                <a:solidFill>
                  <a:srgbClr val="000000"/>
                </a:solidFill>
              </a:rPr>
              <a:t>m</a:t>
            </a:r>
            <a:r>
              <a:rPr dirty="0" sz="4100" spc="-1180">
                <a:solidFill>
                  <a:srgbClr val="FFFFFF"/>
                </a:solidFill>
              </a:rPr>
              <a:t>m</a:t>
            </a:r>
            <a:r>
              <a:rPr dirty="0" sz="4100" spc="-1180">
                <a:solidFill>
                  <a:srgbClr val="000000"/>
                </a:solidFill>
              </a:rPr>
              <a:t>p</a:t>
            </a:r>
            <a:r>
              <a:rPr dirty="0" sz="4100" spc="-1180">
                <a:solidFill>
                  <a:srgbClr val="FFFFFF"/>
                </a:solidFill>
              </a:rPr>
              <a:t>p</a:t>
            </a:r>
            <a:r>
              <a:rPr dirty="0" sz="4100" spc="-1180">
                <a:solidFill>
                  <a:srgbClr val="000000"/>
                </a:solidFill>
              </a:rPr>
              <a:t>l</a:t>
            </a:r>
            <a:r>
              <a:rPr dirty="0" sz="4100" spc="-1180">
                <a:solidFill>
                  <a:srgbClr val="FFFFFF"/>
                </a:solidFill>
              </a:rPr>
              <a:t>l</a:t>
            </a:r>
            <a:r>
              <a:rPr dirty="0" sz="4100" spc="-1180">
                <a:solidFill>
                  <a:srgbClr val="000000"/>
                </a:solidFill>
              </a:rPr>
              <a:t>e</a:t>
            </a:r>
            <a:r>
              <a:rPr dirty="0" sz="4100" spc="-1180">
                <a:solidFill>
                  <a:srgbClr val="FFFFFF"/>
                </a:solidFill>
              </a:rPr>
              <a:t>e</a:t>
            </a:r>
            <a:r>
              <a:rPr dirty="0" sz="4100" spc="-1180">
                <a:solidFill>
                  <a:srgbClr val="000000"/>
                </a:solidFill>
              </a:rPr>
              <a:t>m</a:t>
            </a:r>
            <a:r>
              <a:rPr dirty="0" sz="4100" spc="-1180">
                <a:solidFill>
                  <a:srgbClr val="FFFFFF"/>
                </a:solidFill>
              </a:rPr>
              <a:t>m</a:t>
            </a:r>
            <a:r>
              <a:rPr dirty="0" sz="4100" spc="-1180">
                <a:solidFill>
                  <a:srgbClr val="000000"/>
                </a:solidFill>
              </a:rPr>
              <a:t>e</a:t>
            </a:r>
            <a:r>
              <a:rPr dirty="0" sz="4100" spc="-1180">
                <a:solidFill>
                  <a:srgbClr val="FFFFFF"/>
                </a:solidFill>
              </a:rPr>
              <a:t>e</a:t>
            </a:r>
            <a:r>
              <a:rPr dirty="0" sz="4100" spc="-1180">
                <a:solidFill>
                  <a:srgbClr val="000000"/>
                </a:solidFill>
              </a:rPr>
              <a:t>n</a:t>
            </a:r>
            <a:r>
              <a:rPr dirty="0" sz="4100" spc="-1180">
                <a:solidFill>
                  <a:srgbClr val="FFFFFF"/>
                </a:solidFill>
              </a:rPr>
              <a:t>n</a:t>
            </a:r>
            <a:r>
              <a:rPr dirty="0" sz="4100" spc="-1180">
                <a:solidFill>
                  <a:srgbClr val="000000"/>
                </a:solidFill>
              </a:rPr>
              <a:t>t</a:t>
            </a:r>
            <a:r>
              <a:rPr dirty="0" sz="4100" spc="-1180">
                <a:solidFill>
                  <a:srgbClr val="FFFFFF"/>
                </a:solidFill>
              </a:rPr>
              <a:t>t</a:t>
            </a:r>
            <a:r>
              <a:rPr dirty="0" sz="4100" spc="-1180">
                <a:solidFill>
                  <a:srgbClr val="000000"/>
                </a:solidFill>
              </a:rPr>
              <a:t>i</a:t>
            </a:r>
            <a:r>
              <a:rPr dirty="0" sz="4100" spc="-1180">
                <a:solidFill>
                  <a:srgbClr val="FFFFFF"/>
                </a:solidFill>
              </a:rPr>
              <a:t>i</a:t>
            </a:r>
            <a:r>
              <a:rPr dirty="0" sz="4100" spc="-1180">
                <a:solidFill>
                  <a:srgbClr val="000000"/>
                </a:solidFill>
              </a:rPr>
              <a:t>n</a:t>
            </a:r>
            <a:r>
              <a:rPr dirty="0" sz="4100" spc="-1180">
                <a:solidFill>
                  <a:srgbClr val="FFFFFF"/>
                </a:solidFill>
              </a:rPr>
              <a:t>n</a:t>
            </a:r>
            <a:r>
              <a:rPr dirty="0" sz="4100" spc="-1180">
                <a:solidFill>
                  <a:srgbClr val="000000"/>
                </a:solidFill>
              </a:rPr>
              <a:t>g</a:t>
            </a:r>
            <a:r>
              <a:rPr dirty="0" sz="4100" spc="-1180">
                <a:solidFill>
                  <a:srgbClr val="FFFFFF"/>
                </a:solidFill>
              </a:rPr>
              <a:t>g                </a:t>
            </a:r>
            <a:r>
              <a:rPr dirty="0" sz="4100" spc="-1135">
                <a:solidFill>
                  <a:srgbClr val="FFFFFF"/>
                </a:solidFill>
              </a:rPr>
              <a:t> </a:t>
            </a:r>
            <a:r>
              <a:rPr dirty="0" sz="4100" spc="-1005">
                <a:solidFill>
                  <a:srgbClr val="000000"/>
                </a:solidFill>
              </a:rPr>
              <a:t>B</a:t>
            </a:r>
            <a:r>
              <a:rPr dirty="0" sz="4100" spc="-1005">
                <a:solidFill>
                  <a:srgbClr val="FFFFFF"/>
                </a:solidFill>
              </a:rPr>
              <a:t>B</a:t>
            </a:r>
            <a:r>
              <a:rPr dirty="0" sz="4100" spc="-1005">
                <a:solidFill>
                  <a:srgbClr val="000000"/>
                </a:solidFill>
              </a:rPr>
              <a:t>a</a:t>
            </a:r>
            <a:r>
              <a:rPr dirty="0" sz="4100" spc="-1005">
                <a:solidFill>
                  <a:srgbClr val="FFFFFF"/>
                </a:solidFill>
              </a:rPr>
              <a:t>a</a:t>
            </a:r>
            <a:r>
              <a:rPr dirty="0" sz="4100" spc="-1005">
                <a:solidFill>
                  <a:srgbClr val="000000"/>
                </a:solidFill>
              </a:rPr>
              <a:t>s</a:t>
            </a:r>
            <a:r>
              <a:rPr dirty="0" sz="4100" spc="-1005">
                <a:solidFill>
                  <a:srgbClr val="FFFFFF"/>
                </a:solidFill>
              </a:rPr>
              <a:t>s</a:t>
            </a:r>
            <a:r>
              <a:rPr dirty="0" sz="4100" spc="-1005">
                <a:solidFill>
                  <a:srgbClr val="000000"/>
                </a:solidFill>
              </a:rPr>
              <a:t>e</a:t>
            </a:r>
            <a:r>
              <a:rPr dirty="0" sz="4100" spc="-1005">
                <a:solidFill>
                  <a:srgbClr val="FFFFFF"/>
                </a:solidFill>
              </a:rPr>
              <a:t>e</a:t>
            </a:r>
            <a:r>
              <a:rPr dirty="0" sz="4100" spc="-1005">
                <a:solidFill>
                  <a:srgbClr val="000000"/>
                </a:solidFill>
              </a:rPr>
              <a:t>l</a:t>
            </a:r>
            <a:r>
              <a:rPr dirty="0" sz="4100" spc="-1005">
                <a:solidFill>
                  <a:srgbClr val="FFFFFF"/>
                </a:solidFill>
              </a:rPr>
              <a:t>li</a:t>
            </a:r>
            <a:r>
              <a:rPr dirty="0" sz="4100" spc="-1005">
                <a:solidFill>
                  <a:srgbClr val="000000"/>
                </a:solidFill>
              </a:rPr>
              <a:t>in</a:t>
            </a:r>
            <a:r>
              <a:rPr dirty="0" sz="4100" spc="-1005">
                <a:solidFill>
                  <a:srgbClr val="FFFFFF"/>
                </a:solidFill>
              </a:rPr>
              <a:t>n	</a:t>
            </a:r>
            <a:r>
              <a:rPr dirty="0" sz="4100" spc="-1090">
                <a:solidFill>
                  <a:srgbClr val="FFFFFF"/>
                </a:solidFill>
              </a:rPr>
              <a:t>M</a:t>
            </a:r>
            <a:r>
              <a:rPr dirty="0" sz="4100" spc="-1090">
                <a:solidFill>
                  <a:srgbClr val="000000"/>
                </a:solidFill>
              </a:rPr>
              <a:t>M</a:t>
            </a:r>
            <a:r>
              <a:rPr dirty="0" sz="4100" spc="-1090">
                <a:solidFill>
                  <a:srgbClr val="FFFFFF"/>
                </a:solidFill>
              </a:rPr>
              <a:t>o</a:t>
            </a:r>
            <a:r>
              <a:rPr dirty="0" sz="4100" spc="-1090">
                <a:solidFill>
                  <a:srgbClr val="000000"/>
                </a:solidFill>
              </a:rPr>
              <a:t>od</a:t>
            </a:r>
            <a:r>
              <a:rPr dirty="0" sz="4100" spc="-1090">
                <a:solidFill>
                  <a:srgbClr val="FFFFFF"/>
                </a:solidFill>
              </a:rPr>
              <a:t>d</a:t>
            </a:r>
            <a:r>
              <a:rPr dirty="0" sz="4100" spc="-1090">
                <a:solidFill>
                  <a:srgbClr val="000000"/>
                </a:solidFill>
              </a:rPr>
              <a:t>e</a:t>
            </a:r>
            <a:r>
              <a:rPr dirty="0" sz="4100" spc="-1090">
                <a:solidFill>
                  <a:srgbClr val="FFFFFF"/>
                </a:solidFill>
              </a:rPr>
              <a:t>el</a:t>
            </a:r>
            <a:r>
              <a:rPr dirty="0" sz="4100" spc="-1090">
                <a:solidFill>
                  <a:srgbClr val="000000"/>
                </a:solidFill>
              </a:rPr>
              <a:t>l</a:t>
            </a:r>
            <a:r>
              <a:rPr dirty="0" sz="4100" spc="-1090">
                <a:solidFill>
                  <a:srgbClr val="FFFFFF"/>
                </a:solidFill>
              </a:rPr>
              <a:t>s</a:t>
            </a:r>
            <a:r>
              <a:rPr dirty="0" sz="4100" spc="-1090">
                <a:solidFill>
                  <a:srgbClr val="000000"/>
                </a:solidFill>
              </a:rPr>
              <a:t>s</a:t>
            </a:r>
            <a:r>
              <a:rPr dirty="0" sz="4100" spc="-1019">
                <a:solidFill>
                  <a:srgbClr val="000000"/>
                </a:solidFill>
              </a:rPr>
              <a:t> </a:t>
            </a:r>
            <a:r>
              <a:rPr dirty="0" sz="4100" spc="-1445">
                <a:solidFill>
                  <a:srgbClr val="FFFFFF"/>
                </a:solidFill>
              </a:rPr>
              <a:t>w</a:t>
            </a:r>
            <a:r>
              <a:rPr dirty="0" sz="4100" spc="-1445">
                <a:solidFill>
                  <a:srgbClr val="000000"/>
                </a:solidFill>
              </a:rPr>
              <a:t>w</a:t>
            </a:r>
            <a:r>
              <a:rPr dirty="0" sz="4100" spc="-1445">
                <a:solidFill>
                  <a:srgbClr val="FFFFFF"/>
                </a:solidFill>
              </a:rPr>
              <a:t>i</a:t>
            </a:r>
            <a:r>
              <a:rPr dirty="0" sz="4100" spc="-1445">
                <a:solidFill>
                  <a:srgbClr val="000000"/>
                </a:solidFill>
              </a:rPr>
              <a:t>i</a:t>
            </a:r>
            <a:endParaRPr sz="4100"/>
          </a:p>
          <a:p>
            <a:pPr algn="ctr" marL="394970">
              <a:lnSpc>
                <a:spcPts val="4520"/>
              </a:lnSpc>
            </a:pPr>
            <a:r>
              <a:rPr dirty="0" sz="4100" spc="-1035">
                <a:solidFill>
                  <a:srgbClr val="FFFFFF"/>
                </a:solidFill>
              </a:rPr>
              <a:t>S</a:t>
            </a:r>
            <a:r>
              <a:rPr dirty="0" sz="4100" spc="-1035">
                <a:solidFill>
                  <a:srgbClr val="000000"/>
                </a:solidFill>
              </a:rPr>
              <a:t>St</a:t>
            </a:r>
            <a:r>
              <a:rPr dirty="0" sz="4100" spc="-1035">
                <a:solidFill>
                  <a:srgbClr val="FFFFFF"/>
                </a:solidFill>
              </a:rPr>
              <a:t>ta</a:t>
            </a:r>
            <a:r>
              <a:rPr dirty="0" sz="4100" spc="-1035">
                <a:solidFill>
                  <a:srgbClr val="000000"/>
                </a:solidFill>
              </a:rPr>
              <a:t>at</a:t>
            </a:r>
            <a:r>
              <a:rPr dirty="0" sz="4100" spc="-1035">
                <a:solidFill>
                  <a:srgbClr val="FFFFFF"/>
                </a:solidFill>
              </a:rPr>
              <a:t>ts</a:t>
            </a:r>
            <a:r>
              <a:rPr dirty="0" sz="4100" spc="-1035">
                <a:solidFill>
                  <a:srgbClr val="000000"/>
                </a:solidFill>
              </a:rPr>
              <a:t>sF</a:t>
            </a:r>
            <a:r>
              <a:rPr dirty="0" sz="4100" spc="-1035">
                <a:solidFill>
                  <a:srgbClr val="FFFFFF"/>
                </a:solidFill>
              </a:rPr>
              <a:t>Fo</a:t>
            </a:r>
            <a:r>
              <a:rPr dirty="0" sz="4100" spc="-1035">
                <a:solidFill>
                  <a:srgbClr val="000000"/>
                </a:solidFill>
              </a:rPr>
              <a:t>o</a:t>
            </a:r>
            <a:r>
              <a:rPr dirty="0" sz="4100" spc="-1035">
                <a:solidFill>
                  <a:srgbClr val="FFFFFF"/>
                </a:solidFill>
              </a:rPr>
              <a:t>r</a:t>
            </a:r>
            <a:r>
              <a:rPr dirty="0" sz="4100" spc="-1035">
                <a:solidFill>
                  <a:srgbClr val="000000"/>
                </a:solidFill>
              </a:rPr>
              <a:t>r</a:t>
            </a:r>
            <a:r>
              <a:rPr dirty="0" sz="4100" spc="-1035">
                <a:solidFill>
                  <a:srgbClr val="FFFFFF"/>
                </a:solidFill>
              </a:rPr>
              <a:t>e</a:t>
            </a:r>
            <a:r>
              <a:rPr dirty="0" sz="4100" spc="-1035">
                <a:solidFill>
                  <a:srgbClr val="000000"/>
                </a:solidFill>
              </a:rPr>
              <a:t>e</a:t>
            </a:r>
            <a:r>
              <a:rPr dirty="0" sz="4100" spc="-1035">
                <a:solidFill>
                  <a:srgbClr val="FFFFFF"/>
                </a:solidFill>
              </a:rPr>
              <a:t>c</a:t>
            </a:r>
            <a:r>
              <a:rPr dirty="0" sz="4100" spc="-1035">
                <a:solidFill>
                  <a:srgbClr val="000000"/>
                </a:solidFill>
              </a:rPr>
              <a:t>c</a:t>
            </a:r>
            <a:r>
              <a:rPr dirty="0" sz="4100" spc="-1035">
                <a:solidFill>
                  <a:srgbClr val="FFFFFF"/>
                </a:solidFill>
              </a:rPr>
              <a:t>a</a:t>
            </a:r>
            <a:r>
              <a:rPr dirty="0" sz="4100" spc="-1035">
                <a:solidFill>
                  <a:srgbClr val="000000"/>
                </a:solidFill>
              </a:rPr>
              <a:t>a</a:t>
            </a:r>
            <a:r>
              <a:rPr dirty="0" sz="4100" spc="-1035">
                <a:solidFill>
                  <a:srgbClr val="FFFFFF"/>
                </a:solidFill>
              </a:rPr>
              <a:t>s</a:t>
            </a:r>
            <a:r>
              <a:rPr dirty="0" sz="4100" spc="-1035">
                <a:solidFill>
                  <a:srgbClr val="000000"/>
                </a:solidFill>
              </a:rPr>
              <a:t>st</a:t>
            </a:r>
            <a:r>
              <a:rPr dirty="0" sz="4100" spc="-1035">
                <a:solidFill>
                  <a:srgbClr val="FFFFFF"/>
                </a:solidFill>
              </a:rPr>
              <a:t>t</a:t>
            </a:r>
            <a:endParaRPr sz="4100"/>
          </a:p>
        </p:txBody>
      </p:sp>
      <p:sp>
        <p:nvSpPr>
          <p:cNvPr id="6" name="object 6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7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1791335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85">
                <a:solidFill>
                  <a:srgbClr val="C2132D"/>
                </a:solidFill>
                <a:latin typeface="Trebuchet MS"/>
                <a:cs typeface="Trebuchet MS"/>
              </a:rPr>
              <a:t>Live</a:t>
            </a:r>
            <a:r>
              <a:rPr dirty="0" sz="3350" spc="-320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3350" spc="-180">
                <a:solidFill>
                  <a:srgbClr val="C2132D"/>
                </a:solidFill>
                <a:latin typeface="Trebuchet MS"/>
                <a:cs typeface="Trebuchet MS"/>
              </a:rPr>
              <a:t>Demo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122410" cy="99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We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will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now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implement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historic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average,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Trebuchet MS"/>
                <a:cs typeface="Trebuchet MS"/>
              </a:rPr>
              <a:t>naive,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seasonal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naive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forecasts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using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  </a:t>
            </a:r>
            <a:r>
              <a:rPr dirty="0" sz="1800" spc="20">
                <a:solidFill>
                  <a:srgbClr val="83D5D3"/>
                </a:solidFill>
                <a:latin typeface="Trebuchet MS"/>
                <a:cs typeface="Trebuchet MS"/>
              </a:rPr>
              <a:t>StatsForecast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</a:rPr>
              <a:t> 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library.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Our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in-class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implementation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will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highlight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both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fixed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window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  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rolling-origin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approaches.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14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z="4100" spc="-1220">
                <a:solidFill>
                  <a:srgbClr val="000000"/>
                </a:solidFill>
              </a:rPr>
              <a:t>R</a:t>
            </a:r>
            <a:r>
              <a:rPr dirty="0" sz="4100" spc="-1220">
                <a:solidFill>
                  <a:srgbClr val="FFFFFF"/>
                </a:solidFill>
              </a:rPr>
              <a:t>R</a:t>
            </a:r>
            <a:r>
              <a:rPr dirty="0" sz="4100" spc="-1220">
                <a:solidFill>
                  <a:srgbClr val="000000"/>
                </a:solidFill>
              </a:rPr>
              <a:t>e</a:t>
            </a:r>
            <a:r>
              <a:rPr dirty="0" sz="4100" spc="-1220">
                <a:solidFill>
                  <a:srgbClr val="FFFFFF"/>
                </a:solidFill>
              </a:rPr>
              <a:t>e</a:t>
            </a:r>
            <a:r>
              <a:rPr dirty="0" sz="4100" spc="-1220">
                <a:solidFill>
                  <a:srgbClr val="000000"/>
                </a:solidFill>
              </a:rPr>
              <a:t>c</a:t>
            </a:r>
            <a:r>
              <a:rPr dirty="0" sz="4100" spc="-1220">
                <a:solidFill>
                  <a:srgbClr val="FFFFFF"/>
                </a:solidFill>
              </a:rPr>
              <a:t>c</a:t>
            </a:r>
            <a:r>
              <a:rPr dirty="0" sz="4100" spc="-1220">
                <a:solidFill>
                  <a:srgbClr val="000000"/>
                </a:solidFill>
              </a:rPr>
              <a:t>a</a:t>
            </a:r>
            <a:r>
              <a:rPr dirty="0" sz="4100" spc="-1220">
                <a:solidFill>
                  <a:srgbClr val="FFFFFF"/>
                </a:solidFill>
              </a:rPr>
              <a:t>a</a:t>
            </a:r>
            <a:r>
              <a:rPr dirty="0" sz="4100" spc="-1220">
                <a:solidFill>
                  <a:srgbClr val="000000"/>
                </a:solidFill>
              </a:rPr>
              <a:t>p</a:t>
            </a:r>
            <a:r>
              <a:rPr dirty="0" sz="4100" spc="-1220">
                <a:solidFill>
                  <a:srgbClr val="FFFFFF"/>
                </a:solidFill>
              </a:rPr>
              <a:t>p</a:t>
            </a:r>
            <a:endParaRPr sz="4100"/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5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5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7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78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0"/>
              <a:t>Summary </a:t>
            </a:r>
            <a:r>
              <a:rPr dirty="0" spc="-140"/>
              <a:t>of </a:t>
            </a:r>
            <a:r>
              <a:rPr dirty="0" spc="-90"/>
              <a:t>Main</a:t>
            </a:r>
            <a:r>
              <a:rPr dirty="0" spc="-455"/>
              <a:t> </a:t>
            </a:r>
            <a:r>
              <a:rPr dirty="0" spc="-11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7878445" cy="171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By</a:t>
            </a:r>
            <a:r>
              <a:rPr dirty="0" sz="1800" spc="-10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now,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you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should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be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able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do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following: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Recognize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Trebuchet MS"/>
                <a:cs typeface="Trebuchet MS"/>
              </a:rPr>
              <a:t>importance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baseline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forecasts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in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time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series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Trebuchet MS"/>
                <a:cs typeface="Trebuchet MS"/>
              </a:rPr>
              <a:t>forecasting</a:t>
            </a:r>
            <a:endParaRPr sz="180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Identify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Trebuchet MS"/>
                <a:cs typeface="Trebuchet MS"/>
              </a:rPr>
              <a:t>common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baseline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forecasts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(Naive,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Trebuchet MS"/>
                <a:cs typeface="Trebuchet MS"/>
              </a:rPr>
              <a:t>Seasonal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Naive,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etc.)</a:t>
            </a:r>
            <a:endParaRPr sz="180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Implement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baseline </a:t>
            </a:r>
            <a:r>
              <a:rPr dirty="0" sz="1800" spc="3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models</a:t>
            </a:r>
            <a:r>
              <a:rPr dirty="0" sz="1800" spc="-34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-4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with </a:t>
            </a:r>
            <a:r>
              <a:rPr dirty="0" sz="1800" spc="2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StatsForecast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16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45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latin typeface="Arial"/>
                <a:cs typeface="Arial"/>
              </a:rPr>
              <a:t>📝</a:t>
            </a:r>
            <a:r>
              <a:rPr dirty="0" sz="3300" spc="-260">
                <a:latin typeface="Arial"/>
                <a:cs typeface="Arial"/>
              </a:rPr>
              <a:t> </a:t>
            </a:r>
            <a:r>
              <a:rPr dirty="0" spc="-229"/>
              <a:t>Review </a:t>
            </a:r>
            <a:r>
              <a:rPr dirty="0" spc="-180"/>
              <a:t>and </a:t>
            </a:r>
            <a:r>
              <a:rPr dirty="0" spc="-195"/>
              <a:t>Clarification </a:t>
            </a:r>
            <a:r>
              <a:rPr dirty="0" sz="3300" spc="2155">
                <a:latin typeface="Arial"/>
                <a:cs typeface="Arial"/>
              </a:rPr>
              <a:t>📝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413240" cy="181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65" b="1">
                <a:solidFill>
                  <a:srgbClr val="C2132D"/>
                </a:solidFill>
                <a:latin typeface="Trebuchet MS"/>
                <a:cs typeface="Trebuchet MS"/>
              </a:rPr>
              <a:t>Class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Notes</a:t>
            </a:r>
            <a:r>
              <a:rPr dirty="0" sz="1800" spc="-30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r>
              <a:rPr dirty="0" sz="1800" spc="-13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Take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Trebuchet MS"/>
                <a:cs typeface="Trebuchet MS"/>
              </a:rPr>
              <a:t>some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time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revisit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your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Trebuchet MS"/>
                <a:cs typeface="Trebuchet MS"/>
              </a:rPr>
              <a:t>class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Trebuchet MS"/>
                <a:cs typeface="Trebuchet MS"/>
              </a:rPr>
              <a:t>notes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for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key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insights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concepts.</a:t>
            </a:r>
            <a:endParaRPr sz="1800">
              <a:latin typeface="Trebuchet MS"/>
              <a:cs typeface="Trebuchet MS"/>
            </a:endParaRPr>
          </a:p>
          <a:p>
            <a:pPr marL="146050" marR="1016635" indent="-133985">
              <a:lnSpc>
                <a:spcPct val="118100"/>
              </a:lnSpc>
              <a:spcBef>
                <a:spcPts val="9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15" b="1">
                <a:solidFill>
                  <a:srgbClr val="C2132D"/>
                </a:solidFill>
                <a:latin typeface="Trebuchet MS"/>
                <a:cs typeface="Trebuchet MS"/>
              </a:rPr>
              <a:t>Zoom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Recording</a:t>
            </a:r>
            <a:r>
              <a:rPr dirty="0" sz="1800" spc="-40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r>
              <a:rPr dirty="0" sz="1800" spc="-1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recording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of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Trebuchet MS"/>
                <a:cs typeface="Trebuchet MS"/>
              </a:rPr>
              <a:t>today's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Trebuchet MS"/>
                <a:cs typeface="Trebuchet MS"/>
              </a:rPr>
              <a:t>class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Trebuchet MS"/>
                <a:cs typeface="Trebuchet MS"/>
              </a:rPr>
              <a:t>will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be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Trebuchet MS"/>
                <a:cs typeface="Trebuchet MS"/>
              </a:rPr>
              <a:t>made</a:t>
            </a:r>
            <a:r>
              <a:rPr dirty="0" sz="1800" spc="-9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available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on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Trebuchet MS"/>
                <a:cs typeface="Trebuchet MS"/>
              </a:rPr>
              <a:t>Canvas 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approximately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Trebuchet MS"/>
                <a:cs typeface="Trebuchet MS"/>
              </a:rPr>
              <a:t>3-4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hours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after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Trebuchet MS"/>
                <a:cs typeface="Trebuchet MS"/>
              </a:rPr>
              <a:t>session</a:t>
            </a:r>
            <a:r>
              <a:rPr dirty="0" sz="1800" spc="-10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ends.</a:t>
            </a:r>
            <a:endParaRPr sz="1800">
              <a:latin typeface="Trebuchet MS"/>
              <a:cs typeface="Trebuchet MS"/>
            </a:endParaRPr>
          </a:p>
          <a:p>
            <a:pPr marL="146050" marR="5080" indent="-133985">
              <a:lnSpc>
                <a:spcPct val="118100"/>
              </a:lnSpc>
              <a:spcBef>
                <a:spcPts val="819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Questions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: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Please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don't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hesitate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Trebuchet MS"/>
                <a:cs typeface="Trebuchet MS"/>
              </a:rPr>
              <a:t>ask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Trebuchet MS"/>
                <a:cs typeface="Trebuchet MS"/>
              </a:rPr>
              <a:t>for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clarification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Trebuchet MS"/>
                <a:cs typeface="Trebuchet MS"/>
              </a:rPr>
              <a:t>on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any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Trebuchet MS"/>
                <a:cs typeface="Trebuchet MS"/>
              </a:rPr>
              <a:t>topics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Trebuchet MS"/>
                <a:cs typeface="Trebuchet MS"/>
              </a:rPr>
              <a:t>discussed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Trebuchet MS"/>
                <a:cs typeface="Trebuchet MS"/>
              </a:rPr>
              <a:t>in</a:t>
            </a:r>
            <a:r>
              <a:rPr dirty="0" sz="1800" spc="-9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class.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Trebuchet MS"/>
                <a:cs typeface="Trebuchet MS"/>
              </a:rPr>
              <a:t>It's  </a:t>
            </a:r>
            <a:r>
              <a:rPr dirty="0" sz="1800" spc="-20">
                <a:solidFill>
                  <a:srgbClr val="585D60"/>
                </a:solidFill>
                <a:latin typeface="Trebuchet MS"/>
                <a:cs typeface="Trebuchet MS"/>
              </a:rPr>
              <a:t>crucial not </a:t>
            </a:r>
            <a:r>
              <a:rPr dirty="0" sz="1800" spc="-45">
                <a:solidFill>
                  <a:srgbClr val="585D60"/>
                </a:solidFill>
                <a:latin typeface="Trebuchet MS"/>
                <a:cs typeface="Trebuchet MS"/>
              </a:rPr>
              <a:t>to </a:t>
            </a:r>
            <a:r>
              <a:rPr dirty="0" sz="1800" spc="-85">
                <a:solidFill>
                  <a:srgbClr val="585D60"/>
                </a:solidFill>
                <a:latin typeface="Trebuchet MS"/>
                <a:cs typeface="Trebuchet MS"/>
              </a:rPr>
              <a:t>let </a:t>
            </a:r>
            <a:r>
              <a:rPr dirty="0" sz="1800" spc="30">
                <a:solidFill>
                  <a:srgbClr val="585D60"/>
                </a:solidFill>
                <a:latin typeface="Trebuchet MS"/>
                <a:cs typeface="Trebuchet MS"/>
              </a:rPr>
              <a:t>questions</a:t>
            </a:r>
            <a:r>
              <a:rPr dirty="0" sz="1800" spc="-335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Trebuchet MS"/>
                <a:cs typeface="Trebuchet MS"/>
              </a:rPr>
              <a:t>accumulate.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17 </a:t>
            </a:r>
            <a:r>
              <a:rPr dirty="0" sz="1200" spc="-135">
                <a:solidFill>
                  <a:srgbClr val="585D60"/>
                </a:solidFill>
                <a:latin typeface="Trebuchet MS"/>
                <a:cs typeface="Trebuchet MS"/>
              </a:rPr>
              <a:t>/</a:t>
            </a:r>
            <a:r>
              <a:rPr dirty="0" sz="1200" spc="-260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00" spc="45">
                <a:solidFill>
                  <a:srgbClr val="585D60"/>
                </a:solidFill>
                <a:latin typeface="Trebuchet MS"/>
                <a:cs typeface="Trebuchet MS"/>
              </a:rPr>
              <a:t>17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3D5D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444: Business Forecasting</dc:title>
  <dcterms:created xsi:type="dcterms:W3CDTF">2025-02-27T16:16:42Z</dcterms:created>
  <dcterms:modified xsi:type="dcterms:W3CDTF">2025-02-27T16:16:42Z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2025-02-27T00:00:00Z</vt:filetime>
  </property>
  <property fmtid="{D5CDD505-2E9C-101B-9397-08002B2CF9AE}" pid="3" name="Creator">
    <vt:lpwstr>Mozilla/5.0 (Windows NT 10.0; Win64; x64) AppleWebKit/537.36 (KHTML, like Gecko) Chrome/133.0.0.0 Safari/537.36</vt:lpwstr>
  </property>
  <property fmtid="{D5CDD505-2E9C-101B-9397-08002B2CF9AE}" pid="4" name="LastSaved">
    <vt:filetime>2025-02-27T00:00:00Z</vt:filetime>
  </property>
</Properties>
</file>