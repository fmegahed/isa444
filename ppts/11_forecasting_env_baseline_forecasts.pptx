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2132D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9244" y="2625725"/>
            <a:ext cx="8533110" cy="117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754" y="2480945"/>
            <a:ext cx="9100820" cy="1635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C2132D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02752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" TargetMode="External"/><Relationship Id="rId3" Type="http://schemas.openxmlformats.org/officeDocument/2006/relationships/hyperlink" Target="https://nixtlaverse.nixtla.io/mlforecast/index.html" TargetMode="External"/><Relationship Id="rId4" Type="http://schemas.openxmlformats.org/officeDocument/2006/relationships/hyperlink" Target="https://nixtlaverse.nixtla.io/neuralforecast/docs/getting-started/introduction.html" TargetMode="External"/><Relationship Id="rId5" Type="http://schemas.openxmlformats.org/officeDocument/2006/relationships/hyperlink" Target="https://nixtlaverse.nixtla.io/utilsforecast/index.html" TargetMode="External"/><Relationship Id="rId6" Type="http://schemas.openxmlformats.org/officeDocument/2006/relationships/hyperlink" Target="https://nixtlaverse.nixtla.io/nixtla/docs/getting-started/introduction.html" TargetMode="External"/><Relationship Id="rId7" Type="http://schemas.openxmlformats.org/officeDocument/2006/relationships/hyperlink" Target="https://nixtlaverse.nixtla.io/statsforecast/index.html#baseline-models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" TargetMode="External"/><Relationship Id="rId3" Type="http://schemas.openxmlformats.org/officeDocument/2006/relationships/hyperlink" Target="https://nixtlaverse.nixtla.io/mlforecast/index.html" TargetMode="External"/><Relationship Id="rId4" Type="http://schemas.openxmlformats.org/officeDocument/2006/relationships/hyperlink" Target="https://nixtlaverse.nixtla.io/neuralforecast/docs/getting-started/introduction.html" TargetMode="External"/><Relationship Id="rId5" Type="http://schemas.openxmlformats.org/officeDocument/2006/relationships/hyperlink" Target="https://nixtlaverse.nixtla.io/utilsforecast/index.html" TargetMode="External"/><Relationship Id="rId6" Type="http://schemas.openxmlformats.org/officeDocument/2006/relationships/hyperlink" Target="https://nixtlaverse.nixtla.io/nixtla/docs/getting-started/introduction.html" TargetMode="External"/><Relationship Id="rId7" Type="http://schemas.openxmlformats.org/officeDocument/2006/relationships/hyperlink" Target="https://nixtlaverse.nixtla.io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s://nixtlaverse.nixtla.io/statsforecast/docs/tutorials/crossvalidation.html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utilsforecast/evaluation.html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.github.io/utilsforecast/losses.html#mase" TargetMode="External"/><Relationship Id="rId3" Type="http://schemas.openxmlformats.org/officeDocument/2006/relationships/hyperlink" Target="https://nixtlaverse.nixtla.io/utilsforecast/evaluation.html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utilsforecast/losses.html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utilsforecast/losses.html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utilsforecast/losses.html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utilsforecast/losses.html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" TargetMode="External"/><Relationship Id="rId3" Type="http://schemas.openxmlformats.org/officeDocument/2006/relationships/hyperlink" Target="https://nixtlaverse.nixtla.io/mlforecast/index.html" TargetMode="External"/><Relationship Id="rId4" Type="http://schemas.openxmlformats.org/officeDocument/2006/relationships/hyperlink" Target="https://nixtlaverse.nixtla.io/neuralforecast/docs/getting-started/introduction.html" TargetMode="External"/><Relationship Id="rId5" Type="http://schemas.openxmlformats.org/officeDocument/2006/relationships/hyperlink" Target="https://nixtlaverse.nixtla.io/utilsforecast/index.html" TargetMode="External"/><Relationship Id="rId6" Type="http://schemas.openxmlformats.org/officeDocument/2006/relationships/hyperlink" Target="https://nixtlaverse.nixtla.io/nixtla/docs/getting-started/introduction.html" TargetMode="External"/><Relationship Id="rId7" Type="http://schemas.openxmlformats.org/officeDocument/2006/relationships/hyperlink" Target="https://nixtlaverse.nixtla.io/statsforecast/index.html#baseline-models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04227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/>
              <a:t>ISA 444/544: Business</a:t>
            </a:r>
            <a:r>
              <a:rPr dirty="0" sz="3350" spc="-15"/>
              <a:t> </a:t>
            </a:r>
            <a:r>
              <a:rPr dirty="0" sz="3350" spc="5"/>
              <a:t>Forecasting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 spc="-40">
                <a:latin typeface="Times New Roman"/>
                <a:cs typeface="Times New Roman"/>
              </a:rPr>
              <a:t>11: </a:t>
            </a:r>
            <a:r>
              <a:rPr dirty="0" sz="3000">
                <a:latin typeface="Times New Roman"/>
                <a:cs typeface="Times New Roman"/>
              </a:rPr>
              <a:t>Forecasting Environment and Baseline</a:t>
            </a:r>
            <a:r>
              <a:rPr dirty="0" sz="3000" spc="-55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Forecasts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2032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Learning </a:t>
            </a:r>
            <a:r>
              <a:rPr dirty="0" sz="3350" spc="5">
                <a:solidFill>
                  <a:srgbClr val="C2132D"/>
                </a:solidFill>
              </a:rPr>
              <a:t>Objectives for </a:t>
            </a:r>
            <a:r>
              <a:rPr dirty="0" sz="3350" spc="-35">
                <a:solidFill>
                  <a:srgbClr val="C2132D"/>
                </a:solidFill>
              </a:rPr>
              <a:t>Today's</a:t>
            </a:r>
            <a:r>
              <a:rPr dirty="0" sz="3350" spc="-6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Class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8153400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Install and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libraries (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MLForecast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NeuralForecast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 UtilsForecast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TimeGPT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 for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Distinguish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fixed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window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rolling-origin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Introduce forecast accuracy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metrics (MAE, MAPE,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RMSE)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Recognize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importance of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common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(Naive,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Naive,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baseline models with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 StatsForecast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8824" y="2502408"/>
            <a:ext cx="8989060" cy="1036319"/>
          </a:xfrm>
          <a:custGeom>
            <a:avLst/>
            <a:gdLst/>
            <a:ahLst/>
            <a:cxnLst/>
            <a:rect l="l" t="t" r="r" b="b"/>
            <a:pathLst>
              <a:path w="8989060" h="1036320">
                <a:moveTo>
                  <a:pt x="0" y="0"/>
                </a:moveTo>
                <a:lnTo>
                  <a:pt x="8988552" y="0"/>
                </a:lnTo>
                <a:lnTo>
                  <a:pt x="8988552" y="1036320"/>
                </a:lnTo>
                <a:lnTo>
                  <a:pt x="0" y="10363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39055" y="3023616"/>
            <a:ext cx="2261870" cy="935990"/>
          </a:xfrm>
          <a:custGeom>
            <a:avLst/>
            <a:gdLst/>
            <a:ahLst/>
            <a:cxnLst/>
            <a:rect l="l" t="t" r="r" b="b"/>
            <a:pathLst>
              <a:path w="2261870" h="935989">
                <a:moveTo>
                  <a:pt x="0" y="0"/>
                </a:moveTo>
                <a:lnTo>
                  <a:pt x="2261616" y="0"/>
                </a:lnTo>
                <a:lnTo>
                  <a:pt x="2261616" y="935736"/>
                </a:lnTo>
                <a:lnTo>
                  <a:pt x="0" y="93573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3366770" marR="5080" indent="-3354704">
              <a:lnSpc>
                <a:spcPts val="4120"/>
              </a:lnSpc>
              <a:spcBef>
                <a:spcPts val="925"/>
              </a:spcBef>
            </a:pPr>
            <a:r>
              <a:rPr dirty="0" spc="-1005">
                <a:solidFill>
                  <a:srgbClr val="000000"/>
                </a:solidFill>
              </a:rPr>
              <a:t>T</a:t>
            </a:r>
            <a:r>
              <a:rPr dirty="0" spc="-1005"/>
              <a:t>T</a:t>
            </a:r>
            <a:r>
              <a:rPr dirty="0" spc="-1005">
                <a:solidFill>
                  <a:srgbClr val="000000"/>
                </a:solidFill>
              </a:rPr>
              <a:t>h</a:t>
            </a:r>
            <a:r>
              <a:rPr dirty="0" spc="-1005"/>
              <a:t>h</a:t>
            </a:r>
            <a:r>
              <a:rPr dirty="0" spc="-1005">
                <a:solidFill>
                  <a:srgbClr val="000000"/>
                </a:solidFill>
              </a:rPr>
              <a:t>e</a:t>
            </a:r>
            <a:r>
              <a:rPr dirty="0" spc="-1005"/>
              <a:t>e</a:t>
            </a:r>
            <a:r>
              <a:rPr dirty="0" spc="70"/>
              <a:t> </a:t>
            </a:r>
            <a:r>
              <a:rPr dirty="0" spc="-825">
                <a:solidFill>
                  <a:srgbClr val="000000"/>
                </a:solidFill>
              </a:rPr>
              <a:t>N</a:t>
            </a:r>
            <a:r>
              <a:rPr dirty="0" spc="-825"/>
              <a:t>N</a:t>
            </a:r>
            <a:r>
              <a:rPr dirty="0" spc="-825">
                <a:solidFill>
                  <a:srgbClr val="000000"/>
                </a:solidFill>
              </a:rPr>
              <a:t>i</a:t>
            </a:r>
            <a:r>
              <a:rPr dirty="0" spc="-825"/>
              <a:t>i</a:t>
            </a:r>
            <a:r>
              <a:rPr dirty="0" spc="-825">
                <a:solidFill>
                  <a:srgbClr val="000000"/>
                </a:solidFill>
              </a:rPr>
              <a:t>x</a:t>
            </a:r>
            <a:r>
              <a:rPr dirty="0" spc="-825"/>
              <a:t>x</a:t>
            </a:r>
            <a:r>
              <a:rPr dirty="0" spc="-825">
                <a:solidFill>
                  <a:srgbClr val="000000"/>
                </a:solidFill>
              </a:rPr>
              <a:t>t</a:t>
            </a:r>
            <a:r>
              <a:rPr dirty="0" spc="-825"/>
              <a:t>t</a:t>
            </a:r>
            <a:r>
              <a:rPr dirty="0" spc="-825">
                <a:solidFill>
                  <a:srgbClr val="000000"/>
                </a:solidFill>
              </a:rPr>
              <a:t>l</a:t>
            </a:r>
            <a:r>
              <a:rPr dirty="0" spc="-825"/>
              <a:t>l</a:t>
            </a:r>
            <a:r>
              <a:rPr dirty="0" spc="-825">
                <a:solidFill>
                  <a:srgbClr val="000000"/>
                </a:solidFill>
              </a:rPr>
              <a:t>a</a:t>
            </a:r>
            <a:r>
              <a:rPr dirty="0" spc="-825"/>
              <a:t>a</a:t>
            </a:r>
            <a:r>
              <a:rPr dirty="0" spc="-825">
                <a:solidFill>
                  <a:srgbClr val="000000"/>
                </a:solidFill>
              </a:rPr>
              <a:t>v</a:t>
            </a:r>
            <a:r>
              <a:rPr dirty="0" spc="-825"/>
              <a:t>v</a:t>
            </a:r>
            <a:r>
              <a:rPr dirty="0" spc="-825">
                <a:solidFill>
                  <a:srgbClr val="000000"/>
                </a:solidFill>
              </a:rPr>
              <a:t>e</a:t>
            </a:r>
            <a:r>
              <a:rPr dirty="0" spc="-825"/>
              <a:t>e</a:t>
            </a:r>
            <a:r>
              <a:rPr dirty="0" spc="-825">
                <a:solidFill>
                  <a:srgbClr val="000000"/>
                </a:solidFill>
              </a:rPr>
              <a:t>r</a:t>
            </a:r>
            <a:r>
              <a:rPr dirty="0" spc="-825"/>
              <a:t>r</a:t>
            </a:r>
            <a:r>
              <a:rPr dirty="0" spc="-825">
                <a:solidFill>
                  <a:srgbClr val="000000"/>
                </a:solidFill>
              </a:rPr>
              <a:t>s</a:t>
            </a:r>
            <a:r>
              <a:rPr dirty="0" spc="-825"/>
              <a:t>s</a:t>
            </a:r>
            <a:r>
              <a:rPr dirty="0" spc="-825">
                <a:solidFill>
                  <a:srgbClr val="000000"/>
                </a:solidFill>
              </a:rPr>
              <a:t>e</a:t>
            </a:r>
            <a:r>
              <a:rPr dirty="0" spc="-825"/>
              <a:t>e </a:t>
            </a:r>
            <a:r>
              <a:rPr dirty="0" spc="-935">
                <a:solidFill>
                  <a:srgbClr val="000000"/>
                </a:solidFill>
              </a:rPr>
              <a:t>O</a:t>
            </a:r>
            <a:r>
              <a:rPr dirty="0" spc="-935"/>
              <a:t>O</a:t>
            </a:r>
            <a:r>
              <a:rPr dirty="0" spc="-935">
                <a:solidFill>
                  <a:srgbClr val="000000"/>
                </a:solidFill>
              </a:rPr>
              <a:t>p</a:t>
            </a:r>
            <a:r>
              <a:rPr dirty="0" spc="-935"/>
              <a:t>p</a:t>
            </a:r>
            <a:r>
              <a:rPr dirty="0" spc="-935">
                <a:solidFill>
                  <a:srgbClr val="000000"/>
                </a:solidFill>
              </a:rPr>
              <a:t>e</a:t>
            </a:r>
            <a:r>
              <a:rPr dirty="0" spc="-935"/>
              <a:t>e</a:t>
            </a:r>
            <a:r>
              <a:rPr dirty="0" spc="-935">
                <a:solidFill>
                  <a:srgbClr val="000000"/>
                </a:solidFill>
              </a:rPr>
              <a:t>n</a:t>
            </a:r>
            <a:r>
              <a:rPr dirty="0" spc="-935"/>
              <a:t>n</a:t>
            </a:r>
            <a:r>
              <a:rPr dirty="0" spc="-935">
                <a:solidFill>
                  <a:srgbClr val="000000"/>
                </a:solidFill>
              </a:rPr>
              <a:t>-</a:t>
            </a:r>
            <a:r>
              <a:rPr dirty="0" spc="-935"/>
              <a:t>-</a:t>
            </a:r>
            <a:r>
              <a:rPr dirty="0" spc="-935">
                <a:solidFill>
                  <a:srgbClr val="000000"/>
                </a:solidFill>
              </a:rPr>
              <a:t>S</a:t>
            </a:r>
            <a:r>
              <a:rPr dirty="0" spc="-935"/>
              <a:t>S</a:t>
            </a:r>
            <a:r>
              <a:rPr dirty="0" spc="-935">
                <a:solidFill>
                  <a:srgbClr val="000000"/>
                </a:solidFill>
              </a:rPr>
              <a:t>o</a:t>
            </a:r>
            <a:r>
              <a:rPr dirty="0" spc="-935"/>
              <a:t>ou</a:t>
            </a:r>
            <a:r>
              <a:rPr dirty="0" spc="-935">
                <a:solidFill>
                  <a:srgbClr val="000000"/>
                </a:solidFill>
              </a:rPr>
              <a:t>ur</a:t>
            </a:r>
            <a:r>
              <a:rPr dirty="0" spc="-935"/>
              <a:t>r</a:t>
            </a:r>
            <a:r>
              <a:rPr dirty="0" spc="-935">
                <a:solidFill>
                  <a:srgbClr val="000000"/>
                </a:solidFill>
              </a:rPr>
              <a:t>c</a:t>
            </a:r>
            <a:r>
              <a:rPr dirty="0" spc="-935"/>
              <a:t>c</a:t>
            </a:r>
            <a:r>
              <a:rPr dirty="0" spc="-935">
                <a:solidFill>
                  <a:srgbClr val="000000"/>
                </a:solidFill>
              </a:rPr>
              <a:t>e</a:t>
            </a:r>
            <a:r>
              <a:rPr dirty="0" spc="-935"/>
              <a:t>e </a:t>
            </a:r>
            <a:r>
              <a:rPr dirty="0" spc="-869">
                <a:solidFill>
                  <a:srgbClr val="000000"/>
                </a:solidFill>
              </a:rPr>
              <a:t>F</a:t>
            </a:r>
            <a:r>
              <a:rPr dirty="0" spc="-869"/>
              <a:t>F</a:t>
            </a:r>
            <a:r>
              <a:rPr dirty="0" spc="-869">
                <a:solidFill>
                  <a:srgbClr val="000000"/>
                </a:solidFill>
              </a:rPr>
              <a:t>o</a:t>
            </a:r>
            <a:r>
              <a:rPr dirty="0" spc="-869"/>
              <a:t>o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/>
              <a:t>r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c</a:t>
            </a:r>
            <a:r>
              <a:rPr dirty="0" spc="-869"/>
              <a:t>c</a:t>
            </a:r>
            <a:r>
              <a:rPr dirty="0" spc="-869">
                <a:solidFill>
                  <a:srgbClr val="000000"/>
                </a:solidFill>
              </a:rPr>
              <a:t>a</a:t>
            </a:r>
            <a:r>
              <a:rPr dirty="0" spc="-869"/>
              <a:t>a</a:t>
            </a:r>
            <a:r>
              <a:rPr dirty="0" spc="-869">
                <a:solidFill>
                  <a:srgbClr val="000000"/>
                </a:solidFill>
              </a:rPr>
              <a:t>s</a:t>
            </a:r>
            <a:r>
              <a:rPr dirty="0" spc="-869"/>
              <a:t>s</a:t>
            </a:r>
            <a:r>
              <a:rPr dirty="0" spc="-869">
                <a:solidFill>
                  <a:srgbClr val="000000"/>
                </a:solidFill>
              </a:rPr>
              <a:t>t</a:t>
            </a:r>
            <a:r>
              <a:rPr dirty="0" spc="-869"/>
              <a:t>t</a:t>
            </a:r>
            <a:r>
              <a:rPr dirty="0" spc="-869">
                <a:solidFill>
                  <a:srgbClr val="000000"/>
                </a:solidFill>
              </a:rPr>
              <a:t>i</a:t>
            </a:r>
            <a:r>
              <a:rPr dirty="0" spc="-869"/>
              <a:t>i</a:t>
            </a:r>
            <a:r>
              <a:rPr dirty="0" spc="-869">
                <a:solidFill>
                  <a:srgbClr val="000000"/>
                </a:solidFill>
              </a:rPr>
              <a:t>n</a:t>
            </a:r>
            <a:r>
              <a:rPr dirty="0" spc="-869"/>
              <a:t>n</a:t>
            </a:r>
            <a:r>
              <a:rPr dirty="0" spc="-869">
                <a:solidFill>
                  <a:srgbClr val="000000"/>
                </a:solidFill>
              </a:rPr>
              <a:t>g</a:t>
            </a:r>
            <a:r>
              <a:rPr dirty="0" spc="-869"/>
              <a:t>g  </a:t>
            </a:r>
            <a:r>
              <a:rPr dirty="0" spc="-890"/>
              <a:t>L</a:t>
            </a:r>
            <a:r>
              <a:rPr dirty="0" spc="-890">
                <a:solidFill>
                  <a:srgbClr val="000000"/>
                </a:solidFill>
              </a:rPr>
              <a:t>Li</a:t>
            </a:r>
            <a:r>
              <a:rPr dirty="0" spc="-890"/>
              <a:t>i</a:t>
            </a:r>
            <a:r>
              <a:rPr dirty="0" spc="-890">
                <a:solidFill>
                  <a:srgbClr val="000000"/>
                </a:solidFill>
              </a:rPr>
              <a:t>b</a:t>
            </a:r>
            <a:r>
              <a:rPr dirty="0" spc="-890"/>
              <a:t>b</a:t>
            </a:r>
            <a:r>
              <a:rPr dirty="0" spc="-890">
                <a:solidFill>
                  <a:srgbClr val="000000"/>
                </a:solidFill>
              </a:rPr>
              <a:t>r</a:t>
            </a:r>
            <a:r>
              <a:rPr dirty="0" spc="-890"/>
              <a:t>r</a:t>
            </a:r>
            <a:r>
              <a:rPr dirty="0" spc="-890">
                <a:solidFill>
                  <a:srgbClr val="000000"/>
                </a:solidFill>
              </a:rPr>
              <a:t>a</a:t>
            </a:r>
            <a:r>
              <a:rPr dirty="0" spc="-890"/>
              <a:t>a</a:t>
            </a:r>
            <a:r>
              <a:rPr dirty="0" spc="-890">
                <a:solidFill>
                  <a:srgbClr val="000000"/>
                </a:solidFill>
              </a:rPr>
              <a:t>r</a:t>
            </a:r>
            <a:r>
              <a:rPr dirty="0" spc="-890"/>
              <a:t>r</a:t>
            </a:r>
            <a:r>
              <a:rPr dirty="0" spc="-890">
                <a:solidFill>
                  <a:srgbClr val="000000"/>
                </a:solidFill>
              </a:rPr>
              <a:t>i</a:t>
            </a:r>
            <a:r>
              <a:rPr dirty="0" spc="-890"/>
              <a:t>i</a:t>
            </a:r>
            <a:r>
              <a:rPr dirty="0" spc="-890">
                <a:solidFill>
                  <a:srgbClr val="000000"/>
                </a:solidFill>
              </a:rPr>
              <a:t>e</a:t>
            </a:r>
            <a:r>
              <a:rPr dirty="0" spc="-890"/>
              <a:t>es</a:t>
            </a:r>
            <a:r>
              <a:rPr dirty="0" spc="-89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83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>
                <a:solidFill>
                  <a:srgbClr val="C2132D"/>
                </a:solidFill>
              </a:rPr>
              <a:t>Nixtla's </a:t>
            </a:r>
            <a:r>
              <a:rPr dirty="0" sz="3350" spc="5">
                <a:solidFill>
                  <a:srgbClr val="C2132D"/>
                </a:solidFill>
              </a:rPr>
              <a:t>Forecasting</a:t>
            </a:r>
            <a:r>
              <a:rPr dirty="0" sz="3350">
                <a:solidFill>
                  <a:srgbClr val="C2132D"/>
                </a:solidFill>
              </a:rPr>
              <a:t> Libraries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543049" y="1428750"/>
            <a:ext cx="8439150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8983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>
                <a:solidFill>
                  <a:srgbClr val="C2132D"/>
                </a:solidFill>
              </a:rPr>
              <a:t>Nixtla's </a:t>
            </a:r>
            <a:r>
              <a:rPr dirty="0" sz="3350" spc="5">
                <a:solidFill>
                  <a:srgbClr val="C2132D"/>
                </a:solidFill>
              </a:rPr>
              <a:t>Forecasting</a:t>
            </a:r>
            <a:r>
              <a:rPr dirty="0" sz="3350">
                <a:solidFill>
                  <a:srgbClr val="C2132D"/>
                </a:solidFill>
              </a:rPr>
              <a:t> Libraries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335770" cy="383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Nixtla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several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open-source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Python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libraries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(and a closed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source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TimeGPT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tool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accessible via API calls) for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scalable forecasting tasks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libraries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relatively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easy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and can be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integrated into your future forecasting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workflows: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–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&amp; scalable statistical models (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ARIMA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ETS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etc.).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MLForecast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– Machine learning-based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XGBoost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LightGBM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Roboto"/>
              <a:buChar char="•"/>
              <a:tabLst>
                <a:tab pos="393700" algn="l"/>
              </a:tabLst>
            </a:pPr>
            <a:r>
              <a:rPr dirty="0" sz="1800" spc="-10" b="1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NeuralForecast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– Deep learning models for time series (e.g.,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NBEATS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NHITS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TFT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Roboto"/>
              <a:buChar char="•"/>
              <a:tabLst>
                <a:tab pos="393700" algn="l"/>
              </a:tabLst>
            </a:pPr>
            <a:r>
              <a:rPr dirty="0" sz="1800" spc="-5" b="1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UtilsForecast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– Utility functions for plotting,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evaluation,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TimeGPT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– an AI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transformer-powered 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API 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requires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minimal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tuning.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These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libraries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enable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forecasting at scale, which you will need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</a:t>
            </a:r>
            <a:r>
              <a:rPr dirty="0" sz="1800" spc="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practice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176962"/>
            <a:ext cx="8543925" cy="0"/>
          </a:xfrm>
          <a:custGeom>
            <a:avLst/>
            <a:gdLst/>
            <a:ahLst/>
            <a:cxnLst/>
            <a:rect l="l" t="t" r="r" b="b"/>
            <a:pathLst>
              <a:path w="8543925" h="0">
                <a:moveTo>
                  <a:pt x="0" y="0"/>
                </a:moveTo>
                <a:lnTo>
                  <a:pt x="85439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8543925" cy="0"/>
          </a:xfrm>
          <a:custGeom>
            <a:avLst/>
            <a:gdLst/>
            <a:ahLst/>
            <a:cxnLst/>
            <a:rect l="l" t="t" r="r" b="b"/>
            <a:pathLst>
              <a:path w="8543925" h="0">
                <a:moveTo>
                  <a:pt x="0" y="0"/>
                </a:moveTo>
                <a:lnTo>
                  <a:pt x="85439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4488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856869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Note: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These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libraries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can be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installed via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pip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described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in detail in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nixtlaverse.nixtla.io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left-hand navigation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bar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explore 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documentation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each</a:t>
            </a:r>
            <a:r>
              <a:rPr dirty="0" sz="850" spc="-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library.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8192" y="2758440"/>
            <a:ext cx="693420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dirty="0" spc="-869">
                <a:solidFill>
                  <a:srgbClr val="000000"/>
                </a:solidFill>
              </a:rPr>
              <a:t>F</a:t>
            </a:r>
            <a:r>
              <a:rPr dirty="0" spc="-869"/>
              <a:t>F</a:t>
            </a:r>
            <a:r>
              <a:rPr dirty="0" spc="-869">
                <a:solidFill>
                  <a:srgbClr val="000000"/>
                </a:solidFill>
              </a:rPr>
              <a:t>i</a:t>
            </a:r>
            <a:r>
              <a:rPr dirty="0" spc="-869"/>
              <a:t>i</a:t>
            </a:r>
            <a:r>
              <a:rPr dirty="0" spc="-869">
                <a:solidFill>
                  <a:srgbClr val="000000"/>
                </a:solidFill>
              </a:rPr>
              <a:t>x</a:t>
            </a:r>
            <a:r>
              <a:rPr dirty="0" spc="-869"/>
              <a:t>x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d</a:t>
            </a:r>
            <a:r>
              <a:rPr dirty="0" spc="-869"/>
              <a:t>d </a:t>
            </a:r>
            <a:r>
              <a:rPr dirty="0" spc="-1065">
                <a:solidFill>
                  <a:srgbClr val="000000"/>
                </a:solidFill>
              </a:rPr>
              <a:t>W</a:t>
            </a:r>
            <a:r>
              <a:rPr dirty="0" spc="-1065"/>
              <a:t>W</a:t>
            </a:r>
            <a:r>
              <a:rPr dirty="0" spc="-1065">
                <a:solidFill>
                  <a:srgbClr val="000000"/>
                </a:solidFill>
              </a:rPr>
              <a:t>i</a:t>
            </a:r>
            <a:r>
              <a:rPr dirty="0" spc="-1065"/>
              <a:t>i</a:t>
            </a:r>
            <a:r>
              <a:rPr dirty="0" spc="-1065">
                <a:solidFill>
                  <a:srgbClr val="000000"/>
                </a:solidFill>
              </a:rPr>
              <a:t>n</a:t>
            </a:r>
            <a:r>
              <a:rPr dirty="0" spc="-1065"/>
              <a:t>n</a:t>
            </a:r>
            <a:r>
              <a:rPr dirty="0" spc="-1065">
                <a:solidFill>
                  <a:srgbClr val="000000"/>
                </a:solidFill>
              </a:rPr>
              <a:t>d</a:t>
            </a:r>
            <a:r>
              <a:rPr dirty="0" spc="-1065"/>
              <a:t>d</a:t>
            </a:r>
            <a:r>
              <a:rPr dirty="0" spc="-1065">
                <a:solidFill>
                  <a:srgbClr val="000000"/>
                </a:solidFill>
              </a:rPr>
              <a:t>o</a:t>
            </a:r>
            <a:r>
              <a:rPr dirty="0" spc="-1065"/>
              <a:t>o</a:t>
            </a:r>
            <a:r>
              <a:rPr dirty="0" spc="-1065">
                <a:solidFill>
                  <a:srgbClr val="000000"/>
                </a:solidFill>
              </a:rPr>
              <a:t>w</a:t>
            </a:r>
            <a:r>
              <a:rPr dirty="0" spc="-1065"/>
              <a:t>w</a:t>
            </a:r>
            <a:r>
              <a:rPr dirty="0" spc="20"/>
              <a:t> </a:t>
            </a:r>
            <a:r>
              <a:rPr dirty="0" spc="-780">
                <a:solidFill>
                  <a:srgbClr val="000000"/>
                </a:solidFill>
              </a:rPr>
              <a:t>v</a:t>
            </a:r>
            <a:r>
              <a:rPr dirty="0" spc="-780"/>
              <a:t>v</a:t>
            </a:r>
            <a:r>
              <a:rPr dirty="0" spc="-780">
                <a:solidFill>
                  <a:srgbClr val="000000"/>
                </a:solidFill>
              </a:rPr>
              <a:t>s</a:t>
            </a:r>
            <a:r>
              <a:rPr dirty="0" spc="-780"/>
              <a:t>s</a:t>
            </a:r>
            <a:r>
              <a:rPr dirty="0" spc="-780">
                <a:solidFill>
                  <a:srgbClr val="000000"/>
                </a:solidFill>
              </a:rPr>
              <a:t>.</a:t>
            </a:r>
            <a:r>
              <a:rPr dirty="0" spc="-780"/>
              <a:t>.</a:t>
            </a:r>
            <a:r>
              <a:rPr dirty="0" spc="-625"/>
              <a:t> </a:t>
            </a:r>
            <a:r>
              <a:rPr dirty="0" spc="-770">
                <a:solidFill>
                  <a:srgbClr val="000000"/>
                </a:solidFill>
              </a:rPr>
              <a:t>R</a:t>
            </a:r>
            <a:r>
              <a:rPr dirty="0" spc="-770"/>
              <a:t>R</a:t>
            </a:r>
            <a:r>
              <a:rPr dirty="0" spc="-770">
                <a:solidFill>
                  <a:srgbClr val="000000"/>
                </a:solidFill>
              </a:rPr>
              <a:t>o</a:t>
            </a:r>
            <a:r>
              <a:rPr dirty="0" spc="-770"/>
              <a:t>o</a:t>
            </a:r>
            <a:r>
              <a:rPr dirty="0" spc="-770">
                <a:solidFill>
                  <a:srgbClr val="000000"/>
                </a:solidFill>
              </a:rPr>
              <a:t>l</a:t>
            </a:r>
            <a:r>
              <a:rPr dirty="0" spc="-770"/>
              <a:t>l</a:t>
            </a:r>
            <a:r>
              <a:rPr dirty="0" spc="-770">
                <a:solidFill>
                  <a:srgbClr val="000000"/>
                </a:solidFill>
              </a:rPr>
              <a:t>l</a:t>
            </a:r>
            <a:r>
              <a:rPr dirty="0" spc="-770"/>
              <a:t>l</a:t>
            </a:r>
            <a:r>
              <a:rPr dirty="0" spc="-770">
                <a:solidFill>
                  <a:srgbClr val="000000"/>
                </a:solidFill>
              </a:rPr>
              <a:t>i</a:t>
            </a:r>
            <a:r>
              <a:rPr dirty="0" spc="-770"/>
              <a:t>i</a:t>
            </a:r>
            <a:r>
              <a:rPr dirty="0" spc="-770">
                <a:solidFill>
                  <a:srgbClr val="000000"/>
                </a:solidFill>
              </a:rPr>
              <a:t>n</a:t>
            </a:r>
            <a:r>
              <a:rPr dirty="0" spc="-770"/>
              <a:t>n</a:t>
            </a:r>
            <a:r>
              <a:rPr dirty="0" spc="-770">
                <a:solidFill>
                  <a:srgbClr val="000000"/>
                </a:solidFill>
              </a:rPr>
              <a:t>g</a:t>
            </a:r>
            <a:r>
              <a:rPr dirty="0" spc="-770"/>
              <a:t>g</a:t>
            </a:r>
            <a:r>
              <a:rPr dirty="0" spc="-770">
                <a:solidFill>
                  <a:srgbClr val="000000"/>
                </a:solidFill>
              </a:rPr>
              <a:t>-</a:t>
            </a:r>
            <a:r>
              <a:rPr dirty="0" spc="-770"/>
              <a:t>-</a:t>
            </a:r>
            <a:r>
              <a:rPr dirty="0" spc="-770">
                <a:solidFill>
                  <a:srgbClr val="000000"/>
                </a:solidFill>
              </a:rPr>
              <a:t>O</a:t>
            </a:r>
            <a:r>
              <a:rPr dirty="0" spc="-770"/>
              <a:t>O</a:t>
            </a:r>
            <a:r>
              <a:rPr dirty="0" spc="-770">
                <a:solidFill>
                  <a:srgbClr val="000000"/>
                </a:solidFill>
              </a:rPr>
              <a:t>r</a:t>
            </a:r>
            <a:r>
              <a:rPr dirty="0" spc="-770"/>
              <a:t>r</a:t>
            </a:r>
            <a:r>
              <a:rPr dirty="0" spc="-770">
                <a:solidFill>
                  <a:srgbClr val="000000"/>
                </a:solidFill>
              </a:rPr>
              <a:t>i</a:t>
            </a:r>
            <a:r>
              <a:rPr dirty="0" spc="-770"/>
              <a:t>i</a:t>
            </a:r>
            <a:r>
              <a:rPr dirty="0" spc="-770">
                <a:solidFill>
                  <a:srgbClr val="000000"/>
                </a:solidFill>
              </a:rPr>
              <a:t>g</a:t>
            </a:r>
            <a:r>
              <a:rPr dirty="0" spc="-770"/>
              <a:t>g</a:t>
            </a:r>
            <a:r>
              <a:rPr dirty="0" spc="-770">
                <a:solidFill>
                  <a:srgbClr val="000000"/>
                </a:solidFill>
              </a:rPr>
              <a:t>i</a:t>
            </a:r>
            <a:r>
              <a:rPr dirty="0" spc="-770"/>
              <a:t>i</a:t>
            </a:r>
            <a:r>
              <a:rPr dirty="0" spc="-770">
                <a:solidFill>
                  <a:srgbClr val="000000"/>
                </a:solidFill>
              </a:rPr>
              <a:t>n</a:t>
            </a:r>
            <a:r>
              <a:rPr dirty="0" spc="-770"/>
              <a:t>n</a:t>
            </a:r>
          </a:p>
        </p:txBody>
      </p:sp>
      <p:sp>
        <p:nvSpPr>
          <p:cNvPr id="3" name="object 3"/>
          <p:cNvSpPr/>
          <p:nvPr/>
        </p:nvSpPr>
        <p:spPr>
          <a:xfrm>
            <a:off x="10719815" y="5995415"/>
            <a:ext cx="805815" cy="491490"/>
          </a:xfrm>
          <a:custGeom>
            <a:avLst/>
            <a:gdLst/>
            <a:ahLst/>
            <a:cxnLst/>
            <a:rect l="l" t="t" r="r" b="b"/>
            <a:pathLst>
              <a:path w="805815" h="491489">
                <a:moveTo>
                  <a:pt x="0" y="0"/>
                </a:moveTo>
                <a:lnTo>
                  <a:pt x="805433" y="0"/>
                </a:lnTo>
                <a:lnTo>
                  <a:pt x="805433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6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6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66495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The </a:t>
            </a:r>
            <a:r>
              <a:rPr dirty="0" sz="3350">
                <a:solidFill>
                  <a:srgbClr val="C2132D"/>
                </a:solidFill>
              </a:rPr>
              <a:t>Fixed </a:t>
            </a:r>
            <a:r>
              <a:rPr dirty="0" sz="3350" spc="10">
                <a:solidFill>
                  <a:srgbClr val="C2132D"/>
                </a:solidFill>
              </a:rPr>
              <a:t>Window </a:t>
            </a:r>
            <a:r>
              <a:rPr dirty="0" sz="3350">
                <a:solidFill>
                  <a:srgbClr val="C2132D"/>
                </a:solidFill>
              </a:rPr>
              <a:t>Evaluation</a:t>
            </a:r>
            <a:r>
              <a:rPr dirty="0" sz="3350" spc="1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Approach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21495" cy="455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9652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Fixed Window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simplest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splitting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 series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training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 a testing/holdout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set.</a:t>
            </a:r>
            <a:endParaRPr sz="1800">
              <a:latin typeface="Roboto"/>
              <a:cs typeface="Roboto"/>
            </a:endParaRPr>
          </a:p>
          <a:p>
            <a:pPr marL="146050" marR="48768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goal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train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your model 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training set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evaluate its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performance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 testing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(the last </a:t>
            </a: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k</a:t>
            </a:r>
            <a:r>
              <a:rPr dirty="0" sz="1700" spc="-590" b="1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observations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527050" marR="12065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latin typeface="Roboto"/>
                <a:cs typeface="Roboto"/>
              </a:rPr>
              <a:t>Note </a:t>
            </a:r>
            <a:r>
              <a:rPr dirty="0" sz="1800" b="1">
                <a:latin typeface="Roboto"/>
                <a:cs typeface="Roboto"/>
              </a:rPr>
              <a:t>that this </a:t>
            </a:r>
            <a:r>
              <a:rPr dirty="0" sz="1800" spc="-5" b="1">
                <a:latin typeface="Roboto"/>
                <a:cs typeface="Roboto"/>
              </a:rPr>
              <a:t>is quite </a:t>
            </a:r>
            <a:r>
              <a:rPr dirty="0" sz="1800" spc="-10" b="1">
                <a:latin typeface="Roboto"/>
                <a:cs typeface="Roboto"/>
              </a:rPr>
              <a:t>different </a:t>
            </a:r>
            <a:r>
              <a:rPr dirty="0" sz="1800" b="1">
                <a:latin typeface="Roboto"/>
                <a:cs typeface="Roboto"/>
              </a:rPr>
              <a:t>than </a:t>
            </a:r>
            <a:r>
              <a:rPr dirty="0" sz="1800" spc="-5" b="1">
                <a:latin typeface="Roboto"/>
                <a:cs typeface="Roboto"/>
              </a:rPr>
              <a:t>traditional machine </a:t>
            </a:r>
            <a:r>
              <a:rPr dirty="0" sz="1800" b="1">
                <a:latin typeface="Roboto"/>
                <a:cs typeface="Roboto"/>
              </a:rPr>
              <a:t>learning </a:t>
            </a:r>
            <a:r>
              <a:rPr dirty="0" sz="1800" spc="-5" b="1">
                <a:latin typeface="Roboto"/>
                <a:cs typeface="Roboto"/>
              </a:rPr>
              <a:t>applications </a:t>
            </a:r>
            <a:r>
              <a:rPr dirty="0" sz="1800" b="1">
                <a:latin typeface="Roboto"/>
                <a:cs typeface="Roboto"/>
              </a:rPr>
              <a:t>for </a:t>
            </a:r>
            <a:r>
              <a:rPr dirty="0" sz="1800" spc="-10" b="1">
                <a:latin typeface="Roboto"/>
                <a:cs typeface="Roboto"/>
              </a:rPr>
              <a:t>cross  </a:t>
            </a:r>
            <a:r>
              <a:rPr dirty="0" sz="1800" spc="-5" b="1">
                <a:latin typeface="Roboto"/>
                <a:cs typeface="Roboto"/>
              </a:rPr>
              <a:t>sectional</a:t>
            </a:r>
            <a:r>
              <a:rPr dirty="0" sz="1800" spc="-10" b="1">
                <a:latin typeface="Roboto"/>
                <a:cs typeface="Roboto"/>
              </a:rPr>
              <a:t> </a:t>
            </a:r>
            <a:r>
              <a:rPr dirty="0" sz="1800" spc="-5" b="1">
                <a:latin typeface="Roboto"/>
                <a:cs typeface="Roboto"/>
              </a:rPr>
              <a:t>data.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evaluation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testing/holdout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 can serve two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purposes:</a:t>
            </a:r>
            <a:endParaRPr sz="1800">
              <a:latin typeface="Roboto"/>
              <a:cs typeface="Roboto"/>
            </a:endParaRPr>
          </a:p>
          <a:p>
            <a:pPr lvl="1" marL="527050" marR="5080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 Evaluation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Assess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model's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performance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unseen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(since it is not used  during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training,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hence acts as a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proxy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model's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performance 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data).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 Selection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Compare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performance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different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select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best</a:t>
            </a:r>
            <a:r>
              <a:rPr dirty="0" sz="1800" spc="1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one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2" marL="908050" marR="225425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908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 that using 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model selection 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reasonable if your models do 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involve hyperparameter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tuning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(otherwise,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may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overfit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testing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set).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66495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The </a:t>
            </a:r>
            <a:r>
              <a:rPr dirty="0" sz="3350">
                <a:solidFill>
                  <a:srgbClr val="C2132D"/>
                </a:solidFill>
              </a:rPr>
              <a:t>Fixed </a:t>
            </a:r>
            <a:r>
              <a:rPr dirty="0" sz="3350" spc="10">
                <a:solidFill>
                  <a:srgbClr val="C2132D"/>
                </a:solidFill>
              </a:rPr>
              <a:t>Window </a:t>
            </a:r>
            <a:r>
              <a:rPr dirty="0" sz="3350">
                <a:solidFill>
                  <a:srgbClr val="C2132D"/>
                </a:solidFill>
              </a:rPr>
              <a:t>Evaluation</a:t>
            </a:r>
            <a:r>
              <a:rPr dirty="0" sz="3350" spc="1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Approach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295075" y="1784286"/>
            <a:ext cx="8917142" cy="4061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8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5925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The Rolling-Origin </a:t>
            </a:r>
            <a:r>
              <a:rPr dirty="0" sz="3350">
                <a:solidFill>
                  <a:srgbClr val="C2132D"/>
                </a:solidFill>
              </a:rPr>
              <a:t>Evaluation</a:t>
            </a:r>
            <a:r>
              <a:rPr dirty="0" sz="3350" spc="-2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Approach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319260" cy="3806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Rolling-Origin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Evaluation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method for splitting time series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training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testing  sets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testing sets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move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forward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goal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train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model on a subset of past observations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evaluate</a:t>
            </a:r>
            <a:r>
              <a:rPr dirty="0" sz="1800" spc="5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its</a:t>
            </a:r>
            <a:endParaRPr sz="1800">
              <a:latin typeface="Roboto"/>
              <a:cs typeface="Roboto"/>
            </a:endParaRPr>
          </a:p>
          <a:p>
            <a:pPr marL="146050">
              <a:lnSpc>
                <a:spcPct val="100000"/>
              </a:lnSpc>
              <a:spcBef>
                <a:spcPts val="315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performance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on a future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testing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at multiple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steps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41592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difference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fixed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window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that 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testing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shifts forward,  allowing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multiple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evaluations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training set may expand (expanding window)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remain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fixed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(rolling</a:t>
            </a:r>
            <a:r>
              <a:rPr dirty="0" sz="1800" spc="5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window)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ensures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model performance is assessed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across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different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points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</a:t>
            </a:r>
            <a:r>
              <a:rPr dirty="0" sz="1800" spc="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time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527050" marR="7366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reduces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sensitivity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initial split point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provides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robust evaluation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 model performance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9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3393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Expanding Window </a:t>
            </a:r>
            <a:r>
              <a:rPr dirty="0" sz="3350">
                <a:solidFill>
                  <a:srgbClr val="C2132D"/>
                </a:solidFill>
              </a:rPr>
              <a:t>Evaluation </a:t>
            </a:r>
            <a:r>
              <a:rPr dirty="0" sz="3350" spc="10">
                <a:solidFill>
                  <a:srgbClr val="C2132D"/>
                </a:solidFill>
              </a:rPr>
              <a:t>(By 1</a:t>
            </a:r>
            <a:r>
              <a:rPr dirty="0" sz="3350" spc="-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Month)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172971" y="1428750"/>
            <a:ext cx="8489780" cy="4751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10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5514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Expanding Window </a:t>
            </a:r>
            <a:r>
              <a:rPr dirty="0" sz="3350">
                <a:solidFill>
                  <a:srgbClr val="C2132D"/>
                </a:solidFill>
              </a:rPr>
              <a:t>Evaluation </a:t>
            </a:r>
            <a:r>
              <a:rPr dirty="0" sz="3350" spc="10">
                <a:solidFill>
                  <a:srgbClr val="C2132D"/>
                </a:solidFill>
              </a:rPr>
              <a:t>(By 12</a:t>
            </a:r>
            <a:r>
              <a:rPr dirty="0" sz="3350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Month)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172971" y="1428750"/>
            <a:ext cx="8489780" cy="4751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11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1183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Rolling Non-Expanding Window</a:t>
            </a:r>
            <a:r>
              <a:rPr dirty="0" sz="3350" spc="-10">
                <a:solidFill>
                  <a:srgbClr val="C2132D"/>
                </a:solidFill>
              </a:rPr>
              <a:t> </a:t>
            </a:r>
            <a:r>
              <a:rPr dirty="0" sz="3350">
                <a:solidFill>
                  <a:srgbClr val="C2132D"/>
                </a:solidFill>
              </a:rPr>
              <a:t>Evaluation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172971" y="1428750"/>
            <a:ext cx="8489780" cy="4751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12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5328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Cross </a:t>
            </a:r>
            <a:r>
              <a:rPr dirty="0" sz="3350">
                <a:solidFill>
                  <a:srgbClr val="C2132D"/>
                </a:solidFill>
              </a:rPr>
              <a:t>Validation </a:t>
            </a:r>
            <a:r>
              <a:rPr dirty="0" sz="3350" spc="10">
                <a:solidFill>
                  <a:srgbClr val="C2132D"/>
                </a:solidFill>
              </a:rPr>
              <a:t>within the</a:t>
            </a:r>
            <a:r>
              <a:rPr dirty="0" sz="3350" spc="-3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Nixtlaverse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2898614" y="1428749"/>
            <a:ext cx="5833071" cy="4486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8936355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Note: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cross_validation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method can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also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applied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other NixtlaForecast objects (e.g.,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MLForecast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700">
                <a:solidFill>
                  <a:srgbClr val="C2132D"/>
                </a:solidFill>
                <a:latin typeface="Courier New"/>
                <a:cs typeface="Courier New"/>
              </a:rPr>
              <a:t>NeuralForecast</a:t>
            </a:r>
            <a:r>
              <a:rPr dirty="0" sz="850">
                <a:solidFill>
                  <a:srgbClr val="585D60"/>
                </a:solidFill>
                <a:latin typeface="Roboto"/>
                <a:cs typeface="Roboto"/>
              </a:rPr>
              <a:t>)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perform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cross-validation for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machine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learning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deep 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learning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models. See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StatsForecast Cross Validation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Tutorial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access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page shown</a:t>
            </a:r>
            <a:r>
              <a:rPr dirty="0" sz="85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above.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13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961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Activity: </a:t>
            </a:r>
            <a:r>
              <a:rPr dirty="0" sz="3350" spc="10">
                <a:solidFill>
                  <a:srgbClr val="C2132D"/>
                </a:solidFill>
              </a:rPr>
              <a:t>The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cross_validation</a:t>
            </a:r>
            <a:r>
              <a:rPr dirty="0" sz="3200" spc="-120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Method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8932" y="1558429"/>
            <a:ext cx="6657975" cy="4133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50" spc="55">
                <a:solidFill>
                  <a:srgbClr val="FF403C"/>
                </a:solidFill>
                <a:latin typeface="Calibri"/>
                <a:cs typeface="Calibri"/>
              </a:rPr>
              <a:t>ross_validation</a:t>
            </a:r>
            <a:r>
              <a:rPr dirty="0" sz="2550" spc="-80">
                <a:solidFill>
                  <a:srgbClr val="FF403C"/>
                </a:solidFill>
                <a:latin typeface="Calibri"/>
                <a:cs typeface="Calibri"/>
              </a:rPr>
              <a:t> </a:t>
            </a:r>
            <a:r>
              <a:rPr dirty="0" sz="2550" spc="80">
                <a:solidFill>
                  <a:srgbClr val="161617"/>
                </a:solidFill>
                <a:latin typeface="Calibri"/>
                <a:cs typeface="Calibri"/>
              </a:rPr>
              <a:t>method</a:t>
            </a:r>
            <a:r>
              <a:rPr dirty="0" sz="2550" spc="-80">
                <a:solidFill>
                  <a:srgbClr val="161617"/>
                </a:solidFill>
                <a:latin typeface="Calibri"/>
                <a:cs typeface="Calibri"/>
              </a:rPr>
              <a:t> </a:t>
            </a:r>
            <a:r>
              <a:rPr dirty="0" sz="2550" spc="20">
                <a:solidFill>
                  <a:srgbClr val="161617"/>
                </a:solidFill>
                <a:latin typeface="Calibri"/>
                <a:cs typeface="Calibri"/>
              </a:rPr>
              <a:t>from</a:t>
            </a:r>
            <a:r>
              <a:rPr dirty="0" sz="2550" spc="-75">
                <a:solidFill>
                  <a:srgbClr val="161617"/>
                </a:solidFill>
                <a:latin typeface="Calibri"/>
                <a:cs typeface="Calibri"/>
              </a:rPr>
              <a:t> </a:t>
            </a:r>
            <a:r>
              <a:rPr dirty="0" sz="2550" spc="90">
                <a:solidFill>
                  <a:srgbClr val="161617"/>
                </a:solidFill>
                <a:latin typeface="Calibri"/>
                <a:cs typeface="Calibri"/>
              </a:rPr>
              <a:t>Nixtla</a:t>
            </a:r>
            <a:r>
              <a:rPr dirty="0" sz="2550" spc="-80">
                <a:solidFill>
                  <a:srgbClr val="161617"/>
                </a:solidFill>
                <a:latin typeface="Calibri"/>
                <a:cs typeface="Calibri"/>
              </a:rPr>
              <a:t> </a:t>
            </a:r>
            <a:r>
              <a:rPr dirty="0" sz="2550" spc="20">
                <a:solidFill>
                  <a:srgbClr val="161617"/>
                </a:solidFill>
                <a:latin typeface="Calibri"/>
                <a:cs typeface="Calibri"/>
              </a:rPr>
              <a:t>implements: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399" y="5242649"/>
            <a:ext cx="2364105" cy="0"/>
          </a:xfrm>
          <a:custGeom>
            <a:avLst/>
            <a:gdLst/>
            <a:ahLst/>
            <a:cxnLst/>
            <a:rect l="l" t="t" r="r" b="b"/>
            <a:pathLst>
              <a:path w="2364104" h="0">
                <a:moveTo>
                  <a:pt x="0" y="0"/>
                </a:moveTo>
                <a:lnTo>
                  <a:pt x="2364073" y="0"/>
                </a:lnTo>
              </a:path>
            </a:pathLst>
          </a:custGeom>
          <a:ln w="40401">
            <a:solidFill>
              <a:srgbClr val="5769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63002" y="5242649"/>
            <a:ext cx="2451735" cy="0"/>
          </a:xfrm>
          <a:custGeom>
            <a:avLst/>
            <a:gdLst/>
            <a:ahLst/>
            <a:cxnLst/>
            <a:rect l="l" t="t" r="r" b="b"/>
            <a:pathLst>
              <a:path w="2451735" h="0">
                <a:moveTo>
                  <a:pt x="0" y="0"/>
                </a:moveTo>
                <a:lnTo>
                  <a:pt x="2451333" y="0"/>
                </a:lnTo>
              </a:path>
            </a:pathLst>
          </a:custGeom>
          <a:ln w="40401">
            <a:solidFill>
              <a:srgbClr val="FF737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98863" y="5242649"/>
            <a:ext cx="2451735" cy="0"/>
          </a:xfrm>
          <a:custGeom>
            <a:avLst/>
            <a:gdLst/>
            <a:ahLst/>
            <a:cxnLst/>
            <a:rect l="l" t="t" r="r" b="b"/>
            <a:pathLst>
              <a:path w="2451734" h="0">
                <a:moveTo>
                  <a:pt x="0" y="0"/>
                </a:moveTo>
                <a:lnTo>
                  <a:pt x="2451332" y="0"/>
                </a:lnTo>
              </a:path>
            </a:pathLst>
          </a:custGeom>
          <a:ln w="40401">
            <a:solidFill>
              <a:srgbClr val="323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5215" y="4825930"/>
            <a:ext cx="168910" cy="316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165">
                <a:solidFill>
                  <a:srgbClr val="161617"/>
                </a:solidFill>
                <a:latin typeface="Calibri"/>
                <a:cs typeface="Calibri"/>
              </a:rPr>
              <a:t>0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1064" y="4825930"/>
            <a:ext cx="168910" cy="316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165">
                <a:solidFill>
                  <a:srgbClr val="161617"/>
                </a:solidFill>
                <a:latin typeface="Calibri"/>
                <a:cs typeface="Calibri"/>
              </a:rPr>
              <a:t>0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6913" y="4825930"/>
            <a:ext cx="168910" cy="316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165">
                <a:solidFill>
                  <a:srgbClr val="161617"/>
                </a:solidFill>
                <a:latin typeface="Calibri"/>
                <a:cs typeface="Calibri"/>
              </a:rPr>
              <a:t>0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488" y="5361255"/>
            <a:ext cx="169735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50">
                <a:solidFill>
                  <a:srgbClr val="161617"/>
                </a:solidFill>
                <a:latin typeface="Calibri"/>
                <a:cs typeface="Calibri"/>
              </a:rPr>
              <a:t>ixed </a:t>
            </a:r>
            <a:r>
              <a:rPr dirty="0" sz="1250" spc="35">
                <a:solidFill>
                  <a:srgbClr val="161617"/>
                </a:solidFill>
                <a:latin typeface="Calibri"/>
                <a:cs typeface="Calibri"/>
              </a:rPr>
              <a:t>Window</a:t>
            </a:r>
            <a:r>
              <a:rPr dirty="0" sz="1250" spc="-185">
                <a:solidFill>
                  <a:srgbClr val="161617"/>
                </a:solidFill>
                <a:latin typeface="Calibri"/>
                <a:cs typeface="Calibri"/>
              </a:rPr>
              <a:t> </a:t>
            </a:r>
            <a:r>
              <a:rPr dirty="0" sz="1250" spc="50">
                <a:solidFill>
                  <a:srgbClr val="161617"/>
                </a:solidFill>
                <a:latin typeface="Calibri"/>
                <a:cs typeface="Calibri"/>
              </a:rPr>
              <a:t>Evaluation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0261" y="5361255"/>
            <a:ext cx="188658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80">
                <a:solidFill>
                  <a:srgbClr val="161617"/>
                </a:solidFill>
                <a:latin typeface="Calibri"/>
                <a:cs typeface="Calibri"/>
              </a:rPr>
              <a:t>Expanding</a:t>
            </a:r>
            <a:r>
              <a:rPr dirty="0" sz="1250" spc="-185">
                <a:solidFill>
                  <a:srgbClr val="161617"/>
                </a:solidFill>
                <a:latin typeface="Calibri"/>
                <a:cs typeface="Calibri"/>
              </a:rPr>
              <a:t> </a:t>
            </a:r>
            <a:r>
              <a:rPr dirty="0" sz="1250" spc="35">
                <a:solidFill>
                  <a:srgbClr val="161617"/>
                </a:solidFill>
                <a:latin typeface="Calibri"/>
                <a:cs typeface="Calibri"/>
              </a:rPr>
              <a:t>Rolling Window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6110" y="5361255"/>
            <a:ext cx="223329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70">
                <a:solidFill>
                  <a:srgbClr val="161617"/>
                </a:solidFill>
                <a:latin typeface="Calibri"/>
                <a:cs typeface="Calibri"/>
              </a:rPr>
              <a:t>Non-Expanding </a:t>
            </a:r>
            <a:r>
              <a:rPr dirty="0" sz="1250" spc="35">
                <a:solidFill>
                  <a:srgbClr val="161617"/>
                </a:solidFill>
                <a:latin typeface="Calibri"/>
                <a:cs typeface="Calibri"/>
              </a:rPr>
              <a:t>Rolling</a:t>
            </a:r>
            <a:r>
              <a:rPr dirty="0" sz="1250" spc="-195">
                <a:solidFill>
                  <a:srgbClr val="161617"/>
                </a:solidFill>
                <a:latin typeface="Calibri"/>
                <a:cs typeface="Calibri"/>
              </a:rPr>
              <a:t> </a:t>
            </a:r>
            <a:r>
              <a:rPr dirty="0" sz="1250" spc="35">
                <a:solidFill>
                  <a:srgbClr val="161617"/>
                </a:solidFill>
                <a:latin typeface="Calibri"/>
                <a:cs typeface="Calibri"/>
              </a:rPr>
              <a:t>Window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80363" y="6084472"/>
            <a:ext cx="101510" cy="94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32325" y="6080981"/>
            <a:ext cx="83912" cy="1010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737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Recap of </a:t>
            </a:r>
            <a:r>
              <a:rPr dirty="0" sz="3350">
                <a:solidFill>
                  <a:srgbClr val="C2132D"/>
                </a:solidFill>
              </a:rPr>
              <a:t>Fixed </a:t>
            </a:r>
            <a:r>
              <a:rPr dirty="0" sz="3350" spc="10">
                <a:solidFill>
                  <a:srgbClr val="C2132D"/>
                </a:solidFill>
              </a:rPr>
              <a:t>vs.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Rolling-Origin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7108190" cy="421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Fixed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Window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Simplest approach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splitting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 training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testing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sets.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Testing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is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fixed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not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move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forward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Provides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single evaluation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model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Rolling-Origin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Testing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moves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forward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Training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set may expand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remain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fixed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Provides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multiple evaluations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model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Reduces sensitivity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initial split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point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More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robust evaluation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model performance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time.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737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Recap of </a:t>
            </a:r>
            <a:r>
              <a:rPr dirty="0" sz="3350">
                <a:solidFill>
                  <a:srgbClr val="C2132D"/>
                </a:solidFill>
              </a:rPr>
              <a:t>Fixed </a:t>
            </a:r>
            <a:r>
              <a:rPr dirty="0" sz="3350" spc="10">
                <a:solidFill>
                  <a:srgbClr val="C2132D"/>
                </a:solidFill>
              </a:rPr>
              <a:t>vs.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Rolling-Origin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9417685" cy="1978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practice,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rolling-origin approach is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preferred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time series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tasks since it  mimics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real-world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scenario 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future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points. The choice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Expanding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vs. Rolling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Window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Window Size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527685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Step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depends on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specific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task and the data at hand.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920" y="2773680"/>
            <a:ext cx="5965190" cy="1027430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985"/>
              </a:spcBef>
            </a:pPr>
            <a:r>
              <a:rPr dirty="0" spc="-885">
                <a:solidFill>
                  <a:srgbClr val="000000"/>
                </a:solidFill>
              </a:rPr>
              <a:t>F</a:t>
            </a:r>
            <a:r>
              <a:rPr dirty="0" spc="-885"/>
              <a:t>F</a:t>
            </a:r>
            <a:r>
              <a:rPr dirty="0" spc="-885">
                <a:solidFill>
                  <a:srgbClr val="000000"/>
                </a:solidFill>
              </a:rPr>
              <a:t>o</a:t>
            </a:r>
            <a:r>
              <a:rPr dirty="0" spc="-885"/>
              <a:t>o</a:t>
            </a:r>
            <a:r>
              <a:rPr dirty="0" spc="-885">
                <a:solidFill>
                  <a:srgbClr val="000000"/>
                </a:solidFill>
              </a:rPr>
              <a:t>r</a:t>
            </a:r>
            <a:r>
              <a:rPr dirty="0" spc="-885"/>
              <a:t>r</a:t>
            </a:r>
            <a:r>
              <a:rPr dirty="0" spc="-885">
                <a:solidFill>
                  <a:srgbClr val="000000"/>
                </a:solidFill>
              </a:rPr>
              <a:t>e</a:t>
            </a:r>
            <a:r>
              <a:rPr dirty="0" spc="-885"/>
              <a:t>e</a:t>
            </a:r>
            <a:r>
              <a:rPr dirty="0" spc="-885">
                <a:solidFill>
                  <a:srgbClr val="000000"/>
                </a:solidFill>
              </a:rPr>
              <a:t>c</a:t>
            </a:r>
            <a:r>
              <a:rPr dirty="0" spc="-885"/>
              <a:t>c</a:t>
            </a:r>
            <a:r>
              <a:rPr dirty="0" spc="-885">
                <a:solidFill>
                  <a:srgbClr val="000000"/>
                </a:solidFill>
              </a:rPr>
              <a:t>a</a:t>
            </a:r>
            <a:r>
              <a:rPr dirty="0" spc="-885"/>
              <a:t>a</a:t>
            </a:r>
            <a:r>
              <a:rPr dirty="0" spc="-885">
                <a:solidFill>
                  <a:srgbClr val="000000"/>
                </a:solidFill>
              </a:rPr>
              <a:t>s</a:t>
            </a:r>
            <a:r>
              <a:rPr dirty="0" spc="-885"/>
              <a:t>s</a:t>
            </a:r>
            <a:r>
              <a:rPr dirty="0" spc="-885">
                <a:solidFill>
                  <a:srgbClr val="000000"/>
                </a:solidFill>
              </a:rPr>
              <a:t>t</a:t>
            </a:r>
            <a:r>
              <a:rPr dirty="0" spc="-885"/>
              <a:t>t 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/>
              <a:t>A</a:t>
            </a:r>
            <a:r>
              <a:rPr dirty="0" spc="-935">
                <a:solidFill>
                  <a:srgbClr val="000000"/>
                </a:solidFill>
              </a:rPr>
              <a:t>c</a:t>
            </a:r>
            <a:r>
              <a:rPr dirty="0" spc="-935"/>
              <a:t>c</a:t>
            </a:r>
            <a:r>
              <a:rPr dirty="0" spc="-935">
                <a:solidFill>
                  <a:srgbClr val="000000"/>
                </a:solidFill>
              </a:rPr>
              <a:t>c</a:t>
            </a:r>
            <a:r>
              <a:rPr dirty="0" spc="-935"/>
              <a:t>c</a:t>
            </a:r>
            <a:r>
              <a:rPr dirty="0" spc="-935">
                <a:solidFill>
                  <a:srgbClr val="000000"/>
                </a:solidFill>
              </a:rPr>
              <a:t>u</a:t>
            </a:r>
            <a:r>
              <a:rPr dirty="0" spc="-935"/>
              <a:t>u</a:t>
            </a:r>
            <a:r>
              <a:rPr dirty="0" spc="-935">
                <a:solidFill>
                  <a:srgbClr val="000000"/>
                </a:solidFill>
              </a:rPr>
              <a:t>r</a:t>
            </a:r>
            <a:r>
              <a:rPr dirty="0" spc="-935"/>
              <a:t>r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/>
              <a:t>a</a:t>
            </a:r>
            <a:r>
              <a:rPr dirty="0" spc="-935">
                <a:solidFill>
                  <a:srgbClr val="000000"/>
                </a:solidFill>
              </a:rPr>
              <a:t>c</a:t>
            </a:r>
            <a:r>
              <a:rPr dirty="0" spc="-935"/>
              <a:t>c</a:t>
            </a:r>
            <a:r>
              <a:rPr dirty="0" spc="-935">
                <a:solidFill>
                  <a:srgbClr val="000000"/>
                </a:solidFill>
              </a:rPr>
              <a:t>y</a:t>
            </a:r>
            <a:r>
              <a:rPr dirty="0" spc="-935"/>
              <a:t>y </a:t>
            </a:r>
            <a:r>
              <a:rPr dirty="0" spc="-869">
                <a:solidFill>
                  <a:srgbClr val="000000"/>
                </a:solidFill>
              </a:rPr>
              <a:t>M</a:t>
            </a:r>
            <a:r>
              <a:rPr dirty="0" spc="-869"/>
              <a:t>M</a:t>
            </a:r>
            <a:r>
              <a:rPr dirty="0" spc="-869">
                <a:solidFill>
                  <a:srgbClr val="000000"/>
                </a:solidFill>
              </a:rPr>
              <a:t>e</a:t>
            </a:r>
            <a:r>
              <a:rPr dirty="0" spc="-869"/>
              <a:t>e</a:t>
            </a:r>
            <a:r>
              <a:rPr dirty="0" spc="-869">
                <a:solidFill>
                  <a:srgbClr val="000000"/>
                </a:solidFill>
              </a:rPr>
              <a:t>t</a:t>
            </a:r>
            <a:r>
              <a:rPr dirty="0" spc="-869"/>
              <a:t>t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/>
              <a:t>r</a:t>
            </a:r>
            <a:r>
              <a:rPr dirty="0" spc="-869">
                <a:solidFill>
                  <a:srgbClr val="000000"/>
                </a:solidFill>
              </a:rPr>
              <a:t>i</a:t>
            </a:r>
            <a:r>
              <a:rPr dirty="0" spc="-869"/>
              <a:t>i</a:t>
            </a:r>
            <a:r>
              <a:rPr dirty="0" spc="-869">
                <a:solidFill>
                  <a:srgbClr val="000000"/>
                </a:solidFill>
              </a:rPr>
              <a:t>c</a:t>
            </a:r>
            <a:r>
              <a:rPr dirty="0" spc="-869"/>
              <a:t>c</a:t>
            </a:r>
            <a:r>
              <a:rPr dirty="0" spc="-869">
                <a:solidFill>
                  <a:srgbClr val="000000"/>
                </a:solidFill>
              </a:rPr>
              <a:t>s</a:t>
            </a:r>
            <a:r>
              <a:rPr dirty="0" spc="-869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234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Model Performance </a:t>
            </a:r>
            <a:r>
              <a:rPr dirty="0" sz="3350">
                <a:solidFill>
                  <a:srgbClr val="C2132D"/>
                </a:solidFill>
              </a:rPr>
              <a:t>Evaluation </a:t>
            </a:r>
            <a:r>
              <a:rPr dirty="0" sz="3350" spc="10">
                <a:solidFill>
                  <a:srgbClr val="C2132D"/>
                </a:solidFill>
              </a:rPr>
              <a:t>in the</a:t>
            </a:r>
            <a:r>
              <a:rPr dirty="0" sz="3350" spc="-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Nixtlaverse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2156618"/>
            <a:ext cx="1545590" cy="4057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00" spc="-5">
                <a:solidFill>
                  <a:srgbClr val="C2132D"/>
                </a:solidFill>
                <a:latin typeface="Courier New"/>
                <a:cs typeface="Courier New"/>
              </a:rPr>
              <a:t>evaluate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428750"/>
            <a:ext cx="9696450" cy="4191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utilsforecast.losses 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import</a:t>
            </a:r>
            <a:r>
              <a:rPr dirty="0" sz="1350" spc="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*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2895600"/>
            <a:ext cx="9696450" cy="14192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07315" rIns="0" bIns="0" rtlCol="0" vert="horz">
            <a:spAutoFit/>
          </a:bodyPr>
          <a:lstStyle/>
          <a:p>
            <a:pPr marL="1254760" marR="2700020" indent="-1146810">
              <a:lnSpc>
                <a:spcPts val="1570"/>
              </a:lnSpc>
              <a:spcBef>
                <a:spcPts val="845"/>
              </a:spcBef>
            </a:pP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evaluate (df:~AnyDFType, metrics:List[Callable],  models:Optional[List[str]]=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None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 train_df:Optional[~AnyDFType]=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None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 level:Optional[List[int]]=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None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350" spc="-5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id_col:str=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'unique_id'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 time_col:str=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'ds'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target_col:str=</a:t>
            </a:r>
            <a:r>
              <a:rPr dirty="0" sz="1350" spc="10">
                <a:solidFill>
                  <a:srgbClr val="DD1144"/>
                </a:solidFill>
                <a:latin typeface="Courier New"/>
                <a:cs typeface="Courier New"/>
              </a:rPr>
              <a:t>'y'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,  agg_fn:Optional[str]=</a:t>
            </a:r>
            <a:r>
              <a:rPr dirty="0" sz="1350" spc="10" b="1">
                <a:solidFill>
                  <a:srgbClr val="333333"/>
                </a:solidFill>
                <a:latin typeface="Courier New"/>
                <a:cs typeface="Courier New"/>
              </a:rPr>
              <a:t>None</a:t>
            </a:r>
            <a:r>
              <a:rPr dirty="0" sz="1350" spc="10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6176962"/>
            <a:ext cx="2790825" cy="0"/>
          </a:xfrm>
          <a:custGeom>
            <a:avLst/>
            <a:gdLst/>
            <a:ahLst/>
            <a:cxnLst/>
            <a:rect l="l" t="t" r="r" b="b"/>
            <a:pathLst>
              <a:path w="2790825" h="0">
                <a:moveTo>
                  <a:pt x="0" y="0"/>
                </a:moveTo>
                <a:lnTo>
                  <a:pt x="27908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86487"/>
            <a:ext cx="2790825" cy="0"/>
          </a:xfrm>
          <a:custGeom>
            <a:avLst/>
            <a:gdLst/>
            <a:ahLst/>
            <a:cxnLst/>
            <a:rect l="l" t="t" r="r" b="b"/>
            <a:pathLst>
              <a:path w="2790825" h="0">
                <a:moveTo>
                  <a:pt x="0" y="0"/>
                </a:moveTo>
                <a:lnTo>
                  <a:pt x="27908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957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01700" y="6266655"/>
            <a:ext cx="281368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Nixtla's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UtilsForecast Evaluation</a:t>
            </a:r>
            <a:r>
              <a:rPr dirty="0" sz="85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Documentation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18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33512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400" y="1457325"/>
          <a:ext cx="9696450" cy="443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450"/>
                <a:gridCol w="1047750"/>
                <a:gridCol w="895350"/>
                <a:gridCol w="6819900"/>
              </a:tblGrid>
              <a:tr h="319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2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Type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Default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Details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57212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df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5367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AnyDFType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95"/>
                        </a:lnSpc>
                        <a:spcBef>
                          <a:spcPts val="385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Forecasts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evaluate.</a:t>
                      </a:r>
                      <a:endParaRPr sz="1450">
                        <a:latin typeface="Roboto"/>
                        <a:cs typeface="Roboto"/>
                      </a:endParaRPr>
                    </a:p>
                    <a:p>
                      <a:pPr marL="52705">
                        <a:lnSpc>
                          <a:spcPts val="1695"/>
                        </a:lnSpc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Must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have </a:t>
                      </a: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id_col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time_col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dirty="0" sz="1350" spc="1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target_col</a:t>
                      </a:r>
                      <a:r>
                        <a:rPr dirty="0" sz="1350" spc="-44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and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models’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predictions.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51434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metrics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3017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List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301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95"/>
                        </a:lnSpc>
                        <a:spcBef>
                          <a:spcPts val="20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Functions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with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arguments </a:t>
                      </a: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df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models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id_col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dirty="0" sz="1350" spc="1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target_col</a:t>
                      </a:r>
                      <a:r>
                        <a:rPr dirty="0" sz="1350" spc="-45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and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optionally</a:t>
                      </a:r>
                      <a:endParaRPr sz="1450">
                        <a:latin typeface="Roboto"/>
                        <a:cs typeface="Roboto"/>
                      </a:endParaRPr>
                    </a:p>
                    <a:p>
                      <a:pPr marL="52705">
                        <a:lnSpc>
                          <a:spcPts val="1695"/>
                        </a:lnSpc>
                      </a:pP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train_df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55244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models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492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Optional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49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None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49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95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Names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of the models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evaluate.</a:t>
                      </a:r>
                      <a:endParaRPr sz="1450">
                        <a:latin typeface="Roboto"/>
                        <a:cs typeface="Roboto"/>
                      </a:endParaRPr>
                    </a:p>
                    <a:p>
                      <a:pPr marL="52705">
                        <a:lnSpc>
                          <a:spcPts val="1695"/>
                        </a:lnSpc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If </a:t>
                      </a:r>
                      <a:r>
                        <a:rPr dirty="0" sz="1350" spc="1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None</a:t>
                      </a:r>
                      <a:r>
                        <a:rPr dirty="0" sz="1350" spc="-390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will use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every column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in the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dataframe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after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removing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id, time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and target.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train_df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Optional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None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Training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set.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Used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evaluate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metrics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such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as</a:t>
                      </a:r>
                      <a:r>
                        <a:rPr dirty="0" sz="1450" spc="2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5">
                          <a:solidFill>
                            <a:srgbClr val="C2132D"/>
                          </a:solidFill>
                          <a:latin typeface="Courier New"/>
                          <a:cs typeface="Courier New"/>
                          <a:hlinkClick r:id="rId2"/>
                        </a:rPr>
                        <a:t>mase</a:t>
                      </a:r>
                      <a:r>
                        <a:rPr dirty="0" sz="1450" spc="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level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Optional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None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Prediction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interval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levels. Used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compute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losses that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rely on</a:t>
                      </a:r>
                      <a:r>
                        <a:rPr dirty="0" sz="1450" spc="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quantiles.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id_col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str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unique_id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Column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that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identifies each</a:t>
                      </a: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serie.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time_col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str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ds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Column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that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identifies each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timestep, its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values can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be timestamps or</a:t>
                      </a:r>
                      <a:r>
                        <a:rPr dirty="0" sz="1450" spc="3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integers.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0479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target_col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str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y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Column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that contains the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target.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agg_fn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Optional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None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Statistic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compute on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the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scores by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id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reduce them </a:t>
                      </a:r>
                      <a:r>
                        <a:rPr dirty="0" sz="1450" spc="-1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to </a:t>
                      </a:r>
                      <a:r>
                        <a:rPr dirty="0" sz="1450" spc="-1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a </a:t>
                      </a:r>
                      <a:r>
                        <a:rPr dirty="0" sz="1450" spc="-5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single</a:t>
                      </a:r>
                      <a:r>
                        <a:rPr dirty="0" sz="1450" spc="9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450" spc="-20">
                          <a:solidFill>
                            <a:srgbClr val="585D60"/>
                          </a:solidFill>
                          <a:latin typeface="Roboto"/>
                          <a:cs typeface="Roboto"/>
                        </a:rPr>
                        <a:t>number.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Returns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3017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 spc="-1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AnyDFType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1301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436245">
                        <a:lnSpc>
                          <a:spcPts val="1720"/>
                        </a:lnSpc>
                        <a:spcBef>
                          <a:spcPts val="275"/>
                        </a:spcBef>
                      </a:pP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Metrics with </a:t>
                      </a: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one </a:t>
                      </a:r>
                      <a:r>
                        <a:rPr dirty="0" sz="1450" spc="-1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row </a:t>
                      </a: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per (id, metric) </a:t>
                      </a: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combination and one column </a:t>
                      </a: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per </a:t>
                      </a: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model.  </a:t>
                      </a: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If </a:t>
                      </a:r>
                      <a:r>
                        <a:rPr dirty="0" sz="1350" spc="10" b="1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agg_fn</a:t>
                      </a:r>
                      <a:r>
                        <a:rPr dirty="0" sz="1350" spc="-455" b="1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is not </a:t>
                      </a:r>
                      <a:r>
                        <a:rPr dirty="0" sz="1350" spc="5" b="1">
                          <a:solidFill>
                            <a:srgbClr val="C2132D"/>
                          </a:solidFill>
                          <a:latin typeface="Courier New"/>
                          <a:cs typeface="Courier New"/>
                        </a:rPr>
                        <a:t>None</a:t>
                      </a:r>
                      <a:r>
                        <a:rPr dirty="0" sz="1450" spc="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, </a:t>
                      </a: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there </a:t>
                      </a: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is only </a:t>
                      </a:r>
                      <a:r>
                        <a:rPr dirty="0" sz="1450" spc="-10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one </a:t>
                      </a:r>
                      <a:r>
                        <a:rPr dirty="0" sz="1450" spc="-1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row </a:t>
                      </a:r>
                      <a:r>
                        <a:rPr dirty="0" sz="1450" spc="-5" b="1">
                          <a:solidFill>
                            <a:srgbClr val="C2132D"/>
                          </a:solidFill>
                          <a:latin typeface="Roboto"/>
                          <a:cs typeface="Roboto"/>
                        </a:rPr>
                        <a:t>per metric.</a:t>
                      </a:r>
                      <a:endParaRPr sz="1450">
                        <a:latin typeface="Roboto"/>
                        <a:cs typeface="Roboto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509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Model Performance </a:t>
            </a:r>
            <a:r>
              <a:rPr dirty="0" sz="3350">
                <a:solidFill>
                  <a:srgbClr val="C2132D"/>
                </a:solidFill>
              </a:rPr>
              <a:t>Evaluation </a:t>
            </a:r>
            <a:r>
              <a:rPr dirty="0" sz="3350" spc="10">
                <a:solidFill>
                  <a:srgbClr val="C2132D"/>
                </a:solidFill>
              </a:rPr>
              <a:t>in the </a:t>
            </a:r>
            <a:r>
              <a:rPr dirty="0" sz="3350" spc="5">
                <a:solidFill>
                  <a:srgbClr val="C2132D"/>
                </a:solidFill>
              </a:rPr>
              <a:t>Nixtlaverse</a:t>
            </a:r>
            <a:r>
              <a:rPr dirty="0" sz="3350" spc="-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(Cont.)</a:t>
            </a:r>
            <a:endParaRPr sz="3350"/>
          </a:p>
        </p:txBody>
      </p:sp>
      <p:sp>
        <p:nvSpPr>
          <p:cNvPr id="5" name="object 5"/>
          <p:cNvSpPr/>
          <p:nvPr/>
        </p:nvSpPr>
        <p:spPr>
          <a:xfrm>
            <a:off x="914400" y="6176962"/>
            <a:ext cx="2790825" cy="0"/>
          </a:xfrm>
          <a:custGeom>
            <a:avLst/>
            <a:gdLst/>
            <a:ahLst/>
            <a:cxnLst/>
            <a:rect l="l" t="t" r="r" b="b"/>
            <a:pathLst>
              <a:path w="2790825" h="0">
                <a:moveTo>
                  <a:pt x="0" y="0"/>
                </a:moveTo>
                <a:lnTo>
                  <a:pt x="27908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2790825" cy="0"/>
          </a:xfrm>
          <a:custGeom>
            <a:avLst/>
            <a:gdLst/>
            <a:ahLst/>
            <a:cxnLst/>
            <a:rect l="l" t="t" r="r" b="b"/>
            <a:pathLst>
              <a:path w="2790825" h="0">
                <a:moveTo>
                  <a:pt x="0" y="0"/>
                </a:moveTo>
                <a:lnTo>
                  <a:pt x="27908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57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266655"/>
            <a:ext cx="281368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Nixtla's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UtilsForecast Evaluation</a:t>
            </a:r>
            <a:r>
              <a:rPr dirty="0" sz="8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Documentation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19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12319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Losses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889000" y="1376044"/>
            <a:ext cx="8970645" cy="1711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most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important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train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signal 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error,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difference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the  observed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prediction </a:t>
            </a:r>
            <a:r>
              <a:rPr dirty="0" sz="1600" spc="-2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26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390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at time 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marL="2945765">
              <a:lnSpc>
                <a:spcPct val="100000"/>
              </a:lnSpc>
              <a:spcBef>
                <a:spcPts val="1740"/>
              </a:spcBef>
              <a:tabLst>
                <a:tab pos="4624070" algn="l"/>
              </a:tabLst>
            </a:pPr>
            <a:r>
              <a:rPr dirty="0" sz="1600" spc="35" i="1">
                <a:solidFill>
                  <a:srgbClr val="585D60"/>
                </a:solidFill>
                <a:latin typeface="Arial"/>
                <a:cs typeface="Arial"/>
              </a:rPr>
              <a:t>e</a:t>
            </a:r>
            <a:r>
              <a:rPr dirty="0" baseline="-12077" sz="1725" spc="52" i="1">
                <a:solidFill>
                  <a:srgbClr val="585D60"/>
                </a:solidFill>
                <a:latin typeface="Arial"/>
                <a:cs typeface="Arial"/>
              </a:rPr>
              <a:t>τ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50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baseline="-12077" sz="1725" spc="34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39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390" i="1">
                <a:solidFill>
                  <a:srgbClr val="585D60"/>
                </a:solidFill>
                <a:latin typeface="Arial"/>
                <a:cs typeface="Arial"/>
              </a:rPr>
              <a:t>τ	</a:t>
            </a:r>
            <a:r>
              <a:rPr dirty="0" sz="1600" spc="185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sz="1600" spc="19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35">
                <a:solidFill>
                  <a:srgbClr val="585D60"/>
                </a:solidFill>
                <a:latin typeface="Lucida Sans Unicode"/>
                <a:cs typeface="Lucida Sans Unicode"/>
              </a:rPr>
              <a:t>∈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260">
                <a:solidFill>
                  <a:srgbClr val="585D60"/>
                </a:solidFill>
                <a:latin typeface="Lucida Sans Unicode"/>
                <a:cs typeface="Lucida Sans Unicode"/>
              </a:rPr>
              <a:t>{</a:t>
            </a:r>
            <a:r>
              <a:rPr dirty="0" sz="1600" spc="26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600" spc="-5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1,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2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600" spc="-5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375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sz="1800" spc="375">
                <a:solidFill>
                  <a:srgbClr val="585D60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train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loss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summarizes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errors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different evaluation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metrics.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6176962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337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265493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Nixtla's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UtilsForecast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Losses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Documentation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20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117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Scale-Dependent </a:t>
            </a:r>
            <a:r>
              <a:rPr dirty="0" sz="3350" spc="5">
                <a:solidFill>
                  <a:srgbClr val="C2132D"/>
                </a:solidFill>
              </a:rPr>
              <a:t>Errors: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mae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46277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MAE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measures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relative prediction accuracy by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absolute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deviations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actual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5503" y="2273680"/>
            <a:ext cx="34417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25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2807080"/>
            <a:ext cx="8921750" cy="18237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324610">
              <a:lnSpc>
                <a:spcPct val="100000"/>
              </a:lnSpc>
              <a:spcBef>
                <a:spcPts val="120"/>
              </a:spcBef>
            </a:pPr>
            <a:r>
              <a:rPr dirty="0" sz="1150" spc="40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sz="1250" spc="40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150" spc="4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40">
                <a:solidFill>
                  <a:srgbClr val="585D60"/>
                </a:solidFill>
                <a:latin typeface="Lucida Sans Unicode"/>
                <a:cs typeface="Lucida Sans Unicode"/>
              </a:rPr>
              <a:t>+1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Lucida Sans Unicode"/>
              <a:cs typeface="Lucida Sans Unicode"/>
            </a:endParaRPr>
          </a:p>
          <a:p>
            <a:pPr marL="146050" marR="281940" indent="-133985">
              <a:lnSpc>
                <a:spcPct val="118100"/>
              </a:lnSpc>
              <a:spcBef>
                <a:spcPts val="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Interpretation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Provides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straightforward measure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accuracy;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lower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indicates better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4599"/>
              </a:lnSpc>
              <a:spcBef>
                <a:spcPts val="97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Characteristic: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Does not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penalize larger errors more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than smaller ones;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treats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errors 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equally.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5076" y="2320925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8280" y="2391410"/>
            <a:ext cx="332867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2007870" algn="l"/>
              </a:tabLst>
            </a:pPr>
            <a:r>
              <a:rPr dirty="0" sz="1800" spc="130">
                <a:solidFill>
                  <a:srgbClr val="585D60"/>
                </a:solidFill>
                <a:latin typeface="Lucida Sans Unicode"/>
                <a:cs typeface="Lucida Sans Unicode"/>
              </a:rPr>
              <a:t>MAE(</a:t>
            </a:r>
            <a:r>
              <a:rPr dirty="0" sz="1600" spc="1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95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baseline="-12077" sz="1725" spc="-19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39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390" i="1">
                <a:solidFill>
                  <a:srgbClr val="585D60"/>
                </a:solidFill>
                <a:latin typeface="Arial"/>
                <a:cs typeface="Arial"/>
              </a:rPr>
              <a:t>τ  </a:t>
            </a:r>
            <a:r>
              <a:rPr dirty="0" baseline="-21739" sz="1725" spc="-36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3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-41666" sz="2400" spc="509" i="1">
                <a:solidFill>
                  <a:srgbClr val="585D60"/>
                </a:solidFill>
                <a:latin typeface="Arial"/>
                <a:cs typeface="Arial"/>
              </a:rPr>
              <a:t>H	</a:t>
            </a: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Lucida Sans Unicode"/>
                <a:cs typeface="Lucida Sans Unicode"/>
              </a:rPr>
              <a:t>|</a:t>
            </a:r>
            <a:r>
              <a:rPr dirty="0" sz="1600" spc="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00" spc="-2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39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390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|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24524" y="2662237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6176962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186487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337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01700" y="6266655"/>
            <a:ext cx="265493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Nixtla's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UtilsForecast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Losses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Documentation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21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1555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Scale-Dependent </a:t>
            </a:r>
            <a:r>
              <a:rPr dirty="0" sz="3350" spc="5">
                <a:solidFill>
                  <a:srgbClr val="C2132D"/>
                </a:solidFill>
              </a:rPr>
              <a:t>Errors:</a:t>
            </a:r>
            <a:r>
              <a:rPr dirty="0" sz="3350" spc="-50">
                <a:solidFill>
                  <a:srgbClr val="C2132D"/>
                </a:solidFill>
              </a:rPr>
              <a:t>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rmse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07351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RMSE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square root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squared differences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between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 actual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values.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754" y="3328669"/>
            <a:ext cx="8772525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Interpretation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Emphasizes larger errors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due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squaring; useful when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large errors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particularly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undesirable.</a:t>
            </a:r>
            <a:endParaRPr sz="1800">
              <a:latin typeface="Roboto"/>
              <a:cs typeface="Roboto"/>
            </a:endParaRPr>
          </a:p>
          <a:p>
            <a:pPr marL="146050" marR="13589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Characteristic: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Penalizes large errors more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than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MAE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(i.e.,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sensitive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ourliers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compared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MAE).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3131" y="2362073"/>
            <a:ext cx="1998980" cy="525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800" spc="125">
                <a:solidFill>
                  <a:srgbClr val="585D60"/>
                </a:solidFill>
                <a:latin typeface="Lucida Sans Unicode"/>
                <a:cs typeface="Lucida Sans Unicode"/>
              </a:rPr>
              <a:t>RMSE(</a:t>
            </a:r>
            <a:r>
              <a:rPr dirty="0" sz="1600" spc="12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87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baseline="-14492" sz="1725" spc="-209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26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390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baseline="-21739" sz="1725" spc="-38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7692" sz="4875" spc="-2385">
                <a:solidFill>
                  <a:srgbClr val="585D60"/>
                </a:solidFill>
                <a:latin typeface="Cambria"/>
                <a:cs typeface="Cambria"/>
              </a:rPr>
              <a:t></a:t>
            </a:r>
            <a:r>
              <a:rPr dirty="0" baseline="-19658" sz="4875" spc="-2385">
                <a:solidFill>
                  <a:srgbClr val="585D60"/>
                </a:solidFill>
                <a:latin typeface="Cambria"/>
                <a:cs typeface="Cambria"/>
              </a:rPr>
              <a:t>⎷</a:t>
            </a:r>
            <a:endParaRPr baseline="-19658" sz="4875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19774" y="2333625"/>
            <a:ext cx="1800225" cy="0"/>
          </a:xfrm>
          <a:custGeom>
            <a:avLst/>
            <a:gdLst/>
            <a:ahLst/>
            <a:cxnLst/>
            <a:rect l="l" t="t" r="r" b="b"/>
            <a:pathLst>
              <a:path w="1800225" h="0">
                <a:moveTo>
                  <a:pt x="0" y="0"/>
                </a:moveTo>
                <a:lnTo>
                  <a:pt x="1800224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27104" y="2340355"/>
            <a:ext cx="1524000" cy="753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1125">
              <a:lnSpc>
                <a:spcPts val="1215"/>
              </a:lnSpc>
              <a:spcBef>
                <a:spcPts val="120"/>
              </a:spcBef>
            </a:pPr>
            <a:r>
              <a:rPr dirty="0" sz="1150" spc="12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1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20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endParaRPr sz="1150">
              <a:latin typeface="Arial"/>
              <a:cs typeface="Arial"/>
            </a:endParaRPr>
          </a:p>
          <a:p>
            <a:pPr marL="109855">
              <a:lnSpc>
                <a:spcPts val="2715"/>
              </a:lnSpc>
            </a:pP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1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0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57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00" spc="-2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26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390" i="1">
                <a:solidFill>
                  <a:srgbClr val="585D60"/>
                </a:solidFill>
                <a:latin typeface="Arial"/>
                <a:cs typeface="Arial"/>
              </a:rPr>
              <a:t>τ </a:t>
            </a:r>
            <a:r>
              <a:rPr dirty="0" sz="1800" spc="-2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3333" sz="1875" spc="-3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baseline="33333" sz="1875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dirty="0" sz="1150" spc="40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sz="1250" spc="40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150" spc="4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40">
                <a:solidFill>
                  <a:srgbClr val="585D60"/>
                </a:solidFill>
                <a:latin typeface="Lucida Sans Unicode"/>
                <a:cs typeface="Lucida Sans Unicode"/>
              </a:rPr>
              <a:t>+1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3996" y="2200148"/>
            <a:ext cx="590550" cy="525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21367" sz="4875" spc="-1829">
                <a:solidFill>
                  <a:srgbClr val="585D60"/>
                </a:solidFill>
                <a:latin typeface="Cambria"/>
                <a:cs typeface="Cambria"/>
              </a:rPr>
              <a:t></a:t>
            </a:r>
            <a:r>
              <a:rPr dirty="0" baseline="3418" sz="4875" spc="-1829">
                <a:solidFill>
                  <a:srgbClr val="585D60"/>
                </a:solidFill>
                <a:latin typeface="Cambria"/>
                <a:cs typeface="Cambria"/>
              </a:rPr>
              <a:t> </a:t>
            </a:r>
            <a:r>
              <a:rPr dirty="0" u="sng" sz="3250" spc="-710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3250" spc="-210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1800" spc="-1140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r>
              <a:rPr dirty="0" u="sng" sz="1800" spc="-70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 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61099" y="2725013"/>
            <a:ext cx="215900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340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6176962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14400" y="6186487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337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01700" y="6266655"/>
            <a:ext cx="265493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Nixtla's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UtilsForecast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Losses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Documentation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22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2246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Percentage Errors:</a:t>
            </a:r>
            <a:r>
              <a:rPr dirty="0" sz="3350" spc="-60">
                <a:solidFill>
                  <a:srgbClr val="C2132D"/>
                </a:solidFill>
              </a:rPr>
              <a:t>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mape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859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MAPE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calculates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absolute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error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percentage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actual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900045"/>
            <a:ext cx="9424670" cy="141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2420">
              <a:lnSpc>
                <a:spcPct val="114599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Interpretation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Expresses forecast accuracy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percentage;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lower MAPE indicates better  performance.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18100"/>
              </a:lnSpc>
              <a:spcBef>
                <a:spcPts val="894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Characteristic: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misleading if actual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close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zero,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leading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extremely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high  MAPE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values.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2329" y="2299522"/>
            <a:ext cx="9652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125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3413" y="2159000"/>
            <a:ext cx="1725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140">
                <a:solidFill>
                  <a:srgbClr val="585D60"/>
                </a:solidFill>
                <a:latin typeface="Lucida Sans Unicode"/>
                <a:cs typeface="Lucida Sans Unicode"/>
              </a:rPr>
              <a:t>MAPE(</a:t>
            </a:r>
            <a:r>
              <a:rPr dirty="0" sz="1600" spc="14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209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baseline="-14492" sz="1725" spc="-20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800" spc="-45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800" spc="-4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6310" y="1949830"/>
            <a:ext cx="34417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25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52938" y="2483230"/>
            <a:ext cx="49974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225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1533" y="1926893"/>
            <a:ext cx="215900" cy="68008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650"/>
              </a:spcBef>
            </a:pP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600" spc="340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3099" y="2338387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39805" y="1997075"/>
            <a:ext cx="1012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09955" algn="l"/>
              </a:tabLst>
            </a:pP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 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50" i="1">
                <a:solidFill>
                  <a:srgbClr val="585D60"/>
                </a:solidFill>
                <a:latin typeface="Arial"/>
                <a:cs typeface="Arial"/>
              </a:rPr>
              <a:t>τ</a:t>
            </a:r>
            <a:r>
              <a:rPr dirty="0" baseline="-12077" sz="1725" spc="37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675">
                <a:solidFill>
                  <a:srgbClr val="585D60"/>
                </a:solidFill>
                <a:latin typeface="Lucida Sans Unicode"/>
                <a:cs typeface="Lucida Sans Unicode"/>
              </a:rPr>
              <a:t>^	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9422" y="2067560"/>
            <a:ext cx="145288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208405" algn="l"/>
              </a:tabLst>
            </a:pP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1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u="sng" baseline="24691" sz="2700" spc="-262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 	</a:t>
            </a:r>
            <a:r>
              <a:rPr dirty="0" u="sng" baseline="38647" sz="1725" spc="187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τ</a:t>
            </a:r>
            <a:r>
              <a:rPr dirty="0" baseline="38647" sz="1725" spc="26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27105" y="2311400"/>
            <a:ext cx="10248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14655" algn="l"/>
                <a:tab pos="922655" algn="l"/>
              </a:tabLst>
            </a:pP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	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Arial"/>
                <a:cs typeface="Arial"/>
              </a:rPr>
              <a:t>τ	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6176962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4400" y="6186487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 h="0">
                <a:moveTo>
                  <a:pt x="0" y="0"/>
                </a:moveTo>
                <a:lnTo>
                  <a:pt x="26288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3377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01700" y="6266655"/>
            <a:ext cx="265493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Nixtla's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UtilsForecast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Losses</a:t>
            </a:r>
            <a:r>
              <a:rPr dirty="0" sz="85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Documentation</a:t>
            </a:r>
            <a:endParaRPr sz="8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23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448" y="2752344"/>
            <a:ext cx="7421880" cy="1042669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1150"/>
              </a:spcBef>
            </a:pPr>
            <a:r>
              <a:rPr dirty="0" spc="-915">
                <a:solidFill>
                  <a:srgbClr val="000000"/>
                </a:solidFill>
              </a:rPr>
              <a:t>I</a:t>
            </a:r>
            <a:r>
              <a:rPr dirty="0" spc="-915"/>
              <a:t>I</a:t>
            </a:r>
            <a:r>
              <a:rPr dirty="0" spc="-915">
                <a:solidFill>
                  <a:srgbClr val="000000"/>
                </a:solidFill>
              </a:rPr>
              <a:t>m</a:t>
            </a:r>
            <a:r>
              <a:rPr dirty="0" spc="-915"/>
              <a:t>m</a:t>
            </a:r>
            <a:r>
              <a:rPr dirty="0" spc="-915">
                <a:solidFill>
                  <a:srgbClr val="000000"/>
                </a:solidFill>
              </a:rPr>
              <a:t>p</a:t>
            </a:r>
            <a:r>
              <a:rPr dirty="0" spc="-915"/>
              <a:t>p</a:t>
            </a:r>
            <a:r>
              <a:rPr dirty="0" spc="-915">
                <a:solidFill>
                  <a:srgbClr val="000000"/>
                </a:solidFill>
              </a:rPr>
              <a:t>o</a:t>
            </a:r>
            <a:r>
              <a:rPr dirty="0" spc="-915"/>
              <a:t>o</a:t>
            </a:r>
            <a:r>
              <a:rPr dirty="0" spc="-915">
                <a:solidFill>
                  <a:srgbClr val="000000"/>
                </a:solidFill>
              </a:rPr>
              <a:t>r</a:t>
            </a:r>
            <a:r>
              <a:rPr dirty="0" spc="-915"/>
              <a:t>r</a:t>
            </a:r>
            <a:r>
              <a:rPr dirty="0" spc="-915">
                <a:solidFill>
                  <a:srgbClr val="000000"/>
                </a:solidFill>
              </a:rPr>
              <a:t>t</a:t>
            </a:r>
            <a:r>
              <a:rPr dirty="0" spc="-915"/>
              <a:t>t</a:t>
            </a:r>
            <a:r>
              <a:rPr dirty="0" spc="-915">
                <a:solidFill>
                  <a:srgbClr val="000000"/>
                </a:solidFill>
              </a:rPr>
              <a:t>a</a:t>
            </a:r>
            <a:r>
              <a:rPr dirty="0" spc="-915"/>
              <a:t>a</a:t>
            </a:r>
            <a:r>
              <a:rPr dirty="0" spc="-915">
                <a:solidFill>
                  <a:srgbClr val="000000"/>
                </a:solidFill>
              </a:rPr>
              <a:t>n</a:t>
            </a:r>
            <a:r>
              <a:rPr dirty="0" spc="-915"/>
              <a:t>n</a:t>
            </a:r>
            <a:r>
              <a:rPr dirty="0" spc="-915">
                <a:solidFill>
                  <a:srgbClr val="000000"/>
                </a:solidFill>
              </a:rPr>
              <a:t>c</a:t>
            </a:r>
            <a:r>
              <a:rPr dirty="0" spc="-915"/>
              <a:t>c</a:t>
            </a:r>
            <a:r>
              <a:rPr dirty="0" spc="-915">
                <a:solidFill>
                  <a:srgbClr val="000000"/>
                </a:solidFill>
              </a:rPr>
              <a:t>e</a:t>
            </a:r>
            <a:r>
              <a:rPr dirty="0" spc="-915"/>
              <a:t>e </a:t>
            </a:r>
            <a:r>
              <a:rPr dirty="0" spc="-840">
                <a:solidFill>
                  <a:srgbClr val="000000"/>
                </a:solidFill>
              </a:rPr>
              <a:t>o</a:t>
            </a:r>
            <a:r>
              <a:rPr dirty="0" spc="-840"/>
              <a:t>o</a:t>
            </a:r>
            <a:r>
              <a:rPr dirty="0" spc="-840">
                <a:solidFill>
                  <a:srgbClr val="000000"/>
                </a:solidFill>
              </a:rPr>
              <a:t>f</a:t>
            </a:r>
            <a:r>
              <a:rPr dirty="0" spc="-840"/>
              <a:t>f </a:t>
            </a:r>
            <a:r>
              <a:rPr dirty="0" spc="-860">
                <a:solidFill>
                  <a:srgbClr val="000000"/>
                </a:solidFill>
              </a:rPr>
              <a:t>B</a:t>
            </a:r>
            <a:r>
              <a:rPr dirty="0" spc="-860"/>
              <a:t>B</a:t>
            </a:r>
            <a:r>
              <a:rPr dirty="0" spc="-860">
                <a:solidFill>
                  <a:srgbClr val="000000"/>
                </a:solidFill>
              </a:rPr>
              <a:t>a</a:t>
            </a:r>
            <a:r>
              <a:rPr dirty="0" spc="-860"/>
              <a:t>a</a:t>
            </a:r>
            <a:r>
              <a:rPr dirty="0" spc="-860">
                <a:solidFill>
                  <a:srgbClr val="000000"/>
                </a:solidFill>
              </a:rPr>
              <a:t>s</a:t>
            </a:r>
            <a:r>
              <a:rPr dirty="0" spc="-860"/>
              <a:t>s</a:t>
            </a:r>
            <a:r>
              <a:rPr dirty="0" spc="-860">
                <a:solidFill>
                  <a:srgbClr val="000000"/>
                </a:solidFill>
              </a:rPr>
              <a:t>e</a:t>
            </a:r>
            <a:r>
              <a:rPr dirty="0" spc="-860"/>
              <a:t>e</a:t>
            </a:r>
            <a:r>
              <a:rPr dirty="0" spc="-860">
                <a:solidFill>
                  <a:srgbClr val="000000"/>
                </a:solidFill>
              </a:rPr>
              <a:t>l</a:t>
            </a:r>
            <a:r>
              <a:rPr dirty="0" spc="-860"/>
              <a:t>l</a:t>
            </a:r>
            <a:r>
              <a:rPr dirty="0" spc="-860">
                <a:solidFill>
                  <a:srgbClr val="000000"/>
                </a:solidFill>
              </a:rPr>
              <a:t>i</a:t>
            </a:r>
            <a:r>
              <a:rPr dirty="0" spc="-860"/>
              <a:t>i</a:t>
            </a:r>
            <a:r>
              <a:rPr dirty="0" spc="-860">
                <a:solidFill>
                  <a:srgbClr val="000000"/>
                </a:solidFill>
              </a:rPr>
              <a:t>n</a:t>
            </a:r>
            <a:r>
              <a:rPr dirty="0" spc="-860"/>
              <a:t>n</a:t>
            </a:r>
            <a:r>
              <a:rPr dirty="0" spc="-860">
                <a:solidFill>
                  <a:srgbClr val="000000"/>
                </a:solidFill>
              </a:rPr>
              <a:t>e</a:t>
            </a:r>
            <a:r>
              <a:rPr dirty="0" spc="-860"/>
              <a:t>e</a:t>
            </a:r>
            <a:r>
              <a:rPr dirty="0" spc="-844"/>
              <a:t> </a:t>
            </a:r>
            <a:r>
              <a:rPr dirty="0" spc="-890">
                <a:solidFill>
                  <a:srgbClr val="000000"/>
                </a:solidFill>
              </a:rPr>
              <a:t>F</a:t>
            </a:r>
            <a:r>
              <a:rPr dirty="0" spc="-890"/>
              <a:t>F</a:t>
            </a:r>
            <a:r>
              <a:rPr dirty="0" spc="-890">
                <a:solidFill>
                  <a:srgbClr val="000000"/>
                </a:solidFill>
              </a:rPr>
              <a:t>o</a:t>
            </a:r>
            <a:r>
              <a:rPr dirty="0" spc="-890"/>
              <a:t>o</a:t>
            </a:r>
            <a:r>
              <a:rPr dirty="0" spc="-890">
                <a:solidFill>
                  <a:srgbClr val="000000"/>
                </a:solidFill>
              </a:rPr>
              <a:t>r</a:t>
            </a:r>
            <a:r>
              <a:rPr dirty="0" spc="-890"/>
              <a:t>r</a:t>
            </a:r>
            <a:r>
              <a:rPr dirty="0" spc="-890">
                <a:solidFill>
                  <a:srgbClr val="000000"/>
                </a:solidFill>
              </a:rPr>
              <a:t>e</a:t>
            </a:r>
            <a:r>
              <a:rPr dirty="0" spc="-890"/>
              <a:t>e</a:t>
            </a:r>
            <a:r>
              <a:rPr dirty="0" spc="-890">
                <a:solidFill>
                  <a:srgbClr val="000000"/>
                </a:solidFill>
              </a:rPr>
              <a:t>c</a:t>
            </a:r>
            <a:r>
              <a:rPr dirty="0" spc="-890"/>
              <a:t>c</a:t>
            </a:r>
            <a:r>
              <a:rPr dirty="0" spc="-890">
                <a:solidFill>
                  <a:srgbClr val="000000"/>
                </a:solidFill>
              </a:rPr>
              <a:t>a</a:t>
            </a:r>
            <a:r>
              <a:rPr dirty="0" spc="-890"/>
              <a:t>a</a:t>
            </a:r>
            <a:r>
              <a:rPr dirty="0" spc="-890">
                <a:solidFill>
                  <a:srgbClr val="000000"/>
                </a:solidFill>
              </a:rPr>
              <a:t>s</a:t>
            </a:r>
            <a:r>
              <a:rPr dirty="0" spc="-890"/>
              <a:t>s</a:t>
            </a:r>
            <a:r>
              <a:rPr dirty="0" spc="-890">
                <a:solidFill>
                  <a:srgbClr val="000000"/>
                </a:solidFill>
              </a:rPr>
              <a:t>t</a:t>
            </a:r>
            <a:r>
              <a:rPr dirty="0" spc="-890"/>
              <a:t>t</a:t>
            </a:r>
            <a:r>
              <a:rPr dirty="0" spc="-890">
                <a:solidFill>
                  <a:srgbClr val="000000"/>
                </a:solidFill>
              </a:rPr>
              <a:t>s</a:t>
            </a:r>
            <a:r>
              <a:rPr dirty="0" spc="-89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4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1604644"/>
            <a:ext cx="4097654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990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simple,</a:t>
            </a:r>
            <a:r>
              <a:rPr dirty="0" sz="1800" spc="-4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yet 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powerful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8826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serve as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important  benchmarks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provide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performance</a:t>
            </a:r>
            <a:r>
              <a:rPr dirty="0" sz="1800" spc="-3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"floor"</a:t>
            </a:r>
            <a:endParaRPr sz="1800">
              <a:latin typeface="Roboto"/>
              <a:cs typeface="Roboto"/>
            </a:endParaRPr>
          </a:p>
          <a:p>
            <a:pPr marL="52705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more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complex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models.</a:t>
            </a:r>
            <a:endParaRPr sz="1800">
              <a:latin typeface="Roboto"/>
              <a:cs typeface="Roboto"/>
            </a:endParaRPr>
          </a:p>
          <a:p>
            <a:pPr lvl="1" marL="527050" marR="26416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Help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assess if advanced models  can add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meaningful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value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46050" marR="11811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easy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interpret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require 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minimal computational resources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45775" y="1608040"/>
            <a:ext cx="4226123" cy="3470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464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Why do we need Baseline</a:t>
            </a:r>
            <a:r>
              <a:rPr dirty="0" sz="3350" spc="-60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Forecasts?</a:t>
            </a:r>
            <a:endParaRPr sz="3350"/>
          </a:p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25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5560" y="2758440"/>
            <a:ext cx="6383020" cy="935990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105"/>
              </a:spcBef>
            </a:pPr>
            <a:r>
              <a:rPr dirty="0" spc="-1210">
                <a:solidFill>
                  <a:srgbClr val="000000"/>
                </a:solidFill>
              </a:rPr>
              <a:t>C</a:t>
            </a:r>
            <a:r>
              <a:rPr dirty="0" spc="-1210"/>
              <a:t>C</a:t>
            </a:r>
            <a:r>
              <a:rPr dirty="0" spc="-1210">
                <a:solidFill>
                  <a:srgbClr val="000000"/>
                </a:solidFill>
              </a:rPr>
              <a:t>o</a:t>
            </a:r>
            <a:r>
              <a:rPr dirty="0" spc="-1210"/>
              <a:t>o</a:t>
            </a:r>
            <a:r>
              <a:rPr dirty="0" spc="-1210">
                <a:solidFill>
                  <a:srgbClr val="000000"/>
                </a:solidFill>
              </a:rPr>
              <a:t>m</a:t>
            </a:r>
            <a:r>
              <a:rPr dirty="0" spc="-1210"/>
              <a:t>m</a:t>
            </a:r>
            <a:r>
              <a:rPr dirty="0" spc="-1210">
                <a:solidFill>
                  <a:srgbClr val="000000"/>
                </a:solidFill>
              </a:rPr>
              <a:t>m</a:t>
            </a:r>
            <a:r>
              <a:rPr dirty="0" spc="-1210"/>
              <a:t>m</a:t>
            </a:r>
            <a:r>
              <a:rPr dirty="0" spc="-1210">
                <a:solidFill>
                  <a:srgbClr val="000000"/>
                </a:solidFill>
              </a:rPr>
              <a:t>o</a:t>
            </a:r>
            <a:r>
              <a:rPr dirty="0" spc="-1210"/>
              <a:t>o</a:t>
            </a:r>
            <a:r>
              <a:rPr dirty="0" spc="-1210">
                <a:solidFill>
                  <a:srgbClr val="000000"/>
                </a:solidFill>
              </a:rPr>
              <a:t>n</a:t>
            </a:r>
            <a:r>
              <a:rPr dirty="0" spc="-1210"/>
              <a:t>n</a:t>
            </a:r>
            <a:r>
              <a:rPr dirty="0" spc="15"/>
              <a:t> </a:t>
            </a:r>
            <a:r>
              <a:rPr dirty="0" spc="-860">
                <a:solidFill>
                  <a:srgbClr val="000000"/>
                </a:solidFill>
              </a:rPr>
              <a:t>B</a:t>
            </a:r>
            <a:r>
              <a:rPr dirty="0" spc="-860"/>
              <a:t>B</a:t>
            </a:r>
            <a:r>
              <a:rPr dirty="0" spc="-860">
                <a:solidFill>
                  <a:srgbClr val="000000"/>
                </a:solidFill>
              </a:rPr>
              <a:t>a</a:t>
            </a:r>
            <a:r>
              <a:rPr dirty="0" spc="-860"/>
              <a:t>a</a:t>
            </a:r>
            <a:r>
              <a:rPr dirty="0" spc="-860">
                <a:solidFill>
                  <a:srgbClr val="000000"/>
                </a:solidFill>
              </a:rPr>
              <a:t>s</a:t>
            </a:r>
            <a:r>
              <a:rPr dirty="0" spc="-860"/>
              <a:t>s</a:t>
            </a:r>
            <a:r>
              <a:rPr dirty="0" spc="-860">
                <a:solidFill>
                  <a:srgbClr val="000000"/>
                </a:solidFill>
              </a:rPr>
              <a:t>e</a:t>
            </a:r>
            <a:r>
              <a:rPr dirty="0" spc="-860"/>
              <a:t>e</a:t>
            </a:r>
            <a:r>
              <a:rPr dirty="0" spc="-860">
                <a:solidFill>
                  <a:srgbClr val="000000"/>
                </a:solidFill>
              </a:rPr>
              <a:t>l</a:t>
            </a:r>
            <a:r>
              <a:rPr dirty="0" spc="-860"/>
              <a:t>l</a:t>
            </a:r>
            <a:r>
              <a:rPr dirty="0" spc="-860">
                <a:solidFill>
                  <a:srgbClr val="000000"/>
                </a:solidFill>
              </a:rPr>
              <a:t>i</a:t>
            </a:r>
            <a:r>
              <a:rPr dirty="0" spc="-860"/>
              <a:t>i</a:t>
            </a:r>
            <a:r>
              <a:rPr dirty="0" spc="-860">
                <a:solidFill>
                  <a:srgbClr val="000000"/>
                </a:solidFill>
              </a:rPr>
              <a:t>n</a:t>
            </a:r>
            <a:r>
              <a:rPr dirty="0" spc="-860"/>
              <a:t>n</a:t>
            </a:r>
            <a:r>
              <a:rPr dirty="0" spc="-860">
                <a:solidFill>
                  <a:srgbClr val="000000"/>
                </a:solidFill>
              </a:rPr>
              <a:t>e</a:t>
            </a:r>
            <a:r>
              <a:rPr dirty="0" spc="-860"/>
              <a:t>e</a:t>
            </a:r>
            <a:r>
              <a:rPr dirty="0" spc="-850"/>
              <a:t> </a:t>
            </a:r>
            <a:r>
              <a:rPr dirty="0" spc="-890">
                <a:solidFill>
                  <a:srgbClr val="000000"/>
                </a:solidFill>
              </a:rPr>
              <a:t>F</a:t>
            </a:r>
            <a:r>
              <a:rPr dirty="0" spc="-890"/>
              <a:t>F</a:t>
            </a:r>
            <a:r>
              <a:rPr dirty="0" spc="-890">
                <a:solidFill>
                  <a:srgbClr val="000000"/>
                </a:solidFill>
              </a:rPr>
              <a:t>o</a:t>
            </a:r>
            <a:r>
              <a:rPr dirty="0" spc="-890"/>
              <a:t>o</a:t>
            </a:r>
            <a:r>
              <a:rPr dirty="0" spc="-890">
                <a:solidFill>
                  <a:srgbClr val="000000"/>
                </a:solidFill>
              </a:rPr>
              <a:t>r</a:t>
            </a:r>
            <a:r>
              <a:rPr dirty="0" spc="-890"/>
              <a:t>r</a:t>
            </a:r>
            <a:r>
              <a:rPr dirty="0" spc="-890">
                <a:solidFill>
                  <a:srgbClr val="000000"/>
                </a:solidFill>
              </a:rPr>
              <a:t>e</a:t>
            </a:r>
            <a:r>
              <a:rPr dirty="0" spc="-890"/>
              <a:t>e</a:t>
            </a:r>
            <a:r>
              <a:rPr dirty="0" spc="-890">
                <a:solidFill>
                  <a:srgbClr val="000000"/>
                </a:solidFill>
              </a:rPr>
              <a:t>c</a:t>
            </a:r>
            <a:r>
              <a:rPr dirty="0" spc="-890"/>
              <a:t>c</a:t>
            </a:r>
            <a:r>
              <a:rPr dirty="0" spc="-890">
                <a:solidFill>
                  <a:srgbClr val="000000"/>
                </a:solidFill>
              </a:rPr>
              <a:t>a</a:t>
            </a:r>
            <a:r>
              <a:rPr dirty="0" spc="-890"/>
              <a:t>a</a:t>
            </a:r>
            <a:r>
              <a:rPr dirty="0" spc="-890">
                <a:solidFill>
                  <a:srgbClr val="000000"/>
                </a:solidFill>
              </a:rPr>
              <a:t>s</a:t>
            </a:r>
            <a:r>
              <a:rPr dirty="0" spc="-890"/>
              <a:t>s</a:t>
            </a:r>
            <a:r>
              <a:rPr dirty="0" spc="-890">
                <a:solidFill>
                  <a:srgbClr val="000000"/>
                </a:solidFill>
              </a:rPr>
              <a:t>t</a:t>
            </a:r>
            <a:r>
              <a:rPr dirty="0" spc="-890"/>
              <a:t>t</a:t>
            </a:r>
            <a:r>
              <a:rPr dirty="0" spc="-890">
                <a:solidFill>
                  <a:srgbClr val="000000"/>
                </a:solidFill>
              </a:rPr>
              <a:t>s</a:t>
            </a:r>
            <a:r>
              <a:rPr dirty="0" spc="-89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6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6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9033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Historic</a:t>
            </a:r>
            <a:r>
              <a:rPr dirty="0" sz="3350" spc="-40">
                <a:solidFill>
                  <a:srgbClr val="C2132D"/>
                </a:solidFill>
              </a:rPr>
              <a:t> </a:t>
            </a:r>
            <a:r>
              <a:rPr dirty="0" sz="3350" spc="-5">
                <a:solidFill>
                  <a:srgbClr val="C2132D"/>
                </a:solidFill>
              </a:rPr>
              <a:t>Mean/Average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854329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Historic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Mean/Average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simplest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the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the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historical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 as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all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periods.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pc="-5"/>
              <a:t>Assumptions about </a:t>
            </a:r>
            <a:r>
              <a:rPr dirty="0"/>
              <a:t>the </a:t>
            </a:r>
            <a:r>
              <a:rPr dirty="0" spc="-5"/>
              <a:t>Data Generating Process</a:t>
            </a:r>
            <a:r>
              <a:rPr dirty="0" spc="-10"/>
              <a:t> </a:t>
            </a:r>
            <a:r>
              <a:rPr dirty="0" spc="-5"/>
              <a:t>(DGP)</a:t>
            </a:r>
            <a:r>
              <a:rPr dirty="0" spc="-5" b="0">
                <a:solidFill>
                  <a:srgbClr val="585D60"/>
                </a:solidFill>
                <a:latin typeface="Roboto"/>
                <a:cs typeface="Roboto"/>
              </a:rPr>
              <a:t>:</a:t>
            </a: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Future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be similar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past.</a:t>
            </a:r>
            <a:endParaRPr sz="1800">
              <a:latin typeface="Roboto"/>
              <a:cs typeface="Roboto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generating 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relatively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stationary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(fixed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mean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with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random noise)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 seasonality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 trends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(obviously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the mean is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fixed).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2187575"/>
            <a:ext cx="39706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  <a:tab pos="377952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Mathematical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Rep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r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esentation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600" spc="-65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1543" sz="270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3616" y="2321305"/>
            <a:ext cx="132969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53465" algn="l"/>
              </a:tabLst>
            </a:pPr>
            <a:r>
              <a:rPr dirty="0" baseline="2415" sz="1725" spc="20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2222" sz="1875" spc="-7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2415" sz="1725" spc="135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baseline="2415" sz="1725" spc="135" i="1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80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1509" y="2210663"/>
            <a:ext cx="24447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600" spc="1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95" i="1">
                <a:solidFill>
                  <a:srgbClr val="585D60"/>
                </a:solidFill>
                <a:latin typeface="Arial"/>
                <a:cs typeface="Arial"/>
              </a:rPr>
              <a:t>i</a:t>
            </a:r>
            <a:endParaRPr baseline="-12077" sz="172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5498" y="2073275"/>
            <a:ext cx="539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u="sng" baseline="-6666" sz="1875" spc="-232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r>
              <a:rPr dirty="0" baseline="-6666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-27777" sz="2700" spc="562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1150" spc="37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12208" y="2347147"/>
            <a:ext cx="8382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4408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Historic </a:t>
            </a:r>
            <a:r>
              <a:rPr dirty="0" sz="3350" spc="-5">
                <a:solidFill>
                  <a:srgbClr val="C2132D"/>
                </a:solidFill>
              </a:rPr>
              <a:t>Mean/Average: </a:t>
            </a:r>
            <a:r>
              <a:rPr dirty="0" sz="3350">
                <a:solidFill>
                  <a:srgbClr val="C2132D"/>
                </a:solidFill>
              </a:rPr>
              <a:t>Fixed</a:t>
            </a:r>
            <a:r>
              <a:rPr dirty="0" sz="3350" spc="1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Window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5057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8054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8150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8007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8007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877083"/>
            <a:ext cx="9159240" cy="549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Notes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plot above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shows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historic average forecast for the retail trade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light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gray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region represents the training data, while the red region represents the test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vertical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dashed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line indicates the split point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between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training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test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training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-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model,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while the test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evaluate the model's</a:t>
            </a:r>
            <a:r>
              <a:rPr dirty="0" sz="850" spc="1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8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Obviously,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historic average forecast 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straight line,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as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it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same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for all future periods.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Furthermore,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it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terrible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choice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for this dataset since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it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clearly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has 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positive</a:t>
            </a:r>
            <a:r>
              <a:rPr dirty="0" sz="850" spc="8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trend.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28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5450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Naive</a:t>
            </a:r>
            <a:r>
              <a:rPr dirty="0" sz="3350" spc="-55">
                <a:solidFill>
                  <a:srgbClr val="C2132D"/>
                </a:solidFill>
              </a:rPr>
              <a:t> </a:t>
            </a:r>
            <a:r>
              <a:rPr dirty="0" sz="3350">
                <a:solidFill>
                  <a:srgbClr val="C2132D"/>
                </a:solidFill>
              </a:rPr>
              <a:t>Forecast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36054" y="1376044"/>
            <a:ext cx="9478645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34544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Naive 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 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assumes that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 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be the same as the  last observed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value.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Mathematical Representation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600" spc="-13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202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20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20000" sz="1875" spc="-20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21739" sz="1725" spc="-202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baseline="-21739" sz="1725" spc="6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6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baseline="-12077" sz="1725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Assumptions about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Generating Process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(DGP)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Future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be similar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most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past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value.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generating 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either be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relatively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stationary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follow a random</a:t>
            </a:r>
            <a:r>
              <a:rPr dirty="0" sz="1800" spc="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walk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29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825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</a:rPr>
              <a:t>Naive </a:t>
            </a:r>
            <a:r>
              <a:rPr dirty="0" sz="3350">
                <a:solidFill>
                  <a:srgbClr val="C2132D"/>
                </a:solidFill>
              </a:rPr>
              <a:t>Forecast: Fixed</a:t>
            </a:r>
            <a:r>
              <a:rPr dirty="0" sz="3350" spc="-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Window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5057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653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6626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705633"/>
            <a:ext cx="9258300" cy="720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Notes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plot above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shows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naive forecast for the retail trade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light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gray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region represents the training data, while the red region represents the test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vertical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dashed 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line indicates the split point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between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training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test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training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-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model,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while the test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evaluate the model's</a:t>
            </a:r>
            <a:r>
              <a:rPr dirty="0" sz="850" spc="-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850">
              <a:latin typeface="Roboto"/>
              <a:cs typeface="Roboto"/>
            </a:endParaRPr>
          </a:p>
          <a:p>
            <a:pPr marL="12700" marR="196850">
              <a:lnSpc>
                <a:spcPct val="125000"/>
              </a:lnSpc>
              <a:spcBef>
                <a:spcPts val="37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naive forecast lags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training data,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and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straightline for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holdout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dataset since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we do not update 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naive forecast for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fixed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window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approach. Similar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historic  average forecast,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naive forecast 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terrible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choice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for this dataset since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it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clearly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has 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positive</a:t>
            </a:r>
            <a:r>
              <a:rPr dirty="0" sz="850" spc="-8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trend.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935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Seasonal </a:t>
            </a:r>
            <a:r>
              <a:rPr dirty="0" sz="3350" spc="5">
                <a:solidFill>
                  <a:srgbClr val="C2132D"/>
                </a:solidFill>
              </a:rPr>
              <a:t>Naive</a:t>
            </a:r>
            <a:r>
              <a:rPr dirty="0" sz="3350" spc="-45">
                <a:solidFill>
                  <a:srgbClr val="C2132D"/>
                </a:solidFill>
              </a:rPr>
              <a:t> </a:t>
            </a:r>
            <a:r>
              <a:rPr dirty="0" sz="3350">
                <a:solidFill>
                  <a:srgbClr val="C2132D"/>
                </a:solidFill>
              </a:rPr>
              <a:t>Forecast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36054" y="1376044"/>
            <a:ext cx="9448800" cy="241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marR="17780" indent="-133985">
              <a:lnSpc>
                <a:spcPct val="118100"/>
              </a:lnSpc>
              <a:spcBef>
                <a:spcPts val="10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Naive 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seasonal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 forecast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assumes that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future value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be  the same as the last observed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same season.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Mathematical Representation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600" spc="-13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1543" sz="2700" spc="-202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20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20000" sz="1875" spc="-20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21739" sz="1725" spc="-202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baseline="-21739" sz="1725" spc="67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7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1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1111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12077" sz="1725" spc="112" i="1">
                <a:solidFill>
                  <a:srgbClr val="585D60"/>
                </a:solidFill>
                <a:latin typeface="Arial"/>
                <a:cs typeface="Arial"/>
              </a:rPr>
              <a:t>h</a:t>
            </a:r>
            <a:r>
              <a:rPr dirty="0" baseline="-11111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2077" sz="1725" spc="112" i="1">
                <a:solidFill>
                  <a:srgbClr val="585D60"/>
                </a:solidFill>
                <a:latin typeface="Arial"/>
                <a:cs typeface="Arial"/>
              </a:rPr>
              <a:t>m</a:t>
            </a:r>
            <a:r>
              <a:rPr dirty="0" sz="1800" spc="7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600" spc="245" i="1">
                <a:solidFill>
                  <a:srgbClr val="585D60"/>
                </a:solidFill>
                <a:latin typeface="Arial"/>
                <a:cs typeface="Arial"/>
              </a:rPr>
              <a:t>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the seasonal</a:t>
            </a:r>
            <a:r>
              <a:rPr dirty="0" sz="1800" spc="-2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period.</a:t>
            </a:r>
            <a:endParaRPr sz="1800">
              <a:latin typeface="Roboto"/>
              <a:cs typeface="Roboto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593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Assumptions about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Generating Process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(DGP)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Future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be similar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most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past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value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same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season.</a:t>
            </a:r>
            <a:endParaRPr sz="1800">
              <a:latin typeface="Roboto"/>
              <a:cs typeface="Roboto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403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generating process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be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seasonal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but with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 trends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31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73163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">
                <a:solidFill>
                  <a:srgbClr val="C2132D"/>
                </a:solidFill>
              </a:rPr>
              <a:t>Seasonal </a:t>
            </a:r>
            <a:r>
              <a:rPr dirty="0" sz="3350" spc="5">
                <a:solidFill>
                  <a:srgbClr val="C2132D"/>
                </a:solidFill>
              </a:rPr>
              <a:t>Naive </a:t>
            </a:r>
            <a:r>
              <a:rPr dirty="0" sz="3350">
                <a:solidFill>
                  <a:srgbClr val="C2132D"/>
                </a:solidFill>
              </a:rPr>
              <a:t>Forecast: Fixed</a:t>
            </a:r>
            <a:r>
              <a:rPr dirty="0" sz="3350" spc="5">
                <a:solidFill>
                  <a:srgbClr val="C2132D"/>
                </a:solidFill>
              </a:rPr>
              <a:t> </a:t>
            </a:r>
            <a:r>
              <a:rPr dirty="0" sz="3350" spc="10">
                <a:solidFill>
                  <a:srgbClr val="C2132D"/>
                </a:solidFill>
              </a:rPr>
              <a:t>Window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914400" y="1428750"/>
            <a:ext cx="9696449" cy="5057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5653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566261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64832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5705633"/>
            <a:ext cx="9342120" cy="720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Notes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plot above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shows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seasonal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naive forecast for the retail trade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light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gray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region represents the training data, while the red region represents the test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vertical 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dashed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line indicates the split point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between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training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test data.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training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-5">
                <a:solidFill>
                  <a:srgbClr val="585D60"/>
                </a:solidFill>
                <a:latin typeface="Roboto"/>
                <a:cs typeface="Roboto"/>
              </a:rPr>
              <a:t>fit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model,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while the test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data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used </a:t>
            </a:r>
            <a:r>
              <a:rPr dirty="0" sz="850" spc="5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evaluate the model's</a:t>
            </a:r>
            <a:r>
              <a:rPr dirty="0" sz="85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performance.</a:t>
            </a:r>
            <a:endParaRPr sz="850">
              <a:latin typeface="Roboto"/>
              <a:cs typeface="Roboto"/>
            </a:endParaRPr>
          </a:p>
          <a:p>
            <a:pPr marL="12700" marR="20955">
              <a:lnSpc>
                <a:spcPct val="125000"/>
              </a:lnSpc>
              <a:spcBef>
                <a:spcPts val="375"/>
              </a:spcBef>
            </a:pP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seasonal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naive forecast lags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training data,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and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worse than the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naive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model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(since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now the data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lags by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12 months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instead of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1 month);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it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would be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better </a:t>
            </a:r>
            <a:r>
              <a:rPr dirty="0" sz="850" spc="5" b="1">
                <a:solidFill>
                  <a:srgbClr val="C2132D"/>
                </a:solidFill>
                <a:latin typeface="Roboto"/>
                <a:cs typeface="Roboto"/>
              </a:rPr>
              <a:t>if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the data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is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seasonal 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with </a:t>
            </a:r>
            <a:r>
              <a:rPr dirty="0" sz="850" spc="15" b="1">
                <a:solidFill>
                  <a:srgbClr val="C2132D"/>
                </a:solidFill>
                <a:latin typeface="Roboto"/>
                <a:cs typeface="Roboto"/>
              </a:rPr>
              <a:t>no</a:t>
            </a:r>
            <a:r>
              <a:rPr dirty="0" sz="850" spc="-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trends.</a:t>
            </a:r>
            <a:endParaRPr sz="8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32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65376" y="2502408"/>
            <a:ext cx="7802880" cy="1036319"/>
          </a:xfrm>
          <a:custGeom>
            <a:avLst/>
            <a:gdLst/>
            <a:ahLst/>
            <a:cxnLst/>
            <a:rect l="l" t="t" r="r" b="b"/>
            <a:pathLst>
              <a:path w="7802880" h="1036320">
                <a:moveTo>
                  <a:pt x="0" y="0"/>
                </a:moveTo>
                <a:lnTo>
                  <a:pt x="7802880" y="0"/>
                </a:lnTo>
                <a:lnTo>
                  <a:pt x="7802880" y="1036320"/>
                </a:lnTo>
                <a:lnTo>
                  <a:pt x="0" y="10363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81272" y="3041904"/>
            <a:ext cx="3365500" cy="917575"/>
          </a:xfrm>
          <a:custGeom>
            <a:avLst/>
            <a:gdLst/>
            <a:ahLst/>
            <a:cxnLst/>
            <a:rect l="l" t="t" r="r" b="b"/>
            <a:pathLst>
              <a:path w="3365500" h="917575">
                <a:moveTo>
                  <a:pt x="0" y="0"/>
                </a:moveTo>
                <a:lnTo>
                  <a:pt x="3364992" y="0"/>
                </a:lnTo>
                <a:lnTo>
                  <a:pt x="3364992" y="917448"/>
                </a:lnTo>
                <a:lnTo>
                  <a:pt x="0" y="91744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0291" y="2625725"/>
            <a:ext cx="6949440" cy="11779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 marR="125095">
              <a:lnSpc>
                <a:spcPts val="4520"/>
              </a:lnSpc>
              <a:spcBef>
                <a:spcPts val="125"/>
              </a:spcBef>
              <a:tabLst>
                <a:tab pos="4831715" algn="l"/>
              </a:tabLst>
            </a:pPr>
            <a:r>
              <a:rPr dirty="0" spc="-919">
                <a:solidFill>
                  <a:srgbClr val="000000"/>
                </a:solidFill>
              </a:rPr>
              <a:t>I</a:t>
            </a:r>
            <a:r>
              <a:rPr dirty="0" spc="-919"/>
              <a:t>I</a:t>
            </a:r>
            <a:r>
              <a:rPr dirty="0" spc="-919">
                <a:solidFill>
                  <a:srgbClr val="000000"/>
                </a:solidFill>
              </a:rPr>
              <a:t>m</a:t>
            </a:r>
            <a:r>
              <a:rPr dirty="0" spc="-919"/>
              <a:t>m</a:t>
            </a:r>
            <a:r>
              <a:rPr dirty="0" spc="-919">
                <a:solidFill>
                  <a:srgbClr val="000000"/>
                </a:solidFill>
              </a:rPr>
              <a:t>p</a:t>
            </a:r>
            <a:r>
              <a:rPr dirty="0" spc="-919"/>
              <a:t>p</a:t>
            </a:r>
            <a:r>
              <a:rPr dirty="0" spc="-919">
                <a:solidFill>
                  <a:srgbClr val="000000"/>
                </a:solidFill>
              </a:rPr>
              <a:t>l</a:t>
            </a:r>
            <a:r>
              <a:rPr dirty="0" spc="-919"/>
              <a:t>l</a:t>
            </a:r>
            <a:r>
              <a:rPr dirty="0" spc="-919">
                <a:solidFill>
                  <a:srgbClr val="000000"/>
                </a:solidFill>
              </a:rPr>
              <a:t>e</a:t>
            </a:r>
            <a:r>
              <a:rPr dirty="0" spc="-919"/>
              <a:t>e</a:t>
            </a:r>
            <a:r>
              <a:rPr dirty="0" spc="-919">
                <a:solidFill>
                  <a:srgbClr val="000000"/>
                </a:solidFill>
              </a:rPr>
              <a:t>m</a:t>
            </a:r>
            <a:r>
              <a:rPr dirty="0" spc="-919"/>
              <a:t>m</a:t>
            </a:r>
            <a:r>
              <a:rPr dirty="0" spc="-919">
                <a:solidFill>
                  <a:srgbClr val="000000"/>
                </a:solidFill>
              </a:rPr>
              <a:t>e</a:t>
            </a:r>
            <a:r>
              <a:rPr dirty="0" spc="-919"/>
              <a:t>e</a:t>
            </a:r>
            <a:r>
              <a:rPr dirty="0" spc="-919">
                <a:solidFill>
                  <a:srgbClr val="000000"/>
                </a:solidFill>
              </a:rPr>
              <a:t>n</a:t>
            </a:r>
            <a:r>
              <a:rPr dirty="0" spc="-919"/>
              <a:t>n</a:t>
            </a:r>
            <a:r>
              <a:rPr dirty="0" spc="-919">
                <a:solidFill>
                  <a:srgbClr val="000000"/>
                </a:solidFill>
              </a:rPr>
              <a:t>t</a:t>
            </a:r>
            <a:r>
              <a:rPr dirty="0" spc="-919"/>
              <a:t>t</a:t>
            </a:r>
            <a:r>
              <a:rPr dirty="0" spc="-919">
                <a:solidFill>
                  <a:srgbClr val="000000"/>
                </a:solidFill>
              </a:rPr>
              <a:t>i</a:t>
            </a:r>
            <a:r>
              <a:rPr dirty="0" spc="-919"/>
              <a:t>i</a:t>
            </a:r>
            <a:r>
              <a:rPr dirty="0" spc="-919">
                <a:solidFill>
                  <a:srgbClr val="000000"/>
                </a:solidFill>
              </a:rPr>
              <a:t>n</a:t>
            </a:r>
            <a:r>
              <a:rPr dirty="0" spc="-919"/>
              <a:t>n</a:t>
            </a:r>
            <a:r>
              <a:rPr dirty="0" spc="-919">
                <a:solidFill>
                  <a:srgbClr val="000000"/>
                </a:solidFill>
              </a:rPr>
              <a:t>g</a:t>
            </a:r>
            <a:r>
              <a:rPr dirty="0" spc="-919"/>
              <a:t>g                                                   </a:t>
            </a:r>
            <a:r>
              <a:rPr dirty="0" spc="-915"/>
              <a:t> </a:t>
            </a:r>
            <a:r>
              <a:rPr dirty="0" spc="-844">
                <a:solidFill>
                  <a:srgbClr val="000000"/>
                </a:solidFill>
              </a:rPr>
              <a:t>B</a:t>
            </a:r>
            <a:r>
              <a:rPr dirty="0" spc="-844"/>
              <a:t>B</a:t>
            </a:r>
            <a:r>
              <a:rPr dirty="0" spc="-844">
                <a:solidFill>
                  <a:srgbClr val="000000"/>
                </a:solidFill>
              </a:rPr>
              <a:t>a</a:t>
            </a:r>
            <a:r>
              <a:rPr dirty="0" spc="-844"/>
              <a:t>a</a:t>
            </a:r>
            <a:r>
              <a:rPr dirty="0" spc="-844">
                <a:solidFill>
                  <a:srgbClr val="000000"/>
                </a:solidFill>
              </a:rPr>
              <a:t>s</a:t>
            </a:r>
            <a:r>
              <a:rPr dirty="0" spc="-844"/>
              <a:t>s</a:t>
            </a:r>
            <a:r>
              <a:rPr dirty="0" spc="-844">
                <a:solidFill>
                  <a:srgbClr val="000000"/>
                </a:solidFill>
              </a:rPr>
              <a:t>e</a:t>
            </a:r>
            <a:r>
              <a:rPr dirty="0" spc="-844"/>
              <a:t>e</a:t>
            </a:r>
            <a:r>
              <a:rPr dirty="0" spc="-844">
                <a:solidFill>
                  <a:srgbClr val="000000"/>
                </a:solidFill>
              </a:rPr>
              <a:t>l</a:t>
            </a:r>
            <a:r>
              <a:rPr dirty="0" spc="-844"/>
              <a:t>li</a:t>
            </a:r>
            <a:r>
              <a:rPr dirty="0" spc="-844">
                <a:solidFill>
                  <a:srgbClr val="000000"/>
                </a:solidFill>
              </a:rPr>
              <a:t>in</a:t>
            </a:r>
            <a:r>
              <a:rPr dirty="0" spc="-844"/>
              <a:t>n	</a:t>
            </a:r>
            <a:r>
              <a:rPr dirty="0" spc="-990"/>
              <a:t>M</a:t>
            </a:r>
            <a:r>
              <a:rPr dirty="0" spc="-990">
                <a:solidFill>
                  <a:srgbClr val="000000"/>
                </a:solidFill>
              </a:rPr>
              <a:t>M</a:t>
            </a:r>
            <a:r>
              <a:rPr dirty="0" spc="-990"/>
              <a:t>o</a:t>
            </a:r>
            <a:r>
              <a:rPr dirty="0" spc="-990">
                <a:solidFill>
                  <a:srgbClr val="000000"/>
                </a:solidFill>
              </a:rPr>
              <a:t>od</a:t>
            </a:r>
            <a:r>
              <a:rPr dirty="0" spc="-990"/>
              <a:t>d</a:t>
            </a:r>
            <a:r>
              <a:rPr dirty="0" spc="-990">
                <a:solidFill>
                  <a:srgbClr val="000000"/>
                </a:solidFill>
              </a:rPr>
              <a:t>e</a:t>
            </a:r>
            <a:r>
              <a:rPr dirty="0" spc="-990"/>
              <a:t>el</a:t>
            </a:r>
            <a:r>
              <a:rPr dirty="0" spc="-990">
                <a:solidFill>
                  <a:srgbClr val="000000"/>
                </a:solidFill>
              </a:rPr>
              <a:t>l</a:t>
            </a:r>
            <a:r>
              <a:rPr dirty="0" spc="-990"/>
              <a:t>s</a:t>
            </a:r>
            <a:r>
              <a:rPr dirty="0" spc="-990">
                <a:solidFill>
                  <a:srgbClr val="000000"/>
                </a:solidFill>
              </a:rPr>
              <a:t>s</a:t>
            </a:r>
            <a:r>
              <a:rPr dirty="0" spc="-40">
                <a:solidFill>
                  <a:srgbClr val="000000"/>
                </a:solidFill>
              </a:rPr>
              <a:t> </a:t>
            </a:r>
            <a:r>
              <a:rPr dirty="0" spc="-1135"/>
              <a:t>w</a:t>
            </a:r>
            <a:r>
              <a:rPr dirty="0" spc="-1135">
                <a:solidFill>
                  <a:srgbClr val="000000"/>
                </a:solidFill>
              </a:rPr>
              <a:t>w</a:t>
            </a:r>
            <a:r>
              <a:rPr dirty="0" spc="-1135"/>
              <a:t>i</a:t>
            </a:r>
            <a:r>
              <a:rPr dirty="0" spc="-1135">
                <a:solidFill>
                  <a:srgbClr val="000000"/>
                </a:solidFill>
              </a:rPr>
              <a:t>i</a:t>
            </a:r>
          </a:p>
          <a:p>
            <a:pPr algn="ctr" marL="394970">
              <a:lnSpc>
                <a:spcPts val="4520"/>
              </a:lnSpc>
            </a:pPr>
            <a:r>
              <a:rPr dirty="0" spc="-865"/>
              <a:t>S</a:t>
            </a:r>
            <a:r>
              <a:rPr dirty="0" spc="-865">
                <a:solidFill>
                  <a:srgbClr val="000000"/>
                </a:solidFill>
              </a:rPr>
              <a:t>St</a:t>
            </a:r>
            <a:r>
              <a:rPr dirty="0" spc="-865"/>
              <a:t>ta</a:t>
            </a:r>
            <a:r>
              <a:rPr dirty="0" spc="-865">
                <a:solidFill>
                  <a:srgbClr val="000000"/>
                </a:solidFill>
              </a:rPr>
              <a:t>at</a:t>
            </a:r>
            <a:r>
              <a:rPr dirty="0" spc="-865"/>
              <a:t>ts</a:t>
            </a:r>
            <a:r>
              <a:rPr dirty="0" spc="-865">
                <a:solidFill>
                  <a:srgbClr val="000000"/>
                </a:solidFill>
              </a:rPr>
              <a:t>sF</a:t>
            </a:r>
            <a:r>
              <a:rPr dirty="0" spc="-865"/>
              <a:t>Fo</a:t>
            </a:r>
            <a:r>
              <a:rPr dirty="0" spc="-865">
                <a:solidFill>
                  <a:srgbClr val="000000"/>
                </a:solidFill>
              </a:rPr>
              <a:t>o</a:t>
            </a:r>
            <a:r>
              <a:rPr dirty="0" spc="-865"/>
              <a:t>r</a:t>
            </a:r>
            <a:r>
              <a:rPr dirty="0" spc="-865">
                <a:solidFill>
                  <a:srgbClr val="000000"/>
                </a:solidFill>
              </a:rPr>
              <a:t>r</a:t>
            </a:r>
            <a:r>
              <a:rPr dirty="0" spc="-865"/>
              <a:t>e</a:t>
            </a:r>
            <a:r>
              <a:rPr dirty="0" spc="-865">
                <a:solidFill>
                  <a:srgbClr val="000000"/>
                </a:solidFill>
              </a:rPr>
              <a:t>e</a:t>
            </a:r>
            <a:r>
              <a:rPr dirty="0" spc="-865"/>
              <a:t>c</a:t>
            </a:r>
            <a:r>
              <a:rPr dirty="0" spc="-865">
                <a:solidFill>
                  <a:srgbClr val="000000"/>
                </a:solidFill>
              </a:rPr>
              <a:t>c</a:t>
            </a:r>
            <a:r>
              <a:rPr dirty="0" spc="-865"/>
              <a:t>a</a:t>
            </a:r>
            <a:r>
              <a:rPr dirty="0" spc="-865">
                <a:solidFill>
                  <a:srgbClr val="000000"/>
                </a:solidFill>
              </a:rPr>
              <a:t>a</a:t>
            </a:r>
            <a:r>
              <a:rPr dirty="0" spc="-865"/>
              <a:t>s</a:t>
            </a:r>
            <a:r>
              <a:rPr dirty="0" spc="-865">
                <a:solidFill>
                  <a:srgbClr val="000000"/>
                </a:solidFill>
              </a:rPr>
              <a:t>st</a:t>
            </a:r>
            <a:r>
              <a:rPr dirty="0" spc="-865"/>
              <a:t>t</a:t>
            </a:r>
          </a:p>
        </p:txBody>
      </p:sp>
      <p:sp>
        <p:nvSpPr>
          <p:cNvPr id="6" name="object 6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179133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Live</a:t>
            </a:r>
            <a:r>
              <a:rPr dirty="0" sz="3350" spc="-8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 spc="15">
                <a:solidFill>
                  <a:srgbClr val="C2132D"/>
                </a:solidFill>
                <a:latin typeface="Roboto Condensed"/>
                <a:cs typeface="Roboto Condensed"/>
              </a:rPr>
              <a:t>Demo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122410" cy="99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now implement 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historic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average,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seasonal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 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the 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</a:rPr>
              <a:t>StatsForecast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library.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 in-class implementation will highlight both the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fixed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window and 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rolling-origin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approaches.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34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994">
                <a:solidFill>
                  <a:srgbClr val="000000"/>
                </a:solidFill>
              </a:rPr>
              <a:t>R</a:t>
            </a:r>
            <a:r>
              <a:rPr dirty="0" spc="-994"/>
              <a:t>R</a:t>
            </a:r>
            <a:r>
              <a:rPr dirty="0" spc="-994">
                <a:solidFill>
                  <a:srgbClr val="000000"/>
                </a:solidFill>
              </a:rPr>
              <a:t>e</a:t>
            </a:r>
            <a:r>
              <a:rPr dirty="0" spc="-994"/>
              <a:t>e</a:t>
            </a:r>
            <a:r>
              <a:rPr dirty="0" spc="-994">
                <a:solidFill>
                  <a:srgbClr val="000000"/>
                </a:solidFill>
              </a:rPr>
              <a:t>c</a:t>
            </a:r>
            <a:r>
              <a:rPr dirty="0" spc="-994"/>
              <a:t>c</a:t>
            </a:r>
            <a:r>
              <a:rPr dirty="0" spc="-994">
                <a:solidFill>
                  <a:srgbClr val="000000"/>
                </a:solidFill>
              </a:rPr>
              <a:t>a</a:t>
            </a:r>
            <a:r>
              <a:rPr dirty="0" spc="-994"/>
              <a:t>a</a:t>
            </a:r>
            <a:r>
              <a:rPr dirty="0" spc="-994">
                <a:solidFill>
                  <a:srgbClr val="000000"/>
                </a:solidFill>
              </a:rPr>
              <a:t>p</a:t>
            </a:r>
            <a:r>
              <a:rPr dirty="0" spc="-994"/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5">
                <a:solidFill>
                  <a:srgbClr val="C2132D"/>
                </a:solidFill>
              </a:rPr>
              <a:t>Summary </a:t>
            </a:r>
            <a:r>
              <a:rPr dirty="0" sz="3350" spc="10">
                <a:solidFill>
                  <a:srgbClr val="C2132D"/>
                </a:solidFill>
              </a:rPr>
              <a:t>of Main</a:t>
            </a:r>
            <a:r>
              <a:rPr dirty="0" sz="3350" spc="-65">
                <a:solidFill>
                  <a:srgbClr val="C2132D"/>
                </a:solidFill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Points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400415" cy="334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 marL="393065" marR="5080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Install and 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Nixtla's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libraries (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StatsForecast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MLForecast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NeuralForecast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5"/>
              </a:rPr>
              <a:t> UtilsForecast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TimeGPT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) for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Distinguish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fixed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window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rolling-origin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Introduce forecast accuracy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metrics (MAE, MAPE,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RMSE)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Recognize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importance of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time series</a:t>
            </a:r>
            <a:r>
              <a:rPr dirty="0" sz="1800" spc="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forecasting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Identify common baseline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forecasts (Naive,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Seasonal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Naive,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etc.)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Implement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baseline models with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7"/>
              </a:rPr>
              <a:t> StatsForecast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solidFill>
                  <a:srgbClr val="C2132D"/>
                </a:solidFill>
                <a:latin typeface="Arial"/>
                <a:cs typeface="Arial"/>
              </a:rPr>
              <a:t>📝</a:t>
            </a:r>
            <a:r>
              <a:rPr dirty="0" sz="3300" spc="-195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3350" spc="5">
                <a:solidFill>
                  <a:srgbClr val="C2132D"/>
                </a:solidFill>
              </a:rPr>
              <a:t>Review </a:t>
            </a:r>
            <a:r>
              <a:rPr dirty="0" sz="3350" spc="10">
                <a:solidFill>
                  <a:srgbClr val="C2132D"/>
                </a:solidFill>
              </a:rPr>
              <a:t>and </a:t>
            </a:r>
            <a:r>
              <a:rPr dirty="0" sz="3350" spc="-5">
                <a:solidFill>
                  <a:srgbClr val="C2132D"/>
                </a:solidFill>
              </a:rPr>
              <a:t>Clarification </a:t>
            </a:r>
            <a:r>
              <a:rPr dirty="0" sz="3300" spc="2155">
                <a:solidFill>
                  <a:srgbClr val="C2132D"/>
                </a:solidFill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 Notes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Take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revisit 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notes 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key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insights and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concepts.</a:t>
            </a:r>
            <a:endParaRPr sz="1800">
              <a:latin typeface="Roboto"/>
              <a:cs typeface="Roboto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Zoom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Recording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recording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of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will be made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available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  approximately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3-4 hours after the session ends.</a:t>
            </a:r>
            <a:endParaRPr sz="1800">
              <a:latin typeface="Roboto"/>
              <a:cs typeface="Roboto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Questions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don't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hesitate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ask 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clarification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any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topics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discussed in class.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It's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crucial not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questions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accumulate.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37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2025-09-29T22:34:03Z</dcterms:created>
  <dcterms:modified xsi:type="dcterms:W3CDTF">2025-09-29T22:34:03Z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2025-09-29T00:00:00Z</vt:filetime>
  </property>
  <property fmtid="{D5CDD505-2E9C-101B-9397-08002B2CF9AE}" pid="3" name="Creator">
    <vt:lpwstr>Mozilla/5.0 (Windows NT 10.0; Win64; x64) AppleWebKit/537.36 (KHTML, like Gecko) Chrome/140.0.0.0 Safari/537.36</vt:lpwstr>
  </property>
  <property fmtid="{D5CDD505-2E9C-101B-9397-08002B2CF9AE}" pid="4" name="LastSaved">
    <vt:filetime>2025-09-29T00:00:00Z</vt:filetime>
  </property>
</Properties>
</file>