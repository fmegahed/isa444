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9052" y="320675"/>
            <a:ext cx="1065349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2132D"/>
                </a:solidFill>
                <a:latin typeface="Courier New"/>
                <a:cs typeface="Courier New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9605" y="1425575"/>
            <a:ext cx="9592389" cy="1814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Arial"/>
                <a:cs typeface="Arial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#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#baseline-models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hyperlink" Target="https://github.com/robjhyndman/fpp3_slides/blob/main/8-1-ses.Rmd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index.html" TargetMode="External"/><Relationship Id="rId3" Type="http://schemas.openxmlformats.org/officeDocument/2006/relationships/hyperlink" Target="https://nixtlaverse.nixtla.io/statsforecast/docs/models/simpleexponentialsmoothing.html" TargetMode="External"/><Relationship Id="rId4" Type="http://schemas.openxmlformats.org/officeDocument/2006/relationships/hyperlink" Target="https://nixtlaverse.nixtla.io/statsforecast/docs/models/simpleexponentialsmoothingoptimized.html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simpleexponentialsmoothingoptimized.html" TargetMode="Externa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holt.html" TargetMode="Externa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hyperlink" Target="https://github.com/robjhyndman/fpp3_slides/blob/main/8-2-trend.Rmd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nixtlaverse.nixtla.io/statsforecast/docs/models/holtwinters.html" TargetMode="Externa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935926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>
                <a:solidFill>
                  <a:srgbClr val="FFFFFF"/>
                </a:solidFill>
                <a:latin typeface="Trebuchet MS"/>
                <a:cs typeface="Trebuchet MS"/>
              </a:rPr>
              <a:t>ISA </a:t>
            </a:r>
            <a:r>
              <a:rPr dirty="0" sz="3350" spc="-180">
                <a:solidFill>
                  <a:srgbClr val="FFFFFF"/>
                </a:solidFill>
                <a:latin typeface="Trebuchet MS"/>
                <a:cs typeface="Trebuchet MS"/>
              </a:rPr>
              <a:t>444: </a:t>
            </a:r>
            <a:r>
              <a:rPr dirty="0" sz="3350" spc="-45">
                <a:solidFill>
                  <a:srgbClr val="FFFFFF"/>
                </a:solidFill>
                <a:latin typeface="Trebuchet MS"/>
                <a:cs typeface="Trebuchet MS"/>
              </a:rPr>
              <a:t>Business</a:t>
            </a:r>
            <a:r>
              <a:rPr dirty="0" sz="3350" spc="-5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350" spc="-150">
                <a:solidFill>
                  <a:srgbClr val="FFFFFF"/>
                </a:solidFill>
                <a:latin typeface="Trebuchet MS"/>
                <a:cs typeface="Trebuchet MS"/>
              </a:rPr>
              <a:t>Forecasting</a:t>
            </a:r>
            <a:endParaRPr sz="33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12: Baseline Forecasts with Exponential Smoothing</a:t>
            </a:r>
            <a:r>
              <a:rPr dirty="0" sz="30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>
                <a:solidFill>
                  <a:srgbClr val="FFFFFF"/>
                </a:solidFill>
                <a:latin typeface="Times New Roman"/>
                <a:cs typeface="Times New Roman"/>
              </a:rPr>
              <a:t>Methods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5">
                <a:latin typeface="Arial Narrow"/>
                <a:cs typeface="Arial Narrow"/>
              </a:rPr>
              <a:t>Quick </a:t>
            </a:r>
            <a:r>
              <a:rPr dirty="0" sz="3350" spc="80">
                <a:latin typeface="Arial Narrow"/>
                <a:cs typeface="Arial Narrow"/>
              </a:rPr>
              <a:t>Refresher </a:t>
            </a:r>
            <a:r>
              <a:rPr dirty="0" sz="3350" spc="235">
                <a:latin typeface="Arial Narrow"/>
                <a:cs typeface="Arial Narrow"/>
              </a:rPr>
              <a:t>of </a:t>
            </a:r>
            <a:r>
              <a:rPr dirty="0" sz="3350" spc="140">
                <a:latin typeface="Arial Narrow"/>
                <a:cs typeface="Arial Narrow"/>
              </a:rPr>
              <a:t>Last</a:t>
            </a:r>
            <a:r>
              <a:rPr dirty="0" sz="3350" spc="-420">
                <a:latin typeface="Arial Narrow"/>
                <a:cs typeface="Arial Narrow"/>
              </a:rPr>
              <a:t> </a:t>
            </a:r>
            <a:r>
              <a:rPr dirty="0" sz="3350" spc="100">
                <a:latin typeface="Arial Narrow"/>
                <a:cs typeface="Arial Narrow"/>
              </a:rPr>
              <a:t>Class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7868284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0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Recognize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importance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baseline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forecasts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forecasting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Identify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common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baseline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forecasts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(Naive,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Naive,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etc.)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</a:t>
            </a:r>
            <a:r>
              <a:rPr dirty="0" sz="1750" spc="-35">
                <a:solidFill>
                  <a:srgbClr val="585D60"/>
                </a:solidFill>
                <a:latin typeface="Segoe UI Emoji"/>
                <a:cs typeface="Segoe UI Emoj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Implement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baseline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models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with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5">
                <a:latin typeface="Arial Narrow"/>
                <a:cs typeface="Arial Narrow"/>
              </a:rPr>
              <a:t>Learning Objectives </a:t>
            </a:r>
            <a:r>
              <a:rPr dirty="0" sz="3350" spc="190">
                <a:latin typeface="Arial Narrow"/>
                <a:cs typeface="Arial Narrow"/>
              </a:rPr>
              <a:t>for </a:t>
            </a:r>
            <a:r>
              <a:rPr dirty="0" sz="3350" spc="60">
                <a:latin typeface="Arial Narrow"/>
                <a:cs typeface="Arial Narrow"/>
              </a:rPr>
              <a:t>Today's</a:t>
            </a:r>
            <a:r>
              <a:rPr dirty="0" sz="3350" spc="-450">
                <a:latin typeface="Arial Narrow"/>
                <a:cs typeface="Arial Narrow"/>
              </a:rPr>
              <a:t> </a:t>
            </a:r>
            <a:r>
              <a:rPr dirty="0" sz="3350" spc="100">
                <a:latin typeface="Arial Narrow"/>
                <a:cs typeface="Arial Narrow"/>
              </a:rPr>
              <a:t>Class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189085" cy="2042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mathematical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background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exponential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methods,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including: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Simple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Exponential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(SES)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Double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Exponential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1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(Holt)</a:t>
            </a:r>
            <a:endParaRPr sz="1800">
              <a:latin typeface="Arial"/>
              <a:cs typeface="Arial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Triple Exponential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1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(Holt-Winters)</a:t>
            </a:r>
            <a:endParaRPr sz="180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Implement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these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exponential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methods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Python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StatsForecast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88464" y="2758440"/>
            <a:ext cx="7165975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6060">
              <a:lnSpc>
                <a:spcPct val="100000"/>
              </a:lnSpc>
              <a:spcBef>
                <a:spcPts val="1105"/>
              </a:spcBef>
            </a:pP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x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105">
                <a:solidFill>
                  <a:srgbClr val="000000"/>
                </a:solidFill>
                <a:latin typeface="Trebuchet MS"/>
                <a:cs typeface="Trebuchet MS"/>
              </a:rPr>
              <a:t>l</a:t>
            </a:r>
            <a:r>
              <a:rPr dirty="0" sz="4100" spc="-1105">
                <a:solidFill>
                  <a:srgbClr val="FFFFFF"/>
                </a:solidFill>
                <a:latin typeface="Trebuchet MS"/>
                <a:cs typeface="Trebuchet MS"/>
              </a:rPr>
              <a:t>l 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i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n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g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dirty="0" sz="4100" spc="-11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M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t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h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o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d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4100" spc="-1150">
                <a:solidFill>
                  <a:srgbClr val="000000"/>
                </a:solidFill>
                <a:latin typeface="Trebuchet MS"/>
                <a:cs typeface="Trebuchet MS"/>
              </a:rPr>
              <a:t>s</a:t>
            </a:r>
            <a:r>
              <a:rPr dirty="0" sz="4100" spc="-115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310">
                <a:latin typeface="Cambria"/>
                <a:cs typeface="Cambria"/>
              </a:rPr>
              <a:t>4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4 </a:t>
            </a:r>
            <a:r>
              <a:rPr dirty="0" sz="1200" spc="-365">
                <a:latin typeface="Cambria"/>
                <a:cs typeface="Cambria"/>
              </a:rPr>
              <a:t>/</a:t>
            </a:r>
            <a:r>
              <a:rPr dirty="0" sz="1200" spc="-36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10">
                <a:latin typeface="Cambria"/>
                <a:cs typeface="Cambria"/>
              </a:rPr>
              <a:t>2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310">
                <a:latin typeface="Cambria"/>
                <a:cs typeface="Cambria"/>
              </a:rPr>
              <a:t>4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866900"/>
            <a:ext cx="9696450" cy="2305050"/>
          </a:xfrm>
          <a:custGeom>
            <a:avLst/>
            <a:gdLst/>
            <a:ahLst/>
            <a:cxnLst/>
            <a:rect l="l" t="t" r="r" b="b"/>
            <a:pathLst>
              <a:path w="9696450" h="2305050">
                <a:moveTo>
                  <a:pt x="9553574" y="2305049"/>
                </a:moveTo>
                <a:lnTo>
                  <a:pt x="142874" y="2305049"/>
                </a:lnTo>
                <a:lnTo>
                  <a:pt x="135855" y="2304878"/>
                </a:lnTo>
                <a:lnTo>
                  <a:pt x="94749" y="2296701"/>
                </a:lnTo>
                <a:lnTo>
                  <a:pt x="57756" y="2276928"/>
                </a:lnTo>
                <a:lnTo>
                  <a:pt x="28120" y="2247292"/>
                </a:lnTo>
                <a:lnTo>
                  <a:pt x="8348" y="2210299"/>
                </a:lnTo>
                <a:lnTo>
                  <a:pt x="171" y="2169193"/>
                </a:lnTo>
                <a:lnTo>
                  <a:pt x="0" y="2162174"/>
                </a:lnTo>
                <a:lnTo>
                  <a:pt x="0" y="142874"/>
                </a:lnTo>
                <a:lnTo>
                  <a:pt x="6150" y="101399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9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2162174"/>
                </a:lnTo>
                <a:lnTo>
                  <a:pt x="9690298" y="2203649"/>
                </a:lnTo>
                <a:lnTo>
                  <a:pt x="9672370" y="2241551"/>
                </a:lnTo>
                <a:lnTo>
                  <a:pt x="9644214" y="2272619"/>
                </a:lnTo>
                <a:lnTo>
                  <a:pt x="9608250" y="2294173"/>
                </a:lnTo>
                <a:lnTo>
                  <a:pt x="9567577" y="2304363"/>
                </a:lnTo>
                <a:lnTo>
                  <a:pt x="9560592" y="2304878"/>
                </a:lnTo>
                <a:lnTo>
                  <a:pt x="9553574" y="2305049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69569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5">
                <a:latin typeface="Arial Narrow"/>
                <a:cs typeface="Arial Narrow"/>
              </a:rPr>
              <a:t>Context: </a:t>
            </a:r>
            <a:r>
              <a:rPr dirty="0" sz="3350" spc="35">
                <a:latin typeface="Arial Narrow"/>
                <a:cs typeface="Arial Narrow"/>
              </a:rPr>
              <a:t>Our </a:t>
            </a:r>
            <a:r>
              <a:rPr dirty="0" sz="3350" spc="100">
                <a:latin typeface="Arial Narrow"/>
                <a:cs typeface="Arial Narrow"/>
              </a:rPr>
              <a:t>Previously </a:t>
            </a:r>
            <a:r>
              <a:rPr dirty="0" sz="3350" spc="120">
                <a:latin typeface="Arial Narrow"/>
                <a:cs typeface="Arial Narrow"/>
              </a:rPr>
              <a:t>Discussed </a:t>
            </a:r>
            <a:r>
              <a:rPr dirty="0" sz="3350" spc="100">
                <a:latin typeface="Arial Narrow"/>
                <a:cs typeface="Arial Narrow"/>
              </a:rPr>
              <a:t>Baseline</a:t>
            </a:r>
            <a:r>
              <a:rPr dirty="0" sz="3350" spc="-330">
                <a:latin typeface="Arial Narrow"/>
                <a:cs typeface="Arial Narrow"/>
              </a:rPr>
              <a:t> </a:t>
            </a:r>
            <a:r>
              <a:rPr dirty="0" sz="3350" spc="155">
                <a:latin typeface="Arial Narrow"/>
                <a:cs typeface="Arial Narrow"/>
              </a:rPr>
              <a:t>Models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3073399"/>
            <a:ext cx="1978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Historical</a:t>
            </a:r>
            <a:r>
              <a:rPr dirty="0" sz="1800" spc="-14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Average: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406900"/>
            <a:ext cx="7419340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 b="1">
                <a:solidFill>
                  <a:srgbClr val="C2132D"/>
                </a:solidFill>
                <a:latin typeface="Trebuchet MS"/>
                <a:cs typeface="Trebuchet MS"/>
              </a:rPr>
              <a:t>Is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there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b="1">
                <a:solidFill>
                  <a:srgbClr val="C2132D"/>
                </a:solidFill>
                <a:latin typeface="Trebuchet MS"/>
                <a:cs typeface="Trebuchet MS"/>
              </a:rPr>
              <a:t>a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more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reasonable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middle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ground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between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these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two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extremes?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rebuchet MS"/>
              <a:cs typeface="Trebuchet MS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Naive: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..........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Historical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Average:</a:t>
            </a:r>
            <a:r>
              <a:rPr dirty="0" sz="1800" spc="-1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..........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.............................................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6300" y="1425575"/>
            <a:ext cx="5369560" cy="10426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have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expressed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our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as:</a:t>
            </a:r>
            <a:r>
              <a:rPr dirty="0" sz="1800" spc="2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305">
                <a:solidFill>
                  <a:srgbClr val="585D60"/>
                </a:solidFill>
                <a:latin typeface="Lucida Sans Unicode"/>
                <a:cs typeface="Lucida Sans Unicode"/>
              </a:rPr>
              <a:t>…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10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-15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00">
              <a:latin typeface="Arial"/>
              <a:cs typeface="Arial"/>
            </a:endParaRPr>
          </a:p>
          <a:p>
            <a:pPr marL="227965">
              <a:lnSpc>
                <a:spcPct val="100000"/>
              </a:lnSpc>
            </a:pP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Naive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Forecast: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35314" y="2663825"/>
            <a:ext cx="681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151" sz="2475" spc="-41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41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2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2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34806" y="2606675"/>
            <a:ext cx="524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1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0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91025" y="3511549"/>
            <a:ext cx="158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spc="-6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endParaRPr baseline="1543" sz="27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4226" y="3635755"/>
            <a:ext cx="49784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1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45534" y="3387724"/>
            <a:ext cx="4121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30864" sz="2700" spc="517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1150" spc="3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12482" y="3645280"/>
            <a:ext cx="29083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26956" y="3529609"/>
            <a:ext cx="13779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6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9024" y="3619942"/>
            <a:ext cx="83820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65117" y="3416299"/>
            <a:ext cx="4591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3148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u="sng" sz="1800" spc="32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 </a:t>
            </a:r>
            <a:r>
              <a:rPr dirty="0" u="sng" sz="1250" spc="-15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75523" y="3667567"/>
            <a:ext cx="120014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2047875"/>
          </a:xfrm>
          <a:custGeom>
            <a:avLst/>
            <a:gdLst/>
            <a:ahLst/>
            <a:cxnLst/>
            <a:rect l="l" t="t" r="r" b="b"/>
            <a:pathLst>
              <a:path w="9696450" h="2047875">
                <a:moveTo>
                  <a:pt x="9553574" y="2047874"/>
                </a:moveTo>
                <a:lnTo>
                  <a:pt x="142874" y="2047874"/>
                </a:lnTo>
                <a:lnTo>
                  <a:pt x="135855" y="2047703"/>
                </a:lnTo>
                <a:lnTo>
                  <a:pt x="94749" y="2039526"/>
                </a:lnTo>
                <a:lnTo>
                  <a:pt x="57756" y="2019753"/>
                </a:lnTo>
                <a:lnTo>
                  <a:pt x="28120" y="1990117"/>
                </a:lnTo>
                <a:lnTo>
                  <a:pt x="8348" y="1953124"/>
                </a:lnTo>
                <a:lnTo>
                  <a:pt x="171" y="1912018"/>
                </a:lnTo>
                <a:lnTo>
                  <a:pt x="0" y="1904999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904999"/>
                </a:lnTo>
                <a:lnTo>
                  <a:pt x="9690298" y="1946474"/>
                </a:lnTo>
                <a:lnTo>
                  <a:pt x="9672370" y="1984376"/>
                </a:lnTo>
                <a:lnTo>
                  <a:pt x="9644214" y="2015445"/>
                </a:lnTo>
                <a:lnTo>
                  <a:pt x="9608250" y="2036999"/>
                </a:lnTo>
                <a:lnTo>
                  <a:pt x="9567577" y="2047188"/>
                </a:lnTo>
                <a:lnTo>
                  <a:pt x="9553574" y="2047874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47949" y="3719512"/>
            <a:ext cx="6229350" cy="0"/>
          </a:xfrm>
          <a:custGeom>
            <a:avLst/>
            <a:gdLst/>
            <a:ahLst/>
            <a:cxnLst/>
            <a:rect l="l" t="t" r="r" b="b"/>
            <a:pathLst>
              <a:path w="6229350" h="0">
                <a:moveTo>
                  <a:pt x="0" y="0"/>
                </a:moveTo>
                <a:lnTo>
                  <a:pt x="62293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66999" y="3743325"/>
          <a:ext cx="6191250" cy="2324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/>
                <a:gridCol w="1266825"/>
                <a:gridCol w="1276350"/>
                <a:gridCol w="1276350"/>
                <a:gridCol w="1266825"/>
              </a:tblGrid>
              <a:tr h="309562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dirty="0" sz="1450" spc="-35" b="1">
                          <a:latin typeface="Trebuchet MS"/>
                          <a:cs typeface="Trebuchet MS"/>
                        </a:rPr>
                        <a:t>Observation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63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45" b="1">
                          <a:latin typeface="Trebuchet MS"/>
                          <a:cs typeface="Trebuchet MS"/>
                        </a:rPr>
                        <a:t>Exponentially </a:t>
                      </a: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decaying weights </a:t>
                      </a:r>
                      <a:r>
                        <a:rPr dirty="0" sz="1450" spc="15" b="1">
                          <a:latin typeface="Trebuchet MS"/>
                          <a:cs typeface="Trebuchet MS"/>
                        </a:rPr>
                        <a:t>assigned </a:t>
                      </a:r>
                      <a:r>
                        <a:rPr dirty="0" sz="1450" spc="-60" b="1">
                          <a:latin typeface="Trebuchet MS"/>
                          <a:cs typeface="Trebuchet MS"/>
                        </a:rPr>
                        <a:t>to </a:t>
                      </a:r>
                      <a:r>
                        <a:rPr dirty="0" sz="1450" spc="-20" b="1">
                          <a:latin typeface="Trebuchet MS"/>
                          <a:cs typeface="Trebuchet MS"/>
                        </a:rPr>
                        <a:t>observations</a:t>
                      </a:r>
                      <a:r>
                        <a:rPr dirty="0" sz="1450" spc="-320" b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65" b="1">
                          <a:latin typeface="Trebuchet MS"/>
                          <a:cs typeface="Trebuchet MS"/>
                        </a:rPr>
                        <a:t>for: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3337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0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1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0.2</a:t>
                      </a:r>
                      <a:r>
                        <a:rPr dirty="0" sz="1450" spc="1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0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1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0.4</a:t>
                      </a:r>
                      <a:r>
                        <a:rPr dirty="0" sz="1450" spc="1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0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1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0.6</a:t>
                      </a:r>
                      <a:r>
                        <a:rPr dirty="0" sz="1450" spc="1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70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0" i="1">
                          <a:latin typeface="Trebuchet MS"/>
                          <a:cs typeface="Trebuchet MS"/>
                        </a:rPr>
                        <a:t>α </a:t>
                      </a:r>
                      <a:r>
                        <a:rPr dirty="0" sz="1000" spc="390">
                          <a:latin typeface="Tahoma"/>
                          <a:cs typeface="Tahoma"/>
                        </a:rPr>
                        <a:t>=</a:t>
                      </a:r>
                      <a:r>
                        <a:rPr dirty="0" sz="1000" spc="150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000" spc="15">
                          <a:latin typeface="Tahoma"/>
                          <a:cs typeface="Tahoma"/>
                        </a:rPr>
                        <a:t>0.8</a:t>
                      </a:r>
                      <a:r>
                        <a:rPr dirty="0" sz="1450" spc="1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347662"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5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-112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135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450" spc="-37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8895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30">
                          <a:latin typeface="Cambria"/>
                          <a:cs typeface="Cambria"/>
                        </a:rPr>
                        <a:t>0.2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30">
                          <a:latin typeface="Cambria"/>
                          <a:cs typeface="Cambria"/>
                        </a:rPr>
                        <a:t>0.4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30">
                          <a:latin typeface="Cambria"/>
                          <a:cs typeface="Cambria"/>
                        </a:rPr>
                        <a:t>0.6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1450" spc="30">
                          <a:latin typeface="Cambria"/>
                          <a:cs typeface="Cambria"/>
                        </a:rPr>
                        <a:t>0.8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8895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14324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5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-112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9841" sz="1050" spc="300">
                          <a:latin typeface="Tahoma"/>
                          <a:cs typeface="Tahoma"/>
                        </a:rPr>
                        <a:t>−1</a:t>
                      </a:r>
                      <a:r>
                        <a:rPr dirty="0" baseline="-19841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37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25">
                          <a:latin typeface="Cambria"/>
                          <a:cs typeface="Cambria"/>
                        </a:rPr>
                        <a:t>0.16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25">
                          <a:latin typeface="Cambria"/>
                          <a:cs typeface="Cambria"/>
                        </a:rPr>
                        <a:t>0.24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25">
                          <a:latin typeface="Cambria"/>
                          <a:cs typeface="Cambria"/>
                        </a:rPr>
                        <a:t>0.24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25">
                          <a:latin typeface="Cambria"/>
                          <a:cs typeface="Cambria"/>
                        </a:rPr>
                        <a:t>0.16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52424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5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-112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9841" sz="1050" spc="300">
                          <a:latin typeface="Tahoma"/>
                          <a:cs typeface="Tahoma"/>
                        </a:rPr>
                        <a:t>−2</a:t>
                      </a:r>
                      <a:r>
                        <a:rPr dirty="0" baseline="-19841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37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20">
                          <a:latin typeface="Cambria"/>
                          <a:cs typeface="Cambria"/>
                        </a:rPr>
                        <a:t>0.128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20">
                          <a:latin typeface="Cambria"/>
                          <a:cs typeface="Cambria"/>
                        </a:rPr>
                        <a:t>0.144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20">
                          <a:latin typeface="Cambria"/>
                          <a:cs typeface="Cambria"/>
                        </a:rPr>
                        <a:t>0.096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20">
                          <a:latin typeface="Cambria"/>
                          <a:cs typeface="Cambria"/>
                        </a:rPr>
                        <a:t>0.032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314324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5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15432" sz="1350" spc="-112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15432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9841" sz="1050" spc="300">
                          <a:latin typeface="Tahoma"/>
                          <a:cs typeface="Tahoma"/>
                        </a:rPr>
                        <a:t>−3</a:t>
                      </a:r>
                      <a:r>
                        <a:rPr dirty="0" baseline="-19841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37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254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15">
                          <a:latin typeface="Cambria"/>
                          <a:cs typeface="Cambria"/>
                        </a:rPr>
                        <a:t>0.1024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15">
                          <a:latin typeface="Cambria"/>
                          <a:cs typeface="Cambria"/>
                        </a:rPr>
                        <a:t>0.0864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15">
                          <a:latin typeface="Cambria"/>
                          <a:cs typeface="Cambria"/>
                        </a:rPr>
                        <a:t>0.0384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dirty="0" sz="1450" spc="15">
                          <a:latin typeface="Cambria"/>
                          <a:cs typeface="Cambria"/>
                        </a:rPr>
                        <a:t>0.0064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254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47662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75" b="1">
                          <a:latin typeface="Trebuchet MS"/>
                          <a:cs typeface="Trebuchet MS"/>
                        </a:rPr>
                        <a:t>`</a:t>
                      </a:r>
                      <a:r>
                        <a:rPr dirty="0" sz="1250" spc="-75" i="1"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baseline="-9259" sz="1350" spc="-112" i="1"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baseline="-9259" sz="1350" spc="-232" i="1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baseline="-11904" sz="1050" spc="300">
                          <a:latin typeface="Tahoma"/>
                          <a:cs typeface="Tahoma"/>
                        </a:rPr>
                        <a:t>−4</a:t>
                      </a:r>
                      <a:r>
                        <a:rPr dirty="0" baseline="-11904" sz="1050" spc="-232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450" spc="-375" b="1">
                          <a:latin typeface="Trebuchet MS"/>
                          <a:cs typeface="Trebuchet MS"/>
                        </a:rPr>
                        <a:t>`</a:t>
                      </a:r>
                      <a:endParaRPr sz="1450">
                        <a:latin typeface="Trebuchet MS"/>
                        <a:cs typeface="Trebuchet MS"/>
                      </a:endParaRPr>
                    </a:p>
                  </a:txBody>
                  <a:tcPr marL="0" marR="0" marB="0" marT="44450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20">
                          <a:latin typeface="Cambria"/>
                          <a:cs typeface="Cambria"/>
                        </a:rPr>
                        <a:t>(0.2)(0.8)^4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20">
                          <a:latin typeface="Cambria"/>
                          <a:cs typeface="Cambria"/>
                        </a:rPr>
                        <a:t>(0.4)(0.6)^4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20">
                          <a:latin typeface="Cambria"/>
                          <a:cs typeface="Cambria"/>
                        </a:rPr>
                        <a:t>(0.6)(0.4)^4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450" spc="-20">
                          <a:latin typeface="Cambria"/>
                          <a:cs typeface="Cambria"/>
                        </a:rPr>
                        <a:t>(0.8)(0.2)^4</a:t>
                      </a:r>
                      <a:endParaRPr sz="1450">
                        <a:latin typeface="Cambria"/>
                        <a:cs typeface="Cambria"/>
                      </a:endParaRPr>
                    </a:p>
                  </a:txBody>
                  <a:tcPr marL="0" marR="0" marB="0" marT="44450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66666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>
                <a:latin typeface="Arial Narrow"/>
                <a:cs typeface="Arial Narrow"/>
              </a:rPr>
              <a:t>Simple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220">
                <a:latin typeface="Arial Narrow"/>
                <a:cs typeface="Arial Narrow"/>
              </a:rPr>
              <a:t> </a:t>
            </a:r>
            <a:r>
              <a:rPr dirty="0" sz="3350" spc="-5">
                <a:latin typeface="Arial Narrow"/>
                <a:cs typeface="Arial Narrow"/>
              </a:rPr>
              <a:t>(SES)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2200" y="1730375"/>
            <a:ext cx="1938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1800" spc="-14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equation: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70373" y="2320925"/>
            <a:ext cx="669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151" sz="2475" spc="-41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41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2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2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+1∣</a:t>
            </a:r>
            <a:r>
              <a:rPr dirty="0" sz="1150" spc="-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7512" y="2263775"/>
            <a:ext cx="6297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30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2077" sz="1725" spc="19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434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2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12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8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29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1111" sz="1875" spc="-12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2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29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1111" sz="1875" spc="-120">
                <a:solidFill>
                  <a:srgbClr val="585D60"/>
                </a:solidFill>
                <a:latin typeface="Lucida Sans Unicode"/>
                <a:cs typeface="Lucida Sans Unicode"/>
              </a:rPr>
              <a:t>−2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3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29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1111" sz="1875" spc="-120">
                <a:solidFill>
                  <a:srgbClr val="585D60"/>
                </a:solidFill>
                <a:latin typeface="Lucida Sans Unicode"/>
                <a:cs typeface="Lucida Sans Unicode"/>
              </a:rPr>
              <a:t>−3</a:t>
            </a:r>
            <a:r>
              <a:rPr dirty="0" baseline="-11111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675">
                <a:solidFill>
                  <a:srgbClr val="585D60"/>
                </a:solidFill>
                <a:latin typeface="Lucida Sans Unicode"/>
                <a:cs typeface="Lucida Sans Unicode"/>
              </a:rPr>
              <a:t>⋯</a:t>
            </a:r>
            <a:r>
              <a:rPr dirty="0" sz="1800" spc="-2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,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2200" y="2844800"/>
            <a:ext cx="4587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where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1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2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parameter.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>
                <a:latin typeface="Arial Narrow"/>
                <a:cs typeface="Arial Narrow"/>
              </a:rPr>
              <a:t>Simple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220">
                <a:latin typeface="Arial Narrow"/>
                <a:cs typeface="Arial Narrow"/>
              </a:rPr>
              <a:t> </a:t>
            </a:r>
            <a:r>
              <a:rPr dirty="0" sz="3350" spc="-5">
                <a:latin typeface="Arial Narrow"/>
                <a:cs typeface="Arial Narrow"/>
              </a:rPr>
              <a:t>(SES)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11364" y="1525714"/>
            <a:ext cx="9497903" cy="4649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5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>
                <a:latin typeface="Arial Narrow"/>
                <a:cs typeface="Arial Narrow"/>
              </a:rPr>
              <a:t>Simple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220">
                <a:latin typeface="Arial Narrow"/>
                <a:cs typeface="Arial Narrow"/>
              </a:rPr>
              <a:t> </a:t>
            </a:r>
            <a:r>
              <a:rPr dirty="0" sz="3350" spc="-5">
                <a:latin typeface="Arial Narrow"/>
                <a:cs typeface="Arial Narrow"/>
              </a:rPr>
              <a:t>(SES)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042" y="1504210"/>
            <a:ext cx="9577937" cy="443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8810625" cy="0"/>
          </a:xfrm>
          <a:custGeom>
            <a:avLst/>
            <a:gdLst/>
            <a:ahLst/>
            <a:cxnLst/>
            <a:rect l="l" t="t" r="r" b="b"/>
            <a:pathLst>
              <a:path w="8810625" h="0">
                <a:moveTo>
                  <a:pt x="0" y="0"/>
                </a:moveTo>
                <a:lnTo>
                  <a:pt x="88106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8810625" cy="0"/>
          </a:xfrm>
          <a:custGeom>
            <a:avLst/>
            <a:gdLst/>
            <a:ahLst/>
            <a:cxnLst/>
            <a:rect l="l" t="t" r="r" b="b"/>
            <a:pathLst>
              <a:path w="8810625" h="0">
                <a:moveTo>
                  <a:pt x="0" y="0"/>
                </a:moveTo>
                <a:lnTo>
                  <a:pt x="88106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7155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8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883602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Credits:</a:t>
            </a:r>
            <a:r>
              <a:rPr dirty="0" sz="850" spc="-5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animation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inspired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Rob </a:t>
            </a:r>
            <a:r>
              <a:rPr dirty="0" sz="850" spc="60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Hyndman's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presentation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simple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exponential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his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book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"Forecasting: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Principles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Practice".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here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5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details.</a:t>
            </a:r>
            <a:endParaRPr sz="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1905000"/>
          </a:xfrm>
          <a:custGeom>
            <a:avLst/>
            <a:gdLst/>
            <a:ahLst/>
            <a:cxnLst/>
            <a:rect l="l" t="t" r="r" b="b"/>
            <a:pathLst>
              <a:path w="9696450" h="1905000">
                <a:moveTo>
                  <a:pt x="9553574" y="1904999"/>
                </a:moveTo>
                <a:lnTo>
                  <a:pt x="142874" y="1904999"/>
                </a:lnTo>
                <a:lnTo>
                  <a:pt x="135855" y="1904828"/>
                </a:lnTo>
                <a:lnTo>
                  <a:pt x="128870" y="1904313"/>
                </a:lnTo>
                <a:lnTo>
                  <a:pt x="88198" y="1894123"/>
                </a:lnTo>
                <a:lnTo>
                  <a:pt x="52234" y="1872569"/>
                </a:lnTo>
                <a:lnTo>
                  <a:pt x="24078" y="1841501"/>
                </a:lnTo>
                <a:lnTo>
                  <a:pt x="6150" y="1803599"/>
                </a:lnTo>
                <a:lnTo>
                  <a:pt x="0" y="1762124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762124"/>
                </a:lnTo>
                <a:lnTo>
                  <a:pt x="9690298" y="1803599"/>
                </a:lnTo>
                <a:lnTo>
                  <a:pt x="9672370" y="1841501"/>
                </a:lnTo>
                <a:lnTo>
                  <a:pt x="9644214" y="1872569"/>
                </a:lnTo>
                <a:lnTo>
                  <a:pt x="9608250" y="1894123"/>
                </a:lnTo>
                <a:lnTo>
                  <a:pt x="9567577" y="1904313"/>
                </a:lnTo>
                <a:lnTo>
                  <a:pt x="9560592" y="1904828"/>
                </a:lnTo>
                <a:lnTo>
                  <a:pt x="9553574" y="1904999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>
                <a:latin typeface="Arial Narrow"/>
                <a:cs typeface="Arial Narrow"/>
              </a:rPr>
              <a:t>Simple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220">
                <a:latin typeface="Arial Narrow"/>
                <a:cs typeface="Arial Narrow"/>
              </a:rPr>
              <a:t> </a:t>
            </a:r>
            <a:r>
              <a:rPr dirty="0" sz="3350" spc="-5">
                <a:latin typeface="Arial Narrow"/>
                <a:cs typeface="Arial Narrow"/>
              </a:rPr>
              <a:t>(SES)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1730375"/>
            <a:ext cx="1871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Component</a:t>
            </a:r>
            <a:r>
              <a:rPr dirty="0" sz="1800" spc="-13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Form: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8754" y="5214619"/>
            <a:ext cx="926973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SES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equivalent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ETS(A,N,N)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ETS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framework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(additive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error,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trend,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seasonality).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87639" y="2301875"/>
            <a:ext cx="10604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6835" sz="2475" spc="-20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20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baseline="15432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baseline="15432" sz="2700" spc="-26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5432" sz="2700" spc="-254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9661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9661" sz="172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55110" y="2349500"/>
            <a:ext cx="24961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35">
                <a:solidFill>
                  <a:srgbClr val="585D60"/>
                </a:solidFill>
                <a:latin typeface="Lucida Sans Unicode"/>
                <a:cs typeface="Lucida Sans Unicode"/>
              </a:rPr>
              <a:t>(mathematically </a:t>
            </a:r>
            <a:r>
              <a:rPr dirty="0" sz="900" spc="-50">
                <a:solidFill>
                  <a:srgbClr val="585D60"/>
                </a:solidFill>
                <a:latin typeface="Lucida Sans Unicode"/>
                <a:cs typeface="Lucida Sans Unicode"/>
              </a:rPr>
              <a:t>equivalent </a:t>
            </a:r>
            <a:r>
              <a:rPr dirty="0" sz="900" spc="-45">
                <a:solidFill>
                  <a:srgbClr val="585D60"/>
                </a:solidFill>
                <a:latin typeface="Lucida Sans Unicode"/>
                <a:cs typeface="Lucida Sans Unicode"/>
              </a:rPr>
              <a:t>to </a:t>
            </a:r>
            <a:r>
              <a:rPr dirty="0" sz="900" spc="-60">
                <a:solidFill>
                  <a:srgbClr val="585D60"/>
                </a:solidFill>
                <a:latin typeface="Lucida Sans Unicode"/>
                <a:cs typeface="Lucida Sans Unicode"/>
              </a:rPr>
              <a:t>equation </a:t>
            </a:r>
            <a:r>
              <a:rPr dirty="0" sz="900" spc="-35">
                <a:solidFill>
                  <a:srgbClr val="585D60"/>
                </a:solidFill>
                <a:latin typeface="Lucida Sans Unicode"/>
                <a:cs typeface="Lucida Sans Unicode"/>
              </a:rPr>
              <a:t>in Slide</a:t>
            </a:r>
            <a:r>
              <a:rPr dirty="0" sz="90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35">
                <a:solidFill>
                  <a:srgbClr val="585D60"/>
                </a:solidFill>
                <a:latin typeface="Lucida Sans Unicode"/>
                <a:cs typeface="Lucida Sans Unicode"/>
              </a:rPr>
              <a:t>6)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4044" y="2147570"/>
            <a:ext cx="2007235" cy="749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7170">
              <a:lnSpc>
                <a:spcPct val="131900"/>
              </a:lnSpc>
              <a:spcBef>
                <a:spcPts val="100"/>
              </a:spcBef>
            </a:pP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Forecast</a:t>
            </a:r>
            <a:r>
              <a:rPr dirty="0" sz="1800" spc="-2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Lucida Sans Unicode"/>
                <a:cs typeface="Lucida Sans Unicode"/>
              </a:rPr>
              <a:t>equation  Smoothing</a:t>
            </a:r>
            <a:r>
              <a:rPr dirty="0" sz="180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Lucida Sans Unicode"/>
                <a:cs typeface="Lucida Sans Unicode"/>
              </a:rPr>
              <a:t>equation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7654" y="2597150"/>
            <a:ext cx="2232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95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2077" sz="1725" spc="14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)ℓ</a:t>
            </a:r>
            <a:r>
              <a:rPr dirty="0" baseline="-12077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1111" sz="1875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77610" y="4473574"/>
            <a:ext cx="1580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79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≥</a:t>
            </a:r>
            <a:r>
              <a:rPr dirty="0" sz="1800" spc="-2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9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95">
                <a:solidFill>
                  <a:srgbClr val="585D60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3354" y="3568699"/>
            <a:ext cx="7836534" cy="156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254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level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(or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smoothed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value)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650">
              <a:latin typeface="Trebuchet MS"/>
              <a:cs typeface="Trebuchet MS"/>
            </a:endParaRPr>
          </a:p>
          <a:p>
            <a:pPr marL="1714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SES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computationally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efficient: </a:t>
            </a:r>
            <a:r>
              <a:rPr dirty="0" sz="1650" spc="-14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20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20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0000" sz="1875" spc="-209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21739" sz="1725" spc="-209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baseline="-20000" sz="1875" spc="-209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1739" sz="1725" spc="-209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95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2077" sz="1725" spc="14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2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10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15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0000" sz="1875" spc="-15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1739" sz="1725" spc="-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20000" sz="1875" spc="-15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20000" sz="1875">
              <a:latin typeface="Lucida Sans Unicode"/>
              <a:cs typeface="Lucida Sans Unicode"/>
            </a:endParaRPr>
          </a:p>
          <a:p>
            <a:pPr marL="171450" indent="-133985">
              <a:lnSpc>
                <a:spcPct val="100000"/>
              </a:lnSpc>
              <a:spcBef>
                <a:spcPts val="1515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SES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implementation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assumes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no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trend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and no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seasonality</a:t>
            </a:r>
            <a:r>
              <a:rPr dirty="0" sz="1800" spc="-409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since </a:t>
            </a:r>
            <a:r>
              <a:rPr dirty="0" sz="1650" spc="-28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sz="1800" spc="-280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baseline="-21739" sz="1725" spc="-419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baseline="-20000" sz="1875" spc="1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-21739" sz="1725" spc="15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baseline="-20000" sz="1875" spc="1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1739" sz="1725" spc="1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21739" sz="1725">
              <a:latin typeface="Trebuchet MS"/>
              <a:cs typeface="Trebuchet MS"/>
            </a:endParaRPr>
          </a:p>
          <a:p>
            <a:pPr marL="171450">
              <a:lnSpc>
                <a:spcPct val="100000"/>
              </a:lnSpc>
              <a:spcBef>
                <a:spcPts val="690"/>
              </a:spcBef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17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2077" sz="1725" spc="-11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constant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(last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smoothed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value).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28750"/>
            <a:ext cx="9696450" cy="2028825"/>
          </a:xfrm>
          <a:custGeom>
            <a:avLst/>
            <a:gdLst/>
            <a:ahLst/>
            <a:cxnLst/>
            <a:rect l="l" t="t" r="r" b="b"/>
            <a:pathLst>
              <a:path w="9696450" h="2028825">
                <a:moveTo>
                  <a:pt x="9553574" y="2028824"/>
                </a:moveTo>
                <a:lnTo>
                  <a:pt x="142874" y="2028824"/>
                </a:lnTo>
                <a:lnTo>
                  <a:pt x="135855" y="2028653"/>
                </a:lnTo>
                <a:lnTo>
                  <a:pt x="128870" y="2028138"/>
                </a:lnTo>
                <a:lnTo>
                  <a:pt x="88198" y="2017948"/>
                </a:lnTo>
                <a:lnTo>
                  <a:pt x="52234" y="1996394"/>
                </a:lnTo>
                <a:lnTo>
                  <a:pt x="24078" y="1965326"/>
                </a:lnTo>
                <a:lnTo>
                  <a:pt x="6150" y="1927424"/>
                </a:lnTo>
                <a:lnTo>
                  <a:pt x="0" y="1885949"/>
                </a:lnTo>
                <a:lnTo>
                  <a:pt x="0" y="142874"/>
                </a:lnTo>
                <a:lnTo>
                  <a:pt x="6150" y="101400"/>
                </a:lnTo>
                <a:lnTo>
                  <a:pt x="24078" y="63497"/>
                </a:lnTo>
                <a:lnTo>
                  <a:pt x="52234" y="32429"/>
                </a:lnTo>
                <a:lnTo>
                  <a:pt x="88198" y="10875"/>
                </a:lnTo>
                <a:lnTo>
                  <a:pt x="128870" y="686"/>
                </a:lnTo>
                <a:lnTo>
                  <a:pt x="142874" y="0"/>
                </a:lnTo>
                <a:lnTo>
                  <a:pt x="9553574" y="0"/>
                </a:lnTo>
                <a:lnTo>
                  <a:pt x="9595047" y="6150"/>
                </a:lnTo>
                <a:lnTo>
                  <a:pt x="9632951" y="24078"/>
                </a:lnTo>
                <a:lnTo>
                  <a:pt x="9664019" y="52234"/>
                </a:lnTo>
                <a:lnTo>
                  <a:pt x="9685573" y="88198"/>
                </a:lnTo>
                <a:lnTo>
                  <a:pt x="9695763" y="128870"/>
                </a:lnTo>
                <a:lnTo>
                  <a:pt x="9696449" y="142874"/>
                </a:lnTo>
                <a:lnTo>
                  <a:pt x="9696449" y="1885949"/>
                </a:lnTo>
                <a:lnTo>
                  <a:pt x="9690298" y="1927424"/>
                </a:lnTo>
                <a:lnTo>
                  <a:pt x="9672370" y="1965326"/>
                </a:lnTo>
                <a:lnTo>
                  <a:pt x="9644214" y="1996394"/>
                </a:lnTo>
                <a:lnTo>
                  <a:pt x="9608249" y="2017948"/>
                </a:lnTo>
                <a:lnTo>
                  <a:pt x="9567577" y="2028138"/>
                </a:lnTo>
                <a:lnTo>
                  <a:pt x="9560592" y="2028653"/>
                </a:lnTo>
                <a:lnTo>
                  <a:pt x="9553574" y="2028824"/>
                </a:lnTo>
                <a:close/>
              </a:path>
            </a:pathLst>
          </a:custGeom>
          <a:solidFill>
            <a:srgbClr val="E2E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026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4">
                <a:latin typeface="Arial Narrow"/>
                <a:cs typeface="Arial Narrow"/>
              </a:rPr>
              <a:t>Simple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220">
                <a:latin typeface="Arial Narrow"/>
                <a:cs typeface="Arial Narrow"/>
              </a:rPr>
              <a:t> </a:t>
            </a:r>
            <a:r>
              <a:rPr dirty="0" sz="3350" spc="-5">
                <a:latin typeface="Arial Narrow"/>
                <a:cs typeface="Arial Narrow"/>
              </a:rPr>
              <a:t>(SES)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2200" y="1730375"/>
            <a:ext cx="25482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Weighted </a:t>
            </a:r>
            <a:r>
              <a:rPr dirty="0" sz="1800" spc="-25" b="1">
                <a:solidFill>
                  <a:srgbClr val="C2132D"/>
                </a:solidFill>
                <a:latin typeface="Trebuchet MS"/>
                <a:cs typeface="Trebuchet MS"/>
              </a:rPr>
              <a:t>Average</a:t>
            </a:r>
            <a:r>
              <a:rPr dirty="0" sz="1800" spc="-204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Form: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34990" y="2520950"/>
            <a:ext cx="6692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151" sz="2475" spc="-41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3888" sz="2700" spc="-41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2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2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+1∣</a:t>
            </a:r>
            <a:r>
              <a:rPr dirty="0" sz="1150" spc="-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22130" y="2254630"/>
            <a:ext cx="3357245" cy="753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83845">
              <a:lnSpc>
                <a:spcPts val="1215"/>
              </a:lnSpc>
              <a:spcBef>
                <a:spcPts val="120"/>
              </a:spcBef>
            </a:pP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150" spc="-2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250" spc="-80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sz="1250">
              <a:latin typeface="Lucida Sans Unicode"/>
              <a:cs typeface="Lucida Sans Unicode"/>
            </a:endParaRPr>
          </a:p>
          <a:p>
            <a:pPr marL="38100">
              <a:lnSpc>
                <a:spcPts val="2715"/>
              </a:lnSpc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2500" spc="815">
                <a:solidFill>
                  <a:srgbClr val="585D60"/>
                </a:solidFill>
                <a:latin typeface="Arial"/>
                <a:cs typeface="Arial"/>
              </a:rPr>
              <a:t>∑</a:t>
            </a:r>
            <a:r>
              <a:rPr dirty="0" sz="2500" spc="-39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4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4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4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6231" sz="1725" spc="209" i="1">
                <a:solidFill>
                  <a:srgbClr val="585D60"/>
                </a:solidFill>
                <a:latin typeface="Trebuchet MS"/>
                <a:cs typeface="Trebuchet MS"/>
              </a:rPr>
              <a:t>j</a:t>
            </a:r>
            <a:r>
              <a:rPr dirty="0" sz="1650" spc="14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20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-3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baseline="-13333" sz="1875" spc="6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67" i="1">
                <a:solidFill>
                  <a:srgbClr val="585D60"/>
                </a:solidFill>
                <a:latin typeface="Trebuchet MS"/>
                <a:cs typeface="Trebuchet MS"/>
              </a:rPr>
              <a:t>j</a:t>
            </a:r>
            <a:r>
              <a:rPr dirty="0" baseline="-14492" sz="1725" spc="20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baseline="36231" sz="1725" spc="21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36231" sz="1725" spc="-16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3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3333" sz="1875" spc="-352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endParaRPr baseline="-13333" sz="1875">
              <a:latin typeface="Lucida Sans Unicode"/>
              <a:cs typeface="Lucida Sans Unicode"/>
            </a:endParaRPr>
          </a:p>
          <a:p>
            <a:pPr marL="307975">
              <a:lnSpc>
                <a:spcPct val="100000"/>
              </a:lnSpc>
              <a:spcBef>
                <a:spcPts val="275"/>
              </a:spcBef>
            </a:pPr>
            <a:r>
              <a:rPr dirty="0" sz="1150" spc="-20" i="1">
                <a:solidFill>
                  <a:srgbClr val="585D60"/>
                </a:solidFill>
                <a:latin typeface="Trebuchet MS"/>
                <a:cs typeface="Trebuchet MS"/>
              </a:rPr>
              <a:t>j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=0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565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35">
                <a:latin typeface="Arial Narrow"/>
                <a:cs typeface="Arial Narrow"/>
              </a:rPr>
              <a:t>Smoothing </a:t>
            </a:r>
            <a:r>
              <a:rPr dirty="0" sz="3350" spc="110">
                <a:latin typeface="Arial Narrow"/>
                <a:cs typeface="Arial Narrow"/>
              </a:rPr>
              <a:t>Parameters </a:t>
            </a:r>
            <a:r>
              <a:rPr dirty="0" sz="3350" spc="135">
                <a:latin typeface="Arial Narrow"/>
                <a:cs typeface="Arial Narrow"/>
              </a:rPr>
              <a:t>in</a:t>
            </a:r>
            <a:r>
              <a:rPr dirty="0" sz="3350" spc="-254">
                <a:latin typeface="Arial Narrow"/>
                <a:cs typeface="Arial Narrow"/>
              </a:rPr>
              <a:t> </a:t>
            </a:r>
            <a:r>
              <a:rPr dirty="0" sz="3350" spc="-110">
                <a:latin typeface="Arial Narrow"/>
                <a:cs typeface="Arial Narrow"/>
              </a:rPr>
              <a:t>SES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236075" cy="3757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There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SES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model: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5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3333" sz="1875" spc="-202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13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These</a:t>
            </a:r>
            <a:r>
              <a:rPr dirty="0" sz="1800" spc="-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parameters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either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estimated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set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user.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library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provides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implementation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585D60"/>
                </a:solidFill>
                <a:latin typeface="Arial"/>
                <a:cs typeface="Arial"/>
              </a:rPr>
              <a:t>SES:</a:t>
            </a:r>
            <a:endParaRPr sz="1800">
              <a:latin typeface="Arial"/>
              <a:cs typeface="Arial"/>
            </a:endParaRPr>
          </a:p>
          <a:p>
            <a:pPr lvl="1" marL="539750" marR="17780" indent="-133985">
              <a:lnSpc>
                <a:spcPct val="118100"/>
              </a:lnSpc>
              <a:spcBef>
                <a:spcPts val="825"/>
              </a:spcBef>
              <a:buSzPct val="105882"/>
              <a:buFont typeface="Trebuchet MS"/>
              <a:buChar char="•"/>
              <a:tabLst>
                <a:tab pos="540385" algn="l"/>
              </a:tabLst>
            </a:pP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SimpleExponentialSmoothing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where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set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5">
                <a:solidFill>
                  <a:srgbClr val="C2132D"/>
                </a:solidFill>
                <a:latin typeface="Courier New"/>
                <a:cs typeface="Courier New"/>
              </a:rPr>
              <a:t>alpha</a:t>
            </a:r>
            <a:r>
              <a:rPr dirty="0" sz="1700" spc="-570">
                <a:solidFill>
                  <a:srgbClr val="C2132D"/>
                </a:solidFill>
                <a:latin typeface="Courier New"/>
                <a:cs typeface="Courier New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parameter.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uses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first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value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initial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level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585D60"/>
                </a:solidFill>
                <a:latin typeface="Arial"/>
                <a:cs typeface="Arial"/>
              </a:rPr>
              <a:t>(</a:t>
            </a:r>
            <a:r>
              <a:rPr dirty="0" sz="1800" spc="-9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3333" sz="1875" spc="-142">
                <a:solidFill>
                  <a:srgbClr val="585D60"/>
                </a:solidFill>
                <a:latin typeface="Lucida Sans Unicode"/>
                <a:cs typeface="Lucida Sans Unicode"/>
              </a:rPr>
              <a:t>0</a:t>
            </a:r>
            <a:r>
              <a:rPr dirty="0" sz="1800" spc="-95">
                <a:solidFill>
                  <a:srgbClr val="585D60"/>
                </a:solidFill>
                <a:latin typeface="Arial"/>
                <a:cs typeface="Arial"/>
              </a:rPr>
              <a:t>);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lvl="1" marL="539750" marR="67945" indent="-133985">
              <a:lnSpc>
                <a:spcPct val="118100"/>
              </a:lnSpc>
              <a:spcBef>
                <a:spcPts val="894"/>
              </a:spcBef>
              <a:buSzPct val="105882"/>
              <a:buFont typeface="Trebuchet MS"/>
              <a:buChar char="•"/>
              <a:tabLst>
                <a:tab pos="540385" algn="l"/>
              </a:tabLst>
            </a:pP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SimpleExponentialSmoothingOptimized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which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finds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optimal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parameter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 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minimizing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sum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3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squared errors.</a:t>
            </a:r>
            <a:endParaRPr sz="1800">
              <a:latin typeface="Arial"/>
              <a:cs typeface="Arial"/>
            </a:endParaRPr>
          </a:p>
          <a:p>
            <a:pPr marL="158750" marR="1224915" indent="-133985">
              <a:lnSpc>
                <a:spcPct val="116300"/>
              </a:lnSpc>
              <a:spcBef>
                <a:spcPts val="865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Please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refer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SimpleExponentialSmoothing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Tutorial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SimpleExponentialSmoothingOptimized</a:t>
            </a:r>
            <a:r>
              <a:rPr dirty="0" sz="1800" spc="-12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-4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Tutorial</a:t>
            </a:r>
            <a:r>
              <a:rPr dirty="0" sz="1800" spc="-7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more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details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Nixtla  Implementation.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2319020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00">
                <a:solidFill>
                  <a:srgbClr val="C2132D"/>
                </a:solidFill>
                <a:latin typeface="Arial Narrow"/>
                <a:cs typeface="Arial Narrow"/>
              </a:rPr>
              <a:t>Class</a:t>
            </a:r>
            <a:r>
              <a:rPr dirty="0" sz="3350" spc="-35">
                <a:solidFill>
                  <a:srgbClr val="C2132D"/>
                </a:solidFill>
                <a:latin typeface="Arial Narrow"/>
                <a:cs typeface="Arial Narrow"/>
              </a:rPr>
              <a:t> </a:t>
            </a:r>
            <a:r>
              <a:rPr dirty="0" sz="3350" spc="145">
                <a:solidFill>
                  <a:srgbClr val="C2132D"/>
                </a:solidFill>
                <a:latin typeface="Arial Narrow"/>
                <a:cs typeface="Arial Narrow"/>
              </a:rPr>
              <a:t>Activity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4400" y="2124075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19049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15525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2124075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 h="0">
                <a:moveTo>
                  <a:pt x="0" y="0"/>
                </a:moveTo>
                <a:lnTo>
                  <a:pt x="1619249" y="0"/>
                </a:lnTo>
              </a:path>
            </a:pathLst>
          </a:custGeom>
          <a:ln w="19049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30300" y="1673225"/>
            <a:ext cx="9486265" cy="3890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26870" algn="l"/>
                <a:tab pos="3411220" algn="l"/>
                <a:tab pos="5223510" algn="l"/>
              </a:tabLst>
            </a:pP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Description	</a:t>
            </a:r>
            <a:r>
              <a:rPr dirty="0" sz="1800" spc="-35">
                <a:solidFill>
                  <a:srgbClr val="585D60"/>
                </a:solidFill>
                <a:latin typeface="Arial"/>
                <a:cs typeface="Arial"/>
              </a:rPr>
              <a:t>Relevant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Info	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Your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Solution	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Validate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[Out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1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Class]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>
              <a:latin typeface="Arial"/>
              <a:cs typeface="Arial"/>
            </a:endParaRPr>
          </a:p>
          <a:p>
            <a:pPr marL="164465" marR="508000" indent="-133985">
              <a:lnSpc>
                <a:spcPct val="1159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  <a:tabLst>
                <a:tab pos="165100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beginning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semester,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I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noted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50" spc="-25" i="1">
                <a:solidFill>
                  <a:srgbClr val="585D60"/>
                </a:solidFill>
                <a:latin typeface="Arial"/>
                <a:cs typeface="Arial"/>
              </a:rPr>
              <a:t>StatsForecast</a:t>
            </a:r>
            <a:r>
              <a:rPr dirty="0" sz="1850" spc="-6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Python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implementation  focuses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forecasting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at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scale,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while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traditional </a:t>
            </a:r>
            <a:r>
              <a:rPr dirty="0" sz="1800" spc="50" b="1">
                <a:solidFill>
                  <a:srgbClr val="C2132D"/>
                </a:solidFill>
                <a:latin typeface="Trebuchet MS"/>
                <a:cs typeface="Trebuchet MS"/>
              </a:rPr>
              <a:t>R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implementations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focus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on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explanation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interpretation.</a:t>
            </a:r>
            <a:endParaRPr sz="1800">
              <a:latin typeface="Arial"/>
              <a:cs typeface="Arial"/>
            </a:endParaRPr>
          </a:p>
          <a:p>
            <a:pPr marL="164465" marR="270510" indent="-133985">
              <a:lnSpc>
                <a:spcPct val="116300"/>
              </a:lnSpc>
              <a:spcBef>
                <a:spcPts val="935"/>
              </a:spcBef>
              <a:buClr>
                <a:srgbClr val="C2132D"/>
              </a:buClr>
              <a:buFont typeface="Trebuchet MS"/>
              <a:buChar char="•"/>
              <a:tabLst>
                <a:tab pos="165100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SimpleExponentialSmoothingOptimized</a:t>
            </a:r>
            <a:r>
              <a:rPr dirty="0" sz="1800" spc="-8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StatsForecast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good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example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 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this, </a:t>
            </a:r>
            <a:r>
              <a:rPr dirty="0" sz="1800" spc="-15">
                <a:solidFill>
                  <a:srgbClr val="585D60"/>
                </a:solidFill>
                <a:latin typeface="Arial"/>
                <a:cs typeface="Arial"/>
              </a:rPr>
              <a:t>where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optimized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find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best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parameter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but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does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not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directly 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provide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optimized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24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value.</a:t>
            </a:r>
            <a:endParaRPr sz="1800">
              <a:latin typeface="Arial"/>
              <a:cs typeface="Arial"/>
            </a:endParaRPr>
          </a:p>
          <a:p>
            <a:pPr marL="16510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65100" algn="l"/>
              </a:tabLst>
            </a:pP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Your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5" b="1">
                <a:solidFill>
                  <a:srgbClr val="C2132D"/>
                </a:solidFill>
                <a:latin typeface="Trebuchet MS"/>
                <a:cs typeface="Trebuchet MS"/>
              </a:rPr>
              <a:t>task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find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optimized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value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reported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fitted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values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their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example.</a:t>
            </a:r>
            <a:endParaRPr sz="1800">
              <a:latin typeface="Arial"/>
              <a:cs typeface="Arial"/>
            </a:endParaRPr>
          </a:p>
          <a:p>
            <a:pPr marL="164465" marR="300990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65100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Note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that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purpose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activity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Trebuchet MS"/>
                <a:cs typeface="Trebuchet MS"/>
              </a:rPr>
              <a:t>not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mathematical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exercise,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Trebuchet MS"/>
                <a:cs typeface="Trebuchet MS"/>
              </a:rPr>
              <a:t>but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understand  </a:t>
            </a:r>
            <a:r>
              <a:rPr dirty="0" sz="1800" spc="-80" b="1">
                <a:solidFill>
                  <a:srgbClr val="C2132D"/>
                </a:solidFill>
                <a:latin typeface="Trebuchet MS"/>
                <a:cs typeface="Trebuchet MS"/>
              </a:rPr>
              <a:t>the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Trebuchet MS"/>
                <a:cs typeface="Trebuchet MS"/>
              </a:rPr>
              <a:t>model's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output</a:t>
            </a:r>
            <a:r>
              <a:rPr dirty="0" sz="1800" spc="-10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be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40" b="1">
                <a:solidFill>
                  <a:srgbClr val="C2132D"/>
                </a:solidFill>
                <a:latin typeface="Trebuchet MS"/>
                <a:cs typeface="Trebuchet MS"/>
              </a:rPr>
              <a:t>able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explain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it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Trebuchet MS"/>
                <a:cs typeface="Trebuchet MS"/>
              </a:rPr>
              <a:t>to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your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75" b="1">
                <a:solidFill>
                  <a:srgbClr val="C2132D"/>
                </a:solidFill>
                <a:latin typeface="Trebuchet MS"/>
                <a:cs typeface="Trebuchet MS"/>
              </a:rPr>
              <a:t>future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" b="1">
                <a:solidFill>
                  <a:srgbClr val="C2132D"/>
                </a:solidFill>
                <a:latin typeface="Trebuchet MS"/>
                <a:cs typeface="Trebuchet MS"/>
              </a:rPr>
              <a:t>colleagues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926846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05:00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8200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25">
                <a:latin typeface="Arial Narrow"/>
                <a:cs typeface="Arial Narrow"/>
              </a:rPr>
              <a:t>Interesting </a:t>
            </a:r>
            <a:r>
              <a:rPr dirty="0" sz="3350" spc="130">
                <a:latin typeface="Arial Narrow"/>
                <a:cs typeface="Arial Narrow"/>
              </a:rPr>
              <a:t>Interpretations </a:t>
            </a:r>
            <a:r>
              <a:rPr dirty="0" sz="3350" spc="235">
                <a:latin typeface="Arial Narrow"/>
                <a:cs typeface="Arial Narrow"/>
              </a:rPr>
              <a:t>of </a:t>
            </a:r>
            <a:r>
              <a:rPr dirty="0" sz="3350" spc="130">
                <a:latin typeface="Arial Narrow"/>
                <a:cs typeface="Arial Narrow"/>
              </a:rPr>
              <a:t>the</a:t>
            </a:r>
            <a:r>
              <a:rPr dirty="0" sz="3350" spc="-295">
                <a:latin typeface="Arial Narrow"/>
                <a:cs typeface="Arial Narrow"/>
              </a:rPr>
              <a:t> </a:t>
            </a:r>
            <a:r>
              <a:rPr dirty="0" sz="3350" spc="-110">
                <a:latin typeface="Arial Narrow"/>
                <a:cs typeface="Arial Narrow"/>
              </a:rPr>
              <a:t>SES </a:t>
            </a:r>
            <a:r>
              <a:rPr dirty="0" sz="3350" spc="120">
                <a:latin typeface="Arial Narrow"/>
                <a:cs typeface="Arial Narrow"/>
              </a:rPr>
              <a:t>Function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5932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rearranging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forecast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equation,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we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can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express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Arial"/>
                <a:cs typeface="Arial"/>
              </a:rPr>
              <a:t>it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as: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1564" y="1997075"/>
            <a:ext cx="1260475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baseline="16835" sz="2475" spc="-262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262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1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175">
                <a:solidFill>
                  <a:srgbClr val="585D60"/>
                </a:solidFill>
                <a:latin typeface="Lucida Sans Unicode"/>
                <a:cs typeface="Lucida Sans Unicode"/>
              </a:rPr>
              <a:t>+1∣</a:t>
            </a:r>
            <a:r>
              <a:rPr dirty="0" sz="1150" spc="-1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  <a:p>
            <a:pPr algn="ctr" marL="4445">
              <a:lnSpc>
                <a:spcPts val="1365"/>
              </a:lnSpc>
            </a:pPr>
            <a:r>
              <a:rPr dirty="0" sz="1350" spc="-434">
                <a:solidFill>
                  <a:srgbClr val="585D60"/>
                </a:solidFill>
                <a:latin typeface="Arial"/>
                <a:cs typeface="Arial"/>
              </a:rPr>
              <a:t>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for</a:t>
            </a:r>
            <a:r>
              <a:rPr dirty="0" sz="125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585D60"/>
                </a:solidFill>
                <a:latin typeface="Lucida Sans Unicode"/>
                <a:cs typeface="Lucida Sans Unicode"/>
              </a:rPr>
              <a:t>next 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time</a:t>
            </a:r>
            <a:r>
              <a:rPr dirty="0" sz="125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period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6575" y="1930400"/>
            <a:ext cx="2145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215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r>
              <a:rPr dirty="0" sz="1650" spc="21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32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202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5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r>
              <a:rPr dirty="0" sz="1800" spc="-1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500" spc="-15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sz="1800" spc="-15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baseline="-29100" sz="1575" spc="-2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4444" sz="1875" spc="-22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9100" sz="1575" spc="-2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4444" sz="1875" spc="-22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endParaRPr baseline="-24444" sz="1875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1975" y="2806700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15061" y="2864078"/>
            <a:ext cx="685800" cy="791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7630">
              <a:lnSpc>
                <a:spcPts val="1939"/>
              </a:lnSpc>
              <a:spcBef>
                <a:spcPts val="95"/>
              </a:spcBef>
            </a:pPr>
            <a:r>
              <a:rPr dirty="0" baseline="16666" sz="2250" spc="-179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baseline="15432" sz="2700" spc="-179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endParaRPr sz="1250">
              <a:latin typeface="Lucida Sans Unicode"/>
              <a:cs typeface="Lucida Sans Unicode"/>
            </a:endParaRPr>
          </a:p>
          <a:p>
            <a:pPr marL="93345">
              <a:lnSpc>
                <a:spcPts val="1400"/>
              </a:lnSpc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marL="45720" marR="30480" indent="-8255">
              <a:lnSpc>
                <a:spcPct val="75000"/>
              </a:lnSpc>
              <a:spcBef>
                <a:spcPts val="430"/>
              </a:spcBef>
            </a:pPr>
            <a:r>
              <a:rPr dirty="0" sz="1250" spc="80">
                <a:solidFill>
                  <a:srgbClr val="008080"/>
                </a:solidFill>
                <a:latin typeface="Lucida Sans Unicode"/>
                <a:cs typeface="Lucida Sans Unicode"/>
              </a:rPr>
              <a:t>Pr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5">
                <a:solidFill>
                  <a:srgbClr val="008080"/>
                </a:solidFill>
                <a:latin typeface="Lucida Sans Unicode"/>
                <a:cs typeface="Lucida Sans Unicode"/>
              </a:rPr>
              <a:t>vi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o</a:t>
            </a:r>
            <a:r>
              <a:rPr dirty="0" sz="1250" spc="-70">
                <a:solidFill>
                  <a:srgbClr val="008080"/>
                </a:solidFill>
                <a:latin typeface="Lucida Sans Unicode"/>
                <a:cs typeface="Lucida Sans Unicode"/>
              </a:rPr>
              <a:t>u</a:t>
            </a:r>
            <a:r>
              <a:rPr dirty="0" sz="1250" spc="-105">
                <a:solidFill>
                  <a:srgbClr val="008080"/>
                </a:solidFill>
                <a:latin typeface="Lucida Sans Unicode"/>
                <a:cs typeface="Lucida Sans Unicode"/>
              </a:rPr>
              <a:t>s  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140">
                <a:solidFill>
                  <a:srgbClr val="00808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25">
                <a:solidFill>
                  <a:srgbClr val="008080"/>
                </a:solidFill>
                <a:latin typeface="Lucida Sans Unicode"/>
                <a:cs typeface="Lucida Sans Unicode"/>
              </a:rPr>
              <a:t>t</a:t>
            </a:r>
            <a:r>
              <a:rPr dirty="0" sz="1250" spc="-10">
                <a:solidFill>
                  <a:srgbClr val="008080"/>
                </a:solidFill>
                <a:latin typeface="Lucida Sans Unicode"/>
                <a:cs typeface="Lucida Sans Unicode"/>
              </a:rPr>
              <a:t>i</a:t>
            </a:r>
            <a:r>
              <a:rPr dirty="0" sz="1250" spc="-110">
                <a:solidFill>
                  <a:srgbClr val="008080"/>
                </a:solidFill>
                <a:latin typeface="Lucida Sans Unicode"/>
                <a:cs typeface="Lucida Sans Unicode"/>
              </a:rPr>
              <a:t>m</a:t>
            </a:r>
            <a:r>
              <a:rPr dirty="0" sz="1250" spc="-55">
                <a:solidFill>
                  <a:srgbClr val="00808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25">
                <a:solidFill>
                  <a:srgbClr val="008080"/>
                </a:solidFill>
                <a:latin typeface="Lucida Sans Unicode"/>
                <a:cs typeface="Lucida Sans Unicode"/>
              </a:rPr>
              <a:t>t</a:t>
            </a:r>
            <a:r>
              <a:rPr dirty="0" sz="1250" spc="-135">
                <a:solidFill>
                  <a:srgbClr val="008080"/>
                </a:solidFill>
                <a:latin typeface="Lucida Sans Unicode"/>
                <a:cs typeface="Lucida Sans Unicode"/>
              </a:rPr>
              <a:t>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4750" y="2806700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7438" y="2910941"/>
            <a:ext cx="779780" cy="665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819"/>
              </a:lnSpc>
              <a:spcBef>
                <a:spcPts val="130"/>
              </a:spcBef>
            </a:pPr>
            <a:r>
              <a:rPr dirty="0" sz="950" spc="610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endParaRPr sz="950">
              <a:latin typeface="Arial"/>
              <a:cs typeface="Arial"/>
            </a:endParaRPr>
          </a:p>
          <a:p>
            <a:pPr algn="ctr" marR="5080">
              <a:lnSpc>
                <a:spcPts val="130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ts val="1280"/>
              </a:lnSpc>
              <a:spcBef>
                <a:spcPts val="355"/>
              </a:spcBef>
            </a:pP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S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m</a:t>
            </a:r>
            <a:r>
              <a:rPr dirty="0" sz="1150" spc="10">
                <a:solidFill>
                  <a:srgbClr val="A8A8A8"/>
                </a:solidFill>
                <a:latin typeface="Tahoma"/>
                <a:cs typeface="Tahoma"/>
              </a:rPr>
              <a:t>oo</a:t>
            </a:r>
            <a:r>
              <a:rPr dirty="0" sz="1150" spc="110">
                <a:solidFill>
                  <a:srgbClr val="A8A8A8"/>
                </a:solidFill>
                <a:latin typeface="Tahoma"/>
                <a:cs typeface="Tahoma"/>
              </a:rPr>
              <a:t>t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h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i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n</a:t>
            </a:r>
            <a:r>
              <a:rPr dirty="0" sz="1150">
                <a:solidFill>
                  <a:srgbClr val="A8A8A8"/>
                </a:solidFill>
                <a:latin typeface="Tahoma"/>
                <a:cs typeface="Tahoma"/>
              </a:rPr>
              <a:t>g  </a:t>
            </a:r>
            <a:r>
              <a:rPr dirty="0" sz="1150" spc="45">
                <a:solidFill>
                  <a:srgbClr val="A8A8A8"/>
                </a:solidFill>
                <a:latin typeface="Tahoma"/>
                <a:cs typeface="Tahoma"/>
              </a:rPr>
              <a:t>parameter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53237" y="2806700"/>
            <a:ext cx="1228090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140">
                <a:solidFill>
                  <a:srgbClr val="C2132D"/>
                </a:solidFill>
                <a:latin typeface="Lucida Sans Unicode"/>
                <a:cs typeface="Lucida Sans Unicode"/>
              </a:rPr>
              <a:t>(</a:t>
            </a:r>
            <a:r>
              <a:rPr dirty="0" sz="1500" spc="14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3227" sz="1575" spc="209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1800" spc="-35">
                <a:solidFill>
                  <a:srgbClr val="C2132D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0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1543" sz="2700" spc="-120">
                <a:solidFill>
                  <a:srgbClr val="C2132D"/>
                </a:solidFill>
                <a:latin typeface="Lucida Sans Unicode"/>
                <a:cs typeface="Lucida Sans Unicode"/>
              </a:rPr>
              <a:t>^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80">
                <a:solidFill>
                  <a:srgbClr val="C2132D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marL="43180">
              <a:lnSpc>
                <a:spcPct val="100000"/>
              </a:lnSpc>
              <a:spcBef>
                <a:spcPts val="15"/>
              </a:spcBef>
            </a:pP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marL="118110">
              <a:lnSpc>
                <a:spcPct val="100000"/>
              </a:lnSpc>
              <a:spcBef>
                <a:spcPts val="55"/>
              </a:spcBef>
            </a:pPr>
            <a:r>
              <a:rPr dirty="0" sz="1250" spc="-45">
                <a:solidFill>
                  <a:srgbClr val="C2132D"/>
                </a:solidFill>
                <a:latin typeface="Lucida Sans Unicode"/>
                <a:cs typeface="Lucida Sans Unicode"/>
              </a:rPr>
              <a:t>Forecast</a:t>
            </a:r>
            <a:r>
              <a:rPr dirty="0" sz="1250" spc="-10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C2132D"/>
                </a:solidFill>
                <a:latin typeface="Lucida Sans Unicode"/>
                <a:cs typeface="Lucida Sans Unicode"/>
              </a:rPr>
              <a:t>error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46575" y="3702049"/>
            <a:ext cx="826769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05"/>
              </a:lnSpc>
              <a:spcBef>
                <a:spcPts val="100"/>
              </a:spcBef>
            </a:pPr>
            <a:r>
              <a:rPr dirty="0" baseline="13888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baseline="13888" sz="2700" spc="-17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6666" sz="2250" spc="-179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baseline="15432" sz="2700" spc="-179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sz="1050" spc="-120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sz="1250" spc="-120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endParaRPr sz="1250">
              <a:latin typeface="Lucida Sans Unicode"/>
              <a:cs typeface="Lucida Sans Unicode"/>
            </a:endParaRPr>
          </a:p>
          <a:p>
            <a:pPr algn="ctr" marL="246379">
              <a:lnSpc>
                <a:spcPts val="1365"/>
              </a:lnSpc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17500" marR="67310">
              <a:lnSpc>
                <a:spcPts val="1280"/>
              </a:lnSpc>
              <a:spcBef>
                <a:spcPts val="430"/>
              </a:spcBef>
            </a:pPr>
            <a:r>
              <a:rPr dirty="0" sz="1250" spc="-25">
                <a:solidFill>
                  <a:srgbClr val="008080"/>
                </a:solidFill>
                <a:latin typeface="Lucida Sans Unicode"/>
                <a:cs typeface="Lucida Sans Unicode"/>
              </a:rPr>
              <a:t>Lag</a:t>
            </a:r>
            <a:r>
              <a:rPr dirty="0" sz="1250" spc="-165">
                <a:solidFill>
                  <a:srgbClr val="00808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008080"/>
                </a:solidFill>
                <a:latin typeface="Lucida Sans Unicode"/>
                <a:cs typeface="Lucida Sans Unicode"/>
              </a:rPr>
              <a:t>of </a:t>
            </a:r>
            <a:r>
              <a:rPr dirty="0" sz="1250" spc="-65">
                <a:solidFill>
                  <a:srgbClr val="00808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008080"/>
                </a:solidFill>
                <a:latin typeface="Lucida Sans Unicode"/>
                <a:cs typeface="Lucida Sans Unicode"/>
              </a:rPr>
              <a:t>level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5178" y="3644899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47866" y="3749141"/>
            <a:ext cx="779780" cy="65595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819"/>
              </a:lnSpc>
              <a:spcBef>
                <a:spcPts val="130"/>
              </a:spcBef>
            </a:pPr>
            <a:r>
              <a:rPr dirty="0" sz="950" spc="610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endParaRPr sz="950">
              <a:latin typeface="Arial"/>
              <a:cs typeface="Arial"/>
            </a:endParaRPr>
          </a:p>
          <a:p>
            <a:pPr algn="ctr" marR="5080">
              <a:lnSpc>
                <a:spcPts val="130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12065" marR="5080">
              <a:lnSpc>
                <a:spcPts val="1200"/>
              </a:lnSpc>
              <a:spcBef>
                <a:spcPts val="420"/>
              </a:spcBef>
            </a:pP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S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m</a:t>
            </a:r>
            <a:r>
              <a:rPr dirty="0" sz="1150" spc="10">
                <a:solidFill>
                  <a:srgbClr val="A8A8A8"/>
                </a:solidFill>
                <a:latin typeface="Tahoma"/>
                <a:cs typeface="Tahoma"/>
              </a:rPr>
              <a:t>oo</a:t>
            </a:r>
            <a:r>
              <a:rPr dirty="0" sz="1150" spc="110">
                <a:solidFill>
                  <a:srgbClr val="A8A8A8"/>
                </a:solidFill>
                <a:latin typeface="Tahoma"/>
                <a:cs typeface="Tahoma"/>
              </a:rPr>
              <a:t>t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h</a:t>
            </a:r>
            <a:r>
              <a:rPr dirty="0" sz="1150" spc="90">
                <a:solidFill>
                  <a:srgbClr val="A8A8A8"/>
                </a:solidFill>
                <a:latin typeface="Tahoma"/>
                <a:cs typeface="Tahoma"/>
              </a:rPr>
              <a:t>i</a:t>
            </a:r>
            <a:r>
              <a:rPr dirty="0" sz="1150" spc="65">
                <a:solidFill>
                  <a:srgbClr val="A8A8A8"/>
                </a:solidFill>
                <a:latin typeface="Tahoma"/>
                <a:cs typeface="Tahoma"/>
              </a:rPr>
              <a:t>n</a:t>
            </a:r>
            <a:r>
              <a:rPr dirty="0" sz="1150">
                <a:solidFill>
                  <a:srgbClr val="A8A8A8"/>
                </a:solidFill>
                <a:latin typeface="Tahoma"/>
                <a:cs typeface="Tahoma"/>
              </a:rPr>
              <a:t>g  </a:t>
            </a:r>
            <a:r>
              <a:rPr dirty="0" sz="1150" spc="45">
                <a:solidFill>
                  <a:srgbClr val="A8A8A8"/>
                </a:solidFill>
                <a:latin typeface="Tahoma"/>
                <a:cs typeface="Tahoma"/>
              </a:rPr>
              <a:t>parameter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03665" y="3644899"/>
            <a:ext cx="1228090" cy="705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30"/>
              </a:lnSpc>
              <a:spcBef>
                <a:spcPts val="100"/>
              </a:spcBef>
            </a:pPr>
            <a:r>
              <a:rPr dirty="0" sz="1800" spc="140">
                <a:solidFill>
                  <a:srgbClr val="C2132D"/>
                </a:solidFill>
                <a:latin typeface="Lucida Sans Unicode"/>
                <a:cs typeface="Lucida Sans Unicode"/>
              </a:rPr>
              <a:t>(</a:t>
            </a:r>
            <a:r>
              <a:rPr dirty="0" sz="1500" spc="14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3227" sz="1575" spc="209" i="1">
                <a:solidFill>
                  <a:srgbClr val="C2132D"/>
                </a:solidFill>
                <a:latin typeface="Calibri"/>
                <a:cs typeface="Calibri"/>
              </a:rPr>
              <a:t>t </a:t>
            </a:r>
            <a:r>
              <a:rPr dirty="0" sz="1800" spc="-35">
                <a:solidFill>
                  <a:srgbClr val="C2132D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0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8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1543" sz="2700" spc="-120">
                <a:solidFill>
                  <a:srgbClr val="C2132D"/>
                </a:solidFill>
                <a:latin typeface="Lucida Sans Unicode"/>
                <a:cs typeface="Lucida Sans Unicode"/>
              </a:rPr>
              <a:t>^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3809" sz="1575" spc="-120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20000" sz="1875" spc="-120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80">
                <a:solidFill>
                  <a:srgbClr val="C2132D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>
              <a:lnSpc>
                <a:spcPts val="1590"/>
              </a:lnSpc>
            </a:pP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7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0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C2132D"/>
                </a:solidFill>
                <a:latin typeface="Lucida Sans Unicode"/>
                <a:cs typeface="Lucida Sans Unicode"/>
              </a:rPr>
              <a:t>Remainder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36749" y="4609972"/>
            <a:ext cx="9394190" cy="1616075"/>
          </a:xfrm>
          <a:prstGeom prst="rect">
            <a:avLst/>
          </a:prstGeom>
        </p:spPr>
        <p:txBody>
          <a:bodyPr wrap="square" lIns="0" tIns="158750" rIns="0" bIns="0" rtlCol="0" vert="horz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1250"/>
              </a:spcBef>
              <a:buClr>
                <a:srgbClr val="C2132D"/>
              </a:buClr>
              <a:buFont typeface="Trebuchet MS"/>
              <a:buChar char="•"/>
              <a:tabLst>
                <a:tab pos="1587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35" b="1">
                <a:solidFill>
                  <a:srgbClr val="C2132D"/>
                </a:solidFill>
                <a:latin typeface="Trebuchet MS"/>
                <a:cs typeface="Trebuchet MS"/>
              </a:rPr>
              <a:t>for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60" b="1">
                <a:solidFill>
                  <a:srgbClr val="C2132D"/>
                </a:solidFill>
                <a:latin typeface="Trebuchet MS"/>
                <a:cs typeface="Trebuchet MS"/>
              </a:rPr>
              <a:t>next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time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period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weighted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0">
                <a:solidFill>
                  <a:srgbClr val="585D60"/>
                </a:solidFill>
                <a:latin typeface="Arial"/>
                <a:cs typeface="Arial"/>
              </a:rPr>
              <a:t>sum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actual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observation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previous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1600" spc="-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587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 b="1">
                <a:solidFill>
                  <a:srgbClr val="C2132D"/>
                </a:solidFill>
                <a:latin typeface="Trebuchet MS"/>
                <a:cs typeface="Trebuchet MS"/>
              </a:rPr>
              <a:t>smoothing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40" b="1">
                <a:solidFill>
                  <a:srgbClr val="C2132D"/>
                </a:solidFill>
                <a:latin typeface="Trebuchet MS"/>
                <a:cs typeface="Trebuchet MS"/>
              </a:rPr>
              <a:t>parameter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550" i="1">
                <a:solidFill>
                  <a:srgbClr val="A8A8A8"/>
                </a:solidFill>
                <a:latin typeface="Arial"/>
                <a:cs typeface="Arial"/>
              </a:rPr>
              <a:t>α</a:t>
            </a:r>
            <a:r>
              <a:rPr dirty="0" sz="850" spc="165" i="1">
                <a:solidFill>
                  <a:srgbClr val="A8A8A8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controls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much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5">
                <a:solidFill>
                  <a:srgbClr val="585D60"/>
                </a:solidFill>
                <a:latin typeface="Arial"/>
                <a:cs typeface="Arial"/>
              </a:rPr>
              <a:t>weight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585D60"/>
                </a:solidFill>
                <a:latin typeface="Arial"/>
                <a:cs typeface="Arial"/>
              </a:rPr>
              <a:t>given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new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observation.</a:t>
            </a:r>
            <a:endParaRPr sz="16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155"/>
              </a:spcBef>
              <a:buClr>
                <a:srgbClr val="C2132D"/>
              </a:buClr>
              <a:buFont typeface="Trebuchet MS"/>
              <a:buChar char="•"/>
              <a:tabLst>
                <a:tab pos="1587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2132D"/>
                </a:solidFill>
                <a:latin typeface="Trebuchet MS"/>
                <a:cs typeface="Trebuchet MS"/>
              </a:rPr>
              <a:t>forecast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70" b="1">
                <a:solidFill>
                  <a:srgbClr val="C2132D"/>
                </a:solidFill>
                <a:latin typeface="Trebuchet MS"/>
                <a:cs typeface="Trebuchet MS"/>
              </a:rPr>
              <a:t>error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130">
                <a:solidFill>
                  <a:srgbClr val="C2132D"/>
                </a:solidFill>
                <a:latin typeface="Lucida Sans Unicode"/>
                <a:cs typeface="Lucida Sans Unicode"/>
              </a:rPr>
              <a:t>(</a:t>
            </a:r>
            <a:r>
              <a:rPr dirty="0" sz="1350" spc="130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-14619" sz="1425" spc="195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4619" sz="1425" spc="345" i="1">
                <a:solidFill>
                  <a:srgbClr val="C2132D"/>
                </a:solidFill>
                <a:latin typeface="Calibri"/>
                <a:cs typeface="Calibri"/>
              </a:rPr>
              <a:t> </a:t>
            </a:r>
            <a:r>
              <a:rPr dirty="0" sz="1600" spc="-15">
                <a:solidFill>
                  <a:srgbClr val="C2132D"/>
                </a:solidFill>
                <a:latin typeface="Lucida Sans Unicode"/>
                <a:cs typeface="Lucida Sans Unicode"/>
              </a:rPr>
              <a:t>−</a:t>
            </a:r>
            <a:r>
              <a:rPr dirty="0" sz="1600" spc="-145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-75" i="1">
                <a:solidFill>
                  <a:srgbClr val="C2132D"/>
                </a:solidFill>
                <a:latin typeface="Calibri"/>
                <a:cs typeface="Calibri"/>
              </a:rPr>
              <a:t>y</a:t>
            </a:r>
            <a:r>
              <a:rPr dirty="0" baseline="5208" sz="2400" spc="-112">
                <a:solidFill>
                  <a:srgbClr val="C2132D"/>
                </a:solidFill>
                <a:latin typeface="Lucida Sans Unicode"/>
                <a:cs typeface="Lucida Sans Unicode"/>
              </a:rPr>
              <a:t>^</a:t>
            </a:r>
            <a:r>
              <a:rPr dirty="0" baseline="-23391" sz="1425" spc="-112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9323" sz="1725" spc="-112">
                <a:solidFill>
                  <a:srgbClr val="C2132D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3391" sz="1425" spc="-112" i="1">
                <a:solidFill>
                  <a:srgbClr val="C2132D"/>
                </a:solidFill>
                <a:latin typeface="Calibri"/>
                <a:cs typeface="Calibri"/>
              </a:rPr>
              <a:t>t</a:t>
            </a:r>
            <a:r>
              <a:rPr dirty="0" baseline="-19323" sz="1725" spc="-112">
                <a:solidFill>
                  <a:srgbClr val="C2132D"/>
                </a:solidFill>
                <a:latin typeface="Lucida Sans Unicode"/>
                <a:cs typeface="Lucida Sans Unicode"/>
              </a:rPr>
              <a:t>−1</a:t>
            </a:r>
            <a:r>
              <a:rPr dirty="0" sz="1600" spc="-75">
                <a:solidFill>
                  <a:srgbClr val="C2132D"/>
                </a:solidFill>
                <a:latin typeface="Lucida Sans Unicode"/>
                <a:cs typeface="Lucida Sans Unicode"/>
              </a:rPr>
              <a:t>)</a:t>
            </a:r>
            <a:r>
              <a:rPr dirty="0" sz="1600" spc="-100">
                <a:solidFill>
                  <a:srgbClr val="C2132D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captures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how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much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previous</a:t>
            </a:r>
            <a:r>
              <a:rPr dirty="0" sz="1600" spc="-3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0">
                <a:solidFill>
                  <a:srgbClr val="585D60"/>
                </a:solidFill>
                <a:latin typeface="Arial"/>
                <a:cs typeface="Arial"/>
              </a:rPr>
              <a:t>estimate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0">
                <a:solidFill>
                  <a:srgbClr val="585D60"/>
                </a:solidFill>
                <a:latin typeface="Arial"/>
                <a:cs typeface="Arial"/>
              </a:rPr>
              <a:t>deviates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actual.</a:t>
            </a:r>
            <a:endParaRPr sz="1600">
              <a:latin typeface="Arial"/>
              <a:cs typeface="Arial"/>
            </a:endParaRPr>
          </a:p>
          <a:p>
            <a:pPr marL="158115" indent="-120650">
              <a:lnSpc>
                <a:spcPct val="100000"/>
              </a:lnSpc>
              <a:spcBef>
                <a:spcPts val="1380"/>
              </a:spcBef>
              <a:buClr>
                <a:srgbClr val="C2132D"/>
              </a:buClr>
              <a:buFont typeface="Trebuchet MS"/>
              <a:buChar char="•"/>
              <a:tabLst>
                <a:tab pos="158750" algn="l"/>
              </a:tabLst>
            </a:pPr>
            <a:r>
              <a:rPr dirty="0" sz="1600" spc="-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previous</a:t>
            </a:r>
            <a:r>
              <a:rPr dirty="0" sz="1600" spc="-8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600" spc="-20" b="1">
                <a:solidFill>
                  <a:srgbClr val="C2132D"/>
                </a:solidFill>
                <a:latin typeface="Trebuchet MS"/>
                <a:cs typeface="Trebuchet MS"/>
              </a:rPr>
              <a:t>estimate</a:t>
            </a:r>
            <a:r>
              <a:rPr dirty="0" sz="1600" spc="-7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350" spc="-114" i="1">
                <a:solidFill>
                  <a:srgbClr val="008080"/>
                </a:solidFill>
                <a:latin typeface="Calibri"/>
                <a:cs typeface="Calibri"/>
              </a:rPr>
              <a:t>y</a:t>
            </a:r>
            <a:r>
              <a:rPr dirty="0" baseline="1736" sz="2400" spc="-172">
                <a:solidFill>
                  <a:srgbClr val="008080"/>
                </a:solidFill>
                <a:latin typeface="Lucida Sans Unicode"/>
                <a:cs typeface="Lucida Sans Unicode"/>
              </a:rPr>
              <a:t>^</a:t>
            </a:r>
            <a:r>
              <a:rPr dirty="0" baseline="-26315" sz="1425" spc="-17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1739" sz="1725" spc="-172">
                <a:solidFill>
                  <a:srgbClr val="008080"/>
                </a:solidFill>
                <a:latin typeface="Lucida Sans Unicode"/>
                <a:cs typeface="Lucida Sans Unicode"/>
              </a:rPr>
              <a:t>∣</a:t>
            </a:r>
            <a:r>
              <a:rPr dirty="0" baseline="-26315" sz="1425" spc="-172" i="1">
                <a:solidFill>
                  <a:srgbClr val="008080"/>
                </a:solidFill>
                <a:latin typeface="Calibri"/>
                <a:cs typeface="Calibri"/>
              </a:rPr>
              <a:t>t</a:t>
            </a:r>
            <a:r>
              <a:rPr dirty="0" baseline="-21739" sz="1725" spc="-172">
                <a:solidFill>
                  <a:srgbClr val="00808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21739" sz="1725" spc="172">
                <a:solidFill>
                  <a:srgbClr val="008080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5">
                <a:solidFill>
                  <a:srgbClr val="585D60"/>
                </a:solidFill>
                <a:latin typeface="Arial"/>
                <a:cs typeface="Arial"/>
              </a:rPr>
              <a:t>represents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35">
                <a:solidFill>
                  <a:srgbClr val="585D60"/>
                </a:solidFill>
                <a:latin typeface="Arial"/>
                <a:cs typeface="Arial"/>
              </a:rPr>
              <a:t>forecast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55">
                <a:solidFill>
                  <a:srgbClr val="585D60"/>
                </a:solidFill>
                <a:latin typeface="Arial"/>
                <a:cs typeface="Arial"/>
              </a:rPr>
              <a:t>from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20">
                <a:solidFill>
                  <a:srgbClr val="585D60"/>
                </a:solidFill>
                <a:latin typeface="Arial"/>
                <a:cs typeface="Arial"/>
              </a:rPr>
              <a:t>prior</a:t>
            </a:r>
            <a:r>
              <a:rPr dirty="0" sz="16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4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6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00" spc="15">
                <a:solidFill>
                  <a:srgbClr val="585D60"/>
                </a:solidFill>
                <a:latin typeface="Arial"/>
                <a:cs typeface="Arial"/>
              </a:rPr>
              <a:t>step.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7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0">
                <a:latin typeface="Arial Narrow"/>
                <a:cs typeface="Arial Narrow"/>
              </a:rPr>
              <a:t>Double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160">
                <a:latin typeface="Arial Narrow"/>
                <a:cs typeface="Arial Narrow"/>
              </a:rPr>
              <a:t> </a:t>
            </a:r>
            <a:r>
              <a:rPr dirty="0" sz="3350" spc="160">
                <a:latin typeface="Arial Narrow"/>
                <a:cs typeface="Arial Narrow"/>
              </a:rPr>
              <a:t>(Holt)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303385" cy="2680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SES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suitable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trend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seasonality.</a:t>
            </a:r>
            <a:endParaRPr sz="1800">
              <a:latin typeface="Arial"/>
              <a:cs typeface="Arial"/>
            </a:endParaRPr>
          </a:p>
          <a:p>
            <a:pPr marL="158750" marR="126364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Holt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extends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585D60"/>
                </a:solidFill>
                <a:latin typeface="Arial"/>
                <a:cs typeface="Arial"/>
              </a:rPr>
              <a:t>SES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local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50" b="1">
                <a:solidFill>
                  <a:srgbClr val="C2132D"/>
                </a:solidFill>
                <a:latin typeface="Trebuchet MS"/>
                <a:cs typeface="Trebuchet MS"/>
              </a:rPr>
              <a:t>(not</a:t>
            </a:r>
            <a:r>
              <a:rPr dirty="0" sz="1800" spc="-8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20" b="1">
                <a:solidFill>
                  <a:srgbClr val="C2132D"/>
                </a:solidFill>
                <a:latin typeface="Trebuchet MS"/>
                <a:cs typeface="Trebuchet MS"/>
              </a:rPr>
              <a:t>constant)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60" b="1">
                <a:solidFill>
                  <a:srgbClr val="C2132D"/>
                </a:solidFill>
                <a:latin typeface="Trebuchet MS"/>
                <a:cs typeface="Trebuchet MS"/>
              </a:rPr>
              <a:t>linear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trend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but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 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seasonality.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Holt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uses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parameters: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level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-8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6666" sz="1875" spc="-12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baseline="26666" sz="1875" spc="217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trend.</a:t>
            </a:r>
            <a:endParaRPr sz="1800">
              <a:latin typeface="Arial"/>
              <a:cs typeface="Arial"/>
            </a:endParaRPr>
          </a:p>
          <a:p>
            <a:pPr marL="158750" marR="17780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Holt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equivalent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585D60"/>
                </a:solidFill>
                <a:latin typeface="Arial"/>
                <a:cs typeface="Arial"/>
              </a:rPr>
              <a:t>ETS(A,A,N)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585D60"/>
                </a:solidFill>
                <a:latin typeface="Arial"/>
                <a:cs typeface="Arial"/>
              </a:rPr>
              <a:t>ETS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framework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(additive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error, 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additive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trend,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no</a:t>
            </a:r>
            <a:r>
              <a:rPr dirty="0" sz="1800" spc="-16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seasonality).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Holt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implemented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r>
              <a:rPr dirty="0" sz="1800" spc="-10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library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 spc="-5">
                <a:solidFill>
                  <a:srgbClr val="C2132D"/>
                </a:solidFill>
                <a:latin typeface="Courier New"/>
                <a:cs typeface="Courier New"/>
              </a:rPr>
              <a:t>Holt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7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0">
                <a:latin typeface="Arial Narrow"/>
                <a:cs typeface="Arial Narrow"/>
              </a:rPr>
              <a:t>Double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160">
                <a:latin typeface="Arial Narrow"/>
                <a:cs typeface="Arial Narrow"/>
              </a:rPr>
              <a:t> </a:t>
            </a:r>
            <a:r>
              <a:rPr dirty="0" sz="3350" spc="160">
                <a:latin typeface="Arial Narrow"/>
                <a:cs typeface="Arial Narrow"/>
              </a:rPr>
              <a:t>(Holt)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0712" y="1387475"/>
            <a:ext cx="8750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210">
                <a:solidFill>
                  <a:srgbClr val="585D60"/>
                </a:solidFill>
                <a:latin typeface="Lucida Sans Unicode"/>
                <a:cs typeface="Lucida Sans Unicode"/>
              </a:rPr>
              <a:t>F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or</a:t>
            </a:r>
            <a:r>
              <a:rPr dirty="0" sz="1800" spc="-204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c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as</a:t>
            </a:r>
            <a:r>
              <a:rPr dirty="0" sz="1800" spc="25">
                <a:solidFill>
                  <a:srgbClr val="585D60"/>
                </a:solidFill>
                <a:latin typeface="Lucida Sans Unicode"/>
                <a:cs typeface="Lucida Sans Unicode"/>
              </a:rPr>
              <a:t>t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6069" y="1569364"/>
            <a:ext cx="92646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45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45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23058" y="1787905"/>
            <a:ext cx="1007110" cy="35306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316865" marR="5080" indent="-304800">
              <a:lnSpc>
                <a:spcPct val="70000"/>
              </a:lnSpc>
              <a:spcBef>
                <a:spcPts val="57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Predict</a:t>
            </a:r>
            <a:r>
              <a:rPr dirty="0" sz="125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future  </a:t>
            </a: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value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8863" y="1387475"/>
            <a:ext cx="1419225" cy="667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1980"/>
              </a:lnSpc>
              <a:spcBef>
                <a:spcPts val="100"/>
              </a:spcBef>
              <a:tabLst>
                <a:tab pos="1228090" algn="l"/>
              </a:tabLst>
            </a:pPr>
            <a:r>
              <a:rPr dirty="0" sz="1650" spc="-6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  <a:p>
            <a:pPr marL="143510">
              <a:lnSpc>
                <a:spcPts val="1440"/>
              </a:lnSpc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3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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for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30490" y="1387475"/>
            <a:ext cx="1396365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870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5080">
              <a:lnSpc>
                <a:spcPts val="132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(Base</a:t>
            </a:r>
            <a:r>
              <a:rPr dirty="0" sz="125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Value)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26597" y="1387475"/>
            <a:ext cx="386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2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35701" y="1405534"/>
            <a:ext cx="23304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2077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54541" y="1588414"/>
            <a:ext cx="38989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6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5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86910" y="1816480"/>
            <a:ext cx="153797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Trend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(Growth</a:t>
            </a:r>
            <a:r>
              <a:rPr dirty="0" sz="125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15">
                <a:solidFill>
                  <a:srgbClr val="585D60"/>
                </a:solidFill>
                <a:latin typeface="Lucida Sans Unicode"/>
                <a:cs typeface="Lucida Sans Unicode"/>
              </a:rPr>
              <a:t>Rate)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4787" y="2816225"/>
            <a:ext cx="555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85D60"/>
                </a:solidFill>
                <a:latin typeface="Lucida Sans Unicode"/>
                <a:cs typeface="Lucida Sans Unicode"/>
              </a:rPr>
              <a:t>Le</a:t>
            </a:r>
            <a:r>
              <a:rPr dirty="0" sz="1800" spc="15">
                <a:solidFill>
                  <a:srgbClr val="585D60"/>
                </a:solidFill>
                <a:latin typeface="Lucida Sans Unicode"/>
                <a:cs typeface="Lucida Sans Unicode"/>
              </a:rPr>
              <a:t>v</a:t>
            </a:r>
            <a:r>
              <a:rPr dirty="0" sz="1800" spc="-204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20">
                <a:solidFill>
                  <a:srgbClr val="585D60"/>
                </a:solidFill>
                <a:latin typeface="Lucida Sans Unicode"/>
                <a:cs typeface="Lucida Sans Unicode"/>
              </a:rPr>
              <a:t>l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145" y="2998114"/>
            <a:ext cx="606425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8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8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5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71228" y="3216655"/>
            <a:ext cx="1359535" cy="3625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404495" marR="5080" indent="-392430">
              <a:lnSpc>
                <a:spcPct val="75000"/>
              </a:lnSpc>
              <a:spcBef>
                <a:spcPts val="49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series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23444" y="2816225"/>
            <a:ext cx="1378585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6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14342" y="2816225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57428" y="2834284"/>
            <a:ext cx="1122045" cy="8115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75"/>
              </a:lnSpc>
              <a:spcBef>
                <a:spcPts val="105"/>
              </a:spcBef>
            </a:pPr>
            <a:r>
              <a:rPr dirty="0" sz="1650" spc="95" i="1">
                <a:solidFill>
                  <a:srgbClr val="585D60"/>
                </a:solidFill>
                <a:latin typeface="Trebuchet MS"/>
                <a:cs typeface="Trebuchet MS"/>
              </a:rPr>
              <a:t>αy</a:t>
            </a:r>
            <a:r>
              <a:rPr dirty="0" baseline="-14492" sz="1725" spc="14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5080">
              <a:lnSpc>
                <a:spcPts val="142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ts val="1350"/>
              </a:lnSpc>
              <a:spcBef>
                <a:spcPts val="30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observation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80783" y="2816225"/>
            <a:ext cx="222631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14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5">
                <a:solidFill>
                  <a:srgbClr val="585D60"/>
                </a:solidFill>
                <a:latin typeface="Lucida Sans Unicode"/>
                <a:cs typeface="Lucida Sans Unicode"/>
              </a:rPr>
              <a:t>)(ℓ</a:t>
            </a:r>
            <a:r>
              <a:rPr dirty="0" baseline="-14492" sz="1725" spc="-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3333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26695">
              <a:lnSpc>
                <a:spcPts val="1475"/>
              </a:lnSpc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690880" marR="462280">
              <a:lnSpc>
                <a:spcPts val="1280"/>
              </a:lnSpc>
              <a:spcBef>
                <a:spcPts val="35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2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12355" y="4111624"/>
            <a:ext cx="636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60">
                <a:solidFill>
                  <a:srgbClr val="585D60"/>
                </a:solidFill>
                <a:latin typeface="Lucida Sans Unicode"/>
                <a:cs typeface="Lucida Sans Unicode"/>
              </a:rPr>
              <a:t>T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r</a:t>
            </a:r>
            <a:r>
              <a:rPr dirty="0" sz="1800" spc="-204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800" spc="-120">
                <a:solidFill>
                  <a:srgbClr val="585D60"/>
                </a:solidFill>
                <a:latin typeface="Lucida Sans Unicode"/>
                <a:cs typeface="Lucida Sans Unicode"/>
              </a:rPr>
              <a:t>n</a:t>
            </a:r>
            <a:r>
              <a:rPr dirty="0" sz="1800" spc="-135">
                <a:solidFill>
                  <a:srgbClr val="585D60"/>
                </a:solidFill>
                <a:latin typeface="Lucida Sans Unicode"/>
                <a:cs typeface="Lucida Sans Unicode"/>
              </a:rPr>
              <a:t>d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17713" y="4293514"/>
            <a:ext cx="68707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5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44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86731" y="4512055"/>
            <a:ext cx="1143635" cy="36258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274955" marR="5080" indent="-262890">
              <a:lnSpc>
                <a:spcPct val="75000"/>
              </a:lnSpc>
              <a:spcBef>
                <a:spcPts val="49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 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64508" y="4129684"/>
            <a:ext cx="1437640" cy="6305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88942" y="4111624"/>
            <a:ext cx="17938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3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17145">
              <a:lnSpc>
                <a:spcPts val="1475"/>
              </a:lnSpc>
            </a:pPr>
            <a:r>
              <a:rPr dirty="0" sz="1350" spc="-509">
                <a:solidFill>
                  <a:srgbClr val="585D60"/>
                </a:solidFill>
                <a:latin typeface="Arial"/>
                <a:cs typeface="Arial"/>
              </a:rPr>
              <a:t></a:t>
            </a:r>
            <a:endParaRPr sz="1350">
              <a:latin typeface="Arial"/>
              <a:cs typeface="Arial"/>
            </a:endParaRPr>
          </a:p>
          <a:p>
            <a:pPr algn="ctr" marL="306070" marR="285750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change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endParaRPr baseline="27777" sz="13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84256" y="4111624"/>
            <a:ext cx="1459230" cy="829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3333" sz="1875">
              <a:latin typeface="Lucida Sans Unicode"/>
              <a:cs typeface="Lucida Sans Unicode"/>
            </a:endParaRPr>
          </a:p>
          <a:p>
            <a:pPr algn="ctr" marL="1905">
              <a:lnSpc>
                <a:spcPts val="147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ts val="1200"/>
              </a:lnSpc>
              <a:spcBef>
                <a:spcPts val="420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-1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0864" sz="1350" spc="-1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27507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0">
                <a:latin typeface="Arial Narrow"/>
                <a:cs typeface="Arial Narrow"/>
              </a:rPr>
              <a:t>Double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160">
                <a:latin typeface="Arial Narrow"/>
                <a:cs typeface="Arial Narrow"/>
              </a:rPr>
              <a:t> </a:t>
            </a:r>
            <a:r>
              <a:rPr dirty="0" sz="3350" spc="160">
                <a:latin typeface="Arial Narrow"/>
                <a:cs typeface="Arial Narrow"/>
              </a:rPr>
              <a:t>(Holt)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042" y="1504210"/>
            <a:ext cx="9577937" cy="443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7972425" cy="0"/>
          </a:xfrm>
          <a:custGeom>
            <a:avLst/>
            <a:gdLst/>
            <a:ahLst/>
            <a:cxnLst/>
            <a:rect l="l" t="t" r="r" b="b"/>
            <a:pathLst>
              <a:path w="7972425" h="0">
                <a:moveTo>
                  <a:pt x="0" y="0"/>
                </a:moveTo>
                <a:lnTo>
                  <a:pt x="79724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7972425" cy="0"/>
          </a:xfrm>
          <a:custGeom>
            <a:avLst/>
            <a:gdLst/>
            <a:ahLst/>
            <a:cxnLst/>
            <a:rect l="l" t="t" r="r" b="b"/>
            <a:pathLst>
              <a:path w="7972425" h="0">
                <a:moveTo>
                  <a:pt x="0" y="0"/>
                </a:moveTo>
                <a:lnTo>
                  <a:pt x="79724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8773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16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799782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5" b="1">
                <a:solidFill>
                  <a:srgbClr val="C2132D"/>
                </a:solidFill>
                <a:latin typeface="Trebuchet MS"/>
                <a:cs typeface="Trebuchet MS"/>
              </a:rPr>
              <a:t>Credits:</a:t>
            </a:r>
            <a:r>
              <a:rPr dirty="0" sz="850" spc="-5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This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animation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inspired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Rob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60">
                <a:solidFill>
                  <a:srgbClr val="585D60"/>
                </a:solidFill>
                <a:latin typeface="Arial"/>
                <a:cs typeface="Arial"/>
              </a:rPr>
              <a:t>J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585D60"/>
                </a:solidFill>
                <a:latin typeface="Arial"/>
                <a:cs typeface="Arial"/>
              </a:rPr>
              <a:t>Hyndman's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presentation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double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exponential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0">
                <a:solidFill>
                  <a:srgbClr val="585D60"/>
                </a:solidFill>
                <a:latin typeface="Arial"/>
                <a:cs typeface="Arial"/>
              </a:rPr>
              <a:t>his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585D60"/>
                </a:solidFill>
                <a:latin typeface="Arial"/>
                <a:cs typeface="Arial"/>
              </a:rPr>
              <a:t>book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"Forecasting:</a:t>
            </a:r>
            <a:r>
              <a:rPr dirty="0" sz="850" spc="-1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5">
                <a:solidFill>
                  <a:srgbClr val="585D60"/>
                </a:solidFill>
                <a:latin typeface="Arial"/>
                <a:cs typeface="Arial"/>
              </a:rPr>
              <a:t>Principles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10">
                <a:solidFill>
                  <a:srgbClr val="585D60"/>
                </a:solidFill>
                <a:latin typeface="Arial"/>
                <a:cs typeface="Arial"/>
              </a:rPr>
              <a:t>Practice".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20">
                <a:solidFill>
                  <a:srgbClr val="585D60"/>
                </a:solidFill>
                <a:latin typeface="Arial"/>
                <a:cs typeface="Arial"/>
              </a:rPr>
              <a:t>See</a:t>
            </a:r>
            <a:r>
              <a:rPr dirty="0" sz="850" spc="-1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here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43712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5">
                <a:latin typeface="Arial Narrow"/>
                <a:cs typeface="Arial Narrow"/>
              </a:rPr>
              <a:t>Triple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</a:t>
            </a:r>
            <a:r>
              <a:rPr dirty="0" sz="3350" spc="-160">
                <a:latin typeface="Arial Narrow"/>
                <a:cs typeface="Arial Narrow"/>
              </a:rPr>
              <a:t> </a:t>
            </a:r>
            <a:r>
              <a:rPr dirty="0" sz="3350" spc="120">
                <a:latin typeface="Arial Narrow"/>
                <a:cs typeface="Arial Narrow"/>
              </a:rPr>
              <a:t>(Holt-Winters)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9450705" cy="2795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Holt-Winters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extends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Holt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Arial"/>
                <a:cs typeface="Arial"/>
              </a:rPr>
              <a:t>time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series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Arial"/>
                <a:cs typeface="Arial"/>
              </a:rPr>
              <a:t>with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seasonality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58750" marR="217804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Holt-Winters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uses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three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parameters: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level,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-8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8888" sz="1875" spc="-12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baseline="28888" sz="1875" spc="2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trend, 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 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28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seasonality.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are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Arial"/>
                <a:cs typeface="Arial"/>
              </a:rPr>
              <a:t>two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versions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Holt-Winters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model: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40385" algn="l"/>
              </a:tabLst>
            </a:pPr>
            <a:r>
              <a:rPr dirty="0" sz="1800" spc="-45" b="1">
                <a:solidFill>
                  <a:srgbClr val="C2132D"/>
                </a:solidFill>
                <a:latin typeface="Trebuchet MS"/>
                <a:cs typeface="Trebuchet MS"/>
              </a:rPr>
              <a:t>Additive</a:t>
            </a:r>
            <a:r>
              <a:rPr dirty="0" sz="180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Seasonality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component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added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level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trend.</a:t>
            </a:r>
            <a:endParaRPr sz="1800">
              <a:latin typeface="Arial"/>
              <a:cs typeface="Arial"/>
            </a:endParaRPr>
          </a:p>
          <a:p>
            <a:pPr lvl="1" marL="539750" indent="-134620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540385" algn="l"/>
              </a:tabLst>
            </a:pPr>
            <a:r>
              <a:rPr dirty="0" sz="1800" spc="-35" b="1">
                <a:solidFill>
                  <a:srgbClr val="C2132D"/>
                </a:solidFill>
                <a:latin typeface="Trebuchet MS"/>
                <a:cs typeface="Trebuchet MS"/>
              </a:rPr>
              <a:t>Multiplicative</a:t>
            </a:r>
            <a:r>
              <a:rPr dirty="0" sz="180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1800" spc="-10" b="1">
                <a:solidFill>
                  <a:srgbClr val="C2132D"/>
                </a:solidFill>
                <a:latin typeface="Trebuchet MS"/>
                <a:cs typeface="Trebuchet MS"/>
              </a:rPr>
              <a:t>Seasonality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component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multiplied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585D60"/>
                </a:solidFill>
                <a:latin typeface="Arial"/>
                <a:cs typeface="Arial"/>
              </a:rPr>
              <a:t>by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level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and</a:t>
            </a:r>
            <a:r>
              <a:rPr dirty="0" sz="1800" spc="-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trend.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Holt-Winters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model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implemented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StatsForecast</a:t>
            </a:r>
            <a:r>
              <a:rPr dirty="0" sz="1800" spc="-9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library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C2132D"/>
                </a:solidFill>
                <a:latin typeface="Courier New"/>
                <a:cs typeface="Courier New"/>
              </a:rPr>
              <a:t>HoltWinters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6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5">
                <a:latin typeface="Arial Narrow"/>
                <a:cs typeface="Arial Narrow"/>
              </a:rPr>
              <a:t>Triple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 </a:t>
            </a:r>
            <a:r>
              <a:rPr dirty="0" sz="3350" spc="120">
                <a:latin typeface="Arial Narrow"/>
                <a:cs typeface="Arial Narrow"/>
              </a:rPr>
              <a:t>(Holt-Winters</a:t>
            </a:r>
            <a:r>
              <a:rPr dirty="0" sz="3350" spc="-310">
                <a:latin typeface="Arial Narrow"/>
                <a:cs typeface="Arial Narrow"/>
              </a:rPr>
              <a:t> </a:t>
            </a:r>
            <a:r>
              <a:rPr dirty="0" sz="3350" spc="120">
                <a:latin typeface="Arial Narrow"/>
                <a:cs typeface="Arial Narrow"/>
              </a:rPr>
              <a:t>[Add])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1016" y="1387475"/>
            <a:ext cx="1445895" cy="667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8430">
              <a:lnSpc>
                <a:spcPts val="1980"/>
              </a:lnSpc>
              <a:spcBef>
                <a:spcPts val="100"/>
              </a:spcBef>
              <a:tabLst>
                <a:tab pos="1254760" algn="l"/>
              </a:tabLst>
            </a:pPr>
            <a:r>
              <a:rPr dirty="0" sz="1650" spc="-67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" sz="2700" spc="-35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spc="-10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  <a:p>
            <a:pPr marL="144145">
              <a:lnSpc>
                <a:spcPts val="1440"/>
              </a:lnSpc>
            </a:pPr>
            <a:r>
              <a:rPr dirty="0" sz="1350" spc="-515">
                <a:solidFill>
                  <a:srgbClr val="585D60"/>
                </a:solidFill>
                <a:latin typeface="Arial"/>
                <a:cs typeface="Arial"/>
              </a:rPr>
              <a:t></a:t>
            </a:r>
            <a:endParaRPr sz="1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for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69581" y="1387475"/>
            <a:ext cx="1396365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870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5080">
              <a:lnSpc>
                <a:spcPts val="132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(Base</a:t>
            </a:r>
            <a:r>
              <a:rPr dirty="0" sz="125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Value)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665687" y="1387475"/>
            <a:ext cx="3860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2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4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4792" y="1405534"/>
            <a:ext cx="23304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2077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93631" y="1588414"/>
            <a:ext cx="389890" cy="23050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50" spc="-46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5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26000" y="1816480"/>
            <a:ext cx="1537970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Trend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(Growth</a:t>
            </a:r>
            <a:r>
              <a:rPr dirty="0" sz="125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15">
                <a:solidFill>
                  <a:srgbClr val="585D60"/>
                </a:solidFill>
                <a:latin typeface="Lucida Sans Unicode"/>
                <a:cs typeface="Lucida Sans Unicode"/>
              </a:rPr>
              <a:t>Rate)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63445" y="1425575"/>
            <a:ext cx="1380490" cy="80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45"/>
              </a:lnSpc>
              <a:spcBef>
                <a:spcPts val="100"/>
              </a:spcBef>
            </a:pPr>
            <a:r>
              <a:rPr dirty="0" baseline="9259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9259" sz="2700" spc="-3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0101" sz="2475" spc="67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k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+1)</a:t>
            </a:r>
            <a:endParaRPr sz="1250">
              <a:latin typeface="Lucida Sans Unicode"/>
              <a:cs typeface="Lucida Sans Unicode"/>
            </a:endParaRPr>
          </a:p>
          <a:p>
            <a:pPr algn="ctr" marL="233679">
              <a:lnSpc>
                <a:spcPts val="1400"/>
              </a:lnSpc>
            </a:pP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503555" marR="266065">
              <a:lnSpc>
                <a:spcPct val="75000"/>
              </a:lnSpc>
              <a:spcBef>
                <a:spcPts val="505"/>
              </a:spcBef>
            </a:pPr>
            <a:r>
              <a:rPr dirty="0" sz="1250" spc="3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o</a:t>
            </a:r>
            <a:r>
              <a:rPr dirty="0" sz="1250" spc="-70">
                <a:solidFill>
                  <a:srgbClr val="585D60"/>
                </a:solidFill>
                <a:latin typeface="Lucida Sans Unicode"/>
                <a:cs typeface="Lucida Sans Unicode"/>
              </a:rPr>
              <a:t>n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l  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Effect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3748" y="2673350"/>
            <a:ext cx="1410335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2077" sz="1725" spc="-254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  <a:p>
            <a:pPr algn="ctr" marR="4445">
              <a:lnSpc>
                <a:spcPts val="1365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8033" y="2673350"/>
            <a:ext cx="1831339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20"/>
              </a:lnSpc>
              <a:spcBef>
                <a:spcPts val="100"/>
              </a:spcBef>
              <a:tabLst>
                <a:tab pos="431800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0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150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2077" sz="1725" spc="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15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2077" sz="1725" spc="150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800" spc="10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61620">
              <a:lnSpc>
                <a:spcPts val="1475"/>
              </a:lnSpc>
            </a:pPr>
            <a:r>
              <a:rPr dirty="0" sz="1350" spc="-400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90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09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0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90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09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06705" marR="43180">
              <a:lnSpc>
                <a:spcPts val="1350"/>
              </a:lnSpc>
              <a:spcBef>
                <a:spcPts val="22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 on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seasonally </a:t>
            </a:r>
            <a:r>
              <a:rPr dirty="0" sz="1250" spc="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adjusted</a:t>
            </a:r>
            <a:r>
              <a:rPr dirty="0" sz="1250" spc="-14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observation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48200" y="2673350"/>
            <a:ext cx="2226310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2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8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-5">
                <a:solidFill>
                  <a:srgbClr val="585D60"/>
                </a:solidFill>
                <a:latin typeface="Lucida Sans Unicode"/>
                <a:cs typeface="Lucida Sans Unicode"/>
              </a:rPr>
              <a:t>)(ℓ</a:t>
            </a:r>
            <a:r>
              <a:rPr dirty="0" baseline="-12077" sz="1725" spc="-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-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1111" sz="1875" spc="11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8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2077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1111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26695">
              <a:lnSpc>
                <a:spcPts val="1475"/>
              </a:lnSpc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690880" marR="462280">
              <a:lnSpc>
                <a:spcPts val="1350"/>
              </a:lnSpc>
              <a:spcBef>
                <a:spcPts val="22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2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03748" y="3777259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8033" y="3759199"/>
            <a:ext cx="17938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3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17145">
              <a:lnSpc>
                <a:spcPts val="1475"/>
              </a:lnSpc>
            </a:pPr>
            <a:r>
              <a:rPr dirty="0" sz="1350" spc="-509">
                <a:solidFill>
                  <a:srgbClr val="585D60"/>
                </a:solidFill>
                <a:latin typeface="Arial"/>
                <a:cs typeface="Arial"/>
              </a:rPr>
              <a:t></a:t>
            </a:r>
            <a:endParaRPr sz="1350">
              <a:latin typeface="Arial"/>
              <a:cs typeface="Arial"/>
            </a:endParaRPr>
          </a:p>
          <a:p>
            <a:pPr algn="ctr" marL="306070" marR="285750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change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endParaRPr baseline="27777" sz="13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23346" y="3759199"/>
            <a:ext cx="1459230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3333" sz="1875">
              <a:latin typeface="Lucida Sans Unicode"/>
              <a:cs typeface="Lucida Sans Unicode"/>
            </a:endParaRPr>
          </a:p>
          <a:p>
            <a:pPr algn="ctr" marL="1905">
              <a:lnSpc>
                <a:spcPts val="147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-1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1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3748" y="4872634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seasonality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28033" y="4854574"/>
            <a:ext cx="233489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6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800" spc="6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65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97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8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187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25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9525">
              <a:lnSpc>
                <a:spcPts val="1480"/>
              </a:lnSpc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645160" marR="635635">
              <a:lnSpc>
                <a:spcPts val="1350"/>
              </a:lnSpc>
              <a:spcBef>
                <a:spcPts val="30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11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12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585D60"/>
                </a:solidFill>
                <a:latin typeface="Lucida Sans Unicode"/>
                <a:cs typeface="Lucida Sans Unicode"/>
              </a:rPr>
              <a:t>effect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64336" y="4854574"/>
            <a:ext cx="146494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14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baseline="-14492" sz="1725">
              <a:latin typeface="Trebuchet MS"/>
              <a:cs typeface="Trebuchet MS"/>
            </a:endParaRPr>
          </a:p>
          <a:p>
            <a:pPr algn="ctr" marL="5715">
              <a:lnSpc>
                <a:spcPts val="1480"/>
              </a:lnSpc>
            </a:pP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39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ts val="1280"/>
              </a:lnSpc>
              <a:spcBef>
                <a:spcPts val="355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component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6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5">
                <a:latin typeface="Arial Narrow"/>
                <a:cs typeface="Arial Narrow"/>
              </a:rPr>
              <a:t>Triple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 </a:t>
            </a:r>
            <a:r>
              <a:rPr dirty="0" sz="3350" spc="120">
                <a:latin typeface="Arial Narrow"/>
                <a:cs typeface="Arial Narrow"/>
              </a:rPr>
              <a:t>(Holt-Winters</a:t>
            </a:r>
            <a:r>
              <a:rPr dirty="0" sz="3350" spc="-310">
                <a:latin typeface="Arial Narrow"/>
                <a:cs typeface="Arial Narrow"/>
              </a:rPr>
              <a:t> </a:t>
            </a:r>
            <a:r>
              <a:rPr dirty="0" sz="3350" spc="120">
                <a:latin typeface="Arial Narrow"/>
                <a:cs typeface="Arial Narrow"/>
              </a:rPr>
              <a:t>[Add])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6054" y="1425575"/>
            <a:ext cx="8428990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component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usually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expressed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as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36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6666" sz="1875" spc="30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2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3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21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4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6666" sz="1875" spc="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4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6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67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800" spc="45">
                <a:solidFill>
                  <a:srgbClr val="585D60"/>
                </a:solidFill>
                <a:latin typeface="Lucida Sans Unicode"/>
                <a:cs typeface="Lucida Sans Unicode"/>
              </a:rPr>
              <a:t>.</a:t>
            </a:r>
            <a:endParaRPr sz="1800">
              <a:latin typeface="Lucida Sans Unicode"/>
              <a:cs typeface="Lucida Sans Unicode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Substitute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5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800" spc="-105">
                <a:solidFill>
                  <a:srgbClr val="585D60"/>
                </a:solidFill>
                <a:latin typeface="Arial"/>
                <a:cs typeface="Arial"/>
              </a:rPr>
              <a:t>: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367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8888" sz="1875" spc="-7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00">
                <a:solidFill>
                  <a:srgbClr val="585D60"/>
                </a:solidFill>
                <a:latin typeface="Lucida Sans Unicode"/>
                <a:cs typeface="Lucida Sans Unicode"/>
              </a:rPr>
              <a:t>)(</a:t>
            </a:r>
            <a:r>
              <a:rPr dirty="0" sz="1650" spc="10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15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4492" sz="1725" spc="209" i="1">
                <a:solidFill>
                  <a:srgbClr val="585D60"/>
                </a:solidFill>
                <a:latin typeface="Trebuchet MS"/>
                <a:cs typeface="Trebuchet MS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2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18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18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-13333" sz="1875" spc="13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3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3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2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[1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8888" sz="1875" spc="-7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(1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80">
                <a:solidFill>
                  <a:srgbClr val="585D60"/>
                </a:solidFill>
                <a:latin typeface="Lucida Sans Unicode"/>
                <a:cs typeface="Lucida Sans Unicode"/>
              </a:rPr>
              <a:t>)]</a:t>
            </a:r>
            <a:r>
              <a:rPr dirty="0" sz="1650" spc="80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120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0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baseline="-14492" sz="1725">
              <a:latin typeface="Trebuchet MS"/>
              <a:cs typeface="Trebuchet MS"/>
            </a:endParaRPr>
          </a:p>
          <a:p>
            <a:pPr marL="1587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90">
                <a:solidFill>
                  <a:srgbClr val="585D60"/>
                </a:solidFill>
                <a:latin typeface="Arial"/>
                <a:cs typeface="Arial"/>
              </a:rPr>
              <a:t>We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set 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8888" sz="1875" spc="-7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50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1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587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59385" algn="l"/>
              </a:tabLst>
            </a:pPr>
            <a:r>
              <a:rPr dirty="0" sz="1800" spc="-3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usual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parameter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restriction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is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650" spc="-7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baseline="26666" sz="1875" spc="-112">
                <a:solidFill>
                  <a:srgbClr val="585D60"/>
                </a:solidFill>
                <a:latin typeface="Lucida Sans Unicode"/>
                <a:cs typeface="Lucida Sans Unicode"/>
              </a:rPr>
              <a:t>∗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800" spc="-19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95">
                <a:solidFill>
                  <a:srgbClr val="585D60"/>
                </a:solidFill>
                <a:latin typeface="Arial"/>
                <a:cs typeface="Arial"/>
              </a:rPr>
              <a:t>, </a:t>
            </a: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which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translates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 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0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≤ 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5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110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110">
                <a:solidFill>
                  <a:srgbClr val="585D6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6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5">
                <a:latin typeface="Arial Narrow"/>
                <a:cs typeface="Arial Narrow"/>
              </a:rPr>
              <a:t>Triple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 </a:t>
            </a:r>
            <a:r>
              <a:rPr dirty="0" sz="3350" spc="120">
                <a:latin typeface="Arial Narrow"/>
                <a:cs typeface="Arial Narrow"/>
              </a:rPr>
              <a:t>(Holt-Winters</a:t>
            </a:r>
            <a:r>
              <a:rPr dirty="0" sz="3350" spc="-310">
                <a:latin typeface="Arial Narrow"/>
                <a:cs typeface="Arial Narrow"/>
              </a:rPr>
              <a:t> </a:t>
            </a:r>
            <a:r>
              <a:rPr dirty="0" sz="3350" spc="120">
                <a:latin typeface="Arial Narrow"/>
                <a:cs typeface="Arial Narrow"/>
              </a:rPr>
              <a:t>[Add])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79042" y="1504210"/>
            <a:ext cx="9577937" cy="44306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064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95">
                <a:latin typeface="Arial Narrow"/>
                <a:cs typeface="Arial Narrow"/>
              </a:rPr>
              <a:t>Triple </a:t>
            </a:r>
            <a:r>
              <a:rPr dirty="0" sz="3350" spc="105">
                <a:latin typeface="Arial Narrow"/>
                <a:cs typeface="Arial Narrow"/>
              </a:rPr>
              <a:t>Exponential </a:t>
            </a:r>
            <a:r>
              <a:rPr dirty="0" sz="3350" spc="135">
                <a:latin typeface="Arial Narrow"/>
                <a:cs typeface="Arial Narrow"/>
              </a:rPr>
              <a:t>Smoothing </a:t>
            </a:r>
            <a:r>
              <a:rPr dirty="0" sz="3350" spc="120">
                <a:latin typeface="Arial Narrow"/>
                <a:cs typeface="Arial Narrow"/>
              </a:rPr>
              <a:t>(Holt-Winters</a:t>
            </a:r>
            <a:r>
              <a:rPr dirty="0" sz="3350" spc="-320">
                <a:latin typeface="Arial Narrow"/>
                <a:cs typeface="Arial Narrow"/>
              </a:rPr>
              <a:t> </a:t>
            </a:r>
            <a:r>
              <a:rPr dirty="0" sz="3350" spc="155">
                <a:latin typeface="Arial Narrow"/>
                <a:cs typeface="Arial Narrow"/>
              </a:rPr>
              <a:t>[Mult])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6704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Seasonal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variations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change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proportion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level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Arial"/>
                <a:cs typeface="Arial"/>
              </a:rPr>
              <a:t>of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series.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96641" y="1997075"/>
            <a:ext cx="1532890" cy="64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905"/>
              </a:lnSpc>
              <a:spcBef>
                <a:spcPts val="100"/>
              </a:spcBef>
            </a:pPr>
            <a:r>
              <a:rPr dirty="0" baseline="16835" sz="2475" spc="-209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15432" sz="2700" spc="-209">
                <a:solidFill>
                  <a:srgbClr val="585D60"/>
                </a:solidFill>
                <a:latin typeface="Lucida Sans Unicode"/>
                <a:cs typeface="Lucida Sans Unicode"/>
              </a:rPr>
              <a:t>^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∣</a:t>
            </a:r>
            <a:r>
              <a:rPr dirty="0" sz="1150" spc="-14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  <a:p>
            <a:pPr algn="ctr" marL="5080">
              <a:lnSpc>
                <a:spcPts val="136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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250" spc="-45">
                <a:solidFill>
                  <a:srgbClr val="585D60"/>
                </a:solidFill>
                <a:latin typeface="Lucida Sans Unicode"/>
                <a:cs typeface="Lucida Sans Unicode"/>
              </a:rPr>
              <a:t>Forecast </a:t>
            </a: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at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time</a:t>
            </a:r>
            <a:r>
              <a:rPr dirty="0" sz="1250" spc="-25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3561" y="1930400"/>
            <a:ext cx="1702435" cy="838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2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	</a:t>
            </a:r>
            <a:r>
              <a:rPr dirty="0" sz="1800" spc="-75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112" i="1">
                <a:solidFill>
                  <a:srgbClr val="585D60"/>
                </a:solidFill>
                <a:latin typeface="Trebuchet MS"/>
                <a:cs typeface="Trebuchet MS"/>
              </a:rPr>
              <a:t>t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25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35" i="1">
                <a:solidFill>
                  <a:srgbClr val="585D60"/>
                </a:solidFill>
                <a:latin typeface="Trebuchet MS"/>
                <a:cs typeface="Trebuchet MS"/>
              </a:rPr>
              <a:t>hb</a:t>
            </a:r>
            <a:r>
              <a:rPr dirty="0" baseline="-14492" sz="1725" spc="5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800" spc="3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  <a:p>
            <a:pPr algn="ctr" marL="260350">
              <a:lnSpc>
                <a:spcPts val="1475"/>
              </a:lnSpc>
            </a:pPr>
            <a:r>
              <a:rPr dirty="0" sz="1350" spc="-505">
                <a:solidFill>
                  <a:srgbClr val="585D60"/>
                </a:solidFill>
                <a:latin typeface="Arial"/>
                <a:cs typeface="Arial"/>
              </a:rPr>
              <a:t></a:t>
            </a:r>
            <a:endParaRPr sz="1350">
              <a:latin typeface="Arial"/>
              <a:cs typeface="Arial"/>
            </a:endParaRPr>
          </a:p>
          <a:p>
            <a:pPr algn="ctr" marL="306070" marR="43180">
              <a:lnSpc>
                <a:spcPts val="1280"/>
              </a:lnSpc>
              <a:spcBef>
                <a:spcPts val="355"/>
              </a:spcBef>
            </a:pP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Trend 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(Growth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Adjusted)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4397" y="1978025"/>
            <a:ext cx="1380490" cy="791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905"/>
              </a:lnSpc>
              <a:spcBef>
                <a:spcPts val="100"/>
              </a:spcBef>
            </a:pPr>
            <a:r>
              <a:rPr dirty="0" baseline="10802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×</a:t>
            </a:r>
            <a:r>
              <a:rPr dirty="0" baseline="10802" sz="2700" spc="-33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1784" sz="2475" spc="67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h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150" spc="45" i="1">
                <a:solidFill>
                  <a:srgbClr val="585D60"/>
                </a:solidFill>
                <a:latin typeface="Trebuchet MS"/>
                <a:cs typeface="Trebuchet MS"/>
              </a:rPr>
              <a:t>k</a:t>
            </a:r>
            <a:r>
              <a:rPr dirty="0" sz="1250" spc="45">
                <a:solidFill>
                  <a:srgbClr val="585D60"/>
                </a:solidFill>
                <a:latin typeface="Lucida Sans Unicode"/>
                <a:cs typeface="Lucida Sans Unicode"/>
              </a:rPr>
              <a:t>+1)</a:t>
            </a:r>
            <a:endParaRPr sz="1250">
              <a:latin typeface="Lucida Sans Unicode"/>
              <a:cs typeface="Lucida Sans Unicode"/>
            </a:endParaRPr>
          </a:p>
          <a:p>
            <a:pPr algn="ctr" marL="233679">
              <a:lnSpc>
                <a:spcPts val="1365"/>
              </a:lnSpc>
            </a:pP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05">
                <a:solidFill>
                  <a:srgbClr val="585D60"/>
                </a:solidFill>
                <a:latin typeface="Arial"/>
                <a:cs typeface="Arial"/>
              </a:rPr>
              <a:t></a:t>
            </a:r>
            <a:r>
              <a:rPr dirty="0" sz="1350" spc="-420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503555" marR="266065">
              <a:lnSpc>
                <a:spcPct val="70000"/>
              </a:lnSpc>
              <a:spcBef>
                <a:spcPts val="655"/>
              </a:spcBef>
            </a:pPr>
            <a:r>
              <a:rPr dirty="0" sz="1250" spc="3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e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s</a:t>
            </a:r>
            <a:r>
              <a:rPr dirty="0" sz="1250" spc="-135">
                <a:solidFill>
                  <a:srgbClr val="585D60"/>
                </a:solidFill>
                <a:latin typeface="Lucida Sans Unicode"/>
                <a:cs typeface="Lucida Sans Unicode"/>
              </a:rPr>
              <a:t>o</a:t>
            </a:r>
            <a:r>
              <a:rPr dirty="0" sz="1250" spc="-70">
                <a:solidFill>
                  <a:srgbClr val="585D60"/>
                </a:solidFill>
                <a:latin typeface="Lucida Sans Unicode"/>
                <a:cs typeface="Lucida Sans Unicode"/>
              </a:rPr>
              <a:t>n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a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l  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Effect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30910" y="3101974"/>
            <a:ext cx="121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1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26308" y="3210367"/>
            <a:ext cx="83820" cy="2044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44676" y="3278186"/>
            <a:ext cx="1359535" cy="60579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285"/>
              </a:spcBef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ct val="70000"/>
              </a:lnSpc>
              <a:spcBef>
                <a:spcPts val="65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68961" y="3101974"/>
            <a:ext cx="203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79007" y="3120034"/>
            <a:ext cx="17208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16936" y="3197605"/>
            <a:ext cx="944244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666115" algn="l"/>
              </a:tabLst>
            </a:pP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250" spc="-155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85991" y="3101974"/>
            <a:ext cx="2175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70025" algn="l"/>
                <a:tab pos="2073275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(</a:t>
            </a:r>
            <a:r>
              <a:rPr dirty="0" sz="1800" spc="-240">
                <a:solidFill>
                  <a:srgbClr val="585D60"/>
                </a:solidFill>
                <a:latin typeface="Lucida Sans Unicode"/>
                <a:cs typeface="Lucida Sans Unicode"/>
              </a:rPr>
              <a:t>1</a:t>
            </a:r>
            <a:r>
              <a:rPr dirty="0" sz="1800" spc="-1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245" i="1">
                <a:solidFill>
                  <a:srgbClr val="585D60"/>
                </a:solidFill>
                <a:latin typeface="Trebuchet MS"/>
                <a:cs typeface="Trebuchet MS"/>
              </a:rPr>
              <a:t>α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)(</a:t>
            </a:r>
            <a:r>
              <a:rPr dirty="0" sz="1800" spc="-315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sz="1800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800" spc="-17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5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sz="1650" i="1">
                <a:solidFill>
                  <a:srgbClr val="585D60"/>
                </a:solidFill>
                <a:latin typeface="Trebuchet MS"/>
                <a:cs typeface="Trebuchet MS"/>
              </a:rPr>
              <a:t>	</a:t>
            </a:r>
            <a:r>
              <a:rPr dirty="0" sz="1800" spc="1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19948" y="3316816"/>
            <a:ext cx="1934845" cy="6242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4"/>
              </a:spcBef>
            </a:pP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80">
                <a:solidFill>
                  <a:srgbClr val="585D60"/>
                </a:solidFill>
                <a:latin typeface="Arial"/>
                <a:cs typeface="Arial"/>
              </a:rPr>
              <a:t></a:t>
            </a:r>
            <a:r>
              <a:rPr dirty="0" sz="1350" spc="-40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431800" marR="429895">
              <a:lnSpc>
                <a:spcPts val="1350"/>
              </a:lnSpc>
              <a:spcBef>
                <a:spcPts val="300"/>
              </a:spcBef>
            </a:pPr>
            <a:r>
              <a:rPr dirty="0" sz="1250" spc="-15">
                <a:solidFill>
                  <a:srgbClr val="585D60"/>
                </a:solidFill>
                <a:latin typeface="Lucida Sans Unicode"/>
                <a:cs typeface="Lucida Sans Unicode"/>
              </a:rPr>
              <a:t>Weight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21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past 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 </a:t>
            </a:r>
            <a:r>
              <a:rPr dirty="0" sz="1250" spc="-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19276" y="4205884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-90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13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3561" y="3459691"/>
            <a:ext cx="1793875" cy="15767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653415">
              <a:lnSpc>
                <a:spcPct val="100000"/>
              </a:lnSpc>
              <a:spcBef>
                <a:spcPts val="204"/>
              </a:spcBef>
            </a:pP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</a:t>
            </a:r>
            <a:endParaRPr sz="1350">
              <a:latin typeface="Arial"/>
              <a:cs typeface="Arial"/>
            </a:endParaRPr>
          </a:p>
          <a:p>
            <a:pPr marL="425450" marR="108585" indent="-119380">
              <a:lnSpc>
                <a:spcPts val="1350"/>
              </a:lnSpc>
              <a:spcBef>
                <a:spcPts val="300"/>
              </a:spcBef>
            </a:pP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Seasonally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adjusted  </a:t>
            </a:r>
            <a:r>
              <a:rPr dirty="0" sz="1250" spc="-85">
                <a:solidFill>
                  <a:srgbClr val="585D60"/>
                </a:solidFill>
                <a:latin typeface="Lucida Sans Unicode"/>
                <a:cs typeface="Lucida Sans Unicode"/>
              </a:rPr>
              <a:t>new</a:t>
            </a:r>
            <a:r>
              <a:rPr dirty="0" sz="125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observation</a:t>
            </a:r>
            <a:endParaRPr sz="1250">
              <a:latin typeface="Lucida Sans Unicode"/>
              <a:cs typeface="Lucida Sans Unicode"/>
            </a:endParaRPr>
          </a:p>
          <a:p>
            <a:pPr algn="ctr">
              <a:lnSpc>
                <a:spcPts val="2020"/>
              </a:lnSpc>
              <a:spcBef>
                <a:spcPts val="1005"/>
              </a:spcBef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 </a:t>
            </a:r>
            <a:r>
              <a:rPr dirty="0" sz="16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 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 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ℓ</a:t>
            </a:r>
            <a:r>
              <a:rPr dirty="0" baseline="-14492" sz="1725" spc="-89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89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sz="1800" spc="-6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800" spc="-3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endParaRPr sz="1800">
              <a:latin typeface="Lucida Sans Unicode"/>
              <a:cs typeface="Lucida Sans Unicode"/>
            </a:endParaRPr>
          </a:p>
          <a:p>
            <a:pPr algn="ctr" marL="17145">
              <a:lnSpc>
                <a:spcPts val="1475"/>
              </a:lnSpc>
            </a:pPr>
            <a:r>
              <a:rPr dirty="0" sz="1350" spc="-509">
                <a:solidFill>
                  <a:srgbClr val="585D60"/>
                </a:solidFill>
                <a:latin typeface="Arial"/>
                <a:cs typeface="Arial"/>
              </a:rPr>
              <a:t></a:t>
            </a:r>
            <a:endParaRPr sz="1350">
              <a:latin typeface="Arial"/>
              <a:cs typeface="Arial"/>
            </a:endParaRPr>
          </a:p>
          <a:p>
            <a:pPr marL="377825" marR="285750" indent="-71755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level</a:t>
            </a:r>
            <a:r>
              <a:rPr dirty="0" sz="1250" spc="-16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585D60"/>
                </a:solidFill>
                <a:latin typeface="Lucida Sans Unicode"/>
                <a:cs typeface="Lucida Sans Unicode"/>
              </a:rPr>
              <a:t>change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-6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89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endParaRPr baseline="27777" sz="13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38874" y="4187824"/>
            <a:ext cx="1459230" cy="819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02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31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3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800" spc="-4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-45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baseline="-14492" sz="1725" spc="-6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-67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endParaRPr baseline="-13333" sz="1875">
              <a:latin typeface="Lucida Sans Unicode"/>
              <a:cs typeface="Lucida Sans Unicode"/>
            </a:endParaRPr>
          </a:p>
          <a:p>
            <a:pPr algn="ctr" marL="1905">
              <a:lnSpc>
                <a:spcPts val="1475"/>
              </a:lnSpc>
            </a:pP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415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625">
                <a:solidFill>
                  <a:srgbClr val="585D60"/>
                </a:solidFill>
                <a:latin typeface="Arial"/>
                <a:cs typeface="Arial"/>
              </a:rPr>
              <a:t></a:t>
            </a:r>
            <a:r>
              <a:rPr dirty="0" sz="1350" spc="-42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37465" marR="30480">
              <a:lnSpc>
                <a:spcPct val="75000"/>
              </a:lnSpc>
              <a:spcBef>
                <a:spcPts val="505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55">
                <a:solidFill>
                  <a:srgbClr val="585D60"/>
                </a:solidFill>
                <a:latin typeface="Lucida Sans Unicode"/>
                <a:cs typeface="Lucida Sans Unicode"/>
              </a:rPr>
              <a:t>trend</a:t>
            </a:r>
            <a:r>
              <a:rPr dirty="0" sz="1250" spc="-229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4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-10" i="1">
                <a:solidFill>
                  <a:srgbClr val="585D60"/>
                </a:solidFill>
                <a:latin typeface="Trebuchet MS"/>
                <a:cs typeface="Trebuchet MS"/>
              </a:rPr>
              <a:t>β</a:t>
            </a:r>
            <a:r>
              <a:rPr dirty="0" baseline="27777" sz="1350" spc="-15">
                <a:solidFill>
                  <a:srgbClr val="585D60"/>
                </a:solidFill>
                <a:latin typeface="Lucida Sans Unicode"/>
                <a:cs typeface="Lucida Sans Unicode"/>
              </a:rPr>
              <a:t>∗</a:t>
            </a:r>
            <a:r>
              <a:rPr dirty="0" sz="1250" spc="-1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19276" y="5263159"/>
            <a:ext cx="1410335" cy="773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1739"/>
              </a:lnSpc>
              <a:spcBef>
                <a:spcPts val="105"/>
              </a:spcBef>
            </a:pPr>
            <a:r>
              <a:rPr dirty="0" sz="1650" spc="7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12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  <a:p>
            <a:pPr algn="ctr" marR="4445">
              <a:lnSpc>
                <a:spcPts val="1380"/>
              </a:lnSpc>
            </a:pPr>
            <a:r>
              <a:rPr dirty="0" sz="1350" spc="-365">
                <a:solidFill>
                  <a:srgbClr val="585D60"/>
                </a:solidFill>
                <a:latin typeface="Arial"/>
                <a:cs typeface="Arial"/>
              </a:rPr>
              <a:t></a:t>
            </a:r>
            <a:endParaRPr sz="1350">
              <a:latin typeface="Arial"/>
              <a:cs typeface="Arial"/>
            </a:endParaRPr>
          </a:p>
          <a:p>
            <a:pPr algn="ctr" marL="38100" marR="30480">
              <a:lnSpc>
                <a:spcPct val="75000"/>
              </a:lnSpc>
              <a:spcBef>
                <a:spcPts val="505"/>
              </a:spcBef>
            </a:pP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Smoothed</a:t>
            </a:r>
            <a:r>
              <a:rPr dirty="0" sz="1250" spc="-16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estimate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585D60"/>
                </a:solidFill>
                <a:latin typeface="Lucida Sans Unicode"/>
                <a:cs typeface="Lucida Sans Unicode"/>
              </a:rPr>
              <a:t>seasonality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68961" y="5245099"/>
            <a:ext cx="5829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1484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=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	</a:t>
            </a:r>
            <a:r>
              <a:rPr dirty="0" sz="1650" spc="6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7595" y="5621866"/>
            <a:ext cx="1787525" cy="62420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ctr" marL="3810">
              <a:lnSpc>
                <a:spcPct val="100000"/>
              </a:lnSpc>
              <a:spcBef>
                <a:spcPts val="204"/>
              </a:spcBef>
            </a:pP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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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</a:t>
            </a:r>
            <a:r>
              <a:rPr dirty="0" sz="1350" spc="-380">
                <a:solidFill>
                  <a:srgbClr val="585D60"/>
                </a:solidFill>
                <a:latin typeface="Arial"/>
                <a:cs typeface="Arial"/>
              </a:rPr>
              <a:t></a:t>
            </a:r>
            <a:r>
              <a:rPr dirty="0" sz="1350" spc="-555">
                <a:solidFill>
                  <a:srgbClr val="585D60"/>
                </a:solidFill>
                <a:latin typeface="Arial"/>
                <a:cs typeface="Arial"/>
              </a:rPr>
              <a:t></a:t>
            </a:r>
            <a:r>
              <a:rPr dirty="0" sz="1350" spc="-395">
                <a:solidFill>
                  <a:srgbClr val="585D60"/>
                </a:solidFill>
                <a:latin typeface="Arial"/>
                <a:cs typeface="Arial"/>
              </a:rPr>
              <a:t></a:t>
            </a:r>
            <a:r>
              <a:rPr dirty="0" sz="1350" spc="-270">
                <a:solidFill>
                  <a:srgbClr val="585D60"/>
                </a:solidFill>
                <a:latin typeface="Arial"/>
                <a:cs typeface="Arial"/>
              </a:rPr>
              <a:t></a:t>
            </a:r>
            <a:endParaRPr sz="1350">
              <a:latin typeface="Arial"/>
              <a:cs typeface="Arial"/>
            </a:endParaRPr>
          </a:p>
          <a:p>
            <a:pPr algn="ctr" marL="12700" marR="5080">
              <a:lnSpc>
                <a:spcPts val="1350"/>
              </a:lnSpc>
              <a:spcBef>
                <a:spcPts val="300"/>
              </a:spcBef>
            </a:pPr>
            <a:r>
              <a:rPr dirty="0" sz="1250" spc="-50">
                <a:solidFill>
                  <a:srgbClr val="585D60"/>
                </a:solidFill>
                <a:latin typeface="Lucida Sans Unicode"/>
                <a:cs typeface="Lucida Sans Unicode"/>
              </a:rPr>
              <a:t>New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1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585D60"/>
                </a:solidFill>
                <a:latin typeface="Lucida Sans Unicode"/>
                <a:cs typeface="Lucida Sans Unicode"/>
              </a:rPr>
              <a:t>adjustment 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00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150" spc="5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51562" y="5245099"/>
            <a:ext cx="20910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014"/>
              </a:lnSpc>
              <a:spcBef>
                <a:spcPts val="100"/>
              </a:spcBef>
              <a:tabLst>
                <a:tab pos="598170" algn="l"/>
              </a:tabLst>
            </a:pP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+	</a:t>
            </a:r>
            <a:r>
              <a:rPr dirty="0" sz="1800" spc="-65">
                <a:solidFill>
                  <a:srgbClr val="585D60"/>
                </a:solidFill>
                <a:latin typeface="Lucida Sans Unicode"/>
                <a:cs typeface="Lucida Sans Unicode"/>
              </a:rPr>
              <a:t>(1 </a:t>
            </a:r>
            <a:r>
              <a:rPr dirty="0" sz="1800" spc="-3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800" spc="-29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800" spc="85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r>
              <a:rPr dirty="0" sz="1650" spc="85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baseline="-13333" sz="1875" spc="127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baseline="-14492" sz="1725" spc="127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baseline="-14492" sz="1725">
              <a:latin typeface="Trebuchet MS"/>
              <a:cs typeface="Trebuchet MS"/>
            </a:endParaRPr>
          </a:p>
          <a:p>
            <a:pPr algn="ctr" marL="248920">
              <a:lnSpc>
                <a:spcPts val="1480"/>
              </a:lnSpc>
            </a:pPr>
            <a:r>
              <a:rPr dirty="0" sz="1350" spc="-470">
                <a:solidFill>
                  <a:srgbClr val="585D60"/>
                </a:solidFill>
                <a:latin typeface="Arial"/>
                <a:cs typeface="Arial"/>
              </a:rPr>
              <a:t></a:t>
            </a:r>
            <a:endParaRPr sz="1350">
              <a:latin typeface="Arial"/>
              <a:cs typeface="Arial"/>
            </a:endParaRPr>
          </a:p>
          <a:p>
            <a:pPr algn="ctr" marL="293370" marR="43180">
              <a:lnSpc>
                <a:spcPts val="1350"/>
              </a:lnSpc>
              <a:spcBef>
                <a:spcPts val="300"/>
              </a:spcBef>
            </a:pPr>
            <a:r>
              <a:rPr dirty="0" sz="1250">
                <a:solidFill>
                  <a:srgbClr val="585D60"/>
                </a:solidFill>
                <a:latin typeface="Lucida Sans Unicode"/>
                <a:cs typeface="Lucida Sans Unicode"/>
              </a:rPr>
              <a:t>Past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seasonal</a:t>
            </a:r>
            <a:r>
              <a:rPr dirty="0" sz="1250" spc="-204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585D60"/>
                </a:solidFill>
                <a:latin typeface="Lucida Sans Unicode"/>
                <a:cs typeface="Lucida Sans Unicode"/>
              </a:rPr>
              <a:t>component  </a:t>
            </a:r>
            <a:r>
              <a:rPr dirty="0" sz="1250" spc="-75">
                <a:solidFill>
                  <a:srgbClr val="585D60"/>
                </a:solidFill>
                <a:latin typeface="Lucida Sans Unicode"/>
                <a:cs typeface="Lucida Sans Unicode"/>
              </a:rPr>
              <a:t>weighted </a:t>
            </a:r>
            <a:r>
              <a:rPr dirty="0" sz="1250" spc="-35">
                <a:solidFill>
                  <a:srgbClr val="585D60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105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(1−</a:t>
            </a:r>
            <a:r>
              <a:rPr dirty="0" sz="1150" spc="20" i="1">
                <a:solidFill>
                  <a:srgbClr val="585D60"/>
                </a:solidFill>
                <a:latin typeface="Trebuchet MS"/>
                <a:cs typeface="Trebuchet MS"/>
              </a:rPr>
              <a:t>γ</a:t>
            </a:r>
            <a:r>
              <a:rPr dirty="0" sz="1250" spc="20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79987" y="2958109"/>
            <a:ext cx="2470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4492" sz="1725" spc="3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4492" sz="1725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248572" y="3301009"/>
            <a:ext cx="50990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6734" sz="2475" spc="112" i="1">
                <a:solidFill>
                  <a:srgbClr val="585D60"/>
                </a:solidFill>
                <a:latin typeface="Trebuchet MS"/>
                <a:cs typeface="Trebuchet MS"/>
              </a:rPr>
              <a:t>s</a:t>
            </a: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75">
                <a:solidFill>
                  <a:srgbClr val="585D60"/>
                </a:solidFill>
                <a:latin typeface="Lucida Sans Unicode"/>
                <a:cs typeface="Lucida Sans Unicode"/>
              </a:rPr>
              <a:t>−</a:t>
            </a:r>
            <a:r>
              <a:rPr dirty="0" sz="1150" spc="75" i="1">
                <a:solidFill>
                  <a:srgbClr val="585D60"/>
                </a:solidFill>
                <a:latin typeface="Trebuchet MS"/>
                <a:cs typeface="Trebuchet MS"/>
              </a:rPr>
              <a:t>m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267324" y="3281362"/>
            <a:ext cx="485775" cy="0"/>
          </a:xfrm>
          <a:custGeom>
            <a:avLst/>
            <a:gdLst/>
            <a:ahLst/>
            <a:cxnLst/>
            <a:rect l="l" t="t" r="r" b="b"/>
            <a:pathLst>
              <a:path w="485775" h="0">
                <a:moveTo>
                  <a:pt x="0" y="0"/>
                </a:moveTo>
                <a:lnTo>
                  <a:pt x="485774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564385" y="5110759"/>
            <a:ext cx="247015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650" spc="20" i="1">
                <a:solidFill>
                  <a:srgbClr val="585D60"/>
                </a:solidFill>
                <a:latin typeface="Trebuchet MS"/>
                <a:cs typeface="Trebuchet MS"/>
              </a:rPr>
              <a:t>y</a:t>
            </a:r>
            <a:r>
              <a:rPr dirty="0" baseline="-12077" sz="1725" spc="3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endParaRPr baseline="-12077" sz="1725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53607" y="5435599"/>
            <a:ext cx="12801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9259" sz="2700" spc="-120">
                <a:solidFill>
                  <a:srgbClr val="585D60"/>
                </a:solidFill>
                <a:latin typeface="Lucida Sans Unicode"/>
                <a:cs typeface="Lucida Sans Unicode"/>
              </a:rPr>
              <a:t>(ℓ</a:t>
            </a:r>
            <a:r>
              <a:rPr dirty="0" sz="1150" spc="-80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80">
                <a:solidFill>
                  <a:srgbClr val="585D60"/>
                </a:solidFill>
                <a:latin typeface="Lucida Sans Unicode"/>
                <a:cs typeface="Lucida Sans Unicode"/>
              </a:rPr>
              <a:t>−1 </a:t>
            </a:r>
            <a:r>
              <a:rPr dirty="0" baseline="9259" sz="2700" spc="-52">
                <a:solidFill>
                  <a:srgbClr val="585D60"/>
                </a:solidFill>
                <a:latin typeface="Lucida Sans Unicode"/>
                <a:cs typeface="Lucida Sans Unicode"/>
              </a:rPr>
              <a:t>+</a:t>
            </a:r>
            <a:r>
              <a:rPr dirty="0" baseline="9259" sz="2700" spc="-562">
                <a:solidFill>
                  <a:srgbClr val="585D60"/>
                </a:solidFill>
                <a:latin typeface="Lucida Sans Unicode"/>
                <a:cs typeface="Lucida Sans Unicode"/>
              </a:rPr>
              <a:t> </a:t>
            </a:r>
            <a:r>
              <a:rPr dirty="0" baseline="10101" sz="2475" spc="-37" i="1">
                <a:solidFill>
                  <a:srgbClr val="585D60"/>
                </a:solidFill>
                <a:latin typeface="Trebuchet MS"/>
                <a:cs typeface="Trebuchet MS"/>
              </a:rPr>
              <a:t>b</a:t>
            </a:r>
            <a:r>
              <a:rPr dirty="0" sz="1150" spc="-25" i="1">
                <a:solidFill>
                  <a:srgbClr val="585D60"/>
                </a:solidFill>
                <a:latin typeface="Trebuchet MS"/>
                <a:cs typeface="Trebuchet MS"/>
              </a:rPr>
              <a:t>t</a:t>
            </a:r>
            <a:r>
              <a:rPr dirty="0" sz="1250" spc="-25">
                <a:solidFill>
                  <a:srgbClr val="585D60"/>
                </a:solidFill>
                <a:latin typeface="Lucida Sans Unicode"/>
                <a:cs typeface="Lucida Sans Unicode"/>
              </a:rPr>
              <a:t>−1</a:t>
            </a:r>
            <a:r>
              <a:rPr dirty="0" baseline="9259" sz="2700" spc="-37">
                <a:solidFill>
                  <a:srgbClr val="585D60"/>
                </a:solidFill>
                <a:latin typeface="Lucida Sans Unicode"/>
                <a:cs typeface="Lucida Sans Unicode"/>
              </a:rPr>
              <a:t>)</a:t>
            </a:r>
            <a:endParaRPr baseline="9259" sz="27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76824" y="5424487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 h="0">
                <a:moveTo>
                  <a:pt x="0" y="0"/>
                </a:moveTo>
                <a:lnTo>
                  <a:pt x="123824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21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R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e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a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4100" spc="-1220">
                <a:solidFill>
                  <a:srgbClr val="000000"/>
                </a:solidFill>
                <a:latin typeface="Trebuchet MS"/>
                <a:cs typeface="Trebuchet MS"/>
              </a:rPr>
              <a:t>p</a:t>
            </a:r>
            <a:r>
              <a:rPr dirty="0" sz="4100" spc="-122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endParaRPr sz="4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10">
                <a:latin typeface="Cambria"/>
                <a:cs typeface="Cambria"/>
              </a:rPr>
              <a:t>2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310">
                <a:latin typeface="Cambria"/>
                <a:cs typeface="Cambria"/>
              </a:rPr>
              <a:t>2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2 </a:t>
            </a:r>
            <a:r>
              <a:rPr dirty="0" sz="1200" spc="-365">
                <a:latin typeface="Cambria"/>
                <a:cs typeface="Cambria"/>
              </a:rPr>
              <a:t>/</a:t>
            </a:r>
            <a:r>
              <a:rPr dirty="0" sz="1200" spc="-36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10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10">
                <a:latin typeface="Cambria"/>
                <a:cs typeface="Cambria"/>
              </a:rPr>
              <a:t>2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310">
                <a:latin typeface="Cambria"/>
                <a:cs typeface="Cambria"/>
              </a:rPr>
              <a:t>4</a:t>
            </a:r>
            <a:r>
              <a:rPr dirty="0" sz="1200" spc="-31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110">
                <a:latin typeface="Arial Narrow"/>
                <a:cs typeface="Arial Narrow"/>
              </a:rPr>
              <a:t>Summary </a:t>
            </a:r>
            <a:r>
              <a:rPr dirty="0" sz="3350" spc="235">
                <a:latin typeface="Arial Narrow"/>
                <a:cs typeface="Arial Narrow"/>
              </a:rPr>
              <a:t>of </a:t>
            </a:r>
            <a:r>
              <a:rPr dirty="0" sz="3350" spc="155">
                <a:latin typeface="Arial Narrow"/>
                <a:cs typeface="Arial Narrow"/>
              </a:rPr>
              <a:t>Main</a:t>
            </a:r>
            <a:r>
              <a:rPr dirty="0" sz="3350" spc="-385">
                <a:latin typeface="Arial Narrow"/>
                <a:cs typeface="Arial Narrow"/>
              </a:rPr>
              <a:t> </a:t>
            </a:r>
            <a:r>
              <a:rPr dirty="0" sz="3350" spc="140">
                <a:latin typeface="Arial Narrow"/>
                <a:cs typeface="Arial Narrow"/>
              </a:rPr>
              <a:t>Points</a:t>
            </a:r>
            <a:endParaRPr sz="335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43610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585D60"/>
                </a:solidFill>
                <a:latin typeface="Arial"/>
                <a:cs typeface="Arial"/>
              </a:rPr>
              <a:t>By </a:t>
            </a:r>
            <a:r>
              <a:rPr dirty="0" sz="1800" spc="-50">
                <a:solidFill>
                  <a:srgbClr val="585D60"/>
                </a:solidFill>
                <a:latin typeface="Arial"/>
                <a:cs typeface="Arial"/>
              </a:rPr>
              <a:t>now,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you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should </a:t>
            </a: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be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able </a:t>
            </a:r>
            <a:r>
              <a:rPr dirty="0" sz="1800" spc="45">
                <a:solidFill>
                  <a:srgbClr val="585D60"/>
                </a:solidFill>
                <a:latin typeface="Arial"/>
                <a:cs typeface="Arial"/>
              </a:rPr>
              <a:t>to</a:t>
            </a:r>
            <a:r>
              <a:rPr dirty="0" sz="1800" spc="-36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do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following: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Understand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the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mathematical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background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Arial"/>
                <a:cs typeface="Arial"/>
              </a:rPr>
              <a:t>for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exponential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methods,</a:t>
            </a:r>
            <a:r>
              <a:rPr dirty="0" sz="1800" spc="-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including: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Simple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Exponential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1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585D60"/>
                </a:solidFill>
                <a:latin typeface="Arial"/>
                <a:cs typeface="Arial"/>
              </a:rPr>
              <a:t>(SES)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20">
                <a:solidFill>
                  <a:srgbClr val="585D60"/>
                </a:solidFill>
                <a:latin typeface="Arial"/>
                <a:cs typeface="Arial"/>
              </a:rPr>
              <a:t>Double </a:t>
            </a: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Exponential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140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(Holt)</a:t>
            </a:r>
            <a:endParaRPr sz="1800">
              <a:latin typeface="Arial"/>
              <a:cs typeface="Arial"/>
            </a:endParaRPr>
          </a:p>
          <a:p>
            <a:pPr lvl="1" marL="774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774700" algn="l"/>
              </a:tabLst>
            </a:pPr>
            <a:r>
              <a:rPr dirty="0" sz="1800" spc="-10">
                <a:solidFill>
                  <a:srgbClr val="585D60"/>
                </a:solidFill>
                <a:latin typeface="Arial"/>
                <a:cs typeface="Arial"/>
              </a:rPr>
              <a:t>Triple Exponential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14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(Holt-Winters)</a:t>
            </a:r>
            <a:endParaRPr sz="18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20">
                <a:solidFill>
                  <a:srgbClr val="585D60"/>
                </a:solidFill>
                <a:latin typeface="Arial"/>
                <a:cs typeface="Arial"/>
              </a:rPr>
              <a:t>Implement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these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Arial"/>
                <a:cs typeface="Arial"/>
              </a:rPr>
              <a:t>exponential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Arial"/>
                <a:cs typeface="Arial"/>
              </a:rPr>
              <a:t>smoothing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Arial"/>
                <a:cs typeface="Arial"/>
              </a:rPr>
              <a:t>methods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Arial"/>
                <a:cs typeface="Arial"/>
              </a:rPr>
              <a:t>in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85D60"/>
                </a:solidFill>
                <a:latin typeface="Arial"/>
                <a:cs typeface="Arial"/>
              </a:rPr>
              <a:t>Python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Arial"/>
                <a:cs typeface="Arial"/>
              </a:rPr>
              <a:t>using</a:t>
            </a:r>
            <a:r>
              <a:rPr dirty="0" sz="1800" spc="-55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85D60"/>
                </a:solidFill>
                <a:latin typeface="Arial"/>
                <a:cs typeface="Arial"/>
              </a:rPr>
              <a:t>StatsForecast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5"/>
              <a:t>23</a:t>
            </a:fld>
            <a:r>
              <a:rPr dirty="0" spc="5"/>
              <a:t> </a:t>
            </a:r>
            <a:r>
              <a:rPr dirty="0" spc="160"/>
              <a:t>/</a:t>
            </a:r>
            <a:r>
              <a:rPr dirty="0" spc="-165"/>
              <a:t> </a:t>
            </a:r>
            <a:r>
              <a:rPr dirty="0" spc="5"/>
              <a:t>24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latin typeface="Arial"/>
                <a:cs typeface="Arial"/>
              </a:rPr>
              <a:t>📝</a:t>
            </a:r>
            <a:r>
              <a:rPr dirty="0" sz="3300" spc="-415">
                <a:latin typeface="Arial"/>
                <a:cs typeface="Arial"/>
              </a:rPr>
              <a:t> </a:t>
            </a:r>
            <a:r>
              <a:rPr dirty="0" sz="3350" spc="55">
                <a:latin typeface="Arial Narrow"/>
                <a:cs typeface="Arial Narrow"/>
              </a:rPr>
              <a:t>Review </a:t>
            </a:r>
            <a:r>
              <a:rPr dirty="0" sz="3350" spc="110">
                <a:latin typeface="Arial Narrow"/>
                <a:cs typeface="Arial Narrow"/>
              </a:rPr>
              <a:t>and </a:t>
            </a:r>
            <a:r>
              <a:rPr dirty="0" sz="3350" spc="125">
                <a:latin typeface="Arial Narrow"/>
                <a:cs typeface="Arial Narrow"/>
              </a:rPr>
              <a:t>Clarification </a:t>
            </a:r>
            <a:r>
              <a:rPr dirty="0" sz="3300" spc="2155"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512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65" b="1">
                <a:solidFill>
                  <a:srgbClr val="C2132D"/>
                </a:solidFill>
                <a:latin typeface="Trebuchet MS"/>
                <a:cs typeface="Trebuchet MS"/>
              </a:rPr>
              <a:t>Class</a:t>
            </a:r>
            <a:r>
              <a:rPr dirty="0" spc="-95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5" b="1">
                <a:solidFill>
                  <a:srgbClr val="C2132D"/>
                </a:solidFill>
                <a:latin typeface="Trebuchet MS"/>
                <a:cs typeface="Trebuchet MS"/>
              </a:rPr>
              <a:t>Notes</a:t>
            </a:r>
            <a:r>
              <a:rPr dirty="0" spc="-5"/>
              <a:t>:</a:t>
            </a:r>
            <a:r>
              <a:rPr dirty="0" spc="-85"/>
              <a:t> </a:t>
            </a:r>
            <a:r>
              <a:rPr dirty="0" spc="-55"/>
              <a:t>Take </a:t>
            </a:r>
            <a:r>
              <a:rPr dirty="0" spc="20"/>
              <a:t>some</a:t>
            </a:r>
            <a:r>
              <a:rPr dirty="0" spc="-50"/>
              <a:t> </a:t>
            </a:r>
            <a:r>
              <a:rPr dirty="0" spc="35"/>
              <a:t>time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10"/>
              <a:t>revisit</a:t>
            </a:r>
            <a:r>
              <a:rPr dirty="0" spc="-50"/>
              <a:t> </a:t>
            </a:r>
            <a:r>
              <a:rPr dirty="0" spc="-10"/>
              <a:t>your</a:t>
            </a:r>
            <a:r>
              <a:rPr dirty="0" spc="-55"/>
              <a:t> </a:t>
            </a:r>
            <a:r>
              <a:rPr dirty="0" spc="20"/>
              <a:t>class</a:t>
            </a:r>
            <a:r>
              <a:rPr dirty="0" spc="-50"/>
              <a:t> </a:t>
            </a:r>
            <a:r>
              <a:rPr dirty="0" spc="15"/>
              <a:t>notes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5"/>
              <a:t> </a:t>
            </a:r>
            <a:r>
              <a:rPr dirty="0" spc="-40"/>
              <a:t>key</a:t>
            </a:r>
            <a:r>
              <a:rPr dirty="0" spc="-50"/>
              <a:t> </a:t>
            </a:r>
            <a:r>
              <a:rPr dirty="0" spc="25"/>
              <a:t>insights</a:t>
            </a:r>
            <a:r>
              <a:rPr dirty="0" spc="-55"/>
              <a:t> </a:t>
            </a:r>
            <a:r>
              <a:rPr dirty="0" spc="-5"/>
              <a:t>and</a:t>
            </a:r>
            <a:r>
              <a:rPr dirty="0" spc="-50"/>
              <a:t> </a:t>
            </a:r>
            <a:r>
              <a:rPr dirty="0" spc="15"/>
              <a:t>concepts.</a:t>
            </a:r>
          </a:p>
          <a:p>
            <a:pPr marL="32512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15" b="1">
                <a:solidFill>
                  <a:srgbClr val="C2132D"/>
                </a:solidFill>
                <a:latin typeface="Trebuchet MS"/>
                <a:cs typeface="Trebuchet MS"/>
              </a:rPr>
              <a:t>Zoom</a:t>
            </a:r>
            <a:r>
              <a:rPr dirty="0" spc="-90" b="1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pc="-25" b="1">
                <a:solidFill>
                  <a:srgbClr val="C2132D"/>
                </a:solidFill>
                <a:latin typeface="Trebuchet MS"/>
                <a:cs typeface="Trebuchet MS"/>
              </a:rPr>
              <a:t>Recording</a:t>
            </a:r>
            <a:r>
              <a:rPr dirty="0" spc="-25"/>
              <a:t>:</a:t>
            </a:r>
            <a:r>
              <a:rPr dirty="0" spc="-80"/>
              <a:t> </a:t>
            </a:r>
            <a:r>
              <a:rPr dirty="0" spc="-30"/>
              <a:t>The</a:t>
            </a:r>
            <a:r>
              <a:rPr dirty="0" spc="-50"/>
              <a:t> </a:t>
            </a:r>
            <a:r>
              <a:rPr dirty="0" spc="5"/>
              <a:t>recording</a:t>
            </a:r>
            <a:r>
              <a:rPr dirty="0" spc="-45"/>
              <a:t> </a:t>
            </a:r>
            <a:r>
              <a:rPr dirty="0" spc="75"/>
              <a:t>of</a:t>
            </a:r>
            <a:r>
              <a:rPr dirty="0" spc="-45"/>
              <a:t> </a:t>
            </a:r>
            <a:r>
              <a:rPr dirty="0" spc="-10"/>
              <a:t>today's</a:t>
            </a:r>
            <a:r>
              <a:rPr dirty="0" spc="-50"/>
              <a:t> </a:t>
            </a:r>
            <a:r>
              <a:rPr dirty="0" spc="20"/>
              <a:t>class</a:t>
            </a:r>
            <a:r>
              <a:rPr dirty="0" spc="-45"/>
              <a:t> </a:t>
            </a:r>
            <a:r>
              <a:rPr dirty="0" spc="40"/>
              <a:t>will</a:t>
            </a:r>
            <a:r>
              <a:rPr dirty="0" spc="-50"/>
              <a:t> </a:t>
            </a:r>
            <a:r>
              <a:rPr dirty="0" spc="-20"/>
              <a:t>be</a:t>
            </a:r>
            <a:r>
              <a:rPr dirty="0" spc="-45"/>
              <a:t> </a:t>
            </a:r>
            <a:r>
              <a:rPr dirty="0" spc="5"/>
              <a:t>made</a:t>
            </a:r>
            <a:r>
              <a:rPr dirty="0" spc="-45"/>
              <a:t> </a:t>
            </a:r>
            <a:r>
              <a:rPr dirty="0" spc="-10"/>
              <a:t>available</a:t>
            </a:r>
            <a:r>
              <a:rPr dirty="0" spc="-50"/>
              <a:t> </a:t>
            </a:r>
            <a:r>
              <a:rPr dirty="0" spc="5"/>
              <a:t>on</a:t>
            </a:r>
            <a:r>
              <a:rPr dirty="0" spc="-45"/>
              <a:t> </a:t>
            </a:r>
            <a:r>
              <a:rPr dirty="0" spc="-35"/>
              <a:t>Canvas  </a:t>
            </a:r>
            <a:r>
              <a:rPr dirty="0" spc="5"/>
              <a:t>approximately </a:t>
            </a:r>
            <a:r>
              <a:rPr dirty="0" spc="-30"/>
              <a:t>3-4 </a:t>
            </a:r>
            <a:r>
              <a:rPr dirty="0" spc="5"/>
              <a:t>hours </a:t>
            </a:r>
            <a:r>
              <a:rPr dirty="0" spc="30"/>
              <a:t>after </a:t>
            </a:r>
            <a:r>
              <a:rPr dirty="0" spc="10"/>
              <a:t>the session</a:t>
            </a:r>
            <a:r>
              <a:rPr dirty="0" spc="-350"/>
              <a:t> </a:t>
            </a:r>
            <a:r>
              <a:rPr dirty="0" spc="-10"/>
              <a:t>ends.</a:t>
            </a:r>
          </a:p>
          <a:p>
            <a:pPr marL="32512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325755" algn="l"/>
              </a:tabLst>
            </a:pPr>
            <a:r>
              <a:rPr dirty="0" spc="-15" b="1">
                <a:solidFill>
                  <a:srgbClr val="C2132D"/>
                </a:solidFill>
                <a:latin typeface="Trebuchet MS"/>
                <a:cs typeface="Trebuchet MS"/>
              </a:rPr>
              <a:t>Questions</a:t>
            </a:r>
            <a:r>
              <a:rPr dirty="0" spc="-15"/>
              <a:t>:</a:t>
            </a:r>
            <a:r>
              <a:rPr dirty="0" spc="-50"/>
              <a:t> </a:t>
            </a:r>
            <a:r>
              <a:rPr dirty="0" spc="-20"/>
              <a:t>Please</a:t>
            </a:r>
            <a:r>
              <a:rPr dirty="0" spc="-50"/>
              <a:t> </a:t>
            </a:r>
            <a:r>
              <a:rPr dirty="0" spc="-5"/>
              <a:t>don't</a:t>
            </a:r>
            <a:r>
              <a:rPr dirty="0" spc="-50"/>
              <a:t> </a:t>
            </a:r>
            <a:r>
              <a:rPr dirty="0" spc="10"/>
              <a:t>hesitate</a:t>
            </a:r>
            <a:r>
              <a:rPr dirty="0" spc="-50"/>
              <a:t> </a:t>
            </a:r>
            <a:r>
              <a:rPr dirty="0" spc="45"/>
              <a:t>to</a:t>
            </a:r>
            <a:r>
              <a:rPr dirty="0" spc="-50"/>
              <a:t> </a:t>
            </a:r>
            <a:r>
              <a:rPr dirty="0" spc="5"/>
              <a:t>ask</a:t>
            </a:r>
            <a:r>
              <a:rPr dirty="0" spc="-50"/>
              <a:t> </a:t>
            </a:r>
            <a:r>
              <a:rPr dirty="0" spc="50"/>
              <a:t>for</a:t>
            </a:r>
            <a:r>
              <a:rPr dirty="0" spc="-50"/>
              <a:t> </a:t>
            </a:r>
            <a:r>
              <a:rPr dirty="0" spc="25"/>
              <a:t>clarification</a:t>
            </a:r>
            <a:r>
              <a:rPr dirty="0" spc="-50"/>
              <a:t> </a:t>
            </a:r>
            <a:r>
              <a:rPr dirty="0" spc="5"/>
              <a:t>on</a:t>
            </a:r>
            <a:r>
              <a:rPr dirty="0" spc="-50"/>
              <a:t> </a:t>
            </a:r>
            <a:r>
              <a:rPr dirty="0" spc="-30"/>
              <a:t>any</a:t>
            </a:r>
            <a:r>
              <a:rPr dirty="0" spc="-50"/>
              <a:t> </a:t>
            </a:r>
            <a:r>
              <a:rPr dirty="0" spc="35"/>
              <a:t>topics</a:t>
            </a:r>
            <a:r>
              <a:rPr dirty="0" spc="-50"/>
              <a:t> </a:t>
            </a:r>
            <a:r>
              <a:rPr dirty="0" spc="15"/>
              <a:t>discussed</a:t>
            </a:r>
            <a:r>
              <a:rPr dirty="0" spc="-45"/>
              <a:t> </a:t>
            </a:r>
            <a:r>
              <a:rPr dirty="0" spc="15"/>
              <a:t>in</a:t>
            </a:r>
            <a:r>
              <a:rPr dirty="0" spc="-50"/>
              <a:t> </a:t>
            </a:r>
            <a:r>
              <a:rPr dirty="0" spc="15"/>
              <a:t>class.</a:t>
            </a:r>
            <a:r>
              <a:rPr dirty="0" spc="-50"/>
              <a:t> </a:t>
            </a:r>
            <a:r>
              <a:rPr dirty="0"/>
              <a:t>It's  </a:t>
            </a:r>
            <a:r>
              <a:rPr dirty="0" spc="20"/>
              <a:t>crucial</a:t>
            </a:r>
            <a:r>
              <a:rPr dirty="0" spc="-60"/>
              <a:t> </a:t>
            </a:r>
            <a:r>
              <a:rPr dirty="0" spc="35"/>
              <a:t>not</a:t>
            </a:r>
            <a:r>
              <a:rPr dirty="0" spc="-55"/>
              <a:t> </a:t>
            </a:r>
            <a:r>
              <a:rPr dirty="0" spc="45"/>
              <a:t>to</a:t>
            </a:r>
            <a:r>
              <a:rPr dirty="0" spc="-55"/>
              <a:t> </a:t>
            </a:r>
            <a:r>
              <a:rPr dirty="0" spc="25"/>
              <a:t>let</a:t>
            </a:r>
            <a:r>
              <a:rPr dirty="0" spc="-55"/>
              <a:t> </a:t>
            </a:r>
            <a:r>
              <a:rPr dirty="0" spc="15"/>
              <a:t>questions</a:t>
            </a:r>
            <a:r>
              <a:rPr dirty="0" spc="-55"/>
              <a:t> </a:t>
            </a:r>
            <a:r>
              <a:rPr dirty="0" spc="10"/>
              <a:t>accumulate.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3D5D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444: Business Forecasting</dc:title>
  <dcterms:created xsi:type="dcterms:W3CDTF">2025-03-06T15:47:41Z</dcterms:created>
  <dcterms:modified xsi:type="dcterms:W3CDTF">2025-03-06T15:47:41Z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2025-03-06T00:00:00Z</vt:filetime>
  </property>
  <property fmtid="{D5CDD505-2E9C-101B-9397-08002B2CF9AE}" pid="3" name="Creator">
    <vt:lpwstr>Mozilla/5.0 (Windows NT 10.0; Win64; x64) AppleWebKit/537.36 (KHTML, like Gecko) Chrome/133.0.0.0 Safari/537.36</vt:lpwstr>
  </property>
  <property fmtid="{D5CDD505-2E9C-101B-9397-08002B2CF9AE}" pid="4" name="LastSaved">
    <vt:filetime>2025-03-06T00:00:00Z</vt:filetime>
  </property>
</Properties>
</file>