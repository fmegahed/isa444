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052" y="320675"/>
            <a:ext cx="1065349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#baseline-models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github.com/robjhyndman/fpp3_slides/blob/main/8-1-ses.Rmd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" TargetMode="External"/><Relationship Id="rId3" Type="http://schemas.openxmlformats.org/officeDocument/2006/relationships/hyperlink" Target="https://nixtlaverse.nixtla.io/statsforecast/docs/models/simpleexponentialsmoothing.html" TargetMode="External"/><Relationship Id="rId4" Type="http://schemas.openxmlformats.org/officeDocument/2006/relationships/hyperlink" Target="https://nixtlaverse.nixtla.io/statsforecast/docs/models/simpleexponentialsmoothingoptimized.html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simpleexponentialsmoothingoptimized.html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holt.html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github.com/robjhyndman/fpp3_slides/blob/main/8-2-trend.Rmd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holtwinters.html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935926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>
                <a:solidFill>
                  <a:srgbClr val="FFFFFF"/>
                </a:solidFill>
                <a:latin typeface="Roboto Condensed"/>
                <a:cs typeface="Roboto Condensed"/>
              </a:rPr>
              <a:t>ISA 444/5444: Business</a:t>
            </a:r>
            <a:r>
              <a:rPr dirty="0" sz="3350" spc="-1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FFFFFF"/>
                </a:solidFill>
                <a:latin typeface="Roboto Condensed"/>
                <a:cs typeface="Roboto Condensed"/>
              </a:rPr>
              <a:t>Forecasting</a:t>
            </a:r>
            <a:endParaRPr sz="3350">
              <a:latin typeface="Roboto Condensed"/>
              <a:cs typeface="Roboto Condensed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13: Baseline Forecasts with Exponential Smoothing</a:t>
            </a:r>
            <a:r>
              <a:rPr dirty="0" sz="30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Methods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Quick </a:t>
            </a:r>
            <a:r>
              <a:rPr dirty="0" sz="3350" spc="5">
                <a:latin typeface="Roboto Condensed"/>
                <a:cs typeface="Roboto Condensed"/>
              </a:rPr>
              <a:t>Refresher </a:t>
            </a:r>
            <a:r>
              <a:rPr dirty="0" sz="3350" spc="10">
                <a:latin typeface="Roboto Condensed"/>
                <a:cs typeface="Roboto Condensed"/>
              </a:rPr>
              <a:t>of Last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868284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Recognize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importance of 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time series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common 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(Naive,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Naive,</a:t>
            </a:r>
            <a:r>
              <a:rPr dirty="0" sz="180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etc.)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Implement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baseline models with</a:t>
            </a:r>
            <a:r>
              <a:rPr dirty="0" sz="1800" spc="-10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Learning </a:t>
            </a:r>
            <a:r>
              <a:rPr dirty="0" sz="3350" spc="5">
                <a:latin typeface="Roboto Condensed"/>
                <a:cs typeface="Roboto Condensed"/>
              </a:rPr>
              <a:t>Objectives for </a:t>
            </a:r>
            <a:r>
              <a:rPr dirty="0" sz="3350" spc="-35">
                <a:latin typeface="Roboto Condensed"/>
                <a:cs typeface="Roboto Condensed"/>
              </a:rPr>
              <a:t>Today's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189085" cy="2042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the mathematical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background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exponential smoothing methods,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including: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Simple Exponential Smoothing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(SES)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Double Exponential Smoothing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(Holt)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Triple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Exponential Smoothing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(Holt-Winters)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Implement these exponential smoothing methods in Python using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StatsForecast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8464" y="2758440"/>
            <a:ext cx="7165975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105"/>
              </a:spcBef>
            </a:pP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x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x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55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55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h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h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65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965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2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10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1010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101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101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101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101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010">
                <a:solidFill>
                  <a:srgbClr val="000000"/>
                </a:solidFill>
                <a:latin typeface="Roboto Condensed"/>
                <a:cs typeface="Roboto Condensed"/>
              </a:rPr>
              <a:t>h</a:t>
            </a:r>
            <a:r>
              <a:rPr dirty="0" sz="4100" spc="-1010">
                <a:solidFill>
                  <a:srgbClr val="FFFFFF"/>
                </a:solidFill>
                <a:latin typeface="Roboto Condensed"/>
                <a:cs typeface="Roboto Condensed"/>
              </a:rPr>
              <a:t>h</a:t>
            </a:r>
            <a:r>
              <a:rPr dirty="0" sz="4100" spc="-101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101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1010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1010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101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101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866900"/>
            <a:ext cx="9696450" cy="2305050"/>
          </a:xfrm>
          <a:custGeom>
            <a:avLst/>
            <a:gdLst/>
            <a:ahLst/>
            <a:cxnLst/>
            <a:rect l="l" t="t" r="r" b="b"/>
            <a:pathLst>
              <a:path w="9696450" h="2305050">
                <a:moveTo>
                  <a:pt x="9553574" y="2305049"/>
                </a:moveTo>
                <a:lnTo>
                  <a:pt x="142874" y="2305049"/>
                </a:lnTo>
                <a:lnTo>
                  <a:pt x="135855" y="2304878"/>
                </a:lnTo>
                <a:lnTo>
                  <a:pt x="94749" y="2296701"/>
                </a:lnTo>
                <a:lnTo>
                  <a:pt x="57756" y="2276928"/>
                </a:lnTo>
                <a:lnTo>
                  <a:pt x="28120" y="2247292"/>
                </a:lnTo>
                <a:lnTo>
                  <a:pt x="8348" y="2210299"/>
                </a:lnTo>
                <a:lnTo>
                  <a:pt x="171" y="2169193"/>
                </a:lnTo>
                <a:lnTo>
                  <a:pt x="0" y="2162174"/>
                </a:lnTo>
                <a:lnTo>
                  <a:pt x="0" y="142874"/>
                </a:lnTo>
                <a:lnTo>
                  <a:pt x="6150" y="101399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9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2162174"/>
                </a:lnTo>
                <a:lnTo>
                  <a:pt x="9690298" y="2203649"/>
                </a:lnTo>
                <a:lnTo>
                  <a:pt x="9672370" y="2241551"/>
                </a:lnTo>
                <a:lnTo>
                  <a:pt x="9644214" y="2272619"/>
                </a:lnTo>
                <a:lnTo>
                  <a:pt x="9608250" y="2294173"/>
                </a:lnTo>
                <a:lnTo>
                  <a:pt x="9567577" y="2304363"/>
                </a:lnTo>
                <a:lnTo>
                  <a:pt x="9560592" y="2304878"/>
                </a:lnTo>
                <a:lnTo>
                  <a:pt x="9553574" y="2305049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6956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Context: Our </a:t>
            </a:r>
            <a:r>
              <a:rPr dirty="0" sz="3350" spc="5">
                <a:latin typeface="Roboto Condensed"/>
                <a:cs typeface="Roboto Condensed"/>
              </a:rPr>
              <a:t>Previously </a:t>
            </a:r>
            <a:r>
              <a:rPr dirty="0" sz="3350" spc="10">
                <a:latin typeface="Roboto Condensed"/>
                <a:cs typeface="Roboto Condensed"/>
              </a:rPr>
              <a:t>Discussed Baseline</a:t>
            </a:r>
            <a:r>
              <a:rPr dirty="0" sz="3350" spc="-4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Models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2200" y="3073399"/>
            <a:ext cx="1978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Historical</a:t>
            </a:r>
            <a:r>
              <a:rPr dirty="0" sz="1800" spc="-5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Average: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4406900"/>
            <a:ext cx="7419340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there a more reasonable middle ground between these two</a:t>
            </a:r>
            <a:r>
              <a:rPr dirty="0" sz="1800" spc="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extremes?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..........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Historical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Average: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..........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.............................................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300" y="1425575"/>
            <a:ext cx="5369560" cy="1042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have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expressed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our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series as:</a:t>
            </a:r>
            <a:r>
              <a:rPr dirty="0" sz="1800" spc="2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10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-157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>
              <a:latin typeface="Roboto"/>
              <a:cs typeface="Roboto"/>
            </a:endParaRPr>
          </a:p>
          <a:p>
            <a:pPr marL="227965">
              <a:lnSpc>
                <a:spcPct val="100000"/>
              </a:lnSpc>
              <a:spcBef>
                <a:spcPts val="5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Naive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Forecast: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5314" y="2663825"/>
            <a:ext cx="681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151" sz="2475" spc="-41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41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2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2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4806" y="2606675"/>
            <a:ext cx="524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1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0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1025" y="3511549"/>
            <a:ext cx="158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6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35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endParaRPr baseline="1543" sz="27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4226" y="3635755"/>
            <a:ext cx="49784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5534" y="3387724"/>
            <a:ext cx="412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0864" sz="2700" spc="517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1150" spc="3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2482" y="3645280"/>
            <a:ext cx="2908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26956" y="3529609"/>
            <a:ext cx="13779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6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9024" y="3619942"/>
            <a:ext cx="83820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5117" y="3416299"/>
            <a:ext cx="459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3148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u="sng" sz="1800" spc="32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250" spc="-15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5523" y="3667567"/>
            <a:ext cx="120014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2047875"/>
          </a:xfrm>
          <a:custGeom>
            <a:avLst/>
            <a:gdLst/>
            <a:ahLst/>
            <a:cxnLst/>
            <a:rect l="l" t="t" r="r" b="b"/>
            <a:pathLst>
              <a:path w="9696450" h="2047875">
                <a:moveTo>
                  <a:pt x="9553574" y="2047874"/>
                </a:moveTo>
                <a:lnTo>
                  <a:pt x="142874" y="2047874"/>
                </a:lnTo>
                <a:lnTo>
                  <a:pt x="135855" y="2047703"/>
                </a:lnTo>
                <a:lnTo>
                  <a:pt x="94749" y="2039526"/>
                </a:lnTo>
                <a:lnTo>
                  <a:pt x="57756" y="2019753"/>
                </a:lnTo>
                <a:lnTo>
                  <a:pt x="28120" y="1990117"/>
                </a:lnTo>
                <a:lnTo>
                  <a:pt x="8348" y="1953124"/>
                </a:lnTo>
                <a:lnTo>
                  <a:pt x="171" y="1912018"/>
                </a:lnTo>
                <a:lnTo>
                  <a:pt x="0" y="1904999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904999"/>
                </a:lnTo>
                <a:lnTo>
                  <a:pt x="9690298" y="1946474"/>
                </a:lnTo>
                <a:lnTo>
                  <a:pt x="9672370" y="1984376"/>
                </a:lnTo>
                <a:lnTo>
                  <a:pt x="9644214" y="2015445"/>
                </a:lnTo>
                <a:lnTo>
                  <a:pt x="9608250" y="2036999"/>
                </a:lnTo>
                <a:lnTo>
                  <a:pt x="9567577" y="2047188"/>
                </a:lnTo>
                <a:lnTo>
                  <a:pt x="9553574" y="2047874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47949" y="3719512"/>
            <a:ext cx="6229350" cy="0"/>
          </a:xfrm>
          <a:custGeom>
            <a:avLst/>
            <a:gdLst/>
            <a:ahLst/>
            <a:cxnLst/>
            <a:rect l="l" t="t" r="r" b="b"/>
            <a:pathLst>
              <a:path w="6229350" h="0">
                <a:moveTo>
                  <a:pt x="0" y="0"/>
                </a:moveTo>
                <a:lnTo>
                  <a:pt x="62293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66999" y="3743325"/>
          <a:ext cx="6191250" cy="2324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/>
                <a:gridCol w="1266825"/>
                <a:gridCol w="1276350"/>
                <a:gridCol w="1276350"/>
                <a:gridCol w="1266825"/>
              </a:tblGrid>
              <a:tr h="30956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dirty="0" sz="1450" spc="-10" b="1">
                          <a:latin typeface="Roboto"/>
                          <a:cs typeface="Roboto"/>
                        </a:rPr>
                        <a:t>Observation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63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 b="1">
                          <a:latin typeface="Roboto"/>
                          <a:cs typeface="Roboto"/>
                        </a:rPr>
                        <a:t>Exponentially </a:t>
                      </a:r>
                      <a:r>
                        <a:rPr dirty="0" sz="1450" spc="-10" b="1">
                          <a:latin typeface="Roboto"/>
                          <a:cs typeface="Roboto"/>
                        </a:rPr>
                        <a:t>decaying weights assigned </a:t>
                      </a:r>
                      <a:r>
                        <a:rPr dirty="0" sz="1450" spc="-15" b="1">
                          <a:latin typeface="Roboto"/>
                          <a:cs typeface="Roboto"/>
                        </a:rPr>
                        <a:t>to </a:t>
                      </a:r>
                      <a:r>
                        <a:rPr dirty="0" sz="1450" spc="-10" b="1">
                          <a:latin typeface="Roboto"/>
                          <a:cs typeface="Roboto"/>
                        </a:rPr>
                        <a:t>observations</a:t>
                      </a:r>
                      <a:r>
                        <a:rPr dirty="0" sz="1450" spc="65" b="1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 b="1">
                          <a:latin typeface="Roboto"/>
                          <a:cs typeface="Roboto"/>
                        </a:rPr>
                        <a:t>for: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337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114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114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10">
                          <a:latin typeface="Tahoma"/>
                          <a:cs typeface="Tahoma"/>
                        </a:rPr>
                        <a:t>0.2</a:t>
                      </a:r>
                      <a:r>
                        <a:rPr dirty="0" sz="1450" spc="110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114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114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10">
                          <a:latin typeface="Tahoma"/>
                          <a:cs typeface="Tahoma"/>
                        </a:rPr>
                        <a:t>0.4</a:t>
                      </a:r>
                      <a:r>
                        <a:rPr dirty="0" sz="1450" spc="110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114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114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10">
                          <a:latin typeface="Tahoma"/>
                          <a:cs typeface="Tahoma"/>
                        </a:rPr>
                        <a:t>0.6</a:t>
                      </a:r>
                      <a:r>
                        <a:rPr dirty="0" sz="1450" spc="110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114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114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10">
                          <a:latin typeface="Tahoma"/>
                          <a:cs typeface="Tahoma"/>
                        </a:rPr>
                        <a:t>0.8</a:t>
                      </a:r>
                      <a:r>
                        <a:rPr dirty="0" sz="1450" spc="110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47662"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50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5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75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1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5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0.2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0.8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4324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50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5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75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9841" sz="1050" spc="300">
                          <a:latin typeface="Tahoma"/>
                          <a:cs typeface="Tahoma"/>
                        </a:rPr>
                        <a:t>−1</a:t>
                      </a:r>
                      <a:r>
                        <a:rPr dirty="0" baseline="-19841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5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0.16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0.24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0.24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0.16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50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5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75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9841" sz="1050" spc="300">
                          <a:latin typeface="Tahoma"/>
                          <a:cs typeface="Tahoma"/>
                        </a:rPr>
                        <a:t>−2</a:t>
                      </a:r>
                      <a:r>
                        <a:rPr dirty="0" baseline="-19841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5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0.128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0.144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0.096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0.032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4324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50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5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75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9841" sz="1050" spc="300">
                          <a:latin typeface="Tahoma"/>
                          <a:cs typeface="Tahoma"/>
                        </a:rPr>
                        <a:t>−3</a:t>
                      </a:r>
                      <a:r>
                        <a:rPr dirty="0" baseline="-19841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5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0.1024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0.0864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0.0384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0.0064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47662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50" b="1">
                          <a:latin typeface="Roboto"/>
                          <a:cs typeface="Roboto"/>
                        </a:rPr>
                        <a:t>`</a:t>
                      </a:r>
                      <a:r>
                        <a:rPr dirty="0" sz="1250" spc="50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9259" sz="1350" spc="75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9259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1904" sz="1050" spc="300">
                          <a:latin typeface="Tahoma"/>
                          <a:cs typeface="Tahoma"/>
                        </a:rPr>
                        <a:t>−4</a:t>
                      </a:r>
                      <a:r>
                        <a:rPr dirty="0" baseline="-11904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5" b="1">
                          <a:latin typeface="Roboto"/>
                          <a:cs typeface="Roboto"/>
                        </a:rPr>
                        <a:t>`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(0.2)(0.8)^4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(0.4)(0.6)^4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(0.6)(0.4)^4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latin typeface="Roboto"/>
                          <a:cs typeface="Roboto"/>
                        </a:rPr>
                        <a:t>(0.8)(0.2)^4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Simple Exponential Smoothing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(SES)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2200" y="1730375"/>
            <a:ext cx="1938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Forecast</a:t>
            </a:r>
            <a:r>
              <a:rPr dirty="0" sz="1800" spc="-2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equation: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0373" y="2320925"/>
            <a:ext cx="669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151" sz="2475" spc="-41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41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2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2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+1∣</a:t>
            </a:r>
            <a:r>
              <a:rPr dirty="0" sz="1150" spc="-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7512" y="2263775"/>
            <a:ext cx="6297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30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2077" sz="1725" spc="19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43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2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12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8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-29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1111" sz="1875" spc="-12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-29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1111" sz="1875" spc="-120">
                <a:solidFill>
                  <a:srgbClr val="585D60"/>
                </a:solidFill>
                <a:latin typeface="Lucida Sans Unicode"/>
                <a:cs typeface="Lucida Sans Unicode"/>
              </a:rPr>
              <a:t>−2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3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-29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1111" sz="1875" spc="-120">
                <a:solidFill>
                  <a:srgbClr val="585D60"/>
                </a:solidFill>
                <a:latin typeface="Lucida Sans Unicode"/>
                <a:cs typeface="Lucida Sans Unicode"/>
              </a:rPr>
              <a:t>−3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675">
                <a:solidFill>
                  <a:srgbClr val="585D60"/>
                </a:solidFill>
                <a:latin typeface="Lucida Sans Unicode"/>
                <a:cs typeface="Lucida Sans Unicode"/>
              </a:rPr>
              <a:t>⋯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2200" y="2844800"/>
            <a:ext cx="4587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1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smoothing</a:t>
            </a:r>
            <a:r>
              <a:rPr dirty="0" sz="18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parameter.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Simple Exponential Smoothing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(SES)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11364" y="1525714"/>
            <a:ext cx="9497903" cy="4649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Simple Exponential Smoothing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(SES)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9042" y="1504210"/>
            <a:ext cx="9577937" cy="443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8810625" cy="0"/>
          </a:xfrm>
          <a:custGeom>
            <a:avLst/>
            <a:gdLst/>
            <a:ahLst/>
            <a:cxnLst/>
            <a:rect l="l" t="t" r="r" b="b"/>
            <a:pathLst>
              <a:path w="8810625" h="0">
                <a:moveTo>
                  <a:pt x="0" y="0"/>
                </a:moveTo>
                <a:lnTo>
                  <a:pt x="88106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8810625" cy="0"/>
          </a:xfrm>
          <a:custGeom>
            <a:avLst/>
            <a:gdLst/>
            <a:ahLst/>
            <a:cxnLst/>
            <a:rect l="l" t="t" r="r" b="b"/>
            <a:pathLst>
              <a:path w="8810625" h="0">
                <a:moveTo>
                  <a:pt x="0" y="0"/>
                </a:moveTo>
                <a:lnTo>
                  <a:pt x="88106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883602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Credits: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This animation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inspired by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Rob J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Hyndman's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presentation 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simple exponential smoothing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 his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book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"Forecasting: Principles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Practice".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See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here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more</a:t>
            </a:r>
            <a:r>
              <a:rPr dirty="0" sz="850" spc="7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details.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1905000"/>
          </a:xfrm>
          <a:custGeom>
            <a:avLst/>
            <a:gdLst/>
            <a:ahLst/>
            <a:cxnLst/>
            <a:rect l="l" t="t" r="r" b="b"/>
            <a:pathLst>
              <a:path w="9696450" h="1905000">
                <a:moveTo>
                  <a:pt x="9553574" y="1904999"/>
                </a:moveTo>
                <a:lnTo>
                  <a:pt x="142874" y="1904999"/>
                </a:lnTo>
                <a:lnTo>
                  <a:pt x="135855" y="1904828"/>
                </a:lnTo>
                <a:lnTo>
                  <a:pt x="128870" y="1904313"/>
                </a:lnTo>
                <a:lnTo>
                  <a:pt x="88198" y="1894123"/>
                </a:lnTo>
                <a:lnTo>
                  <a:pt x="52234" y="1872569"/>
                </a:lnTo>
                <a:lnTo>
                  <a:pt x="24078" y="1841501"/>
                </a:lnTo>
                <a:lnTo>
                  <a:pt x="6150" y="1803599"/>
                </a:lnTo>
                <a:lnTo>
                  <a:pt x="0" y="1762124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762124"/>
                </a:lnTo>
                <a:lnTo>
                  <a:pt x="9690298" y="1803599"/>
                </a:lnTo>
                <a:lnTo>
                  <a:pt x="9672370" y="1841501"/>
                </a:lnTo>
                <a:lnTo>
                  <a:pt x="9644214" y="1872569"/>
                </a:lnTo>
                <a:lnTo>
                  <a:pt x="9608250" y="1894123"/>
                </a:lnTo>
                <a:lnTo>
                  <a:pt x="9567577" y="1904313"/>
                </a:lnTo>
                <a:lnTo>
                  <a:pt x="9560592" y="1904828"/>
                </a:lnTo>
                <a:lnTo>
                  <a:pt x="9553574" y="1904999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Simple Exponential Smoothing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(SES)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2200" y="1730375"/>
            <a:ext cx="1871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Component</a:t>
            </a:r>
            <a:r>
              <a:rPr dirty="0" sz="1800" spc="-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Form: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5214619"/>
            <a:ext cx="926973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SES model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equivalent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ETS(A,N,N) model in the ETS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framework (additive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error,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 seasonality).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7639" y="2301875"/>
            <a:ext cx="1060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6835" sz="2475" spc="-20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20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baseline="15432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baseline="15432" sz="2700" spc="-26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5432" sz="2700" spc="-254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9661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9661" sz="1725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5110" y="2349500"/>
            <a:ext cx="24961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585D60"/>
                </a:solidFill>
                <a:latin typeface="Lucida Sans Unicode"/>
                <a:cs typeface="Lucida Sans Unicode"/>
              </a:rPr>
              <a:t>(mathematically </a:t>
            </a:r>
            <a:r>
              <a:rPr dirty="0" sz="900" spc="-50">
                <a:solidFill>
                  <a:srgbClr val="585D60"/>
                </a:solidFill>
                <a:latin typeface="Lucida Sans Unicode"/>
                <a:cs typeface="Lucida Sans Unicode"/>
              </a:rPr>
              <a:t>equivalent </a:t>
            </a:r>
            <a:r>
              <a:rPr dirty="0" sz="900" spc="-45">
                <a:solidFill>
                  <a:srgbClr val="585D60"/>
                </a:solidFill>
                <a:latin typeface="Lucida Sans Unicode"/>
                <a:cs typeface="Lucida Sans Unicode"/>
              </a:rPr>
              <a:t>to </a:t>
            </a:r>
            <a:r>
              <a:rPr dirty="0" sz="900" spc="-60">
                <a:solidFill>
                  <a:srgbClr val="585D60"/>
                </a:solidFill>
                <a:latin typeface="Lucida Sans Unicode"/>
                <a:cs typeface="Lucida Sans Unicode"/>
              </a:rPr>
              <a:t>equation </a:t>
            </a:r>
            <a:r>
              <a:rPr dirty="0" sz="900" spc="-35">
                <a:solidFill>
                  <a:srgbClr val="585D60"/>
                </a:solidFill>
                <a:latin typeface="Lucida Sans Unicode"/>
                <a:cs typeface="Lucida Sans Unicode"/>
              </a:rPr>
              <a:t>in Slide</a:t>
            </a:r>
            <a:r>
              <a:rPr dirty="0" sz="90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35">
                <a:solidFill>
                  <a:srgbClr val="585D60"/>
                </a:solidFill>
                <a:latin typeface="Lucida Sans Unicode"/>
                <a:cs typeface="Lucida Sans Unicode"/>
              </a:rPr>
              <a:t>6)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4044" y="2147570"/>
            <a:ext cx="2007235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7170">
              <a:lnSpc>
                <a:spcPct val="131900"/>
              </a:lnSpc>
              <a:spcBef>
                <a:spcPts val="100"/>
              </a:spcBef>
            </a:pP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Forecast</a:t>
            </a:r>
            <a:r>
              <a:rPr dirty="0" sz="1800" spc="-2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Lucida Sans Unicode"/>
                <a:cs typeface="Lucida Sans Unicode"/>
              </a:rPr>
              <a:t>equation  Smoothing</a:t>
            </a:r>
            <a:r>
              <a:rPr dirty="0" sz="180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Lucida Sans Unicode"/>
                <a:cs typeface="Lucida Sans Unicode"/>
              </a:rPr>
              <a:t>equation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7654" y="2597150"/>
            <a:ext cx="2232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95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2077" sz="1725" spc="142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)ℓ</a:t>
            </a:r>
            <a:r>
              <a:rPr dirty="0" baseline="-12077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1111" sz="1875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7610" y="4473574"/>
            <a:ext cx="1580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79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for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≥</a:t>
            </a:r>
            <a:r>
              <a:rPr dirty="0" sz="1800" spc="-2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12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3354" y="3568699"/>
            <a:ext cx="7836534" cy="1566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Roboto"/>
              <a:buChar char="•"/>
              <a:tabLst>
                <a:tab pos="172085" algn="l"/>
              </a:tabLst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254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level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(or the smoothed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series at time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650">
              <a:latin typeface="Trebuchet MS"/>
              <a:cs typeface="Trebuchet MS"/>
            </a:endParaRPr>
          </a:p>
          <a:p>
            <a:pPr marL="1714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720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SES is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computationally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efficient: </a:t>
            </a:r>
            <a:r>
              <a:rPr dirty="0" sz="1650" spc="-14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20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20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20000" sz="1875" spc="-209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21739" sz="1725" spc="-209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baseline="-20000" sz="1875" spc="-209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1739" sz="1725" spc="-209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95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2077" sz="1725" spc="142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4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10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15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20000" sz="1875" spc="-15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1739" sz="1725" spc="-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20000" sz="1875" spc="-15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20000" sz="1875">
              <a:latin typeface="Lucida Sans Unicode"/>
              <a:cs typeface="Lucida Sans Unicode"/>
            </a:endParaRPr>
          </a:p>
          <a:p>
            <a:pPr marL="171450" indent="-133985">
              <a:lnSpc>
                <a:spcPct val="100000"/>
              </a:lnSpc>
              <a:spcBef>
                <a:spcPts val="1515"/>
              </a:spcBef>
              <a:buClr>
                <a:srgbClr val="C2132D"/>
              </a:buClr>
              <a:buChar char="•"/>
              <a:tabLst>
                <a:tab pos="1720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SES implementation assumes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 trend and no seasonality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since </a:t>
            </a:r>
            <a:r>
              <a:rPr dirty="0" sz="1650" spc="-28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sz="1800" spc="-28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41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21739" sz="1725" spc="-35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20000" sz="1875" spc="1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21739" sz="1725" spc="15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baseline="-20000" sz="1875" spc="1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1739" sz="1725" spc="1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21739" sz="1725">
              <a:latin typeface="Trebuchet MS"/>
              <a:cs typeface="Trebuchet MS"/>
            </a:endParaRPr>
          </a:p>
          <a:p>
            <a:pPr marL="171450">
              <a:lnSpc>
                <a:spcPct val="100000"/>
              </a:lnSpc>
              <a:spcBef>
                <a:spcPts val="6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179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constant (last smoothed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value).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2028825"/>
          </a:xfrm>
          <a:custGeom>
            <a:avLst/>
            <a:gdLst/>
            <a:ahLst/>
            <a:cxnLst/>
            <a:rect l="l" t="t" r="r" b="b"/>
            <a:pathLst>
              <a:path w="9696450" h="2028825">
                <a:moveTo>
                  <a:pt x="9553574" y="2028824"/>
                </a:moveTo>
                <a:lnTo>
                  <a:pt x="142874" y="2028824"/>
                </a:lnTo>
                <a:lnTo>
                  <a:pt x="135855" y="2028653"/>
                </a:lnTo>
                <a:lnTo>
                  <a:pt x="128870" y="2028138"/>
                </a:lnTo>
                <a:lnTo>
                  <a:pt x="88198" y="2017948"/>
                </a:lnTo>
                <a:lnTo>
                  <a:pt x="52234" y="1996394"/>
                </a:lnTo>
                <a:lnTo>
                  <a:pt x="24078" y="1965326"/>
                </a:lnTo>
                <a:lnTo>
                  <a:pt x="6150" y="1927424"/>
                </a:lnTo>
                <a:lnTo>
                  <a:pt x="0" y="1885949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885949"/>
                </a:lnTo>
                <a:lnTo>
                  <a:pt x="9690298" y="1927424"/>
                </a:lnTo>
                <a:lnTo>
                  <a:pt x="9672370" y="1965326"/>
                </a:lnTo>
                <a:lnTo>
                  <a:pt x="9644214" y="1996394"/>
                </a:lnTo>
                <a:lnTo>
                  <a:pt x="9608249" y="2017948"/>
                </a:lnTo>
                <a:lnTo>
                  <a:pt x="9567577" y="2028138"/>
                </a:lnTo>
                <a:lnTo>
                  <a:pt x="9560592" y="2028653"/>
                </a:lnTo>
                <a:lnTo>
                  <a:pt x="9553574" y="2028824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Simple Exponential Smoothing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(SES)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2200" y="1730375"/>
            <a:ext cx="2548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Weighted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Average</a:t>
            </a:r>
            <a:r>
              <a:rPr dirty="0" sz="1800" spc="-6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Form: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4990" y="2520950"/>
            <a:ext cx="669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151" sz="2475" spc="-41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3888" sz="2700" spc="-41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2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2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+1∣</a:t>
            </a:r>
            <a:r>
              <a:rPr dirty="0" sz="1150" spc="-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130" y="2254630"/>
            <a:ext cx="3357245" cy="753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83845">
              <a:lnSpc>
                <a:spcPts val="1215"/>
              </a:lnSpc>
              <a:spcBef>
                <a:spcPts val="120"/>
              </a:spcBef>
            </a:pP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sz="1250">
              <a:latin typeface="Lucida Sans Unicode"/>
              <a:cs typeface="Lucida Sans Unicode"/>
            </a:endParaRPr>
          </a:p>
          <a:p>
            <a:pPr marL="38100">
              <a:lnSpc>
                <a:spcPts val="2715"/>
              </a:lnSpc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-3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4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6231" sz="1725" spc="209" i="1">
                <a:solidFill>
                  <a:srgbClr val="585D60"/>
                </a:solidFill>
                <a:latin typeface="Trebuchet MS"/>
                <a:cs typeface="Trebuchet MS"/>
              </a:rPr>
              <a:t>j</a:t>
            </a:r>
            <a:r>
              <a:rPr dirty="0" sz="1650" spc="14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20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-3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3333" sz="1875" spc="6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67" i="1">
                <a:solidFill>
                  <a:srgbClr val="585D60"/>
                </a:solidFill>
                <a:latin typeface="Trebuchet MS"/>
                <a:cs typeface="Trebuchet MS"/>
              </a:rPr>
              <a:t>j</a:t>
            </a:r>
            <a:r>
              <a:rPr dirty="0" baseline="-14492" sz="1725" spc="20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6231" sz="1725" spc="21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36231" sz="1725" spc="-16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3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3333" sz="1875" spc="-352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endParaRPr baseline="-13333" sz="1875">
              <a:latin typeface="Lucida Sans Unicode"/>
              <a:cs typeface="Lucida Sans Unicode"/>
            </a:endParaRPr>
          </a:p>
          <a:p>
            <a:pPr marL="307975">
              <a:lnSpc>
                <a:spcPct val="100000"/>
              </a:lnSpc>
              <a:spcBef>
                <a:spcPts val="275"/>
              </a:spcBef>
            </a:pPr>
            <a:r>
              <a:rPr dirty="0" sz="1150" spc="-20" i="1">
                <a:solidFill>
                  <a:srgbClr val="585D60"/>
                </a:solidFill>
                <a:latin typeface="Trebuchet MS"/>
                <a:cs typeface="Trebuchet MS"/>
              </a:rPr>
              <a:t>j</a:t>
            </a:r>
            <a:r>
              <a:rPr dirty="0" sz="1250" spc="-20">
                <a:solidFill>
                  <a:srgbClr val="585D60"/>
                </a:solidFill>
                <a:latin typeface="Lucida Sans Unicode"/>
                <a:cs typeface="Lucida Sans Unicode"/>
              </a:rPr>
              <a:t>=0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565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Smoothing </a:t>
            </a:r>
            <a:r>
              <a:rPr dirty="0" sz="3350">
                <a:latin typeface="Roboto Condensed"/>
                <a:cs typeface="Roboto Condensed"/>
              </a:rPr>
              <a:t>Parameters </a:t>
            </a:r>
            <a:r>
              <a:rPr dirty="0" sz="3350" spc="10">
                <a:latin typeface="Roboto Condensed"/>
                <a:cs typeface="Roboto Condensed"/>
              </a:rPr>
              <a:t>in</a:t>
            </a:r>
            <a:r>
              <a:rPr dirty="0" sz="3350" spc="-2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SES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9236075" cy="375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There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two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SES model: </a:t>
            </a:r>
            <a:r>
              <a:rPr dirty="0" sz="1650" spc="12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2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-114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3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3333" sz="1875" spc="-195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r>
              <a:rPr dirty="0" sz="1800" spc="-13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either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estimated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user.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library provides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two implementation of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SES:</a:t>
            </a:r>
            <a:endParaRPr sz="1800">
              <a:latin typeface="Roboto"/>
              <a:cs typeface="Roboto"/>
            </a:endParaRPr>
          </a:p>
          <a:p>
            <a:pPr lvl="1" marL="539750" marR="17780" indent="-133985">
              <a:lnSpc>
                <a:spcPct val="118100"/>
              </a:lnSpc>
              <a:spcBef>
                <a:spcPts val="825"/>
              </a:spcBef>
              <a:buSzPct val="105882"/>
              <a:buFont typeface="Roboto"/>
              <a:buChar char="•"/>
              <a:tabLst>
                <a:tab pos="5403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SimpleExponentialSmoothing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set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alpha</a:t>
            </a:r>
            <a:r>
              <a:rPr dirty="0" sz="1700" spc="-61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parameter.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uses the 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first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time series as the initial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level 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800" spc="-7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3333" sz="1875" spc="-112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);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</a:t>
            </a:r>
            <a:endParaRPr sz="1800">
              <a:latin typeface="Roboto"/>
              <a:cs typeface="Roboto"/>
            </a:endParaRPr>
          </a:p>
          <a:p>
            <a:pPr lvl="1" marL="539750" marR="67945" indent="-133985">
              <a:lnSpc>
                <a:spcPct val="118100"/>
              </a:lnSpc>
              <a:spcBef>
                <a:spcPts val="894"/>
              </a:spcBef>
              <a:buSzPct val="105882"/>
              <a:buFont typeface="Roboto"/>
              <a:buChar char="•"/>
              <a:tabLst>
                <a:tab pos="5403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SimpleExponentialSmoothingOptimized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which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finds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optimal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650" spc="-7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 by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minimizing the sum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squared errors.</a:t>
            </a:r>
            <a:endParaRPr sz="1800">
              <a:latin typeface="Roboto"/>
              <a:cs typeface="Roboto"/>
            </a:endParaRPr>
          </a:p>
          <a:p>
            <a:pPr marL="158750" marR="1224915" indent="-133985">
              <a:lnSpc>
                <a:spcPct val="116300"/>
              </a:lnSpc>
              <a:spcBef>
                <a:spcPts val="865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SimpleExponentialSmoothing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Tutorial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SimpleExponentialSmoothingOptimized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Tutorial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details on the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Nixtla  Implementation.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231902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Class</a:t>
            </a:r>
            <a:r>
              <a:rPr dirty="0" sz="3350" spc="-7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Activity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15525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21240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300" y="1673225"/>
            <a:ext cx="9486265" cy="389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  <a:tab pos="3411220" algn="l"/>
                <a:tab pos="522351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Description	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Relevant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Info	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Your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Solution	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Validate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[Out of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Class]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Roboto"/>
              <a:cs typeface="Roboto"/>
            </a:endParaRPr>
          </a:p>
          <a:p>
            <a:pPr marL="164465" marR="508000" indent="-133985">
              <a:lnSpc>
                <a:spcPct val="115900"/>
              </a:lnSpc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beginning of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semester,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 noted that the </a:t>
            </a:r>
            <a:r>
              <a:rPr dirty="0" sz="1850" spc="-25" i="1">
                <a:solidFill>
                  <a:srgbClr val="585D60"/>
                </a:solidFill>
                <a:latin typeface="Arial"/>
                <a:cs typeface="Arial"/>
              </a:rPr>
              <a:t>StatsForecast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Python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implementation  focuses 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scale, while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traditional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implementations focus on model  explanation and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interpretation.</a:t>
            </a:r>
            <a:endParaRPr sz="1800">
              <a:latin typeface="Roboto"/>
              <a:cs typeface="Roboto"/>
            </a:endParaRPr>
          </a:p>
          <a:p>
            <a:pPr marL="164465" marR="270510" indent="-133985">
              <a:lnSpc>
                <a:spcPct val="116300"/>
              </a:lnSpc>
              <a:spcBef>
                <a:spcPts val="940"/>
              </a:spcBef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SimpleExponentialSmoothingOptimized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StatsForecast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good example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 this,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model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optimized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find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best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but it does not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directly  provide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optimized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value.</a:t>
            </a:r>
            <a:endParaRPr sz="180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65100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Your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task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find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optimized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reported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fitted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their</a:t>
            </a:r>
            <a:r>
              <a:rPr dirty="0" sz="1800" spc="-1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example.</a:t>
            </a:r>
            <a:endParaRPr sz="1800">
              <a:latin typeface="Roboto"/>
              <a:cs typeface="Roboto"/>
            </a:endParaRPr>
          </a:p>
          <a:p>
            <a:pPr marL="164465" marR="30099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Note that the purpose of this activity is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mathematical exercise,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but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understand  the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model's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output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be able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explain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it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your future</a:t>
            </a:r>
            <a:r>
              <a:rPr dirty="0" sz="1800" spc="3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colleagues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05:00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8200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Interesting Interpretations </a:t>
            </a:r>
            <a:r>
              <a:rPr dirty="0" sz="3350" spc="10">
                <a:latin typeface="Roboto Condensed"/>
                <a:cs typeface="Roboto Condensed"/>
              </a:rPr>
              <a:t>of the SES </a:t>
            </a:r>
            <a:r>
              <a:rPr dirty="0" sz="3350" spc="5">
                <a:latin typeface="Roboto Condensed"/>
                <a:cs typeface="Roboto Condensed"/>
              </a:rPr>
              <a:t>Function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5932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rearranging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equation, we can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express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1564" y="1997075"/>
            <a:ext cx="1260475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baseline="16835" sz="2475" spc="-262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262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1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175">
                <a:solidFill>
                  <a:srgbClr val="585D60"/>
                </a:solidFill>
                <a:latin typeface="Lucida Sans Unicode"/>
                <a:cs typeface="Lucida Sans Unicode"/>
              </a:rPr>
              <a:t>+1∣</a:t>
            </a:r>
            <a:r>
              <a:rPr dirty="0" sz="1150" spc="-1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  <a:p>
            <a:pPr algn="ctr" marL="4445">
              <a:lnSpc>
                <a:spcPts val="1365"/>
              </a:lnSpc>
            </a:pPr>
            <a:r>
              <a:rPr dirty="0" sz="1350" spc="-434">
                <a:solidFill>
                  <a:srgbClr val="585D60"/>
                </a:solidFill>
                <a:latin typeface="Arial"/>
                <a:cs typeface="Arial"/>
              </a:rPr>
              <a:t>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for</a:t>
            </a:r>
            <a:r>
              <a:rPr dirty="0" sz="125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585D60"/>
                </a:solidFill>
                <a:latin typeface="Lucida Sans Unicode"/>
                <a:cs typeface="Lucida Sans Unicode"/>
              </a:rPr>
              <a:t>next 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time</a:t>
            </a:r>
            <a:r>
              <a:rPr dirty="0" sz="125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period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6575" y="1930400"/>
            <a:ext cx="2145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215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r>
              <a:rPr dirty="0" sz="1650" spc="21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32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20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5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r>
              <a:rPr dirty="0" sz="1800" spc="-1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500" spc="-15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sz="1800" spc="-15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baseline="-29100" sz="1575" spc="-2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4444" sz="1875" spc="-22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9100" sz="1575" spc="-2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4444" sz="1875" spc="-22">
                <a:solidFill>
                  <a:srgbClr val="008080"/>
                </a:solidFill>
                <a:latin typeface="Lucida Sans Unicode"/>
                <a:cs typeface="Lucida Sans Unicode"/>
              </a:rPr>
              <a:t>−1</a:t>
            </a:r>
            <a:endParaRPr baseline="-24444" sz="1875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1975" y="2806700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5061" y="2864078"/>
            <a:ext cx="685800" cy="791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7630">
              <a:lnSpc>
                <a:spcPts val="1939"/>
              </a:lnSpc>
              <a:spcBef>
                <a:spcPts val="95"/>
              </a:spcBef>
            </a:pPr>
            <a:r>
              <a:rPr dirty="0" baseline="16666" sz="2250" spc="-179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baseline="15432" sz="2700" spc="-179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−1</a:t>
            </a:r>
            <a:endParaRPr sz="1250">
              <a:latin typeface="Lucida Sans Unicode"/>
              <a:cs typeface="Lucida Sans Unicode"/>
            </a:endParaRPr>
          </a:p>
          <a:p>
            <a:pPr marL="93345">
              <a:lnSpc>
                <a:spcPts val="1400"/>
              </a:lnSpc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marL="45720" marR="30480" indent="-8255">
              <a:lnSpc>
                <a:spcPct val="75000"/>
              </a:lnSpc>
              <a:spcBef>
                <a:spcPts val="430"/>
              </a:spcBef>
            </a:pPr>
            <a:r>
              <a:rPr dirty="0" sz="1250" spc="80">
                <a:solidFill>
                  <a:srgbClr val="008080"/>
                </a:solidFill>
                <a:latin typeface="Lucida Sans Unicode"/>
                <a:cs typeface="Lucida Sans Unicode"/>
              </a:rPr>
              <a:t>Pr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5">
                <a:solidFill>
                  <a:srgbClr val="008080"/>
                </a:solidFill>
                <a:latin typeface="Lucida Sans Unicode"/>
                <a:cs typeface="Lucida Sans Unicode"/>
              </a:rPr>
              <a:t>vi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o</a:t>
            </a:r>
            <a:r>
              <a:rPr dirty="0" sz="1250" spc="-70">
                <a:solidFill>
                  <a:srgbClr val="008080"/>
                </a:solidFill>
                <a:latin typeface="Lucida Sans Unicode"/>
                <a:cs typeface="Lucida Sans Unicode"/>
              </a:rPr>
              <a:t>u</a:t>
            </a:r>
            <a:r>
              <a:rPr dirty="0" sz="1250" spc="-105">
                <a:solidFill>
                  <a:srgbClr val="008080"/>
                </a:solidFill>
                <a:latin typeface="Lucida Sans Unicode"/>
                <a:cs typeface="Lucida Sans Unicode"/>
              </a:rPr>
              <a:t>s  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140">
                <a:solidFill>
                  <a:srgbClr val="00808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25">
                <a:solidFill>
                  <a:srgbClr val="008080"/>
                </a:solidFill>
                <a:latin typeface="Lucida Sans Unicode"/>
                <a:cs typeface="Lucida Sans Unicode"/>
              </a:rPr>
              <a:t>t</a:t>
            </a:r>
            <a:r>
              <a:rPr dirty="0" sz="1250" spc="-10">
                <a:solidFill>
                  <a:srgbClr val="008080"/>
                </a:solidFill>
                <a:latin typeface="Lucida Sans Unicode"/>
                <a:cs typeface="Lucida Sans Unicode"/>
              </a:rPr>
              <a:t>i</a:t>
            </a:r>
            <a:r>
              <a:rPr dirty="0" sz="1250" spc="-110">
                <a:solidFill>
                  <a:srgbClr val="008080"/>
                </a:solidFill>
                <a:latin typeface="Lucida Sans Unicode"/>
                <a:cs typeface="Lucida Sans Unicode"/>
              </a:rPr>
              <a:t>m</a:t>
            </a:r>
            <a:r>
              <a:rPr dirty="0" sz="1250" spc="-55">
                <a:solidFill>
                  <a:srgbClr val="00808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25">
                <a:solidFill>
                  <a:srgbClr val="008080"/>
                </a:solidFill>
                <a:latin typeface="Lucida Sans Unicode"/>
                <a:cs typeface="Lucida Sans Unicode"/>
              </a:rPr>
              <a:t>t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4750" y="2806700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7438" y="2910941"/>
            <a:ext cx="779780" cy="665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819"/>
              </a:lnSpc>
              <a:spcBef>
                <a:spcPts val="130"/>
              </a:spcBef>
            </a:pPr>
            <a:r>
              <a:rPr dirty="0" sz="950" spc="610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endParaRPr sz="950">
              <a:latin typeface="Arial"/>
              <a:cs typeface="Arial"/>
            </a:endParaRPr>
          </a:p>
          <a:p>
            <a:pPr algn="ctr" marR="5080">
              <a:lnSpc>
                <a:spcPts val="130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ts val="1280"/>
              </a:lnSpc>
              <a:spcBef>
                <a:spcPts val="355"/>
              </a:spcBef>
            </a:pP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S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m</a:t>
            </a:r>
            <a:r>
              <a:rPr dirty="0" sz="1150" spc="10">
                <a:solidFill>
                  <a:srgbClr val="A8A8A8"/>
                </a:solidFill>
                <a:latin typeface="Tahoma"/>
                <a:cs typeface="Tahoma"/>
              </a:rPr>
              <a:t>oo</a:t>
            </a:r>
            <a:r>
              <a:rPr dirty="0" sz="1150" spc="110">
                <a:solidFill>
                  <a:srgbClr val="A8A8A8"/>
                </a:solidFill>
                <a:latin typeface="Tahoma"/>
                <a:cs typeface="Tahoma"/>
              </a:rPr>
              <a:t>t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h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i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n</a:t>
            </a:r>
            <a:r>
              <a:rPr dirty="0" sz="1150">
                <a:solidFill>
                  <a:srgbClr val="A8A8A8"/>
                </a:solidFill>
                <a:latin typeface="Tahoma"/>
                <a:cs typeface="Tahoma"/>
              </a:rPr>
              <a:t>g  </a:t>
            </a:r>
            <a:r>
              <a:rPr dirty="0" sz="1150" spc="45">
                <a:solidFill>
                  <a:srgbClr val="A8A8A8"/>
                </a:solidFill>
                <a:latin typeface="Tahoma"/>
                <a:cs typeface="Tahoma"/>
              </a:rPr>
              <a:t>parameter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53237" y="2806700"/>
            <a:ext cx="1228090" cy="70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140">
                <a:solidFill>
                  <a:srgbClr val="C2132D"/>
                </a:solidFill>
                <a:latin typeface="Lucida Sans Unicode"/>
                <a:cs typeface="Lucida Sans Unicode"/>
              </a:rPr>
              <a:t>(</a:t>
            </a:r>
            <a:r>
              <a:rPr dirty="0" sz="1500" spc="14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3227" sz="1575" spc="209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1800" spc="-35">
                <a:solidFill>
                  <a:srgbClr val="C2132D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05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8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1543" sz="2700" spc="-120">
                <a:solidFill>
                  <a:srgbClr val="C2132D"/>
                </a:solidFill>
                <a:latin typeface="Lucida Sans Unicode"/>
                <a:cs typeface="Lucida Sans Unicode"/>
              </a:rPr>
              <a:t>^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80">
                <a:solidFill>
                  <a:srgbClr val="C2132D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marL="43180">
              <a:lnSpc>
                <a:spcPct val="100000"/>
              </a:lnSpc>
              <a:spcBef>
                <a:spcPts val="15"/>
              </a:spcBef>
            </a:pP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marL="118110">
              <a:lnSpc>
                <a:spcPct val="100000"/>
              </a:lnSpc>
              <a:spcBef>
                <a:spcPts val="55"/>
              </a:spcBef>
            </a:pPr>
            <a:r>
              <a:rPr dirty="0" sz="1250" spc="-45">
                <a:solidFill>
                  <a:srgbClr val="C2132D"/>
                </a:solidFill>
                <a:latin typeface="Lucida Sans Unicode"/>
                <a:cs typeface="Lucida Sans Unicode"/>
              </a:rPr>
              <a:t>Forecast</a:t>
            </a:r>
            <a:r>
              <a:rPr dirty="0" sz="1250" spc="-100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C2132D"/>
                </a:solidFill>
                <a:latin typeface="Lucida Sans Unicode"/>
                <a:cs typeface="Lucida Sans Unicode"/>
              </a:rPr>
              <a:t>error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6575" y="3702049"/>
            <a:ext cx="826769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05"/>
              </a:lnSpc>
              <a:spcBef>
                <a:spcPts val="100"/>
              </a:spcBef>
            </a:pPr>
            <a:r>
              <a:rPr dirty="0" baseline="13888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baseline="13888" sz="2700" spc="-17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6666" sz="2250" spc="-179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baseline="15432" sz="2700" spc="-179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−1</a:t>
            </a:r>
            <a:endParaRPr sz="1250">
              <a:latin typeface="Lucida Sans Unicode"/>
              <a:cs typeface="Lucida Sans Unicode"/>
            </a:endParaRPr>
          </a:p>
          <a:p>
            <a:pPr algn="ctr" marL="246379">
              <a:lnSpc>
                <a:spcPts val="1365"/>
              </a:lnSpc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17500" marR="67310">
              <a:lnSpc>
                <a:spcPts val="1280"/>
              </a:lnSpc>
              <a:spcBef>
                <a:spcPts val="430"/>
              </a:spcBef>
            </a:pPr>
            <a:r>
              <a:rPr dirty="0" sz="1250" spc="-25">
                <a:solidFill>
                  <a:srgbClr val="008080"/>
                </a:solidFill>
                <a:latin typeface="Lucida Sans Unicode"/>
                <a:cs typeface="Lucida Sans Unicode"/>
              </a:rPr>
              <a:t>Lag</a:t>
            </a:r>
            <a:r>
              <a:rPr dirty="0" sz="1250" spc="-165">
                <a:solidFill>
                  <a:srgbClr val="00808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008080"/>
                </a:solidFill>
                <a:latin typeface="Lucida Sans Unicode"/>
                <a:cs typeface="Lucida Sans Unicode"/>
              </a:rPr>
              <a:t>of </a:t>
            </a:r>
            <a:r>
              <a:rPr dirty="0" sz="1250" spc="-65">
                <a:solidFill>
                  <a:srgbClr val="00808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008080"/>
                </a:solidFill>
                <a:latin typeface="Lucida Sans Unicode"/>
                <a:cs typeface="Lucida Sans Unicode"/>
              </a:rPr>
              <a:t>level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5178" y="3644899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866" y="3749141"/>
            <a:ext cx="779780" cy="6559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819"/>
              </a:lnSpc>
              <a:spcBef>
                <a:spcPts val="130"/>
              </a:spcBef>
            </a:pPr>
            <a:r>
              <a:rPr dirty="0" sz="950" spc="610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endParaRPr sz="950">
              <a:latin typeface="Arial"/>
              <a:cs typeface="Arial"/>
            </a:endParaRPr>
          </a:p>
          <a:p>
            <a:pPr algn="ctr" marR="5080">
              <a:lnSpc>
                <a:spcPts val="130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12065" marR="5080">
              <a:lnSpc>
                <a:spcPts val="1200"/>
              </a:lnSpc>
              <a:spcBef>
                <a:spcPts val="420"/>
              </a:spcBef>
            </a:pP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S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m</a:t>
            </a:r>
            <a:r>
              <a:rPr dirty="0" sz="1150" spc="10">
                <a:solidFill>
                  <a:srgbClr val="A8A8A8"/>
                </a:solidFill>
                <a:latin typeface="Tahoma"/>
                <a:cs typeface="Tahoma"/>
              </a:rPr>
              <a:t>oo</a:t>
            </a:r>
            <a:r>
              <a:rPr dirty="0" sz="1150" spc="110">
                <a:solidFill>
                  <a:srgbClr val="A8A8A8"/>
                </a:solidFill>
                <a:latin typeface="Tahoma"/>
                <a:cs typeface="Tahoma"/>
              </a:rPr>
              <a:t>t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h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i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n</a:t>
            </a:r>
            <a:r>
              <a:rPr dirty="0" sz="1150">
                <a:solidFill>
                  <a:srgbClr val="A8A8A8"/>
                </a:solidFill>
                <a:latin typeface="Tahoma"/>
                <a:cs typeface="Tahoma"/>
              </a:rPr>
              <a:t>g  </a:t>
            </a:r>
            <a:r>
              <a:rPr dirty="0" sz="1150" spc="45">
                <a:solidFill>
                  <a:srgbClr val="A8A8A8"/>
                </a:solidFill>
                <a:latin typeface="Tahoma"/>
                <a:cs typeface="Tahoma"/>
              </a:rPr>
              <a:t>parameter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3665" y="3644899"/>
            <a:ext cx="1228090" cy="70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dirty="0" sz="1800" spc="140">
                <a:solidFill>
                  <a:srgbClr val="C2132D"/>
                </a:solidFill>
                <a:latin typeface="Lucida Sans Unicode"/>
                <a:cs typeface="Lucida Sans Unicode"/>
              </a:rPr>
              <a:t>(</a:t>
            </a:r>
            <a:r>
              <a:rPr dirty="0" sz="1500" spc="14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3227" sz="1575" spc="209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1800" spc="-35">
                <a:solidFill>
                  <a:srgbClr val="C2132D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05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8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1543" sz="2700" spc="-120">
                <a:solidFill>
                  <a:srgbClr val="C2132D"/>
                </a:solidFill>
                <a:latin typeface="Lucida Sans Unicode"/>
                <a:cs typeface="Lucida Sans Unicode"/>
              </a:rPr>
              <a:t>^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80">
                <a:solidFill>
                  <a:srgbClr val="C2132D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>
              <a:lnSpc>
                <a:spcPts val="1590"/>
              </a:lnSpc>
            </a:pP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C2132D"/>
                </a:solidFill>
                <a:latin typeface="Lucida Sans Unicode"/>
                <a:cs typeface="Lucida Sans Unicode"/>
              </a:rPr>
              <a:t>Remainder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6749" y="4609972"/>
            <a:ext cx="9394190" cy="161607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1250"/>
              </a:spcBef>
              <a:buClr>
                <a:srgbClr val="C2132D"/>
              </a:buClr>
              <a:buChar char="•"/>
              <a:tabLst>
                <a:tab pos="1587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forecast for next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period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 weighted sum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actual observation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previous</a:t>
            </a:r>
            <a:r>
              <a:rPr dirty="0" sz="1600" spc="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forecast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600">
              <a:latin typeface="Roboto"/>
              <a:cs typeface="Roboto"/>
            </a:endParaRPr>
          </a:p>
          <a:p>
            <a:pPr marL="1581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1587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smoothing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parameter </a:t>
            </a:r>
            <a:r>
              <a:rPr dirty="0" sz="850" spc="550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r>
              <a:rPr dirty="0" sz="850" spc="150" i="1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controls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how much weight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given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new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observation.</a:t>
            </a:r>
            <a:endParaRPr sz="1600">
              <a:latin typeface="Roboto"/>
              <a:cs typeface="Roboto"/>
            </a:endParaRPr>
          </a:p>
          <a:p>
            <a:pPr marL="1581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1587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forecast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error </a:t>
            </a:r>
            <a:r>
              <a:rPr dirty="0" sz="1600" spc="130">
                <a:solidFill>
                  <a:srgbClr val="C2132D"/>
                </a:solidFill>
                <a:latin typeface="Lucida Sans Unicode"/>
                <a:cs typeface="Lucida Sans Unicode"/>
              </a:rPr>
              <a:t>(</a:t>
            </a:r>
            <a:r>
              <a:rPr dirty="0" sz="1350" spc="13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4619" sz="1425" spc="195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1600" spc="-15">
                <a:solidFill>
                  <a:srgbClr val="C2132D"/>
                </a:solidFill>
                <a:latin typeface="Lucida Sans Unicode"/>
                <a:cs typeface="Lucida Sans Unicode"/>
              </a:rPr>
              <a:t>− </a:t>
            </a:r>
            <a:r>
              <a:rPr dirty="0" sz="1350" spc="-75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5208" sz="2400" spc="-112">
                <a:solidFill>
                  <a:srgbClr val="C2132D"/>
                </a:solidFill>
                <a:latin typeface="Lucida Sans Unicode"/>
                <a:cs typeface="Lucida Sans Unicode"/>
              </a:rPr>
              <a:t>^</a:t>
            </a:r>
            <a:r>
              <a:rPr dirty="0" baseline="-23391" sz="1425" spc="-112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9323" sz="1725" spc="-112">
                <a:solidFill>
                  <a:srgbClr val="C2132D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3391" sz="1425" spc="-112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9323" sz="1725" spc="-112">
                <a:solidFill>
                  <a:srgbClr val="C2132D"/>
                </a:solidFill>
                <a:latin typeface="Lucida Sans Unicode"/>
                <a:cs typeface="Lucida Sans Unicode"/>
              </a:rPr>
              <a:t>−1</a:t>
            </a:r>
            <a:r>
              <a:rPr dirty="0" sz="1600" spc="-75">
                <a:solidFill>
                  <a:srgbClr val="C2132D"/>
                </a:solidFill>
                <a:latin typeface="Lucida Sans Unicode"/>
                <a:cs typeface="Lucida Sans Unicode"/>
              </a:rPr>
              <a:t>)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captures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how much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previous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estimate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deviates from the</a:t>
            </a: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actual.</a:t>
            </a:r>
            <a:endParaRPr sz="1600">
              <a:latin typeface="Roboto"/>
              <a:cs typeface="Roboto"/>
            </a:endParaRPr>
          </a:p>
          <a:p>
            <a:pPr marL="158115" indent="-120650">
              <a:lnSpc>
                <a:spcPct val="100000"/>
              </a:lnSpc>
              <a:spcBef>
                <a:spcPts val="1380"/>
              </a:spcBef>
              <a:buClr>
                <a:srgbClr val="C2132D"/>
              </a:buClr>
              <a:buChar char="•"/>
              <a:tabLst>
                <a:tab pos="1587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previous estimate </a:t>
            </a:r>
            <a:r>
              <a:rPr dirty="0" sz="1350" spc="-114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baseline="1736" sz="2400" spc="-172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baseline="-26315" sz="1425" spc="-17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1739" sz="1725" spc="-172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6315" sz="1425" spc="-17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1739" sz="1725" spc="-172">
                <a:solidFill>
                  <a:srgbClr val="008080"/>
                </a:solidFill>
                <a:latin typeface="Lucida Sans Unicode"/>
                <a:cs typeface="Lucida Sans Unicode"/>
              </a:rPr>
              <a:t>−1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represents the forecast from the prior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time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step.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750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Double Exponential Smoothing</a:t>
            </a:r>
            <a:r>
              <a:rPr dirty="0" sz="3350" spc="-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(Holt)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9303385" cy="2680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SES model is suitable for time series with no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seasonality.</a:t>
            </a:r>
            <a:endParaRPr sz="1800">
              <a:latin typeface="Roboto"/>
              <a:cs typeface="Roboto"/>
            </a:endParaRPr>
          </a:p>
          <a:p>
            <a:pPr marL="158750" marR="126364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Holt model extends SES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series with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local (not constant) linear trend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but no 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seasonality.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Holt model uses two smoothing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parameters: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level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50" spc="-8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6666" sz="1875" spc="-127">
                <a:solidFill>
                  <a:srgbClr val="585D60"/>
                </a:solidFill>
                <a:latin typeface="Lucida Sans Unicode"/>
                <a:cs typeface="Lucida Sans Unicode"/>
              </a:rPr>
              <a:t>∗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</a:t>
            </a:r>
            <a:r>
              <a:rPr dirty="0" sz="1800" spc="-6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trend.</a:t>
            </a:r>
            <a:endParaRPr sz="1800">
              <a:latin typeface="Roboto"/>
              <a:cs typeface="Roboto"/>
            </a:endParaRPr>
          </a:p>
          <a:p>
            <a:pPr marL="158750" marR="1778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Holt model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equivalent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ETS(A,A,N) model in the ETS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framework (additive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error,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additive trend,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seasonality).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Holt model is implemented in the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Holt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750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Double Exponential Smoothing</a:t>
            </a:r>
            <a:r>
              <a:rPr dirty="0" sz="3350" spc="-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(Holt)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0712" y="1387475"/>
            <a:ext cx="875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0">
                <a:solidFill>
                  <a:srgbClr val="585D60"/>
                </a:solidFill>
                <a:latin typeface="Lucida Sans Unicode"/>
                <a:cs typeface="Lucida Sans Unicode"/>
              </a:rPr>
              <a:t>F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or</a:t>
            </a:r>
            <a:r>
              <a:rPr dirty="0" sz="1800" spc="-204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c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as</a:t>
            </a:r>
            <a:r>
              <a:rPr dirty="0" sz="1800" spc="25">
                <a:solidFill>
                  <a:srgbClr val="585D60"/>
                </a:solidFill>
                <a:latin typeface="Lucida Sans Unicode"/>
                <a:cs typeface="Lucida Sans Unicode"/>
              </a:rPr>
              <a:t>t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069" y="1569364"/>
            <a:ext cx="92646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45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45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3058" y="1787905"/>
            <a:ext cx="1007110" cy="35306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16865" marR="5080" indent="-304800">
              <a:lnSpc>
                <a:spcPct val="70000"/>
              </a:lnSpc>
              <a:spcBef>
                <a:spcPts val="57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Predict</a:t>
            </a:r>
            <a:r>
              <a:rPr dirty="0" sz="125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future  </a:t>
            </a: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value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8863" y="1387475"/>
            <a:ext cx="1419225" cy="667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1980"/>
              </a:lnSpc>
              <a:spcBef>
                <a:spcPts val="100"/>
              </a:spcBef>
              <a:tabLst>
                <a:tab pos="1228090" algn="l"/>
              </a:tabLst>
            </a:pPr>
            <a:r>
              <a:rPr dirty="0" sz="1650" spc="-6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35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  <a:p>
            <a:pPr marL="143510">
              <a:lnSpc>
                <a:spcPts val="1440"/>
              </a:lnSpc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3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for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0490" y="1387475"/>
            <a:ext cx="1396365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870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  <a:p>
            <a:pPr algn="ctr" marR="5080">
              <a:lnSpc>
                <a:spcPts val="132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(Base</a:t>
            </a:r>
            <a:r>
              <a:rPr dirty="0" sz="125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Value)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26597" y="1387475"/>
            <a:ext cx="386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2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5701" y="1405534"/>
            <a:ext cx="23304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2077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4541" y="1588414"/>
            <a:ext cx="38989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6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5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6910" y="1816480"/>
            <a:ext cx="153797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Trend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(Growth</a:t>
            </a:r>
            <a:r>
              <a:rPr dirty="0" sz="125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15">
                <a:solidFill>
                  <a:srgbClr val="585D60"/>
                </a:solidFill>
                <a:latin typeface="Lucida Sans Unicode"/>
                <a:cs typeface="Lucida Sans Unicode"/>
              </a:rPr>
              <a:t>Rate)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4787" y="2816225"/>
            <a:ext cx="555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85D60"/>
                </a:solidFill>
                <a:latin typeface="Lucida Sans Unicode"/>
                <a:cs typeface="Lucida Sans Unicode"/>
              </a:rPr>
              <a:t>Le</a:t>
            </a:r>
            <a:r>
              <a:rPr dirty="0" sz="1800" spc="15">
                <a:solidFill>
                  <a:srgbClr val="585D60"/>
                </a:solidFill>
                <a:latin typeface="Lucida Sans Unicode"/>
                <a:cs typeface="Lucida Sans Unicode"/>
              </a:rPr>
              <a:t>v</a:t>
            </a:r>
            <a:r>
              <a:rPr dirty="0" sz="1800" spc="-204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-20">
                <a:solidFill>
                  <a:srgbClr val="585D60"/>
                </a:solidFill>
                <a:latin typeface="Lucida Sans Unicode"/>
                <a:cs typeface="Lucida Sans Unicode"/>
              </a:rPr>
              <a:t>l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145" y="2998114"/>
            <a:ext cx="6064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8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8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1228" y="3216655"/>
            <a:ext cx="1359535" cy="3625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404495" marR="5080" indent="-392430">
              <a:lnSpc>
                <a:spcPct val="75000"/>
              </a:lnSpc>
              <a:spcBef>
                <a:spcPts val="49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series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3444" y="2816225"/>
            <a:ext cx="1378585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6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14342" y="2816225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7428" y="2834284"/>
            <a:ext cx="1122045" cy="811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75"/>
              </a:lnSpc>
              <a:spcBef>
                <a:spcPts val="105"/>
              </a:spcBef>
            </a:pPr>
            <a:r>
              <a:rPr dirty="0" sz="1650" spc="95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4492" sz="1725" spc="14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5080">
              <a:lnSpc>
                <a:spcPts val="142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ts val="1350"/>
              </a:lnSpc>
              <a:spcBef>
                <a:spcPts val="30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observation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80783" y="2816225"/>
            <a:ext cx="222631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14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5">
                <a:solidFill>
                  <a:srgbClr val="585D60"/>
                </a:solidFill>
                <a:latin typeface="Lucida Sans Unicode"/>
                <a:cs typeface="Lucida Sans Unicode"/>
              </a:rPr>
              <a:t>)(ℓ</a:t>
            </a:r>
            <a:r>
              <a:rPr dirty="0" baseline="-14492" sz="1725" spc="-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3333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26695">
              <a:lnSpc>
                <a:spcPts val="1475"/>
              </a:lnSpc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690880" marR="462280">
              <a:lnSpc>
                <a:spcPts val="1280"/>
              </a:lnSpc>
              <a:spcBef>
                <a:spcPts val="35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2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12355" y="4111624"/>
            <a:ext cx="636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0">
                <a:solidFill>
                  <a:srgbClr val="585D60"/>
                </a:solidFill>
                <a:latin typeface="Lucida Sans Unicode"/>
                <a:cs typeface="Lucida Sans Unicode"/>
              </a:rPr>
              <a:t>T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r</a:t>
            </a:r>
            <a:r>
              <a:rPr dirty="0" sz="1800" spc="-204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n</a:t>
            </a:r>
            <a:r>
              <a:rPr dirty="0" sz="1800" spc="-135">
                <a:solidFill>
                  <a:srgbClr val="585D60"/>
                </a:solidFill>
                <a:latin typeface="Lucida Sans Unicode"/>
                <a:cs typeface="Lucida Sans Unicode"/>
              </a:rPr>
              <a:t>d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17713" y="4293514"/>
            <a:ext cx="68707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86731" y="4512055"/>
            <a:ext cx="1143635" cy="3625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74955" marR="5080" indent="-262890">
              <a:lnSpc>
                <a:spcPct val="75000"/>
              </a:lnSpc>
              <a:spcBef>
                <a:spcPts val="49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 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64508" y="4129684"/>
            <a:ext cx="1437640" cy="630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88942" y="4111624"/>
            <a:ext cx="17938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3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17145">
              <a:lnSpc>
                <a:spcPts val="1475"/>
              </a:lnSpc>
            </a:pPr>
            <a:r>
              <a:rPr dirty="0" sz="1350" spc="-509">
                <a:solidFill>
                  <a:srgbClr val="585D60"/>
                </a:solidFill>
                <a:latin typeface="Arial"/>
                <a:cs typeface="Arial"/>
              </a:rPr>
              <a:t></a:t>
            </a:r>
            <a:endParaRPr sz="1350">
              <a:latin typeface="Arial"/>
              <a:cs typeface="Arial"/>
            </a:endParaRPr>
          </a:p>
          <a:p>
            <a:pPr algn="ctr" marL="306070" marR="285750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change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endParaRPr baseline="27777" sz="13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84256" y="4111624"/>
            <a:ext cx="1459230" cy="829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3333" sz="1875">
              <a:latin typeface="Lucida Sans Unicode"/>
              <a:cs typeface="Lucida Sans Unicode"/>
            </a:endParaRPr>
          </a:p>
          <a:p>
            <a:pPr algn="ctr" marL="1905">
              <a:lnSpc>
                <a:spcPts val="147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ts val="1200"/>
              </a:lnSpc>
              <a:spcBef>
                <a:spcPts val="420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22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-1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0864" sz="1350" spc="-1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750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Double Exponential Smoothing</a:t>
            </a:r>
            <a:r>
              <a:rPr dirty="0" sz="3350" spc="-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(Holt)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9042" y="1504210"/>
            <a:ext cx="9577937" cy="443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7972425" cy="0"/>
          </a:xfrm>
          <a:custGeom>
            <a:avLst/>
            <a:gdLst/>
            <a:ahLst/>
            <a:cxnLst/>
            <a:rect l="l" t="t" r="r" b="b"/>
            <a:pathLst>
              <a:path w="7972425" h="0">
                <a:moveTo>
                  <a:pt x="0" y="0"/>
                </a:moveTo>
                <a:lnTo>
                  <a:pt x="79724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7972425" cy="0"/>
          </a:xfrm>
          <a:custGeom>
            <a:avLst/>
            <a:gdLst/>
            <a:ahLst/>
            <a:cxnLst/>
            <a:rect l="l" t="t" r="r" b="b"/>
            <a:pathLst>
              <a:path w="7972425" h="0">
                <a:moveTo>
                  <a:pt x="0" y="0"/>
                </a:moveTo>
                <a:lnTo>
                  <a:pt x="79724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773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799782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Credits: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This animation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inspired by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Rob J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Hyndman's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presentation 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double exponential smoothing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 his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book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"Forecasting: Principles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Practice".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See</a:t>
            </a:r>
            <a:r>
              <a:rPr dirty="0" sz="850" spc="5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here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371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">
                <a:latin typeface="Roboto Condensed"/>
                <a:cs typeface="Roboto Condensed"/>
              </a:rPr>
              <a:t>Triple </a:t>
            </a:r>
            <a:r>
              <a:rPr dirty="0" sz="3350" spc="10">
                <a:latin typeface="Roboto Condensed"/>
                <a:cs typeface="Roboto Condensed"/>
              </a:rPr>
              <a:t>Exponential Smoothing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(Holt-Winters)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9450705" cy="279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Holt-Winters model extends Holt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series with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58750" marR="217804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Holt-Winters model uses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three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smoothing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parameters: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level, </a:t>
            </a:r>
            <a:r>
              <a:rPr dirty="0" sz="1650" spc="-8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8888" sz="1875" spc="-127">
                <a:solidFill>
                  <a:srgbClr val="585D60"/>
                </a:solidFill>
                <a:latin typeface="Lucida Sans Unicode"/>
                <a:cs typeface="Lucida Sans Unicode"/>
              </a:rPr>
              <a:t>∗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trend,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seasonality.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There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two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versions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Holt-Winters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model:</a:t>
            </a:r>
            <a:endParaRPr sz="1800">
              <a:latin typeface="Roboto"/>
              <a:cs typeface="Roboto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40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Additive 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seasonal component is added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level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trend.</a:t>
            </a:r>
            <a:endParaRPr sz="1800">
              <a:latin typeface="Roboto"/>
              <a:cs typeface="Roboto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40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Multiplicative 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seasonal component is multiplied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level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Holt-Winters model is implemented in the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HoltWinters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6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">
                <a:latin typeface="Roboto Condensed"/>
                <a:cs typeface="Roboto Condensed"/>
              </a:rPr>
              <a:t>Triple </a:t>
            </a:r>
            <a:r>
              <a:rPr dirty="0" sz="3350" spc="10">
                <a:latin typeface="Roboto Condensed"/>
                <a:cs typeface="Roboto Condensed"/>
              </a:rPr>
              <a:t>Exponential Smoothing (Holt-Winters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[Add])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1016" y="1387475"/>
            <a:ext cx="1445895" cy="667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1980"/>
              </a:lnSpc>
              <a:spcBef>
                <a:spcPts val="100"/>
              </a:spcBef>
              <a:tabLst>
                <a:tab pos="1254760" algn="l"/>
              </a:tabLst>
            </a:pPr>
            <a:r>
              <a:rPr dirty="0" sz="1650" spc="-6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35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  <a:p>
            <a:pPr marL="144145">
              <a:lnSpc>
                <a:spcPts val="1440"/>
              </a:lnSpc>
            </a:pPr>
            <a:r>
              <a:rPr dirty="0" sz="1350" spc="-515">
                <a:solidFill>
                  <a:srgbClr val="585D60"/>
                </a:solidFill>
                <a:latin typeface="Arial"/>
                <a:cs typeface="Arial"/>
              </a:rPr>
              <a:t>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for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9581" y="1387475"/>
            <a:ext cx="1396365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870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  <a:p>
            <a:pPr algn="ctr" marR="5080">
              <a:lnSpc>
                <a:spcPts val="132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(Base</a:t>
            </a:r>
            <a:r>
              <a:rPr dirty="0" sz="125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Value)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5687" y="1387475"/>
            <a:ext cx="386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2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4792" y="1405534"/>
            <a:ext cx="23304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2077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3631" y="1588414"/>
            <a:ext cx="38989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6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5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26000" y="1816480"/>
            <a:ext cx="153797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Trend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(Growth</a:t>
            </a:r>
            <a:r>
              <a:rPr dirty="0" sz="125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15">
                <a:solidFill>
                  <a:srgbClr val="585D60"/>
                </a:solidFill>
                <a:latin typeface="Lucida Sans Unicode"/>
                <a:cs typeface="Lucida Sans Unicode"/>
              </a:rPr>
              <a:t>Rate)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3445" y="1425575"/>
            <a:ext cx="1380490" cy="80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45"/>
              </a:lnSpc>
              <a:spcBef>
                <a:spcPts val="100"/>
              </a:spcBef>
            </a:pPr>
            <a:r>
              <a:rPr dirty="0" baseline="9259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9259" sz="2700" spc="-3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0101" sz="2475" spc="67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k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+1)</a:t>
            </a:r>
            <a:endParaRPr sz="1250">
              <a:latin typeface="Lucida Sans Unicode"/>
              <a:cs typeface="Lucida Sans Unicode"/>
            </a:endParaRPr>
          </a:p>
          <a:p>
            <a:pPr algn="ctr" marL="233679">
              <a:lnSpc>
                <a:spcPts val="1400"/>
              </a:lnSpc>
            </a:pP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503555" marR="266065">
              <a:lnSpc>
                <a:spcPct val="75000"/>
              </a:lnSpc>
              <a:spcBef>
                <a:spcPts val="505"/>
              </a:spcBef>
            </a:pPr>
            <a:r>
              <a:rPr dirty="0" sz="1250" spc="3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o</a:t>
            </a:r>
            <a:r>
              <a:rPr dirty="0" sz="1250" spc="-70">
                <a:solidFill>
                  <a:srgbClr val="585D60"/>
                </a:solidFill>
                <a:latin typeface="Lucida Sans Unicode"/>
                <a:cs typeface="Lucida Sans Unicode"/>
              </a:rPr>
              <a:t>n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l  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Effect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3748" y="2673350"/>
            <a:ext cx="1410335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  <a:p>
            <a:pPr algn="ctr" marR="4445">
              <a:lnSpc>
                <a:spcPts val="136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8033" y="2673350"/>
            <a:ext cx="1831339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20"/>
              </a:lnSpc>
              <a:spcBef>
                <a:spcPts val="100"/>
              </a:spcBef>
              <a:tabLst>
                <a:tab pos="431800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0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50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2077" sz="1725" spc="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15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2077" sz="1725" spc="150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800" spc="10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61620">
              <a:lnSpc>
                <a:spcPts val="1475"/>
              </a:lnSpc>
            </a:pPr>
            <a:r>
              <a:rPr dirty="0" sz="1350" spc="-400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90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09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0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90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09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06705" marR="43180">
              <a:lnSpc>
                <a:spcPts val="1350"/>
              </a:lnSpc>
              <a:spcBef>
                <a:spcPts val="22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 on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seasonally 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adjusted</a:t>
            </a:r>
            <a:r>
              <a:rPr dirty="0" sz="1250" spc="-1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observation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48200" y="2673350"/>
            <a:ext cx="222631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2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5">
                <a:solidFill>
                  <a:srgbClr val="585D60"/>
                </a:solidFill>
                <a:latin typeface="Lucida Sans Unicode"/>
                <a:cs typeface="Lucida Sans Unicode"/>
              </a:rPr>
              <a:t>)(ℓ</a:t>
            </a:r>
            <a:r>
              <a:rPr dirty="0" baseline="-12077" sz="1725" spc="-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-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1111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2077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26695">
              <a:lnSpc>
                <a:spcPts val="1475"/>
              </a:lnSpc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690880" marR="462280">
              <a:lnSpc>
                <a:spcPts val="1350"/>
              </a:lnSpc>
              <a:spcBef>
                <a:spcPts val="22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2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3748" y="3777259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8033" y="3759199"/>
            <a:ext cx="17938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3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17145">
              <a:lnSpc>
                <a:spcPts val="1475"/>
              </a:lnSpc>
            </a:pPr>
            <a:r>
              <a:rPr dirty="0" sz="1350" spc="-509">
                <a:solidFill>
                  <a:srgbClr val="585D60"/>
                </a:solidFill>
                <a:latin typeface="Arial"/>
                <a:cs typeface="Arial"/>
              </a:rPr>
              <a:t></a:t>
            </a:r>
            <a:endParaRPr sz="1350">
              <a:latin typeface="Arial"/>
              <a:cs typeface="Arial"/>
            </a:endParaRPr>
          </a:p>
          <a:p>
            <a:pPr algn="ctr" marL="306070" marR="285750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change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endParaRPr baseline="27777" sz="13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23346" y="3759199"/>
            <a:ext cx="1459230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3333" sz="1875">
              <a:latin typeface="Lucida Sans Unicode"/>
              <a:cs typeface="Lucida Sans Unicode"/>
            </a:endParaRPr>
          </a:p>
          <a:p>
            <a:pPr algn="ctr" marL="1905">
              <a:lnSpc>
                <a:spcPts val="147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22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-1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1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3748" y="4872634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seasonality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28033" y="4854574"/>
            <a:ext cx="233489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14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6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800" spc="6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50" spc="6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97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8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187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25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9525">
              <a:lnSpc>
                <a:spcPts val="1480"/>
              </a:lnSpc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645160" marR="635635">
              <a:lnSpc>
                <a:spcPts val="1350"/>
              </a:lnSpc>
              <a:spcBef>
                <a:spcPts val="30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585D60"/>
                </a:solidFill>
                <a:latin typeface="Lucida Sans Unicode"/>
                <a:cs typeface="Lucida Sans Unicode"/>
              </a:rPr>
              <a:t>effect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4336" y="4854574"/>
            <a:ext cx="146494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14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baseline="-14492" sz="1725">
              <a:latin typeface="Trebuchet MS"/>
              <a:cs typeface="Trebuchet MS"/>
            </a:endParaRPr>
          </a:p>
          <a:p>
            <a:pPr algn="ctr" marL="5715">
              <a:lnSpc>
                <a:spcPts val="1480"/>
              </a:lnSpc>
            </a:pP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ts val="1280"/>
              </a:lnSpc>
              <a:spcBef>
                <a:spcPts val="35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component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6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">
                <a:latin typeface="Roboto Condensed"/>
                <a:cs typeface="Roboto Condensed"/>
              </a:rPr>
              <a:t>Triple </a:t>
            </a:r>
            <a:r>
              <a:rPr dirty="0" sz="3350" spc="10">
                <a:latin typeface="Roboto Condensed"/>
                <a:cs typeface="Roboto Condensed"/>
              </a:rPr>
              <a:t>Exponential Smoothing (Holt-Winters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[Add])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842899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component is usually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expressed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</a:t>
            </a: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6666" sz="1875" spc="30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2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30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4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6666" sz="1875" spc="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4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6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67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800" spc="45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Substitute in for </a:t>
            </a:r>
            <a:r>
              <a:rPr dirty="0" sz="1800" spc="-8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800" spc="-8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367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8888" sz="1875" spc="-7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5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00">
                <a:solidFill>
                  <a:srgbClr val="585D60"/>
                </a:solidFill>
                <a:latin typeface="Lucida Sans Unicode"/>
                <a:cs typeface="Lucida Sans Unicode"/>
              </a:rPr>
              <a:t>)(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217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8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18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3333" sz="1875" spc="14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[1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8888" sz="1875" spc="-7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5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80">
                <a:solidFill>
                  <a:srgbClr val="585D60"/>
                </a:solidFill>
                <a:latin typeface="Lucida Sans Unicode"/>
                <a:cs typeface="Lucida Sans Unicode"/>
              </a:rPr>
              <a:t>)]</a:t>
            </a:r>
            <a:r>
              <a:rPr dirty="0" sz="1650" spc="80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12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20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baseline="-14492" sz="1725">
              <a:latin typeface="Trebuchet MS"/>
              <a:cs typeface="Trebuchet MS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 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8888" sz="1875" spc="-7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50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2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2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12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usual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parameter restriction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650" spc="-7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6666" sz="1875" spc="-112">
                <a:solidFill>
                  <a:srgbClr val="585D60"/>
                </a:solidFill>
                <a:latin typeface="Lucida Sans Unicode"/>
                <a:cs typeface="Lucida Sans Unicode"/>
              </a:rPr>
              <a:t>∗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12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which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translates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2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2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12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6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">
                <a:latin typeface="Roboto Condensed"/>
                <a:cs typeface="Roboto Condensed"/>
              </a:rPr>
              <a:t>Triple </a:t>
            </a:r>
            <a:r>
              <a:rPr dirty="0" sz="3350" spc="10">
                <a:latin typeface="Roboto Condensed"/>
                <a:cs typeface="Roboto Condensed"/>
              </a:rPr>
              <a:t>Exponential Smoothing (Holt-Winters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[Add])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9042" y="1504210"/>
            <a:ext cx="9577937" cy="443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064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">
                <a:latin typeface="Roboto Condensed"/>
                <a:cs typeface="Roboto Condensed"/>
              </a:rPr>
              <a:t>Triple </a:t>
            </a:r>
            <a:r>
              <a:rPr dirty="0" sz="3350" spc="10">
                <a:latin typeface="Roboto Condensed"/>
                <a:cs typeface="Roboto Condensed"/>
              </a:rPr>
              <a:t>Exponential Smoothing (Holt-Winters</a:t>
            </a:r>
            <a:r>
              <a:rPr dirty="0" sz="3350" spc="30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[Mult])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6704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variations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change in proportion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level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6641" y="1997075"/>
            <a:ext cx="1532890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baseline="16835" sz="2475" spc="-20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20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  <a:p>
            <a:pPr algn="ctr" marL="5080">
              <a:lnSpc>
                <a:spcPts val="136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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 </a:t>
            </a: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at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time</a:t>
            </a:r>
            <a:r>
              <a:rPr dirty="0" sz="1250" spc="-2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3561" y="1930400"/>
            <a:ext cx="170243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2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800" spc="-75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112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25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35" i="1">
                <a:solidFill>
                  <a:srgbClr val="585D60"/>
                </a:solidFill>
                <a:latin typeface="Trebuchet MS"/>
                <a:cs typeface="Trebuchet MS"/>
              </a:rPr>
              <a:t>hb</a:t>
            </a:r>
            <a:r>
              <a:rPr dirty="0" baseline="-14492" sz="1725" spc="5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800" spc="3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60350">
              <a:lnSpc>
                <a:spcPts val="1475"/>
              </a:lnSpc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</a:t>
            </a:r>
            <a:endParaRPr sz="1350">
              <a:latin typeface="Arial"/>
              <a:cs typeface="Arial"/>
            </a:endParaRPr>
          </a:p>
          <a:p>
            <a:pPr algn="ctr" marL="306070" marR="43180">
              <a:lnSpc>
                <a:spcPts val="1280"/>
              </a:lnSpc>
              <a:spcBef>
                <a:spcPts val="355"/>
              </a:spcBef>
            </a:pP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Trend 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(Growth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Adjusted)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4397" y="1978025"/>
            <a:ext cx="1380490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05"/>
              </a:lnSpc>
              <a:spcBef>
                <a:spcPts val="100"/>
              </a:spcBef>
            </a:pPr>
            <a:r>
              <a:rPr dirty="0" baseline="10802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×</a:t>
            </a:r>
            <a:r>
              <a:rPr dirty="0" baseline="10802" sz="2700" spc="-3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1784" sz="2475" spc="67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k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+1)</a:t>
            </a:r>
            <a:endParaRPr sz="1250">
              <a:latin typeface="Lucida Sans Unicode"/>
              <a:cs typeface="Lucida Sans Unicode"/>
            </a:endParaRPr>
          </a:p>
          <a:p>
            <a:pPr algn="ctr" marL="233679">
              <a:lnSpc>
                <a:spcPts val="1365"/>
              </a:lnSpc>
            </a:pP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503555" marR="266065">
              <a:lnSpc>
                <a:spcPct val="70000"/>
              </a:lnSpc>
              <a:spcBef>
                <a:spcPts val="655"/>
              </a:spcBef>
            </a:pPr>
            <a:r>
              <a:rPr dirty="0" sz="1250" spc="3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o</a:t>
            </a:r>
            <a:r>
              <a:rPr dirty="0" sz="1250" spc="-70">
                <a:solidFill>
                  <a:srgbClr val="585D60"/>
                </a:solidFill>
                <a:latin typeface="Lucida Sans Unicode"/>
                <a:cs typeface="Lucida Sans Unicode"/>
              </a:rPr>
              <a:t>n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l  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Effect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910" y="3101974"/>
            <a:ext cx="121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1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26308" y="3210367"/>
            <a:ext cx="83820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4676" y="3278186"/>
            <a:ext cx="1359535" cy="60579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285"/>
              </a:spcBef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ct val="70000"/>
              </a:lnSpc>
              <a:spcBef>
                <a:spcPts val="65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8961" y="3101974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79007" y="3120034"/>
            <a:ext cx="17208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16936" y="3197605"/>
            <a:ext cx="944244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66115" algn="l"/>
              </a:tabLst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85991" y="3101974"/>
            <a:ext cx="2175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0025" algn="l"/>
                <a:tab pos="2073275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)(</a:t>
            </a:r>
            <a:r>
              <a:rPr dirty="0" sz="1800" spc="-31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sz="180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5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	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9948" y="3316816"/>
            <a:ext cx="1934845" cy="6242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431800" marR="429895">
              <a:lnSpc>
                <a:spcPts val="1350"/>
              </a:lnSpc>
              <a:spcBef>
                <a:spcPts val="30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2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19276" y="4205884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3561" y="3459691"/>
            <a:ext cx="1793875" cy="15767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653415">
              <a:lnSpc>
                <a:spcPct val="100000"/>
              </a:lnSpc>
              <a:spcBef>
                <a:spcPts val="204"/>
              </a:spcBef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</a:t>
            </a:r>
            <a:endParaRPr sz="1350">
              <a:latin typeface="Arial"/>
              <a:cs typeface="Arial"/>
            </a:endParaRPr>
          </a:p>
          <a:p>
            <a:pPr marL="425450" marR="108585" indent="-119380">
              <a:lnSpc>
                <a:spcPts val="1350"/>
              </a:lnSpc>
              <a:spcBef>
                <a:spcPts val="300"/>
              </a:spcBef>
            </a:pP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Seasonally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adjusted  </a:t>
            </a:r>
            <a:r>
              <a:rPr dirty="0" sz="1250" spc="-85">
                <a:solidFill>
                  <a:srgbClr val="585D60"/>
                </a:solidFill>
                <a:latin typeface="Lucida Sans Unicode"/>
                <a:cs typeface="Lucida Sans Unicode"/>
              </a:rPr>
              <a:t>new</a:t>
            </a:r>
            <a:r>
              <a:rPr dirty="0" sz="125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observation</a:t>
            </a:r>
            <a:endParaRPr sz="1250">
              <a:latin typeface="Lucida Sans Unicode"/>
              <a:cs typeface="Lucida Sans Unicode"/>
            </a:endParaRPr>
          </a:p>
          <a:p>
            <a:pPr algn="ctr">
              <a:lnSpc>
                <a:spcPts val="2020"/>
              </a:lnSpc>
              <a:spcBef>
                <a:spcPts val="1005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3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17145">
              <a:lnSpc>
                <a:spcPts val="1475"/>
              </a:lnSpc>
            </a:pPr>
            <a:r>
              <a:rPr dirty="0" sz="1350" spc="-509">
                <a:solidFill>
                  <a:srgbClr val="585D60"/>
                </a:solidFill>
                <a:latin typeface="Arial"/>
                <a:cs typeface="Arial"/>
              </a:rPr>
              <a:t></a:t>
            </a:r>
            <a:endParaRPr sz="1350">
              <a:latin typeface="Arial"/>
              <a:cs typeface="Arial"/>
            </a:endParaRPr>
          </a:p>
          <a:p>
            <a:pPr marL="377825" marR="285750" indent="-71755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change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endParaRPr baseline="27777" sz="13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38874" y="4187824"/>
            <a:ext cx="1459230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3333" sz="1875">
              <a:latin typeface="Lucida Sans Unicode"/>
              <a:cs typeface="Lucida Sans Unicode"/>
            </a:endParaRPr>
          </a:p>
          <a:p>
            <a:pPr algn="ctr" marL="1905">
              <a:lnSpc>
                <a:spcPts val="147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22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-1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1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19276" y="5263159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seasonality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8961" y="5245099"/>
            <a:ext cx="582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1484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37595" y="5621866"/>
            <a:ext cx="1787525" cy="6242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204"/>
              </a:spcBef>
            </a:pP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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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585D60"/>
                </a:solidFill>
                <a:latin typeface="Lucida Sans Unicode"/>
                <a:cs typeface="Lucida Sans Unicode"/>
              </a:rPr>
              <a:t>adjustment 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1562" y="5245099"/>
            <a:ext cx="20910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14"/>
              </a:lnSpc>
              <a:spcBef>
                <a:spcPts val="100"/>
              </a:spcBef>
              <a:tabLst>
                <a:tab pos="598170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	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baseline="-14492" sz="1725">
              <a:latin typeface="Trebuchet MS"/>
              <a:cs typeface="Trebuchet MS"/>
            </a:endParaRPr>
          </a:p>
          <a:p>
            <a:pPr algn="ctr" marL="248920">
              <a:lnSpc>
                <a:spcPts val="1480"/>
              </a:lnSpc>
            </a:pPr>
            <a:r>
              <a:rPr dirty="0" sz="1350" spc="-470">
                <a:solidFill>
                  <a:srgbClr val="585D60"/>
                </a:solidFill>
                <a:latin typeface="Arial"/>
                <a:cs typeface="Arial"/>
              </a:rPr>
              <a:t></a:t>
            </a:r>
            <a:endParaRPr sz="1350">
              <a:latin typeface="Arial"/>
              <a:cs typeface="Arial"/>
            </a:endParaRPr>
          </a:p>
          <a:p>
            <a:pPr algn="ctr" marL="293370" marR="43180">
              <a:lnSpc>
                <a:spcPts val="1350"/>
              </a:lnSpc>
              <a:spcBef>
                <a:spcPts val="300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component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79987" y="2958109"/>
            <a:ext cx="24701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3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8572" y="3301009"/>
            <a:ext cx="5099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6734" sz="2475" spc="112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7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267324" y="3281362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 h="0">
                <a:moveTo>
                  <a:pt x="0" y="0"/>
                </a:moveTo>
                <a:lnTo>
                  <a:pt x="48577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64385" y="5110759"/>
            <a:ext cx="24701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3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53607" y="5435599"/>
            <a:ext cx="1280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9259" sz="2700" spc="-12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sz="1150" spc="-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80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baseline="9259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9259" sz="2700" spc="-56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0101" sz="2475" spc="-37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9259" sz="2700" spc="-37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baseline="9259" sz="27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76824" y="5424487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 h="0">
                <a:moveTo>
                  <a:pt x="0" y="0"/>
                </a:moveTo>
                <a:lnTo>
                  <a:pt x="12382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21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Summary </a:t>
            </a:r>
            <a:r>
              <a:rPr dirty="0" sz="3350" spc="10">
                <a:latin typeface="Roboto Condensed"/>
                <a:cs typeface="Roboto Condensed"/>
              </a:rPr>
              <a:t>of Main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Points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43610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the mathematical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background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exponential smoothing methods,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including: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Simple Exponential Smoothing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(SES)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Double Exponential Smoothing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(Holt)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Triple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Exponential Smoothing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(Holt-Winters)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Implement these exponential smoothing methods in Python using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StatsForecast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195">
                <a:latin typeface="Arial"/>
                <a:cs typeface="Arial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Review </a:t>
            </a:r>
            <a:r>
              <a:rPr dirty="0" sz="3350" spc="10">
                <a:latin typeface="Roboto Condensed"/>
                <a:cs typeface="Roboto Condensed"/>
              </a:rPr>
              <a:t>and </a:t>
            </a:r>
            <a:r>
              <a:rPr dirty="0" sz="3350" spc="-5">
                <a:latin typeface="Roboto Condensed"/>
                <a:cs typeface="Roboto Condensed"/>
              </a:rPr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325755" algn="l"/>
              </a:tabLst>
            </a:pP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pc="-5"/>
              <a:t>: </a:t>
            </a:r>
            <a:r>
              <a:rPr dirty="0" spc="-30"/>
              <a:t>Take </a:t>
            </a:r>
            <a:r>
              <a:rPr dirty="0"/>
              <a:t>some time </a:t>
            </a:r>
            <a:r>
              <a:rPr dirty="0" spc="-10"/>
              <a:t>to </a:t>
            </a:r>
            <a:r>
              <a:rPr dirty="0" spc="-5"/>
              <a:t>revisit your </a:t>
            </a:r>
            <a:r>
              <a:rPr dirty="0"/>
              <a:t>class notes for </a:t>
            </a:r>
            <a:r>
              <a:rPr dirty="0" spc="-15"/>
              <a:t>key </a:t>
            </a:r>
            <a:r>
              <a:rPr dirty="0"/>
              <a:t>insights and</a:t>
            </a:r>
            <a:r>
              <a:rPr dirty="0" spc="30"/>
              <a:t> </a:t>
            </a:r>
            <a:r>
              <a:rPr dirty="0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325755" algn="l"/>
              </a:tabLst>
            </a:pP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pc="-5"/>
              <a:t>: </a:t>
            </a:r>
            <a:r>
              <a:rPr dirty="0"/>
              <a:t>The </a:t>
            </a:r>
            <a:r>
              <a:rPr dirty="0" spc="-5"/>
              <a:t>recording </a:t>
            </a:r>
            <a:r>
              <a:rPr dirty="0"/>
              <a:t>of </a:t>
            </a:r>
            <a:r>
              <a:rPr dirty="0" spc="-15"/>
              <a:t>today's </a:t>
            </a:r>
            <a:r>
              <a:rPr dirty="0"/>
              <a:t>class will be made </a:t>
            </a:r>
            <a:r>
              <a:rPr dirty="0" spc="-5"/>
              <a:t>available </a:t>
            </a:r>
            <a:r>
              <a:rPr dirty="0"/>
              <a:t>on </a:t>
            </a:r>
            <a:r>
              <a:rPr dirty="0" spc="-5"/>
              <a:t>Canvas  approximately </a:t>
            </a:r>
            <a:r>
              <a:rPr dirty="0"/>
              <a:t>3-4 hours after the session ends.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325755" algn="l"/>
              </a:tabLst>
            </a:pP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pc="-5"/>
              <a:t>: </a:t>
            </a:r>
            <a:r>
              <a:rPr dirty="0"/>
              <a:t>Please </a:t>
            </a:r>
            <a:r>
              <a:rPr dirty="0" spc="-20"/>
              <a:t>don't </a:t>
            </a:r>
            <a:r>
              <a:rPr dirty="0"/>
              <a:t>hesitate </a:t>
            </a:r>
            <a:r>
              <a:rPr dirty="0" spc="-10"/>
              <a:t>to </a:t>
            </a:r>
            <a:r>
              <a:rPr dirty="0"/>
              <a:t>ask for </a:t>
            </a:r>
            <a:r>
              <a:rPr dirty="0" spc="-5"/>
              <a:t>clarification </a:t>
            </a:r>
            <a:r>
              <a:rPr dirty="0"/>
              <a:t>on any </a:t>
            </a:r>
            <a:r>
              <a:rPr dirty="0" spc="-5"/>
              <a:t>topics </a:t>
            </a:r>
            <a:r>
              <a:rPr dirty="0"/>
              <a:t>discussed in class. </a:t>
            </a:r>
            <a:r>
              <a:rPr dirty="0" spc="-20"/>
              <a:t>It's  </a:t>
            </a:r>
            <a:r>
              <a:rPr dirty="0"/>
              <a:t>crucial not </a:t>
            </a:r>
            <a:r>
              <a:rPr dirty="0" spc="-10"/>
              <a:t>to </a:t>
            </a:r>
            <a:r>
              <a:rPr dirty="0"/>
              <a:t>let questions</a:t>
            </a:r>
            <a:r>
              <a:rPr dirty="0" spc="5"/>
              <a:t> </a:t>
            </a:r>
            <a:r>
              <a:rPr dirty="0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444/5444: Business Forecasting</dc:title>
  <dcterms:created xsi:type="dcterms:W3CDTF">2025-10-06T14:15:22Z</dcterms:created>
  <dcterms:modified xsi:type="dcterms:W3CDTF">2025-10-06T14:15:22Z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2025-10-06T00:00:00Z</vt:filetime>
  </property>
  <property fmtid="{D5CDD505-2E9C-101B-9397-08002B2CF9AE}" pid="3" name="Creator">
    <vt:lpwstr>Mozilla/5.0 (Windows NT 10.0; Win64; x64) AppleWebKit/537.36 (KHTML, like Gecko) Chrome/140.0.0.0 Safari/537.36</vt:lpwstr>
  </property>
  <property fmtid="{D5CDD505-2E9C-101B-9397-08002B2CF9AE}" pid="4" name="LastSaved">
    <vt:filetime>2025-10-06T00:00:00Z</vt:filetime>
  </property>
</Properties>
</file>