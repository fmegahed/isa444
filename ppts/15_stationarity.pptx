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1531600" cy="6489700"/>
  <p:notesSz cx="11531600" cy="6489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1700" y="530225"/>
            <a:ext cx="9728200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29740" y="3634232"/>
            <a:ext cx="8072120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6580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938774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57535" y="1920875"/>
            <a:ext cx="9216529" cy="1177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9605" y="1425575"/>
            <a:ext cx="9592389" cy="1814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920744" y="6035421"/>
            <a:ext cx="3690112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6580" y="6035421"/>
            <a:ext cx="2652268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853587" y="6218137"/>
            <a:ext cx="532129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witter.com/FadelMegahed" TargetMode="External"/><Relationship Id="rId3" Type="http://schemas.openxmlformats.org/officeDocument/2006/relationships/hyperlink" Target="https://github.com/fmegahed/" TargetMode="External"/><Relationship Id="rId4" Type="http://schemas.openxmlformats.org/officeDocument/2006/relationships/hyperlink" Target="mailto:fmegahed@miamioh.edu" TargetMode="External"/><Relationship Id="rId5" Type="http://schemas.openxmlformats.org/officeDocument/2006/relationships/hyperlink" Target="https://calendly.com/fmegahed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tatsmodels.org/stable/generated/statsmodels.tsa.stattools.adfuller.html" TargetMode="Externa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tatsmodels.org/stable/generated/statsmodels.tsa.stattools.kpss.html" TargetMode="Externa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verse.nixtla.io/coreforecast/differences" TargetMode="Externa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raw.githubusercontent.com/fmegahed/isa444/refs/heads/main/data/airpassengers.csv" TargetMode="Externa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1198165"/>
            <a:ext cx="7611109" cy="1139190"/>
          </a:xfrm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3350" spc="5"/>
              <a:t>ISA </a:t>
            </a:r>
            <a:r>
              <a:rPr dirty="0" sz="3350" spc="-190"/>
              <a:t>444/544: </a:t>
            </a:r>
            <a:r>
              <a:rPr dirty="0" sz="3350" spc="-45"/>
              <a:t>Business</a:t>
            </a:r>
            <a:r>
              <a:rPr dirty="0" sz="3350" spc="-520"/>
              <a:t> </a:t>
            </a:r>
            <a:r>
              <a:rPr dirty="0" sz="3350" spc="-150"/>
              <a:t>Forecasting</a:t>
            </a:r>
            <a:endParaRPr sz="3350"/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3000">
                <a:latin typeface="Times New Roman"/>
                <a:cs typeface="Times New Roman"/>
              </a:rPr>
              <a:t>15: </a:t>
            </a:r>
            <a:r>
              <a:rPr dirty="0" sz="3000" spc="-15">
                <a:latin typeface="Times New Roman"/>
                <a:cs typeface="Times New Roman"/>
              </a:rPr>
              <a:t>Stationarity, </a:t>
            </a:r>
            <a:r>
              <a:rPr dirty="0" sz="3000" spc="-5">
                <a:latin typeface="Times New Roman"/>
                <a:cs typeface="Times New Roman"/>
              </a:rPr>
              <a:t>Differencing </a:t>
            </a:r>
            <a:r>
              <a:rPr dirty="0" sz="3000">
                <a:latin typeface="Times New Roman"/>
                <a:cs typeface="Times New Roman"/>
              </a:rPr>
              <a:t>and Unit Root</a:t>
            </a:r>
            <a:r>
              <a:rPr dirty="0" sz="3000" spc="-114">
                <a:latin typeface="Times New Roman"/>
                <a:cs typeface="Times New Roman"/>
              </a:rPr>
              <a:t> </a:t>
            </a:r>
            <a:r>
              <a:rPr dirty="0" sz="3000" spc="-45">
                <a:latin typeface="Times New Roman"/>
                <a:cs typeface="Times New Roman"/>
              </a:rPr>
              <a:t>Tests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873375"/>
            <a:ext cx="4276725" cy="3311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Fadel M. Megahed,</a:t>
            </a:r>
            <a:r>
              <a:rPr dirty="0" sz="18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PhD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ts val="216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Professor</a:t>
            </a:r>
            <a:endParaRPr sz="1850">
              <a:latin typeface="Arial"/>
              <a:cs typeface="Arial"/>
            </a:endParaRPr>
          </a:p>
          <a:p>
            <a:pPr marL="12700" marR="1397000">
              <a:lnSpc>
                <a:spcPts val="2030"/>
              </a:lnSpc>
              <a:spcBef>
                <a:spcPts val="16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Farmer School of</a:t>
            </a:r>
            <a:r>
              <a:rPr dirty="0" sz="185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  Miami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Arial"/>
              <a:cs typeface="Arial"/>
            </a:endParaRPr>
          </a:p>
          <a:p>
            <a:pPr marL="309245" marR="1287145" indent="6985">
              <a:lnSpc>
                <a:spcPct val="103000"/>
              </a:lnSpc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2"/>
              </a:rPr>
              <a:t>@FadelMegahed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3"/>
              </a:rPr>
              <a:t>fmegahed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4"/>
              </a:rPr>
              <a:t>fmegahed@miamioh.edu</a:t>
            </a:r>
            <a:endParaRPr sz="185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105"/>
              </a:spcBef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Automated Scheduler </a:t>
            </a:r>
            <a:r>
              <a:rPr dirty="0" sz="1850" spc="5">
                <a:solidFill>
                  <a:srgbClr val="83D5D3"/>
                </a:solidFill>
                <a:latin typeface="Arial"/>
                <a:cs typeface="Arial"/>
                <a:hlinkClick r:id="rId5"/>
              </a:rPr>
              <a:t>for Office</a:t>
            </a:r>
            <a:r>
              <a:rPr dirty="0" sz="1850" spc="-2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Hours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Fall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endParaRPr sz="18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4537212"/>
            <a:ext cx="238124" cy="193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4804320"/>
            <a:ext cx="230683" cy="225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29" y="5095881"/>
            <a:ext cx="237909" cy="2378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24888" y="5381624"/>
            <a:ext cx="165083" cy="2381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3290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70">
                <a:solidFill>
                  <a:srgbClr val="C2132D"/>
                </a:solidFill>
              </a:rPr>
              <a:t>Learning </a:t>
            </a:r>
            <a:r>
              <a:rPr dirty="0" sz="3350" spc="-204">
                <a:solidFill>
                  <a:srgbClr val="C2132D"/>
                </a:solidFill>
              </a:rPr>
              <a:t>Objectives </a:t>
            </a:r>
            <a:r>
              <a:rPr dirty="0" sz="3350" spc="-185">
                <a:solidFill>
                  <a:srgbClr val="C2132D"/>
                </a:solidFill>
              </a:rPr>
              <a:t>for </a:t>
            </a:r>
            <a:r>
              <a:rPr dirty="0" sz="3350" spc="-135">
                <a:solidFill>
                  <a:srgbClr val="C2132D"/>
                </a:solidFill>
              </a:rPr>
              <a:t>Today's</a:t>
            </a:r>
            <a:r>
              <a:rPr dirty="0" sz="3350" spc="-495">
                <a:solidFill>
                  <a:srgbClr val="C2132D"/>
                </a:solidFill>
              </a:rPr>
              <a:t> </a:t>
            </a:r>
            <a:r>
              <a:rPr dirty="0" sz="3350" spc="-20">
                <a:solidFill>
                  <a:srgbClr val="C2132D"/>
                </a:solidFill>
              </a:rPr>
              <a:t>Class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8797925" cy="1928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Define a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stationary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time</a:t>
            </a:r>
            <a:r>
              <a:rPr dirty="0" sz="1800" spc="-22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Trebuchet MS"/>
                <a:cs typeface="Trebuchet MS"/>
              </a:rPr>
              <a:t>series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Understand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how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plotting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techniques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can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help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identify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non-stationarity.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Understand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how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we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can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stabilize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a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non-stationary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time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series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to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achieve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stationarity</a:t>
            </a:r>
            <a:endParaRPr sz="1800">
              <a:latin typeface="Trebuchet MS"/>
              <a:cs typeface="Trebuchet MS"/>
            </a:endParaRPr>
          </a:p>
          <a:p>
            <a:pPr marL="146050">
              <a:lnSpc>
                <a:spcPct val="100000"/>
              </a:lnSpc>
              <a:spcBef>
                <a:spcPts val="315"/>
              </a:spcBef>
            </a:pP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(differencing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stabilize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mean,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log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transformation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stabilize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variance).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Understand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how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use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unit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root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5" b="1">
                <a:solidFill>
                  <a:srgbClr val="C2132D"/>
                </a:solidFill>
                <a:latin typeface="Trebuchet MS"/>
                <a:cs typeface="Trebuchet MS"/>
              </a:rPr>
              <a:t>tests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test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stationarity.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2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33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6328" y="2758440"/>
            <a:ext cx="4749165" cy="1042669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49554">
              <a:lnSpc>
                <a:spcPct val="100000"/>
              </a:lnSpc>
              <a:spcBef>
                <a:spcPts val="1105"/>
              </a:spcBef>
            </a:pPr>
            <a:r>
              <a:rPr dirty="0" spc="-1340">
                <a:solidFill>
                  <a:srgbClr val="000000"/>
                </a:solidFill>
              </a:rPr>
              <a:t>W</a:t>
            </a:r>
            <a:r>
              <a:rPr dirty="0" spc="-1340"/>
              <a:t>W</a:t>
            </a:r>
            <a:r>
              <a:rPr dirty="0" spc="-1340">
                <a:solidFill>
                  <a:srgbClr val="000000"/>
                </a:solidFill>
              </a:rPr>
              <a:t>h</a:t>
            </a:r>
            <a:r>
              <a:rPr dirty="0" spc="-1340"/>
              <a:t>h</a:t>
            </a:r>
            <a:r>
              <a:rPr dirty="0" spc="-1340">
                <a:solidFill>
                  <a:srgbClr val="000000"/>
                </a:solidFill>
              </a:rPr>
              <a:t>a</a:t>
            </a:r>
            <a:r>
              <a:rPr dirty="0" spc="-1340"/>
              <a:t>a</a:t>
            </a:r>
            <a:r>
              <a:rPr dirty="0" spc="-1340">
                <a:solidFill>
                  <a:srgbClr val="000000"/>
                </a:solidFill>
              </a:rPr>
              <a:t>t</a:t>
            </a:r>
            <a:r>
              <a:rPr dirty="0" spc="-1340"/>
              <a:t>t</a:t>
            </a:r>
            <a:r>
              <a:rPr dirty="0" spc="-295"/>
              <a:t> </a:t>
            </a:r>
            <a:r>
              <a:rPr dirty="0" spc="-710">
                <a:solidFill>
                  <a:srgbClr val="000000"/>
                </a:solidFill>
              </a:rPr>
              <a:t>i</a:t>
            </a:r>
            <a:r>
              <a:rPr dirty="0" spc="-710"/>
              <a:t>i</a:t>
            </a:r>
            <a:r>
              <a:rPr dirty="0" spc="-710">
                <a:solidFill>
                  <a:srgbClr val="000000"/>
                </a:solidFill>
              </a:rPr>
              <a:t>s</a:t>
            </a:r>
            <a:r>
              <a:rPr dirty="0" spc="-710"/>
              <a:t>s</a:t>
            </a:r>
            <a:r>
              <a:rPr dirty="0" spc="-290"/>
              <a:t> </a:t>
            </a:r>
            <a:r>
              <a:rPr dirty="0" spc="-990">
                <a:solidFill>
                  <a:srgbClr val="000000"/>
                </a:solidFill>
              </a:rPr>
              <a:t>S</a:t>
            </a:r>
            <a:r>
              <a:rPr dirty="0" spc="-990"/>
              <a:t>S</a:t>
            </a:r>
            <a:r>
              <a:rPr dirty="0" spc="-990">
                <a:solidFill>
                  <a:srgbClr val="000000"/>
                </a:solidFill>
              </a:rPr>
              <a:t>t</a:t>
            </a:r>
            <a:r>
              <a:rPr dirty="0" spc="-990"/>
              <a:t>t</a:t>
            </a:r>
            <a:r>
              <a:rPr dirty="0" spc="-990">
                <a:solidFill>
                  <a:srgbClr val="000000"/>
                </a:solidFill>
              </a:rPr>
              <a:t>a</a:t>
            </a:r>
            <a:r>
              <a:rPr dirty="0" spc="-990"/>
              <a:t>a</a:t>
            </a:r>
            <a:r>
              <a:rPr dirty="0" spc="-990">
                <a:solidFill>
                  <a:srgbClr val="000000"/>
                </a:solidFill>
              </a:rPr>
              <a:t>t</a:t>
            </a:r>
            <a:r>
              <a:rPr dirty="0" spc="-990"/>
              <a:t>t</a:t>
            </a:r>
            <a:r>
              <a:rPr dirty="0" spc="-990">
                <a:solidFill>
                  <a:srgbClr val="000000"/>
                </a:solidFill>
              </a:rPr>
              <a:t>i</a:t>
            </a:r>
            <a:r>
              <a:rPr dirty="0" spc="-990"/>
              <a:t>i</a:t>
            </a:r>
            <a:r>
              <a:rPr dirty="0" spc="-990">
                <a:solidFill>
                  <a:srgbClr val="000000"/>
                </a:solidFill>
              </a:rPr>
              <a:t>o</a:t>
            </a:r>
            <a:r>
              <a:rPr dirty="0" spc="-990"/>
              <a:t>o</a:t>
            </a:r>
            <a:r>
              <a:rPr dirty="0" spc="-990">
                <a:solidFill>
                  <a:srgbClr val="000000"/>
                </a:solidFill>
              </a:rPr>
              <a:t>n</a:t>
            </a:r>
            <a:r>
              <a:rPr dirty="0" spc="-990"/>
              <a:t>n</a:t>
            </a:r>
            <a:r>
              <a:rPr dirty="0" spc="-990">
                <a:solidFill>
                  <a:srgbClr val="000000"/>
                </a:solidFill>
              </a:rPr>
              <a:t>a</a:t>
            </a:r>
            <a:r>
              <a:rPr dirty="0" spc="-990"/>
              <a:t>a</a:t>
            </a:r>
            <a:r>
              <a:rPr dirty="0" spc="-990">
                <a:solidFill>
                  <a:srgbClr val="000000"/>
                </a:solidFill>
              </a:rPr>
              <a:t>r</a:t>
            </a:r>
            <a:r>
              <a:rPr dirty="0" spc="-990"/>
              <a:t>r</a:t>
            </a:r>
            <a:r>
              <a:rPr dirty="0" spc="-990">
                <a:solidFill>
                  <a:srgbClr val="000000"/>
                </a:solidFill>
              </a:rPr>
              <a:t>i</a:t>
            </a:r>
            <a:r>
              <a:rPr dirty="0" spc="-990"/>
              <a:t>i</a:t>
            </a:r>
            <a:r>
              <a:rPr dirty="0" spc="-990">
                <a:solidFill>
                  <a:srgbClr val="000000"/>
                </a:solidFill>
              </a:rPr>
              <a:t>t</a:t>
            </a:r>
            <a:r>
              <a:rPr dirty="0" spc="-990"/>
              <a:t>t</a:t>
            </a:r>
            <a:r>
              <a:rPr dirty="0" spc="-990">
                <a:solidFill>
                  <a:srgbClr val="000000"/>
                </a:solidFill>
              </a:rPr>
              <a:t>y</a:t>
            </a:r>
            <a:r>
              <a:rPr dirty="0" spc="-990"/>
              <a:t>y</a:t>
            </a:r>
            <a:r>
              <a:rPr dirty="0" spc="-990">
                <a:solidFill>
                  <a:srgbClr val="000000"/>
                </a:solidFill>
              </a:rPr>
              <a:t>?</a:t>
            </a:r>
            <a:r>
              <a:rPr dirty="0" spc="-990"/>
              <a:t>?</a:t>
            </a:r>
          </a:p>
        </p:txBody>
      </p:sp>
      <p:sp>
        <p:nvSpPr>
          <p:cNvPr id="3" name="object 3"/>
          <p:cNvSpPr/>
          <p:nvPr/>
        </p:nvSpPr>
        <p:spPr>
          <a:xfrm>
            <a:off x="10716767" y="5995415"/>
            <a:ext cx="808990" cy="491490"/>
          </a:xfrm>
          <a:custGeom>
            <a:avLst/>
            <a:gdLst/>
            <a:ahLst/>
            <a:cxnLst/>
            <a:rect l="l" t="t" r="r" b="b"/>
            <a:pathLst>
              <a:path w="808990" h="491489">
                <a:moveTo>
                  <a:pt x="0" y="0"/>
                </a:moveTo>
                <a:lnTo>
                  <a:pt x="808481" y="0"/>
                </a:lnTo>
                <a:lnTo>
                  <a:pt x="808481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1200" spc="-2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428750"/>
            <a:ext cx="9696450" cy="1257300"/>
          </a:xfrm>
          <a:custGeom>
            <a:avLst/>
            <a:gdLst/>
            <a:ahLst/>
            <a:cxnLst/>
            <a:rect l="l" t="t" r="r" b="b"/>
            <a:pathLst>
              <a:path w="9696450" h="1257300">
                <a:moveTo>
                  <a:pt x="9553574" y="1257299"/>
                </a:moveTo>
                <a:lnTo>
                  <a:pt x="142874" y="1257299"/>
                </a:lnTo>
                <a:lnTo>
                  <a:pt x="135855" y="1257128"/>
                </a:lnTo>
                <a:lnTo>
                  <a:pt x="94749" y="1248951"/>
                </a:lnTo>
                <a:lnTo>
                  <a:pt x="57756" y="1229178"/>
                </a:lnTo>
                <a:lnTo>
                  <a:pt x="28120" y="1199542"/>
                </a:lnTo>
                <a:lnTo>
                  <a:pt x="8348" y="1162549"/>
                </a:lnTo>
                <a:lnTo>
                  <a:pt x="171" y="1121443"/>
                </a:lnTo>
                <a:lnTo>
                  <a:pt x="0" y="1114424"/>
                </a:lnTo>
                <a:lnTo>
                  <a:pt x="0" y="142874"/>
                </a:lnTo>
                <a:lnTo>
                  <a:pt x="6150" y="101400"/>
                </a:lnTo>
                <a:lnTo>
                  <a:pt x="24078" y="63497"/>
                </a:lnTo>
                <a:lnTo>
                  <a:pt x="52234" y="32429"/>
                </a:lnTo>
                <a:lnTo>
                  <a:pt x="88198" y="10875"/>
                </a:lnTo>
                <a:lnTo>
                  <a:pt x="128870" y="686"/>
                </a:lnTo>
                <a:lnTo>
                  <a:pt x="142874" y="0"/>
                </a:lnTo>
                <a:lnTo>
                  <a:pt x="9553574" y="0"/>
                </a:lnTo>
                <a:lnTo>
                  <a:pt x="9595047" y="6150"/>
                </a:lnTo>
                <a:lnTo>
                  <a:pt x="9632951" y="24078"/>
                </a:lnTo>
                <a:lnTo>
                  <a:pt x="9664019" y="52234"/>
                </a:lnTo>
                <a:lnTo>
                  <a:pt x="9685573" y="88198"/>
                </a:lnTo>
                <a:lnTo>
                  <a:pt x="9695763" y="128870"/>
                </a:lnTo>
                <a:lnTo>
                  <a:pt x="9696449" y="142874"/>
                </a:lnTo>
                <a:lnTo>
                  <a:pt x="9696449" y="1114424"/>
                </a:lnTo>
                <a:lnTo>
                  <a:pt x="9690298" y="1155899"/>
                </a:lnTo>
                <a:lnTo>
                  <a:pt x="9672370" y="1193802"/>
                </a:lnTo>
                <a:lnTo>
                  <a:pt x="9644214" y="1224870"/>
                </a:lnTo>
                <a:lnTo>
                  <a:pt x="9608250" y="1246423"/>
                </a:lnTo>
                <a:lnTo>
                  <a:pt x="9567577" y="1256613"/>
                </a:lnTo>
                <a:lnTo>
                  <a:pt x="9553574" y="1257299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1967864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95">
                <a:solidFill>
                  <a:srgbClr val="C2132D"/>
                </a:solidFill>
              </a:rPr>
              <a:t>Stationarity</a:t>
            </a:r>
            <a:endParaRPr sz="3350"/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4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54100" y="1669338"/>
            <a:ext cx="9078595" cy="284734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480"/>
              </a:spcBef>
            </a:pP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Definition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: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If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900" spc="215">
                <a:solidFill>
                  <a:srgbClr val="585D60"/>
                </a:solidFill>
                <a:latin typeface="Lucida Sans Unicode"/>
                <a:cs typeface="Lucida Sans Unicode"/>
              </a:rPr>
              <a:t>{</a:t>
            </a:r>
            <a:r>
              <a:rPr dirty="0" sz="1600" spc="21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4492" sz="1725" spc="322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900" spc="215">
                <a:solidFill>
                  <a:srgbClr val="585D60"/>
                </a:solidFill>
                <a:latin typeface="Lucida Sans Unicode"/>
                <a:cs typeface="Lucida Sans Unicode"/>
              </a:rPr>
              <a:t>}</a:t>
            </a:r>
            <a:r>
              <a:rPr dirty="0" sz="1900" spc="-15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stationary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time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series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then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all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55" i="1">
                <a:solidFill>
                  <a:srgbClr val="585D60"/>
                </a:solidFill>
                <a:latin typeface="Arial"/>
                <a:cs typeface="Arial"/>
              </a:rPr>
              <a:t>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distribution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900" spc="70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600" spc="7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4492" sz="1725" spc="104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900" spc="70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900" spc="-29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204">
                <a:solidFill>
                  <a:srgbClr val="585D60"/>
                </a:solidFill>
                <a:latin typeface="Lucida Sans Unicode"/>
                <a:cs typeface="Lucida Sans Unicode"/>
              </a:rPr>
              <a:t>…</a:t>
            </a:r>
            <a:r>
              <a:rPr dirty="0" sz="1900" spc="-30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5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900" spc="-29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7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4492" sz="1725" spc="104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2820" sz="1950" spc="104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baseline="-14492" sz="1725" spc="104" i="1">
                <a:solidFill>
                  <a:srgbClr val="585D60"/>
                </a:solidFill>
                <a:latin typeface="Arial"/>
                <a:cs typeface="Arial"/>
              </a:rPr>
              <a:t>s</a:t>
            </a:r>
            <a:r>
              <a:rPr dirty="0" sz="1900" spc="7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9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spcBef>
                <a:spcPts val="370"/>
              </a:spcBef>
            </a:pP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does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not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depend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on</a:t>
            </a:r>
            <a:r>
              <a:rPr dirty="0" sz="1800" spc="-2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8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800" spc="85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50">
              <a:latin typeface="Arial"/>
              <a:cs typeface="Arial"/>
            </a:endParaRPr>
          </a:p>
          <a:p>
            <a:pPr marL="241300" indent="-133985">
              <a:lnSpc>
                <a:spcPct val="100000"/>
              </a:lnSpc>
              <a:buClr>
                <a:srgbClr val="C2132D"/>
              </a:buClr>
              <a:buFont typeface="Trebuchet MS"/>
              <a:buChar char="•"/>
              <a:tabLst>
                <a:tab pos="241300" algn="l"/>
              </a:tabLst>
            </a:pP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This means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that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stationary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time</a:t>
            </a:r>
            <a:r>
              <a:rPr dirty="0" sz="1800" spc="-4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C2132D"/>
                </a:solidFill>
                <a:latin typeface="Trebuchet MS"/>
                <a:cs typeface="Trebuchet MS"/>
              </a:rPr>
              <a:t>series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lvl="1" marL="6223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622300" algn="l"/>
              </a:tabLst>
            </a:pP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roughly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horizontal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(i.e.,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no</a:t>
            </a:r>
            <a:r>
              <a:rPr dirty="0" sz="1800" spc="-28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trend)</a:t>
            </a:r>
            <a:endParaRPr sz="1800">
              <a:latin typeface="Arial"/>
              <a:cs typeface="Arial"/>
            </a:endParaRPr>
          </a:p>
          <a:p>
            <a:pPr lvl="1" marL="6223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622300" algn="l"/>
              </a:tabLst>
            </a:pP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has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constant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variance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(i.e.,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no</a:t>
            </a:r>
            <a:r>
              <a:rPr dirty="0" sz="1800" spc="-27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heteroskedasticity)</a:t>
            </a:r>
            <a:endParaRPr sz="1800">
              <a:latin typeface="Arial"/>
              <a:cs typeface="Arial"/>
            </a:endParaRPr>
          </a:p>
          <a:p>
            <a:pPr lvl="1" marL="6223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622300" algn="l"/>
              </a:tabLst>
            </a:pP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patterns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predictable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long-term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(i.e.,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seasonality)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30225"/>
            <a:ext cx="7919720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20">
                <a:solidFill>
                  <a:srgbClr val="C2132D"/>
                </a:solidFill>
                <a:latin typeface="Trebuchet MS"/>
                <a:cs typeface="Trebuchet MS"/>
              </a:rPr>
              <a:t>Class </a:t>
            </a:r>
            <a:r>
              <a:rPr dirty="0" sz="3350" spc="-229">
                <a:solidFill>
                  <a:srgbClr val="C2132D"/>
                </a:solidFill>
                <a:latin typeface="Trebuchet MS"/>
                <a:cs typeface="Trebuchet MS"/>
              </a:rPr>
              <a:t>Activity: </a:t>
            </a:r>
            <a:r>
              <a:rPr dirty="0" sz="3350" spc="-195">
                <a:solidFill>
                  <a:srgbClr val="C2132D"/>
                </a:solidFill>
                <a:latin typeface="Trebuchet MS"/>
                <a:cs typeface="Trebuchet MS"/>
              </a:rPr>
              <a:t>Stationarity </a:t>
            </a:r>
            <a:r>
              <a:rPr dirty="0" sz="3350" spc="-190">
                <a:solidFill>
                  <a:srgbClr val="C2132D"/>
                </a:solidFill>
                <a:latin typeface="Trebuchet MS"/>
                <a:cs typeface="Trebuchet MS"/>
              </a:rPr>
              <a:t>or</a:t>
            </a:r>
            <a:r>
              <a:rPr dirty="0" sz="3350" spc="-490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3350" spc="-170">
                <a:solidFill>
                  <a:srgbClr val="C2132D"/>
                </a:solidFill>
                <a:latin typeface="Trebuchet MS"/>
                <a:cs typeface="Trebuchet MS"/>
              </a:rPr>
              <a:t>Non-Stationarity?</a:t>
            </a:r>
            <a:endParaRPr sz="33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2124075"/>
            <a:ext cx="9696450" cy="0"/>
          </a:xfrm>
          <a:custGeom>
            <a:avLst/>
            <a:gdLst/>
            <a:ahLst/>
            <a:cxnLst/>
            <a:rect l="l" t="t" r="r" b="b"/>
            <a:pathLst>
              <a:path w="9696450" h="0">
                <a:moveTo>
                  <a:pt x="0" y="0"/>
                </a:moveTo>
                <a:lnTo>
                  <a:pt x="9696449" y="0"/>
                </a:lnTo>
              </a:path>
            </a:pathLst>
          </a:custGeom>
          <a:ln w="19049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07324" y="2455140"/>
            <a:ext cx="9603525" cy="36327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258175" y="1552575"/>
            <a:ext cx="1066800" cy="0"/>
          </a:xfrm>
          <a:custGeom>
            <a:avLst/>
            <a:gdLst/>
            <a:ahLst/>
            <a:cxnLst/>
            <a:rect l="l" t="t" r="r" b="b"/>
            <a:pathLst>
              <a:path w="1066800" h="0">
                <a:moveTo>
                  <a:pt x="0" y="0"/>
                </a:moveTo>
                <a:lnTo>
                  <a:pt x="106679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258175" y="2124075"/>
            <a:ext cx="1066800" cy="0"/>
          </a:xfrm>
          <a:custGeom>
            <a:avLst/>
            <a:gdLst/>
            <a:ahLst/>
            <a:cxnLst/>
            <a:rect l="l" t="t" r="r" b="b"/>
            <a:pathLst>
              <a:path w="1066800" h="0">
                <a:moveTo>
                  <a:pt x="0" y="0"/>
                </a:moveTo>
                <a:lnTo>
                  <a:pt x="106679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30300" y="1673225"/>
            <a:ext cx="79813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51865" algn="l"/>
                <a:tab pos="1692910" algn="l"/>
                <a:tab pos="2644140" algn="l"/>
                <a:tab pos="3797935" algn="l"/>
                <a:tab pos="5525135" algn="l"/>
                <a:tab pos="6438900" algn="l"/>
                <a:tab pos="7358380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Task	</a:t>
            </a:r>
            <a:r>
              <a:rPr dirty="0" sz="1800" spc="-135">
                <a:solidFill>
                  <a:srgbClr val="585D60"/>
                </a:solidFill>
                <a:latin typeface="Arial"/>
                <a:cs typeface="Arial"/>
              </a:rPr>
              <a:t>KR	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Δ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35">
                <a:solidFill>
                  <a:srgbClr val="585D60"/>
                </a:solidFill>
                <a:latin typeface="Arial"/>
                <a:cs typeface="Arial"/>
              </a:rPr>
              <a:t>KR	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Strikes	House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Sales	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Lynx	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Beer	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Travel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4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4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49617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70">
                <a:solidFill>
                  <a:srgbClr val="C2132D"/>
                </a:solidFill>
              </a:rPr>
              <a:t>How </a:t>
            </a:r>
            <a:r>
              <a:rPr dirty="0" sz="3350" spc="-235">
                <a:solidFill>
                  <a:srgbClr val="C2132D"/>
                </a:solidFill>
              </a:rPr>
              <a:t>to </a:t>
            </a:r>
            <a:r>
              <a:rPr dirty="0" sz="3350" spc="-210">
                <a:solidFill>
                  <a:srgbClr val="C2132D"/>
                </a:solidFill>
              </a:rPr>
              <a:t>Identify </a:t>
            </a:r>
            <a:r>
              <a:rPr dirty="0" sz="3350" spc="-195">
                <a:solidFill>
                  <a:srgbClr val="C2132D"/>
                </a:solidFill>
              </a:rPr>
              <a:t>Non-Stationarity </a:t>
            </a:r>
            <a:r>
              <a:rPr dirty="0" sz="3350" spc="-190">
                <a:solidFill>
                  <a:srgbClr val="C2132D"/>
                </a:solidFill>
              </a:rPr>
              <a:t>in </a:t>
            </a:r>
            <a:r>
              <a:rPr dirty="0" sz="3350" spc="-260">
                <a:solidFill>
                  <a:srgbClr val="C2132D"/>
                </a:solidFill>
              </a:rPr>
              <a:t>the</a:t>
            </a:r>
            <a:r>
              <a:rPr dirty="0" sz="3350" spc="-390">
                <a:solidFill>
                  <a:srgbClr val="C2132D"/>
                </a:solidFill>
              </a:rPr>
              <a:t> </a:t>
            </a:r>
            <a:r>
              <a:rPr dirty="0" sz="3350" spc="-105">
                <a:solidFill>
                  <a:srgbClr val="C2132D"/>
                </a:solidFill>
              </a:rPr>
              <a:t>Mean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36054" y="1425575"/>
            <a:ext cx="8525510" cy="2909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L="133985" marR="3016885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133985" algn="l"/>
              </a:tabLst>
            </a:pPr>
            <a:r>
              <a:rPr dirty="0" sz="1800" spc="5" b="1">
                <a:solidFill>
                  <a:srgbClr val="C2132D"/>
                </a:solidFill>
                <a:latin typeface="Trebuchet MS"/>
                <a:cs typeface="Trebuchet MS"/>
              </a:rPr>
              <a:t>Visual</a:t>
            </a:r>
            <a:r>
              <a:rPr dirty="0" sz="1800" spc="-10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0" b="1">
                <a:solidFill>
                  <a:srgbClr val="C2132D"/>
                </a:solidFill>
                <a:latin typeface="Trebuchet MS"/>
                <a:cs typeface="Trebuchet MS"/>
              </a:rPr>
              <a:t>Inspection</a:t>
            </a:r>
            <a:r>
              <a:rPr dirty="0" sz="1800" spc="-11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time</a:t>
            </a:r>
            <a:r>
              <a:rPr dirty="0" sz="1800" spc="-10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series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plot</a:t>
            </a:r>
            <a:r>
              <a:rPr dirty="0" sz="1800" spc="-10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(line-chart)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lvl="1" marL="5397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40385" algn="l"/>
              </a:tabLst>
            </a:pP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Look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trends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plot.</a:t>
            </a:r>
            <a:endParaRPr sz="1800">
              <a:latin typeface="Arial"/>
              <a:cs typeface="Arial"/>
            </a:endParaRPr>
          </a:p>
          <a:p>
            <a:pPr lvl="1" marL="5397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40385" algn="l"/>
              </a:tabLst>
            </a:pP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Look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seasonality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plot.</a:t>
            </a:r>
            <a:endParaRPr sz="1800">
              <a:latin typeface="Arial"/>
              <a:cs typeface="Arial"/>
            </a:endParaRPr>
          </a:p>
          <a:p>
            <a:pPr marL="1587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159385" algn="l"/>
              </a:tabLst>
            </a:pP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Examine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 b="1">
                <a:solidFill>
                  <a:srgbClr val="C2132D"/>
                </a:solidFill>
                <a:latin typeface="Trebuchet MS"/>
                <a:cs typeface="Trebuchet MS"/>
              </a:rPr>
              <a:t>ACF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series:</a:t>
            </a:r>
            <a:endParaRPr sz="1800">
              <a:latin typeface="Arial"/>
              <a:cs typeface="Arial"/>
            </a:endParaRPr>
          </a:p>
          <a:p>
            <a:pPr algn="r" lvl="1" marL="133985" marR="3030855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339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slow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decay</a:t>
            </a:r>
            <a:r>
              <a:rPr dirty="0" sz="1800" spc="-10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90">
                <a:solidFill>
                  <a:srgbClr val="585D60"/>
                </a:solidFill>
                <a:latin typeface="Arial"/>
                <a:cs typeface="Arial"/>
              </a:rPr>
              <a:t>ACF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plot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950" spc="1825">
                <a:solidFill>
                  <a:srgbClr val="585D60"/>
                </a:solidFill>
                <a:latin typeface="Cambria"/>
                <a:cs typeface="Cambria"/>
              </a:rPr>
              <a:t>⟶</a:t>
            </a:r>
            <a:r>
              <a:rPr dirty="0" sz="950" spc="229">
                <a:solidFill>
                  <a:srgbClr val="585D60"/>
                </a:solidFill>
                <a:latin typeface="Cambria"/>
                <a:cs typeface="Cambria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non-stationary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lvl="1" marL="5397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540385" algn="l"/>
              </a:tabLst>
            </a:pPr>
            <a:r>
              <a:rPr dirty="0" sz="1800" spc="-85">
                <a:solidFill>
                  <a:srgbClr val="585D60"/>
                </a:solidFill>
                <a:latin typeface="Arial"/>
                <a:cs typeface="Arial"/>
              </a:rPr>
              <a:t>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other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hand,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Arial"/>
                <a:cs typeface="Arial"/>
              </a:rPr>
              <a:t>if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90">
                <a:solidFill>
                  <a:srgbClr val="585D60"/>
                </a:solidFill>
                <a:latin typeface="Arial"/>
                <a:cs typeface="Arial"/>
              </a:rPr>
              <a:t>ACF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plot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drops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to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zero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quickly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950" spc="1825">
                <a:solidFill>
                  <a:srgbClr val="585D60"/>
                </a:solidFill>
                <a:latin typeface="Cambria"/>
                <a:cs typeface="Cambria"/>
              </a:rPr>
              <a:t>⟶</a:t>
            </a:r>
            <a:r>
              <a:rPr dirty="0" sz="950" spc="235">
                <a:solidFill>
                  <a:srgbClr val="585D60"/>
                </a:solidFill>
                <a:latin typeface="Cambria"/>
                <a:cs typeface="Cambria"/>
              </a:rPr>
              <a:t>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likely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stationary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lvl="1" marL="539750" indent="-134620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540385" algn="l"/>
              </a:tabLst>
            </a:pP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Note: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non-stationary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series,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value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of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950" spc="305" i="1">
                <a:solidFill>
                  <a:srgbClr val="C2132D"/>
                </a:solidFill>
                <a:latin typeface="Verdana"/>
                <a:cs typeface="Verdana"/>
              </a:rPr>
              <a:t>r</a:t>
            </a:r>
            <a:r>
              <a:rPr dirty="0" baseline="-19607" sz="1275" spc="457">
                <a:solidFill>
                  <a:srgbClr val="C2132D"/>
                </a:solidFill>
                <a:latin typeface="Times New Roman"/>
                <a:cs typeface="Times New Roman"/>
              </a:rPr>
              <a:t>1</a:t>
            </a:r>
            <a:r>
              <a:rPr dirty="0" baseline="-19607" sz="1275" spc="494">
                <a:solidFill>
                  <a:srgbClr val="C2132D"/>
                </a:solidFill>
                <a:latin typeface="Times New Roman"/>
                <a:cs typeface="Times New Roman"/>
              </a:rPr>
              <a:t> </a:t>
            </a:r>
            <a:r>
              <a:rPr dirty="0" sz="1800" spc="40" b="1">
                <a:solidFill>
                  <a:srgbClr val="C2132D"/>
                </a:solidFill>
                <a:latin typeface="Trebuchet MS"/>
                <a:cs typeface="Trebuchet MS"/>
              </a:rPr>
              <a:t>is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often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large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and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positive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00995" y="2541308"/>
            <a:ext cx="4141192" cy="27058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75601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225">
                <a:solidFill>
                  <a:srgbClr val="C2132D"/>
                </a:solidFill>
              </a:rPr>
              <a:t>Example: </a:t>
            </a:r>
            <a:r>
              <a:rPr dirty="0" sz="3350" spc="-215">
                <a:solidFill>
                  <a:srgbClr val="C2132D"/>
                </a:solidFill>
              </a:rPr>
              <a:t>The </a:t>
            </a:r>
            <a:r>
              <a:rPr dirty="0" sz="3350" spc="-195">
                <a:solidFill>
                  <a:srgbClr val="C2132D"/>
                </a:solidFill>
              </a:rPr>
              <a:t>Non-Stationarity </a:t>
            </a:r>
            <a:r>
              <a:rPr dirty="0" sz="3350" spc="-190">
                <a:solidFill>
                  <a:srgbClr val="C2132D"/>
                </a:solidFill>
              </a:rPr>
              <a:t>in </a:t>
            </a:r>
            <a:r>
              <a:rPr dirty="0" sz="3350" spc="-175">
                <a:solidFill>
                  <a:srgbClr val="C2132D"/>
                </a:solidFill>
              </a:rPr>
              <a:t>Kroger </a:t>
            </a:r>
            <a:r>
              <a:rPr dirty="0" sz="3350" spc="-120">
                <a:solidFill>
                  <a:srgbClr val="C2132D"/>
                </a:solidFill>
              </a:rPr>
              <a:t>Stock</a:t>
            </a:r>
            <a:r>
              <a:rPr dirty="0" sz="3350" spc="-484">
                <a:solidFill>
                  <a:srgbClr val="C2132D"/>
                </a:solidFill>
              </a:rPr>
              <a:t> </a:t>
            </a:r>
            <a:r>
              <a:rPr dirty="0" sz="3350" spc="-160">
                <a:solidFill>
                  <a:srgbClr val="C2132D"/>
                </a:solidFill>
              </a:rPr>
              <a:t>Price</a:t>
            </a:r>
            <a:endParaRPr sz="3350"/>
          </a:p>
        </p:txBody>
      </p:sp>
      <p:sp>
        <p:nvSpPr>
          <p:cNvPr id="4" name="object 4"/>
          <p:cNvSpPr/>
          <p:nvPr/>
        </p:nvSpPr>
        <p:spPr>
          <a:xfrm>
            <a:off x="914400" y="1638300"/>
            <a:ext cx="4657725" cy="4819650"/>
          </a:xfrm>
          <a:custGeom>
            <a:avLst/>
            <a:gdLst/>
            <a:ahLst/>
            <a:cxnLst/>
            <a:rect l="l" t="t" r="r" b="b"/>
            <a:pathLst>
              <a:path w="4657725" h="4819650">
                <a:moveTo>
                  <a:pt x="0" y="0"/>
                </a:moveTo>
                <a:lnTo>
                  <a:pt x="4657724" y="0"/>
                </a:lnTo>
                <a:lnTo>
                  <a:pt x="4657724" y="4819649"/>
                </a:lnTo>
                <a:lnTo>
                  <a:pt x="0" y="4819649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12031" y="1707419"/>
            <a:ext cx="4502150" cy="448056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R="2524125">
              <a:lnSpc>
                <a:spcPts val="1430"/>
              </a:lnSpc>
              <a:spcBef>
                <a:spcPts val="185"/>
              </a:spcBef>
            </a:pP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pandas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as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pd 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datetime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200" spc="-25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dt 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import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seaborn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as</a:t>
            </a:r>
            <a:r>
              <a:rPr dirty="0" sz="1200" spc="-25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sns</a:t>
            </a:r>
            <a:endParaRPr sz="1200">
              <a:latin typeface="Courier New"/>
              <a:cs typeface="Courier New"/>
            </a:endParaRPr>
          </a:p>
          <a:p>
            <a:pPr marR="648970">
              <a:lnSpc>
                <a:spcPts val="1430"/>
              </a:lnSpc>
              <a:spcBef>
                <a:spcPts val="1185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path =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"../../data/kroger_stock_2024.csv" 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kr =</a:t>
            </a:r>
            <a:r>
              <a:rPr dirty="0" sz="1200" spc="1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(</a:t>
            </a:r>
            <a:endParaRPr sz="1200">
              <a:latin typeface="Courier New"/>
              <a:cs typeface="Courier New"/>
            </a:endParaRPr>
          </a:p>
          <a:p>
            <a:pPr marL="187325">
              <a:lnSpc>
                <a:spcPts val="136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pd.read_csv(path)</a:t>
            </a:r>
            <a:endParaRPr sz="1200">
              <a:latin typeface="Courier New"/>
              <a:cs typeface="Courier New"/>
            </a:endParaRPr>
          </a:p>
          <a:p>
            <a:pPr marL="187325">
              <a:lnSpc>
                <a:spcPts val="142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.assign(</a:t>
            </a:r>
            <a:endParaRPr sz="1200">
              <a:latin typeface="Courier New"/>
              <a:cs typeface="Courier New"/>
            </a:endParaRPr>
          </a:p>
          <a:p>
            <a:pPr marL="374650">
              <a:lnSpc>
                <a:spcPts val="1430"/>
              </a:lnSpc>
              <a:spcBef>
                <a:spcPts val="50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ds=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lambda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x: pd.to_datetime(x[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'date'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]),  m=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lambda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x:</a:t>
            </a:r>
            <a:r>
              <a:rPr dirty="0" sz="1200" spc="5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x[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'ds'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].dt.month_name().str[: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3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],</a:t>
            </a:r>
            <a:endParaRPr sz="1200">
              <a:latin typeface="Courier New"/>
              <a:cs typeface="Courier New"/>
            </a:endParaRPr>
          </a:p>
          <a:p>
            <a:pPr marL="187325">
              <a:lnSpc>
                <a:spcPts val="133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ts val="139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R="2055495">
              <a:lnSpc>
                <a:spcPts val="1430"/>
              </a:lnSpc>
              <a:spcBef>
                <a:spcPts val="1315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plt.figure(figsize=(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8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200" spc="-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5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))  ax =</a:t>
            </a:r>
            <a:r>
              <a:rPr dirty="0" sz="120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sns.lineplot(</a:t>
            </a:r>
            <a:endParaRPr sz="1200">
              <a:latin typeface="Courier New"/>
              <a:cs typeface="Courier New"/>
            </a:endParaRPr>
          </a:p>
          <a:p>
            <a:pPr marL="187325">
              <a:lnSpc>
                <a:spcPts val="129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data=kr, x=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'ds'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y=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'price'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200" spc="2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color=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'black'</a:t>
            </a:r>
            <a:endParaRPr sz="1200">
              <a:latin typeface="Courier New"/>
              <a:cs typeface="Courier New"/>
            </a:endParaRPr>
          </a:p>
          <a:p>
            <a:pPr marL="187325">
              <a:lnSpc>
                <a:spcPts val="142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ts val="142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sns.scatterplot(</a:t>
            </a:r>
            <a:endParaRPr sz="1200">
              <a:latin typeface="Courier New"/>
              <a:cs typeface="Courier New"/>
            </a:endParaRPr>
          </a:p>
          <a:p>
            <a:pPr marL="187325" marR="179705">
              <a:lnSpc>
                <a:spcPts val="1430"/>
              </a:lnSpc>
              <a:spcBef>
                <a:spcPts val="50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data = kr, x =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'ds'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y =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'price'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hue =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'm'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 s=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40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ax=ax,</a:t>
            </a:r>
            <a:r>
              <a:rPr dirty="0" sz="1200" spc="1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palette=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'Paired'</a:t>
            </a:r>
            <a:endParaRPr sz="1200">
              <a:latin typeface="Courier New"/>
              <a:cs typeface="Courier New"/>
            </a:endParaRPr>
          </a:p>
          <a:p>
            <a:pPr marL="187325">
              <a:lnSpc>
                <a:spcPts val="136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ts val="142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ax.set(</a:t>
            </a:r>
            <a:endParaRPr sz="1200">
              <a:latin typeface="Courier New"/>
              <a:cs typeface="Courier New"/>
            </a:endParaRPr>
          </a:p>
          <a:p>
            <a:pPr marL="187325">
              <a:lnSpc>
                <a:spcPts val="1350"/>
              </a:lnSpc>
              <a:spcBef>
                <a:spcPts val="110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title=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"Kroger's Daily Adjusted Closing Price"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 xlabel=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"Date"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endParaRPr sz="1200">
              <a:latin typeface="Courier New"/>
              <a:cs typeface="Courier New"/>
            </a:endParaRPr>
          </a:p>
          <a:p>
            <a:pPr marL="187325">
              <a:lnSpc>
                <a:spcPts val="139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ylabel=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"Adjusted Daily Closing Price"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2031" y="6155594"/>
            <a:ext cx="93980" cy="2133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7 </a:t>
            </a:r>
            <a:r>
              <a:rPr dirty="0" sz="1200" spc="160">
                <a:solidFill>
                  <a:srgbClr val="585D60"/>
                </a:solidFill>
                <a:latin typeface="Arial"/>
                <a:cs typeface="Arial"/>
              </a:rPr>
              <a:t>/</a:t>
            </a:r>
            <a:r>
              <a:rPr dirty="0" sz="1200" spc="-1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200" spc="5">
                <a:solidFill>
                  <a:srgbClr val="585D60"/>
                </a:solidFill>
                <a:latin typeface="Arial"/>
                <a:cs typeface="Arial"/>
              </a:rPr>
              <a:t>33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62624" y="2933699"/>
            <a:ext cx="4848224" cy="3552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75601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225">
                <a:solidFill>
                  <a:srgbClr val="C2132D"/>
                </a:solidFill>
              </a:rPr>
              <a:t>Example: </a:t>
            </a:r>
            <a:r>
              <a:rPr dirty="0" sz="3350" spc="-215">
                <a:solidFill>
                  <a:srgbClr val="C2132D"/>
                </a:solidFill>
              </a:rPr>
              <a:t>The </a:t>
            </a:r>
            <a:r>
              <a:rPr dirty="0" sz="3350" spc="-195">
                <a:solidFill>
                  <a:srgbClr val="C2132D"/>
                </a:solidFill>
              </a:rPr>
              <a:t>Non-Stationarity </a:t>
            </a:r>
            <a:r>
              <a:rPr dirty="0" sz="3350" spc="-190">
                <a:solidFill>
                  <a:srgbClr val="C2132D"/>
                </a:solidFill>
              </a:rPr>
              <a:t>in </a:t>
            </a:r>
            <a:r>
              <a:rPr dirty="0" sz="3350" spc="-175">
                <a:solidFill>
                  <a:srgbClr val="C2132D"/>
                </a:solidFill>
              </a:rPr>
              <a:t>Kroger </a:t>
            </a:r>
            <a:r>
              <a:rPr dirty="0" sz="3350" spc="-120">
                <a:solidFill>
                  <a:srgbClr val="C2132D"/>
                </a:solidFill>
              </a:rPr>
              <a:t>Stock</a:t>
            </a:r>
            <a:r>
              <a:rPr dirty="0" sz="3350" spc="-484">
                <a:solidFill>
                  <a:srgbClr val="C2132D"/>
                </a:solidFill>
              </a:rPr>
              <a:t> </a:t>
            </a:r>
            <a:r>
              <a:rPr dirty="0" sz="3350" spc="-160">
                <a:solidFill>
                  <a:srgbClr val="C2132D"/>
                </a:solidFill>
              </a:rPr>
              <a:t>Price</a:t>
            </a:r>
            <a:endParaRPr sz="3350"/>
          </a:p>
        </p:txBody>
      </p:sp>
      <p:sp>
        <p:nvSpPr>
          <p:cNvPr id="4" name="object 4"/>
          <p:cNvSpPr/>
          <p:nvPr/>
        </p:nvSpPr>
        <p:spPr>
          <a:xfrm>
            <a:off x="914400" y="5543549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47737" y="5559425"/>
            <a:ext cx="98425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</a:t>
            </a:r>
            <a:endParaRPr sz="650">
              <a:latin typeface="Segoe Fluent Icons"/>
              <a:cs typeface="Segoe Fluent Icon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00674" y="5543549"/>
            <a:ext cx="171450" cy="142875"/>
          </a:xfrm>
          <a:custGeom>
            <a:avLst/>
            <a:gdLst/>
            <a:ahLst/>
            <a:cxnLst/>
            <a:rect l="l" t="t" r="r" b="b"/>
            <a:pathLst>
              <a:path w="171450" h="142875">
                <a:moveTo>
                  <a:pt x="0" y="0"/>
                </a:moveTo>
                <a:lnTo>
                  <a:pt x="171449" y="0"/>
                </a:lnTo>
                <a:lnTo>
                  <a:pt x="171449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453062" y="5559425"/>
            <a:ext cx="98425" cy="128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650" spc="25">
                <a:solidFill>
                  <a:srgbClr val="8B8B8B"/>
                </a:solidFill>
                <a:latin typeface="Segoe Fluent Icons"/>
                <a:cs typeface="Segoe Fluent Icons"/>
              </a:rPr>
              <a:t></a:t>
            </a:r>
            <a:endParaRPr sz="650">
              <a:latin typeface="Segoe Fluent Icons"/>
              <a:cs typeface="Segoe Fluent Icon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85850" y="5543549"/>
            <a:ext cx="4314825" cy="142875"/>
          </a:xfrm>
          <a:custGeom>
            <a:avLst/>
            <a:gdLst/>
            <a:ahLst/>
            <a:cxnLst/>
            <a:rect l="l" t="t" r="r" b="b"/>
            <a:pathLst>
              <a:path w="4314825" h="142875">
                <a:moveTo>
                  <a:pt x="0" y="0"/>
                </a:moveTo>
                <a:lnTo>
                  <a:pt x="4314824" y="0"/>
                </a:lnTo>
                <a:lnTo>
                  <a:pt x="4314824" y="142874"/>
                </a:lnTo>
                <a:lnTo>
                  <a:pt x="0" y="142874"/>
                </a:lnTo>
                <a:lnTo>
                  <a:pt x="0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85849" y="5572124"/>
            <a:ext cx="4191000" cy="85725"/>
          </a:xfrm>
          <a:custGeom>
            <a:avLst/>
            <a:gdLst/>
            <a:ahLst/>
            <a:cxnLst/>
            <a:rect l="l" t="t" r="r" b="b"/>
            <a:pathLst>
              <a:path w="4191000" h="85725">
                <a:moveTo>
                  <a:pt x="4153821" y="85724"/>
                </a:moveTo>
                <a:lnTo>
                  <a:pt x="37178" y="85724"/>
                </a:lnTo>
                <a:lnTo>
                  <a:pt x="31710" y="84636"/>
                </a:lnTo>
                <a:lnTo>
                  <a:pt x="1087" y="54013"/>
                </a:lnTo>
                <a:lnTo>
                  <a:pt x="0" y="48546"/>
                </a:lnTo>
                <a:lnTo>
                  <a:pt x="0" y="37178"/>
                </a:lnTo>
                <a:lnTo>
                  <a:pt x="21208" y="5437"/>
                </a:lnTo>
                <a:lnTo>
                  <a:pt x="37178" y="0"/>
                </a:lnTo>
                <a:lnTo>
                  <a:pt x="4153821" y="0"/>
                </a:lnTo>
                <a:lnTo>
                  <a:pt x="4185561" y="21207"/>
                </a:lnTo>
                <a:lnTo>
                  <a:pt x="4190999" y="37178"/>
                </a:lnTo>
                <a:lnTo>
                  <a:pt x="4190999" y="48546"/>
                </a:lnTo>
                <a:lnTo>
                  <a:pt x="4169790" y="80286"/>
                </a:lnTo>
                <a:lnTo>
                  <a:pt x="4153821" y="85724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14400" y="1638300"/>
            <a:ext cx="4657725" cy="3905250"/>
          </a:xfrm>
          <a:custGeom>
            <a:avLst/>
            <a:gdLst/>
            <a:ahLst/>
            <a:cxnLst/>
            <a:rect l="l" t="t" r="r" b="b"/>
            <a:pathLst>
              <a:path w="4657725" h="3905250">
                <a:moveTo>
                  <a:pt x="0" y="0"/>
                </a:moveTo>
                <a:lnTo>
                  <a:pt x="4657724" y="0"/>
                </a:lnTo>
                <a:lnTo>
                  <a:pt x="4657724" y="3905249"/>
                </a:lnTo>
                <a:lnTo>
                  <a:pt x="0" y="3905249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12031" y="1707419"/>
            <a:ext cx="4608830" cy="145161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ts val="1430"/>
              </a:lnSpc>
              <a:spcBef>
                <a:spcPts val="130"/>
              </a:spcBef>
            </a:pP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from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statsmodels.tsa.stattools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import</a:t>
            </a:r>
            <a:r>
              <a:rPr dirty="0" sz="1200" spc="20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acf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ts val="1430"/>
              </a:lnSpc>
            </a:pP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from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statsmodels.graphics.tsaplots </a:t>
            </a:r>
            <a:r>
              <a:rPr dirty="0" sz="1200" spc="15" b="1">
                <a:solidFill>
                  <a:srgbClr val="333333"/>
                </a:solidFill>
                <a:latin typeface="Courier New"/>
                <a:cs typeface="Courier New"/>
              </a:rPr>
              <a:t>import</a:t>
            </a:r>
            <a:r>
              <a:rPr dirty="0" sz="1200" spc="65" b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plot_ac</a:t>
            </a:r>
            <a:endParaRPr sz="1200">
              <a:latin typeface="Courier New"/>
              <a:cs typeface="Courier New"/>
            </a:endParaRPr>
          </a:p>
          <a:p>
            <a:pPr marL="187325" indent="-187960">
              <a:lnSpc>
                <a:spcPts val="1490"/>
              </a:lnSpc>
              <a:spcBef>
                <a:spcPts val="1135"/>
              </a:spcBef>
              <a:buChar char="❖"/>
              <a:tabLst>
                <a:tab pos="187960" algn="l"/>
              </a:tabLst>
            </a:pP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Using the data from Slide</a:t>
            </a:r>
            <a:r>
              <a:rPr dirty="0" sz="1250" spc="-2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7</a:t>
            </a:r>
            <a:endParaRPr sz="1250">
              <a:latin typeface="Courier New"/>
              <a:cs typeface="Courier New"/>
            </a:endParaRPr>
          </a:p>
          <a:p>
            <a:pPr>
              <a:lnSpc>
                <a:spcPts val="142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acf_df =</a:t>
            </a:r>
            <a:r>
              <a:rPr dirty="0" sz="1200" spc="1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pd.DataFrame(</a:t>
            </a:r>
            <a:endParaRPr sz="1200">
              <a:latin typeface="Courier New"/>
              <a:cs typeface="Courier New"/>
            </a:endParaRPr>
          </a:p>
          <a:p>
            <a:pPr marL="187325">
              <a:lnSpc>
                <a:spcPts val="142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{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'lag'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: range(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0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200" spc="1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21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),</a:t>
            </a:r>
            <a:endParaRPr sz="1200">
              <a:latin typeface="Courier New"/>
              <a:cs typeface="Courier New"/>
            </a:endParaRPr>
          </a:p>
          <a:p>
            <a:pPr marL="281305">
              <a:lnSpc>
                <a:spcPts val="1425"/>
              </a:lnSpc>
            </a:pP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'acf'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: acf(kr[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'price'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], nlags=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20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187325">
              <a:lnSpc>
                <a:spcPts val="143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2031" y="3126644"/>
            <a:ext cx="3751579" cy="23183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187325" indent="-187960">
              <a:lnSpc>
                <a:spcPts val="1490"/>
              </a:lnSpc>
              <a:spcBef>
                <a:spcPts val="1135"/>
              </a:spcBef>
              <a:buChar char="❖"/>
              <a:tabLst>
                <a:tab pos="187960" algn="l"/>
              </a:tabLst>
            </a:pP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Print the first few rows of the ACF</a:t>
            </a:r>
            <a:r>
              <a:rPr dirty="0" sz="1250" spc="-1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250" spc="-275" i="1">
                <a:solidFill>
                  <a:srgbClr val="999987"/>
                </a:solidFill>
                <a:latin typeface="Courier New"/>
                <a:cs typeface="Courier New"/>
              </a:rPr>
              <a:t>df</a:t>
            </a:r>
            <a:endParaRPr sz="1250">
              <a:latin typeface="Courier New"/>
              <a:cs typeface="Courier New"/>
            </a:endParaRPr>
          </a:p>
          <a:p>
            <a:pPr>
              <a:lnSpc>
                <a:spcPts val="143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acf_df.head()</a:t>
            </a:r>
            <a:endParaRPr sz="1200">
              <a:latin typeface="Courier New"/>
              <a:cs typeface="Courier New"/>
            </a:endParaRPr>
          </a:p>
          <a:p>
            <a:pPr marR="367665">
              <a:lnSpc>
                <a:spcPts val="1430"/>
              </a:lnSpc>
              <a:spcBef>
                <a:spcPts val="1240"/>
              </a:spcBef>
              <a:buChar char="❖"/>
              <a:tabLst>
                <a:tab pos="187960" algn="l"/>
                <a:tab pos="1031240" algn="l"/>
              </a:tabLst>
            </a:pPr>
            <a:r>
              <a:rPr dirty="0" sz="1250" spc="-15" i="1">
                <a:solidFill>
                  <a:srgbClr val="999987"/>
                </a:solidFill>
                <a:latin typeface="Courier New"/>
                <a:cs typeface="Courier New"/>
              </a:rPr>
              <a:t>Plot the ACF and beautify the </a:t>
            </a:r>
            <a:r>
              <a:rPr dirty="0" sz="1250" spc="-145" i="1">
                <a:solidFill>
                  <a:srgbClr val="999987"/>
                </a:solidFill>
                <a:latin typeface="Courier New"/>
                <a:cs typeface="Courier New"/>
              </a:rPr>
              <a:t>plot </a:t>
            </a:r>
            <a:r>
              <a:rPr dirty="0" sz="1250" spc="-145" i="1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plt.figure( figsize=(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8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5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 )  plot_acf(	kr[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'price'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], lags=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20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  plt.xticks( ticks=range(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0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21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 )  plt.xlabel(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'Lag'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ts val="135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plt.ylabel(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'ACF'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ts val="1350"/>
              </a:lnSpc>
              <a:spcBef>
                <a:spcPts val="115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plt.title(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"ACF of Kroger's Stock Price"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  plt.show()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62624" y="1619250"/>
            <a:ext cx="4848225" cy="1133475"/>
          </a:xfrm>
          <a:custGeom>
            <a:avLst/>
            <a:gdLst/>
            <a:ahLst/>
            <a:cxnLst/>
            <a:rect l="l" t="t" r="r" b="b"/>
            <a:pathLst>
              <a:path w="4848225" h="1133475">
                <a:moveTo>
                  <a:pt x="0" y="0"/>
                </a:moveTo>
                <a:lnTo>
                  <a:pt x="4848224" y="0"/>
                </a:lnTo>
                <a:lnTo>
                  <a:pt x="4848224" y="1133474"/>
                </a:lnTo>
                <a:lnTo>
                  <a:pt x="0" y="1133474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836691" y="1672853"/>
            <a:ext cx="19240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##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9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336982" y="1672853"/>
            <a:ext cx="27559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lag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04036" y="1672853"/>
            <a:ext cx="27559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acf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5817641" y="1849770"/>
          <a:ext cx="1481455" cy="818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0029"/>
                <a:gridCol w="291464"/>
                <a:gridCol w="333375"/>
                <a:gridCol w="615315"/>
              </a:tblGrid>
              <a:tr h="166230">
                <a:tc>
                  <a:txBody>
                    <a:bodyPr/>
                    <a:lstStyle/>
                    <a:p>
                      <a:pPr marL="31750">
                        <a:lnSpc>
                          <a:spcPts val="1200"/>
                        </a:lnSpc>
                        <a:spcBef>
                          <a:spcPts val="10"/>
                        </a:spcBef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27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200"/>
                        </a:lnSpc>
                        <a:spcBef>
                          <a:spcPts val="10"/>
                        </a:spcBef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27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5565">
                        <a:lnSpc>
                          <a:spcPts val="1200"/>
                        </a:lnSpc>
                        <a:spcBef>
                          <a:spcPts val="10"/>
                        </a:spcBef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27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1435">
                        <a:lnSpc>
                          <a:spcPts val="1200"/>
                        </a:lnSpc>
                        <a:spcBef>
                          <a:spcPts val="10"/>
                        </a:spcBef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1.0000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270">
                    <a:solidFill>
                      <a:srgbClr val="F7F7F7"/>
                    </a:solidFill>
                  </a:tcPr>
                </a:tc>
              </a:tr>
              <a:tr h="157162">
                <a:tc>
                  <a:txBody>
                    <a:bodyPr/>
                    <a:lstStyle/>
                    <a:p>
                      <a:pPr marL="31750">
                        <a:lnSpc>
                          <a:spcPts val="1140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556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1435">
                        <a:lnSpc>
                          <a:spcPts val="1140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0.9737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31750">
                        <a:lnSpc>
                          <a:spcPts val="1175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556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1435">
                        <a:lnSpc>
                          <a:spcPts val="1175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0.9467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31750">
                        <a:lnSpc>
                          <a:spcPts val="1175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556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1435">
                        <a:lnSpc>
                          <a:spcPts val="1175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0.9189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170993">
                <a:tc>
                  <a:txBody>
                    <a:bodyPr/>
                    <a:lstStyle/>
                    <a:p>
                      <a:pPr marL="31750">
                        <a:lnSpc>
                          <a:spcPts val="1245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24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5565">
                        <a:lnSpc>
                          <a:spcPts val="124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1435">
                        <a:lnSpc>
                          <a:spcPts val="1245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0.8954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31158" y="4321336"/>
            <a:ext cx="4201794" cy="18127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9255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70">
                <a:solidFill>
                  <a:srgbClr val="C2132D"/>
                </a:solidFill>
              </a:rPr>
              <a:t>How</a:t>
            </a:r>
            <a:r>
              <a:rPr dirty="0" sz="3350" spc="-240">
                <a:solidFill>
                  <a:srgbClr val="C2132D"/>
                </a:solidFill>
              </a:rPr>
              <a:t> </a:t>
            </a:r>
            <a:r>
              <a:rPr dirty="0" sz="3350" spc="-75">
                <a:solidFill>
                  <a:srgbClr val="C2132D"/>
                </a:solidFill>
              </a:rPr>
              <a:t>Does</a:t>
            </a:r>
            <a:r>
              <a:rPr dirty="0" sz="3350" spc="-240">
                <a:solidFill>
                  <a:srgbClr val="C2132D"/>
                </a:solidFill>
              </a:rPr>
              <a:t> </a:t>
            </a:r>
            <a:r>
              <a:rPr dirty="0" sz="3350" spc="-260">
                <a:solidFill>
                  <a:srgbClr val="C2132D"/>
                </a:solidFill>
              </a:rPr>
              <a:t>the</a:t>
            </a:r>
            <a:r>
              <a:rPr dirty="0" sz="3350" spc="-235">
                <a:solidFill>
                  <a:srgbClr val="C2132D"/>
                </a:solidFill>
              </a:rPr>
              <a:t> </a:t>
            </a:r>
            <a:r>
              <a:rPr dirty="0" sz="3350" spc="-95">
                <a:solidFill>
                  <a:srgbClr val="C2132D"/>
                </a:solidFill>
              </a:rPr>
              <a:t>ACF</a:t>
            </a:r>
            <a:r>
              <a:rPr dirty="0" sz="3350" spc="-240">
                <a:solidFill>
                  <a:srgbClr val="C2132D"/>
                </a:solidFill>
              </a:rPr>
              <a:t> </a:t>
            </a:r>
            <a:r>
              <a:rPr dirty="0" sz="3350" spc="-140">
                <a:solidFill>
                  <a:srgbClr val="C2132D"/>
                </a:solidFill>
              </a:rPr>
              <a:t>of</a:t>
            </a:r>
            <a:r>
              <a:rPr dirty="0" sz="3350" spc="-240">
                <a:solidFill>
                  <a:srgbClr val="C2132D"/>
                </a:solidFill>
              </a:rPr>
              <a:t> </a:t>
            </a:r>
            <a:r>
              <a:rPr dirty="0" sz="3350" spc="-145">
                <a:solidFill>
                  <a:srgbClr val="C2132D"/>
                </a:solidFill>
              </a:rPr>
              <a:t>a</a:t>
            </a:r>
            <a:r>
              <a:rPr dirty="0" sz="3350" spc="-235">
                <a:solidFill>
                  <a:srgbClr val="C2132D"/>
                </a:solidFill>
              </a:rPr>
              <a:t> </a:t>
            </a:r>
            <a:r>
              <a:rPr dirty="0" sz="3350" spc="-180">
                <a:solidFill>
                  <a:srgbClr val="C2132D"/>
                </a:solidFill>
              </a:rPr>
              <a:t>Stationary</a:t>
            </a:r>
            <a:r>
              <a:rPr dirty="0" sz="3350" spc="-310">
                <a:solidFill>
                  <a:srgbClr val="C2132D"/>
                </a:solidFill>
              </a:rPr>
              <a:t> </a:t>
            </a:r>
            <a:r>
              <a:rPr dirty="0" sz="3350" spc="-215">
                <a:solidFill>
                  <a:srgbClr val="C2132D"/>
                </a:solidFill>
              </a:rPr>
              <a:t>Time</a:t>
            </a:r>
            <a:r>
              <a:rPr dirty="0" sz="3350" spc="-240">
                <a:solidFill>
                  <a:srgbClr val="C2132D"/>
                </a:solidFill>
              </a:rPr>
              <a:t> </a:t>
            </a:r>
            <a:r>
              <a:rPr dirty="0" sz="3350" spc="-105">
                <a:solidFill>
                  <a:srgbClr val="C2132D"/>
                </a:solidFill>
              </a:rPr>
              <a:t>Series</a:t>
            </a:r>
            <a:r>
              <a:rPr dirty="0" sz="3350" spc="-235">
                <a:solidFill>
                  <a:srgbClr val="C2132D"/>
                </a:solidFill>
              </a:rPr>
              <a:t> </a:t>
            </a:r>
            <a:r>
              <a:rPr dirty="0" sz="3350" spc="-55">
                <a:solidFill>
                  <a:srgbClr val="C2132D"/>
                </a:solidFill>
              </a:rPr>
              <a:t>Look?</a:t>
            </a:r>
            <a:endParaRPr sz="3350"/>
          </a:p>
        </p:txBody>
      </p:sp>
      <p:sp>
        <p:nvSpPr>
          <p:cNvPr id="4" name="object 4"/>
          <p:cNvSpPr txBox="1"/>
          <p:nvPr/>
        </p:nvSpPr>
        <p:spPr>
          <a:xfrm>
            <a:off x="1148754" y="1425575"/>
            <a:ext cx="9337040" cy="1061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stationary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time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series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 b="1">
                <a:solidFill>
                  <a:srgbClr val="C2132D"/>
                </a:solidFill>
                <a:latin typeface="Trebuchet MS"/>
                <a:cs typeface="Trebuchet MS"/>
              </a:rPr>
              <a:t>ACF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plot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will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decay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(cut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off)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quickly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zero.</a:t>
            </a:r>
            <a:endParaRPr sz="1800">
              <a:latin typeface="Arial"/>
              <a:cs typeface="Arial"/>
            </a:endParaRPr>
          </a:p>
          <a:p>
            <a:pPr lvl="1" marL="527050" marR="5080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Non-significant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autocorrelations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within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blue </a:t>
            </a:r>
            <a:r>
              <a:rPr dirty="0" sz="1800" spc="-10" b="1">
                <a:solidFill>
                  <a:srgbClr val="C2132D"/>
                </a:solidFill>
                <a:latin typeface="Trebuchet MS"/>
                <a:cs typeface="Trebuchet MS"/>
              </a:rPr>
              <a:t>shaded</a:t>
            </a:r>
            <a:r>
              <a:rPr dirty="0" sz="1800" spc="-3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region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statistically 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not </a:t>
            </a: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different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from</a:t>
            </a:r>
            <a:r>
              <a:rPr dirty="0" sz="1800" spc="-17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zero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2943224"/>
            <a:ext cx="4657725" cy="3362325"/>
          </a:xfrm>
          <a:custGeom>
            <a:avLst/>
            <a:gdLst/>
            <a:ahLst/>
            <a:cxnLst/>
            <a:rect l="l" t="t" r="r" b="b"/>
            <a:pathLst>
              <a:path w="4657725" h="3362325">
                <a:moveTo>
                  <a:pt x="0" y="0"/>
                </a:moveTo>
                <a:lnTo>
                  <a:pt x="4657724" y="0"/>
                </a:lnTo>
                <a:lnTo>
                  <a:pt x="4657724" y="3362324"/>
                </a:lnTo>
                <a:lnTo>
                  <a:pt x="0" y="3362324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09650" y="3914775"/>
            <a:ext cx="4457700" cy="180975"/>
          </a:xfrm>
          <a:custGeom>
            <a:avLst/>
            <a:gdLst/>
            <a:ahLst/>
            <a:cxnLst/>
            <a:rect l="l" t="t" r="r" b="b"/>
            <a:pathLst>
              <a:path w="4457700" h="180975">
                <a:moveTo>
                  <a:pt x="0" y="0"/>
                </a:moveTo>
                <a:lnTo>
                  <a:pt x="4457699" y="0"/>
                </a:lnTo>
                <a:lnTo>
                  <a:pt x="4457699" y="180974"/>
                </a:lnTo>
                <a:lnTo>
                  <a:pt x="0" y="180974"/>
                </a:lnTo>
                <a:lnTo>
                  <a:pt x="0" y="0"/>
                </a:lnTo>
                <a:close/>
              </a:path>
            </a:pathLst>
          </a:custGeom>
          <a:solidFill>
            <a:srgbClr val="FFDE6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09650" y="5305425"/>
            <a:ext cx="4457700" cy="180975"/>
          </a:xfrm>
          <a:custGeom>
            <a:avLst/>
            <a:gdLst/>
            <a:ahLst/>
            <a:cxnLst/>
            <a:rect l="l" t="t" r="r" b="b"/>
            <a:pathLst>
              <a:path w="4457700" h="180975">
                <a:moveTo>
                  <a:pt x="0" y="0"/>
                </a:moveTo>
                <a:lnTo>
                  <a:pt x="4457699" y="0"/>
                </a:lnTo>
                <a:lnTo>
                  <a:pt x="4457699" y="180974"/>
                </a:lnTo>
                <a:lnTo>
                  <a:pt x="0" y="180974"/>
                </a:lnTo>
                <a:lnTo>
                  <a:pt x="0" y="0"/>
                </a:lnTo>
                <a:close/>
              </a:path>
            </a:pathLst>
          </a:custGeom>
          <a:solidFill>
            <a:srgbClr val="FFDE6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09650" y="3038474"/>
            <a:ext cx="4457700" cy="180975"/>
          </a:xfrm>
          <a:prstGeom prst="rect">
            <a:avLst/>
          </a:prstGeom>
          <a:solidFill>
            <a:srgbClr val="FFDE65"/>
          </a:solidFill>
        </p:spPr>
        <p:txBody>
          <a:bodyPr wrap="square" lIns="0" tIns="0" rIns="0" bIns="0" rtlCol="0" vert="horz">
            <a:spAutoFit/>
          </a:bodyPr>
          <a:lstStyle/>
          <a:p>
            <a:pPr marL="1905">
              <a:lnSpc>
                <a:spcPts val="136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kr[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'delta'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 = kr[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'price'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].diff()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2031" y="3345719"/>
            <a:ext cx="4502150" cy="28708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ts val="1430"/>
              </a:lnSpc>
              <a:spcBef>
                <a:spcPts val="130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acf_df =</a:t>
            </a:r>
            <a:r>
              <a:rPr dirty="0" sz="1200" spc="1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pd.DataFrame(</a:t>
            </a:r>
            <a:endParaRPr sz="1200">
              <a:latin typeface="Courier New"/>
              <a:cs typeface="Courier New"/>
            </a:endParaRPr>
          </a:p>
          <a:p>
            <a:pPr marL="281305" marR="2336165" indent="-93980">
              <a:lnSpc>
                <a:spcPts val="1430"/>
              </a:lnSpc>
              <a:spcBef>
                <a:spcPts val="50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{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'lag'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: range(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0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</a:t>
            </a:r>
            <a:r>
              <a:rPr dirty="0" sz="1200" spc="-2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21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), 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'acf'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:</a:t>
            </a:r>
            <a:r>
              <a:rPr dirty="0" sz="1200" spc="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acf(</a:t>
            </a:r>
            <a:endParaRPr sz="1200">
              <a:latin typeface="Courier New"/>
              <a:cs typeface="Courier New"/>
            </a:endParaRPr>
          </a:p>
          <a:p>
            <a:pPr marL="468630">
              <a:lnSpc>
                <a:spcPts val="136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kr[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'delta'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], nlags=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20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missing=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'drop'</a:t>
            </a:r>
            <a:endParaRPr sz="1200">
              <a:latin typeface="Courier New"/>
              <a:cs typeface="Courier New"/>
            </a:endParaRPr>
          </a:p>
          <a:p>
            <a:pPr marL="468630">
              <a:lnSpc>
                <a:spcPts val="142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).round(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4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 marL="187325">
              <a:lnSpc>
                <a:spcPts val="142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ts val="1435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acf_df.head()</a:t>
            </a:r>
            <a:endParaRPr sz="1200">
              <a:latin typeface="Courier New"/>
              <a:cs typeface="Courier New"/>
            </a:endParaRPr>
          </a:p>
          <a:p>
            <a:pPr marR="179070">
              <a:lnSpc>
                <a:spcPts val="1420"/>
              </a:lnSpc>
              <a:spcBef>
                <a:spcPts val="1245"/>
              </a:spcBef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plt.figure( figsize=(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8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5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 )  plot_acf(kr[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'delta'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], lags=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20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missing=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'drop'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  plt.xticks( ticks=range(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0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, </a:t>
            </a:r>
            <a:r>
              <a:rPr dirty="0" sz="1200" spc="15">
                <a:solidFill>
                  <a:srgbClr val="008080"/>
                </a:solidFill>
                <a:latin typeface="Courier New"/>
                <a:cs typeface="Courier New"/>
              </a:rPr>
              <a:t>21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 )  plt.xlabel(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'Lag'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ts val="139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plt.ylabel(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'ACF'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ts val="1430"/>
              </a:lnSpc>
            </a:pP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plt.title(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"ACF of Kroger's Diff in Stock</a:t>
            </a:r>
            <a:r>
              <a:rPr dirty="0" sz="1200" spc="50">
                <a:solidFill>
                  <a:srgbClr val="DD1144"/>
                </a:solidFill>
                <a:latin typeface="Courier New"/>
                <a:cs typeface="Courier New"/>
              </a:rPr>
              <a:t> </a:t>
            </a:r>
            <a:r>
              <a:rPr dirty="0" sz="1200" spc="15">
                <a:solidFill>
                  <a:srgbClr val="DD1144"/>
                </a:solidFill>
                <a:latin typeface="Courier New"/>
                <a:cs typeface="Courier New"/>
              </a:rPr>
              <a:t>Price"</a:t>
            </a:r>
            <a:r>
              <a:rPr dirty="0" sz="1200" spc="15">
                <a:solidFill>
                  <a:srgbClr val="333333"/>
                </a:solidFill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62624" y="2914649"/>
            <a:ext cx="4848225" cy="1133475"/>
          </a:xfrm>
          <a:custGeom>
            <a:avLst/>
            <a:gdLst/>
            <a:ahLst/>
            <a:cxnLst/>
            <a:rect l="l" t="t" r="r" b="b"/>
            <a:pathLst>
              <a:path w="4848225" h="1133475">
                <a:moveTo>
                  <a:pt x="0" y="0"/>
                </a:moveTo>
                <a:lnTo>
                  <a:pt x="4848224" y="0"/>
                </a:lnTo>
                <a:lnTo>
                  <a:pt x="4848224" y="1133474"/>
                </a:lnTo>
                <a:lnTo>
                  <a:pt x="0" y="1133474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836691" y="2977778"/>
            <a:ext cx="19240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##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9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336982" y="2977778"/>
            <a:ext cx="27559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lag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04036" y="2977778"/>
            <a:ext cx="27559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5" i="1">
                <a:solidFill>
                  <a:srgbClr val="999987"/>
                </a:solidFill>
                <a:latin typeface="Courier New"/>
                <a:cs typeface="Courier New"/>
              </a:rPr>
              <a:t>acf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5817641" y="3145170"/>
          <a:ext cx="1481455" cy="818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0029"/>
                <a:gridCol w="291464"/>
                <a:gridCol w="291465"/>
                <a:gridCol w="656590"/>
              </a:tblGrid>
              <a:tr h="170993">
                <a:tc>
                  <a:txBody>
                    <a:bodyPr/>
                    <a:lstStyle/>
                    <a:p>
                      <a:pPr marL="31750">
                        <a:lnSpc>
                          <a:spcPts val="1235"/>
                        </a:lnSpc>
                        <a:spcBef>
                          <a:spcPts val="10"/>
                        </a:spcBef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27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235"/>
                        </a:lnSpc>
                        <a:spcBef>
                          <a:spcPts val="10"/>
                        </a:spcBef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27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235"/>
                        </a:lnSpc>
                        <a:spcBef>
                          <a:spcPts val="10"/>
                        </a:spcBef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27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235"/>
                        </a:lnSpc>
                        <a:spcBef>
                          <a:spcPts val="10"/>
                        </a:spcBef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1.0000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270">
                    <a:solidFill>
                      <a:srgbClr val="F7F7F7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31750">
                        <a:lnSpc>
                          <a:spcPts val="1175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-0.0274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31750">
                        <a:lnSpc>
                          <a:spcPts val="1175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75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-0.0382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157162">
                <a:tc>
                  <a:txBody>
                    <a:bodyPr/>
                    <a:lstStyle/>
                    <a:p>
                      <a:pPr marL="31750">
                        <a:lnSpc>
                          <a:spcPts val="1140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4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-0.1016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  <a:tr h="166230">
                <a:tc>
                  <a:txBody>
                    <a:bodyPr/>
                    <a:lstStyle/>
                    <a:p>
                      <a:pPr marL="31750">
                        <a:lnSpc>
                          <a:spcPts val="1210"/>
                        </a:lnSpc>
                      </a:pPr>
                      <a:r>
                        <a:rPr dirty="0" sz="1100" spc="-5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##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21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ts val="121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210"/>
                        </a:lnSpc>
                      </a:pPr>
                      <a:r>
                        <a:rPr dirty="0" sz="1100" i="1">
                          <a:solidFill>
                            <a:srgbClr val="999987"/>
                          </a:solidFill>
                          <a:latin typeface="Courier New"/>
                          <a:cs typeface="Courier New"/>
                        </a:rPr>
                        <a:t>-0.0387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41832" y="1795272"/>
            <a:ext cx="9656445" cy="1039494"/>
          </a:xfrm>
          <a:custGeom>
            <a:avLst/>
            <a:gdLst/>
            <a:ahLst/>
            <a:cxnLst/>
            <a:rect l="l" t="t" r="r" b="b"/>
            <a:pathLst>
              <a:path w="9656445" h="1039494">
                <a:moveTo>
                  <a:pt x="0" y="0"/>
                </a:moveTo>
                <a:lnTo>
                  <a:pt x="9656064" y="0"/>
                </a:lnTo>
                <a:lnTo>
                  <a:pt x="9656064" y="1039368"/>
                </a:lnTo>
                <a:lnTo>
                  <a:pt x="0" y="10393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959352" y="2313432"/>
            <a:ext cx="3611879" cy="942340"/>
          </a:xfrm>
          <a:custGeom>
            <a:avLst/>
            <a:gdLst/>
            <a:ahLst/>
            <a:cxnLst/>
            <a:rect l="l" t="t" r="r" b="b"/>
            <a:pathLst>
              <a:path w="3611879" h="942339">
                <a:moveTo>
                  <a:pt x="0" y="0"/>
                </a:moveTo>
                <a:lnTo>
                  <a:pt x="3611880" y="0"/>
                </a:lnTo>
                <a:lnTo>
                  <a:pt x="3611880" y="941832"/>
                </a:lnTo>
                <a:lnTo>
                  <a:pt x="0" y="941832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6839" rIns="0" bIns="0" rtlCol="0" vert="horz">
            <a:spAutoFit/>
          </a:bodyPr>
          <a:lstStyle/>
          <a:p>
            <a:pPr marL="3044825" marR="5080" indent="-3032760">
              <a:lnSpc>
                <a:spcPts val="4130"/>
              </a:lnSpc>
              <a:spcBef>
                <a:spcPts val="919"/>
              </a:spcBef>
            </a:pPr>
            <a:r>
              <a:rPr dirty="0" spc="-1150">
                <a:solidFill>
                  <a:srgbClr val="000000"/>
                </a:solidFill>
              </a:rPr>
              <a:t>M</a:t>
            </a:r>
            <a:r>
              <a:rPr dirty="0" spc="-1150"/>
              <a:t>M</a:t>
            </a:r>
            <a:r>
              <a:rPr dirty="0" spc="-1150">
                <a:solidFill>
                  <a:srgbClr val="000000"/>
                </a:solidFill>
              </a:rPr>
              <a:t>a</a:t>
            </a:r>
            <a:r>
              <a:rPr dirty="0" spc="-1150"/>
              <a:t>a</a:t>
            </a:r>
            <a:r>
              <a:rPr dirty="0" spc="-1150">
                <a:solidFill>
                  <a:srgbClr val="000000"/>
                </a:solidFill>
              </a:rPr>
              <a:t>t</a:t>
            </a:r>
            <a:r>
              <a:rPr dirty="0" spc="-1150"/>
              <a:t>t</a:t>
            </a:r>
            <a:r>
              <a:rPr dirty="0" spc="-1150">
                <a:solidFill>
                  <a:srgbClr val="000000"/>
                </a:solidFill>
              </a:rPr>
              <a:t>h</a:t>
            </a:r>
            <a:r>
              <a:rPr dirty="0" spc="-1150"/>
              <a:t>h</a:t>
            </a:r>
            <a:r>
              <a:rPr dirty="0" spc="-1150">
                <a:solidFill>
                  <a:srgbClr val="000000"/>
                </a:solidFill>
              </a:rPr>
              <a:t>e</a:t>
            </a:r>
            <a:r>
              <a:rPr dirty="0" spc="-1150"/>
              <a:t>e</a:t>
            </a:r>
            <a:r>
              <a:rPr dirty="0" spc="-1150">
                <a:solidFill>
                  <a:srgbClr val="000000"/>
                </a:solidFill>
              </a:rPr>
              <a:t>m</a:t>
            </a:r>
            <a:r>
              <a:rPr dirty="0" spc="-1150"/>
              <a:t>m</a:t>
            </a:r>
            <a:r>
              <a:rPr dirty="0" spc="-1150">
                <a:solidFill>
                  <a:srgbClr val="000000"/>
                </a:solidFill>
              </a:rPr>
              <a:t>a</a:t>
            </a:r>
            <a:r>
              <a:rPr dirty="0" spc="-1150"/>
              <a:t>a</a:t>
            </a:r>
            <a:r>
              <a:rPr dirty="0" spc="-1150">
                <a:solidFill>
                  <a:srgbClr val="000000"/>
                </a:solidFill>
              </a:rPr>
              <a:t>t</a:t>
            </a:r>
            <a:r>
              <a:rPr dirty="0" spc="-1150"/>
              <a:t>t</a:t>
            </a:r>
            <a:r>
              <a:rPr dirty="0" spc="-1150">
                <a:solidFill>
                  <a:srgbClr val="000000"/>
                </a:solidFill>
              </a:rPr>
              <a:t>i</a:t>
            </a:r>
            <a:r>
              <a:rPr dirty="0" spc="-1150"/>
              <a:t>i</a:t>
            </a:r>
            <a:r>
              <a:rPr dirty="0" spc="-1150">
                <a:solidFill>
                  <a:srgbClr val="000000"/>
                </a:solidFill>
              </a:rPr>
              <a:t>c</a:t>
            </a:r>
            <a:r>
              <a:rPr dirty="0" spc="-1150"/>
              <a:t>c</a:t>
            </a:r>
            <a:r>
              <a:rPr dirty="0" spc="-1150">
                <a:solidFill>
                  <a:srgbClr val="000000"/>
                </a:solidFill>
              </a:rPr>
              <a:t>a</a:t>
            </a:r>
            <a:r>
              <a:rPr dirty="0" spc="-1150"/>
              <a:t>a</a:t>
            </a:r>
            <a:r>
              <a:rPr dirty="0" spc="-1150">
                <a:solidFill>
                  <a:srgbClr val="000000"/>
                </a:solidFill>
              </a:rPr>
              <a:t>l</a:t>
            </a:r>
            <a:r>
              <a:rPr dirty="0" spc="-1150"/>
              <a:t>l </a:t>
            </a:r>
            <a:r>
              <a:rPr dirty="0" spc="-1160">
                <a:solidFill>
                  <a:srgbClr val="000000"/>
                </a:solidFill>
              </a:rPr>
              <a:t>B</a:t>
            </a:r>
            <a:r>
              <a:rPr dirty="0" spc="-1160"/>
              <a:t>B</a:t>
            </a:r>
            <a:r>
              <a:rPr dirty="0" spc="-1160">
                <a:solidFill>
                  <a:srgbClr val="000000"/>
                </a:solidFill>
              </a:rPr>
              <a:t>a</a:t>
            </a:r>
            <a:r>
              <a:rPr dirty="0" spc="-1160"/>
              <a:t>a</a:t>
            </a:r>
            <a:r>
              <a:rPr dirty="0" spc="-1160">
                <a:solidFill>
                  <a:srgbClr val="000000"/>
                </a:solidFill>
              </a:rPr>
              <a:t>c</a:t>
            </a:r>
            <a:r>
              <a:rPr dirty="0" spc="-1160"/>
              <a:t>c</a:t>
            </a:r>
            <a:r>
              <a:rPr dirty="0" spc="-1160">
                <a:solidFill>
                  <a:srgbClr val="000000"/>
                </a:solidFill>
              </a:rPr>
              <a:t>k</a:t>
            </a:r>
            <a:r>
              <a:rPr dirty="0" spc="-1160"/>
              <a:t>k</a:t>
            </a:r>
            <a:r>
              <a:rPr dirty="0" spc="-1160">
                <a:solidFill>
                  <a:srgbClr val="000000"/>
                </a:solidFill>
              </a:rPr>
              <a:t>g</a:t>
            </a:r>
            <a:r>
              <a:rPr dirty="0" spc="-1160"/>
              <a:t>g</a:t>
            </a:r>
            <a:r>
              <a:rPr dirty="0" spc="-1160">
                <a:solidFill>
                  <a:srgbClr val="000000"/>
                </a:solidFill>
              </a:rPr>
              <a:t>r</a:t>
            </a:r>
            <a:r>
              <a:rPr dirty="0" spc="-1160"/>
              <a:t>r</a:t>
            </a:r>
            <a:r>
              <a:rPr dirty="0" spc="-1160">
                <a:solidFill>
                  <a:srgbClr val="000000"/>
                </a:solidFill>
              </a:rPr>
              <a:t>o</a:t>
            </a:r>
            <a:r>
              <a:rPr dirty="0" spc="-1160"/>
              <a:t>o</a:t>
            </a:r>
            <a:r>
              <a:rPr dirty="0" spc="-1160">
                <a:solidFill>
                  <a:srgbClr val="000000"/>
                </a:solidFill>
              </a:rPr>
              <a:t>u</a:t>
            </a:r>
            <a:r>
              <a:rPr dirty="0" spc="-1160"/>
              <a:t>u</a:t>
            </a:r>
            <a:r>
              <a:rPr dirty="0" spc="-1160">
                <a:solidFill>
                  <a:srgbClr val="000000"/>
                </a:solidFill>
              </a:rPr>
              <a:t>n</a:t>
            </a:r>
            <a:r>
              <a:rPr dirty="0" spc="-1160"/>
              <a:t>n</a:t>
            </a:r>
            <a:r>
              <a:rPr dirty="0" spc="-1160">
                <a:solidFill>
                  <a:srgbClr val="000000"/>
                </a:solidFill>
              </a:rPr>
              <a:t>d</a:t>
            </a:r>
            <a:r>
              <a:rPr dirty="0" spc="-1160"/>
              <a:t>d </a:t>
            </a:r>
            <a:r>
              <a:rPr dirty="0" spc="-1205">
                <a:solidFill>
                  <a:srgbClr val="000000"/>
                </a:solidFill>
              </a:rPr>
              <a:t>o</a:t>
            </a:r>
            <a:r>
              <a:rPr dirty="0" spc="-1205"/>
              <a:t>o</a:t>
            </a:r>
            <a:r>
              <a:rPr dirty="0" spc="-1205">
                <a:solidFill>
                  <a:srgbClr val="000000"/>
                </a:solidFill>
              </a:rPr>
              <a:t>n</a:t>
            </a:r>
            <a:r>
              <a:rPr dirty="0" spc="-1205"/>
              <a:t>n </a:t>
            </a:r>
            <a:r>
              <a:rPr dirty="0" spc="-1180">
                <a:solidFill>
                  <a:srgbClr val="000000"/>
                </a:solidFill>
              </a:rPr>
              <a:t>t</a:t>
            </a:r>
            <a:r>
              <a:rPr dirty="0" spc="-1180"/>
              <a:t>t</a:t>
            </a:r>
            <a:r>
              <a:rPr dirty="0" spc="-1180">
                <a:solidFill>
                  <a:srgbClr val="000000"/>
                </a:solidFill>
              </a:rPr>
              <a:t>h</a:t>
            </a:r>
            <a:r>
              <a:rPr dirty="0" spc="-1180"/>
              <a:t>h</a:t>
            </a:r>
            <a:r>
              <a:rPr dirty="0" spc="-1180">
                <a:solidFill>
                  <a:srgbClr val="000000"/>
                </a:solidFill>
              </a:rPr>
              <a:t>e</a:t>
            </a:r>
            <a:r>
              <a:rPr dirty="0" spc="-1180"/>
              <a:t>e </a:t>
            </a:r>
            <a:r>
              <a:rPr dirty="0" spc="-1145">
                <a:solidFill>
                  <a:srgbClr val="000000"/>
                </a:solidFill>
              </a:rPr>
              <a:t>9</a:t>
            </a:r>
            <a:r>
              <a:rPr dirty="0" spc="-1145"/>
              <a:t>9</a:t>
            </a:r>
            <a:r>
              <a:rPr dirty="0" spc="-1145">
                <a:solidFill>
                  <a:srgbClr val="000000"/>
                </a:solidFill>
              </a:rPr>
              <a:t>5</a:t>
            </a:r>
            <a:r>
              <a:rPr dirty="0" spc="-1145"/>
              <a:t>5</a:t>
            </a:r>
            <a:r>
              <a:rPr dirty="0" spc="-1145">
                <a:solidFill>
                  <a:srgbClr val="000000"/>
                </a:solidFill>
              </a:rPr>
              <a:t>%</a:t>
            </a:r>
            <a:r>
              <a:rPr dirty="0" spc="-1145"/>
              <a:t>% </a:t>
            </a:r>
            <a:r>
              <a:rPr dirty="0" spc="-1015">
                <a:solidFill>
                  <a:srgbClr val="000000"/>
                </a:solidFill>
              </a:rPr>
              <a:t>L</a:t>
            </a:r>
            <a:r>
              <a:rPr dirty="0" spc="-1015"/>
              <a:t>L</a:t>
            </a:r>
            <a:r>
              <a:rPr dirty="0" spc="-1015">
                <a:solidFill>
                  <a:srgbClr val="000000"/>
                </a:solidFill>
              </a:rPr>
              <a:t>i</a:t>
            </a:r>
            <a:r>
              <a:rPr dirty="0" spc="-1015"/>
              <a:t>i</a:t>
            </a:r>
            <a:r>
              <a:rPr dirty="0" spc="-1015">
                <a:solidFill>
                  <a:srgbClr val="000000"/>
                </a:solidFill>
              </a:rPr>
              <a:t>m</a:t>
            </a:r>
            <a:r>
              <a:rPr dirty="0" spc="-1015"/>
              <a:t>m</a:t>
            </a:r>
            <a:r>
              <a:rPr dirty="0" spc="-1015">
                <a:solidFill>
                  <a:srgbClr val="000000"/>
                </a:solidFill>
              </a:rPr>
              <a:t>i</a:t>
            </a:r>
            <a:r>
              <a:rPr dirty="0" spc="-1015"/>
              <a:t>i</a:t>
            </a:r>
            <a:r>
              <a:rPr dirty="0" spc="-1015">
                <a:solidFill>
                  <a:srgbClr val="000000"/>
                </a:solidFill>
              </a:rPr>
              <a:t>t</a:t>
            </a:r>
            <a:r>
              <a:rPr dirty="0" spc="-1015"/>
              <a:t>t</a:t>
            </a:r>
            <a:r>
              <a:rPr dirty="0" spc="-1015">
                <a:solidFill>
                  <a:srgbClr val="000000"/>
                </a:solidFill>
              </a:rPr>
              <a:t>s</a:t>
            </a:r>
            <a:r>
              <a:rPr dirty="0" spc="-1015"/>
              <a:t>s  </a:t>
            </a:r>
            <a:r>
              <a:rPr dirty="0" spc="-1019">
                <a:solidFill>
                  <a:srgbClr val="000000"/>
                </a:solidFill>
              </a:rPr>
              <a:t>o</a:t>
            </a:r>
            <a:r>
              <a:rPr dirty="0" spc="-1019"/>
              <a:t>o</a:t>
            </a:r>
            <a:r>
              <a:rPr dirty="0" spc="-1019">
                <a:solidFill>
                  <a:srgbClr val="000000"/>
                </a:solidFill>
              </a:rPr>
              <a:t>f</a:t>
            </a:r>
            <a:r>
              <a:rPr dirty="0" spc="-1019"/>
              <a:t>f </a:t>
            </a:r>
            <a:r>
              <a:rPr dirty="0" spc="-1180">
                <a:solidFill>
                  <a:srgbClr val="000000"/>
                </a:solidFill>
              </a:rPr>
              <a:t>t</a:t>
            </a:r>
            <a:r>
              <a:rPr dirty="0" spc="-1180"/>
              <a:t>t</a:t>
            </a:r>
            <a:r>
              <a:rPr dirty="0" spc="-1180">
                <a:solidFill>
                  <a:srgbClr val="000000"/>
                </a:solidFill>
              </a:rPr>
              <a:t>h</a:t>
            </a:r>
            <a:r>
              <a:rPr dirty="0" spc="-1180"/>
              <a:t>h</a:t>
            </a:r>
            <a:r>
              <a:rPr dirty="0" spc="-1180">
                <a:solidFill>
                  <a:srgbClr val="000000"/>
                </a:solidFill>
              </a:rPr>
              <a:t>e</a:t>
            </a:r>
            <a:r>
              <a:rPr dirty="0" spc="-1180"/>
              <a:t>e </a:t>
            </a:r>
            <a:r>
              <a:rPr dirty="0" spc="-1230"/>
              <a:t>A</a:t>
            </a:r>
            <a:r>
              <a:rPr dirty="0" spc="-1230">
                <a:solidFill>
                  <a:srgbClr val="000000"/>
                </a:solidFill>
              </a:rPr>
              <a:t>AC</a:t>
            </a:r>
            <a:r>
              <a:rPr dirty="0" spc="-1230"/>
              <a:t>C</a:t>
            </a:r>
            <a:r>
              <a:rPr dirty="0" spc="-1230">
                <a:solidFill>
                  <a:srgbClr val="000000"/>
                </a:solidFill>
              </a:rPr>
              <a:t>F</a:t>
            </a:r>
            <a:r>
              <a:rPr dirty="0" spc="-1230"/>
              <a:t>F </a:t>
            </a:r>
            <a:r>
              <a:rPr dirty="0" spc="-1170">
                <a:solidFill>
                  <a:srgbClr val="000000"/>
                </a:solidFill>
              </a:rPr>
              <a:t>P</a:t>
            </a:r>
            <a:r>
              <a:rPr dirty="0" spc="-1170"/>
              <a:t>P</a:t>
            </a:r>
            <a:r>
              <a:rPr dirty="0" spc="-1170">
                <a:solidFill>
                  <a:srgbClr val="000000"/>
                </a:solidFill>
              </a:rPr>
              <a:t>l</a:t>
            </a:r>
            <a:r>
              <a:rPr dirty="0" spc="-1170"/>
              <a:t>l</a:t>
            </a:r>
            <a:r>
              <a:rPr dirty="0" spc="-1170">
                <a:solidFill>
                  <a:srgbClr val="000000"/>
                </a:solidFill>
              </a:rPr>
              <a:t>o</a:t>
            </a:r>
            <a:r>
              <a:rPr dirty="0" spc="-1170"/>
              <a:t>ot</a:t>
            </a:r>
            <a:r>
              <a:rPr dirty="0" spc="-1170">
                <a:solidFill>
                  <a:srgbClr val="000000"/>
                </a:solidFill>
              </a:rPr>
              <a:t>t</a:t>
            </a:r>
          </a:p>
        </p:txBody>
      </p:sp>
      <p:sp>
        <p:nvSpPr>
          <p:cNvPr id="6" name="object 6"/>
          <p:cNvSpPr/>
          <p:nvPr/>
        </p:nvSpPr>
        <p:spPr>
          <a:xfrm>
            <a:off x="1752600" y="3169920"/>
            <a:ext cx="4636135" cy="1076325"/>
          </a:xfrm>
          <a:custGeom>
            <a:avLst/>
            <a:gdLst/>
            <a:ahLst/>
            <a:cxnLst/>
            <a:rect l="l" t="t" r="r" b="b"/>
            <a:pathLst>
              <a:path w="4636135" h="1076325">
                <a:moveTo>
                  <a:pt x="0" y="0"/>
                </a:moveTo>
                <a:lnTo>
                  <a:pt x="4636008" y="0"/>
                </a:lnTo>
                <a:lnTo>
                  <a:pt x="4636008" y="1075944"/>
                </a:lnTo>
                <a:lnTo>
                  <a:pt x="0" y="107594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792088" y="3371608"/>
            <a:ext cx="340995" cy="6140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645"/>
              </a:lnSpc>
            </a:pPr>
            <a:r>
              <a:rPr dirty="0" sz="4100" spc="-3060">
                <a:latin typeface="Trebuchet MS"/>
                <a:cs typeface="Trebuchet MS"/>
              </a:rPr>
              <a:t>w</a:t>
            </a:r>
            <a:r>
              <a:rPr dirty="0" sz="4100" spc="-375">
                <a:solidFill>
                  <a:srgbClr val="FFFFFF"/>
                </a:solidFill>
                <a:latin typeface="Trebuchet MS"/>
                <a:cs typeface="Trebuchet MS"/>
              </a:rPr>
              <a:t>w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19800" y="3233928"/>
            <a:ext cx="3749040" cy="899160"/>
          </a:xfrm>
          <a:custGeom>
            <a:avLst/>
            <a:gdLst/>
            <a:ahLst/>
            <a:cxnLst/>
            <a:rect l="l" t="t" r="r" b="b"/>
            <a:pathLst>
              <a:path w="3749040" h="899160">
                <a:moveTo>
                  <a:pt x="0" y="0"/>
                </a:moveTo>
                <a:lnTo>
                  <a:pt x="3749040" y="0"/>
                </a:lnTo>
                <a:lnTo>
                  <a:pt x="3749040" y="899160"/>
                </a:lnTo>
                <a:lnTo>
                  <a:pt x="0" y="89916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273808" y="3694176"/>
            <a:ext cx="6964680" cy="1076325"/>
          </a:xfrm>
          <a:custGeom>
            <a:avLst/>
            <a:gdLst/>
            <a:ahLst/>
            <a:cxnLst/>
            <a:rect l="l" t="t" r="r" b="b"/>
            <a:pathLst>
              <a:path w="6964680" h="1076325">
                <a:moveTo>
                  <a:pt x="0" y="0"/>
                </a:moveTo>
                <a:lnTo>
                  <a:pt x="6964680" y="0"/>
                </a:lnTo>
                <a:lnTo>
                  <a:pt x="6964680" y="1075944"/>
                </a:lnTo>
                <a:lnTo>
                  <a:pt x="0" y="107594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974899" y="3321050"/>
            <a:ext cx="7575550" cy="1177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ts val="4520"/>
              </a:lnSpc>
              <a:spcBef>
                <a:spcPts val="125"/>
              </a:spcBef>
              <a:tabLst>
                <a:tab pos="4264660" algn="l"/>
              </a:tabLst>
            </a:pPr>
            <a:r>
              <a:rPr dirty="0" sz="4100" spc="-1110">
                <a:latin typeface="Trebuchet MS"/>
                <a:cs typeface="Trebuchet MS"/>
              </a:rPr>
              <a:t>(</a:t>
            </a:r>
            <a:r>
              <a:rPr dirty="0" sz="4100" spc="-111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dirty="0" sz="4100" spc="-1110">
                <a:latin typeface="Trebuchet MS"/>
                <a:cs typeface="Trebuchet MS"/>
              </a:rPr>
              <a:t>U</a:t>
            </a:r>
            <a:r>
              <a:rPr dirty="0" sz="4100" spc="-111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z="4100" spc="-1110">
                <a:latin typeface="Trebuchet MS"/>
                <a:cs typeface="Trebuchet MS"/>
              </a:rPr>
              <a:t>n</a:t>
            </a:r>
            <a:r>
              <a:rPr dirty="0" sz="4100" spc="-111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1110">
                <a:latin typeface="Trebuchet MS"/>
                <a:cs typeface="Trebuchet MS"/>
              </a:rPr>
              <a:t>d</a:t>
            </a:r>
            <a:r>
              <a:rPr dirty="0" sz="4100" spc="-111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4100" spc="-1110">
                <a:latin typeface="Trebuchet MS"/>
                <a:cs typeface="Trebuchet MS"/>
              </a:rPr>
              <a:t>e</a:t>
            </a:r>
            <a:r>
              <a:rPr dirty="0" sz="4100" spc="-111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110">
                <a:latin typeface="Trebuchet MS"/>
                <a:cs typeface="Trebuchet MS"/>
              </a:rPr>
              <a:t>r</a:t>
            </a:r>
            <a:r>
              <a:rPr dirty="0" sz="4100" spc="-111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4100" spc="-1110">
                <a:latin typeface="Trebuchet MS"/>
                <a:cs typeface="Trebuchet MS"/>
              </a:rPr>
              <a:t>s</a:t>
            </a:r>
            <a:r>
              <a:rPr dirty="0" sz="4100" spc="-111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4100" spc="-1110">
                <a:latin typeface="Trebuchet MS"/>
                <a:cs typeface="Trebuchet MS"/>
              </a:rPr>
              <a:t>t</a:t>
            </a:r>
            <a:r>
              <a:rPr dirty="0" sz="4100" spc="-111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1110">
                <a:latin typeface="Trebuchet MS"/>
                <a:cs typeface="Trebuchet MS"/>
              </a:rPr>
              <a:t>a</a:t>
            </a:r>
            <a:r>
              <a:rPr dirty="0" sz="4100" spc="-111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1110">
                <a:latin typeface="Trebuchet MS"/>
                <a:cs typeface="Trebuchet MS"/>
              </a:rPr>
              <a:t>n</a:t>
            </a:r>
            <a:r>
              <a:rPr dirty="0" sz="4100" spc="-111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1110">
                <a:latin typeface="Trebuchet MS"/>
                <a:cs typeface="Trebuchet MS"/>
              </a:rPr>
              <a:t>d</a:t>
            </a:r>
            <a:r>
              <a:rPr dirty="0" sz="4100" spc="-111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4100" spc="-1110">
                <a:latin typeface="Trebuchet MS"/>
                <a:cs typeface="Trebuchet MS"/>
              </a:rPr>
              <a:t>i</a:t>
            </a:r>
            <a:r>
              <a:rPr dirty="0" sz="4100" spc="-111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110">
                <a:latin typeface="Trebuchet MS"/>
                <a:cs typeface="Trebuchet MS"/>
              </a:rPr>
              <a:t>n</a:t>
            </a:r>
            <a:r>
              <a:rPr dirty="0" sz="4100" spc="-111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1110">
                <a:latin typeface="Trebuchet MS"/>
                <a:cs typeface="Trebuchet MS"/>
              </a:rPr>
              <a:t>g</a:t>
            </a:r>
            <a:r>
              <a:rPr dirty="0" sz="4100" spc="-1110">
                <a:solidFill>
                  <a:srgbClr val="FFFFFF"/>
                </a:solidFill>
                <a:latin typeface="Trebuchet MS"/>
                <a:cs typeface="Trebuchet MS"/>
              </a:rPr>
              <a:t>g      </a:t>
            </a:r>
            <a:r>
              <a:rPr dirty="0" sz="4100" spc="-10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00" spc="-1210">
                <a:latin typeface="Trebuchet MS"/>
                <a:cs typeface="Trebuchet MS"/>
              </a:rPr>
              <a:t>h</a:t>
            </a:r>
            <a:r>
              <a:rPr dirty="0" sz="4100" spc="-121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dirty="0" sz="4100" spc="-1210">
                <a:latin typeface="Trebuchet MS"/>
                <a:cs typeface="Trebuchet MS"/>
              </a:rPr>
              <a:t>o</a:t>
            </a:r>
            <a:r>
              <a:rPr dirty="0" sz="4100" spc="-1210">
                <a:solidFill>
                  <a:srgbClr val="FFFFFF"/>
                </a:solidFill>
                <a:latin typeface="Trebuchet MS"/>
                <a:cs typeface="Trebuchet MS"/>
              </a:rPr>
              <a:t>o	</a:t>
            </a:r>
            <a:r>
              <a:rPr dirty="0" sz="3900" spc="-1170">
                <a:latin typeface="Courier New"/>
                <a:cs typeface="Courier New"/>
              </a:rPr>
              <a:t>s</a:t>
            </a:r>
            <a:r>
              <a:rPr dirty="0" sz="3900" spc="-117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dirty="0" sz="3900" spc="-1170">
                <a:latin typeface="Courier New"/>
                <a:cs typeface="Courier New"/>
              </a:rPr>
              <a:t>t</a:t>
            </a:r>
            <a:r>
              <a:rPr dirty="0" sz="3900" spc="-1170">
                <a:solidFill>
                  <a:srgbClr val="FFFFFF"/>
                </a:solidFill>
                <a:latin typeface="Courier New"/>
                <a:cs typeface="Courier New"/>
              </a:rPr>
              <a:t>t</a:t>
            </a:r>
            <a:r>
              <a:rPr dirty="0" sz="3900" spc="-1170">
                <a:latin typeface="Courier New"/>
                <a:cs typeface="Courier New"/>
              </a:rPr>
              <a:t>a</a:t>
            </a:r>
            <a:r>
              <a:rPr dirty="0" sz="3900" spc="-117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dirty="0" sz="3900" spc="-1170">
                <a:latin typeface="Courier New"/>
                <a:cs typeface="Courier New"/>
              </a:rPr>
              <a:t>t</a:t>
            </a:r>
            <a:r>
              <a:rPr dirty="0" sz="3900" spc="-1170">
                <a:solidFill>
                  <a:srgbClr val="FFFFFF"/>
                </a:solidFill>
                <a:latin typeface="Courier New"/>
                <a:cs typeface="Courier New"/>
              </a:rPr>
              <a:t>t</a:t>
            </a:r>
            <a:r>
              <a:rPr dirty="0" sz="3900" spc="-1170">
                <a:latin typeface="Courier New"/>
                <a:cs typeface="Courier New"/>
              </a:rPr>
              <a:t>s</a:t>
            </a:r>
            <a:r>
              <a:rPr dirty="0" sz="3900" spc="-117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r>
              <a:rPr dirty="0" sz="3900" spc="-1170">
                <a:latin typeface="Courier New"/>
                <a:cs typeface="Courier New"/>
              </a:rPr>
              <a:t>m</a:t>
            </a:r>
            <a:r>
              <a:rPr dirty="0" sz="3900" spc="-1170">
                <a:solidFill>
                  <a:srgbClr val="FFFFFF"/>
                </a:solidFill>
                <a:latin typeface="Courier New"/>
                <a:cs typeface="Courier New"/>
              </a:rPr>
              <a:t>m</a:t>
            </a:r>
            <a:r>
              <a:rPr dirty="0" sz="3900" spc="-1170">
                <a:latin typeface="Courier New"/>
                <a:cs typeface="Courier New"/>
              </a:rPr>
              <a:t>o</a:t>
            </a:r>
            <a:r>
              <a:rPr dirty="0" sz="3900" spc="-117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dirty="0" sz="3900" spc="-1170">
                <a:latin typeface="Courier New"/>
                <a:cs typeface="Courier New"/>
              </a:rPr>
              <a:t>d</a:t>
            </a:r>
            <a:r>
              <a:rPr dirty="0" sz="3900" spc="-1170">
                <a:solidFill>
                  <a:srgbClr val="FFFFFF"/>
                </a:solidFill>
                <a:latin typeface="Courier New"/>
                <a:cs typeface="Courier New"/>
              </a:rPr>
              <a:t>de</a:t>
            </a:r>
            <a:r>
              <a:rPr dirty="0" sz="3900" spc="-1170">
                <a:latin typeface="Courier New"/>
                <a:cs typeface="Courier New"/>
              </a:rPr>
              <a:t>e</a:t>
            </a:r>
            <a:r>
              <a:rPr dirty="0" sz="3900" spc="-117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r>
              <a:rPr dirty="0" sz="3900" spc="-1170">
                <a:latin typeface="Courier New"/>
                <a:cs typeface="Courier New"/>
              </a:rPr>
              <a:t>ls</a:t>
            </a:r>
            <a:r>
              <a:rPr dirty="0" sz="3900" spc="-1170">
                <a:solidFill>
                  <a:srgbClr val="FFFFFF"/>
                </a:solidFill>
                <a:latin typeface="Courier New"/>
                <a:cs typeface="Courier New"/>
              </a:rPr>
              <a:t>s</a:t>
            </a:r>
            <a:endParaRPr sz="3900">
              <a:latin typeface="Courier New"/>
              <a:cs typeface="Courier New"/>
            </a:endParaRPr>
          </a:p>
          <a:p>
            <a:pPr algn="ctr">
              <a:lnSpc>
                <a:spcPts val="4520"/>
              </a:lnSpc>
            </a:pPr>
            <a:r>
              <a:rPr dirty="0" sz="4100" spc="-1205">
                <a:latin typeface="Trebuchet MS"/>
                <a:cs typeface="Trebuchet MS"/>
              </a:rPr>
              <a:t>c</a:t>
            </a:r>
            <a:r>
              <a:rPr dirty="0" sz="4100" spc="-1205">
                <a:solidFill>
                  <a:srgbClr val="FFFFFF"/>
                </a:solidFill>
                <a:latin typeface="Trebuchet MS"/>
                <a:cs typeface="Trebuchet MS"/>
              </a:rPr>
              <a:t>co</a:t>
            </a:r>
            <a:r>
              <a:rPr dirty="0" sz="4100" spc="-1205">
                <a:latin typeface="Trebuchet MS"/>
                <a:cs typeface="Trebuchet MS"/>
              </a:rPr>
              <a:t>o</a:t>
            </a:r>
            <a:r>
              <a:rPr dirty="0" sz="4100" spc="-1205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4100" spc="-1205">
                <a:latin typeface="Trebuchet MS"/>
                <a:cs typeface="Trebuchet MS"/>
              </a:rPr>
              <a:t>m</a:t>
            </a:r>
            <a:r>
              <a:rPr dirty="0" sz="4100" spc="-1205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dirty="0" sz="4100" spc="-1205">
                <a:latin typeface="Trebuchet MS"/>
                <a:cs typeface="Trebuchet MS"/>
              </a:rPr>
              <a:t>p</a:t>
            </a:r>
            <a:r>
              <a:rPr dirty="0" sz="4100" spc="-1205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z="4100" spc="-1205">
                <a:latin typeface="Trebuchet MS"/>
                <a:cs typeface="Trebuchet MS"/>
              </a:rPr>
              <a:t>ut</a:t>
            </a:r>
            <a:r>
              <a:rPr dirty="0" sz="4100" spc="-1205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dirty="0" sz="4100" spc="-1205">
                <a:latin typeface="Trebuchet MS"/>
                <a:cs typeface="Trebuchet MS"/>
              </a:rPr>
              <a:t>es</a:t>
            </a:r>
            <a:r>
              <a:rPr dirty="0" sz="4100" spc="-1205">
                <a:solidFill>
                  <a:srgbClr val="FFFFFF"/>
                </a:solidFill>
                <a:latin typeface="Trebuchet MS"/>
                <a:cs typeface="Trebuchet MS"/>
              </a:rPr>
              <a:t>s </a:t>
            </a:r>
            <a:r>
              <a:rPr dirty="0" sz="4100" spc="-1130">
                <a:latin typeface="Trebuchet MS"/>
                <a:cs typeface="Trebuchet MS"/>
              </a:rPr>
              <a:t>c</a:t>
            </a:r>
            <a:r>
              <a:rPr dirty="0" sz="4100" spc="-1130">
                <a:solidFill>
                  <a:srgbClr val="FFFFFF"/>
                </a:solidFill>
                <a:latin typeface="Trebuchet MS"/>
                <a:cs typeface="Trebuchet MS"/>
              </a:rPr>
              <a:t>co</a:t>
            </a:r>
            <a:r>
              <a:rPr dirty="0" sz="4100" spc="-1130">
                <a:latin typeface="Trebuchet MS"/>
                <a:cs typeface="Trebuchet MS"/>
              </a:rPr>
              <a:t>o</a:t>
            </a:r>
            <a:r>
              <a:rPr dirty="0" sz="4100" spc="-113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1130">
                <a:latin typeface="Trebuchet MS"/>
                <a:cs typeface="Trebuchet MS"/>
              </a:rPr>
              <a:t>n</a:t>
            </a:r>
            <a:r>
              <a:rPr dirty="0" sz="4100" spc="-1130">
                <a:solidFill>
                  <a:srgbClr val="FFFFFF"/>
                </a:solidFill>
                <a:latin typeface="Trebuchet MS"/>
                <a:cs typeface="Trebuchet MS"/>
              </a:rPr>
              <a:t>fi</a:t>
            </a:r>
            <a:r>
              <a:rPr dirty="0" sz="4100" spc="-1130">
                <a:latin typeface="Trebuchet MS"/>
                <a:cs typeface="Trebuchet MS"/>
              </a:rPr>
              <a:t>fi</a:t>
            </a:r>
            <a:r>
              <a:rPr dirty="0" sz="4100" spc="-113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4100" spc="-1130">
                <a:latin typeface="Trebuchet MS"/>
                <a:cs typeface="Trebuchet MS"/>
              </a:rPr>
              <a:t>d</a:t>
            </a:r>
            <a:r>
              <a:rPr dirty="0" sz="4100" spc="-113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130">
                <a:latin typeface="Trebuchet MS"/>
                <a:cs typeface="Trebuchet MS"/>
              </a:rPr>
              <a:t>en</a:t>
            </a:r>
            <a:r>
              <a:rPr dirty="0" sz="4100" spc="-113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1130">
                <a:latin typeface="Trebuchet MS"/>
                <a:cs typeface="Trebuchet MS"/>
              </a:rPr>
              <a:t>c</a:t>
            </a:r>
            <a:r>
              <a:rPr dirty="0" sz="4100" spc="-1130">
                <a:solidFill>
                  <a:srgbClr val="FFFFFF"/>
                </a:solidFill>
                <a:latin typeface="Trebuchet MS"/>
                <a:cs typeface="Trebuchet MS"/>
              </a:rPr>
              <a:t>ce</a:t>
            </a:r>
            <a:r>
              <a:rPr dirty="0" sz="4100" spc="-1130">
                <a:latin typeface="Trebuchet MS"/>
                <a:cs typeface="Trebuchet MS"/>
              </a:rPr>
              <a:t>e</a:t>
            </a:r>
            <a:r>
              <a:rPr dirty="0" sz="4100" spc="-1035">
                <a:latin typeface="Trebuchet MS"/>
                <a:cs typeface="Trebuchet MS"/>
              </a:rPr>
              <a:t> </a:t>
            </a:r>
            <a:r>
              <a:rPr dirty="0" sz="4100" spc="-98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980">
                <a:latin typeface="Trebuchet MS"/>
                <a:cs typeface="Trebuchet MS"/>
              </a:rPr>
              <a:t>in</a:t>
            </a:r>
            <a:r>
              <a:rPr dirty="0" sz="4100" spc="-98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980">
                <a:latin typeface="Trebuchet MS"/>
                <a:cs typeface="Trebuchet MS"/>
              </a:rPr>
              <a:t>t</a:t>
            </a:r>
            <a:r>
              <a:rPr dirty="0" sz="4100" spc="-98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980">
                <a:latin typeface="Trebuchet MS"/>
                <a:cs typeface="Trebuchet MS"/>
              </a:rPr>
              <a:t>e</a:t>
            </a:r>
            <a:r>
              <a:rPr dirty="0" sz="4100" spc="-98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980">
                <a:latin typeface="Trebuchet MS"/>
                <a:cs typeface="Trebuchet MS"/>
              </a:rPr>
              <a:t>r</a:t>
            </a:r>
            <a:r>
              <a:rPr dirty="0" sz="4100" spc="-98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4100" spc="-980">
                <a:latin typeface="Trebuchet MS"/>
                <a:cs typeface="Trebuchet MS"/>
              </a:rPr>
              <a:t>v</a:t>
            </a:r>
            <a:r>
              <a:rPr dirty="0" sz="4100" spc="-98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dirty="0" sz="4100" spc="-980">
                <a:latin typeface="Trebuchet MS"/>
                <a:cs typeface="Trebuchet MS"/>
              </a:rPr>
              <a:t>a</a:t>
            </a:r>
            <a:r>
              <a:rPr dirty="0" sz="4100" spc="-98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980">
                <a:latin typeface="Trebuchet MS"/>
                <a:cs typeface="Trebuchet MS"/>
              </a:rPr>
              <a:t>l</a:t>
            </a:r>
            <a:r>
              <a:rPr dirty="0" sz="4100" spc="-98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4100" spc="-980">
                <a:latin typeface="Trebuchet MS"/>
                <a:cs typeface="Trebuchet MS"/>
              </a:rPr>
              <a:t>s</a:t>
            </a:r>
            <a:r>
              <a:rPr dirty="0" sz="4100" spc="-98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4100" spc="-980">
                <a:latin typeface="Trebuchet MS"/>
                <a:cs typeface="Trebuchet MS"/>
              </a:rPr>
              <a:t>)</a:t>
            </a:r>
            <a:r>
              <a:rPr dirty="0" sz="4100" spc="-980">
                <a:solidFill>
                  <a:srgbClr val="FFFFFF"/>
                </a:solidFill>
                <a:latin typeface="Trebuchet MS"/>
                <a:cs typeface="Trebuchet MS"/>
              </a:rPr>
              <a:t>)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200" spc="-295">
                <a:latin typeface="Trebuchet MS"/>
                <a:cs typeface="Trebuchet MS"/>
              </a:rPr>
              <a:t>0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0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8351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220">
                <a:solidFill>
                  <a:srgbClr val="C2132D"/>
                </a:solidFill>
              </a:rPr>
              <a:t>1. </a:t>
            </a:r>
            <a:r>
              <a:rPr dirty="0" sz="3350" spc="-175">
                <a:solidFill>
                  <a:srgbClr val="C2132D"/>
                </a:solidFill>
              </a:rPr>
              <a:t>Standard </a:t>
            </a:r>
            <a:r>
              <a:rPr dirty="0" sz="3350" spc="-220">
                <a:solidFill>
                  <a:srgbClr val="C2132D"/>
                </a:solidFill>
              </a:rPr>
              <a:t>Error </a:t>
            </a:r>
            <a:r>
              <a:rPr dirty="0" sz="3350" spc="-140">
                <a:solidFill>
                  <a:srgbClr val="C2132D"/>
                </a:solidFill>
              </a:rPr>
              <a:t>of </a:t>
            </a:r>
            <a:r>
              <a:rPr dirty="0" sz="3350" spc="-95">
                <a:solidFill>
                  <a:srgbClr val="C2132D"/>
                </a:solidFill>
              </a:rPr>
              <a:t>ACF </a:t>
            </a:r>
            <a:r>
              <a:rPr dirty="0" sz="3350" spc="-185">
                <a:solidFill>
                  <a:srgbClr val="C2132D"/>
                </a:solidFill>
              </a:rPr>
              <a:t>for </a:t>
            </a:r>
            <a:r>
              <a:rPr dirty="0" sz="3350" spc="-250">
                <a:solidFill>
                  <a:srgbClr val="C2132D"/>
                </a:solidFill>
              </a:rPr>
              <a:t>White</a:t>
            </a:r>
            <a:r>
              <a:rPr dirty="0" sz="3350" spc="-605">
                <a:solidFill>
                  <a:srgbClr val="C2132D"/>
                </a:solidFill>
              </a:rPr>
              <a:t> </a:t>
            </a:r>
            <a:r>
              <a:rPr dirty="0" sz="3350" spc="-80">
                <a:solidFill>
                  <a:srgbClr val="C2132D"/>
                </a:solidFill>
              </a:rPr>
              <a:t>Noise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901700" y="1376044"/>
            <a:ext cx="9518015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an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uncorrelated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white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C2132D"/>
                </a:solidFill>
                <a:latin typeface="Trebuchet MS"/>
                <a:cs typeface="Trebuchet MS"/>
              </a:rPr>
              <a:t>noise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process,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standard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error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585D60"/>
                </a:solidFill>
                <a:latin typeface="Arial"/>
                <a:cs typeface="Arial"/>
              </a:rPr>
              <a:t>(SE)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sample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90">
                <a:solidFill>
                  <a:srgbClr val="585D60"/>
                </a:solidFill>
                <a:latin typeface="Arial"/>
                <a:cs typeface="Arial"/>
              </a:rPr>
              <a:t>ACF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at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lag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(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) 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is: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8754" y="3092449"/>
            <a:ext cx="6993890" cy="1176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Here,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(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)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sample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C2132D"/>
                </a:solidFill>
                <a:latin typeface="Trebuchet MS"/>
                <a:cs typeface="Trebuchet MS"/>
              </a:rPr>
              <a:t>size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Assumes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white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0" b="1">
                <a:solidFill>
                  <a:srgbClr val="C2132D"/>
                </a:solidFill>
                <a:latin typeface="Trebuchet MS"/>
                <a:cs typeface="Trebuchet MS"/>
              </a:rPr>
              <a:t>noise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: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autocorrelation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beyond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lag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0.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15" b="1">
                <a:solidFill>
                  <a:srgbClr val="C2132D"/>
                </a:solidFill>
                <a:latin typeface="Trebuchet MS"/>
                <a:cs typeface="Trebuchet MS"/>
              </a:rPr>
              <a:t>95%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confidence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interval </a:t>
            </a:r>
            <a:r>
              <a:rPr dirty="0" sz="1800" spc="10" b="1">
                <a:solidFill>
                  <a:srgbClr val="C2132D"/>
                </a:solidFill>
                <a:latin typeface="Trebuchet MS"/>
                <a:cs typeface="Trebuchet MS"/>
              </a:rPr>
              <a:t>(CI)</a:t>
            </a:r>
            <a:r>
              <a:rPr dirty="0" sz="1800" spc="-34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is: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11651" y="2526345"/>
            <a:ext cx="10985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85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4444" y="2366645"/>
            <a:ext cx="958850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00" spc="-165">
                <a:solidFill>
                  <a:srgbClr val="585D60"/>
                </a:solidFill>
                <a:latin typeface="Lucida Sans Unicode"/>
                <a:cs typeface="Lucida Sans Unicode"/>
              </a:rPr>
              <a:t>SE(</a:t>
            </a:r>
            <a:r>
              <a:rPr dirty="0" sz="1600" spc="-165" i="1">
                <a:solidFill>
                  <a:srgbClr val="585D60"/>
                </a:solidFill>
                <a:latin typeface="Arial"/>
                <a:cs typeface="Arial"/>
              </a:rPr>
              <a:t>ρ</a:t>
            </a:r>
            <a:r>
              <a:rPr dirty="0" sz="1900" spc="-165">
                <a:solidFill>
                  <a:srgbClr val="585D60"/>
                </a:solidFill>
                <a:latin typeface="Lucida Sans Unicode"/>
                <a:cs typeface="Lucida Sans Unicode"/>
              </a:rPr>
              <a:t>^ </a:t>
            </a:r>
            <a:r>
              <a:rPr dirty="0" sz="1900" spc="8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900" spc="-29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≈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91200" y="2214245"/>
            <a:ext cx="139700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00" spc="-305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57924" y="2628900"/>
            <a:ext cx="200025" cy="0"/>
          </a:xfrm>
          <a:custGeom>
            <a:avLst/>
            <a:gdLst/>
            <a:ahLst/>
            <a:cxnLst/>
            <a:rect l="l" t="t" r="r" b="b"/>
            <a:pathLst>
              <a:path w="200025" h="0">
                <a:moveTo>
                  <a:pt x="0" y="0"/>
                </a:moveTo>
                <a:lnTo>
                  <a:pt x="200024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051599" y="2557145"/>
            <a:ext cx="400050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00" spc="-35">
                <a:solidFill>
                  <a:srgbClr val="585D60"/>
                </a:solidFill>
                <a:latin typeface="Lucida Sans Unicode"/>
                <a:cs typeface="Lucida Sans Unicode"/>
              </a:rPr>
              <a:t>√</a:t>
            </a:r>
            <a:r>
              <a:rPr dirty="0" baseline="-5208" sz="2400" spc="427" i="1">
                <a:solidFill>
                  <a:srgbClr val="585D60"/>
                </a:solidFill>
                <a:latin typeface="Arial"/>
                <a:cs typeface="Arial"/>
              </a:rPr>
              <a:t>N</a:t>
            </a:r>
            <a:endParaRPr baseline="-5208" sz="2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38849" y="2566987"/>
            <a:ext cx="438150" cy="0"/>
          </a:xfrm>
          <a:custGeom>
            <a:avLst/>
            <a:gdLst/>
            <a:ahLst/>
            <a:cxnLst/>
            <a:rect l="l" t="t" r="r" b="b"/>
            <a:pathLst>
              <a:path w="438150" h="0">
                <a:moveTo>
                  <a:pt x="0" y="0"/>
                </a:moveTo>
                <a:lnTo>
                  <a:pt x="438149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600971" y="4585969"/>
            <a:ext cx="838835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00" spc="-225">
                <a:solidFill>
                  <a:srgbClr val="585D60"/>
                </a:solidFill>
                <a:latin typeface="Lucida Sans Unicode"/>
                <a:cs typeface="Lucida Sans Unicode"/>
              </a:rPr>
              <a:t>±1.96</a:t>
            </a:r>
            <a:r>
              <a:rPr dirty="0" sz="1900" spc="-2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×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78549" y="4597400"/>
            <a:ext cx="2806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7335" algn="l"/>
              </a:tabLst>
            </a:pPr>
            <a:r>
              <a:rPr dirty="0" u="heavy" sz="1800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40573" y="4483328"/>
            <a:ext cx="513715" cy="848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400" spc="-4435">
                <a:solidFill>
                  <a:srgbClr val="585D60"/>
                </a:solidFill>
                <a:latin typeface="Cambria"/>
                <a:cs typeface="Cambria"/>
              </a:rPr>
              <a:t></a:t>
            </a:r>
            <a:r>
              <a:rPr dirty="0" sz="5400" spc="-4470">
                <a:solidFill>
                  <a:srgbClr val="585D60"/>
                </a:solidFill>
                <a:latin typeface="Cambria"/>
                <a:cs typeface="Cambria"/>
              </a:rPr>
              <a:t></a:t>
            </a:r>
            <a:r>
              <a:rPr dirty="0" sz="5400" spc="-4170">
                <a:solidFill>
                  <a:srgbClr val="585D60"/>
                </a:solidFill>
                <a:latin typeface="Cambria"/>
                <a:cs typeface="Cambria"/>
              </a:rPr>
              <a:t></a:t>
            </a:r>
            <a:r>
              <a:rPr dirty="0" sz="5400" spc="-4435">
                <a:solidFill>
                  <a:srgbClr val="585D60"/>
                </a:solidFill>
                <a:latin typeface="Cambria"/>
                <a:cs typeface="Cambria"/>
              </a:rPr>
              <a:t></a:t>
            </a:r>
            <a:r>
              <a:rPr dirty="0" sz="5400" spc="-4470">
                <a:solidFill>
                  <a:srgbClr val="585D60"/>
                </a:solidFill>
                <a:latin typeface="Cambria"/>
                <a:cs typeface="Cambria"/>
              </a:rPr>
              <a:t></a:t>
            </a:r>
            <a:r>
              <a:rPr dirty="0" sz="5400" spc="-4170">
                <a:solidFill>
                  <a:srgbClr val="585D60"/>
                </a:solidFill>
                <a:latin typeface="Cambria"/>
                <a:cs typeface="Cambria"/>
              </a:rPr>
              <a:t>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64769" y="5226430"/>
            <a:ext cx="1459865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>
                <a:latin typeface="Arial"/>
                <a:cs typeface="Arial"/>
              </a:rPr>
              <a:t>Standard </a:t>
            </a:r>
            <a:r>
              <a:rPr dirty="0" sz="1250" spc="40">
                <a:latin typeface="Arial"/>
                <a:cs typeface="Arial"/>
              </a:rPr>
              <a:t>Error</a:t>
            </a:r>
            <a:r>
              <a:rPr dirty="0" sz="1250" spc="-110">
                <a:latin typeface="Arial"/>
                <a:cs typeface="Arial"/>
              </a:rPr>
              <a:t> </a:t>
            </a:r>
            <a:r>
              <a:rPr dirty="0" sz="1250" spc="15">
                <a:latin typeface="Arial"/>
                <a:cs typeface="Arial"/>
              </a:rPr>
              <a:t>(SE)</a:t>
            </a:r>
            <a:endParaRPr sz="12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24971" y="4424044"/>
            <a:ext cx="139700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00" spc="-305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85370" y="4766944"/>
            <a:ext cx="203200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00" spc="-1345">
                <a:solidFill>
                  <a:srgbClr val="585D60"/>
                </a:solidFill>
                <a:latin typeface="Lucida Sans Unicode"/>
                <a:cs typeface="Lucida Sans Unicode"/>
              </a:rPr>
              <a:t>√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75870" y="4817998"/>
            <a:ext cx="196850" cy="2755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spc="-1095" i="1">
                <a:solidFill>
                  <a:srgbClr val="585D60"/>
                </a:solidFill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972174" y="4776787"/>
            <a:ext cx="438150" cy="0"/>
          </a:xfrm>
          <a:custGeom>
            <a:avLst/>
            <a:gdLst/>
            <a:ahLst/>
            <a:cxnLst/>
            <a:rect l="l" t="t" r="r" b="b"/>
            <a:pathLst>
              <a:path w="438150" h="0">
                <a:moveTo>
                  <a:pt x="0" y="0"/>
                </a:moveTo>
                <a:lnTo>
                  <a:pt x="438149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901700" y="5702076"/>
            <a:ext cx="740537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120">
                <a:solidFill>
                  <a:srgbClr val="585D60"/>
                </a:solidFill>
                <a:latin typeface="Arial"/>
                <a:cs typeface="Arial"/>
              </a:rPr>
              <a:t>💡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Key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idea: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More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950" spc="1825">
                <a:solidFill>
                  <a:srgbClr val="585D60"/>
                </a:solidFill>
                <a:latin typeface="Cambria"/>
                <a:cs typeface="Cambria"/>
              </a:rPr>
              <a:t>⟶</a:t>
            </a:r>
            <a:r>
              <a:rPr dirty="0" sz="950" spc="235">
                <a:solidFill>
                  <a:srgbClr val="585D60"/>
                </a:solidFill>
                <a:latin typeface="Cambria"/>
                <a:cs typeface="Cambria"/>
              </a:rPr>
              <a:t>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Smaller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85" b="1">
                <a:solidFill>
                  <a:srgbClr val="C2132D"/>
                </a:solidFill>
                <a:latin typeface="Trebuchet MS"/>
                <a:cs typeface="Trebuchet MS"/>
              </a:rPr>
              <a:t>SE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950" spc="1825">
                <a:solidFill>
                  <a:srgbClr val="585D60"/>
                </a:solidFill>
                <a:latin typeface="Cambria"/>
                <a:cs typeface="Cambria"/>
              </a:rPr>
              <a:t>⟶</a:t>
            </a:r>
            <a:r>
              <a:rPr dirty="0" sz="950" spc="240">
                <a:solidFill>
                  <a:srgbClr val="585D60"/>
                </a:solidFill>
                <a:latin typeface="Cambria"/>
                <a:cs typeface="Cambria"/>
              </a:rPr>
              <a:t>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Narrower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confidence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bands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11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79882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220">
                <a:solidFill>
                  <a:srgbClr val="C2132D"/>
                </a:solidFill>
              </a:rPr>
              <a:t>2. </a:t>
            </a:r>
            <a:r>
              <a:rPr dirty="0" sz="3350" spc="-245">
                <a:solidFill>
                  <a:srgbClr val="C2132D"/>
                </a:solidFill>
              </a:rPr>
              <a:t>Bartlett’s </a:t>
            </a:r>
            <a:r>
              <a:rPr dirty="0" sz="3350" spc="-195">
                <a:solidFill>
                  <a:srgbClr val="C2132D"/>
                </a:solidFill>
              </a:rPr>
              <a:t>Formula </a:t>
            </a:r>
            <a:r>
              <a:rPr dirty="0" sz="3350" spc="-185">
                <a:solidFill>
                  <a:srgbClr val="C2132D"/>
                </a:solidFill>
              </a:rPr>
              <a:t>for </a:t>
            </a:r>
            <a:r>
              <a:rPr dirty="0" sz="3350" spc="10">
                <a:solidFill>
                  <a:srgbClr val="C2132D"/>
                </a:solidFill>
              </a:rPr>
              <a:t>SE </a:t>
            </a:r>
            <a:r>
              <a:rPr dirty="0" sz="3350" spc="-140">
                <a:solidFill>
                  <a:srgbClr val="C2132D"/>
                </a:solidFill>
              </a:rPr>
              <a:t>of</a:t>
            </a:r>
            <a:r>
              <a:rPr dirty="0" sz="3350" spc="-585">
                <a:solidFill>
                  <a:srgbClr val="C2132D"/>
                </a:solidFill>
              </a:rPr>
              <a:t> </a:t>
            </a:r>
            <a:r>
              <a:rPr dirty="0" sz="3350" spc="-95">
                <a:solidFill>
                  <a:srgbClr val="C2132D"/>
                </a:solidFill>
              </a:rPr>
              <a:t>ACF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70472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stationary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series,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85" b="1">
                <a:solidFill>
                  <a:srgbClr val="C2132D"/>
                </a:solidFill>
                <a:latin typeface="Trebuchet MS"/>
                <a:cs typeface="Trebuchet MS"/>
              </a:rPr>
              <a:t>SE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must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account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for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autocorrelation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3652519"/>
            <a:ext cx="1906905" cy="882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56300"/>
              </a:lnSpc>
              <a:spcBef>
                <a:spcPts val="95"/>
              </a:spcBef>
            </a:pP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confidence</a:t>
            </a:r>
            <a:r>
              <a:rPr dirty="0" sz="1800" spc="-1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bands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. 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Hence: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8754" y="4633594"/>
            <a:ext cx="8302625" cy="882650"/>
          </a:xfrm>
          <a:prstGeom prst="rect">
            <a:avLst/>
          </a:prstGeom>
        </p:spPr>
        <p:txBody>
          <a:bodyPr wrap="square" lIns="0" tIns="167005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31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If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highly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correlated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(e.g.,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random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walk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), </a:t>
            </a:r>
            <a:r>
              <a:rPr dirty="0" sz="1800" spc="-155">
                <a:solidFill>
                  <a:srgbClr val="585D60"/>
                </a:solidFill>
                <a:latin typeface="Arial"/>
                <a:cs typeface="Arial"/>
              </a:rPr>
              <a:t>SE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C2132D"/>
                </a:solidFill>
                <a:latin typeface="Trebuchet MS"/>
                <a:cs typeface="Trebuchet MS"/>
              </a:rPr>
              <a:t>increases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Differencing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reduces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autocorrelation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making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sum </a:t>
            </a:r>
            <a:r>
              <a:rPr dirty="0" sz="1800" spc="-20" b="1">
                <a:solidFill>
                  <a:srgbClr val="C2132D"/>
                </a:solidFill>
                <a:latin typeface="Trebuchet MS"/>
                <a:cs typeface="Trebuchet MS"/>
              </a:rPr>
              <a:t>smaller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32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5">
                <a:solidFill>
                  <a:srgbClr val="585D60"/>
                </a:solidFill>
                <a:latin typeface="Arial"/>
                <a:cs typeface="Arial"/>
              </a:rPr>
              <a:t>SE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lower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34173" y="2364420"/>
            <a:ext cx="10985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85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6966" y="2204720"/>
            <a:ext cx="958850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00" spc="-165">
                <a:solidFill>
                  <a:srgbClr val="585D60"/>
                </a:solidFill>
                <a:latin typeface="Lucida Sans Unicode"/>
                <a:cs typeface="Lucida Sans Unicode"/>
              </a:rPr>
              <a:t>SE(</a:t>
            </a:r>
            <a:r>
              <a:rPr dirty="0" sz="1600" spc="-165" i="1">
                <a:solidFill>
                  <a:srgbClr val="585D60"/>
                </a:solidFill>
                <a:latin typeface="Arial"/>
                <a:cs typeface="Arial"/>
              </a:rPr>
              <a:t>ρ</a:t>
            </a:r>
            <a:r>
              <a:rPr dirty="0" sz="1900" spc="-165">
                <a:solidFill>
                  <a:srgbClr val="585D60"/>
                </a:solidFill>
                <a:latin typeface="Lucida Sans Unicode"/>
                <a:cs typeface="Lucida Sans Unicode"/>
              </a:rPr>
              <a:t>^ </a:t>
            </a:r>
            <a:r>
              <a:rPr dirty="0" sz="1900" spc="8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900" spc="-29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≈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23966" y="1444853"/>
            <a:ext cx="254635" cy="848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400" spc="-4420">
                <a:solidFill>
                  <a:srgbClr val="585D60"/>
                </a:solidFill>
                <a:latin typeface="Cambria"/>
                <a:cs typeface="Cambria"/>
              </a:rPr>
              <a:t>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23966" y="1711553"/>
            <a:ext cx="267335" cy="848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400" spc="-2515">
                <a:solidFill>
                  <a:srgbClr val="585D60"/>
                </a:solidFill>
                <a:latin typeface="Cambria"/>
                <a:cs typeface="Cambria"/>
              </a:rPr>
              <a:t>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76874" y="2009775"/>
            <a:ext cx="1809750" cy="0"/>
          </a:xfrm>
          <a:custGeom>
            <a:avLst/>
            <a:gdLst/>
            <a:ahLst/>
            <a:cxnLst/>
            <a:rect l="l" t="t" r="r" b="b"/>
            <a:pathLst>
              <a:path w="1809750" h="0">
                <a:moveTo>
                  <a:pt x="0" y="0"/>
                </a:moveTo>
                <a:lnTo>
                  <a:pt x="180974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515645" y="2008428"/>
            <a:ext cx="31623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85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300" spc="-4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300" spc="-190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11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24426" y="2541828"/>
            <a:ext cx="29908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65" i="1">
                <a:solidFill>
                  <a:srgbClr val="585D60"/>
                </a:solidFill>
                <a:latin typeface="Arial"/>
                <a:cs typeface="Arial"/>
              </a:rPr>
              <a:t>j</a:t>
            </a:r>
            <a:r>
              <a:rPr dirty="0" sz="1300" spc="-4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300" spc="-190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99485" y="2170353"/>
            <a:ext cx="10668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190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99485" y="2364420"/>
            <a:ext cx="9207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265" i="1">
                <a:solidFill>
                  <a:srgbClr val="585D60"/>
                </a:solidFill>
                <a:latin typeface="Arial"/>
                <a:cs typeface="Arial"/>
              </a:rPr>
              <a:t>j</a:t>
            </a:r>
            <a:endParaRPr sz="11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68974" y="1759178"/>
            <a:ext cx="1529715" cy="848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400" spc="-640">
                <a:solidFill>
                  <a:srgbClr val="585D60"/>
                </a:solidFill>
                <a:latin typeface="Cambria"/>
                <a:cs typeface="Cambria"/>
              </a:rPr>
              <a:t>(</a:t>
            </a:r>
            <a:r>
              <a:rPr dirty="0" sz="1900" spc="-305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r>
              <a:rPr dirty="0" sz="1900" spc="-204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900" spc="-204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305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r>
              <a:rPr dirty="0" sz="1900" spc="-30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815">
                <a:solidFill>
                  <a:srgbClr val="585D60"/>
                </a:solidFill>
                <a:latin typeface="Arial"/>
                <a:cs typeface="Arial"/>
              </a:rPr>
              <a:t>∑</a:t>
            </a:r>
            <a:r>
              <a:rPr dirty="0" sz="2500" spc="-39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760" i="1">
                <a:solidFill>
                  <a:srgbClr val="585D60"/>
                </a:solidFill>
                <a:latin typeface="Arial"/>
                <a:cs typeface="Arial"/>
              </a:rPr>
              <a:t>ρ</a:t>
            </a:r>
            <a:r>
              <a:rPr dirty="0" sz="1900" spc="-305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sz="1900" spc="12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5400" spc="-640">
                <a:solidFill>
                  <a:srgbClr val="585D60"/>
                </a:solidFill>
                <a:latin typeface="Cambria"/>
                <a:cs typeface="Cambria"/>
              </a:rPr>
              <a:t>)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92749" y="2052320"/>
            <a:ext cx="273050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800" spc="75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00" spc="-305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Lucida Sans Unicode"/>
                <a:cs typeface="Lucida Sans Unicode"/>
              </a:rPr>
              <a:t>1</a:t>
            </a:r>
            <a:r>
              <a:rPr dirty="0" u="sng" sz="1900" spc="-85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Lucida Sans Unicode"/>
                <a:cs typeface="Lucida Sans Unicode"/>
              </a:rPr>
              <a:t> 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23966" y="1921103"/>
            <a:ext cx="501015" cy="848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400" spc="-1180">
                <a:solidFill>
                  <a:srgbClr val="585D60"/>
                </a:solidFill>
                <a:latin typeface="Cambria"/>
                <a:cs typeface="Cambria"/>
              </a:rPr>
              <a:t>⎷</a:t>
            </a:r>
            <a:r>
              <a:rPr dirty="0" sz="1600" spc="285" i="1">
                <a:solidFill>
                  <a:srgbClr val="585D60"/>
                </a:solidFill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18472" y="3189528"/>
            <a:ext cx="28638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85" i="1">
                <a:solidFill>
                  <a:srgbClr val="585D60"/>
                </a:solidFill>
                <a:latin typeface="Arial"/>
                <a:cs typeface="Arial"/>
              </a:rPr>
              <a:t>j</a:t>
            </a:r>
            <a:r>
              <a:rPr dirty="0" sz="1300" spc="-85">
                <a:solidFill>
                  <a:srgbClr val="585D60"/>
                </a:solidFill>
                <a:latin typeface="Lucida Sans Unicode"/>
                <a:cs typeface="Lucida Sans Unicode"/>
              </a:rPr>
              <a:t>=1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6300" y="3052444"/>
            <a:ext cx="8783320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4060825" algn="l"/>
                <a:tab pos="5154930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35" b="1">
                <a:solidFill>
                  <a:srgbClr val="C2132D"/>
                </a:solidFill>
                <a:latin typeface="Trebuchet MS"/>
                <a:cs typeface="Trebuchet MS"/>
              </a:rPr>
              <a:t>sum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of</a:t>
            </a:r>
            <a:r>
              <a:rPr dirty="0" sz="1800" spc="-229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squared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autocorrelations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,	</a:t>
            </a:r>
            <a:r>
              <a:rPr dirty="0" sz="1900" spc="-305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r>
              <a:rPr dirty="0" sz="1900" spc="-30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Arial"/>
                <a:cs typeface="Arial"/>
              </a:rPr>
              <a:t>∑</a:t>
            </a:r>
            <a:r>
              <a:rPr dirty="0" baseline="45893" sz="1725" spc="172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baseline="40598" sz="1950" spc="172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baseline="40598" sz="1950" spc="-3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415" i="1">
                <a:solidFill>
                  <a:srgbClr val="585D60"/>
                </a:solidFill>
                <a:latin typeface="Arial"/>
                <a:cs typeface="Arial"/>
              </a:rPr>
              <a:t>ρ</a:t>
            </a:r>
            <a:r>
              <a:rPr dirty="0" baseline="1461" sz="2850" spc="-622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baseline="38461" sz="1950" spc="-622">
                <a:solidFill>
                  <a:srgbClr val="585D60"/>
                </a:solidFill>
                <a:latin typeface="Lucida Sans Unicode"/>
                <a:cs typeface="Lucida Sans Unicode"/>
              </a:rPr>
              <a:t>2	</a:t>
            </a:r>
            <a:r>
              <a:rPr dirty="0" sz="1800" spc="-150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increases </a:t>
            </a:r>
            <a:r>
              <a:rPr dirty="0" sz="1800" spc="-155">
                <a:solidFill>
                  <a:srgbClr val="585D60"/>
                </a:solidFill>
                <a:latin typeface="Arial"/>
                <a:cs typeface="Arial"/>
              </a:rPr>
              <a:t>SE,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which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leads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7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75" b="1">
                <a:solidFill>
                  <a:srgbClr val="C2132D"/>
                </a:solidFill>
                <a:latin typeface="Trebuchet MS"/>
                <a:cs typeface="Trebuchet MS"/>
              </a:rPr>
              <a:t>wider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94126" y="3202619"/>
            <a:ext cx="9207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265" i="1">
                <a:solidFill>
                  <a:srgbClr val="585D60"/>
                </a:solidFill>
                <a:latin typeface="Arial"/>
                <a:cs typeface="Arial"/>
              </a:rPr>
              <a:t>j</a:t>
            </a:r>
            <a:endParaRPr sz="11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29881" y="2825978"/>
            <a:ext cx="961390" cy="848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400" spc="-4300">
                <a:solidFill>
                  <a:srgbClr val="585D60"/>
                </a:solidFill>
                <a:latin typeface="Cambria"/>
                <a:cs typeface="Cambria"/>
              </a:rPr>
              <a:t></a:t>
            </a:r>
            <a:r>
              <a:rPr dirty="0" sz="5400" spc="-4520">
                <a:solidFill>
                  <a:srgbClr val="585D60"/>
                </a:solidFill>
                <a:latin typeface="Cambria"/>
                <a:cs typeface="Cambria"/>
              </a:rPr>
              <a:t></a:t>
            </a:r>
            <a:r>
              <a:rPr dirty="0" sz="5400" spc="-4335">
                <a:solidFill>
                  <a:srgbClr val="585D60"/>
                </a:solidFill>
                <a:latin typeface="Cambria"/>
                <a:cs typeface="Cambria"/>
              </a:rPr>
              <a:t></a:t>
            </a:r>
            <a:r>
              <a:rPr dirty="0" sz="5400" spc="-4170">
                <a:solidFill>
                  <a:srgbClr val="585D60"/>
                </a:solidFill>
                <a:latin typeface="Cambria"/>
                <a:cs typeface="Cambria"/>
              </a:rPr>
              <a:t></a:t>
            </a:r>
            <a:r>
              <a:rPr dirty="0" sz="5400" spc="-4300">
                <a:solidFill>
                  <a:srgbClr val="585D60"/>
                </a:solidFill>
                <a:latin typeface="Cambria"/>
                <a:cs typeface="Cambria"/>
              </a:rPr>
              <a:t></a:t>
            </a:r>
            <a:r>
              <a:rPr dirty="0" sz="5400" spc="-4520">
                <a:solidFill>
                  <a:srgbClr val="585D60"/>
                </a:solidFill>
                <a:latin typeface="Cambria"/>
                <a:cs typeface="Cambria"/>
              </a:rPr>
              <a:t></a:t>
            </a:r>
            <a:r>
              <a:rPr dirty="0" sz="5400" spc="-4335">
                <a:solidFill>
                  <a:srgbClr val="585D60"/>
                </a:solidFill>
                <a:latin typeface="Cambria"/>
                <a:cs typeface="Cambria"/>
              </a:rPr>
              <a:t></a:t>
            </a:r>
            <a:r>
              <a:rPr dirty="0" sz="5400" spc="-4835">
                <a:solidFill>
                  <a:srgbClr val="585D60"/>
                </a:solidFill>
                <a:latin typeface="Cambria"/>
                <a:cs typeface="Cambria"/>
              </a:rPr>
              <a:t>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84923" y="3559555"/>
            <a:ext cx="1259205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10">
                <a:latin typeface="Arial"/>
                <a:cs typeface="Arial"/>
              </a:rPr>
              <a:t>Effect </a:t>
            </a:r>
            <a:r>
              <a:rPr dirty="0" sz="1250" spc="-10">
                <a:latin typeface="Arial"/>
                <a:cs typeface="Arial"/>
              </a:rPr>
              <a:t>of past</a:t>
            </a:r>
            <a:r>
              <a:rPr dirty="0" sz="1250" spc="-140">
                <a:latin typeface="Arial"/>
                <a:cs typeface="Arial"/>
              </a:rPr>
              <a:t> </a:t>
            </a:r>
            <a:r>
              <a:rPr dirty="0" sz="1250" spc="-45">
                <a:latin typeface="Arial"/>
                <a:cs typeface="Arial"/>
              </a:rPr>
              <a:t>lags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2103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220">
                <a:solidFill>
                  <a:srgbClr val="C2132D"/>
                </a:solidFill>
              </a:rPr>
              <a:t>3. </a:t>
            </a:r>
            <a:r>
              <a:rPr dirty="0" sz="3350" spc="-245">
                <a:solidFill>
                  <a:srgbClr val="C2132D"/>
                </a:solidFill>
              </a:rPr>
              <a:t>Why </a:t>
            </a:r>
            <a:r>
              <a:rPr dirty="0" sz="3350" spc="-120">
                <a:solidFill>
                  <a:srgbClr val="C2132D"/>
                </a:solidFill>
              </a:rPr>
              <a:t>Do </a:t>
            </a:r>
            <a:r>
              <a:rPr dirty="0" sz="3350">
                <a:solidFill>
                  <a:srgbClr val="C2132D"/>
                </a:solidFill>
              </a:rPr>
              <a:t>CIs </a:t>
            </a:r>
            <a:r>
              <a:rPr dirty="0" sz="3350" spc="-220">
                <a:solidFill>
                  <a:srgbClr val="C2132D"/>
                </a:solidFill>
              </a:rPr>
              <a:t>Widen </a:t>
            </a:r>
            <a:r>
              <a:rPr dirty="0" sz="3350" spc="-240">
                <a:solidFill>
                  <a:srgbClr val="C2132D"/>
                </a:solidFill>
              </a:rPr>
              <a:t>at </a:t>
            </a:r>
            <a:r>
              <a:rPr dirty="0" sz="3350" spc="-180">
                <a:solidFill>
                  <a:srgbClr val="C2132D"/>
                </a:solidFill>
              </a:rPr>
              <a:t>Larger</a:t>
            </a:r>
            <a:r>
              <a:rPr dirty="0" sz="3350" spc="-665">
                <a:solidFill>
                  <a:srgbClr val="C2132D"/>
                </a:solidFill>
              </a:rPr>
              <a:t> </a:t>
            </a:r>
            <a:r>
              <a:rPr dirty="0" sz="3350" spc="25">
                <a:solidFill>
                  <a:srgbClr val="C2132D"/>
                </a:solidFill>
              </a:rPr>
              <a:t>Lags?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94443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5">
                <a:solidFill>
                  <a:srgbClr val="585D60"/>
                </a:solidFill>
                <a:latin typeface="Arial"/>
                <a:cs typeface="Arial"/>
              </a:rPr>
              <a:t>Even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though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autocorrelations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shrink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at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higher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15" b="1">
                <a:solidFill>
                  <a:srgbClr val="C2132D"/>
                </a:solidFill>
                <a:latin typeface="Trebuchet MS"/>
                <a:cs typeface="Trebuchet MS"/>
              </a:rPr>
              <a:t>lags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confidence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intervals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still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widen.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latin typeface="Trebuchet MS"/>
                <a:cs typeface="Trebuchet MS"/>
              </a:rPr>
              <a:t>Why?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4173" y="2364420"/>
            <a:ext cx="10985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85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endParaRPr sz="11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26966" y="2204720"/>
            <a:ext cx="958850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00" spc="-165">
                <a:solidFill>
                  <a:srgbClr val="585D60"/>
                </a:solidFill>
                <a:latin typeface="Lucida Sans Unicode"/>
                <a:cs typeface="Lucida Sans Unicode"/>
              </a:rPr>
              <a:t>SE(</a:t>
            </a:r>
            <a:r>
              <a:rPr dirty="0" sz="1600" spc="-165" i="1">
                <a:solidFill>
                  <a:srgbClr val="585D60"/>
                </a:solidFill>
                <a:latin typeface="Arial"/>
                <a:cs typeface="Arial"/>
              </a:rPr>
              <a:t>ρ</a:t>
            </a:r>
            <a:r>
              <a:rPr dirty="0" sz="1900" spc="-165">
                <a:solidFill>
                  <a:srgbClr val="585D60"/>
                </a:solidFill>
                <a:latin typeface="Lucida Sans Unicode"/>
                <a:cs typeface="Lucida Sans Unicode"/>
              </a:rPr>
              <a:t>^ </a:t>
            </a:r>
            <a:r>
              <a:rPr dirty="0" sz="1900" spc="8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900" spc="-29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≈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23966" y="1444853"/>
            <a:ext cx="254635" cy="848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400" spc="-4420">
                <a:solidFill>
                  <a:srgbClr val="585D60"/>
                </a:solidFill>
                <a:latin typeface="Cambria"/>
                <a:cs typeface="Cambria"/>
              </a:rPr>
              <a:t>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23966" y="1711553"/>
            <a:ext cx="267335" cy="848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400" spc="-2515">
                <a:solidFill>
                  <a:srgbClr val="585D60"/>
                </a:solidFill>
                <a:latin typeface="Cambria"/>
                <a:cs typeface="Cambria"/>
              </a:rPr>
              <a:t>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76874" y="2009775"/>
            <a:ext cx="1809750" cy="0"/>
          </a:xfrm>
          <a:custGeom>
            <a:avLst/>
            <a:gdLst/>
            <a:ahLst/>
            <a:cxnLst/>
            <a:rect l="l" t="t" r="r" b="b"/>
            <a:pathLst>
              <a:path w="1809750" h="0">
                <a:moveTo>
                  <a:pt x="0" y="0"/>
                </a:moveTo>
                <a:lnTo>
                  <a:pt x="180974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515645" y="2008428"/>
            <a:ext cx="31623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85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300" spc="-4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300" spc="-190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11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24426" y="2541828"/>
            <a:ext cx="29908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65" i="1">
                <a:solidFill>
                  <a:srgbClr val="585D60"/>
                </a:solidFill>
                <a:latin typeface="Arial"/>
                <a:cs typeface="Arial"/>
              </a:rPr>
              <a:t>j</a:t>
            </a:r>
            <a:r>
              <a:rPr dirty="0" sz="1300" spc="-4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300" spc="-190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99485" y="2170353"/>
            <a:ext cx="10668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190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99485" y="2364420"/>
            <a:ext cx="9207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265" i="1">
                <a:solidFill>
                  <a:srgbClr val="585D60"/>
                </a:solidFill>
                <a:latin typeface="Arial"/>
                <a:cs typeface="Arial"/>
              </a:rPr>
              <a:t>j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68974" y="1759178"/>
            <a:ext cx="1529715" cy="848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400" spc="-640">
                <a:solidFill>
                  <a:srgbClr val="585D60"/>
                </a:solidFill>
                <a:latin typeface="Cambria"/>
                <a:cs typeface="Cambria"/>
              </a:rPr>
              <a:t>(</a:t>
            </a:r>
            <a:r>
              <a:rPr dirty="0" sz="1900" spc="-305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r>
              <a:rPr dirty="0" sz="1900" spc="-204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900" spc="-204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305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r>
              <a:rPr dirty="0" sz="1900" spc="-30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815">
                <a:solidFill>
                  <a:srgbClr val="585D60"/>
                </a:solidFill>
                <a:latin typeface="Arial"/>
                <a:cs typeface="Arial"/>
              </a:rPr>
              <a:t>∑</a:t>
            </a:r>
            <a:r>
              <a:rPr dirty="0" sz="2500" spc="-39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760" i="1">
                <a:solidFill>
                  <a:srgbClr val="585D60"/>
                </a:solidFill>
                <a:latin typeface="Arial"/>
                <a:cs typeface="Arial"/>
              </a:rPr>
              <a:t>ρ</a:t>
            </a:r>
            <a:r>
              <a:rPr dirty="0" sz="1900" spc="-305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sz="1900" spc="12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5400" spc="-640">
                <a:solidFill>
                  <a:srgbClr val="585D60"/>
                </a:solidFill>
                <a:latin typeface="Cambria"/>
                <a:cs typeface="Cambria"/>
              </a:rPr>
              <a:t>)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92749" y="2052320"/>
            <a:ext cx="273050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800" spc="75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900" spc="-305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Lucida Sans Unicode"/>
                <a:cs typeface="Lucida Sans Unicode"/>
              </a:rPr>
              <a:t>1</a:t>
            </a:r>
            <a:r>
              <a:rPr dirty="0" u="sng" sz="1900" spc="-85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Lucida Sans Unicode"/>
                <a:cs typeface="Lucida Sans Unicode"/>
              </a:rPr>
              <a:t> 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23966" y="1921103"/>
            <a:ext cx="501015" cy="848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400" spc="-1180">
                <a:solidFill>
                  <a:srgbClr val="585D60"/>
                </a:solidFill>
                <a:latin typeface="Cambria"/>
                <a:cs typeface="Cambria"/>
              </a:rPr>
              <a:t>⎷</a:t>
            </a:r>
            <a:r>
              <a:rPr dirty="0" sz="1600" spc="285" i="1">
                <a:solidFill>
                  <a:srgbClr val="585D60"/>
                </a:solidFill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50853" y="3627678"/>
            <a:ext cx="28638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80" i="1">
                <a:solidFill>
                  <a:srgbClr val="585D60"/>
                </a:solidFill>
                <a:latin typeface="Arial"/>
                <a:cs typeface="Arial"/>
              </a:rPr>
              <a:t>j</a:t>
            </a:r>
            <a:r>
              <a:rPr dirty="0" sz="1300" spc="-80">
                <a:solidFill>
                  <a:srgbClr val="585D60"/>
                </a:solidFill>
                <a:latin typeface="Lucida Sans Unicode"/>
                <a:cs typeface="Lucida Sans Unicode"/>
              </a:rPr>
              <a:t>=1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6300" y="3481069"/>
            <a:ext cx="3382010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999614" algn="l"/>
              </a:tabLst>
            </a:pP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Larger </a:t>
            </a:r>
            <a:r>
              <a:rPr dirty="0" sz="1800" spc="55" b="1">
                <a:solidFill>
                  <a:srgbClr val="C2132D"/>
                </a:solidFill>
                <a:latin typeface="Trebuchet MS"/>
                <a:cs typeface="Trebuchet MS"/>
              </a:rPr>
              <a:t>lags</a:t>
            </a:r>
            <a:r>
              <a:rPr dirty="0" sz="1800" spc="-15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950" spc="1825">
                <a:solidFill>
                  <a:srgbClr val="585D60"/>
                </a:solidFill>
                <a:latin typeface="Cambria"/>
                <a:cs typeface="Cambria"/>
              </a:rPr>
              <a:t>⟶</a:t>
            </a:r>
            <a:r>
              <a:rPr dirty="0" sz="950" spc="240">
                <a:solidFill>
                  <a:srgbClr val="585D60"/>
                </a:solidFill>
                <a:latin typeface="Cambria"/>
                <a:cs typeface="Cambria"/>
              </a:rPr>
              <a:t> </a:t>
            </a:r>
            <a:r>
              <a:rPr dirty="0" sz="1900" spc="80">
                <a:solidFill>
                  <a:srgbClr val="585D60"/>
                </a:solidFill>
                <a:latin typeface="Lucida Sans Unicode"/>
                <a:cs typeface="Lucida Sans Unicode"/>
              </a:rPr>
              <a:t>(	</a:t>
            </a:r>
            <a:r>
              <a:rPr dirty="0" sz="1900" spc="-305">
                <a:solidFill>
                  <a:srgbClr val="585D60"/>
                </a:solidFill>
                <a:latin typeface="Lucida Sans Unicode"/>
                <a:cs typeface="Lucida Sans Unicode"/>
              </a:rPr>
              <a:t>1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+ </a:t>
            </a:r>
            <a:r>
              <a:rPr dirty="0" sz="1900" spc="-305">
                <a:solidFill>
                  <a:srgbClr val="585D60"/>
                </a:solidFill>
                <a:latin typeface="Lucida Sans Unicode"/>
                <a:cs typeface="Lucida Sans Unicode"/>
              </a:rPr>
              <a:t>2 </a:t>
            </a:r>
            <a:r>
              <a:rPr dirty="0" sz="1800" spc="114">
                <a:solidFill>
                  <a:srgbClr val="585D60"/>
                </a:solidFill>
                <a:latin typeface="Arial"/>
                <a:cs typeface="Arial"/>
              </a:rPr>
              <a:t>∑</a:t>
            </a:r>
            <a:r>
              <a:rPr dirty="0" baseline="43478" sz="1725" spc="172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baseline="38461" sz="1950" spc="172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baseline="38461" sz="1950" spc="-127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415" i="1">
                <a:solidFill>
                  <a:srgbClr val="585D60"/>
                </a:solidFill>
                <a:latin typeface="Arial"/>
                <a:cs typeface="Arial"/>
              </a:rPr>
              <a:t>ρ</a:t>
            </a:r>
            <a:r>
              <a:rPr dirty="0" sz="1900" spc="-415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baseline="34188" sz="1950" spc="-622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endParaRPr baseline="34188" sz="19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26507" y="3640769"/>
            <a:ext cx="9207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265" i="1">
                <a:solidFill>
                  <a:srgbClr val="585D60"/>
                </a:solidFill>
                <a:latin typeface="Arial"/>
                <a:cs typeface="Arial"/>
              </a:rPr>
              <a:t>j</a:t>
            </a:r>
            <a:endParaRPr sz="11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68761" y="3254603"/>
            <a:ext cx="1356995" cy="848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400" spc="-4300">
                <a:solidFill>
                  <a:srgbClr val="585D60"/>
                </a:solidFill>
                <a:latin typeface="Cambria"/>
                <a:cs typeface="Cambria"/>
              </a:rPr>
              <a:t></a:t>
            </a:r>
            <a:r>
              <a:rPr dirty="0" sz="5400" spc="-4515">
                <a:solidFill>
                  <a:srgbClr val="585D60"/>
                </a:solidFill>
                <a:latin typeface="Cambria"/>
                <a:cs typeface="Cambria"/>
              </a:rPr>
              <a:t></a:t>
            </a:r>
            <a:r>
              <a:rPr dirty="0" sz="5400" spc="-4335">
                <a:solidFill>
                  <a:srgbClr val="585D60"/>
                </a:solidFill>
                <a:latin typeface="Cambria"/>
                <a:cs typeface="Cambria"/>
              </a:rPr>
              <a:t></a:t>
            </a:r>
            <a:r>
              <a:rPr dirty="0" sz="5400" spc="-4170">
                <a:solidFill>
                  <a:srgbClr val="585D60"/>
                </a:solidFill>
                <a:latin typeface="Cambria"/>
                <a:cs typeface="Cambria"/>
              </a:rPr>
              <a:t></a:t>
            </a:r>
            <a:r>
              <a:rPr dirty="0" sz="5400" spc="-4300">
                <a:solidFill>
                  <a:srgbClr val="585D60"/>
                </a:solidFill>
                <a:latin typeface="Cambria"/>
                <a:cs typeface="Cambria"/>
              </a:rPr>
              <a:t></a:t>
            </a:r>
            <a:r>
              <a:rPr dirty="0" sz="5400" spc="-4515">
                <a:solidFill>
                  <a:srgbClr val="585D60"/>
                </a:solidFill>
                <a:latin typeface="Cambria"/>
                <a:cs typeface="Cambria"/>
              </a:rPr>
              <a:t></a:t>
            </a:r>
            <a:r>
              <a:rPr dirty="0" sz="5400" spc="-4335">
                <a:solidFill>
                  <a:srgbClr val="585D60"/>
                </a:solidFill>
                <a:latin typeface="Cambria"/>
                <a:cs typeface="Cambria"/>
              </a:rPr>
              <a:t></a:t>
            </a:r>
            <a:r>
              <a:rPr dirty="0" sz="5400" spc="-4850">
                <a:solidFill>
                  <a:srgbClr val="585D60"/>
                </a:solidFill>
                <a:latin typeface="Cambria"/>
                <a:cs typeface="Cambria"/>
              </a:rPr>
              <a:t>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31677" y="3988180"/>
            <a:ext cx="1837055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20">
                <a:latin typeface="Arial"/>
                <a:cs typeface="Arial"/>
              </a:rPr>
              <a:t>Cumulative </a:t>
            </a:r>
            <a:r>
              <a:rPr dirty="0" sz="1250" spc="-35">
                <a:latin typeface="Arial"/>
                <a:cs typeface="Arial"/>
              </a:rPr>
              <a:t>sum</a:t>
            </a:r>
            <a:r>
              <a:rPr dirty="0" sz="1250" spc="-114">
                <a:latin typeface="Arial"/>
                <a:cs typeface="Arial"/>
              </a:rPr>
              <a:t> </a:t>
            </a:r>
            <a:r>
              <a:rPr dirty="0" sz="1250" spc="-55">
                <a:latin typeface="Arial"/>
                <a:cs typeface="Arial"/>
              </a:rPr>
              <a:t>increases</a:t>
            </a:r>
            <a:endParaRPr sz="12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43214" y="3481069"/>
            <a:ext cx="1677035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00" spc="8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900" spc="-1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1825">
                <a:solidFill>
                  <a:srgbClr val="585D60"/>
                </a:solidFill>
                <a:latin typeface="Cambria"/>
                <a:cs typeface="Cambria"/>
              </a:rPr>
              <a:t>⟶</a:t>
            </a:r>
            <a:r>
              <a:rPr dirty="0" sz="950" spc="215">
                <a:solidFill>
                  <a:srgbClr val="585D60"/>
                </a:solidFill>
                <a:latin typeface="Cambria"/>
                <a:cs typeface="Cambria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Higher</a:t>
            </a:r>
            <a:r>
              <a:rPr dirty="0" sz="1800" spc="-12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50" b="1">
                <a:solidFill>
                  <a:srgbClr val="C2132D"/>
                </a:solidFill>
                <a:latin typeface="Trebuchet MS"/>
                <a:cs typeface="Trebuchet MS"/>
              </a:rPr>
              <a:t>SE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3600" y="4321175"/>
            <a:ext cx="7567930" cy="1169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Fewer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overlapping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5" b="1">
                <a:solidFill>
                  <a:srgbClr val="C2132D"/>
                </a:solidFill>
                <a:latin typeface="Trebuchet MS"/>
                <a:cs typeface="Trebuchet MS"/>
              </a:rPr>
              <a:t>observations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at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higher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lags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950" spc="1825">
                <a:solidFill>
                  <a:srgbClr val="585D60"/>
                </a:solidFill>
                <a:latin typeface="Cambria"/>
                <a:cs typeface="Cambria"/>
              </a:rPr>
              <a:t>⟶</a:t>
            </a:r>
            <a:r>
              <a:rPr dirty="0" sz="950" spc="245">
                <a:solidFill>
                  <a:srgbClr val="585D60"/>
                </a:solidFill>
                <a:latin typeface="Cambria"/>
                <a:cs typeface="Cambria"/>
              </a:rPr>
              <a:t> </a:t>
            </a:r>
            <a:r>
              <a:rPr dirty="0" sz="1800" spc="-20" b="1">
                <a:solidFill>
                  <a:srgbClr val="C2132D"/>
                </a:solidFill>
                <a:latin typeface="Trebuchet MS"/>
                <a:cs typeface="Trebuchet MS"/>
              </a:rPr>
              <a:t>Increased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uncertainty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Result: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Confidence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intervals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widen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at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larger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15" b="1">
                <a:solidFill>
                  <a:srgbClr val="C2132D"/>
                </a:solidFill>
                <a:latin typeface="Trebuchet MS"/>
                <a:cs typeface="Trebuchet MS"/>
              </a:rPr>
              <a:t>lags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even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Arial"/>
                <a:cs typeface="Arial"/>
              </a:rPr>
              <a:t>if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325" i="1">
                <a:solidFill>
                  <a:srgbClr val="585D60"/>
                </a:solidFill>
                <a:latin typeface="Arial"/>
                <a:cs typeface="Arial"/>
              </a:rPr>
              <a:t>ρ</a:t>
            </a:r>
            <a:r>
              <a:rPr dirty="0" baseline="1461" sz="2850" spc="-487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baseline="-26570" sz="1725" spc="-487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baseline="-26570" sz="1725" spc="322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small.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11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88797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220">
                <a:solidFill>
                  <a:srgbClr val="C2132D"/>
                </a:solidFill>
              </a:rPr>
              <a:t>4. </a:t>
            </a:r>
            <a:r>
              <a:rPr dirty="0" sz="3350" spc="-185">
                <a:solidFill>
                  <a:srgbClr val="C2132D"/>
                </a:solidFill>
              </a:rPr>
              <a:t>Impact </a:t>
            </a:r>
            <a:r>
              <a:rPr dirty="0" sz="3350" spc="-140">
                <a:solidFill>
                  <a:srgbClr val="C2132D"/>
                </a:solidFill>
              </a:rPr>
              <a:t>of </a:t>
            </a:r>
            <a:r>
              <a:rPr dirty="0" sz="3350" spc="-185">
                <a:solidFill>
                  <a:srgbClr val="C2132D"/>
                </a:solidFill>
              </a:rPr>
              <a:t>Differencing </a:t>
            </a:r>
            <a:r>
              <a:rPr dirty="0" sz="3350" spc="-150">
                <a:solidFill>
                  <a:srgbClr val="C2132D"/>
                </a:solidFill>
              </a:rPr>
              <a:t>on </a:t>
            </a:r>
            <a:r>
              <a:rPr dirty="0" sz="3350" spc="-195">
                <a:solidFill>
                  <a:srgbClr val="C2132D"/>
                </a:solidFill>
              </a:rPr>
              <a:t>Confidence</a:t>
            </a:r>
            <a:r>
              <a:rPr dirty="0" sz="3350" spc="-520">
                <a:solidFill>
                  <a:srgbClr val="C2132D"/>
                </a:solidFill>
              </a:rPr>
              <a:t> </a:t>
            </a:r>
            <a:r>
              <a:rPr dirty="0" sz="3350" spc="-140">
                <a:solidFill>
                  <a:srgbClr val="C2132D"/>
                </a:solidFill>
              </a:rPr>
              <a:t>Limits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48754" y="4204969"/>
            <a:ext cx="7292340" cy="1758950"/>
          </a:xfrm>
          <a:prstGeom prst="rect">
            <a:avLst/>
          </a:prstGeom>
        </p:spPr>
        <p:txBody>
          <a:bodyPr wrap="square" lIns="0" tIns="167005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315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Decreases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10" b="1">
                <a:solidFill>
                  <a:srgbClr val="C2132D"/>
                </a:solidFill>
                <a:latin typeface="Trebuchet MS"/>
                <a:cs typeface="Trebuchet MS"/>
              </a:rPr>
              <a:t>SE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leading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75" b="1">
                <a:solidFill>
                  <a:srgbClr val="C2132D"/>
                </a:solidFill>
                <a:latin typeface="Trebuchet MS"/>
                <a:cs typeface="Trebuchet MS"/>
              </a:rPr>
              <a:t>narrower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80" b="1">
                <a:solidFill>
                  <a:srgbClr val="C2132D"/>
                </a:solidFill>
                <a:latin typeface="Trebuchet MS"/>
                <a:cs typeface="Trebuchet MS"/>
              </a:rPr>
              <a:t>CIs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compared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original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series.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Explains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why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plot_acf()</a:t>
            </a:r>
            <a:r>
              <a:rPr dirty="0" sz="1700" spc="-65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Trebuchet MS"/>
                <a:cs typeface="Trebuchet MS"/>
              </a:rPr>
              <a:t>shows:</a:t>
            </a:r>
            <a:endParaRPr sz="1800">
              <a:latin typeface="Trebuchet MS"/>
              <a:cs typeface="Trebuchet MS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-60" b="1">
                <a:latin typeface="Trebuchet MS"/>
                <a:cs typeface="Trebuchet MS"/>
              </a:rPr>
              <a:t>Wider </a:t>
            </a:r>
            <a:r>
              <a:rPr dirty="0" sz="1800" spc="-20" b="1">
                <a:latin typeface="Trebuchet MS"/>
                <a:cs typeface="Trebuchet MS"/>
              </a:rPr>
              <a:t>limits </a:t>
            </a:r>
            <a:r>
              <a:rPr dirty="0" sz="1800" spc="-45" b="1">
                <a:latin typeface="Trebuchet MS"/>
                <a:cs typeface="Trebuchet MS"/>
              </a:rPr>
              <a:t>for </a:t>
            </a:r>
            <a:r>
              <a:rPr dirty="0" sz="1800" b="1">
                <a:latin typeface="Trebuchet MS"/>
                <a:cs typeface="Trebuchet MS"/>
              </a:rPr>
              <a:t>a</a:t>
            </a:r>
            <a:r>
              <a:rPr dirty="0" sz="1800" spc="-400" b="1">
                <a:latin typeface="Trebuchet MS"/>
                <a:cs typeface="Trebuchet MS"/>
              </a:rPr>
              <a:t> </a:t>
            </a:r>
            <a:r>
              <a:rPr dirty="0" sz="1800" spc="-50" b="1">
                <a:latin typeface="Trebuchet MS"/>
                <a:cs typeface="Trebuchet MS"/>
              </a:rPr>
              <a:t>trending </a:t>
            </a:r>
            <a:r>
              <a:rPr dirty="0" sz="1800" spc="-60" b="1">
                <a:latin typeface="Trebuchet MS"/>
                <a:cs typeface="Trebuchet MS"/>
              </a:rPr>
              <a:t>or </a:t>
            </a:r>
            <a:r>
              <a:rPr dirty="0" sz="1800" spc="-30" b="1">
                <a:latin typeface="Trebuchet MS"/>
                <a:cs typeface="Trebuchet MS"/>
              </a:rPr>
              <a:t>non-stationary </a:t>
            </a:r>
            <a:r>
              <a:rPr dirty="0" sz="1800" spc="-20" b="1">
                <a:latin typeface="Trebuchet MS"/>
                <a:cs typeface="Trebuchet MS"/>
              </a:rPr>
              <a:t>series.</a:t>
            </a:r>
            <a:endParaRPr sz="1800">
              <a:latin typeface="Trebuchet MS"/>
              <a:cs typeface="Trebuchet MS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-60" b="1">
                <a:latin typeface="Trebuchet MS"/>
                <a:cs typeface="Trebuchet MS"/>
              </a:rPr>
              <a:t>Narrower </a:t>
            </a:r>
            <a:r>
              <a:rPr dirty="0" sz="1800" spc="-20" b="1">
                <a:latin typeface="Trebuchet MS"/>
                <a:cs typeface="Trebuchet MS"/>
              </a:rPr>
              <a:t>limits </a:t>
            </a:r>
            <a:r>
              <a:rPr dirty="0" sz="1800" spc="-60" b="1">
                <a:latin typeface="Trebuchet MS"/>
                <a:cs typeface="Trebuchet MS"/>
              </a:rPr>
              <a:t>after</a:t>
            </a:r>
            <a:r>
              <a:rPr dirty="0" sz="1800" spc="-210" b="1">
                <a:latin typeface="Trebuchet MS"/>
                <a:cs typeface="Trebuchet MS"/>
              </a:rPr>
              <a:t> </a:t>
            </a:r>
            <a:r>
              <a:rPr dirty="0" sz="1800" spc="-45" b="1">
                <a:latin typeface="Trebuchet MS"/>
                <a:cs typeface="Trebuchet MS"/>
              </a:rPr>
              <a:t>differencing.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6300" y="1425575"/>
            <a:ext cx="7660640" cy="1318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When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differencing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</a:t>
            </a:r>
            <a:r>
              <a:rPr dirty="0" sz="1800" spc="-1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series:</a:t>
            </a:r>
            <a:endParaRPr sz="1800">
              <a:latin typeface="Arial"/>
              <a:cs typeface="Arial"/>
            </a:endParaRPr>
          </a:p>
          <a:p>
            <a:pPr marL="4130040">
              <a:lnSpc>
                <a:spcPct val="100000"/>
              </a:lnSpc>
              <a:spcBef>
                <a:spcPts val="1565"/>
              </a:spcBef>
            </a:pPr>
            <a:r>
              <a:rPr dirty="0" sz="1600" spc="5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4492" sz="1725" spc="82" i="1">
                <a:solidFill>
                  <a:srgbClr val="585D60"/>
                </a:solidFill>
                <a:latin typeface="Arial"/>
                <a:cs typeface="Arial"/>
              </a:rPr>
              <a:t>t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600" spc="280" i="1">
                <a:solidFill>
                  <a:srgbClr val="585D60"/>
                </a:solidFill>
                <a:latin typeface="Arial"/>
                <a:cs typeface="Arial"/>
              </a:rPr>
              <a:t>X</a:t>
            </a:r>
            <a:r>
              <a:rPr dirty="0" baseline="-14492" sz="1725" spc="419" i="1">
                <a:solidFill>
                  <a:srgbClr val="585D60"/>
                </a:solidFill>
                <a:latin typeface="Arial"/>
                <a:cs typeface="Arial"/>
              </a:rPr>
              <a:t>t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900" spc="-4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80" i="1">
                <a:solidFill>
                  <a:srgbClr val="585D60"/>
                </a:solidFill>
                <a:latin typeface="Arial"/>
                <a:cs typeface="Arial"/>
              </a:rPr>
              <a:t>X</a:t>
            </a:r>
            <a:r>
              <a:rPr dirty="0" baseline="-14492" sz="1725" spc="120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2820" sz="1950" spc="120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endParaRPr baseline="-12820" sz="19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00">
              <a:latin typeface="Lucida Sans Unicode"/>
              <a:cs typeface="Lucida Sans Unicode"/>
            </a:endParaRPr>
          </a:p>
          <a:p>
            <a:pPr marL="419100" indent="-133985">
              <a:lnSpc>
                <a:spcPct val="100000"/>
              </a:lnSpc>
              <a:buFont typeface="Trebuchet MS"/>
              <a:buChar char="•"/>
              <a:tabLst>
                <a:tab pos="419100" algn="l"/>
              </a:tabLst>
            </a:pP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Reduces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autocorrelation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shrinking the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Bartlett </a:t>
            </a:r>
            <a:r>
              <a:rPr dirty="0" sz="1800" spc="35" b="1">
                <a:solidFill>
                  <a:srgbClr val="C2132D"/>
                </a:solidFill>
                <a:latin typeface="Trebuchet MS"/>
                <a:cs typeface="Trebuchet MS"/>
              </a:rPr>
              <a:t>sum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27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5">
                <a:solidFill>
                  <a:srgbClr val="585D60"/>
                </a:solidFill>
                <a:latin typeface="Arial"/>
                <a:cs typeface="Arial"/>
              </a:rPr>
              <a:t>SE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computation: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73848" y="2951403"/>
            <a:ext cx="31623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85" i="1">
                <a:solidFill>
                  <a:srgbClr val="585D60"/>
                </a:solidFill>
                <a:latin typeface="Arial"/>
                <a:cs typeface="Arial"/>
              </a:rPr>
              <a:t>k</a:t>
            </a:r>
            <a:r>
              <a:rPr dirty="0" sz="1300" spc="-4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300" spc="-190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82629" y="3494328"/>
            <a:ext cx="29908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65" i="1">
                <a:solidFill>
                  <a:srgbClr val="585D60"/>
                </a:solidFill>
                <a:latin typeface="Arial"/>
                <a:cs typeface="Arial"/>
              </a:rPr>
              <a:t>j</a:t>
            </a:r>
            <a:r>
              <a:rPr dirty="0" sz="1300" spc="-4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300" spc="-190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28803" y="3077209"/>
            <a:ext cx="661035" cy="409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2500" spc="815">
                <a:solidFill>
                  <a:srgbClr val="585D60"/>
                </a:solidFill>
                <a:latin typeface="Arial"/>
                <a:cs typeface="Arial"/>
              </a:rPr>
              <a:t>∑</a:t>
            </a:r>
            <a:r>
              <a:rPr dirty="0" sz="2500" spc="-4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415" i="1">
                <a:solidFill>
                  <a:srgbClr val="585D60"/>
                </a:solidFill>
                <a:latin typeface="Arial"/>
                <a:cs typeface="Arial"/>
              </a:rPr>
              <a:t>ρ</a:t>
            </a:r>
            <a:r>
              <a:rPr dirty="0" sz="1900" spc="-415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baseline="34188" sz="1950" spc="-622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endParaRPr baseline="34188" sz="19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57688" y="3316919"/>
            <a:ext cx="9207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265" i="1">
                <a:solidFill>
                  <a:srgbClr val="585D60"/>
                </a:solidFill>
                <a:latin typeface="Arial"/>
                <a:cs typeface="Arial"/>
              </a:rPr>
              <a:t>j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59561" y="3149828"/>
            <a:ext cx="612140" cy="848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400" spc="-4400">
                <a:solidFill>
                  <a:srgbClr val="585D60"/>
                </a:solidFill>
                <a:latin typeface="Cambria"/>
                <a:cs typeface="Cambria"/>
              </a:rPr>
              <a:t></a:t>
            </a:r>
            <a:r>
              <a:rPr dirty="0" sz="5400" spc="-4715">
                <a:solidFill>
                  <a:srgbClr val="585D60"/>
                </a:solidFill>
                <a:latin typeface="Cambria"/>
                <a:cs typeface="Cambria"/>
              </a:rPr>
              <a:t></a:t>
            </a:r>
            <a:r>
              <a:rPr dirty="0" sz="5400" spc="-4435">
                <a:solidFill>
                  <a:srgbClr val="585D60"/>
                </a:solidFill>
                <a:latin typeface="Cambria"/>
                <a:cs typeface="Cambria"/>
              </a:rPr>
              <a:t></a:t>
            </a:r>
            <a:r>
              <a:rPr dirty="0" sz="5400" spc="-4170">
                <a:solidFill>
                  <a:srgbClr val="585D60"/>
                </a:solidFill>
                <a:latin typeface="Cambria"/>
                <a:cs typeface="Cambria"/>
              </a:rPr>
              <a:t></a:t>
            </a:r>
            <a:r>
              <a:rPr dirty="0" sz="5400" spc="-4400">
                <a:solidFill>
                  <a:srgbClr val="585D60"/>
                </a:solidFill>
                <a:latin typeface="Cambria"/>
                <a:cs typeface="Cambria"/>
              </a:rPr>
              <a:t></a:t>
            </a:r>
            <a:r>
              <a:rPr dirty="0" sz="5400" spc="-4715">
                <a:solidFill>
                  <a:srgbClr val="585D60"/>
                </a:solidFill>
                <a:latin typeface="Cambria"/>
                <a:cs typeface="Cambria"/>
              </a:rPr>
              <a:t></a:t>
            </a:r>
            <a:r>
              <a:rPr dirty="0" sz="5400" spc="-4435">
                <a:solidFill>
                  <a:srgbClr val="585D60"/>
                </a:solidFill>
                <a:latin typeface="Cambria"/>
                <a:cs typeface="Cambria"/>
              </a:rPr>
              <a:t></a:t>
            </a:r>
            <a:r>
              <a:rPr dirty="0" sz="5400" spc="-4170">
                <a:solidFill>
                  <a:srgbClr val="585D60"/>
                </a:solidFill>
                <a:latin typeface="Cambria"/>
                <a:cs typeface="Cambria"/>
              </a:rPr>
              <a:t>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84787" y="3883405"/>
            <a:ext cx="1755775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-10">
                <a:latin typeface="Arial"/>
                <a:cs typeface="Arial"/>
              </a:rPr>
              <a:t>smaller </a:t>
            </a:r>
            <a:r>
              <a:rPr dirty="0" sz="1250" spc="15">
                <a:latin typeface="Arial"/>
                <a:cs typeface="Arial"/>
              </a:rPr>
              <a:t>after</a:t>
            </a:r>
            <a:r>
              <a:rPr dirty="0" sz="1250" spc="-95">
                <a:latin typeface="Arial"/>
                <a:cs typeface="Arial"/>
              </a:rPr>
              <a:t> </a:t>
            </a:r>
            <a:r>
              <a:rPr dirty="0" sz="1250" spc="-5">
                <a:latin typeface="Arial"/>
                <a:cs typeface="Arial"/>
              </a:rPr>
              <a:t>differencing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11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12644"/>
            <a:ext cx="3262629" cy="56134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00" spc="3604">
                <a:solidFill>
                  <a:srgbClr val="C2132D"/>
                </a:solidFill>
                <a:latin typeface="Microsoft Sans Serif"/>
                <a:cs typeface="Microsoft Sans Serif"/>
              </a:rPr>
              <a:t>🔑</a:t>
            </a:r>
            <a:r>
              <a:rPr dirty="0" sz="3500" spc="-310">
                <a:solidFill>
                  <a:srgbClr val="C2132D"/>
                </a:solidFill>
                <a:latin typeface="Microsoft Sans Serif"/>
                <a:cs typeface="Microsoft Sans Serif"/>
              </a:rPr>
              <a:t> </a:t>
            </a:r>
            <a:r>
              <a:rPr dirty="0" sz="3350" spc="-220">
                <a:solidFill>
                  <a:srgbClr val="C2132D"/>
                </a:solidFill>
              </a:rPr>
              <a:t>Key </a:t>
            </a:r>
            <a:r>
              <a:rPr dirty="0" sz="3350" spc="-185">
                <a:solidFill>
                  <a:srgbClr val="C2132D"/>
                </a:solidFill>
              </a:rPr>
              <a:t>Takeaways</a:t>
            </a:r>
            <a:endParaRPr sz="33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351"/>
            <a:ext cx="8464550" cy="1176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Segoe UI Emoji"/>
                <a:cs typeface="Segoe UI Emoji"/>
              </a:rPr>
              <a:t>✅</a:t>
            </a:r>
            <a:r>
              <a:rPr dirty="0" sz="1800" spc="-50">
                <a:solidFill>
                  <a:srgbClr val="585D60"/>
                </a:solidFill>
                <a:latin typeface="Segoe UI Emoji"/>
                <a:cs typeface="Segoe UI Emoji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Original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with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latin typeface="Trebuchet MS"/>
                <a:cs typeface="Trebuchet MS"/>
              </a:rPr>
              <a:t>strong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-50" b="1">
                <a:latin typeface="Trebuchet MS"/>
                <a:cs typeface="Trebuchet MS"/>
              </a:rPr>
              <a:t>autocorrelation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950" spc="1825">
                <a:solidFill>
                  <a:srgbClr val="585D60"/>
                </a:solidFill>
                <a:latin typeface="Cambria"/>
                <a:cs typeface="Cambria"/>
              </a:rPr>
              <a:t>⟶</a:t>
            </a:r>
            <a:r>
              <a:rPr dirty="0" sz="950" spc="229">
                <a:solidFill>
                  <a:srgbClr val="585D60"/>
                </a:solidFill>
                <a:latin typeface="Cambria"/>
                <a:cs typeface="Cambria"/>
              </a:rPr>
              <a:t>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Wider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confidence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5" b="1">
                <a:solidFill>
                  <a:srgbClr val="C2132D"/>
                </a:solidFill>
                <a:latin typeface="Trebuchet MS"/>
                <a:cs typeface="Trebuchet MS"/>
              </a:rPr>
              <a:t>bands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800">
                <a:solidFill>
                  <a:srgbClr val="585D60"/>
                </a:solidFill>
                <a:latin typeface="Segoe UI Emoji"/>
                <a:cs typeface="Segoe UI Emoji"/>
              </a:rPr>
              <a:t>✅</a:t>
            </a:r>
            <a:r>
              <a:rPr dirty="0" sz="1800" spc="-45">
                <a:solidFill>
                  <a:srgbClr val="585D60"/>
                </a:solidFill>
                <a:latin typeface="Segoe UI Emoji"/>
                <a:cs typeface="Segoe UI Emoji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Differenced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with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65" b="1">
                <a:latin typeface="Trebuchet MS"/>
                <a:cs typeface="Trebuchet MS"/>
              </a:rPr>
              <a:t>weaker</a:t>
            </a:r>
            <a:r>
              <a:rPr dirty="0" sz="1800" spc="-85" b="1">
                <a:latin typeface="Trebuchet MS"/>
                <a:cs typeface="Trebuchet MS"/>
              </a:rPr>
              <a:t> </a:t>
            </a:r>
            <a:r>
              <a:rPr dirty="0" sz="1800" spc="-50" b="1">
                <a:latin typeface="Trebuchet MS"/>
                <a:cs typeface="Trebuchet MS"/>
              </a:rPr>
              <a:t>autocorrelation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950" spc="1825">
                <a:solidFill>
                  <a:srgbClr val="585D60"/>
                </a:solidFill>
                <a:latin typeface="Cambria"/>
                <a:cs typeface="Cambria"/>
              </a:rPr>
              <a:t>⟶</a:t>
            </a:r>
            <a:r>
              <a:rPr dirty="0" sz="950" spc="240">
                <a:solidFill>
                  <a:srgbClr val="585D60"/>
                </a:solidFill>
                <a:latin typeface="Cambria"/>
                <a:cs typeface="Cambria"/>
              </a:rPr>
              <a:t>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Narrower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confidence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5" b="1">
                <a:solidFill>
                  <a:srgbClr val="C2132D"/>
                </a:solidFill>
                <a:latin typeface="Trebuchet MS"/>
                <a:cs typeface="Trebuchet MS"/>
              </a:rPr>
              <a:t>bands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800">
                <a:solidFill>
                  <a:srgbClr val="585D60"/>
                </a:solidFill>
                <a:latin typeface="Segoe UI Emoji"/>
                <a:cs typeface="Segoe UI Emoji"/>
              </a:rPr>
              <a:t>✅</a:t>
            </a:r>
            <a:r>
              <a:rPr dirty="0" sz="1800" spc="-50">
                <a:solidFill>
                  <a:srgbClr val="585D60"/>
                </a:solidFill>
                <a:latin typeface="Segoe UI Emoji"/>
                <a:cs typeface="Segoe UI Emoji"/>
              </a:rPr>
              <a:t> </a:t>
            </a:r>
            <a:r>
              <a:rPr dirty="0" sz="1800" spc="80" b="1">
                <a:solidFill>
                  <a:srgbClr val="C2132D"/>
                </a:solidFill>
                <a:latin typeface="Trebuchet MS"/>
                <a:cs typeface="Trebuchet MS"/>
              </a:rPr>
              <a:t>CIs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widen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at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larger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55" b="1">
                <a:solidFill>
                  <a:srgbClr val="C2132D"/>
                </a:solidFill>
                <a:latin typeface="Trebuchet MS"/>
                <a:cs typeface="Trebuchet MS"/>
              </a:rPr>
              <a:t>lags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due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latin typeface="Trebuchet MS"/>
                <a:cs typeface="Trebuchet MS"/>
              </a:rPr>
              <a:t>accumulating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-30" b="1">
                <a:latin typeface="Trebuchet MS"/>
                <a:cs typeface="Trebuchet MS"/>
              </a:rPr>
              <a:t>estimation</a:t>
            </a:r>
            <a:r>
              <a:rPr dirty="0" sz="1800" spc="-95" b="1">
                <a:latin typeface="Trebuchet MS"/>
                <a:cs typeface="Trebuchet MS"/>
              </a:rPr>
              <a:t> </a:t>
            </a:r>
            <a:r>
              <a:rPr dirty="0" sz="1800" spc="-55" b="1">
                <a:latin typeface="Trebuchet MS"/>
                <a:cs typeface="Trebuchet MS"/>
              </a:rPr>
              <a:t>uncertainty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6672" y="2758440"/>
            <a:ext cx="8388350" cy="1042669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46379">
              <a:lnSpc>
                <a:spcPct val="100000"/>
              </a:lnSpc>
              <a:spcBef>
                <a:spcPts val="1105"/>
              </a:spcBef>
            </a:pPr>
            <a:r>
              <a:rPr dirty="0" spc="-960">
                <a:solidFill>
                  <a:srgbClr val="000000"/>
                </a:solidFill>
              </a:rPr>
              <a:t>S</a:t>
            </a:r>
            <a:r>
              <a:rPr dirty="0" spc="-960"/>
              <a:t>S</a:t>
            </a:r>
            <a:r>
              <a:rPr dirty="0" spc="-960">
                <a:solidFill>
                  <a:srgbClr val="000000"/>
                </a:solidFill>
              </a:rPr>
              <a:t>t</a:t>
            </a:r>
            <a:r>
              <a:rPr dirty="0" spc="-960"/>
              <a:t>t</a:t>
            </a:r>
            <a:r>
              <a:rPr dirty="0" spc="-960">
                <a:solidFill>
                  <a:srgbClr val="000000"/>
                </a:solidFill>
              </a:rPr>
              <a:t>a</a:t>
            </a:r>
            <a:r>
              <a:rPr dirty="0" spc="-960"/>
              <a:t>a</a:t>
            </a:r>
            <a:r>
              <a:rPr dirty="0" spc="-960">
                <a:solidFill>
                  <a:srgbClr val="000000"/>
                </a:solidFill>
              </a:rPr>
              <a:t>b</a:t>
            </a:r>
            <a:r>
              <a:rPr dirty="0" spc="-960"/>
              <a:t>b</a:t>
            </a:r>
            <a:r>
              <a:rPr dirty="0" spc="-960">
                <a:solidFill>
                  <a:srgbClr val="000000"/>
                </a:solidFill>
              </a:rPr>
              <a:t>i</a:t>
            </a:r>
            <a:r>
              <a:rPr dirty="0" spc="-960"/>
              <a:t>i</a:t>
            </a:r>
            <a:r>
              <a:rPr dirty="0" spc="-960">
                <a:solidFill>
                  <a:srgbClr val="000000"/>
                </a:solidFill>
              </a:rPr>
              <a:t>l</a:t>
            </a:r>
            <a:r>
              <a:rPr dirty="0" spc="-960"/>
              <a:t>l</a:t>
            </a:r>
            <a:r>
              <a:rPr dirty="0" spc="-960">
                <a:solidFill>
                  <a:srgbClr val="000000"/>
                </a:solidFill>
              </a:rPr>
              <a:t>i</a:t>
            </a:r>
            <a:r>
              <a:rPr dirty="0" spc="-960"/>
              <a:t>i</a:t>
            </a:r>
            <a:r>
              <a:rPr dirty="0" spc="-960">
                <a:solidFill>
                  <a:srgbClr val="000000"/>
                </a:solidFill>
              </a:rPr>
              <a:t>z</a:t>
            </a:r>
            <a:r>
              <a:rPr dirty="0" spc="-960"/>
              <a:t>z</a:t>
            </a:r>
            <a:r>
              <a:rPr dirty="0" spc="-960">
                <a:solidFill>
                  <a:srgbClr val="000000"/>
                </a:solidFill>
              </a:rPr>
              <a:t>i</a:t>
            </a:r>
            <a:r>
              <a:rPr dirty="0" spc="-960"/>
              <a:t>i</a:t>
            </a:r>
            <a:r>
              <a:rPr dirty="0" spc="-960">
                <a:solidFill>
                  <a:srgbClr val="000000"/>
                </a:solidFill>
              </a:rPr>
              <a:t>n</a:t>
            </a:r>
            <a:r>
              <a:rPr dirty="0" spc="-960"/>
              <a:t>n</a:t>
            </a:r>
            <a:r>
              <a:rPr dirty="0" spc="-960">
                <a:solidFill>
                  <a:srgbClr val="000000"/>
                </a:solidFill>
              </a:rPr>
              <a:t>g</a:t>
            </a:r>
            <a:r>
              <a:rPr dirty="0" spc="-960"/>
              <a:t>g </a:t>
            </a:r>
            <a:r>
              <a:rPr dirty="0" spc="-1090">
                <a:solidFill>
                  <a:srgbClr val="000000"/>
                </a:solidFill>
              </a:rPr>
              <a:t>N</a:t>
            </a:r>
            <a:r>
              <a:rPr dirty="0" spc="-1090"/>
              <a:t>N</a:t>
            </a:r>
            <a:r>
              <a:rPr dirty="0" spc="-1090">
                <a:solidFill>
                  <a:srgbClr val="000000"/>
                </a:solidFill>
              </a:rPr>
              <a:t>o</a:t>
            </a:r>
            <a:r>
              <a:rPr dirty="0" spc="-1090"/>
              <a:t>o</a:t>
            </a:r>
            <a:r>
              <a:rPr dirty="0" spc="-1090">
                <a:solidFill>
                  <a:srgbClr val="000000"/>
                </a:solidFill>
              </a:rPr>
              <a:t>n</a:t>
            </a:r>
            <a:r>
              <a:rPr dirty="0" spc="-1090"/>
              <a:t>n</a:t>
            </a:r>
            <a:r>
              <a:rPr dirty="0" spc="-1090">
                <a:solidFill>
                  <a:srgbClr val="000000"/>
                </a:solidFill>
              </a:rPr>
              <a:t>-</a:t>
            </a:r>
            <a:r>
              <a:rPr dirty="0" spc="-1090"/>
              <a:t>-</a:t>
            </a:r>
            <a:r>
              <a:rPr dirty="0" spc="-1090">
                <a:solidFill>
                  <a:srgbClr val="000000"/>
                </a:solidFill>
              </a:rPr>
              <a:t>S</a:t>
            </a:r>
            <a:r>
              <a:rPr dirty="0" spc="-1090"/>
              <a:t>S</a:t>
            </a:r>
            <a:r>
              <a:rPr dirty="0" spc="-1090">
                <a:solidFill>
                  <a:srgbClr val="000000"/>
                </a:solidFill>
              </a:rPr>
              <a:t>t</a:t>
            </a:r>
            <a:r>
              <a:rPr dirty="0" spc="-1090"/>
              <a:t>t</a:t>
            </a:r>
            <a:r>
              <a:rPr dirty="0" spc="-1090">
                <a:solidFill>
                  <a:srgbClr val="000000"/>
                </a:solidFill>
              </a:rPr>
              <a:t>a</a:t>
            </a:r>
            <a:r>
              <a:rPr dirty="0" spc="-1090"/>
              <a:t>a</a:t>
            </a:r>
            <a:r>
              <a:rPr dirty="0" spc="-1090">
                <a:solidFill>
                  <a:srgbClr val="000000"/>
                </a:solidFill>
              </a:rPr>
              <a:t>t</a:t>
            </a:r>
            <a:r>
              <a:rPr dirty="0" spc="-1090"/>
              <a:t>t</a:t>
            </a:r>
            <a:r>
              <a:rPr dirty="0" spc="-1090">
                <a:solidFill>
                  <a:srgbClr val="000000"/>
                </a:solidFill>
              </a:rPr>
              <a:t>i</a:t>
            </a:r>
            <a:r>
              <a:rPr dirty="0" spc="-1090"/>
              <a:t>i</a:t>
            </a:r>
            <a:r>
              <a:rPr dirty="0" spc="-1090">
                <a:solidFill>
                  <a:srgbClr val="000000"/>
                </a:solidFill>
              </a:rPr>
              <a:t>o</a:t>
            </a:r>
            <a:r>
              <a:rPr dirty="0" spc="-1090"/>
              <a:t>o</a:t>
            </a:r>
            <a:r>
              <a:rPr dirty="0" spc="-1090">
                <a:solidFill>
                  <a:srgbClr val="000000"/>
                </a:solidFill>
              </a:rPr>
              <a:t>n</a:t>
            </a:r>
            <a:r>
              <a:rPr dirty="0" spc="-1090"/>
              <a:t>n</a:t>
            </a:r>
            <a:r>
              <a:rPr dirty="0" spc="-1090">
                <a:solidFill>
                  <a:srgbClr val="000000"/>
                </a:solidFill>
              </a:rPr>
              <a:t>a</a:t>
            </a:r>
            <a:r>
              <a:rPr dirty="0" spc="-1090"/>
              <a:t>a</a:t>
            </a:r>
            <a:r>
              <a:rPr dirty="0" spc="-1090">
                <a:solidFill>
                  <a:srgbClr val="000000"/>
                </a:solidFill>
              </a:rPr>
              <a:t>r</a:t>
            </a:r>
            <a:r>
              <a:rPr dirty="0" spc="-1090"/>
              <a:t>r</a:t>
            </a:r>
            <a:r>
              <a:rPr dirty="0" spc="-1090">
                <a:solidFill>
                  <a:srgbClr val="000000"/>
                </a:solidFill>
              </a:rPr>
              <a:t>y</a:t>
            </a:r>
            <a:r>
              <a:rPr dirty="0" spc="-1090"/>
              <a:t>y</a:t>
            </a:r>
            <a:r>
              <a:rPr dirty="0" spc="-1030"/>
              <a:t> </a:t>
            </a:r>
            <a:r>
              <a:rPr dirty="0" spc="-1285">
                <a:solidFill>
                  <a:srgbClr val="000000"/>
                </a:solidFill>
              </a:rPr>
              <a:t>T</a:t>
            </a:r>
            <a:r>
              <a:rPr dirty="0" spc="-1285"/>
              <a:t>T</a:t>
            </a:r>
            <a:r>
              <a:rPr dirty="0" spc="-1285">
                <a:solidFill>
                  <a:srgbClr val="000000"/>
                </a:solidFill>
              </a:rPr>
              <a:t>i</a:t>
            </a:r>
            <a:r>
              <a:rPr dirty="0" spc="-1285"/>
              <a:t>i</a:t>
            </a:r>
            <a:r>
              <a:rPr dirty="0" spc="-1285">
                <a:solidFill>
                  <a:srgbClr val="000000"/>
                </a:solidFill>
              </a:rPr>
              <a:t>m</a:t>
            </a:r>
            <a:r>
              <a:rPr dirty="0" spc="-1285"/>
              <a:t>m</a:t>
            </a:r>
            <a:r>
              <a:rPr dirty="0" spc="-1285">
                <a:solidFill>
                  <a:srgbClr val="000000"/>
                </a:solidFill>
              </a:rPr>
              <a:t>e</a:t>
            </a:r>
            <a:r>
              <a:rPr dirty="0" spc="-1285"/>
              <a:t>e</a:t>
            </a:r>
            <a:r>
              <a:rPr dirty="0" spc="-245"/>
              <a:t> </a:t>
            </a:r>
            <a:r>
              <a:rPr dirty="0" spc="-975">
                <a:solidFill>
                  <a:srgbClr val="000000"/>
                </a:solidFill>
              </a:rPr>
              <a:t>S</a:t>
            </a:r>
            <a:r>
              <a:rPr dirty="0" spc="-975"/>
              <a:t>S</a:t>
            </a:r>
            <a:r>
              <a:rPr dirty="0" spc="-975">
                <a:solidFill>
                  <a:srgbClr val="000000"/>
                </a:solidFill>
              </a:rPr>
              <a:t>e</a:t>
            </a:r>
            <a:r>
              <a:rPr dirty="0" spc="-975"/>
              <a:t>e</a:t>
            </a:r>
            <a:r>
              <a:rPr dirty="0" spc="-975">
                <a:solidFill>
                  <a:srgbClr val="000000"/>
                </a:solidFill>
              </a:rPr>
              <a:t>r</a:t>
            </a:r>
            <a:r>
              <a:rPr dirty="0" spc="-975"/>
              <a:t>r</a:t>
            </a:r>
            <a:r>
              <a:rPr dirty="0" spc="-975">
                <a:solidFill>
                  <a:srgbClr val="000000"/>
                </a:solidFill>
              </a:rPr>
              <a:t>i</a:t>
            </a:r>
            <a:r>
              <a:rPr dirty="0" spc="-975"/>
              <a:t>i</a:t>
            </a:r>
            <a:r>
              <a:rPr dirty="0" spc="-975">
                <a:solidFill>
                  <a:srgbClr val="000000"/>
                </a:solidFill>
              </a:rPr>
              <a:t>e</a:t>
            </a:r>
            <a:r>
              <a:rPr dirty="0" spc="-975"/>
              <a:t>e</a:t>
            </a:r>
            <a:r>
              <a:rPr dirty="0" spc="-975">
                <a:solidFill>
                  <a:srgbClr val="000000"/>
                </a:solidFill>
              </a:rPr>
              <a:t>s</a:t>
            </a:r>
            <a:r>
              <a:rPr dirty="0" spc="-975"/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200" spc="-295">
                <a:latin typeface="Trebuchet MS"/>
                <a:cs typeface="Trebuchet MS"/>
              </a:rPr>
              <a:t>6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6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17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7200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50">
                <a:solidFill>
                  <a:srgbClr val="C2132D"/>
                </a:solidFill>
              </a:rPr>
              <a:t>Stabilizing </a:t>
            </a:r>
            <a:r>
              <a:rPr dirty="0" sz="3350" spc="-260">
                <a:solidFill>
                  <a:srgbClr val="C2132D"/>
                </a:solidFill>
              </a:rPr>
              <a:t>the </a:t>
            </a:r>
            <a:r>
              <a:rPr dirty="0" sz="3350" spc="-175">
                <a:solidFill>
                  <a:srgbClr val="C2132D"/>
                </a:solidFill>
              </a:rPr>
              <a:t>Mean:</a:t>
            </a:r>
            <a:r>
              <a:rPr dirty="0" sz="3350" spc="-290">
                <a:solidFill>
                  <a:srgbClr val="C2132D"/>
                </a:solidFill>
              </a:rPr>
              <a:t> </a:t>
            </a:r>
            <a:r>
              <a:rPr dirty="0" sz="3350" spc="-185">
                <a:solidFill>
                  <a:srgbClr val="C2132D"/>
                </a:solidFill>
              </a:rPr>
              <a:t>Differencing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356090" cy="1061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Differencing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common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technique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stabilize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mean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series.</a:t>
            </a:r>
            <a:endParaRPr sz="1800">
              <a:latin typeface="Arial"/>
              <a:cs typeface="Arial"/>
            </a:endParaRPr>
          </a:p>
          <a:p>
            <a:pPr marL="146050" marR="5080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first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difference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Trebuchet MS"/>
                <a:cs typeface="Trebuchet MS"/>
              </a:rPr>
              <a:t>change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between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consecutive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observations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original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series: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04354" y="2604770"/>
            <a:ext cx="824230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1450" indent="-133985">
              <a:lnSpc>
                <a:spcPct val="100000"/>
              </a:lnSpc>
              <a:spcBef>
                <a:spcPts val="90"/>
              </a:spcBef>
              <a:buClr>
                <a:srgbClr val="C2132D"/>
              </a:buClr>
              <a:buSzPct val="94736"/>
              <a:buFont typeface="Trebuchet MS"/>
              <a:buChar char="•"/>
              <a:tabLst>
                <a:tab pos="172085" algn="l"/>
              </a:tabLst>
            </a:pPr>
            <a:r>
              <a:rPr dirty="0" sz="1900" spc="130">
                <a:solidFill>
                  <a:srgbClr val="585D60"/>
                </a:solidFill>
                <a:latin typeface="Lucida Sans Unicode"/>
                <a:cs typeface="Lucida Sans Unicode"/>
              </a:rPr>
              <a:t>Δ</a:t>
            </a:r>
            <a:r>
              <a:rPr dirty="0" sz="1600" spc="13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4492" sz="1725" spc="19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4492" sz="1725" spc="30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32570" y="2636773"/>
            <a:ext cx="125095" cy="2755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spc="-16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57884" y="2598978"/>
            <a:ext cx="6985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75">
                <a:solidFill>
                  <a:srgbClr val="585D60"/>
                </a:solidFill>
                <a:latin typeface="Lucida Sans Unicode"/>
                <a:cs typeface="Lucida Sans Unicode"/>
              </a:rPr>
              <a:t>′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44638" y="2764470"/>
            <a:ext cx="8382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33005" y="2340203"/>
            <a:ext cx="389890" cy="848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400" spc="-4365">
                <a:solidFill>
                  <a:srgbClr val="585D60"/>
                </a:solidFill>
                <a:latin typeface="Cambria"/>
                <a:cs typeface="Cambria"/>
              </a:rPr>
              <a:t></a:t>
            </a:r>
            <a:r>
              <a:rPr dirty="0" sz="5400" spc="-4170">
                <a:solidFill>
                  <a:srgbClr val="585D60"/>
                </a:solidFill>
                <a:latin typeface="Cambria"/>
                <a:cs typeface="Cambria"/>
              </a:rPr>
              <a:t></a:t>
            </a:r>
            <a:r>
              <a:rPr dirty="0" sz="5400" spc="-4350">
                <a:solidFill>
                  <a:srgbClr val="585D60"/>
                </a:solidFill>
                <a:latin typeface="Cambria"/>
                <a:cs typeface="Cambria"/>
              </a:rPr>
              <a:t></a:t>
            </a:r>
            <a:r>
              <a:rPr dirty="0" sz="5400" spc="-4170">
                <a:solidFill>
                  <a:srgbClr val="585D60"/>
                </a:solidFill>
                <a:latin typeface="Cambria"/>
                <a:cs typeface="Cambria"/>
              </a:rPr>
              <a:t>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51757" y="3084753"/>
            <a:ext cx="36576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130">
                <a:solidFill>
                  <a:srgbClr val="585D60"/>
                </a:solidFill>
                <a:latin typeface="Lucida Sans Unicode"/>
                <a:cs typeface="Lucida Sans Unicode"/>
              </a:rPr>
              <a:t>F</a:t>
            </a:r>
            <a:r>
              <a:rPr dirty="0" sz="1300" spc="-25">
                <a:solidFill>
                  <a:srgbClr val="585D60"/>
                </a:solidFill>
                <a:latin typeface="Lucida Sans Unicode"/>
                <a:cs typeface="Lucida Sans Unicode"/>
              </a:rPr>
              <a:t>i</a:t>
            </a:r>
            <a:r>
              <a:rPr dirty="0" sz="1300" spc="-35">
                <a:solidFill>
                  <a:srgbClr val="585D60"/>
                </a:solidFill>
                <a:latin typeface="Lucida Sans Unicode"/>
                <a:cs typeface="Lucida Sans Unicode"/>
              </a:rPr>
              <a:t>r</a:t>
            </a:r>
            <a:r>
              <a:rPr dirty="0" sz="1300" spc="-165">
                <a:solidFill>
                  <a:srgbClr val="585D60"/>
                </a:solidFill>
                <a:latin typeface="Lucida Sans Unicode"/>
                <a:cs typeface="Lucida Sans Unicode"/>
              </a:rPr>
              <a:t>s</a:t>
            </a:r>
            <a:r>
              <a:rPr dirty="0" sz="1300" spc="5">
                <a:solidFill>
                  <a:srgbClr val="585D60"/>
                </a:solidFill>
                <a:latin typeface="Lucida Sans Unicode"/>
                <a:cs typeface="Lucida Sans Unicode"/>
              </a:rPr>
              <a:t>t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68103" y="3303828"/>
            <a:ext cx="73279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95">
                <a:solidFill>
                  <a:srgbClr val="585D60"/>
                </a:solidFill>
                <a:latin typeface="Lucida Sans Unicode"/>
                <a:cs typeface="Lucida Sans Unicode"/>
              </a:rPr>
              <a:t>Difference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58170" y="2735895"/>
            <a:ext cx="8382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66119" y="2604770"/>
            <a:ext cx="1165860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92455" algn="l"/>
              </a:tabLst>
            </a:pP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=	</a:t>
            </a:r>
            <a:r>
              <a:rPr dirty="0" sz="1600" spc="80" i="1">
                <a:solidFill>
                  <a:srgbClr val="585D60"/>
                </a:solidFill>
                <a:latin typeface="Arial"/>
                <a:cs typeface="Arial"/>
              </a:rPr>
              <a:t>y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900" spc="-38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40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19240" y="2713278"/>
            <a:ext cx="29083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300" spc="-4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300" spc="-190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51460" y="2321153"/>
            <a:ext cx="849630" cy="848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400" spc="-4290">
                <a:solidFill>
                  <a:srgbClr val="585D60"/>
                </a:solidFill>
                <a:latin typeface="Cambria"/>
                <a:cs typeface="Cambria"/>
              </a:rPr>
              <a:t></a:t>
            </a:r>
            <a:r>
              <a:rPr dirty="0" sz="5400" spc="-4490">
                <a:solidFill>
                  <a:srgbClr val="585D60"/>
                </a:solidFill>
                <a:latin typeface="Cambria"/>
                <a:cs typeface="Cambria"/>
              </a:rPr>
              <a:t></a:t>
            </a:r>
            <a:r>
              <a:rPr dirty="0" sz="5400" spc="-4320">
                <a:solidFill>
                  <a:srgbClr val="585D60"/>
                </a:solidFill>
                <a:latin typeface="Cambria"/>
                <a:cs typeface="Cambria"/>
              </a:rPr>
              <a:t></a:t>
            </a:r>
            <a:r>
              <a:rPr dirty="0" sz="5400" spc="-4170">
                <a:solidFill>
                  <a:srgbClr val="585D60"/>
                </a:solidFill>
                <a:latin typeface="Cambria"/>
                <a:cs typeface="Cambria"/>
              </a:rPr>
              <a:t></a:t>
            </a:r>
            <a:r>
              <a:rPr dirty="0" sz="5400" spc="-4290">
                <a:solidFill>
                  <a:srgbClr val="585D60"/>
                </a:solidFill>
                <a:latin typeface="Cambria"/>
                <a:cs typeface="Cambria"/>
              </a:rPr>
              <a:t></a:t>
            </a:r>
            <a:r>
              <a:rPr dirty="0" sz="5400" spc="-4490">
                <a:solidFill>
                  <a:srgbClr val="585D60"/>
                </a:solidFill>
                <a:latin typeface="Cambria"/>
                <a:cs typeface="Cambria"/>
              </a:rPr>
              <a:t></a:t>
            </a:r>
            <a:r>
              <a:rPr dirty="0" sz="5400" spc="-4320">
                <a:solidFill>
                  <a:srgbClr val="585D60"/>
                </a:solidFill>
                <a:latin typeface="Cambria"/>
                <a:cs typeface="Cambria"/>
              </a:rPr>
              <a:t></a:t>
            </a:r>
            <a:r>
              <a:rPr dirty="0" sz="5400" spc="-4840">
                <a:solidFill>
                  <a:srgbClr val="585D60"/>
                </a:solidFill>
                <a:latin typeface="Cambria"/>
                <a:cs typeface="Cambria"/>
              </a:rPr>
              <a:t>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82255" y="3065703"/>
            <a:ext cx="99631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0">
                <a:solidFill>
                  <a:srgbClr val="585D60"/>
                </a:solidFill>
                <a:latin typeface="Lucida Sans Unicode"/>
                <a:cs typeface="Lucida Sans Unicode"/>
              </a:rPr>
              <a:t>Current</a:t>
            </a:r>
            <a:r>
              <a:rPr dirty="0" sz="1300" spc="-15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300" spc="-75">
                <a:solidFill>
                  <a:srgbClr val="585D60"/>
                </a:solidFill>
                <a:latin typeface="Lucida Sans Unicode"/>
                <a:cs typeface="Lucida Sans Unicode"/>
              </a:rPr>
              <a:t>value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34754" y="3284778"/>
            <a:ext cx="149098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110">
                <a:solidFill>
                  <a:srgbClr val="585D60"/>
                </a:solidFill>
                <a:latin typeface="Lucida Sans Unicode"/>
                <a:cs typeface="Lucida Sans Unicode"/>
              </a:rPr>
              <a:t>minus </a:t>
            </a:r>
            <a:r>
              <a:rPr dirty="0" sz="1300" spc="-95">
                <a:solidFill>
                  <a:srgbClr val="585D60"/>
                </a:solidFill>
                <a:latin typeface="Lucida Sans Unicode"/>
                <a:cs typeface="Lucida Sans Unicode"/>
              </a:rPr>
              <a:t>previous</a:t>
            </a:r>
            <a:r>
              <a:rPr dirty="0" sz="1300" spc="-14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300" spc="-75">
                <a:solidFill>
                  <a:srgbClr val="585D60"/>
                </a:solidFill>
                <a:latin typeface="Lucida Sans Unicode"/>
                <a:cs typeface="Lucida Sans Unicode"/>
              </a:rPr>
              <a:t>value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48754" y="3652519"/>
            <a:ext cx="9447530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differenced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series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will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have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only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85" i="1">
                <a:solidFill>
                  <a:srgbClr val="585D60"/>
                </a:solidFill>
                <a:latin typeface="Arial"/>
                <a:cs typeface="Arial"/>
              </a:rPr>
              <a:t>N</a:t>
            </a:r>
            <a:r>
              <a:rPr dirty="0" sz="1600" spc="11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900" spc="-204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305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r>
              <a:rPr dirty="0" sz="1900" spc="-15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observations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since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Arial"/>
                <a:cs typeface="Arial"/>
              </a:rPr>
              <a:t>it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not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possible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calculate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57299" y="3987800"/>
            <a:ext cx="40354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difference </a:t>
            </a:r>
            <a:r>
              <a:rPr dirty="0" sz="1600" spc="5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27777" sz="1950" spc="75">
                <a:solidFill>
                  <a:srgbClr val="585D60"/>
                </a:solidFill>
                <a:latin typeface="Lucida Sans Unicode"/>
                <a:cs typeface="Lucida Sans Unicode"/>
              </a:rPr>
              <a:t>′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first</a:t>
            </a:r>
            <a:r>
              <a:rPr dirty="0" sz="1800" spc="-9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observation.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58318" y="4113453"/>
            <a:ext cx="10668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190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endParaRPr sz="13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17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43357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85">
                <a:solidFill>
                  <a:srgbClr val="C2132D"/>
                </a:solidFill>
              </a:rPr>
              <a:t>Second-order</a:t>
            </a:r>
            <a:r>
              <a:rPr dirty="0" sz="3350" spc="-280">
                <a:solidFill>
                  <a:srgbClr val="C2132D"/>
                </a:solidFill>
              </a:rPr>
              <a:t> </a:t>
            </a:r>
            <a:r>
              <a:rPr dirty="0" sz="3350" spc="-185">
                <a:solidFill>
                  <a:srgbClr val="C2132D"/>
                </a:solidFill>
              </a:rPr>
              <a:t>Differencing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901700" y="1376044"/>
            <a:ext cx="8806815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Occasionally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differenced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will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not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appear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stationary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Arial"/>
                <a:cs typeface="Arial"/>
              </a:rPr>
              <a:t>it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may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be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necessary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 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difference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data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second</a:t>
            </a:r>
            <a:r>
              <a:rPr dirty="0" sz="1800" spc="-29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time: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73202" y="2274823"/>
            <a:ext cx="125095" cy="2755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spc="-80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98515" y="2227503"/>
            <a:ext cx="10160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200">
                <a:solidFill>
                  <a:srgbClr val="585D60"/>
                </a:solidFill>
                <a:latin typeface="Lucida Sans Unicode"/>
                <a:cs typeface="Lucida Sans Unicode"/>
              </a:rPr>
              <a:t>′′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85269" y="2402520"/>
            <a:ext cx="8382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95365" y="1978253"/>
            <a:ext cx="389890" cy="848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400" spc="-4365">
                <a:solidFill>
                  <a:srgbClr val="585D60"/>
                </a:solidFill>
                <a:latin typeface="Cambria"/>
                <a:cs typeface="Cambria"/>
              </a:rPr>
              <a:t></a:t>
            </a:r>
            <a:r>
              <a:rPr dirty="0" sz="5400" spc="-4170">
                <a:solidFill>
                  <a:srgbClr val="585D60"/>
                </a:solidFill>
                <a:latin typeface="Cambria"/>
                <a:cs typeface="Cambria"/>
              </a:rPr>
              <a:t></a:t>
            </a:r>
            <a:r>
              <a:rPr dirty="0" sz="5400" spc="-4350">
                <a:solidFill>
                  <a:srgbClr val="585D60"/>
                </a:solidFill>
                <a:latin typeface="Cambria"/>
                <a:cs typeface="Cambria"/>
              </a:rPr>
              <a:t></a:t>
            </a:r>
            <a:r>
              <a:rPr dirty="0" sz="5400" spc="-4170">
                <a:solidFill>
                  <a:srgbClr val="585D60"/>
                </a:solidFill>
                <a:latin typeface="Cambria"/>
                <a:cs typeface="Cambria"/>
              </a:rPr>
              <a:t>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63317" y="2703753"/>
            <a:ext cx="126682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105">
                <a:solidFill>
                  <a:srgbClr val="585D60"/>
                </a:solidFill>
                <a:latin typeface="Lucida Sans Unicode"/>
                <a:cs typeface="Lucida Sans Unicode"/>
              </a:rPr>
              <a:t>Second</a:t>
            </a:r>
            <a:r>
              <a:rPr dirty="0" sz="1300" spc="-14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300" spc="-95">
                <a:solidFill>
                  <a:srgbClr val="585D60"/>
                </a:solidFill>
                <a:latin typeface="Lucida Sans Unicode"/>
                <a:cs typeface="Lucida Sans Unicode"/>
              </a:rPr>
              <a:t>Difference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26881" y="2402520"/>
            <a:ext cx="8382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42841" y="2242820"/>
            <a:ext cx="1866900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184275" algn="l"/>
              </a:tabLst>
            </a:pP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=	</a:t>
            </a:r>
            <a:r>
              <a:rPr dirty="0" sz="1600" spc="5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27777" sz="1950" spc="75">
                <a:solidFill>
                  <a:srgbClr val="585D60"/>
                </a:solidFill>
                <a:latin typeface="Lucida Sans Unicode"/>
                <a:cs typeface="Lucida Sans Unicode"/>
              </a:rPr>
              <a:t>′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900" spc="-23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5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27777" sz="1950" spc="75">
                <a:solidFill>
                  <a:srgbClr val="585D60"/>
                </a:solidFill>
                <a:latin typeface="Lucida Sans Unicode"/>
                <a:cs typeface="Lucida Sans Unicode"/>
              </a:rPr>
              <a:t>′</a:t>
            </a:r>
            <a:endParaRPr baseline="27777" sz="19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87950" y="2379903"/>
            <a:ext cx="29083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300" spc="-4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300" spc="-190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20171" y="1997303"/>
            <a:ext cx="849630" cy="848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400" spc="-4290">
                <a:solidFill>
                  <a:srgbClr val="585D60"/>
                </a:solidFill>
                <a:latin typeface="Cambria"/>
                <a:cs typeface="Cambria"/>
              </a:rPr>
              <a:t></a:t>
            </a:r>
            <a:r>
              <a:rPr dirty="0" sz="5400" spc="-4490">
                <a:solidFill>
                  <a:srgbClr val="585D60"/>
                </a:solidFill>
                <a:latin typeface="Cambria"/>
                <a:cs typeface="Cambria"/>
              </a:rPr>
              <a:t></a:t>
            </a:r>
            <a:r>
              <a:rPr dirty="0" sz="5400" spc="-4320">
                <a:solidFill>
                  <a:srgbClr val="585D60"/>
                </a:solidFill>
                <a:latin typeface="Cambria"/>
                <a:cs typeface="Cambria"/>
              </a:rPr>
              <a:t></a:t>
            </a:r>
            <a:r>
              <a:rPr dirty="0" sz="5400" spc="-4170">
                <a:solidFill>
                  <a:srgbClr val="585D60"/>
                </a:solidFill>
                <a:latin typeface="Cambria"/>
                <a:cs typeface="Cambria"/>
              </a:rPr>
              <a:t></a:t>
            </a:r>
            <a:r>
              <a:rPr dirty="0" sz="5400" spc="-4290">
                <a:solidFill>
                  <a:srgbClr val="585D60"/>
                </a:solidFill>
                <a:latin typeface="Cambria"/>
                <a:cs typeface="Cambria"/>
              </a:rPr>
              <a:t></a:t>
            </a:r>
            <a:r>
              <a:rPr dirty="0" sz="5400" spc="-4490">
                <a:solidFill>
                  <a:srgbClr val="585D60"/>
                </a:solidFill>
                <a:latin typeface="Cambria"/>
                <a:cs typeface="Cambria"/>
              </a:rPr>
              <a:t></a:t>
            </a:r>
            <a:r>
              <a:rPr dirty="0" sz="5400" spc="-4320">
                <a:solidFill>
                  <a:srgbClr val="585D60"/>
                </a:solidFill>
                <a:latin typeface="Cambria"/>
                <a:cs typeface="Cambria"/>
              </a:rPr>
              <a:t></a:t>
            </a:r>
            <a:r>
              <a:rPr dirty="0" sz="5400" spc="-4840">
                <a:solidFill>
                  <a:srgbClr val="585D60"/>
                </a:solidFill>
                <a:latin typeface="Cambria"/>
                <a:cs typeface="Cambria"/>
              </a:rPr>
              <a:t>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09790" y="2722803"/>
            <a:ext cx="267716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15">
                <a:solidFill>
                  <a:srgbClr val="585D60"/>
                </a:solidFill>
                <a:latin typeface="Lucida Sans Unicode"/>
                <a:cs typeface="Lucida Sans Unicode"/>
              </a:rPr>
              <a:t>First </a:t>
            </a:r>
            <a:r>
              <a:rPr dirty="0" sz="1300" spc="-95">
                <a:solidFill>
                  <a:srgbClr val="585D60"/>
                </a:solidFill>
                <a:latin typeface="Lucida Sans Unicode"/>
                <a:cs typeface="Lucida Sans Unicode"/>
              </a:rPr>
              <a:t>Difference </a:t>
            </a:r>
            <a:r>
              <a:rPr dirty="0" sz="1300" spc="-130">
                <a:solidFill>
                  <a:srgbClr val="585D60"/>
                </a:solidFill>
                <a:latin typeface="Lucida Sans Unicode"/>
                <a:cs typeface="Lucida Sans Unicode"/>
              </a:rPr>
              <a:t>of </a:t>
            </a:r>
            <a:r>
              <a:rPr dirty="0" sz="1300" spc="-85">
                <a:solidFill>
                  <a:srgbClr val="585D60"/>
                </a:solidFill>
                <a:latin typeface="Lucida Sans Unicode"/>
                <a:cs typeface="Lucida Sans Unicode"/>
              </a:rPr>
              <a:t>the </a:t>
            </a:r>
            <a:r>
              <a:rPr dirty="0" sz="1300" spc="-15">
                <a:solidFill>
                  <a:srgbClr val="585D60"/>
                </a:solidFill>
                <a:latin typeface="Lucida Sans Unicode"/>
                <a:cs typeface="Lucida Sans Unicode"/>
              </a:rPr>
              <a:t>First</a:t>
            </a:r>
            <a:r>
              <a:rPr dirty="0" sz="130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300" spc="-95">
                <a:solidFill>
                  <a:srgbClr val="585D60"/>
                </a:solidFill>
                <a:latin typeface="Lucida Sans Unicode"/>
                <a:cs typeface="Lucida Sans Unicode"/>
              </a:rPr>
              <a:t>Difference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86176" y="3059745"/>
            <a:ext cx="7112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28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endParaRPr sz="11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68241" y="2928620"/>
            <a:ext cx="1092200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29259" algn="l"/>
              </a:tabLst>
            </a:pP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=	</a:t>
            </a:r>
            <a:r>
              <a:rPr dirty="0" sz="1900" spc="80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600" spc="80" i="1">
                <a:solidFill>
                  <a:srgbClr val="585D60"/>
                </a:solidFill>
                <a:latin typeface="Arial"/>
                <a:cs typeface="Arial"/>
              </a:rPr>
              <a:t>y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900" spc="-3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44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09790" y="3389553"/>
            <a:ext cx="139636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15">
                <a:solidFill>
                  <a:srgbClr val="585D60"/>
                </a:solidFill>
                <a:latin typeface="Lucida Sans Unicode"/>
                <a:cs typeface="Lucida Sans Unicode"/>
              </a:rPr>
              <a:t>First </a:t>
            </a:r>
            <a:r>
              <a:rPr dirty="0" sz="1300" spc="-95">
                <a:solidFill>
                  <a:srgbClr val="585D60"/>
                </a:solidFill>
                <a:latin typeface="Lucida Sans Unicode"/>
                <a:cs typeface="Lucida Sans Unicode"/>
              </a:rPr>
              <a:t>Difference </a:t>
            </a:r>
            <a:r>
              <a:rPr dirty="0" sz="1300" spc="-40">
                <a:solidFill>
                  <a:srgbClr val="585D60"/>
                </a:solidFill>
                <a:latin typeface="Lucida Sans Unicode"/>
                <a:cs typeface="Lucida Sans Unicode"/>
              </a:rPr>
              <a:t>at</a:t>
            </a:r>
            <a:r>
              <a:rPr dirty="0" sz="1300" spc="-22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endParaRPr sz="11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47245" y="3037128"/>
            <a:ext cx="214693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201420" algn="l"/>
                <a:tab pos="1868805" algn="l"/>
              </a:tabLst>
            </a:pP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300" spc="-4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300" spc="-190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r>
              <a:rPr dirty="0" sz="1300" spc="-190">
                <a:solidFill>
                  <a:srgbClr val="585D60"/>
                </a:solidFill>
                <a:latin typeface="Lucida Sans Unicode"/>
                <a:cs typeface="Lucida Sans Unicode"/>
              </a:rPr>
              <a:t>	</a:t>
            </a: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300" spc="-4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300" spc="-190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r>
              <a:rPr dirty="0" sz="1300" spc="-190">
                <a:solidFill>
                  <a:srgbClr val="585D60"/>
                </a:solidFill>
                <a:latin typeface="Lucida Sans Unicode"/>
                <a:cs typeface="Lucida Sans Unicode"/>
              </a:rPr>
              <a:t>	</a:t>
            </a: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300" spc="-4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300" spc="-190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23619" y="2928620"/>
            <a:ext cx="1971039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20040" algn="l"/>
                <a:tab pos="723900" algn="l"/>
                <a:tab pos="1251585" algn="l"/>
                <a:tab pos="1868805" algn="l"/>
              </a:tabLst>
            </a:pPr>
            <a:r>
              <a:rPr dirty="0" sz="1900" spc="8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900" spc="80">
                <a:solidFill>
                  <a:srgbClr val="585D60"/>
                </a:solidFill>
                <a:latin typeface="Lucida Sans Unicode"/>
                <a:cs typeface="Lucida Sans Unicode"/>
              </a:rPr>
              <a:t>	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	</a:t>
            </a:r>
            <a:r>
              <a:rPr dirty="0" sz="1900" spc="80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600" spc="8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sz="1600" spc="80" i="1">
                <a:solidFill>
                  <a:srgbClr val="585D60"/>
                </a:solidFill>
                <a:latin typeface="Arial"/>
                <a:cs typeface="Arial"/>
              </a:rPr>
              <a:t>	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900" spc="-204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8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sz="1600" i="1">
                <a:solidFill>
                  <a:srgbClr val="585D60"/>
                </a:solidFill>
                <a:latin typeface="Arial"/>
                <a:cs typeface="Arial"/>
              </a:rPr>
              <a:t>	</a:t>
            </a:r>
            <a:r>
              <a:rPr dirty="0" sz="1900" spc="8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90467" y="2664053"/>
            <a:ext cx="2884170" cy="848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62430" algn="l"/>
              </a:tabLst>
            </a:pPr>
            <a:r>
              <a:rPr dirty="0" sz="5400" spc="-4445">
                <a:solidFill>
                  <a:srgbClr val="585D60"/>
                </a:solidFill>
                <a:latin typeface="Cambria"/>
                <a:cs typeface="Cambria"/>
              </a:rPr>
              <a:t>	</a:t>
            </a:r>
            <a:r>
              <a:rPr dirty="0" sz="5400" spc="-4810">
                <a:solidFill>
                  <a:srgbClr val="585D60"/>
                </a:solidFill>
                <a:latin typeface="Cambria"/>
                <a:cs typeface="Cambria"/>
              </a:rPr>
              <a:t>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21857" y="3736019"/>
            <a:ext cx="8382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endParaRPr sz="11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68241" y="3604894"/>
            <a:ext cx="941705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600" spc="80" i="1">
                <a:solidFill>
                  <a:srgbClr val="585D60"/>
                </a:solidFill>
                <a:latin typeface="Arial"/>
                <a:cs typeface="Arial"/>
              </a:rPr>
              <a:t>y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900" spc="-375">
                <a:solidFill>
                  <a:srgbClr val="585D60"/>
                </a:solidFill>
                <a:latin typeface="Lucida Sans Unicode"/>
                <a:cs typeface="Lucida Sans Unicode"/>
              </a:rPr>
              <a:t> 2</a:t>
            </a:r>
            <a:r>
              <a:rPr dirty="0" sz="1600" spc="-37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97226" y="3713403"/>
            <a:ext cx="27813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170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300" spc="-170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64869" y="3713403"/>
            <a:ext cx="29083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300" spc="-4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300" spc="-190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15148" y="3321278"/>
            <a:ext cx="1628139" cy="848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400" spc="-4295">
                <a:solidFill>
                  <a:srgbClr val="585D60"/>
                </a:solidFill>
                <a:latin typeface="Cambria"/>
                <a:cs typeface="Cambria"/>
              </a:rPr>
              <a:t></a:t>
            </a:r>
            <a:r>
              <a:rPr dirty="0" sz="5400" spc="-4510">
                <a:solidFill>
                  <a:srgbClr val="585D60"/>
                </a:solidFill>
                <a:latin typeface="Cambria"/>
                <a:cs typeface="Cambria"/>
              </a:rPr>
              <a:t></a:t>
            </a:r>
            <a:r>
              <a:rPr dirty="0" sz="5400" spc="-4330">
                <a:solidFill>
                  <a:srgbClr val="585D60"/>
                </a:solidFill>
                <a:latin typeface="Cambria"/>
                <a:cs typeface="Cambria"/>
              </a:rPr>
              <a:t></a:t>
            </a:r>
            <a:r>
              <a:rPr dirty="0" sz="5400" spc="-4170">
                <a:solidFill>
                  <a:srgbClr val="585D60"/>
                </a:solidFill>
                <a:latin typeface="Cambria"/>
                <a:cs typeface="Cambria"/>
              </a:rPr>
              <a:t></a:t>
            </a:r>
            <a:r>
              <a:rPr dirty="0" sz="5400" spc="-4295">
                <a:solidFill>
                  <a:srgbClr val="585D60"/>
                </a:solidFill>
                <a:latin typeface="Cambria"/>
                <a:cs typeface="Cambria"/>
              </a:rPr>
              <a:t></a:t>
            </a:r>
            <a:r>
              <a:rPr dirty="0" sz="5400" spc="-4510">
                <a:solidFill>
                  <a:srgbClr val="585D60"/>
                </a:solidFill>
                <a:latin typeface="Cambria"/>
                <a:cs typeface="Cambria"/>
              </a:rPr>
              <a:t></a:t>
            </a:r>
            <a:r>
              <a:rPr dirty="0" sz="5400" spc="-4330">
                <a:solidFill>
                  <a:srgbClr val="585D60"/>
                </a:solidFill>
                <a:latin typeface="Cambria"/>
                <a:cs typeface="Cambria"/>
              </a:rPr>
              <a:t></a:t>
            </a:r>
            <a:r>
              <a:rPr dirty="0" sz="5400" spc="-4810">
                <a:solidFill>
                  <a:srgbClr val="585D60"/>
                </a:solidFill>
                <a:latin typeface="Cambria"/>
                <a:cs typeface="Cambria"/>
              </a:rPr>
              <a:t></a:t>
            </a:r>
            <a:endParaRPr sz="54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98342" y="4046778"/>
            <a:ext cx="146939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20">
                <a:solidFill>
                  <a:srgbClr val="585D60"/>
                </a:solidFill>
                <a:latin typeface="Lucida Sans Unicode"/>
                <a:cs typeface="Lucida Sans Unicode"/>
              </a:rPr>
              <a:t>Final </a:t>
            </a:r>
            <a:r>
              <a:rPr dirty="0" sz="1300" spc="-120">
                <a:solidFill>
                  <a:srgbClr val="585D60"/>
                </a:solidFill>
                <a:latin typeface="Lucida Sans Unicode"/>
                <a:cs typeface="Lucida Sans Unicode"/>
              </a:rPr>
              <a:t>expanded</a:t>
            </a:r>
            <a:r>
              <a:rPr dirty="0" sz="1300" spc="-25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300" spc="-110">
                <a:solidFill>
                  <a:srgbClr val="585D60"/>
                </a:solidFill>
                <a:latin typeface="Lucida Sans Unicode"/>
                <a:cs typeface="Lucida Sans Unicode"/>
              </a:rPr>
              <a:t>form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24202" y="3389553"/>
            <a:ext cx="2238375" cy="5289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647700">
              <a:lnSpc>
                <a:spcPct val="100000"/>
              </a:lnSpc>
              <a:spcBef>
                <a:spcPts val="135"/>
              </a:spcBef>
            </a:pPr>
            <a:r>
              <a:rPr dirty="0" sz="1300" spc="-15">
                <a:solidFill>
                  <a:srgbClr val="585D60"/>
                </a:solidFill>
                <a:latin typeface="Lucida Sans Unicode"/>
                <a:cs typeface="Lucida Sans Unicode"/>
              </a:rPr>
              <a:t>First </a:t>
            </a:r>
            <a:r>
              <a:rPr dirty="0" sz="1300" spc="-95">
                <a:solidFill>
                  <a:srgbClr val="585D60"/>
                </a:solidFill>
                <a:latin typeface="Lucida Sans Unicode"/>
                <a:cs typeface="Lucida Sans Unicode"/>
              </a:rPr>
              <a:t>Difference </a:t>
            </a:r>
            <a:r>
              <a:rPr dirty="0" sz="1300" spc="-40">
                <a:solidFill>
                  <a:srgbClr val="585D60"/>
                </a:solidFill>
                <a:latin typeface="Lucida Sans Unicode"/>
                <a:cs typeface="Lucida Sans Unicode"/>
              </a:rPr>
              <a:t>at</a:t>
            </a:r>
            <a:r>
              <a:rPr dirty="0" sz="1300" spc="-229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30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300" spc="-30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endParaRPr sz="13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29285" algn="l"/>
              </a:tabLst>
            </a:pP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900" spc="-204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80" i="1">
                <a:solidFill>
                  <a:srgbClr val="585D60"/>
                </a:solidFill>
                <a:latin typeface="Arial"/>
                <a:cs typeface="Arial"/>
              </a:rPr>
              <a:t>y	</a:t>
            </a:r>
            <a:r>
              <a:rPr dirty="0" sz="1900" spc="-105">
                <a:solidFill>
                  <a:srgbClr val="585D60"/>
                </a:solidFill>
                <a:latin typeface="Lucida Sans Unicode"/>
                <a:cs typeface="Lucida Sans Unicode"/>
              </a:rPr>
              <a:t>.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48754" y="4596498"/>
            <a:ext cx="9444355" cy="98679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258445">
              <a:lnSpc>
                <a:spcPct val="100000"/>
              </a:lnSpc>
              <a:spcBef>
                <a:spcPts val="680"/>
              </a:spcBef>
            </a:pP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endParaRPr sz="1150">
              <a:latin typeface="Arial"/>
              <a:cs typeface="Arial"/>
            </a:endParaRPr>
          </a:p>
          <a:p>
            <a:pPr marL="146050" marR="5080" indent="-133985">
              <a:lnSpc>
                <a:spcPct val="118100"/>
              </a:lnSpc>
              <a:spcBef>
                <a:spcPts val="50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practice,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Arial"/>
                <a:cs typeface="Arial"/>
              </a:rPr>
              <a:t>it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unlikely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go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beyond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second-order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differences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(a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different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representation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 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data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generation </a:t>
            </a:r>
            <a:r>
              <a:rPr dirty="0" sz="1800" spc="10" b="1">
                <a:solidFill>
                  <a:srgbClr val="C2132D"/>
                </a:solidFill>
                <a:latin typeface="Trebuchet MS"/>
                <a:cs typeface="Trebuchet MS"/>
              </a:rPr>
              <a:t>process</a:t>
            </a:r>
            <a:r>
              <a:rPr dirty="0" sz="1800" spc="-36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may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be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needed).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23354" y="4509769"/>
            <a:ext cx="2749550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1450" indent="-133985">
              <a:lnSpc>
                <a:spcPct val="100000"/>
              </a:lnSpc>
              <a:spcBef>
                <a:spcPts val="90"/>
              </a:spcBef>
              <a:buClr>
                <a:srgbClr val="C2132D"/>
              </a:buClr>
              <a:buSzPct val="112500"/>
              <a:buFont typeface="Trebuchet MS"/>
              <a:buChar char="•"/>
              <a:tabLst>
                <a:tab pos="172085" algn="l"/>
              </a:tabLst>
            </a:pPr>
            <a:r>
              <a:rPr dirty="0" sz="1600" spc="1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25641" sz="1950" spc="15">
                <a:solidFill>
                  <a:srgbClr val="585D60"/>
                </a:solidFill>
                <a:latin typeface="Lucida Sans Unicode"/>
                <a:cs typeface="Lucida Sans Unicode"/>
              </a:rPr>
              <a:t>′′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will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have </a:t>
            </a:r>
            <a:r>
              <a:rPr dirty="0" sz="1600" spc="70" i="1">
                <a:solidFill>
                  <a:srgbClr val="585D60"/>
                </a:solidFill>
                <a:latin typeface="Arial"/>
                <a:cs typeface="Arial"/>
              </a:rPr>
              <a:t>T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− </a:t>
            </a:r>
            <a:r>
              <a:rPr dirty="0" sz="1900" spc="-305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r>
              <a:rPr dirty="0" sz="1900" spc="-20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values.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17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373507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95">
                <a:solidFill>
                  <a:srgbClr val="C2132D"/>
                </a:solidFill>
              </a:rPr>
              <a:t>Seasonal</a:t>
            </a:r>
            <a:r>
              <a:rPr dirty="0" sz="3350" spc="-254">
                <a:solidFill>
                  <a:srgbClr val="C2132D"/>
                </a:solidFill>
              </a:rPr>
              <a:t> </a:t>
            </a:r>
            <a:r>
              <a:rPr dirty="0" sz="3350" spc="-185">
                <a:solidFill>
                  <a:srgbClr val="C2132D"/>
                </a:solidFill>
              </a:rPr>
              <a:t>Differencing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901700" y="1376044"/>
            <a:ext cx="8770620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 b="1">
                <a:solidFill>
                  <a:srgbClr val="C2132D"/>
                </a:solidFill>
                <a:latin typeface="Trebuchet MS"/>
                <a:cs typeface="Trebuchet MS"/>
              </a:rPr>
              <a:t>seasonal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difference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difference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between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an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observation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corresponding  observation </a:t>
            </a: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from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previous</a:t>
            </a:r>
            <a:r>
              <a:rPr dirty="0" sz="1800" spc="-30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year.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63095" y="2392995"/>
            <a:ext cx="8382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endParaRPr sz="11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25627" y="2233295"/>
            <a:ext cx="1462405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600" spc="5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27777" sz="1950" spc="75">
                <a:solidFill>
                  <a:srgbClr val="585D60"/>
                </a:solidFill>
                <a:latin typeface="Lucida Sans Unicode"/>
                <a:cs typeface="Lucida Sans Unicode"/>
              </a:rPr>
              <a:t>′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600" spc="11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2077" sz="1725" spc="165" i="1">
                <a:solidFill>
                  <a:srgbClr val="585D60"/>
                </a:solidFill>
                <a:latin typeface="Arial"/>
                <a:cs typeface="Arial"/>
              </a:rPr>
              <a:t>t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900" spc="-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8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2077" sz="1725" spc="120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0683" sz="1950" spc="120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baseline="-12077" sz="1725" spc="120" i="1">
                <a:solidFill>
                  <a:srgbClr val="585D60"/>
                </a:solidFill>
                <a:latin typeface="Arial"/>
                <a:cs typeface="Arial"/>
              </a:rPr>
              <a:t>m</a:t>
            </a:r>
            <a:endParaRPr baseline="-12077" sz="1725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2776220"/>
            <a:ext cx="6457950" cy="17303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where </a:t>
            </a:r>
            <a:r>
              <a:rPr dirty="0" sz="1600" spc="245" i="1">
                <a:solidFill>
                  <a:srgbClr val="585D60"/>
                </a:solidFill>
                <a:latin typeface="Arial"/>
                <a:cs typeface="Arial"/>
              </a:rPr>
              <a:t>m</a:t>
            </a:r>
            <a:r>
              <a:rPr dirty="0" sz="1600" spc="-229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number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seasons.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For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monthly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 </a:t>
            </a:r>
            <a:r>
              <a:rPr dirty="0" sz="1600" spc="245" i="1">
                <a:solidFill>
                  <a:srgbClr val="585D60"/>
                </a:solidFill>
                <a:latin typeface="Arial"/>
                <a:cs typeface="Arial"/>
              </a:rPr>
              <a:t>m</a:t>
            </a:r>
            <a:r>
              <a:rPr dirty="0" sz="1600" spc="-10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900" spc="-210">
                <a:solidFill>
                  <a:srgbClr val="585D60"/>
                </a:solidFill>
                <a:latin typeface="Lucida Sans Unicode"/>
                <a:cs typeface="Lucida Sans Unicode"/>
              </a:rPr>
              <a:t>12</a:t>
            </a:r>
            <a:r>
              <a:rPr dirty="0" sz="1800" spc="-21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17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For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quarterly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 </a:t>
            </a:r>
            <a:r>
              <a:rPr dirty="0" sz="1600" spc="245" i="1">
                <a:solidFill>
                  <a:srgbClr val="585D60"/>
                </a:solidFill>
                <a:latin typeface="Arial"/>
                <a:cs typeface="Arial"/>
              </a:rPr>
              <a:t>m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900" spc="-44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65">
                <a:solidFill>
                  <a:srgbClr val="585D60"/>
                </a:solidFill>
                <a:latin typeface="Lucida Sans Unicode"/>
                <a:cs typeface="Lucida Sans Unicode"/>
              </a:rPr>
              <a:t>4</a:t>
            </a:r>
            <a:r>
              <a:rPr dirty="0" sz="1800" spc="-165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19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Seasonally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differenced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will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have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(T-m)</a:t>
            </a:r>
            <a:r>
              <a:rPr dirty="0" sz="1700" spc="-85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observations.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17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92633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229">
                <a:solidFill>
                  <a:srgbClr val="C2132D"/>
                </a:solidFill>
              </a:rPr>
              <a:t>Interpretation </a:t>
            </a:r>
            <a:r>
              <a:rPr dirty="0" sz="3350" spc="-140">
                <a:solidFill>
                  <a:srgbClr val="C2132D"/>
                </a:solidFill>
              </a:rPr>
              <a:t>of</a:t>
            </a:r>
            <a:r>
              <a:rPr dirty="0" sz="3350" spc="-245">
                <a:solidFill>
                  <a:srgbClr val="C2132D"/>
                </a:solidFill>
              </a:rPr>
              <a:t> </a:t>
            </a:r>
            <a:r>
              <a:rPr dirty="0" sz="3350" spc="-185">
                <a:solidFill>
                  <a:srgbClr val="C2132D"/>
                </a:solidFill>
              </a:rPr>
              <a:t>Differencing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474835" cy="1061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First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differences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change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between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one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observation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and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next</a:t>
            </a:r>
            <a:r>
              <a:rPr dirty="0" sz="1800" spc="-65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146050" marR="5080" indent="-133985">
              <a:lnSpc>
                <a:spcPct val="118100"/>
              </a:lnSpc>
              <a:spcBef>
                <a:spcPts val="90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20" b="1">
                <a:solidFill>
                  <a:srgbClr val="C2132D"/>
                </a:solidFill>
                <a:latin typeface="Trebuchet MS"/>
                <a:cs typeface="Trebuchet MS"/>
              </a:rPr>
              <a:t>Seasonal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differences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change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between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one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observation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and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25" b="1">
                <a:solidFill>
                  <a:srgbClr val="C2132D"/>
                </a:solidFill>
                <a:latin typeface="Trebuchet MS"/>
                <a:cs typeface="Trebuchet MS"/>
              </a:rPr>
              <a:t>same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observation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in 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previous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year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(i.e.,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year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over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year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changes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or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changes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between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one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year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next).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30225"/>
            <a:ext cx="7514590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50">
                <a:solidFill>
                  <a:srgbClr val="C2132D"/>
                </a:solidFill>
                <a:latin typeface="Trebuchet MS"/>
                <a:cs typeface="Trebuchet MS"/>
              </a:rPr>
              <a:t>Stabilizing </a:t>
            </a:r>
            <a:r>
              <a:rPr dirty="0" sz="3350" spc="-260">
                <a:solidFill>
                  <a:srgbClr val="C2132D"/>
                </a:solidFill>
                <a:latin typeface="Trebuchet MS"/>
                <a:cs typeface="Trebuchet MS"/>
              </a:rPr>
              <a:t>the </a:t>
            </a:r>
            <a:r>
              <a:rPr dirty="0" sz="3350" spc="-210">
                <a:solidFill>
                  <a:srgbClr val="C2132D"/>
                </a:solidFill>
                <a:latin typeface="Trebuchet MS"/>
                <a:cs typeface="Trebuchet MS"/>
              </a:rPr>
              <a:t>Variance: </a:t>
            </a:r>
            <a:r>
              <a:rPr dirty="0" sz="3350" spc="-75">
                <a:solidFill>
                  <a:srgbClr val="C2132D"/>
                </a:solidFill>
                <a:latin typeface="Trebuchet MS"/>
                <a:cs typeface="Trebuchet MS"/>
              </a:rPr>
              <a:t>Log</a:t>
            </a:r>
            <a:r>
              <a:rPr dirty="0" sz="3350" spc="-390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3350" spc="-185">
                <a:solidFill>
                  <a:srgbClr val="C2132D"/>
                </a:solidFill>
                <a:latin typeface="Trebuchet MS"/>
                <a:cs typeface="Trebuchet MS"/>
              </a:rPr>
              <a:t>Transformation</a:t>
            </a:r>
            <a:endParaRPr sz="33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86163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30" b="1">
                <a:solidFill>
                  <a:srgbClr val="C2132D"/>
                </a:solidFill>
                <a:latin typeface="Trebuchet MS"/>
                <a:cs typeface="Trebuchet MS"/>
              </a:rPr>
              <a:t>Log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transformation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common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technique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stabilize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variance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series.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22024" y="1950562"/>
            <a:ext cx="8077561" cy="4306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17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30225"/>
            <a:ext cx="9389110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50">
                <a:solidFill>
                  <a:srgbClr val="C2132D"/>
                </a:solidFill>
                <a:latin typeface="Trebuchet MS"/>
                <a:cs typeface="Trebuchet MS"/>
              </a:rPr>
              <a:t>Stabilizing </a:t>
            </a:r>
            <a:r>
              <a:rPr dirty="0" sz="3350" spc="-260">
                <a:solidFill>
                  <a:srgbClr val="C2132D"/>
                </a:solidFill>
                <a:latin typeface="Trebuchet MS"/>
                <a:cs typeface="Trebuchet MS"/>
              </a:rPr>
              <a:t>the </a:t>
            </a:r>
            <a:r>
              <a:rPr dirty="0" sz="3350" spc="-180">
                <a:solidFill>
                  <a:srgbClr val="C2132D"/>
                </a:solidFill>
                <a:latin typeface="Trebuchet MS"/>
                <a:cs typeface="Trebuchet MS"/>
              </a:rPr>
              <a:t>Variance and </a:t>
            </a:r>
            <a:r>
              <a:rPr dirty="0" sz="3350" spc="-260">
                <a:solidFill>
                  <a:srgbClr val="C2132D"/>
                </a:solidFill>
                <a:latin typeface="Trebuchet MS"/>
                <a:cs typeface="Trebuchet MS"/>
              </a:rPr>
              <a:t>the </a:t>
            </a:r>
            <a:r>
              <a:rPr dirty="0" sz="3350" spc="-175">
                <a:solidFill>
                  <a:srgbClr val="C2132D"/>
                </a:solidFill>
                <a:latin typeface="Trebuchet MS"/>
                <a:cs typeface="Trebuchet MS"/>
              </a:rPr>
              <a:t>Mean:</a:t>
            </a:r>
            <a:r>
              <a:rPr dirty="0" sz="3350" spc="-385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3350" spc="-175">
                <a:solidFill>
                  <a:srgbClr val="C2132D"/>
                </a:solidFill>
                <a:latin typeface="Trebuchet MS"/>
                <a:cs typeface="Trebuchet MS"/>
              </a:rPr>
              <a:t>Log-Differencing</a:t>
            </a:r>
            <a:endParaRPr sz="33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7518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C2132D"/>
                </a:solidFill>
                <a:latin typeface="Trebuchet MS"/>
                <a:cs typeface="Trebuchet MS"/>
              </a:rPr>
              <a:t>Log-differencing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combination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 b="1">
                <a:solidFill>
                  <a:srgbClr val="C2132D"/>
                </a:solidFill>
                <a:latin typeface="Trebuchet MS"/>
                <a:cs typeface="Trebuchet MS"/>
              </a:rPr>
              <a:t>log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transformation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differencing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22024" y="1950562"/>
            <a:ext cx="8077561" cy="4306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17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179434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225">
                <a:solidFill>
                  <a:srgbClr val="C2132D"/>
                </a:solidFill>
              </a:rPr>
              <a:t>One </a:t>
            </a:r>
            <a:r>
              <a:rPr dirty="0" sz="3350" spc="-175">
                <a:solidFill>
                  <a:srgbClr val="C2132D"/>
                </a:solidFill>
              </a:rPr>
              <a:t>Final </a:t>
            </a:r>
            <a:r>
              <a:rPr dirty="0" sz="3350" spc="-220">
                <a:solidFill>
                  <a:srgbClr val="C2132D"/>
                </a:solidFill>
              </a:rPr>
              <a:t>Step: </a:t>
            </a:r>
            <a:r>
              <a:rPr dirty="0" sz="3350" spc="-120">
                <a:solidFill>
                  <a:srgbClr val="C2132D"/>
                </a:solidFill>
              </a:rPr>
              <a:t>DeSeasonalizing </a:t>
            </a:r>
            <a:r>
              <a:rPr dirty="0" sz="3350" spc="-260">
                <a:solidFill>
                  <a:srgbClr val="C2132D"/>
                </a:solidFill>
              </a:rPr>
              <a:t>the </a:t>
            </a:r>
            <a:r>
              <a:rPr dirty="0" sz="3350" spc="-215">
                <a:solidFill>
                  <a:srgbClr val="C2132D"/>
                </a:solidFill>
              </a:rPr>
              <a:t>Time</a:t>
            </a:r>
            <a:r>
              <a:rPr dirty="0" sz="3350" spc="-509">
                <a:solidFill>
                  <a:srgbClr val="C2132D"/>
                </a:solidFill>
              </a:rPr>
              <a:t> </a:t>
            </a:r>
            <a:r>
              <a:rPr dirty="0" sz="3350" spc="-105">
                <a:solidFill>
                  <a:srgbClr val="C2132D"/>
                </a:solidFill>
              </a:rPr>
              <a:t>Series</a:t>
            </a:r>
            <a:endParaRPr sz="3350"/>
          </a:p>
        </p:txBody>
      </p:sp>
      <p:sp>
        <p:nvSpPr>
          <p:cNvPr id="3" name="object 3"/>
          <p:cNvSpPr/>
          <p:nvPr/>
        </p:nvSpPr>
        <p:spPr>
          <a:xfrm>
            <a:off x="1722024" y="1512428"/>
            <a:ext cx="8077561" cy="4307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17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17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919416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250">
                <a:solidFill>
                  <a:srgbClr val="C2132D"/>
                </a:solidFill>
              </a:rPr>
              <a:t>Order </a:t>
            </a:r>
            <a:r>
              <a:rPr dirty="0" sz="3350" spc="-75">
                <a:solidFill>
                  <a:srgbClr val="C2132D"/>
                </a:solidFill>
              </a:rPr>
              <a:t>Does </a:t>
            </a:r>
            <a:r>
              <a:rPr dirty="0" sz="3350" spc="-160">
                <a:solidFill>
                  <a:srgbClr val="C2132D"/>
                </a:solidFill>
              </a:rPr>
              <a:t>Not </a:t>
            </a:r>
            <a:r>
              <a:rPr dirty="0" sz="3350" spc="-229">
                <a:solidFill>
                  <a:srgbClr val="C2132D"/>
                </a:solidFill>
              </a:rPr>
              <a:t>Matter: </a:t>
            </a:r>
            <a:r>
              <a:rPr dirty="0" sz="3350" spc="-95">
                <a:solidFill>
                  <a:srgbClr val="C2132D"/>
                </a:solidFill>
              </a:rPr>
              <a:t>Seasonal </a:t>
            </a:r>
            <a:r>
              <a:rPr dirty="0" sz="3350" spc="-180">
                <a:solidFill>
                  <a:srgbClr val="C2132D"/>
                </a:solidFill>
              </a:rPr>
              <a:t>and </a:t>
            </a:r>
            <a:r>
              <a:rPr dirty="0" sz="3350" spc="-150">
                <a:solidFill>
                  <a:srgbClr val="C2132D"/>
                </a:solidFill>
              </a:rPr>
              <a:t>First</a:t>
            </a:r>
            <a:r>
              <a:rPr dirty="0" sz="3350" spc="-645">
                <a:solidFill>
                  <a:srgbClr val="C2132D"/>
                </a:solidFill>
              </a:rPr>
              <a:t> </a:t>
            </a:r>
            <a:r>
              <a:rPr dirty="0" sz="3350" spc="-170">
                <a:solidFill>
                  <a:srgbClr val="C2132D"/>
                </a:solidFill>
              </a:rPr>
              <a:t>Differences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901700" y="1414144"/>
            <a:ext cx="7470140" cy="863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When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both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seasonal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first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differences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applied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900" spc="204">
                <a:solidFill>
                  <a:srgbClr val="585D60"/>
                </a:solidFill>
                <a:latin typeface="Lucida Sans Unicode"/>
                <a:cs typeface="Lucida Sans Unicode"/>
              </a:rPr>
              <a:t>…</a:t>
            </a:r>
            <a:endParaRPr sz="19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Lucida Sans Unicode"/>
              <a:cs typeface="Lucida Sans Unicode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60">
                <a:solidFill>
                  <a:srgbClr val="585D60"/>
                </a:solidFill>
                <a:latin typeface="Arial"/>
                <a:cs typeface="Arial"/>
              </a:rPr>
              <a:t>it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makes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difference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which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done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first---the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result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will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be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same.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2155" y="2678745"/>
            <a:ext cx="8382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endParaRPr sz="11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6300" y="2519045"/>
            <a:ext cx="8853170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If </a:t>
            </a:r>
            <a:r>
              <a:rPr dirty="0" sz="1600" spc="5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27777" sz="1950" spc="75">
                <a:solidFill>
                  <a:srgbClr val="585D60"/>
                </a:solidFill>
                <a:latin typeface="Lucida Sans Unicode"/>
                <a:cs typeface="Lucida Sans Unicode"/>
              </a:rPr>
              <a:t>′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600" spc="11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2077" sz="1725" spc="165" i="1">
                <a:solidFill>
                  <a:srgbClr val="585D60"/>
                </a:solidFill>
                <a:latin typeface="Arial"/>
                <a:cs typeface="Arial"/>
              </a:rPr>
              <a:t>t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− </a:t>
            </a:r>
            <a:r>
              <a:rPr dirty="0" sz="1600" spc="-4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2077" sz="1725" spc="-60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0683" sz="1950" spc="-60">
                <a:solidFill>
                  <a:srgbClr val="585D60"/>
                </a:solidFill>
                <a:latin typeface="Lucida Sans Unicode"/>
                <a:cs typeface="Lucida Sans Unicode"/>
              </a:rPr>
              <a:t>−12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denotes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seasonally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differenced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series,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then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twice-differenced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1800" spc="-17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49439" y="3174044"/>
            <a:ext cx="60642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35305" algn="l"/>
              </a:tabLst>
            </a:pP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	</a:t>
            </a: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11972" y="3014344"/>
            <a:ext cx="1229995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600" spc="-11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25641" sz="1950" spc="-165">
                <a:solidFill>
                  <a:srgbClr val="585D60"/>
                </a:solidFill>
                <a:latin typeface="Lucida Sans Unicode"/>
                <a:cs typeface="Lucida Sans Unicode"/>
              </a:rPr>
              <a:t>∗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600" spc="5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25641" sz="1950" spc="75">
                <a:solidFill>
                  <a:srgbClr val="585D60"/>
                </a:solidFill>
                <a:latin typeface="Lucida Sans Unicode"/>
                <a:cs typeface="Lucida Sans Unicode"/>
              </a:rPr>
              <a:t>′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900" spc="-25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5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25641" sz="1950" spc="75">
                <a:solidFill>
                  <a:srgbClr val="585D60"/>
                </a:solidFill>
                <a:latin typeface="Lucida Sans Unicode"/>
                <a:cs typeface="Lucida Sans Unicode"/>
              </a:rPr>
              <a:t>′</a:t>
            </a:r>
            <a:endParaRPr baseline="25641" sz="19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33193" y="3160953"/>
            <a:ext cx="29083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300" spc="-4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300" spc="-190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9000" y="3292855"/>
            <a:ext cx="8514080" cy="1223645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3542029">
              <a:lnSpc>
                <a:spcPct val="100000"/>
              </a:lnSpc>
              <a:spcBef>
                <a:spcPts val="595"/>
              </a:spcBef>
            </a:pP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900" spc="100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600" spc="10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4492" sz="1725" spc="150" i="1">
                <a:solidFill>
                  <a:srgbClr val="585D60"/>
                </a:solidFill>
                <a:latin typeface="Arial"/>
                <a:cs typeface="Arial"/>
              </a:rPr>
              <a:t>t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− </a:t>
            </a:r>
            <a:r>
              <a:rPr dirty="0" sz="1600" spc="-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4492" sz="1725" spc="-7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2820" sz="1950" spc="-7">
                <a:solidFill>
                  <a:srgbClr val="585D60"/>
                </a:solidFill>
                <a:latin typeface="Lucida Sans Unicode"/>
                <a:cs typeface="Lucida Sans Unicode"/>
              </a:rPr>
              <a:t>−12</a:t>
            </a:r>
            <a:r>
              <a:rPr dirty="0" sz="1900" spc="-5">
                <a:solidFill>
                  <a:srgbClr val="585D60"/>
                </a:solidFill>
                <a:latin typeface="Lucida Sans Unicode"/>
                <a:cs typeface="Lucida Sans Unicode"/>
              </a:rPr>
              <a:t>)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− </a:t>
            </a:r>
            <a:r>
              <a:rPr dirty="0" sz="1900" spc="10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600" spc="1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4492" sz="1725" spc="1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2820" sz="1950" spc="15">
                <a:solidFill>
                  <a:srgbClr val="585D60"/>
                </a:solidFill>
                <a:latin typeface="Lucida Sans Unicode"/>
                <a:cs typeface="Lucida Sans Unicode"/>
              </a:rPr>
              <a:t>−1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900" spc="-4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4492" sz="1725" spc="-7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2820" sz="1950" spc="-7">
                <a:solidFill>
                  <a:srgbClr val="585D60"/>
                </a:solidFill>
                <a:latin typeface="Lucida Sans Unicode"/>
                <a:cs typeface="Lucida Sans Unicode"/>
              </a:rPr>
              <a:t>−13</a:t>
            </a:r>
            <a:r>
              <a:rPr dirty="0" sz="1900" spc="-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900">
              <a:latin typeface="Lucida Sans Unicode"/>
              <a:cs typeface="Lucida Sans Unicode"/>
            </a:endParaRPr>
          </a:p>
          <a:p>
            <a:pPr marL="3542029">
              <a:lnSpc>
                <a:spcPct val="100000"/>
              </a:lnSpc>
              <a:spcBef>
                <a:spcPts val="495"/>
              </a:spcBef>
            </a:pPr>
            <a:r>
              <a:rPr dirty="0" baseline="8771" sz="2850" spc="-16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baseline="10416" sz="2400" spc="16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sz="1150" spc="110" i="1">
                <a:solidFill>
                  <a:srgbClr val="585D60"/>
                </a:solidFill>
                <a:latin typeface="Arial"/>
                <a:cs typeface="Arial"/>
              </a:rPr>
              <a:t>t </a:t>
            </a:r>
            <a:r>
              <a:rPr dirty="0" baseline="8771" sz="2850" spc="-165">
                <a:solidFill>
                  <a:srgbClr val="585D60"/>
                </a:solidFill>
                <a:latin typeface="Lucida Sans Unicode"/>
                <a:cs typeface="Lucida Sans Unicode"/>
              </a:rPr>
              <a:t>− </a:t>
            </a:r>
            <a:r>
              <a:rPr dirty="0" baseline="10416" sz="2400" spc="-7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sz="1150" spc="-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300" spc="-5">
                <a:solidFill>
                  <a:srgbClr val="585D60"/>
                </a:solidFill>
                <a:latin typeface="Lucida Sans Unicode"/>
                <a:cs typeface="Lucida Sans Unicode"/>
              </a:rPr>
              <a:t>−1 </a:t>
            </a:r>
            <a:r>
              <a:rPr dirty="0" baseline="8771" sz="2850" spc="-165">
                <a:solidFill>
                  <a:srgbClr val="585D60"/>
                </a:solidFill>
                <a:latin typeface="Lucida Sans Unicode"/>
                <a:cs typeface="Lucida Sans Unicode"/>
              </a:rPr>
              <a:t>− </a:t>
            </a:r>
            <a:r>
              <a:rPr dirty="0" baseline="10416" sz="2400" spc="-6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sz="1150" spc="-40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300" spc="-40">
                <a:solidFill>
                  <a:srgbClr val="585D60"/>
                </a:solidFill>
                <a:latin typeface="Lucida Sans Unicode"/>
                <a:cs typeface="Lucida Sans Unicode"/>
              </a:rPr>
              <a:t>−12 </a:t>
            </a:r>
            <a:r>
              <a:rPr dirty="0" baseline="8771" sz="2850" spc="-165">
                <a:solidFill>
                  <a:srgbClr val="585D60"/>
                </a:solidFill>
                <a:latin typeface="Lucida Sans Unicode"/>
                <a:cs typeface="Lucida Sans Unicode"/>
              </a:rPr>
              <a:t>+ </a:t>
            </a:r>
            <a:r>
              <a:rPr dirty="0" baseline="10416" sz="2400" spc="-6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sz="1150" spc="-40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300" spc="-40">
                <a:solidFill>
                  <a:srgbClr val="585D60"/>
                </a:solidFill>
                <a:latin typeface="Lucida Sans Unicode"/>
                <a:cs typeface="Lucida Sans Unicode"/>
              </a:rPr>
              <a:t>−13</a:t>
            </a:r>
            <a:r>
              <a:rPr dirty="0" sz="1300" spc="3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baseline="8771" sz="2850" spc="-157">
                <a:solidFill>
                  <a:srgbClr val="585D60"/>
                </a:solidFill>
                <a:latin typeface="Lucida Sans Unicode"/>
                <a:cs typeface="Lucida Sans Unicode"/>
              </a:rPr>
              <a:t>.</a:t>
            </a:r>
            <a:endParaRPr baseline="8771" sz="2850">
              <a:latin typeface="Lucida Sans Unicode"/>
              <a:cs typeface="Lucida Sans Unicode"/>
            </a:endParaRPr>
          </a:p>
          <a:p>
            <a:pPr marL="25400">
              <a:lnSpc>
                <a:spcPct val="100000"/>
              </a:lnSpc>
              <a:spcBef>
                <a:spcPts val="1720"/>
              </a:spcBef>
            </a:pP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This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equivalent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first-differenced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seasonally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differenced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series: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49439" y="4869494"/>
            <a:ext cx="60642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35305" algn="l"/>
              </a:tabLst>
            </a:pP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	</a:t>
            </a: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endParaRPr sz="11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11972" y="4709794"/>
            <a:ext cx="1229995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600" spc="-11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27777" sz="1950" spc="-165">
                <a:solidFill>
                  <a:srgbClr val="585D60"/>
                </a:solidFill>
                <a:latin typeface="Lucida Sans Unicode"/>
                <a:cs typeface="Lucida Sans Unicode"/>
              </a:rPr>
              <a:t>∗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600" spc="5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27777" sz="1950" spc="75">
                <a:solidFill>
                  <a:srgbClr val="585D60"/>
                </a:solidFill>
                <a:latin typeface="Lucida Sans Unicode"/>
                <a:cs typeface="Lucida Sans Unicode"/>
              </a:rPr>
              <a:t>′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900" spc="-25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5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27777" sz="1950" spc="75">
                <a:solidFill>
                  <a:srgbClr val="585D60"/>
                </a:solidFill>
                <a:latin typeface="Lucida Sans Unicode"/>
                <a:cs typeface="Lucida Sans Unicode"/>
              </a:rPr>
              <a:t>′</a:t>
            </a:r>
            <a:endParaRPr baseline="27777" sz="19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33193" y="4846878"/>
            <a:ext cx="29083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13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300" spc="-4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300" spc="-190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93108" y="4997830"/>
            <a:ext cx="3020695" cy="71120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20"/>
              </a:spcBef>
            </a:pP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900" spc="100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600" spc="10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2077" sz="1725" spc="150" i="1">
                <a:solidFill>
                  <a:srgbClr val="585D60"/>
                </a:solidFill>
                <a:latin typeface="Arial"/>
                <a:cs typeface="Arial"/>
              </a:rPr>
              <a:t>t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− </a:t>
            </a:r>
            <a:r>
              <a:rPr dirty="0" sz="1600" spc="-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2077" sz="1725" spc="-7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0683" sz="1950" spc="-7">
                <a:solidFill>
                  <a:srgbClr val="585D60"/>
                </a:solidFill>
                <a:latin typeface="Lucida Sans Unicode"/>
                <a:cs typeface="Lucida Sans Unicode"/>
              </a:rPr>
              <a:t>−12</a:t>
            </a:r>
            <a:r>
              <a:rPr dirty="0" sz="1900" spc="-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900" spc="-40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− </a:t>
            </a:r>
            <a:r>
              <a:rPr dirty="0" sz="1900" spc="10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600" spc="1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2077" sz="1725" spc="1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0683" sz="1950" spc="15">
                <a:solidFill>
                  <a:srgbClr val="585D60"/>
                </a:solidFill>
                <a:latin typeface="Lucida Sans Unicode"/>
                <a:cs typeface="Lucida Sans Unicode"/>
              </a:rPr>
              <a:t>−1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− </a:t>
            </a:r>
            <a:r>
              <a:rPr dirty="0" sz="1600" spc="-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baseline="-12077" sz="1725" spc="-7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baseline="-10683" sz="1950" spc="-7">
                <a:solidFill>
                  <a:srgbClr val="585D60"/>
                </a:solidFill>
                <a:latin typeface="Lucida Sans Unicode"/>
                <a:cs typeface="Lucida Sans Unicode"/>
              </a:rPr>
              <a:t>−13</a:t>
            </a:r>
            <a:r>
              <a:rPr dirty="0" sz="1900" spc="-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900">
              <a:latin typeface="Lucida Sans Unicode"/>
              <a:cs typeface="Lucida Sans Unicode"/>
            </a:endParaRPr>
          </a:p>
          <a:p>
            <a:pPr marL="38100">
              <a:lnSpc>
                <a:spcPct val="100000"/>
              </a:lnSpc>
              <a:spcBef>
                <a:spcPts val="420"/>
              </a:spcBef>
            </a:pPr>
            <a:r>
              <a:rPr dirty="0" baseline="5847" sz="2850" spc="-16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baseline="6944" sz="2400" spc="165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sz="1150" spc="110" i="1">
                <a:solidFill>
                  <a:srgbClr val="585D60"/>
                </a:solidFill>
                <a:latin typeface="Arial"/>
                <a:cs typeface="Arial"/>
              </a:rPr>
              <a:t>t </a:t>
            </a:r>
            <a:r>
              <a:rPr dirty="0" baseline="5847" sz="2850" spc="-165">
                <a:solidFill>
                  <a:srgbClr val="585D60"/>
                </a:solidFill>
                <a:latin typeface="Lucida Sans Unicode"/>
                <a:cs typeface="Lucida Sans Unicode"/>
              </a:rPr>
              <a:t>− </a:t>
            </a:r>
            <a:r>
              <a:rPr dirty="0" baseline="6944" sz="2400" spc="-7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sz="1150" spc="-5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300" spc="-5">
                <a:solidFill>
                  <a:srgbClr val="585D60"/>
                </a:solidFill>
                <a:latin typeface="Lucida Sans Unicode"/>
                <a:cs typeface="Lucida Sans Unicode"/>
              </a:rPr>
              <a:t>−1 </a:t>
            </a:r>
            <a:r>
              <a:rPr dirty="0" baseline="5847" sz="2850" spc="-165">
                <a:solidFill>
                  <a:srgbClr val="585D60"/>
                </a:solidFill>
                <a:latin typeface="Lucida Sans Unicode"/>
                <a:cs typeface="Lucida Sans Unicode"/>
              </a:rPr>
              <a:t>− </a:t>
            </a:r>
            <a:r>
              <a:rPr dirty="0" baseline="6944" sz="2400" spc="-6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sz="1150" spc="-40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300" spc="-40">
                <a:solidFill>
                  <a:srgbClr val="585D60"/>
                </a:solidFill>
                <a:latin typeface="Lucida Sans Unicode"/>
                <a:cs typeface="Lucida Sans Unicode"/>
              </a:rPr>
              <a:t>−12 </a:t>
            </a:r>
            <a:r>
              <a:rPr dirty="0" baseline="5847" sz="2850" spc="-165">
                <a:solidFill>
                  <a:srgbClr val="585D60"/>
                </a:solidFill>
                <a:latin typeface="Lucida Sans Unicode"/>
                <a:cs typeface="Lucida Sans Unicode"/>
              </a:rPr>
              <a:t>+ </a:t>
            </a:r>
            <a:r>
              <a:rPr dirty="0" baseline="6944" sz="2400" spc="-60" i="1">
                <a:solidFill>
                  <a:srgbClr val="585D60"/>
                </a:solidFill>
                <a:latin typeface="Arial"/>
                <a:cs typeface="Arial"/>
              </a:rPr>
              <a:t>y</a:t>
            </a:r>
            <a:r>
              <a:rPr dirty="0" sz="1150" spc="-40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r>
              <a:rPr dirty="0" sz="1300" spc="-40">
                <a:solidFill>
                  <a:srgbClr val="585D60"/>
                </a:solidFill>
                <a:latin typeface="Lucida Sans Unicode"/>
                <a:cs typeface="Lucida Sans Unicode"/>
              </a:rPr>
              <a:t>−13</a:t>
            </a:r>
            <a:r>
              <a:rPr dirty="0" sz="1300" spc="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baseline="5847" sz="2850" spc="-157">
                <a:solidFill>
                  <a:srgbClr val="585D60"/>
                </a:solidFill>
                <a:latin typeface="Lucida Sans Unicode"/>
                <a:cs typeface="Lucida Sans Unicode"/>
              </a:rPr>
              <a:t>.</a:t>
            </a:r>
            <a:endParaRPr baseline="5847" sz="28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17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14045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245">
                <a:solidFill>
                  <a:srgbClr val="C2132D"/>
                </a:solidFill>
              </a:rPr>
              <a:t>Why </a:t>
            </a:r>
            <a:r>
              <a:rPr dirty="0" sz="3350" spc="-120">
                <a:solidFill>
                  <a:srgbClr val="C2132D"/>
                </a:solidFill>
              </a:rPr>
              <a:t>Do </a:t>
            </a:r>
            <a:r>
              <a:rPr dirty="0" sz="3350" spc="-95">
                <a:solidFill>
                  <a:srgbClr val="C2132D"/>
                </a:solidFill>
              </a:rPr>
              <a:t>Seasonal </a:t>
            </a:r>
            <a:r>
              <a:rPr dirty="0" sz="3350" spc="-185">
                <a:solidFill>
                  <a:srgbClr val="C2132D"/>
                </a:solidFill>
              </a:rPr>
              <a:t>Differencing</a:t>
            </a:r>
            <a:r>
              <a:rPr dirty="0" sz="3350" spc="-459">
                <a:solidFill>
                  <a:srgbClr val="C2132D"/>
                </a:solidFill>
              </a:rPr>
              <a:t> </a:t>
            </a:r>
            <a:r>
              <a:rPr dirty="0" sz="3350" spc="-95">
                <a:solidFill>
                  <a:srgbClr val="C2132D"/>
                </a:solidFill>
              </a:rPr>
              <a:t>First?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9510395" cy="2680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Hyndman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585D60"/>
                </a:solidFill>
                <a:latin typeface="Arial"/>
                <a:cs typeface="Arial"/>
              </a:rPr>
              <a:t>&amp;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Athanasopoulos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(2022)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recommend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applying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seasonal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differencing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first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because:</a:t>
            </a:r>
            <a:endParaRPr sz="1800">
              <a:latin typeface="Arial"/>
              <a:cs typeface="Arial"/>
            </a:endParaRPr>
          </a:p>
          <a:p>
            <a:pPr marL="393065" marR="739775" indent="-133985">
              <a:lnSpc>
                <a:spcPct val="118100"/>
              </a:lnSpc>
              <a:spcBef>
                <a:spcPts val="180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If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seasonal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differencing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alone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makes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stationary,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we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not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need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further 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differencing.</a:t>
            </a:r>
            <a:endParaRPr sz="1800">
              <a:latin typeface="Arial"/>
              <a:cs typeface="Arial"/>
            </a:endParaRPr>
          </a:p>
          <a:p>
            <a:pPr marL="393065" marR="93980" indent="-133985">
              <a:lnSpc>
                <a:spcPct val="118100"/>
              </a:lnSpc>
              <a:spcBef>
                <a:spcPts val="819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If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we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first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apply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regular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differencing,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seasonal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pattern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may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remain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strong,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meaning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an 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extra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seasonal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differencing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step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will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still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be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necessary.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Font typeface="Trebuchet MS"/>
              <a:buChar char="•"/>
              <a:tabLst>
                <a:tab pos="393700" algn="l"/>
              </a:tabLst>
            </a:pPr>
            <a:r>
              <a:rPr dirty="0" sz="1800" spc="20" b="1">
                <a:solidFill>
                  <a:srgbClr val="C2132D"/>
                </a:solidFill>
                <a:latin typeface="Trebuchet MS"/>
                <a:cs typeface="Trebuchet MS"/>
              </a:rPr>
              <a:t>Seasonal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differencing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40" b="1">
                <a:solidFill>
                  <a:srgbClr val="C2132D"/>
                </a:solidFill>
                <a:latin typeface="Trebuchet MS"/>
                <a:cs typeface="Trebuchet MS"/>
              </a:rPr>
              <a:t>is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often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more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effective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at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removing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non-stationarity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with</a:t>
            </a:r>
            <a:endParaRPr sz="1800">
              <a:latin typeface="Arial"/>
              <a:cs typeface="Arial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800" spc="-5" b="1">
                <a:solidFill>
                  <a:srgbClr val="C2132D"/>
                </a:solidFill>
                <a:latin typeface="Trebuchet MS"/>
                <a:cs typeface="Trebuchet MS"/>
              </a:rPr>
              <a:t>strong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C2132D"/>
                </a:solidFill>
                <a:latin typeface="Trebuchet MS"/>
                <a:cs typeface="Trebuchet MS"/>
              </a:rPr>
              <a:t>seasonality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9352" y="2773680"/>
            <a:ext cx="3615054" cy="920750"/>
          </a:xfrm>
          <a:prstGeom prst="rect"/>
          <a:solidFill>
            <a:srgbClr val="333333"/>
          </a:solidFill>
        </p:spPr>
        <p:txBody>
          <a:bodyPr wrap="square" lIns="0" tIns="125095" rIns="0" bIns="0" rtlCol="0" vert="horz">
            <a:spAutoFit/>
          </a:bodyPr>
          <a:lstStyle/>
          <a:p>
            <a:pPr marL="233679">
              <a:lnSpc>
                <a:spcPct val="100000"/>
              </a:lnSpc>
              <a:spcBef>
                <a:spcPts val="985"/>
              </a:spcBef>
            </a:pPr>
            <a:r>
              <a:rPr dirty="0" spc="-1115">
                <a:solidFill>
                  <a:srgbClr val="000000"/>
                </a:solidFill>
              </a:rPr>
              <a:t>U</a:t>
            </a:r>
            <a:r>
              <a:rPr dirty="0" spc="-1115"/>
              <a:t>U</a:t>
            </a:r>
            <a:r>
              <a:rPr dirty="0" spc="-1115">
                <a:solidFill>
                  <a:srgbClr val="000000"/>
                </a:solidFill>
              </a:rPr>
              <a:t>n</a:t>
            </a:r>
            <a:r>
              <a:rPr dirty="0" spc="-1115"/>
              <a:t>n</a:t>
            </a:r>
            <a:r>
              <a:rPr dirty="0" spc="-1115">
                <a:solidFill>
                  <a:srgbClr val="000000"/>
                </a:solidFill>
              </a:rPr>
              <a:t>i</a:t>
            </a:r>
            <a:r>
              <a:rPr dirty="0" spc="-1115"/>
              <a:t>i</a:t>
            </a:r>
            <a:r>
              <a:rPr dirty="0" spc="-1115">
                <a:solidFill>
                  <a:srgbClr val="000000"/>
                </a:solidFill>
              </a:rPr>
              <a:t>t</a:t>
            </a:r>
            <a:r>
              <a:rPr dirty="0" spc="-1115"/>
              <a:t>t </a:t>
            </a:r>
            <a:r>
              <a:rPr dirty="0" spc="-1165">
                <a:solidFill>
                  <a:srgbClr val="000000"/>
                </a:solidFill>
              </a:rPr>
              <a:t>R</a:t>
            </a:r>
            <a:r>
              <a:rPr dirty="0" spc="-1165"/>
              <a:t>R</a:t>
            </a:r>
            <a:r>
              <a:rPr dirty="0" spc="-1165">
                <a:solidFill>
                  <a:srgbClr val="000000"/>
                </a:solidFill>
              </a:rPr>
              <a:t>o</a:t>
            </a:r>
            <a:r>
              <a:rPr dirty="0" spc="-1165"/>
              <a:t>o</a:t>
            </a:r>
            <a:r>
              <a:rPr dirty="0" spc="-1165">
                <a:solidFill>
                  <a:srgbClr val="000000"/>
                </a:solidFill>
              </a:rPr>
              <a:t>o</a:t>
            </a:r>
            <a:r>
              <a:rPr dirty="0" spc="-1165"/>
              <a:t>o</a:t>
            </a:r>
            <a:r>
              <a:rPr dirty="0" spc="-1165">
                <a:solidFill>
                  <a:srgbClr val="000000"/>
                </a:solidFill>
              </a:rPr>
              <a:t>t</a:t>
            </a:r>
            <a:r>
              <a:rPr dirty="0" spc="-1165"/>
              <a:t>t</a:t>
            </a:r>
            <a:r>
              <a:rPr dirty="0" spc="-1160"/>
              <a:t> </a:t>
            </a:r>
            <a:r>
              <a:rPr dirty="0" spc="-1030">
                <a:solidFill>
                  <a:srgbClr val="000000"/>
                </a:solidFill>
              </a:rPr>
              <a:t>T</a:t>
            </a:r>
            <a:r>
              <a:rPr dirty="0" spc="-1030"/>
              <a:t>T</a:t>
            </a:r>
            <a:r>
              <a:rPr dirty="0" spc="-1030">
                <a:solidFill>
                  <a:srgbClr val="000000"/>
                </a:solidFill>
              </a:rPr>
              <a:t>e</a:t>
            </a:r>
            <a:r>
              <a:rPr dirty="0" spc="-1030"/>
              <a:t>e</a:t>
            </a:r>
            <a:r>
              <a:rPr dirty="0" spc="-1030">
                <a:solidFill>
                  <a:srgbClr val="000000"/>
                </a:solidFill>
              </a:rPr>
              <a:t>s</a:t>
            </a:r>
            <a:r>
              <a:rPr dirty="0" spc="-1030"/>
              <a:t>s</a:t>
            </a:r>
            <a:r>
              <a:rPr dirty="0" spc="-1030">
                <a:solidFill>
                  <a:srgbClr val="000000"/>
                </a:solidFill>
              </a:rPr>
              <a:t>t</a:t>
            </a:r>
            <a:r>
              <a:rPr dirty="0" spc="-1030"/>
              <a:t>t</a:t>
            </a:r>
            <a:r>
              <a:rPr dirty="0" spc="-1030">
                <a:solidFill>
                  <a:srgbClr val="000000"/>
                </a:solidFill>
              </a:rPr>
              <a:t>s</a:t>
            </a:r>
            <a:r>
              <a:rPr dirty="0" spc="-1030"/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295">
                <a:latin typeface="Trebuchet MS"/>
                <a:cs typeface="Trebuchet MS"/>
              </a:rPr>
              <a:t>2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1200" spc="-295">
                <a:latin typeface="Trebuchet MS"/>
                <a:cs typeface="Trebuchet MS"/>
              </a:rPr>
              <a:t>6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6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27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3053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250">
                <a:solidFill>
                  <a:srgbClr val="C2132D"/>
                </a:solidFill>
              </a:rPr>
              <a:t>Unit </a:t>
            </a:r>
            <a:r>
              <a:rPr dirty="0" sz="3350" spc="-175">
                <a:solidFill>
                  <a:srgbClr val="C2132D"/>
                </a:solidFill>
              </a:rPr>
              <a:t>Root </a:t>
            </a:r>
            <a:r>
              <a:rPr dirty="0" sz="3350" spc="-170">
                <a:solidFill>
                  <a:srgbClr val="C2132D"/>
                </a:solidFill>
              </a:rPr>
              <a:t>Tests: </a:t>
            </a:r>
            <a:r>
              <a:rPr dirty="0" sz="3350" spc="-100">
                <a:solidFill>
                  <a:srgbClr val="C2132D"/>
                </a:solidFill>
              </a:rPr>
              <a:t>ADF</a:t>
            </a:r>
            <a:r>
              <a:rPr dirty="0" sz="3350" spc="-525">
                <a:solidFill>
                  <a:srgbClr val="C2132D"/>
                </a:solidFill>
              </a:rPr>
              <a:t> </a:t>
            </a:r>
            <a:r>
              <a:rPr dirty="0" sz="3350" spc="-190">
                <a:solidFill>
                  <a:srgbClr val="C2132D"/>
                </a:solidFill>
              </a:rPr>
              <a:t>Test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9585325" cy="3671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700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393700" algn="l"/>
              </a:tabLst>
            </a:pP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Unit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root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5" b="1">
                <a:solidFill>
                  <a:srgbClr val="C2132D"/>
                </a:solidFill>
                <a:latin typeface="Trebuchet MS"/>
                <a:cs typeface="Trebuchet MS"/>
              </a:rPr>
              <a:t>tests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used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determine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whether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stationary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or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non-stationary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most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common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unit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root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test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C2132D"/>
                </a:solidFill>
                <a:latin typeface="Trebuchet MS"/>
                <a:cs typeface="Trebuchet MS"/>
              </a:rPr>
              <a:t>Augmented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Dickey-Fuller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C2132D"/>
                </a:solidFill>
                <a:latin typeface="Trebuchet MS"/>
                <a:cs typeface="Trebuchet MS"/>
              </a:rPr>
              <a:t>(ADF)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test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393065" marR="445770" indent="-133985">
              <a:lnSpc>
                <a:spcPct val="114599"/>
              </a:lnSpc>
              <a:spcBef>
                <a:spcPts val="97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null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hypothesis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585D60"/>
                </a:solidFill>
                <a:latin typeface="Arial"/>
                <a:cs typeface="Arial"/>
              </a:rPr>
              <a:t>ADF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test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that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has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unit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root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(i.e.,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Arial"/>
                <a:cs typeface="Arial"/>
              </a:rPr>
              <a:t>it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C2132D"/>
                </a:solidFill>
                <a:latin typeface="Trebuchet MS"/>
                <a:cs typeface="Trebuchet MS"/>
              </a:rPr>
              <a:t>non- 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stationary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).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1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If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null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hypothesis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rejected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(e.g.,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Arial"/>
                <a:cs typeface="Arial"/>
              </a:rPr>
              <a:t>if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 i="1">
                <a:solidFill>
                  <a:srgbClr val="585D60"/>
                </a:solidFill>
                <a:latin typeface="Arial"/>
                <a:cs typeface="Arial"/>
              </a:rPr>
              <a:t>p</a:t>
            </a:r>
            <a:r>
              <a:rPr dirty="0" sz="1600" spc="6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&lt;</a:t>
            </a:r>
            <a:r>
              <a:rPr dirty="0" sz="1900" spc="-9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90">
                <a:solidFill>
                  <a:srgbClr val="585D60"/>
                </a:solidFill>
                <a:latin typeface="Lucida Sans Unicode"/>
                <a:cs typeface="Lucida Sans Unicode"/>
              </a:rPr>
              <a:t>0.05</a:t>
            </a:r>
            <a:r>
              <a:rPr dirty="0" sz="1800" spc="-190">
                <a:solidFill>
                  <a:srgbClr val="585D60"/>
                </a:solidFill>
                <a:latin typeface="Arial"/>
                <a:cs typeface="Arial"/>
              </a:rPr>
              <a:t>),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considered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stationary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393065" marR="58419" indent="-133985">
              <a:lnSpc>
                <a:spcPct val="118100"/>
              </a:lnSpc>
              <a:spcBef>
                <a:spcPts val="80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585D60"/>
                </a:solidFill>
                <a:latin typeface="Arial"/>
                <a:cs typeface="Arial"/>
              </a:rPr>
              <a:t>ADF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test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available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Python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through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statsmodels</a:t>
            </a:r>
            <a:r>
              <a:rPr dirty="0" sz="1700" spc="-57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library,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can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be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accessed 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using the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adfuller()</a:t>
            </a:r>
            <a:r>
              <a:rPr dirty="0" sz="1700" spc="-85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function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as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follows: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50">
              <a:latin typeface="Arial"/>
              <a:cs typeface="Arial"/>
            </a:endParaRPr>
          </a:p>
          <a:p>
            <a:pPr algn="ctr" marL="136525">
              <a:lnSpc>
                <a:spcPct val="100000"/>
              </a:lnSpc>
            </a:pP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from statsmodels.tsa.stattools import</a:t>
            </a:r>
            <a:r>
              <a:rPr dirty="0" sz="1700" spc="-1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adfuller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Note:</a:t>
            </a:r>
            <a:r>
              <a:rPr dirty="0" sz="1800" spc="-10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75">
                <a:solidFill>
                  <a:srgbClr val="585D60"/>
                </a:solidFill>
                <a:latin typeface="Arial"/>
                <a:cs typeface="Arial"/>
              </a:rPr>
              <a:t>See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this</a:t>
            </a:r>
            <a:r>
              <a:rPr dirty="0" sz="1800" spc="-1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 spc="-4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link</a:t>
            </a:r>
            <a:r>
              <a:rPr dirty="0" sz="1800" spc="-1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more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information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adfuller()</a:t>
            </a:r>
            <a:r>
              <a:rPr dirty="0" sz="1700" spc="-57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function.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27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52310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250">
                <a:solidFill>
                  <a:srgbClr val="C2132D"/>
                </a:solidFill>
              </a:rPr>
              <a:t>Unit </a:t>
            </a:r>
            <a:r>
              <a:rPr dirty="0" sz="3350" spc="-175">
                <a:solidFill>
                  <a:srgbClr val="C2132D"/>
                </a:solidFill>
              </a:rPr>
              <a:t>Root </a:t>
            </a:r>
            <a:r>
              <a:rPr dirty="0" sz="3350" spc="-170">
                <a:solidFill>
                  <a:srgbClr val="C2132D"/>
                </a:solidFill>
              </a:rPr>
              <a:t>Tests: </a:t>
            </a:r>
            <a:r>
              <a:rPr dirty="0" sz="3350" spc="45">
                <a:solidFill>
                  <a:srgbClr val="C2132D"/>
                </a:solidFill>
              </a:rPr>
              <a:t>KPSS</a:t>
            </a:r>
            <a:r>
              <a:rPr dirty="0" sz="3350" spc="-520">
                <a:solidFill>
                  <a:srgbClr val="C2132D"/>
                </a:solidFill>
              </a:rPr>
              <a:t> </a:t>
            </a:r>
            <a:r>
              <a:rPr dirty="0" sz="3350" spc="-190">
                <a:solidFill>
                  <a:srgbClr val="C2132D"/>
                </a:solidFill>
              </a:rPr>
              <a:t>Test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901700" y="1376044"/>
            <a:ext cx="9665335" cy="3930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065" marR="720725" indent="-133985">
              <a:lnSpc>
                <a:spcPct val="1181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C2132D"/>
                </a:solidFill>
                <a:latin typeface="Trebuchet MS"/>
                <a:cs typeface="Trebuchet MS"/>
              </a:rPr>
              <a:t>Kwiatkowski-Phillips-Schmidt-Shin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75" b="1">
                <a:solidFill>
                  <a:srgbClr val="C2132D"/>
                </a:solidFill>
                <a:latin typeface="Trebuchet MS"/>
                <a:cs typeface="Trebuchet MS"/>
              </a:rPr>
              <a:t>(KPSS)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test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another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unit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root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test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used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 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determine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whether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stationary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or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non-stationary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393065" marR="514350" indent="-133985">
              <a:lnSpc>
                <a:spcPct val="114599"/>
              </a:lnSpc>
              <a:spcBef>
                <a:spcPts val="969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null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hypothesis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0">
                <a:solidFill>
                  <a:srgbClr val="585D60"/>
                </a:solidFill>
                <a:latin typeface="Arial"/>
                <a:cs typeface="Arial"/>
              </a:rPr>
              <a:t>KPSS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test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that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stationary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around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fixed 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level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393065" marR="805815" indent="-133985">
              <a:lnSpc>
                <a:spcPct val="112900"/>
              </a:lnSpc>
              <a:spcBef>
                <a:spcPts val="90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If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null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hypothesis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rejected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(e.g.,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Arial"/>
                <a:cs typeface="Arial"/>
              </a:rPr>
              <a:t>if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 i="1">
                <a:solidFill>
                  <a:srgbClr val="585D60"/>
                </a:solidFill>
                <a:latin typeface="Arial"/>
                <a:cs typeface="Arial"/>
              </a:rPr>
              <a:t>p</a:t>
            </a:r>
            <a:r>
              <a:rPr dirty="0" sz="1600" spc="6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900" spc="-110">
                <a:solidFill>
                  <a:srgbClr val="585D60"/>
                </a:solidFill>
                <a:latin typeface="Lucida Sans Unicode"/>
                <a:cs typeface="Lucida Sans Unicode"/>
              </a:rPr>
              <a:t>&lt;</a:t>
            </a:r>
            <a:r>
              <a:rPr dirty="0" sz="1900" spc="-9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90">
                <a:solidFill>
                  <a:srgbClr val="585D60"/>
                </a:solidFill>
                <a:latin typeface="Lucida Sans Unicode"/>
                <a:cs typeface="Lucida Sans Unicode"/>
              </a:rPr>
              <a:t>0.05</a:t>
            </a:r>
            <a:r>
              <a:rPr dirty="0" sz="1800" spc="-190">
                <a:solidFill>
                  <a:srgbClr val="585D60"/>
                </a:solidFill>
                <a:latin typeface="Arial"/>
                <a:cs typeface="Arial"/>
              </a:rPr>
              <a:t>),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considered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C2132D"/>
                </a:solidFill>
                <a:latin typeface="Trebuchet MS"/>
                <a:cs typeface="Trebuchet MS"/>
              </a:rPr>
              <a:t>non- 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stationary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393065" marR="5080" indent="-133985">
              <a:lnSpc>
                <a:spcPct val="118100"/>
              </a:lnSpc>
              <a:spcBef>
                <a:spcPts val="894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0">
                <a:solidFill>
                  <a:srgbClr val="585D60"/>
                </a:solidFill>
                <a:latin typeface="Arial"/>
                <a:cs typeface="Arial"/>
              </a:rPr>
              <a:t>KPSS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test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available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Python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through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statsmodels</a:t>
            </a:r>
            <a:r>
              <a:rPr dirty="0" sz="1700" spc="-57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library,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can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be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accessed 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using the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kpss()</a:t>
            </a:r>
            <a:r>
              <a:rPr dirty="0" sz="1700" spc="-85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function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as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follows: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50">
              <a:latin typeface="Arial"/>
              <a:cs typeface="Arial"/>
            </a:endParaRPr>
          </a:p>
          <a:p>
            <a:pPr algn="ctr" marL="56515">
              <a:lnSpc>
                <a:spcPct val="100000"/>
              </a:lnSpc>
            </a:pP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from statsmodels.tsa.stattools import</a:t>
            </a:r>
            <a:r>
              <a:rPr dirty="0" sz="1700" spc="-1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kpss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Note:</a:t>
            </a:r>
            <a:r>
              <a:rPr dirty="0" sz="1800" spc="-10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75">
                <a:solidFill>
                  <a:srgbClr val="585D60"/>
                </a:solidFill>
                <a:latin typeface="Arial"/>
                <a:cs typeface="Arial"/>
              </a:rPr>
              <a:t>See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this</a:t>
            </a:r>
            <a:r>
              <a:rPr dirty="0" sz="1800" spc="-1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 spc="-4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link</a:t>
            </a:r>
            <a:r>
              <a:rPr dirty="0" sz="1800" spc="-1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more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information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kpss()</a:t>
            </a:r>
            <a:r>
              <a:rPr dirty="0" sz="1700" spc="-57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function.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27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521700" cy="1035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3960"/>
              </a:lnSpc>
              <a:spcBef>
                <a:spcPts val="125"/>
              </a:spcBef>
            </a:pPr>
            <a:r>
              <a:rPr dirty="0" sz="3350" spc="-135">
                <a:solidFill>
                  <a:srgbClr val="C2132D"/>
                </a:solidFill>
              </a:rPr>
              <a:t>CoreForecast's </a:t>
            </a:r>
            <a:r>
              <a:rPr dirty="0" sz="3350" spc="-140">
                <a:solidFill>
                  <a:srgbClr val="C2132D"/>
                </a:solidFill>
              </a:rPr>
              <a:t>Short </a:t>
            </a:r>
            <a:r>
              <a:rPr dirty="0" sz="3350" spc="-210">
                <a:solidFill>
                  <a:srgbClr val="C2132D"/>
                </a:solidFill>
              </a:rPr>
              <a:t>Cut </a:t>
            </a:r>
            <a:r>
              <a:rPr dirty="0" sz="3350" spc="-95">
                <a:solidFill>
                  <a:srgbClr val="C2132D"/>
                </a:solidFill>
              </a:rPr>
              <a:t>Based </a:t>
            </a:r>
            <a:r>
              <a:rPr dirty="0" sz="3350" spc="-150">
                <a:solidFill>
                  <a:srgbClr val="C2132D"/>
                </a:solidFill>
              </a:rPr>
              <a:t>on </a:t>
            </a:r>
            <a:r>
              <a:rPr dirty="0" sz="3350" spc="-20">
                <a:solidFill>
                  <a:srgbClr val="C2132D"/>
                </a:solidFill>
              </a:rPr>
              <a:t>R's</a:t>
            </a:r>
            <a:r>
              <a:rPr dirty="0" sz="3350" spc="-675">
                <a:solidFill>
                  <a:srgbClr val="C2132D"/>
                </a:solidFill>
              </a:rPr>
              <a:t> </a:t>
            </a:r>
            <a:r>
              <a:rPr dirty="0" sz="3200">
                <a:solidFill>
                  <a:srgbClr val="C2132D"/>
                </a:solidFill>
                <a:latin typeface="Courier New"/>
                <a:cs typeface="Courier New"/>
              </a:rPr>
              <a:t>forecast</a:t>
            </a:r>
            <a:endParaRPr sz="3200">
              <a:latin typeface="Courier New"/>
              <a:cs typeface="Courier New"/>
            </a:endParaRPr>
          </a:p>
          <a:p>
            <a:pPr marL="12700">
              <a:lnSpc>
                <a:spcPts val="3960"/>
              </a:lnSpc>
            </a:pPr>
            <a:r>
              <a:rPr dirty="0" sz="3350" spc="-120">
                <a:solidFill>
                  <a:srgbClr val="C2132D"/>
                </a:solidFill>
              </a:rPr>
              <a:t>Package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48754" y="1871345"/>
            <a:ext cx="9440545" cy="3587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469900" indent="-133985">
              <a:lnSpc>
                <a:spcPct val="1181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70">
                <a:solidFill>
                  <a:srgbClr val="585D60"/>
                </a:solidFill>
                <a:latin typeface="Arial"/>
                <a:cs typeface="Arial"/>
              </a:rPr>
              <a:t>R,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forecast</a:t>
            </a:r>
            <a:r>
              <a:rPr dirty="0" sz="1700" spc="-57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package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provides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convenient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function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ndiffs()</a:t>
            </a:r>
            <a:r>
              <a:rPr dirty="0" sz="1700" spc="-57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determine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number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differences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required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make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stationary.</a:t>
            </a:r>
            <a:endParaRPr sz="1800">
              <a:latin typeface="Arial"/>
              <a:cs typeface="Arial"/>
            </a:endParaRPr>
          </a:p>
          <a:p>
            <a:pPr marL="146050" marR="161290" indent="-133985">
              <a:lnSpc>
                <a:spcPct val="114599"/>
              </a:lnSpc>
              <a:spcBef>
                <a:spcPts val="969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This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function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uses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25" b="1">
                <a:solidFill>
                  <a:srgbClr val="C2132D"/>
                </a:solidFill>
                <a:latin typeface="Trebuchet MS"/>
                <a:cs typeface="Trebuchet MS"/>
              </a:rPr>
              <a:t>KPSS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test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determine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number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differences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required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make 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1800" spc="-2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stationary.</a:t>
            </a:r>
            <a:endParaRPr sz="1800">
              <a:latin typeface="Arial"/>
              <a:cs typeface="Arial"/>
            </a:endParaRPr>
          </a:p>
          <a:p>
            <a:pPr marL="146050" marR="5080" indent="-133985">
              <a:lnSpc>
                <a:spcPct val="117200"/>
              </a:lnSpc>
              <a:spcBef>
                <a:spcPts val="919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In </a:t>
            </a:r>
            <a:r>
              <a:rPr dirty="0" sz="1800" spc="-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CoreForecast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we can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use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num_diffs(x: ndarray, max_d: int = 1) -&gt; int </a:t>
            </a:r>
            <a:r>
              <a:rPr dirty="0" sz="1700" spc="5">
                <a:solidFill>
                  <a:srgbClr val="585D60"/>
                </a:solidFill>
                <a:latin typeface="Courier New"/>
                <a:cs typeface="Courier New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function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determine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number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differences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required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make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stationary. 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Similarly,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we can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use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num_seas_diffs(x: ndarray, season_length: int, max_d:  int</a:t>
            </a:r>
            <a:r>
              <a:rPr dirty="0" sz="1700" spc="1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=</a:t>
            </a:r>
            <a:r>
              <a:rPr dirty="0" sz="1700" spc="15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1)</a:t>
            </a:r>
            <a:r>
              <a:rPr dirty="0" sz="1700" spc="1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Lucida Console"/>
                <a:cs typeface="Lucida Console"/>
              </a:rPr>
              <a:t>→</a:t>
            </a:r>
            <a:r>
              <a:rPr dirty="0" sz="1700" spc="10">
                <a:solidFill>
                  <a:srgbClr val="C2132D"/>
                </a:solidFill>
                <a:latin typeface="Lucida Console"/>
                <a:cs typeface="Lucida Console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int</a:t>
            </a:r>
            <a:r>
              <a:rPr dirty="0" sz="1700" spc="-57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determine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number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seasonal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differences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required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make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 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stationary.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Reference: </a:t>
            </a:r>
            <a:r>
              <a:rPr dirty="0" sz="1800" spc="1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CoreForecast</a:t>
            </a:r>
            <a:r>
              <a:rPr dirty="0" sz="1800" spc="-14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Documentation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27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01700" y="530225"/>
            <a:ext cx="9401810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235">
                <a:solidFill>
                  <a:srgbClr val="C2132D"/>
                </a:solidFill>
                <a:latin typeface="Trebuchet MS"/>
                <a:cs typeface="Trebuchet MS"/>
              </a:rPr>
              <a:t>Demo: </a:t>
            </a:r>
            <a:r>
              <a:rPr dirty="0" sz="3350" spc="-204">
                <a:solidFill>
                  <a:srgbClr val="C2132D"/>
                </a:solidFill>
                <a:latin typeface="Trebuchet MS"/>
                <a:cs typeface="Trebuchet MS"/>
              </a:rPr>
              <a:t>Determining </a:t>
            </a:r>
            <a:r>
              <a:rPr dirty="0" sz="3350" spc="-260">
                <a:solidFill>
                  <a:srgbClr val="C2132D"/>
                </a:solidFill>
                <a:latin typeface="Trebuchet MS"/>
                <a:cs typeface="Trebuchet MS"/>
              </a:rPr>
              <a:t>the </a:t>
            </a:r>
            <a:r>
              <a:rPr dirty="0" sz="3350" spc="-204">
                <a:solidFill>
                  <a:srgbClr val="C2132D"/>
                </a:solidFill>
                <a:latin typeface="Trebuchet MS"/>
                <a:cs typeface="Trebuchet MS"/>
              </a:rPr>
              <a:t>Number </a:t>
            </a:r>
            <a:r>
              <a:rPr dirty="0" sz="3350" spc="-140">
                <a:solidFill>
                  <a:srgbClr val="C2132D"/>
                </a:solidFill>
                <a:latin typeface="Trebuchet MS"/>
                <a:cs typeface="Trebuchet MS"/>
              </a:rPr>
              <a:t>of </a:t>
            </a:r>
            <a:r>
              <a:rPr dirty="0" sz="3350" spc="-170">
                <a:solidFill>
                  <a:srgbClr val="C2132D"/>
                </a:solidFill>
                <a:latin typeface="Trebuchet MS"/>
                <a:cs typeface="Trebuchet MS"/>
              </a:rPr>
              <a:t>Differences</a:t>
            </a:r>
            <a:r>
              <a:rPr dirty="0" sz="3350" spc="-355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3350" spc="-215">
                <a:solidFill>
                  <a:srgbClr val="C2132D"/>
                </a:solidFill>
                <a:latin typeface="Trebuchet MS"/>
                <a:cs typeface="Trebuchet MS"/>
              </a:rPr>
              <a:t>Required</a:t>
            </a:r>
            <a:endParaRPr sz="33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376044"/>
            <a:ext cx="8959850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Let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us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examine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airpassengers</a:t>
            </a:r>
            <a:r>
              <a:rPr dirty="0" sz="1800" spc="-9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dataset.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Our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goal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make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this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dataset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stationary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by 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making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appropriate</a:t>
            </a:r>
            <a:r>
              <a:rPr dirty="0" sz="1800" spc="-19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transformations.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98136" y="2779776"/>
            <a:ext cx="1746885" cy="1015365"/>
          </a:xfrm>
          <a:prstGeom prst="rect"/>
          <a:solidFill>
            <a:srgbClr val="333333"/>
          </a:solidFill>
        </p:spPr>
        <p:txBody>
          <a:bodyPr wrap="square" lIns="0" tIns="11874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935"/>
              </a:spcBef>
            </a:pPr>
            <a:r>
              <a:rPr dirty="0" spc="-1220">
                <a:solidFill>
                  <a:srgbClr val="000000"/>
                </a:solidFill>
              </a:rPr>
              <a:t>R</a:t>
            </a:r>
            <a:r>
              <a:rPr dirty="0" spc="-1220"/>
              <a:t>R</a:t>
            </a:r>
            <a:r>
              <a:rPr dirty="0" spc="-1220">
                <a:solidFill>
                  <a:srgbClr val="000000"/>
                </a:solidFill>
              </a:rPr>
              <a:t>e</a:t>
            </a:r>
            <a:r>
              <a:rPr dirty="0" spc="-1220"/>
              <a:t>e</a:t>
            </a:r>
            <a:r>
              <a:rPr dirty="0" spc="-1220">
                <a:solidFill>
                  <a:srgbClr val="000000"/>
                </a:solidFill>
              </a:rPr>
              <a:t>c</a:t>
            </a:r>
            <a:r>
              <a:rPr dirty="0" spc="-1220"/>
              <a:t>c</a:t>
            </a:r>
            <a:r>
              <a:rPr dirty="0" spc="-1220">
                <a:solidFill>
                  <a:srgbClr val="000000"/>
                </a:solidFill>
              </a:rPr>
              <a:t>a</a:t>
            </a:r>
            <a:r>
              <a:rPr dirty="0" spc="-1220"/>
              <a:t>a</a:t>
            </a:r>
            <a:r>
              <a:rPr dirty="0" spc="-1220">
                <a:solidFill>
                  <a:srgbClr val="000000"/>
                </a:solidFill>
              </a:rPr>
              <a:t>p</a:t>
            </a:r>
            <a:r>
              <a:rPr dirty="0" spc="-1220"/>
              <a:t>p</a:t>
            </a:r>
          </a:p>
        </p:txBody>
      </p:sp>
      <p:sp>
        <p:nvSpPr>
          <p:cNvPr id="3" name="object 3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32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1783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70">
                <a:solidFill>
                  <a:srgbClr val="C2132D"/>
                </a:solidFill>
              </a:rPr>
              <a:t>Summary </a:t>
            </a:r>
            <a:r>
              <a:rPr dirty="0" sz="3350" spc="-140">
                <a:solidFill>
                  <a:srgbClr val="C2132D"/>
                </a:solidFill>
              </a:rPr>
              <a:t>of </a:t>
            </a:r>
            <a:r>
              <a:rPr dirty="0" sz="3350" spc="-90">
                <a:solidFill>
                  <a:srgbClr val="C2132D"/>
                </a:solidFill>
              </a:rPr>
              <a:t>Main</a:t>
            </a:r>
            <a:r>
              <a:rPr dirty="0" sz="3350" spc="-455">
                <a:solidFill>
                  <a:srgbClr val="C2132D"/>
                </a:solidFill>
              </a:rPr>
              <a:t> </a:t>
            </a:r>
            <a:r>
              <a:rPr dirty="0" sz="3350" spc="-110">
                <a:solidFill>
                  <a:srgbClr val="C2132D"/>
                </a:solidFill>
              </a:rPr>
              <a:t>Points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9044940" cy="2471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>
                <a:solidFill>
                  <a:srgbClr val="585D60"/>
                </a:solidFill>
                <a:latin typeface="Arial"/>
                <a:cs typeface="Arial"/>
              </a:rPr>
              <a:t>By 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now,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you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should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be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able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3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do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following: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Define a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stationary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time</a:t>
            </a:r>
            <a:r>
              <a:rPr dirty="0" sz="1800" spc="-22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Trebuchet MS"/>
                <a:cs typeface="Trebuchet MS"/>
              </a:rPr>
              <a:t>series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Understand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how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plotting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techniques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can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help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identify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non-stationarity.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Understand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how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we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can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stabilize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a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non-stationary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time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series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to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achieve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stationarity</a:t>
            </a:r>
            <a:endParaRPr sz="180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390"/>
              </a:spcBef>
            </a:pP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(differencing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stabilize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mean,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log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transformation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stabilize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variance).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Understand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how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use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unit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root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5" b="1">
                <a:solidFill>
                  <a:srgbClr val="C2132D"/>
                </a:solidFill>
                <a:latin typeface="Trebuchet MS"/>
                <a:cs typeface="Trebuchet MS"/>
              </a:rPr>
              <a:t>tests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test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stationarity.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32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33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12644"/>
            <a:ext cx="5445760" cy="56134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00" spc="3604">
                <a:solidFill>
                  <a:srgbClr val="C2132D"/>
                </a:solidFill>
                <a:latin typeface="Microsoft Sans Serif"/>
                <a:cs typeface="Microsoft Sans Serif"/>
              </a:rPr>
              <a:t>📝</a:t>
            </a:r>
            <a:r>
              <a:rPr dirty="0" sz="3500" spc="-275">
                <a:solidFill>
                  <a:srgbClr val="C2132D"/>
                </a:solidFill>
                <a:latin typeface="Microsoft Sans Serif"/>
                <a:cs typeface="Microsoft Sans Serif"/>
              </a:rPr>
              <a:t> </a:t>
            </a:r>
            <a:r>
              <a:rPr dirty="0" sz="3350" spc="-229">
                <a:solidFill>
                  <a:srgbClr val="C2132D"/>
                </a:solidFill>
              </a:rPr>
              <a:t>Review </a:t>
            </a:r>
            <a:r>
              <a:rPr dirty="0" sz="3350" spc="-180">
                <a:solidFill>
                  <a:srgbClr val="C2132D"/>
                </a:solidFill>
              </a:rPr>
              <a:t>and </a:t>
            </a:r>
            <a:r>
              <a:rPr dirty="0" sz="3350" spc="-195">
                <a:solidFill>
                  <a:srgbClr val="C2132D"/>
                </a:solidFill>
              </a:rPr>
              <a:t>Clarification </a:t>
            </a:r>
            <a:r>
              <a:rPr dirty="0" sz="3500" spc="3604">
                <a:solidFill>
                  <a:srgbClr val="C2132D"/>
                </a:solidFill>
                <a:latin typeface="Microsoft Sans Serif"/>
                <a:cs typeface="Microsoft Sans Serif"/>
              </a:rPr>
              <a:t>📝</a:t>
            </a:r>
            <a:endParaRPr sz="35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25120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325755" algn="l"/>
              </a:tabLst>
            </a:pPr>
            <a:r>
              <a:rPr dirty="0" spc="65" b="1">
                <a:solidFill>
                  <a:srgbClr val="C2132D"/>
                </a:solidFill>
                <a:latin typeface="Trebuchet MS"/>
                <a:cs typeface="Trebuchet MS"/>
              </a:rPr>
              <a:t>Class</a:t>
            </a:r>
            <a:r>
              <a:rPr dirty="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pc="-5" b="1">
                <a:solidFill>
                  <a:srgbClr val="C2132D"/>
                </a:solidFill>
                <a:latin typeface="Trebuchet MS"/>
                <a:cs typeface="Trebuchet MS"/>
              </a:rPr>
              <a:t>Notes</a:t>
            </a:r>
            <a:r>
              <a:rPr dirty="0" spc="-5"/>
              <a:t>:</a:t>
            </a:r>
            <a:r>
              <a:rPr dirty="0" spc="-85"/>
              <a:t> </a:t>
            </a:r>
            <a:r>
              <a:rPr dirty="0" spc="-55"/>
              <a:t>Take </a:t>
            </a:r>
            <a:r>
              <a:rPr dirty="0" spc="20"/>
              <a:t>some</a:t>
            </a:r>
            <a:r>
              <a:rPr dirty="0" spc="-50"/>
              <a:t> </a:t>
            </a:r>
            <a:r>
              <a:rPr dirty="0" spc="35"/>
              <a:t>time</a:t>
            </a:r>
            <a:r>
              <a:rPr dirty="0" spc="-50"/>
              <a:t> </a:t>
            </a:r>
            <a:r>
              <a:rPr dirty="0" spc="45"/>
              <a:t>to</a:t>
            </a:r>
            <a:r>
              <a:rPr dirty="0" spc="-55"/>
              <a:t> </a:t>
            </a:r>
            <a:r>
              <a:rPr dirty="0" spc="10"/>
              <a:t>revisit</a:t>
            </a:r>
            <a:r>
              <a:rPr dirty="0" spc="-50"/>
              <a:t> </a:t>
            </a:r>
            <a:r>
              <a:rPr dirty="0" spc="-10"/>
              <a:t>your</a:t>
            </a:r>
            <a:r>
              <a:rPr dirty="0" spc="-55"/>
              <a:t> </a:t>
            </a:r>
            <a:r>
              <a:rPr dirty="0" spc="20"/>
              <a:t>class</a:t>
            </a:r>
            <a:r>
              <a:rPr dirty="0" spc="-50"/>
              <a:t> </a:t>
            </a:r>
            <a:r>
              <a:rPr dirty="0" spc="15"/>
              <a:t>notes</a:t>
            </a:r>
            <a:r>
              <a:rPr dirty="0" spc="-50"/>
              <a:t> </a:t>
            </a:r>
            <a:r>
              <a:rPr dirty="0" spc="50"/>
              <a:t>for</a:t>
            </a:r>
            <a:r>
              <a:rPr dirty="0" spc="-55"/>
              <a:t> </a:t>
            </a:r>
            <a:r>
              <a:rPr dirty="0" spc="-40"/>
              <a:t>key</a:t>
            </a:r>
            <a:r>
              <a:rPr dirty="0" spc="-50"/>
              <a:t> </a:t>
            </a:r>
            <a:r>
              <a:rPr dirty="0" spc="25"/>
              <a:t>insights</a:t>
            </a:r>
            <a:r>
              <a:rPr dirty="0" spc="-55"/>
              <a:t> </a:t>
            </a:r>
            <a:r>
              <a:rPr dirty="0" spc="-5"/>
              <a:t>and</a:t>
            </a:r>
            <a:r>
              <a:rPr dirty="0" spc="-50"/>
              <a:t> </a:t>
            </a:r>
            <a:r>
              <a:rPr dirty="0" spc="15"/>
              <a:t>concepts.</a:t>
            </a:r>
          </a:p>
          <a:p>
            <a:pPr marL="325120" marR="1016635" indent="-133985">
              <a:lnSpc>
                <a:spcPct val="118100"/>
              </a:lnSpc>
              <a:spcBef>
                <a:spcPts val="900"/>
              </a:spcBef>
              <a:buFont typeface="Trebuchet MS"/>
              <a:buChar char="•"/>
              <a:tabLst>
                <a:tab pos="325755" algn="l"/>
              </a:tabLst>
            </a:pPr>
            <a:r>
              <a:rPr dirty="0" spc="15" b="1">
                <a:solidFill>
                  <a:srgbClr val="C2132D"/>
                </a:solidFill>
                <a:latin typeface="Trebuchet MS"/>
                <a:cs typeface="Trebuchet MS"/>
              </a:rPr>
              <a:t>Zoom</a:t>
            </a:r>
            <a:r>
              <a:rPr dirty="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pc="-25" b="1">
                <a:solidFill>
                  <a:srgbClr val="C2132D"/>
                </a:solidFill>
                <a:latin typeface="Trebuchet MS"/>
                <a:cs typeface="Trebuchet MS"/>
              </a:rPr>
              <a:t>Recording</a:t>
            </a:r>
            <a:r>
              <a:rPr dirty="0" spc="-25"/>
              <a:t>:</a:t>
            </a:r>
            <a:r>
              <a:rPr dirty="0" spc="-80"/>
              <a:t> </a:t>
            </a:r>
            <a:r>
              <a:rPr dirty="0" spc="-30"/>
              <a:t>The</a:t>
            </a:r>
            <a:r>
              <a:rPr dirty="0" spc="-50"/>
              <a:t> </a:t>
            </a:r>
            <a:r>
              <a:rPr dirty="0" spc="5"/>
              <a:t>recording</a:t>
            </a:r>
            <a:r>
              <a:rPr dirty="0" spc="-45"/>
              <a:t> </a:t>
            </a:r>
            <a:r>
              <a:rPr dirty="0" spc="75"/>
              <a:t>of</a:t>
            </a:r>
            <a:r>
              <a:rPr dirty="0" spc="-45"/>
              <a:t> </a:t>
            </a:r>
            <a:r>
              <a:rPr dirty="0" spc="-10"/>
              <a:t>today's</a:t>
            </a:r>
            <a:r>
              <a:rPr dirty="0" spc="-50"/>
              <a:t> </a:t>
            </a:r>
            <a:r>
              <a:rPr dirty="0" spc="20"/>
              <a:t>class</a:t>
            </a:r>
            <a:r>
              <a:rPr dirty="0" spc="-45"/>
              <a:t> </a:t>
            </a:r>
            <a:r>
              <a:rPr dirty="0" spc="40"/>
              <a:t>will</a:t>
            </a:r>
            <a:r>
              <a:rPr dirty="0" spc="-50"/>
              <a:t> </a:t>
            </a:r>
            <a:r>
              <a:rPr dirty="0" spc="-20"/>
              <a:t>be</a:t>
            </a:r>
            <a:r>
              <a:rPr dirty="0" spc="-45"/>
              <a:t> </a:t>
            </a:r>
            <a:r>
              <a:rPr dirty="0" spc="5"/>
              <a:t>made</a:t>
            </a:r>
            <a:r>
              <a:rPr dirty="0" spc="-45"/>
              <a:t> </a:t>
            </a:r>
            <a:r>
              <a:rPr dirty="0" spc="-10"/>
              <a:t>available</a:t>
            </a:r>
            <a:r>
              <a:rPr dirty="0" spc="-50"/>
              <a:t> </a:t>
            </a:r>
            <a:r>
              <a:rPr dirty="0" spc="5"/>
              <a:t>on</a:t>
            </a:r>
            <a:r>
              <a:rPr dirty="0" spc="-45"/>
              <a:t> </a:t>
            </a:r>
            <a:r>
              <a:rPr dirty="0" spc="-35"/>
              <a:t>Canvas  </a:t>
            </a:r>
            <a:r>
              <a:rPr dirty="0" spc="5"/>
              <a:t>approximately </a:t>
            </a:r>
            <a:r>
              <a:rPr dirty="0" spc="-30"/>
              <a:t>3-4 </a:t>
            </a:r>
            <a:r>
              <a:rPr dirty="0" spc="5"/>
              <a:t>hours </a:t>
            </a:r>
            <a:r>
              <a:rPr dirty="0" spc="30"/>
              <a:t>after </a:t>
            </a:r>
            <a:r>
              <a:rPr dirty="0" spc="10"/>
              <a:t>the session</a:t>
            </a:r>
            <a:r>
              <a:rPr dirty="0" spc="-350"/>
              <a:t> </a:t>
            </a:r>
            <a:r>
              <a:rPr dirty="0" spc="-10"/>
              <a:t>ends.</a:t>
            </a:r>
          </a:p>
          <a:p>
            <a:pPr marL="325120" marR="5080" indent="-133985">
              <a:lnSpc>
                <a:spcPct val="118100"/>
              </a:lnSpc>
              <a:spcBef>
                <a:spcPts val="819"/>
              </a:spcBef>
              <a:buFont typeface="Trebuchet MS"/>
              <a:buChar char="•"/>
              <a:tabLst>
                <a:tab pos="325755" algn="l"/>
              </a:tabLst>
            </a:pPr>
            <a:r>
              <a:rPr dirty="0" spc="-15" b="1">
                <a:solidFill>
                  <a:srgbClr val="C2132D"/>
                </a:solidFill>
                <a:latin typeface="Trebuchet MS"/>
                <a:cs typeface="Trebuchet MS"/>
              </a:rPr>
              <a:t>Questions</a:t>
            </a:r>
            <a:r>
              <a:rPr dirty="0" spc="-15"/>
              <a:t>:</a:t>
            </a:r>
            <a:r>
              <a:rPr dirty="0" spc="-50"/>
              <a:t> </a:t>
            </a:r>
            <a:r>
              <a:rPr dirty="0" spc="-20"/>
              <a:t>Please</a:t>
            </a:r>
            <a:r>
              <a:rPr dirty="0" spc="-50"/>
              <a:t> </a:t>
            </a:r>
            <a:r>
              <a:rPr dirty="0" spc="-5"/>
              <a:t>don't</a:t>
            </a:r>
            <a:r>
              <a:rPr dirty="0" spc="-50"/>
              <a:t> </a:t>
            </a:r>
            <a:r>
              <a:rPr dirty="0" spc="10"/>
              <a:t>hesitate</a:t>
            </a:r>
            <a:r>
              <a:rPr dirty="0" spc="-50"/>
              <a:t> </a:t>
            </a:r>
            <a:r>
              <a:rPr dirty="0" spc="45"/>
              <a:t>to</a:t>
            </a:r>
            <a:r>
              <a:rPr dirty="0" spc="-50"/>
              <a:t> </a:t>
            </a:r>
            <a:r>
              <a:rPr dirty="0" spc="5"/>
              <a:t>ask</a:t>
            </a:r>
            <a:r>
              <a:rPr dirty="0" spc="-50"/>
              <a:t> </a:t>
            </a:r>
            <a:r>
              <a:rPr dirty="0" spc="50"/>
              <a:t>for</a:t>
            </a:r>
            <a:r>
              <a:rPr dirty="0" spc="-50"/>
              <a:t> </a:t>
            </a:r>
            <a:r>
              <a:rPr dirty="0" spc="25"/>
              <a:t>clarification</a:t>
            </a:r>
            <a:r>
              <a:rPr dirty="0" spc="-50"/>
              <a:t> </a:t>
            </a:r>
            <a:r>
              <a:rPr dirty="0" spc="5"/>
              <a:t>on</a:t>
            </a:r>
            <a:r>
              <a:rPr dirty="0" spc="-50"/>
              <a:t> </a:t>
            </a:r>
            <a:r>
              <a:rPr dirty="0" spc="-30"/>
              <a:t>any</a:t>
            </a:r>
            <a:r>
              <a:rPr dirty="0" spc="-50"/>
              <a:t> </a:t>
            </a:r>
            <a:r>
              <a:rPr dirty="0" spc="35"/>
              <a:t>topics</a:t>
            </a:r>
            <a:r>
              <a:rPr dirty="0" spc="-50"/>
              <a:t> </a:t>
            </a:r>
            <a:r>
              <a:rPr dirty="0" spc="15"/>
              <a:t>discussed</a:t>
            </a:r>
            <a:r>
              <a:rPr dirty="0" spc="-45"/>
              <a:t> </a:t>
            </a:r>
            <a:r>
              <a:rPr dirty="0" spc="15"/>
              <a:t>in</a:t>
            </a:r>
            <a:r>
              <a:rPr dirty="0" spc="-50"/>
              <a:t> </a:t>
            </a:r>
            <a:r>
              <a:rPr dirty="0" spc="15"/>
              <a:t>class.</a:t>
            </a:r>
            <a:r>
              <a:rPr dirty="0" spc="-50"/>
              <a:t> </a:t>
            </a:r>
            <a:r>
              <a:rPr dirty="0"/>
              <a:t>It's  </a:t>
            </a:r>
            <a:r>
              <a:rPr dirty="0" spc="20"/>
              <a:t>crucial</a:t>
            </a:r>
            <a:r>
              <a:rPr dirty="0" spc="-60"/>
              <a:t> </a:t>
            </a:r>
            <a:r>
              <a:rPr dirty="0" spc="35"/>
              <a:t>not</a:t>
            </a:r>
            <a:r>
              <a:rPr dirty="0" spc="-55"/>
              <a:t> </a:t>
            </a:r>
            <a:r>
              <a:rPr dirty="0" spc="45"/>
              <a:t>to</a:t>
            </a:r>
            <a:r>
              <a:rPr dirty="0" spc="-55"/>
              <a:t> </a:t>
            </a:r>
            <a:r>
              <a:rPr dirty="0" spc="25"/>
              <a:t>let</a:t>
            </a:r>
            <a:r>
              <a:rPr dirty="0" spc="-55"/>
              <a:t> </a:t>
            </a:r>
            <a:r>
              <a:rPr dirty="0" spc="15"/>
              <a:t>questions</a:t>
            </a:r>
            <a:r>
              <a:rPr dirty="0" spc="-55"/>
              <a:t> </a:t>
            </a:r>
            <a:r>
              <a:rPr dirty="0" spc="10"/>
              <a:t>accumulate.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3D5D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444/544: Business Forecasting</dc:title>
  <dcterms:created xsi:type="dcterms:W3CDTF">2025-10-14T12:55:15Z</dcterms:created>
  <dcterms:modified xsi:type="dcterms:W3CDTF">2025-10-14T12:55:15Z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2025-10-14T00:00:00Z</vt:filetime>
  </property>
  <property fmtid="{D5CDD505-2E9C-101B-9397-08002B2CF9AE}" pid="3" name="Creator">
    <vt:lpwstr>Mozilla/5.0 (Windows NT 10.0; Win64; x64) AppleWebKit/537.36 (KHTML, like Gecko) Chrome/141.0.0.0 Safari/537.36</vt:lpwstr>
  </property>
  <property fmtid="{D5CDD505-2E9C-101B-9397-08002B2CF9AE}" pid="4" name="LastSaved">
    <vt:filetime>2025-10-14T00:00:00Z</vt:filetime>
  </property>
</Properties>
</file>