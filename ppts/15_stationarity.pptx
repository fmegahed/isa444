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docProps/app.xml" ContentType="application/vnd.openxmlformats-officedocument.extended-properties+xml"/>
  <Override PartName="/docProps/core.xml" ContentType="application/vnd.openxmlformats-package.core-properties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Default Extension="png" ContentType="image/png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Default Extension="jpg" ContentType="image/jpg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</p:sldIdLst>
  <p:sldSz cx="11531600" cy="6489700"/>
  <p:notesSz cx="11531600" cy="64897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8" d="100"/>
          <a:sy n="78" d="100"/>
        </p:scale>
        <p:origin x="-1536" y="-8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viewProps" Target="viewProps.xml"/><Relationship Id="rId4" Type="http://schemas.openxmlformats.org/officeDocument/2006/relationships/presProps" Target="pres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
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
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
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
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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01700" y="530225"/>
            <a:ext cx="9728200" cy="5397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729740" y="3634232"/>
            <a:ext cx="8072120" cy="162242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585D60"/>
                </a:solidFill>
                <a:latin typeface="Arial"/>
                <a:cs typeface="Arial"/>
              </a:defRPr>
            </a:lvl1pPr>
          </a:lstStyle>
          <a:p>
            <a:pPr marL="123825">
              <a:lnSpc>
                <a:spcPct val="100000"/>
              </a:lnSpc>
              <a:spcBef>
                <a:spcPts val="10"/>
              </a:spcBef>
            </a:pPr>
            <a:fld id="{81D60167-4931-47E6-BA6A-407CBD079E47}" type="slidenum">
              <a:rPr dirty="0" spc="5"/>
              <a:t>#</a:t>
            </a:fld>
            <a:r>
              <a:rPr dirty="0" spc="5"/>
              <a:t> </a:t>
            </a:r>
            <a:r>
              <a:rPr dirty="0" spc="160"/>
              <a:t>/</a:t>
            </a:r>
            <a:r>
              <a:rPr dirty="0" spc="-165"/>
              <a:t> </a:t>
            </a:r>
            <a:r>
              <a:rPr dirty="0" spc="5"/>
              <a:t>33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1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rgbClr val="585D60"/>
                </a:solidFill>
                <a:latin typeface="Arial"/>
                <a:cs typeface="Arial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585D60"/>
                </a:solidFill>
                <a:latin typeface="Arial"/>
                <a:cs typeface="Arial"/>
              </a:defRPr>
            </a:lvl1pPr>
          </a:lstStyle>
          <a:p>
            <a:pPr marL="123825">
              <a:lnSpc>
                <a:spcPct val="100000"/>
              </a:lnSpc>
              <a:spcBef>
                <a:spcPts val="10"/>
              </a:spcBef>
            </a:pPr>
            <a:fld id="{81D60167-4931-47E6-BA6A-407CBD079E47}" type="slidenum">
              <a:rPr dirty="0" spc="5"/>
              <a:t>#</a:t>
            </a:fld>
            <a:r>
              <a:rPr dirty="0" spc="5"/>
              <a:t> </a:t>
            </a:r>
            <a:r>
              <a:rPr dirty="0" spc="160"/>
              <a:t>/</a:t>
            </a:r>
            <a:r>
              <a:rPr dirty="0" spc="-165"/>
              <a:t> </a:t>
            </a:r>
            <a:r>
              <a:rPr dirty="0" spc="5"/>
              <a:t>33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1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idx="2" sz="half"/>
          </p:nvPr>
        </p:nvSpPr>
        <p:spPr>
          <a:xfrm>
            <a:off x="576580" y="1492631"/>
            <a:ext cx="5016246" cy="428320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idx="3" sz="half"/>
          </p:nvPr>
        </p:nvSpPr>
        <p:spPr>
          <a:xfrm>
            <a:off x="5938774" y="1492631"/>
            <a:ext cx="5016246" cy="428320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Holder 6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7" name="Holder 7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585D60"/>
                </a:solidFill>
                <a:latin typeface="Arial"/>
                <a:cs typeface="Arial"/>
              </a:defRPr>
            </a:lvl1pPr>
          </a:lstStyle>
          <a:p>
            <a:pPr marL="123825">
              <a:lnSpc>
                <a:spcPct val="100000"/>
              </a:lnSpc>
              <a:spcBef>
                <a:spcPts val="10"/>
              </a:spcBef>
            </a:pPr>
            <a:fld id="{81D60167-4931-47E6-BA6A-407CBD079E47}" type="slidenum">
              <a:rPr dirty="0" spc="5"/>
              <a:t>#</a:t>
            </a:fld>
            <a:r>
              <a:rPr dirty="0" spc="5"/>
              <a:t> </a:t>
            </a:r>
            <a:r>
              <a:rPr dirty="0" spc="160"/>
              <a:t>/</a:t>
            </a:r>
            <a:r>
              <a:rPr dirty="0" spc="-165"/>
              <a:t> </a:t>
            </a:r>
            <a:r>
              <a:rPr dirty="0" spc="5"/>
              <a:t>33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 showMasterSp="0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0"/>
            <a:ext cx="11525250" cy="6486525"/>
          </a:xfrm>
          <a:custGeom>
            <a:avLst/>
            <a:gdLst/>
            <a:ahLst/>
            <a:cxnLst/>
            <a:rect l="l" t="t" r="r" b="b"/>
            <a:pathLst>
              <a:path w="11525250" h="6486525">
                <a:moveTo>
                  <a:pt x="0" y="0"/>
                </a:moveTo>
                <a:lnTo>
                  <a:pt x="11525249" y="0"/>
                </a:lnTo>
                <a:lnTo>
                  <a:pt x="11525249" y="6486524"/>
                </a:lnTo>
                <a:lnTo>
                  <a:pt x="0" y="6486524"/>
                </a:lnTo>
                <a:lnTo>
                  <a:pt x="0" y="0"/>
                </a:lnTo>
                <a:close/>
              </a:path>
            </a:pathLst>
          </a:custGeom>
          <a:solidFill>
            <a:srgbClr val="C2132D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1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5" name="Holder 5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585D60"/>
                </a:solidFill>
                <a:latin typeface="Arial"/>
                <a:cs typeface="Arial"/>
              </a:defRPr>
            </a:lvl1pPr>
          </a:lstStyle>
          <a:p>
            <a:pPr marL="123825">
              <a:lnSpc>
                <a:spcPct val="100000"/>
              </a:lnSpc>
              <a:spcBef>
                <a:spcPts val="10"/>
              </a:spcBef>
            </a:pPr>
            <a:fld id="{81D60167-4931-47E6-BA6A-407CBD079E47}" type="slidenum">
              <a:rPr dirty="0" spc="5"/>
              <a:t>#</a:t>
            </a:fld>
            <a:r>
              <a:rPr dirty="0" spc="5"/>
              <a:t> </a:t>
            </a:r>
            <a:r>
              <a:rPr dirty="0" spc="160"/>
              <a:t>/</a:t>
            </a:r>
            <a:r>
              <a:rPr dirty="0" spc="-165"/>
              <a:t> </a:t>
            </a:r>
            <a:r>
              <a:rPr dirty="0" spc="5"/>
              <a:t>33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4" name="Holder 4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585D60"/>
                </a:solidFill>
                <a:latin typeface="Arial"/>
                <a:cs typeface="Arial"/>
              </a:defRPr>
            </a:lvl1pPr>
          </a:lstStyle>
          <a:p>
            <a:pPr marL="123825">
              <a:lnSpc>
                <a:spcPct val="100000"/>
              </a:lnSpc>
              <a:spcBef>
                <a:spcPts val="10"/>
              </a:spcBef>
            </a:pPr>
            <a:fld id="{81D60167-4931-47E6-BA6A-407CBD079E47}" type="slidenum">
              <a:rPr dirty="0" spc="5"/>
              <a:t>#</a:t>
            </a:fld>
            <a:r>
              <a:rPr dirty="0" spc="5"/>
              <a:t> </a:t>
            </a:r>
            <a:r>
              <a:rPr dirty="0" spc="160"/>
              <a:t>/</a:t>
            </a:r>
            <a:r>
              <a:rPr dirty="0" spc="-165"/>
              <a:t> </a:t>
            </a:r>
            <a:r>
              <a:rPr dirty="0" spc="5"/>
              <a:t>33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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157535" y="1920875"/>
            <a:ext cx="9216529" cy="117792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1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69605" y="1425575"/>
            <a:ext cx="9592389" cy="18141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800" b="0" i="0">
                <a:solidFill>
                  <a:srgbClr val="585D60"/>
                </a:solidFill>
                <a:latin typeface="Arial"/>
                <a:cs typeface="Arial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>
          <a:xfrm>
            <a:off x="3920744" y="6035421"/>
            <a:ext cx="3690112" cy="32448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>
          <a:xfrm>
            <a:off x="576580" y="6035421"/>
            <a:ext cx="2652268" cy="32448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>
          <a:xfrm>
            <a:off x="10853587" y="6218137"/>
            <a:ext cx="532129" cy="2044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0" i="0">
                <a:solidFill>
                  <a:srgbClr val="585D60"/>
                </a:solidFill>
                <a:latin typeface="Arial"/>
                <a:cs typeface="Arial"/>
              </a:defRPr>
            </a:lvl1pPr>
          </a:lstStyle>
          <a:p>
            <a:pPr marL="123825">
              <a:lnSpc>
                <a:spcPct val="100000"/>
              </a:lnSpc>
              <a:spcBef>
                <a:spcPts val="10"/>
              </a:spcBef>
            </a:pPr>
            <a:fld id="{81D60167-4931-47E6-BA6A-407CBD079E47}" type="slidenum">
              <a:rPr dirty="0" spc="5"/>
              <a:t>#</a:t>
            </a:fld>
            <a:r>
              <a:rPr dirty="0" spc="5"/>
              <a:t> </a:t>
            </a:r>
            <a:r>
              <a:rPr dirty="0" spc="160"/>
              <a:t>/</a:t>
            </a:r>
            <a:r>
              <a:rPr dirty="0" spc="-165"/>
              <a:t> </a:t>
            </a:r>
            <a:r>
              <a:rPr dirty="0" spc="5"/>
              <a:t>33</a:t>
            </a:r>
          </a:p>
        </p:txBody>
      </p:sp>
    </p:spTree>
  </p:cSld>
  <p:clrMap folHlink="folHlink" hlink="hlink" accent1="accent1" accent2="accent2" accent3="accent3" accent4="accent4" accent5="accent5" accent6="accent6" tx2="dk2" bg2="lt2" tx1="dk1" bg1="lt1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twitter.com/FadelMegahed" TargetMode="External"/><Relationship Id="rId3" Type="http://schemas.openxmlformats.org/officeDocument/2006/relationships/hyperlink" Target="https://github.com/fmegahed/" TargetMode="External"/><Relationship Id="rId4" Type="http://schemas.openxmlformats.org/officeDocument/2006/relationships/hyperlink" Target="mailto:fmegahed@miamioh.edu" TargetMode="External"/><Relationship Id="rId5" Type="http://schemas.openxmlformats.org/officeDocument/2006/relationships/hyperlink" Target="https://calendly.com/fmegahed" TargetMode="External"/><Relationship Id="rId6" Type="http://schemas.openxmlformats.org/officeDocument/2006/relationships/image" Target="../media/image1.png"/><Relationship Id="rId7" Type="http://schemas.openxmlformats.org/officeDocument/2006/relationships/image" Target="../media/image2.png"/><Relationship Id="rId8" Type="http://schemas.openxmlformats.org/officeDocument/2006/relationships/image" Target="../media/image3.png"/><Relationship Id="rId9" Type="http://schemas.openxmlformats.org/officeDocument/2006/relationships/image" Target="../media/image4.png"/></Relationships>
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
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
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
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
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
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jpg"/></Relationships>
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
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
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
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
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
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
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
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
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
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
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
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
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
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jpg"/></Relationships>
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jpg"/></Relationships>
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.jpg"/></Relationships>
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
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
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
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www.statsmodels.org/stable/generated/statsmodels.tsa.stattools.adfuller.html" TargetMode="External"/></Relationships>
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www.statsmodels.org/stable/generated/statsmodels.tsa.stattools.kpss.html" TargetMode="External"/></Relationships>
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nixtlaverse.nixtla.io/coreforecast/differences" TargetMode="External"/></Relationships>
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raw.githubusercontent.com/fmegahed/isa444/refs/heads/main/data/airpassengers.csv" TargetMode="External"/></Relationships>
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
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
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1525250" cy="6486525"/>
          </a:xfrm>
          <a:custGeom>
            <a:avLst/>
            <a:gdLst/>
            <a:ahLst/>
            <a:cxnLst/>
            <a:rect l="l" t="t" r="r" b="b"/>
            <a:pathLst>
              <a:path w="11525250" h="6486525">
                <a:moveTo>
                  <a:pt x="0" y="0"/>
                </a:moveTo>
                <a:lnTo>
                  <a:pt x="11525249" y="0"/>
                </a:lnTo>
                <a:lnTo>
                  <a:pt x="11525249" y="6486524"/>
                </a:lnTo>
                <a:lnTo>
                  <a:pt x="0" y="6486524"/>
                </a:lnTo>
                <a:lnTo>
                  <a:pt x="0" y="0"/>
                </a:lnTo>
                <a:close/>
              </a:path>
            </a:pathLst>
          </a:custGeom>
          <a:solidFill>
            <a:srgbClr val="C2132D"/>
          </a:solidFill>
        </p:spPr>
        <p:txBody>
          <a:bodyPr wrap="square" lIns="0" tIns="0" rIns="0" bIns="0" rtlCol="0"/>
          <a:lstStyle/>
          <a:p/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01700" y="1198165"/>
            <a:ext cx="7611109" cy="1139190"/>
          </a:xfrm>
          <a:prstGeom prst="rect"/>
        </p:spPr>
        <p:txBody>
          <a:bodyPr wrap="square" lIns="0" tIns="9080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715"/>
              </a:spcBef>
            </a:pPr>
            <a:r>
              <a:rPr dirty="0" sz="3350" spc="5"/>
              <a:t>ISA </a:t>
            </a:r>
            <a:r>
              <a:rPr dirty="0" sz="3350" spc="-180"/>
              <a:t>444: </a:t>
            </a:r>
            <a:r>
              <a:rPr dirty="0" sz="3350" spc="-45"/>
              <a:t>Business</a:t>
            </a:r>
            <a:r>
              <a:rPr dirty="0" sz="3350" spc="-535"/>
              <a:t> </a:t>
            </a:r>
            <a:r>
              <a:rPr dirty="0" sz="3350" spc="-150"/>
              <a:t>Forecasting</a:t>
            </a:r>
            <a:endParaRPr sz="3350"/>
          </a:p>
          <a:p>
            <a:pPr marL="12700">
              <a:lnSpc>
                <a:spcPct val="100000"/>
              </a:lnSpc>
              <a:spcBef>
                <a:spcPts val="530"/>
              </a:spcBef>
            </a:pPr>
            <a:r>
              <a:rPr dirty="0" sz="3000">
                <a:latin typeface="Times New Roman"/>
                <a:cs typeface="Times New Roman"/>
              </a:rPr>
              <a:t>15: </a:t>
            </a:r>
            <a:r>
              <a:rPr dirty="0" sz="3000" spc="-15">
                <a:latin typeface="Times New Roman"/>
                <a:cs typeface="Times New Roman"/>
              </a:rPr>
              <a:t>Stationarity, </a:t>
            </a:r>
            <a:r>
              <a:rPr dirty="0" sz="3000" spc="-5">
                <a:latin typeface="Times New Roman"/>
                <a:cs typeface="Times New Roman"/>
              </a:rPr>
              <a:t>Differencing </a:t>
            </a:r>
            <a:r>
              <a:rPr dirty="0" sz="3000">
                <a:latin typeface="Times New Roman"/>
                <a:cs typeface="Times New Roman"/>
              </a:rPr>
              <a:t>and Unit Root</a:t>
            </a:r>
            <a:r>
              <a:rPr dirty="0" sz="3000" spc="-114">
                <a:latin typeface="Times New Roman"/>
                <a:cs typeface="Times New Roman"/>
              </a:rPr>
              <a:t> </a:t>
            </a:r>
            <a:r>
              <a:rPr dirty="0" sz="3000" spc="-45">
                <a:latin typeface="Times New Roman"/>
                <a:cs typeface="Times New Roman"/>
              </a:rPr>
              <a:t>Tests</a:t>
            </a:r>
            <a:endParaRPr sz="3000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901700" y="2873375"/>
            <a:ext cx="4276725" cy="3311525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1850" spc="10">
                <a:solidFill>
                  <a:srgbClr val="FFFFFF"/>
                </a:solidFill>
                <a:latin typeface="Arial"/>
                <a:cs typeface="Arial"/>
              </a:rPr>
              <a:t>Fadel M. Megahed,</a:t>
            </a:r>
            <a:r>
              <a:rPr dirty="0" sz="1850" spc="-1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850" spc="15">
                <a:solidFill>
                  <a:srgbClr val="FFFFFF"/>
                </a:solidFill>
                <a:latin typeface="Arial"/>
                <a:cs typeface="Arial"/>
              </a:rPr>
              <a:t>PhD</a:t>
            </a:r>
            <a:endParaRPr sz="185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5"/>
              </a:spcBef>
            </a:pPr>
            <a:endParaRPr sz="1650">
              <a:latin typeface="Arial"/>
              <a:cs typeface="Arial"/>
            </a:endParaRPr>
          </a:p>
          <a:p>
            <a:pPr marL="12700">
              <a:lnSpc>
                <a:spcPts val="2160"/>
              </a:lnSpc>
            </a:pPr>
            <a:r>
              <a:rPr dirty="0" sz="1850" spc="10">
                <a:solidFill>
                  <a:srgbClr val="FFFFFF"/>
                </a:solidFill>
                <a:latin typeface="Arial"/>
                <a:cs typeface="Arial"/>
              </a:rPr>
              <a:t>Professor</a:t>
            </a:r>
            <a:endParaRPr sz="1850">
              <a:latin typeface="Arial"/>
              <a:cs typeface="Arial"/>
            </a:endParaRPr>
          </a:p>
          <a:p>
            <a:pPr marL="12700" marR="1397000">
              <a:lnSpc>
                <a:spcPts val="2030"/>
              </a:lnSpc>
              <a:spcBef>
                <a:spcPts val="165"/>
              </a:spcBef>
            </a:pPr>
            <a:r>
              <a:rPr dirty="0" sz="1850" spc="10">
                <a:solidFill>
                  <a:srgbClr val="FFFFFF"/>
                </a:solidFill>
                <a:latin typeface="Arial"/>
                <a:cs typeface="Arial"/>
              </a:rPr>
              <a:t>Farmer School of</a:t>
            </a:r>
            <a:r>
              <a:rPr dirty="0" sz="1850" spc="-5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850" spc="10">
                <a:solidFill>
                  <a:srgbClr val="FFFFFF"/>
                </a:solidFill>
                <a:latin typeface="Arial"/>
                <a:cs typeface="Arial"/>
              </a:rPr>
              <a:t>Business  Miami</a:t>
            </a:r>
            <a:r>
              <a:rPr dirty="0" sz="185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850" spc="10">
                <a:solidFill>
                  <a:srgbClr val="FFFFFF"/>
                </a:solidFill>
                <a:latin typeface="Arial"/>
                <a:cs typeface="Arial"/>
              </a:rPr>
              <a:t>University</a:t>
            </a:r>
            <a:endParaRPr sz="185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0"/>
              </a:spcBef>
            </a:pPr>
            <a:endParaRPr sz="1750">
              <a:latin typeface="Arial"/>
              <a:cs typeface="Arial"/>
            </a:endParaRPr>
          </a:p>
          <a:p>
            <a:pPr marL="309245" marR="1287145" indent="6985">
              <a:lnSpc>
                <a:spcPct val="103000"/>
              </a:lnSpc>
            </a:pPr>
            <a:r>
              <a:rPr dirty="0" sz="1850" spc="10">
                <a:solidFill>
                  <a:srgbClr val="83D5D3"/>
                </a:solidFill>
                <a:latin typeface="Arial"/>
                <a:cs typeface="Arial"/>
                <a:hlinkClick r:id="rId2"/>
              </a:rPr>
              <a:t>@FadelMegahed </a:t>
            </a:r>
            <a:r>
              <a:rPr dirty="0" sz="1850" spc="10">
                <a:solidFill>
                  <a:srgbClr val="83D5D3"/>
                </a:solidFill>
                <a:latin typeface="Arial"/>
                <a:cs typeface="Arial"/>
              </a:rPr>
              <a:t> </a:t>
            </a:r>
            <a:r>
              <a:rPr dirty="0" sz="1850" spc="10">
                <a:solidFill>
                  <a:srgbClr val="83D5D3"/>
                </a:solidFill>
                <a:latin typeface="Arial"/>
                <a:cs typeface="Arial"/>
                <a:hlinkClick r:id="rId3"/>
              </a:rPr>
              <a:t>fmegahed </a:t>
            </a:r>
            <a:r>
              <a:rPr dirty="0" sz="1850" spc="10">
                <a:solidFill>
                  <a:srgbClr val="83D5D3"/>
                </a:solidFill>
                <a:latin typeface="Arial"/>
                <a:cs typeface="Arial"/>
              </a:rPr>
              <a:t> </a:t>
            </a:r>
            <a:r>
              <a:rPr dirty="0" sz="1850" spc="10">
                <a:solidFill>
                  <a:srgbClr val="83D5D3"/>
                </a:solidFill>
                <a:latin typeface="Arial"/>
                <a:cs typeface="Arial"/>
                <a:hlinkClick r:id="rId4"/>
              </a:rPr>
              <a:t>fmegahed@miamioh.edu</a:t>
            </a:r>
            <a:endParaRPr sz="1850">
              <a:latin typeface="Arial"/>
              <a:cs typeface="Arial"/>
            </a:endParaRPr>
          </a:p>
          <a:p>
            <a:pPr marL="243840">
              <a:lnSpc>
                <a:spcPct val="100000"/>
              </a:lnSpc>
              <a:spcBef>
                <a:spcPts val="105"/>
              </a:spcBef>
            </a:pPr>
            <a:r>
              <a:rPr dirty="0" sz="1850" spc="10">
                <a:solidFill>
                  <a:srgbClr val="83D5D3"/>
                </a:solidFill>
                <a:latin typeface="Arial"/>
                <a:cs typeface="Arial"/>
                <a:hlinkClick r:id="rId5"/>
              </a:rPr>
              <a:t>Automated Scheduler </a:t>
            </a:r>
            <a:r>
              <a:rPr dirty="0" sz="1850" spc="5">
                <a:solidFill>
                  <a:srgbClr val="83D5D3"/>
                </a:solidFill>
                <a:latin typeface="Arial"/>
                <a:cs typeface="Arial"/>
                <a:hlinkClick r:id="rId5"/>
              </a:rPr>
              <a:t>for Office</a:t>
            </a:r>
            <a:r>
              <a:rPr dirty="0" sz="1850" spc="-20">
                <a:solidFill>
                  <a:srgbClr val="83D5D3"/>
                </a:solidFill>
                <a:latin typeface="Arial"/>
                <a:cs typeface="Arial"/>
                <a:hlinkClick r:id="rId5"/>
              </a:rPr>
              <a:t> </a:t>
            </a:r>
            <a:r>
              <a:rPr dirty="0" sz="1850" spc="10">
                <a:solidFill>
                  <a:srgbClr val="83D5D3"/>
                </a:solidFill>
                <a:latin typeface="Arial"/>
                <a:cs typeface="Arial"/>
                <a:hlinkClick r:id="rId5"/>
              </a:rPr>
              <a:t>Hours</a:t>
            </a:r>
            <a:endParaRPr sz="185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0"/>
              </a:spcBef>
            </a:pPr>
            <a:endParaRPr sz="165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dirty="0" sz="1850" spc="10">
                <a:solidFill>
                  <a:srgbClr val="FFFFFF"/>
                </a:solidFill>
                <a:latin typeface="Arial"/>
                <a:cs typeface="Arial"/>
              </a:rPr>
              <a:t>Spring</a:t>
            </a:r>
            <a:r>
              <a:rPr dirty="0" sz="185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850" spc="10">
                <a:solidFill>
                  <a:srgbClr val="FFFFFF"/>
                </a:solidFill>
                <a:latin typeface="Arial"/>
                <a:cs typeface="Arial"/>
              </a:rPr>
              <a:t>2025</a:t>
            </a:r>
            <a:endParaRPr sz="1850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914400" y="4537212"/>
            <a:ext cx="238124" cy="193400"/>
          </a:xfrm>
          <a:prstGeom prst="rect">
            <a:avLst/>
          </a:prstGeom>
          <a:blipFill>
            <a:blip r:embed="rId6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6" name="object 6"/>
          <p:cNvSpPr/>
          <p:nvPr/>
        </p:nvSpPr>
        <p:spPr>
          <a:xfrm>
            <a:off x="914400" y="4804320"/>
            <a:ext cx="230683" cy="225800"/>
          </a:xfrm>
          <a:prstGeom prst="rect">
            <a:avLst/>
          </a:prstGeom>
          <a:blipFill>
            <a:blip r:embed="rId7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7" name="object 7"/>
          <p:cNvSpPr/>
          <p:nvPr/>
        </p:nvSpPr>
        <p:spPr>
          <a:xfrm>
            <a:off x="914429" y="5095881"/>
            <a:ext cx="237909" cy="237821"/>
          </a:xfrm>
          <a:prstGeom prst="rect">
            <a:avLst/>
          </a:prstGeom>
          <a:blipFill>
            <a:blip r:embed="rId8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8" name="object 8"/>
          <p:cNvSpPr/>
          <p:nvPr/>
        </p:nvSpPr>
        <p:spPr>
          <a:xfrm>
            <a:off x="924888" y="5381624"/>
            <a:ext cx="165083" cy="238125"/>
          </a:xfrm>
          <a:prstGeom prst="rect">
            <a:avLst/>
          </a:prstGeom>
          <a:blipFill>
            <a:blip r:embed="rId9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01700" y="530225"/>
            <a:ext cx="6329045" cy="539750"/>
          </a:xfrm>
          <a:prstGeom prst="rect"/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3350" spc="-170">
                <a:solidFill>
                  <a:srgbClr val="C2132D"/>
                </a:solidFill>
              </a:rPr>
              <a:t>Learning </a:t>
            </a:r>
            <a:r>
              <a:rPr dirty="0" sz="3350" spc="-204">
                <a:solidFill>
                  <a:srgbClr val="C2132D"/>
                </a:solidFill>
              </a:rPr>
              <a:t>Objectives </a:t>
            </a:r>
            <a:r>
              <a:rPr dirty="0" sz="3350" spc="-185">
                <a:solidFill>
                  <a:srgbClr val="C2132D"/>
                </a:solidFill>
              </a:rPr>
              <a:t>for </a:t>
            </a:r>
            <a:r>
              <a:rPr dirty="0" sz="3350" spc="-135">
                <a:solidFill>
                  <a:srgbClr val="C2132D"/>
                </a:solidFill>
              </a:rPr>
              <a:t>Today's</a:t>
            </a:r>
            <a:r>
              <a:rPr dirty="0" sz="3350" spc="-495">
                <a:solidFill>
                  <a:srgbClr val="C2132D"/>
                </a:solidFill>
              </a:rPr>
              <a:t> </a:t>
            </a:r>
            <a:r>
              <a:rPr dirty="0" sz="3350" spc="-20">
                <a:solidFill>
                  <a:srgbClr val="C2132D"/>
                </a:solidFill>
              </a:rPr>
              <a:t>Class</a:t>
            </a:r>
            <a:endParaRPr sz="3350"/>
          </a:p>
        </p:txBody>
      </p:sp>
      <p:sp>
        <p:nvSpPr>
          <p:cNvPr id="3" name="object 3"/>
          <p:cNvSpPr txBox="1"/>
          <p:nvPr/>
        </p:nvSpPr>
        <p:spPr>
          <a:xfrm>
            <a:off x="1148754" y="1425575"/>
            <a:ext cx="8797925" cy="192849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46050" indent="-133985">
              <a:lnSpc>
                <a:spcPct val="100000"/>
              </a:lnSpc>
              <a:spcBef>
                <a:spcPts val="100"/>
              </a:spcBef>
              <a:buClr>
                <a:srgbClr val="C2132D"/>
              </a:buClr>
              <a:buFont typeface="Trebuchet MS"/>
              <a:buChar char="•"/>
              <a:tabLst>
                <a:tab pos="146685" algn="l"/>
              </a:tabLst>
            </a:pPr>
            <a:r>
              <a:rPr dirty="0" sz="1800" spc="-25">
                <a:solidFill>
                  <a:srgbClr val="585D60"/>
                </a:solidFill>
                <a:latin typeface="Arial"/>
                <a:cs typeface="Arial"/>
              </a:rPr>
              <a:t>Define a </a:t>
            </a:r>
            <a:r>
              <a:rPr dirty="0" sz="1800" spc="-35" b="1">
                <a:solidFill>
                  <a:srgbClr val="C2132D"/>
                </a:solidFill>
                <a:latin typeface="Trebuchet MS"/>
                <a:cs typeface="Trebuchet MS"/>
              </a:rPr>
              <a:t>stationary </a:t>
            </a:r>
            <a:r>
              <a:rPr dirty="0" sz="1800" spc="-55" b="1">
                <a:solidFill>
                  <a:srgbClr val="C2132D"/>
                </a:solidFill>
                <a:latin typeface="Trebuchet MS"/>
                <a:cs typeface="Trebuchet MS"/>
              </a:rPr>
              <a:t>time</a:t>
            </a:r>
            <a:r>
              <a:rPr dirty="0" sz="1800" spc="-22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5" b="1">
                <a:solidFill>
                  <a:srgbClr val="C2132D"/>
                </a:solidFill>
                <a:latin typeface="Trebuchet MS"/>
                <a:cs typeface="Trebuchet MS"/>
              </a:rPr>
              <a:t>series</a:t>
            </a:r>
            <a:r>
              <a:rPr dirty="0" sz="1800" spc="-5">
                <a:solidFill>
                  <a:srgbClr val="585D60"/>
                </a:solidFill>
                <a:latin typeface="Arial"/>
                <a:cs typeface="Arial"/>
              </a:rPr>
              <a:t>.</a:t>
            </a:r>
            <a:endParaRPr sz="1800">
              <a:latin typeface="Arial"/>
              <a:cs typeface="Arial"/>
            </a:endParaRPr>
          </a:p>
          <a:p>
            <a:pPr marL="146050" indent="-133985">
              <a:lnSpc>
                <a:spcPct val="100000"/>
              </a:lnSpc>
              <a:spcBef>
                <a:spcPts val="1290"/>
              </a:spcBef>
              <a:buClr>
                <a:srgbClr val="C2132D"/>
              </a:buClr>
              <a:buFont typeface="Trebuchet MS"/>
              <a:buChar char="•"/>
              <a:tabLst>
                <a:tab pos="146685" algn="l"/>
              </a:tabLst>
            </a:pPr>
            <a:r>
              <a:rPr dirty="0" sz="1800" spc="-10">
                <a:solidFill>
                  <a:srgbClr val="585D60"/>
                </a:solidFill>
                <a:latin typeface="Arial"/>
                <a:cs typeface="Arial"/>
              </a:rPr>
              <a:t>Understand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20">
                <a:solidFill>
                  <a:srgbClr val="585D60"/>
                </a:solidFill>
                <a:latin typeface="Arial"/>
                <a:cs typeface="Arial"/>
              </a:rPr>
              <a:t>how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35">
                <a:solidFill>
                  <a:srgbClr val="585D60"/>
                </a:solidFill>
                <a:latin typeface="Arial"/>
                <a:cs typeface="Arial"/>
              </a:rPr>
              <a:t>plotting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techniques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585D60"/>
                </a:solidFill>
                <a:latin typeface="Arial"/>
                <a:cs typeface="Arial"/>
              </a:rPr>
              <a:t>can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5">
                <a:solidFill>
                  <a:srgbClr val="585D60"/>
                </a:solidFill>
                <a:latin typeface="Arial"/>
                <a:cs typeface="Arial"/>
              </a:rPr>
              <a:t>help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25">
                <a:solidFill>
                  <a:srgbClr val="585D60"/>
                </a:solidFill>
                <a:latin typeface="Arial"/>
                <a:cs typeface="Arial"/>
              </a:rPr>
              <a:t>identify</a:t>
            </a:r>
            <a:r>
              <a:rPr dirty="0" sz="1800" spc="-6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5">
                <a:solidFill>
                  <a:srgbClr val="585D60"/>
                </a:solidFill>
                <a:latin typeface="Arial"/>
                <a:cs typeface="Arial"/>
              </a:rPr>
              <a:t>non-stationarity.</a:t>
            </a:r>
            <a:endParaRPr sz="1800">
              <a:latin typeface="Arial"/>
              <a:cs typeface="Arial"/>
            </a:endParaRPr>
          </a:p>
          <a:p>
            <a:pPr marL="146050" indent="-133985">
              <a:lnSpc>
                <a:spcPct val="100000"/>
              </a:lnSpc>
              <a:spcBef>
                <a:spcPts val="1290"/>
              </a:spcBef>
              <a:buClr>
                <a:srgbClr val="C2132D"/>
              </a:buClr>
              <a:buFont typeface="Trebuchet MS"/>
              <a:buChar char="•"/>
              <a:tabLst>
                <a:tab pos="146685" algn="l"/>
              </a:tabLst>
            </a:pPr>
            <a:r>
              <a:rPr dirty="0" sz="1800" spc="-10">
                <a:solidFill>
                  <a:srgbClr val="585D60"/>
                </a:solidFill>
                <a:latin typeface="Arial"/>
                <a:cs typeface="Arial"/>
              </a:rPr>
              <a:t>Understand</a:t>
            </a:r>
            <a:r>
              <a:rPr dirty="0" sz="1800" spc="-4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20">
                <a:solidFill>
                  <a:srgbClr val="585D60"/>
                </a:solidFill>
                <a:latin typeface="Arial"/>
                <a:cs typeface="Arial"/>
              </a:rPr>
              <a:t>how</a:t>
            </a:r>
            <a:r>
              <a:rPr dirty="0" sz="1800" spc="-4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585D60"/>
                </a:solidFill>
                <a:latin typeface="Arial"/>
                <a:cs typeface="Arial"/>
              </a:rPr>
              <a:t>we</a:t>
            </a:r>
            <a:r>
              <a:rPr dirty="0" sz="1800" spc="-4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585D60"/>
                </a:solidFill>
                <a:latin typeface="Arial"/>
                <a:cs typeface="Arial"/>
              </a:rPr>
              <a:t>can</a:t>
            </a:r>
            <a:r>
              <a:rPr dirty="0" sz="1800" spc="-4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35" b="1">
                <a:solidFill>
                  <a:srgbClr val="C2132D"/>
                </a:solidFill>
                <a:latin typeface="Trebuchet MS"/>
                <a:cs typeface="Trebuchet MS"/>
              </a:rPr>
              <a:t>stabilize</a:t>
            </a:r>
            <a:r>
              <a:rPr dirty="0" sz="1800" spc="-8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b="1">
                <a:solidFill>
                  <a:srgbClr val="C2132D"/>
                </a:solidFill>
                <a:latin typeface="Trebuchet MS"/>
                <a:cs typeface="Trebuchet MS"/>
              </a:rPr>
              <a:t>a</a:t>
            </a:r>
            <a:r>
              <a:rPr dirty="0" sz="1800" spc="-8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30" b="1">
                <a:solidFill>
                  <a:srgbClr val="C2132D"/>
                </a:solidFill>
                <a:latin typeface="Trebuchet MS"/>
                <a:cs typeface="Trebuchet MS"/>
              </a:rPr>
              <a:t>non-stationary</a:t>
            </a:r>
            <a:r>
              <a:rPr dirty="0" sz="1800" spc="-8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55" b="1">
                <a:solidFill>
                  <a:srgbClr val="C2132D"/>
                </a:solidFill>
                <a:latin typeface="Trebuchet MS"/>
                <a:cs typeface="Trebuchet MS"/>
              </a:rPr>
              <a:t>time</a:t>
            </a:r>
            <a:r>
              <a:rPr dirty="0" sz="1800" spc="-8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b="1">
                <a:solidFill>
                  <a:srgbClr val="C2132D"/>
                </a:solidFill>
                <a:latin typeface="Trebuchet MS"/>
                <a:cs typeface="Trebuchet MS"/>
              </a:rPr>
              <a:t>series</a:t>
            </a:r>
            <a:r>
              <a:rPr dirty="0" sz="1800" spc="-8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70" b="1">
                <a:solidFill>
                  <a:srgbClr val="C2132D"/>
                </a:solidFill>
                <a:latin typeface="Trebuchet MS"/>
                <a:cs typeface="Trebuchet MS"/>
              </a:rPr>
              <a:t>to</a:t>
            </a:r>
            <a:r>
              <a:rPr dirty="0" sz="1800" spc="-8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45" b="1">
                <a:solidFill>
                  <a:srgbClr val="C2132D"/>
                </a:solidFill>
                <a:latin typeface="Trebuchet MS"/>
                <a:cs typeface="Trebuchet MS"/>
              </a:rPr>
              <a:t>achieve</a:t>
            </a:r>
            <a:r>
              <a:rPr dirty="0" sz="1800" spc="-8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45" b="1">
                <a:solidFill>
                  <a:srgbClr val="C2132D"/>
                </a:solidFill>
                <a:latin typeface="Trebuchet MS"/>
                <a:cs typeface="Trebuchet MS"/>
              </a:rPr>
              <a:t>stationarity</a:t>
            </a:r>
            <a:endParaRPr sz="1800">
              <a:latin typeface="Trebuchet MS"/>
              <a:cs typeface="Trebuchet MS"/>
            </a:endParaRPr>
          </a:p>
          <a:p>
            <a:pPr marL="146050">
              <a:lnSpc>
                <a:spcPct val="100000"/>
              </a:lnSpc>
              <a:spcBef>
                <a:spcPts val="315"/>
              </a:spcBef>
            </a:pPr>
            <a:r>
              <a:rPr dirty="0" sz="1800" spc="20">
                <a:solidFill>
                  <a:srgbClr val="585D60"/>
                </a:solidFill>
                <a:latin typeface="Arial"/>
                <a:cs typeface="Arial"/>
              </a:rPr>
              <a:t>(differencing</a:t>
            </a:r>
            <a:r>
              <a:rPr dirty="0" sz="1800" spc="-6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45">
                <a:solidFill>
                  <a:srgbClr val="585D60"/>
                </a:solidFill>
                <a:latin typeface="Arial"/>
                <a:cs typeface="Arial"/>
              </a:rPr>
              <a:t>to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5">
                <a:solidFill>
                  <a:srgbClr val="585D60"/>
                </a:solidFill>
                <a:latin typeface="Arial"/>
                <a:cs typeface="Arial"/>
              </a:rPr>
              <a:t>stabilize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the</a:t>
            </a:r>
            <a:r>
              <a:rPr dirty="0" sz="1800" spc="-6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30">
                <a:solidFill>
                  <a:srgbClr val="585D60"/>
                </a:solidFill>
                <a:latin typeface="Arial"/>
                <a:cs typeface="Arial"/>
              </a:rPr>
              <a:t>mean,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5">
                <a:solidFill>
                  <a:srgbClr val="585D60"/>
                </a:solidFill>
                <a:latin typeface="Arial"/>
                <a:cs typeface="Arial"/>
              </a:rPr>
              <a:t>and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20">
                <a:solidFill>
                  <a:srgbClr val="585D60"/>
                </a:solidFill>
                <a:latin typeface="Arial"/>
                <a:cs typeface="Arial"/>
              </a:rPr>
              <a:t>log</a:t>
            </a:r>
            <a:r>
              <a:rPr dirty="0" sz="1800" spc="-6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30">
                <a:solidFill>
                  <a:srgbClr val="585D60"/>
                </a:solidFill>
                <a:latin typeface="Arial"/>
                <a:cs typeface="Arial"/>
              </a:rPr>
              <a:t>transformation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45">
                <a:solidFill>
                  <a:srgbClr val="585D60"/>
                </a:solidFill>
                <a:latin typeface="Arial"/>
                <a:cs typeface="Arial"/>
              </a:rPr>
              <a:t>to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5">
                <a:solidFill>
                  <a:srgbClr val="585D60"/>
                </a:solidFill>
                <a:latin typeface="Arial"/>
                <a:cs typeface="Arial"/>
              </a:rPr>
              <a:t>stabilize</a:t>
            </a:r>
            <a:r>
              <a:rPr dirty="0" sz="1800" spc="-6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the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5">
                <a:solidFill>
                  <a:srgbClr val="585D60"/>
                </a:solidFill>
                <a:latin typeface="Arial"/>
                <a:cs typeface="Arial"/>
              </a:rPr>
              <a:t>variance).</a:t>
            </a:r>
            <a:endParaRPr sz="1800">
              <a:latin typeface="Arial"/>
              <a:cs typeface="Arial"/>
            </a:endParaRPr>
          </a:p>
          <a:p>
            <a:pPr marL="146050" indent="-133985">
              <a:lnSpc>
                <a:spcPct val="100000"/>
              </a:lnSpc>
              <a:spcBef>
                <a:spcPts val="1290"/>
              </a:spcBef>
              <a:buClr>
                <a:srgbClr val="C2132D"/>
              </a:buClr>
              <a:buFont typeface="Trebuchet MS"/>
              <a:buChar char="•"/>
              <a:tabLst>
                <a:tab pos="146685" algn="l"/>
              </a:tabLst>
            </a:pPr>
            <a:r>
              <a:rPr dirty="0" sz="1800" spc="-10">
                <a:solidFill>
                  <a:srgbClr val="585D60"/>
                </a:solidFill>
                <a:latin typeface="Arial"/>
                <a:cs typeface="Arial"/>
              </a:rPr>
              <a:t>Understand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20">
                <a:solidFill>
                  <a:srgbClr val="585D60"/>
                </a:solidFill>
                <a:latin typeface="Arial"/>
                <a:cs typeface="Arial"/>
              </a:rPr>
              <a:t>how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45">
                <a:solidFill>
                  <a:srgbClr val="585D60"/>
                </a:solidFill>
                <a:latin typeface="Arial"/>
                <a:cs typeface="Arial"/>
              </a:rPr>
              <a:t>to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10">
                <a:solidFill>
                  <a:srgbClr val="585D60"/>
                </a:solidFill>
                <a:latin typeface="Arial"/>
                <a:cs typeface="Arial"/>
              </a:rPr>
              <a:t>use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70" b="1">
                <a:solidFill>
                  <a:srgbClr val="C2132D"/>
                </a:solidFill>
                <a:latin typeface="Trebuchet MS"/>
                <a:cs typeface="Trebuchet MS"/>
              </a:rPr>
              <a:t>unit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65" b="1">
                <a:solidFill>
                  <a:srgbClr val="C2132D"/>
                </a:solidFill>
                <a:latin typeface="Trebuchet MS"/>
                <a:cs typeface="Trebuchet MS"/>
              </a:rPr>
              <a:t>root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5" b="1">
                <a:solidFill>
                  <a:srgbClr val="C2132D"/>
                </a:solidFill>
                <a:latin typeface="Trebuchet MS"/>
                <a:cs typeface="Trebuchet MS"/>
              </a:rPr>
              <a:t>tests</a:t>
            </a:r>
            <a:r>
              <a:rPr dirty="0" sz="1800" spc="-10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45">
                <a:solidFill>
                  <a:srgbClr val="585D60"/>
                </a:solidFill>
                <a:latin typeface="Arial"/>
                <a:cs typeface="Arial"/>
              </a:rPr>
              <a:t>to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40">
                <a:solidFill>
                  <a:srgbClr val="585D60"/>
                </a:solidFill>
                <a:latin typeface="Arial"/>
                <a:cs typeface="Arial"/>
              </a:rPr>
              <a:t>test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50">
                <a:solidFill>
                  <a:srgbClr val="585D60"/>
                </a:solidFill>
                <a:latin typeface="Arial"/>
                <a:cs typeface="Arial"/>
              </a:rPr>
              <a:t>for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stationarity.</a:t>
            </a:r>
            <a:endParaRPr sz="180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0964712" y="6207124"/>
            <a:ext cx="421005" cy="208279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200" spc="5">
                <a:solidFill>
                  <a:srgbClr val="585D60"/>
                </a:solidFill>
                <a:latin typeface="Arial"/>
                <a:cs typeface="Arial"/>
              </a:rPr>
              <a:t>2 </a:t>
            </a:r>
            <a:r>
              <a:rPr dirty="0" sz="1200" spc="160">
                <a:solidFill>
                  <a:srgbClr val="585D60"/>
                </a:solidFill>
                <a:latin typeface="Arial"/>
                <a:cs typeface="Arial"/>
              </a:rPr>
              <a:t>/</a:t>
            </a:r>
            <a:r>
              <a:rPr dirty="0" sz="1200" spc="-16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200" spc="5">
                <a:solidFill>
                  <a:srgbClr val="585D60"/>
                </a:solidFill>
                <a:latin typeface="Arial"/>
                <a:cs typeface="Arial"/>
              </a:rPr>
              <a:t>33</a:t>
            </a:r>
            <a:endParaRPr sz="12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386328" y="2758440"/>
            <a:ext cx="4749165" cy="1042669"/>
          </a:xfrm>
          <a:prstGeom prst="rect"/>
          <a:solidFill>
            <a:srgbClr val="333333"/>
          </a:solidFill>
        </p:spPr>
        <p:txBody>
          <a:bodyPr wrap="square" lIns="0" tIns="140335" rIns="0" bIns="0" rtlCol="0" vert="horz">
            <a:spAutoFit/>
          </a:bodyPr>
          <a:lstStyle/>
          <a:p>
            <a:pPr marL="249554">
              <a:lnSpc>
                <a:spcPct val="100000"/>
              </a:lnSpc>
              <a:spcBef>
                <a:spcPts val="1105"/>
              </a:spcBef>
            </a:pPr>
            <a:r>
              <a:rPr dirty="0" spc="-1340">
                <a:solidFill>
                  <a:srgbClr val="000000"/>
                </a:solidFill>
              </a:rPr>
              <a:t>W</a:t>
            </a:r>
            <a:r>
              <a:rPr dirty="0" spc="-1340"/>
              <a:t>W</a:t>
            </a:r>
            <a:r>
              <a:rPr dirty="0" spc="-1340">
                <a:solidFill>
                  <a:srgbClr val="000000"/>
                </a:solidFill>
              </a:rPr>
              <a:t>h</a:t>
            </a:r>
            <a:r>
              <a:rPr dirty="0" spc="-1340"/>
              <a:t>h</a:t>
            </a:r>
            <a:r>
              <a:rPr dirty="0" spc="-1340">
                <a:solidFill>
                  <a:srgbClr val="000000"/>
                </a:solidFill>
              </a:rPr>
              <a:t>a</a:t>
            </a:r>
            <a:r>
              <a:rPr dirty="0" spc="-1340"/>
              <a:t>a</a:t>
            </a:r>
            <a:r>
              <a:rPr dirty="0" spc="-1340">
                <a:solidFill>
                  <a:srgbClr val="000000"/>
                </a:solidFill>
              </a:rPr>
              <a:t>t</a:t>
            </a:r>
            <a:r>
              <a:rPr dirty="0" spc="-1340"/>
              <a:t>t</a:t>
            </a:r>
            <a:r>
              <a:rPr dirty="0" spc="-295"/>
              <a:t> </a:t>
            </a:r>
            <a:r>
              <a:rPr dirty="0" spc="-710">
                <a:solidFill>
                  <a:srgbClr val="000000"/>
                </a:solidFill>
              </a:rPr>
              <a:t>i</a:t>
            </a:r>
            <a:r>
              <a:rPr dirty="0" spc="-710"/>
              <a:t>i</a:t>
            </a:r>
            <a:r>
              <a:rPr dirty="0" spc="-710">
                <a:solidFill>
                  <a:srgbClr val="000000"/>
                </a:solidFill>
              </a:rPr>
              <a:t>s</a:t>
            </a:r>
            <a:r>
              <a:rPr dirty="0" spc="-710"/>
              <a:t>s</a:t>
            </a:r>
            <a:r>
              <a:rPr dirty="0" spc="-290"/>
              <a:t> </a:t>
            </a:r>
            <a:r>
              <a:rPr dirty="0" spc="-990">
                <a:solidFill>
                  <a:srgbClr val="000000"/>
                </a:solidFill>
              </a:rPr>
              <a:t>S</a:t>
            </a:r>
            <a:r>
              <a:rPr dirty="0" spc="-990"/>
              <a:t>S</a:t>
            </a:r>
            <a:r>
              <a:rPr dirty="0" spc="-990">
                <a:solidFill>
                  <a:srgbClr val="000000"/>
                </a:solidFill>
              </a:rPr>
              <a:t>t</a:t>
            </a:r>
            <a:r>
              <a:rPr dirty="0" spc="-990"/>
              <a:t>t</a:t>
            </a:r>
            <a:r>
              <a:rPr dirty="0" spc="-990">
                <a:solidFill>
                  <a:srgbClr val="000000"/>
                </a:solidFill>
              </a:rPr>
              <a:t>a</a:t>
            </a:r>
            <a:r>
              <a:rPr dirty="0" spc="-990"/>
              <a:t>a</a:t>
            </a:r>
            <a:r>
              <a:rPr dirty="0" spc="-990">
                <a:solidFill>
                  <a:srgbClr val="000000"/>
                </a:solidFill>
              </a:rPr>
              <a:t>t</a:t>
            </a:r>
            <a:r>
              <a:rPr dirty="0" spc="-990"/>
              <a:t>t</a:t>
            </a:r>
            <a:r>
              <a:rPr dirty="0" spc="-990">
                <a:solidFill>
                  <a:srgbClr val="000000"/>
                </a:solidFill>
              </a:rPr>
              <a:t>i</a:t>
            </a:r>
            <a:r>
              <a:rPr dirty="0" spc="-990"/>
              <a:t>i</a:t>
            </a:r>
            <a:r>
              <a:rPr dirty="0" spc="-990">
                <a:solidFill>
                  <a:srgbClr val="000000"/>
                </a:solidFill>
              </a:rPr>
              <a:t>o</a:t>
            </a:r>
            <a:r>
              <a:rPr dirty="0" spc="-990"/>
              <a:t>o</a:t>
            </a:r>
            <a:r>
              <a:rPr dirty="0" spc="-990">
                <a:solidFill>
                  <a:srgbClr val="000000"/>
                </a:solidFill>
              </a:rPr>
              <a:t>n</a:t>
            </a:r>
            <a:r>
              <a:rPr dirty="0" spc="-990"/>
              <a:t>n</a:t>
            </a:r>
            <a:r>
              <a:rPr dirty="0" spc="-990">
                <a:solidFill>
                  <a:srgbClr val="000000"/>
                </a:solidFill>
              </a:rPr>
              <a:t>a</a:t>
            </a:r>
            <a:r>
              <a:rPr dirty="0" spc="-990"/>
              <a:t>a</a:t>
            </a:r>
            <a:r>
              <a:rPr dirty="0" spc="-990">
                <a:solidFill>
                  <a:srgbClr val="000000"/>
                </a:solidFill>
              </a:rPr>
              <a:t>r</a:t>
            </a:r>
            <a:r>
              <a:rPr dirty="0" spc="-990"/>
              <a:t>r</a:t>
            </a:r>
            <a:r>
              <a:rPr dirty="0" spc="-990">
                <a:solidFill>
                  <a:srgbClr val="000000"/>
                </a:solidFill>
              </a:rPr>
              <a:t>i</a:t>
            </a:r>
            <a:r>
              <a:rPr dirty="0" spc="-990"/>
              <a:t>i</a:t>
            </a:r>
            <a:r>
              <a:rPr dirty="0" spc="-990">
                <a:solidFill>
                  <a:srgbClr val="000000"/>
                </a:solidFill>
              </a:rPr>
              <a:t>t</a:t>
            </a:r>
            <a:r>
              <a:rPr dirty="0" spc="-990"/>
              <a:t>t</a:t>
            </a:r>
            <a:r>
              <a:rPr dirty="0" spc="-990">
                <a:solidFill>
                  <a:srgbClr val="000000"/>
                </a:solidFill>
              </a:rPr>
              <a:t>y</a:t>
            </a:r>
            <a:r>
              <a:rPr dirty="0" spc="-990"/>
              <a:t>y</a:t>
            </a:r>
            <a:r>
              <a:rPr dirty="0" spc="-990">
                <a:solidFill>
                  <a:srgbClr val="000000"/>
                </a:solidFill>
              </a:rPr>
              <a:t>?</a:t>
            </a:r>
            <a:r>
              <a:rPr dirty="0" spc="-990"/>
              <a:t>?</a:t>
            </a:r>
          </a:p>
        </p:txBody>
      </p:sp>
      <p:sp>
        <p:nvSpPr>
          <p:cNvPr id="3" name="object 3"/>
          <p:cNvSpPr/>
          <p:nvPr/>
        </p:nvSpPr>
        <p:spPr>
          <a:xfrm>
            <a:off x="10716767" y="5995415"/>
            <a:ext cx="808990" cy="491490"/>
          </a:xfrm>
          <a:custGeom>
            <a:avLst/>
            <a:gdLst/>
            <a:ahLst/>
            <a:cxnLst/>
            <a:rect l="l" t="t" r="r" b="b"/>
            <a:pathLst>
              <a:path w="808990" h="491489">
                <a:moveTo>
                  <a:pt x="0" y="0"/>
                </a:moveTo>
                <a:lnTo>
                  <a:pt x="808481" y="0"/>
                </a:lnTo>
                <a:lnTo>
                  <a:pt x="808481" y="491109"/>
                </a:lnTo>
                <a:lnTo>
                  <a:pt x="0" y="491109"/>
                </a:lnTo>
                <a:lnTo>
                  <a:pt x="0" y="0"/>
                </a:lnTo>
                <a:close/>
              </a:path>
            </a:pathLst>
          </a:custGeom>
          <a:solidFill>
            <a:srgbClr val="333333">
              <a:alpha val="50000"/>
            </a:srgbClr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/>
          <p:nvPr/>
        </p:nvSpPr>
        <p:spPr>
          <a:xfrm>
            <a:off x="10964712" y="6207124"/>
            <a:ext cx="421005" cy="208279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200" spc="-295">
                <a:latin typeface="Trebuchet MS"/>
                <a:cs typeface="Trebuchet MS"/>
              </a:rPr>
              <a:t>3</a:t>
            </a:r>
            <a:r>
              <a:rPr dirty="0" sz="1200" spc="-295">
                <a:solidFill>
                  <a:srgbClr val="FFFFFF"/>
                </a:solidFill>
                <a:latin typeface="Trebuchet MS"/>
                <a:cs typeface="Trebuchet MS"/>
              </a:rPr>
              <a:t>3</a:t>
            </a:r>
            <a:r>
              <a:rPr dirty="0" sz="1200" spc="-235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dirty="0" sz="1200" spc="-385">
                <a:latin typeface="Trebuchet MS"/>
                <a:cs typeface="Trebuchet MS"/>
              </a:rPr>
              <a:t>/</a:t>
            </a:r>
            <a:r>
              <a:rPr dirty="0" sz="1200" spc="-385">
                <a:solidFill>
                  <a:srgbClr val="FFFFFF"/>
                </a:solidFill>
                <a:latin typeface="Trebuchet MS"/>
                <a:cs typeface="Trebuchet MS"/>
              </a:rPr>
              <a:t>/</a:t>
            </a:r>
            <a:r>
              <a:rPr dirty="0" sz="1200" spc="-95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dirty="0" sz="1200" spc="-295">
                <a:latin typeface="Trebuchet MS"/>
                <a:cs typeface="Trebuchet MS"/>
              </a:rPr>
              <a:t>3</a:t>
            </a:r>
            <a:r>
              <a:rPr dirty="0" sz="1200" spc="-295">
                <a:solidFill>
                  <a:srgbClr val="FFFFFF"/>
                </a:solidFill>
                <a:latin typeface="Trebuchet MS"/>
                <a:cs typeface="Trebuchet MS"/>
              </a:rPr>
              <a:t>3</a:t>
            </a:r>
            <a:r>
              <a:rPr dirty="0" sz="1200" spc="-295">
                <a:latin typeface="Trebuchet MS"/>
                <a:cs typeface="Trebuchet MS"/>
              </a:rPr>
              <a:t>3</a:t>
            </a:r>
            <a:r>
              <a:rPr dirty="0" sz="1200" spc="-295">
                <a:solidFill>
                  <a:srgbClr val="FFFFFF"/>
                </a:solidFill>
                <a:latin typeface="Trebuchet MS"/>
                <a:cs typeface="Trebuchet MS"/>
              </a:rPr>
              <a:t>3</a:t>
            </a:r>
            <a:endParaRPr sz="1200">
              <a:latin typeface="Trebuchet MS"/>
              <a:cs typeface="Trebuchet M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914400" y="1428750"/>
            <a:ext cx="9696450" cy="1257300"/>
          </a:xfrm>
          <a:custGeom>
            <a:avLst/>
            <a:gdLst/>
            <a:ahLst/>
            <a:cxnLst/>
            <a:rect l="l" t="t" r="r" b="b"/>
            <a:pathLst>
              <a:path w="9696450" h="1257300">
                <a:moveTo>
                  <a:pt x="9553574" y="1257299"/>
                </a:moveTo>
                <a:lnTo>
                  <a:pt x="142874" y="1257299"/>
                </a:lnTo>
                <a:lnTo>
                  <a:pt x="135855" y="1257128"/>
                </a:lnTo>
                <a:lnTo>
                  <a:pt x="94749" y="1248951"/>
                </a:lnTo>
                <a:lnTo>
                  <a:pt x="57756" y="1229178"/>
                </a:lnTo>
                <a:lnTo>
                  <a:pt x="28120" y="1199542"/>
                </a:lnTo>
                <a:lnTo>
                  <a:pt x="8348" y="1162549"/>
                </a:lnTo>
                <a:lnTo>
                  <a:pt x="171" y="1121443"/>
                </a:lnTo>
                <a:lnTo>
                  <a:pt x="0" y="1114424"/>
                </a:lnTo>
                <a:lnTo>
                  <a:pt x="0" y="142874"/>
                </a:lnTo>
                <a:lnTo>
                  <a:pt x="6150" y="101400"/>
                </a:lnTo>
                <a:lnTo>
                  <a:pt x="24078" y="63497"/>
                </a:lnTo>
                <a:lnTo>
                  <a:pt x="52234" y="32429"/>
                </a:lnTo>
                <a:lnTo>
                  <a:pt x="88198" y="10875"/>
                </a:lnTo>
                <a:lnTo>
                  <a:pt x="128870" y="686"/>
                </a:lnTo>
                <a:lnTo>
                  <a:pt x="142874" y="0"/>
                </a:lnTo>
                <a:lnTo>
                  <a:pt x="9553574" y="0"/>
                </a:lnTo>
                <a:lnTo>
                  <a:pt x="9595047" y="6150"/>
                </a:lnTo>
                <a:lnTo>
                  <a:pt x="9632951" y="24078"/>
                </a:lnTo>
                <a:lnTo>
                  <a:pt x="9664019" y="52234"/>
                </a:lnTo>
                <a:lnTo>
                  <a:pt x="9685573" y="88198"/>
                </a:lnTo>
                <a:lnTo>
                  <a:pt x="9695763" y="128870"/>
                </a:lnTo>
                <a:lnTo>
                  <a:pt x="9696449" y="142874"/>
                </a:lnTo>
                <a:lnTo>
                  <a:pt x="9696449" y="1114424"/>
                </a:lnTo>
                <a:lnTo>
                  <a:pt x="9690298" y="1155899"/>
                </a:lnTo>
                <a:lnTo>
                  <a:pt x="9672370" y="1193802"/>
                </a:lnTo>
                <a:lnTo>
                  <a:pt x="9644214" y="1224870"/>
                </a:lnTo>
                <a:lnTo>
                  <a:pt x="9608250" y="1246423"/>
                </a:lnTo>
                <a:lnTo>
                  <a:pt x="9567577" y="1256613"/>
                </a:lnTo>
                <a:lnTo>
                  <a:pt x="9553574" y="1257299"/>
                </a:lnTo>
                <a:close/>
              </a:path>
            </a:pathLst>
          </a:custGeom>
          <a:solidFill>
            <a:srgbClr val="E2E2E2"/>
          </a:solidFill>
        </p:spPr>
        <p:txBody>
          <a:bodyPr wrap="square" lIns="0" tIns="0" rIns="0" bIns="0" rtlCol="0"/>
          <a:lstStyle/>
          <a:p/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01700" y="530225"/>
            <a:ext cx="1967864" cy="539750"/>
          </a:xfrm>
          <a:prstGeom prst="rect"/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3350" spc="-195">
                <a:solidFill>
                  <a:srgbClr val="C2132D"/>
                </a:solidFill>
              </a:rPr>
              <a:t>Stationarity</a:t>
            </a:r>
            <a:endParaRPr sz="3350"/>
          </a:p>
        </p:txBody>
      </p:sp>
      <p:sp>
        <p:nvSpPr>
          <p:cNvPr id="5" name="object 5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1270" rIns="0" bIns="0" rtlCol="0" vert="horz">
            <a:spAutoFit/>
          </a:bodyPr>
          <a:lstStyle/>
          <a:p>
            <a:pPr marL="123825">
              <a:lnSpc>
                <a:spcPct val="100000"/>
              </a:lnSpc>
              <a:spcBef>
                <a:spcPts val="10"/>
              </a:spcBef>
            </a:pPr>
            <a:fld id="{81D60167-4931-47E6-BA6A-407CBD079E47}" type="slidenum">
              <a:rPr dirty="0" spc="5"/>
              <a:t>4</a:t>
            </a:fld>
            <a:r>
              <a:rPr dirty="0" spc="5"/>
              <a:t> </a:t>
            </a:r>
            <a:r>
              <a:rPr dirty="0" spc="160"/>
              <a:t>/</a:t>
            </a:r>
            <a:r>
              <a:rPr dirty="0" spc="-165"/>
              <a:t> </a:t>
            </a:r>
            <a:r>
              <a:rPr dirty="0" spc="5"/>
              <a:t>33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1054100" y="1669338"/>
            <a:ext cx="9078595" cy="2847340"/>
          </a:xfrm>
          <a:prstGeom prst="rect">
            <a:avLst/>
          </a:prstGeom>
        </p:spPr>
        <p:txBody>
          <a:bodyPr wrap="square" lIns="0" tIns="60960" rIns="0" bIns="0" rtlCol="0" vert="horz">
            <a:spAutoFit/>
          </a:bodyPr>
          <a:lstStyle/>
          <a:p>
            <a:pPr marL="50800">
              <a:lnSpc>
                <a:spcPct val="100000"/>
              </a:lnSpc>
              <a:spcBef>
                <a:spcPts val="480"/>
              </a:spcBef>
            </a:pPr>
            <a:r>
              <a:rPr dirty="0" sz="1800" spc="-55" b="1">
                <a:solidFill>
                  <a:srgbClr val="C2132D"/>
                </a:solidFill>
                <a:latin typeface="Trebuchet MS"/>
                <a:cs typeface="Trebuchet MS"/>
              </a:rPr>
              <a:t>Definition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: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55">
                <a:solidFill>
                  <a:srgbClr val="585D60"/>
                </a:solidFill>
                <a:latin typeface="Arial"/>
                <a:cs typeface="Arial"/>
              </a:rPr>
              <a:t>If</a:t>
            </a:r>
            <a:r>
              <a:rPr dirty="0" sz="1800" spc="-4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900" spc="215">
                <a:solidFill>
                  <a:srgbClr val="585D60"/>
                </a:solidFill>
                <a:latin typeface="Lucida Sans Unicode"/>
                <a:cs typeface="Lucida Sans Unicode"/>
              </a:rPr>
              <a:t>{</a:t>
            </a:r>
            <a:r>
              <a:rPr dirty="0" sz="1600" spc="215" i="1">
                <a:solidFill>
                  <a:srgbClr val="585D60"/>
                </a:solidFill>
                <a:latin typeface="Arial"/>
                <a:cs typeface="Arial"/>
              </a:rPr>
              <a:t>y</a:t>
            </a:r>
            <a:r>
              <a:rPr dirty="0" baseline="-14492" sz="1725" spc="322" i="1">
                <a:solidFill>
                  <a:srgbClr val="585D60"/>
                </a:solidFill>
                <a:latin typeface="Arial"/>
                <a:cs typeface="Arial"/>
              </a:rPr>
              <a:t>t</a:t>
            </a:r>
            <a:r>
              <a:rPr dirty="0" sz="1900" spc="215">
                <a:solidFill>
                  <a:srgbClr val="585D60"/>
                </a:solidFill>
                <a:latin typeface="Lucida Sans Unicode"/>
                <a:cs typeface="Lucida Sans Unicode"/>
              </a:rPr>
              <a:t>}</a:t>
            </a:r>
            <a:r>
              <a:rPr dirty="0" sz="1900" spc="-150">
                <a:solidFill>
                  <a:srgbClr val="585D60"/>
                </a:solidFill>
                <a:latin typeface="Lucida Sans Unicode"/>
                <a:cs typeface="Lucida Sans Unicode"/>
              </a:rPr>
              <a:t> </a:t>
            </a:r>
            <a:r>
              <a:rPr dirty="0" sz="1800" spc="30">
                <a:solidFill>
                  <a:srgbClr val="585D60"/>
                </a:solidFill>
                <a:latin typeface="Arial"/>
                <a:cs typeface="Arial"/>
              </a:rPr>
              <a:t>is</a:t>
            </a:r>
            <a:r>
              <a:rPr dirty="0" sz="1800" spc="-4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25">
                <a:solidFill>
                  <a:srgbClr val="585D60"/>
                </a:solidFill>
                <a:latin typeface="Arial"/>
                <a:cs typeface="Arial"/>
              </a:rPr>
              <a:t>a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35" b="1">
                <a:solidFill>
                  <a:srgbClr val="C2132D"/>
                </a:solidFill>
                <a:latin typeface="Trebuchet MS"/>
                <a:cs typeface="Trebuchet MS"/>
              </a:rPr>
              <a:t>stationary</a:t>
            </a:r>
            <a:r>
              <a:rPr dirty="0" sz="1800" spc="-8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55" b="1">
                <a:solidFill>
                  <a:srgbClr val="C2132D"/>
                </a:solidFill>
                <a:latin typeface="Trebuchet MS"/>
                <a:cs typeface="Trebuchet MS"/>
              </a:rPr>
              <a:t>time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25" b="1">
                <a:solidFill>
                  <a:srgbClr val="C2132D"/>
                </a:solidFill>
                <a:latin typeface="Trebuchet MS"/>
                <a:cs typeface="Trebuchet MS"/>
              </a:rPr>
              <a:t>series</a:t>
            </a:r>
            <a:r>
              <a:rPr dirty="0" sz="1800" spc="-25">
                <a:solidFill>
                  <a:srgbClr val="585D60"/>
                </a:solidFill>
                <a:latin typeface="Arial"/>
                <a:cs typeface="Arial"/>
              </a:rPr>
              <a:t>,</a:t>
            </a:r>
            <a:r>
              <a:rPr dirty="0" sz="1800" spc="-4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5">
                <a:solidFill>
                  <a:srgbClr val="585D60"/>
                </a:solidFill>
                <a:latin typeface="Arial"/>
                <a:cs typeface="Arial"/>
              </a:rPr>
              <a:t>then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50">
                <a:solidFill>
                  <a:srgbClr val="585D60"/>
                </a:solidFill>
                <a:latin typeface="Arial"/>
                <a:cs typeface="Arial"/>
              </a:rPr>
              <a:t>for</a:t>
            </a:r>
            <a:r>
              <a:rPr dirty="0" sz="1800" spc="-4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5">
                <a:solidFill>
                  <a:srgbClr val="585D60"/>
                </a:solidFill>
                <a:latin typeface="Arial"/>
                <a:cs typeface="Arial"/>
              </a:rPr>
              <a:t>all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600" spc="-55" i="1">
                <a:solidFill>
                  <a:srgbClr val="585D60"/>
                </a:solidFill>
                <a:latin typeface="Arial"/>
                <a:cs typeface="Arial"/>
              </a:rPr>
              <a:t>s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,</a:t>
            </a:r>
            <a:r>
              <a:rPr dirty="0" sz="1800" spc="-4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the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30">
                <a:solidFill>
                  <a:srgbClr val="585D60"/>
                </a:solidFill>
                <a:latin typeface="Arial"/>
                <a:cs typeface="Arial"/>
              </a:rPr>
              <a:t>distribution</a:t>
            </a:r>
            <a:r>
              <a:rPr dirty="0" sz="1800" spc="-4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75">
                <a:solidFill>
                  <a:srgbClr val="585D60"/>
                </a:solidFill>
                <a:latin typeface="Arial"/>
                <a:cs typeface="Arial"/>
              </a:rPr>
              <a:t>of</a:t>
            </a:r>
            <a:r>
              <a:rPr dirty="0" sz="1800" spc="-4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900" spc="70">
                <a:solidFill>
                  <a:srgbClr val="585D60"/>
                </a:solidFill>
                <a:latin typeface="Lucida Sans Unicode"/>
                <a:cs typeface="Lucida Sans Unicode"/>
              </a:rPr>
              <a:t>(</a:t>
            </a:r>
            <a:r>
              <a:rPr dirty="0" sz="1600" spc="70" i="1">
                <a:solidFill>
                  <a:srgbClr val="585D60"/>
                </a:solidFill>
                <a:latin typeface="Arial"/>
                <a:cs typeface="Arial"/>
              </a:rPr>
              <a:t>y</a:t>
            </a:r>
            <a:r>
              <a:rPr dirty="0" baseline="-14492" sz="1725" spc="104" i="1">
                <a:solidFill>
                  <a:srgbClr val="585D60"/>
                </a:solidFill>
                <a:latin typeface="Arial"/>
                <a:cs typeface="Arial"/>
              </a:rPr>
              <a:t>t</a:t>
            </a:r>
            <a:r>
              <a:rPr dirty="0" sz="1900" spc="70">
                <a:solidFill>
                  <a:srgbClr val="585D60"/>
                </a:solidFill>
                <a:latin typeface="Lucida Sans Unicode"/>
                <a:cs typeface="Lucida Sans Unicode"/>
              </a:rPr>
              <a:t>,</a:t>
            </a:r>
            <a:r>
              <a:rPr dirty="0" sz="1900" spc="-295">
                <a:solidFill>
                  <a:srgbClr val="585D60"/>
                </a:solidFill>
                <a:latin typeface="Lucida Sans Unicode"/>
                <a:cs typeface="Lucida Sans Unicode"/>
              </a:rPr>
              <a:t> </a:t>
            </a:r>
            <a:r>
              <a:rPr dirty="0" sz="1900" spc="204">
                <a:solidFill>
                  <a:srgbClr val="585D60"/>
                </a:solidFill>
                <a:latin typeface="Lucida Sans Unicode"/>
                <a:cs typeface="Lucida Sans Unicode"/>
              </a:rPr>
              <a:t>…</a:t>
            </a:r>
            <a:r>
              <a:rPr dirty="0" sz="1900" spc="-300">
                <a:solidFill>
                  <a:srgbClr val="585D60"/>
                </a:solidFill>
                <a:latin typeface="Lucida Sans Unicode"/>
                <a:cs typeface="Lucida Sans Unicode"/>
              </a:rPr>
              <a:t> </a:t>
            </a:r>
            <a:r>
              <a:rPr dirty="0" sz="1900" spc="-105">
                <a:solidFill>
                  <a:srgbClr val="585D60"/>
                </a:solidFill>
                <a:latin typeface="Lucida Sans Unicode"/>
                <a:cs typeface="Lucida Sans Unicode"/>
              </a:rPr>
              <a:t>,</a:t>
            </a:r>
            <a:r>
              <a:rPr dirty="0" sz="1900" spc="-295">
                <a:solidFill>
                  <a:srgbClr val="585D60"/>
                </a:solidFill>
                <a:latin typeface="Lucida Sans Unicode"/>
                <a:cs typeface="Lucida Sans Unicode"/>
              </a:rPr>
              <a:t> </a:t>
            </a:r>
            <a:r>
              <a:rPr dirty="0" sz="1600" spc="70" i="1">
                <a:solidFill>
                  <a:srgbClr val="585D60"/>
                </a:solidFill>
                <a:latin typeface="Arial"/>
                <a:cs typeface="Arial"/>
              </a:rPr>
              <a:t>y</a:t>
            </a:r>
            <a:r>
              <a:rPr dirty="0" baseline="-14492" sz="1725" spc="104" i="1">
                <a:solidFill>
                  <a:srgbClr val="585D60"/>
                </a:solidFill>
                <a:latin typeface="Arial"/>
                <a:cs typeface="Arial"/>
              </a:rPr>
              <a:t>t</a:t>
            </a:r>
            <a:r>
              <a:rPr dirty="0" baseline="-12820" sz="1950" spc="104">
                <a:solidFill>
                  <a:srgbClr val="585D60"/>
                </a:solidFill>
                <a:latin typeface="Lucida Sans Unicode"/>
                <a:cs typeface="Lucida Sans Unicode"/>
              </a:rPr>
              <a:t>+</a:t>
            </a:r>
            <a:r>
              <a:rPr dirty="0" baseline="-14492" sz="1725" spc="104" i="1">
                <a:solidFill>
                  <a:srgbClr val="585D60"/>
                </a:solidFill>
                <a:latin typeface="Arial"/>
                <a:cs typeface="Arial"/>
              </a:rPr>
              <a:t>s</a:t>
            </a:r>
            <a:r>
              <a:rPr dirty="0" sz="1900" spc="70">
                <a:solidFill>
                  <a:srgbClr val="585D60"/>
                </a:solidFill>
                <a:latin typeface="Lucida Sans Unicode"/>
                <a:cs typeface="Lucida Sans Unicode"/>
              </a:rPr>
              <a:t>)</a:t>
            </a:r>
            <a:endParaRPr sz="1900">
              <a:latin typeface="Lucida Sans Unicode"/>
              <a:cs typeface="Lucida Sans Unicode"/>
            </a:endParaRPr>
          </a:p>
          <a:p>
            <a:pPr marL="50800">
              <a:lnSpc>
                <a:spcPct val="100000"/>
              </a:lnSpc>
              <a:spcBef>
                <a:spcPts val="370"/>
              </a:spcBef>
            </a:pPr>
            <a:r>
              <a:rPr dirty="0" sz="1800" spc="5">
                <a:solidFill>
                  <a:srgbClr val="585D60"/>
                </a:solidFill>
                <a:latin typeface="Arial"/>
                <a:cs typeface="Arial"/>
              </a:rPr>
              <a:t>does </a:t>
            </a:r>
            <a:r>
              <a:rPr dirty="0" sz="1800" spc="35">
                <a:solidFill>
                  <a:srgbClr val="585D60"/>
                </a:solidFill>
                <a:latin typeface="Arial"/>
                <a:cs typeface="Arial"/>
              </a:rPr>
              <a:t>not </a:t>
            </a:r>
            <a:r>
              <a:rPr dirty="0" sz="1800" spc="-15">
                <a:solidFill>
                  <a:srgbClr val="585D60"/>
                </a:solidFill>
                <a:latin typeface="Arial"/>
                <a:cs typeface="Arial"/>
              </a:rPr>
              <a:t>depend </a:t>
            </a:r>
            <a:r>
              <a:rPr dirty="0" sz="1800" spc="5">
                <a:solidFill>
                  <a:srgbClr val="585D60"/>
                </a:solidFill>
                <a:latin typeface="Arial"/>
                <a:cs typeface="Arial"/>
              </a:rPr>
              <a:t>on</a:t>
            </a:r>
            <a:r>
              <a:rPr dirty="0" sz="1800" spc="-2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600" spc="85" i="1">
                <a:solidFill>
                  <a:srgbClr val="585D60"/>
                </a:solidFill>
                <a:latin typeface="Arial"/>
                <a:cs typeface="Arial"/>
              </a:rPr>
              <a:t>t</a:t>
            </a:r>
            <a:r>
              <a:rPr dirty="0" sz="1800" spc="85">
                <a:solidFill>
                  <a:srgbClr val="585D60"/>
                </a:solidFill>
                <a:latin typeface="Arial"/>
                <a:cs typeface="Arial"/>
              </a:rPr>
              <a:t>.</a:t>
            </a:r>
            <a:endParaRPr sz="1800">
              <a:latin typeface="Arial"/>
              <a:cs typeface="Arial"/>
            </a:endParaRPr>
          </a:p>
          <a:p>
            <a:pPr>
              <a:lnSpc>
                <a:spcPct val="100000"/>
              </a:lnSpc>
            </a:pPr>
            <a:endParaRPr sz="21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5"/>
              </a:spcBef>
            </a:pPr>
            <a:endParaRPr sz="1950">
              <a:latin typeface="Arial"/>
              <a:cs typeface="Arial"/>
            </a:endParaRPr>
          </a:p>
          <a:p>
            <a:pPr marL="241300" indent="-133985">
              <a:lnSpc>
                <a:spcPct val="100000"/>
              </a:lnSpc>
              <a:buClr>
                <a:srgbClr val="C2132D"/>
              </a:buClr>
              <a:buFont typeface="Trebuchet MS"/>
              <a:buChar char="•"/>
              <a:tabLst>
                <a:tab pos="241300" algn="l"/>
              </a:tabLst>
            </a:pPr>
            <a:r>
              <a:rPr dirty="0" sz="1800" spc="5">
                <a:solidFill>
                  <a:srgbClr val="585D60"/>
                </a:solidFill>
                <a:latin typeface="Arial"/>
                <a:cs typeface="Arial"/>
              </a:rPr>
              <a:t>This means </a:t>
            </a:r>
            <a:r>
              <a:rPr dirty="0" sz="1800" spc="35">
                <a:solidFill>
                  <a:srgbClr val="585D60"/>
                </a:solidFill>
                <a:latin typeface="Arial"/>
                <a:cs typeface="Arial"/>
              </a:rPr>
              <a:t>that </a:t>
            </a:r>
            <a:r>
              <a:rPr dirty="0" sz="1800" spc="-25">
                <a:solidFill>
                  <a:srgbClr val="585D60"/>
                </a:solidFill>
                <a:latin typeface="Arial"/>
                <a:cs typeface="Arial"/>
              </a:rPr>
              <a:t>a </a:t>
            </a:r>
            <a:r>
              <a:rPr dirty="0" sz="1800" spc="-35" b="1">
                <a:solidFill>
                  <a:srgbClr val="C2132D"/>
                </a:solidFill>
                <a:latin typeface="Trebuchet MS"/>
                <a:cs typeface="Trebuchet MS"/>
              </a:rPr>
              <a:t>stationary </a:t>
            </a:r>
            <a:r>
              <a:rPr dirty="0" sz="1800" spc="-55" b="1">
                <a:solidFill>
                  <a:srgbClr val="C2132D"/>
                </a:solidFill>
                <a:latin typeface="Trebuchet MS"/>
                <a:cs typeface="Trebuchet MS"/>
              </a:rPr>
              <a:t>time</a:t>
            </a:r>
            <a:r>
              <a:rPr dirty="0" sz="1800" spc="-40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10" b="1">
                <a:solidFill>
                  <a:srgbClr val="C2132D"/>
                </a:solidFill>
                <a:latin typeface="Trebuchet MS"/>
                <a:cs typeface="Trebuchet MS"/>
              </a:rPr>
              <a:t>series</a:t>
            </a:r>
            <a:r>
              <a:rPr dirty="0" sz="1800" spc="-10">
                <a:solidFill>
                  <a:srgbClr val="585D60"/>
                </a:solidFill>
                <a:latin typeface="Arial"/>
                <a:cs typeface="Arial"/>
              </a:rPr>
              <a:t>:</a:t>
            </a:r>
            <a:endParaRPr sz="1800">
              <a:latin typeface="Arial"/>
              <a:cs typeface="Arial"/>
            </a:endParaRPr>
          </a:p>
          <a:p>
            <a:pPr lvl="1" marL="622300" indent="-133985">
              <a:lnSpc>
                <a:spcPct val="100000"/>
              </a:lnSpc>
              <a:spcBef>
                <a:spcPts val="1215"/>
              </a:spcBef>
              <a:buClr>
                <a:srgbClr val="C2132D"/>
              </a:buClr>
              <a:buFont typeface="Trebuchet MS"/>
              <a:buChar char="•"/>
              <a:tabLst>
                <a:tab pos="622300" algn="l"/>
              </a:tabLst>
            </a:pPr>
            <a:r>
              <a:rPr dirty="0" sz="1800" spc="30">
                <a:solidFill>
                  <a:srgbClr val="585D60"/>
                </a:solidFill>
                <a:latin typeface="Arial"/>
                <a:cs typeface="Arial"/>
              </a:rPr>
              <a:t>is </a:t>
            </a:r>
            <a:r>
              <a:rPr dirty="0" sz="1800" spc="-5">
                <a:solidFill>
                  <a:srgbClr val="585D60"/>
                </a:solidFill>
                <a:latin typeface="Arial"/>
                <a:cs typeface="Arial"/>
              </a:rPr>
              <a:t>roughly </a:t>
            </a:r>
            <a:r>
              <a:rPr dirty="0" sz="1800" spc="15">
                <a:solidFill>
                  <a:srgbClr val="585D60"/>
                </a:solidFill>
                <a:latin typeface="Arial"/>
                <a:cs typeface="Arial"/>
              </a:rPr>
              <a:t>horizontal </a:t>
            </a:r>
            <a:r>
              <a:rPr dirty="0" sz="1800" spc="-35">
                <a:solidFill>
                  <a:srgbClr val="585D60"/>
                </a:solidFill>
                <a:latin typeface="Arial"/>
                <a:cs typeface="Arial"/>
              </a:rPr>
              <a:t>(i.e., </a:t>
            </a:r>
            <a:r>
              <a:rPr dirty="0" sz="1800" spc="5">
                <a:solidFill>
                  <a:srgbClr val="585D60"/>
                </a:solidFill>
                <a:latin typeface="Arial"/>
                <a:cs typeface="Arial"/>
              </a:rPr>
              <a:t>no</a:t>
            </a:r>
            <a:r>
              <a:rPr dirty="0" sz="1800" spc="-28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trend)</a:t>
            </a:r>
            <a:endParaRPr sz="1800">
              <a:latin typeface="Arial"/>
              <a:cs typeface="Arial"/>
            </a:endParaRPr>
          </a:p>
          <a:p>
            <a:pPr lvl="1" marL="622300" indent="-133985">
              <a:lnSpc>
                <a:spcPct val="100000"/>
              </a:lnSpc>
              <a:spcBef>
                <a:spcPts val="1290"/>
              </a:spcBef>
              <a:buClr>
                <a:srgbClr val="C2132D"/>
              </a:buClr>
              <a:buFont typeface="Trebuchet MS"/>
              <a:buChar char="•"/>
              <a:tabLst>
                <a:tab pos="622300" algn="l"/>
              </a:tabLst>
            </a:pPr>
            <a:r>
              <a:rPr dirty="0" sz="1800" spc="-5">
                <a:solidFill>
                  <a:srgbClr val="585D60"/>
                </a:solidFill>
                <a:latin typeface="Arial"/>
                <a:cs typeface="Arial"/>
              </a:rPr>
              <a:t>has </a:t>
            </a:r>
            <a:r>
              <a:rPr dirty="0" sz="1800" spc="-25">
                <a:solidFill>
                  <a:srgbClr val="585D60"/>
                </a:solidFill>
                <a:latin typeface="Arial"/>
                <a:cs typeface="Arial"/>
              </a:rPr>
              <a:t>a </a:t>
            </a:r>
            <a:r>
              <a:rPr dirty="0" sz="1800" spc="25">
                <a:solidFill>
                  <a:srgbClr val="585D60"/>
                </a:solidFill>
                <a:latin typeface="Arial"/>
                <a:cs typeface="Arial"/>
              </a:rPr>
              <a:t>constant </a:t>
            </a:r>
            <a:r>
              <a:rPr dirty="0" sz="1800" spc="-10">
                <a:solidFill>
                  <a:srgbClr val="585D60"/>
                </a:solidFill>
                <a:latin typeface="Arial"/>
                <a:cs typeface="Arial"/>
              </a:rPr>
              <a:t>variance </a:t>
            </a:r>
            <a:r>
              <a:rPr dirty="0" sz="1800" spc="-35">
                <a:solidFill>
                  <a:srgbClr val="585D60"/>
                </a:solidFill>
                <a:latin typeface="Arial"/>
                <a:cs typeface="Arial"/>
              </a:rPr>
              <a:t>(i.e., </a:t>
            </a:r>
            <a:r>
              <a:rPr dirty="0" sz="1800" spc="5">
                <a:solidFill>
                  <a:srgbClr val="585D60"/>
                </a:solidFill>
                <a:latin typeface="Arial"/>
                <a:cs typeface="Arial"/>
              </a:rPr>
              <a:t>no</a:t>
            </a:r>
            <a:r>
              <a:rPr dirty="0" sz="1800" spc="-27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heteroskedasticity)</a:t>
            </a:r>
            <a:endParaRPr sz="1800">
              <a:latin typeface="Arial"/>
              <a:cs typeface="Arial"/>
            </a:endParaRPr>
          </a:p>
          <a:p>
            <a:pPr lvl="1" marL="622300" indent="-133985">
              <a:lnSpc>
                <a:spcPct val="100000"/>
              </a:lnSpc>
              <a:spcBef>
                <a:spcPts val="1215"/>
              </a:spcBef>
              <a:buClr>
                <a:srgbClr val="C2132D"/>
              </a:buClr>
              <a:buFont typeface="Trebuchet MS"/>
              <a:buChar char="•"/>
              <a:tabLst>
                <a:tab pos="622300" algn="l"/>
              </a:tabLst>
            </a:pPr>
            <a:r>
              <a:rPr dirty="0" sz="1800" spc="5">
                <a:solidFill>
                  <a:srgbClr val="585D60"/>
                </a:solidFill>
                <a:latin typeface="Arial"/>
                <a:cs typeface="Arial"/>
              </a:rPr>
              <a:t>no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5">
                <a:solidFill>
                  <a:srgbClr val="585D60"/>
                </a:solidFill>
                <a:latin typeface="Arial"/>
                <a:cs typeface="Arial"/>
              </a:rPr>
              <a:t>patterns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30">
                <a:solidFill>
                  <a:srgbClr val="585D60"/>
                </a:solidFill>
                <a:latin typeface="Arial"/>
                <a:cs typeface="Arial"/>
              </a:rPr>
              <a:t>are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predictable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5">
                <a:solidFill>
                  <a:srgbClr val="585D60"/>
                </a:solidFill>
                <a:latin typeface="Arial"/>
                <a:cs typeface="Arial"/>
              </a:rPr>
              <a:t>in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the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long-term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35">
                <a:solidFill>
                  <a:srgbClr val="585D60"/>
                </a:solidFill>
                <a:latin typeface="Arial"/>
                <a:cs typeface="Arial"/>
              </a:rPr>
              <a:t>(i.e.,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5">
                <a:solidFill>
                  <a:srgbClr val="585D60"/>
                </a:solidFill>
                <a:latin typeface="Arial"/>
                <a:cs typeface="Arial"/>
              </a:rPr>
              <a:t>no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seasonality)</a:t>
            </a:r>
            <a:endParaRPr sz="1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01700" y="530225"/>
            <a:ext cx="7919720" cy="539750"/>
          </a:xfrm>
          <a:prstGeom prst="rect"/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3350" spc="-20">
                <a:solidFill>
                  <a:srgbClr val="C2132D"/>
                </a:solidFill>
              </a:rPr>
              <a:t>Class </a:t>
            </a:r>
            <a:r>
              <a:rPr dirty="0" sz="3350" spc="-229">
                <a:solidFill>
                  <a:srgbClr val="C2132D"/>
                </a:solidFill>
              </a:rPr>
              <a:t>Activity: </a:t>
            </a:r>
            <a:r>
              <a:rPr dirty="0" sz="3350" spc="-195">
                <a:solidFill>
                  <a:srgbClr val="C2132D"/>
                </a:solidFill>
              </a:rPr>
              <a:t>Stationarity </a:t>
            </a:r>
            <a:r>
              <a:rPr dirty="0" sz="3350" spc="-190">
                <a:solidFill>
                  <a:srgbClr val="C2132D"/>
                </a:solidFill>
              </a:rPr>
              <a:t>or</a:t>
            </a:r>
            <a:r>
              <a:rPr dirty="0" sz="3350" spc="-490">
                <a:solidFill>
                  <a:srgbClr val="C2132D"/>
                </a:solidFill>
              </a:rPr>
              <a:t> </a:t>
            </a:r>
            <a:r>
              <a:rPr dirty="0" sz="3350" spc="-170">
                <a:solidFill>
                  <a:srgbClr val="C2132D"/>
                </a:solidFill>
              </a:rPr>
              <a:t>Non-Stationarity?</a:t>
            </a:r>
            <a:endParaRPr sz="3350"/>
          </a:p>
        </p:txBody>
      </p:sp>
      <p:sp>
        <p:nvSpPr>
          <p:cNvPr id="3" name="object 3"/>
          <p:cNvSpPr/>
          <p:nvPr/>
        </p:nvSpPr>
        <p:spPr>
          <a:xfrm>
            <a:off x="914400" y="2124075"/>
            <a:ext cx="9696450" cy="0"/>
          </a:xfrm>
          <a:custGeom>
            <a:avLst/>
            <a:gdLst/>
            <a:ahLst/>
            <a:cxnLst/>
            <a:rect l="l" t="t" r="r" b="b"/>
            <a:pathLst>
              <a:path w="9696450" h="0">
                <a:moveTo>
                  <a:pt x="0" y="0"/>
                </a:moveTo>
                <a:lnTo>
                  <a:pt x="9696449" y="0"/>
                </a:lnTo>
              </a:path>
            </a:pathLst>
          </a:custGeom>
          <a:ln w="19049">
            <a:solidFill>
              <a:srgbClr val="DDDDDD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/>
          <p:nvPr/>
        </p:nvSpPr>
        <p:spPr>
          <a:xfrm>
            <a:off x="914400" y="1552575"/>
            <a:ext cx="942975" cy="0"/>
          </a:xfrm>
          <a:custGeom>
            <a:avLst/>
            <a:gdLst/>
            <a:ahLst/>
            <a:cxnLst/>
            <a:rect l="l" t="t" r="r" b="b"/>
            <a:pathLst>
              <a:path w="942975" h="0">
                <a:moveTo>
                  <a:pt x="0" y="0"/>
                </a:moveTo>
                <a:lnTo>
                  <a:pt x="942974" y="0"/>
                </a:lnTo>
              </a:path>
            </a:pathLst>
          </a:custGeom>
          <a:ln w="19049">
            <a:solidFill>
              <a:srgbClr val="585D6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5" name="object 5"/>
          <p:cNvSpPr/>
          <p:nvPr/>
        </p:nvSpPr>
        <p:spPr>
          <a:xfrm>
            <a:off x="914400" y="2124075"/>
            <a:ext cx="942975" cy="0"/>
          </a:xfrm>
          <a:custGeom>
            <a:avLst/>
            <a:gdLst/>
            <a:ahLst/>
            <a:cxnLst/>
            <a:rect l="l" t="t" r="r" b="b"/>
            <a:pathLst>
              <a:path w="942975" h="0">
                <a:moveTo>
                  <a:pt x="0" y="0"/>
                </a:moveTo>
                <a:lnTo>
                  <a:pt x="942974" y="0"/>
                </a:lnTo>
              </a:path>
            </a:pathLst>
          </a:custGeom>
          <a:ln w="19049">
            <a:solidFill>
              <a:srgbClr val="585D6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6" name="object 6"/>
          <p:cNvSpPr txBox="1"/>
          <p:nvPr/>
        </p:nvSpPr>
        <p:spPr>
          <a:xfrm>
            <a:off x="901700" y="1673225"/>
            <a:ext cx="9589770" cy="130937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240665">
              <a:lnSpc>
                <a:spcPct val="100000"/>
              </a:lnSpc>
              <a:spcBef>
                <a:spcPts val="100"/>
              </a:spcBef>
              <a:tabLst>
                <a:tab pos="1180465" algn="l"/>
                <a:tab pos="1921510" algn="l"/>
                <a:tab pos="2872740" algn="l"/>
                <a:tab pos="4026535" algn="l"/>
                <a:tab pos="5753735" algn="l"/>
                <a:tab pos="6667500" algn="l"/>
                <a:tab pos="7586980" algn="l"/>
              </a:tabLst>
            </a:pPr>
            <a:r>
              <a:rPr dirty="0" sz="1800" spc="-30">
                <a:solidFill>
                  <a:srgbClr val="585D60"/>
                </a:solidFill>
                <a:latin typeface="Arial"/>
                <a:cs typeface="Arial"/>
              </a:rPr>
              <a:t>Task	</a:t>
            </a:r>
            <a:r>
              <a:rPr dirty="0" sz="1800" spc="-135">
                <a:solidFill>
                  <a:srgbClr val="585D60"/>
                </a:solidFill>
                <a:latin typeface="Arial"/>
                <a:cs typeface="Arial"/>
              </a:rPr>
              <a:t>KR	</a:t>
            </a:r>
            <a:r>
              <a:rPr dirty="0" sz="1800">
                <a:solidFill>
                  <a:srgbClr val="585D60"/>
                </a:solidFill>
                <a:latin typeface="Arial"/>
                <a:cs typeface="Arial"/>
              </a:rPr>
              <a:t>Δ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135">
                <a:solidFill>
                  <a:srgbClr val="585D60"/>
                </a:solidFill>
                <a:latin typeface="Arial"/>
                <a:cs typeface="Arial"/>
              </a:rPr>
              <a:t>KR	</a:t>
            </a:r>
            <a:r>
              <a:rPr dirty="0" sz="1800" spc="-5">
                <a:solidFill>
                  <a:srgbClr val="585D60"/>
                </a:solidFill>
                <a:latin typeface="Arial"/>
                <a:cs typeface="Arial"/>
              </a:rPr>
              <a:t>Strikes	House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30">
                <a:solidFill>
                  <a:srgbClr val="585D60"/>
                </a:solidFill>
                <a:latin typeface="Arial"/>
                <a:cs typeface="Arial"/>
              </a:rPr>
              <a:t>Sales	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Lynx	</a:t>
            </a:r>
            <a:r>
              <a:rPr dirty="0" sz="1800" spc="-45">
                <a:solidFill>
                  <a:srgbClr val="585D60"/>
                </a:solidFill>
                <a:latin typeface="Arial"/>
                <a:cs typeface="Arial"/>
              </a:rPr>
              <a:t>Beer	</a:t>
            </a:r>
            <a:r>
              <a:rPr dirty="0" sz="1800" spc="-40">
                <a:solidFill>
                  <a:srgbClr val="585D60"/>
                </a:solidFill>
                <a:latin typeface="Arial"/>
                <a:cs typeface="Arial"/>
              </a:rPr>
              <a:t>Travel</a:t>
            </a:r>
            <a:endParaRPr sz="18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0"/>
              </a:spcBef>
            </a:pPr>
            <a:endParaRPr sz="2450">
              <a:latin typeface="Arial"/>
              <a:cs typeface="Arial"/>
            </a:endParaRPr>
          </a:p>
          <a:p>
            <a:pPr marL="12700" marR="5080">
              <a:lnSpc>
                <a:spcPct val="118100"/>
              </a:lnSpc>
            </a:pPr>
            <a:r>
              <a:rPr dirty="0" sz="1800" spc="-10">
                <a:solidFill>
                  <a:srgbClr val="585D60"/>
                </a:solidFill>
                <a:latin typeface="Arial"/>
                <a:cs typeface="Arial"/>
              </a:rPr>
              <a:t>In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25">
                <a:solidFill>
                  <a:srgbClr val="585D60"/>
                </a:solidFill>
                <a:latin typeface="Arial"/>
                <a:cs typeface="Arial"/>
              </a:rPr>
              <a:t>a</a:t>
            </a:r>
            <a:r>
              <a:rPr dirty="0" sz="1800" spc="-4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40" b="1">
                <a:solidFill>
                  <a:srgbClr val="C2132D"/>
                </a:solidFill>
                <a:latin typeface="Trebuchet MS"/>
                <a:cs typeface="Trebuchet MS"/>
              </a:rPr>
              <a:t>Kahoot</a:t>
            </a:r>
            <a:r>
              <a:rPr dirty="0" sz="1800" spc="-40">
                <a:solidFill>
                  <a:srgbClr val="585D60"/>
                </a:solidFill>
                <a:latin typeface="Arial"/>
                <a:cs typeface="Arial"/>
              </a:rPr>
              <a:t>,</a:t>
            </a:r>
            <a:r>
              <a:rPr dirty="0" sz="1800" spc="-4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585D60"/>
                </a:solidFill>
                <a:latin typeface="Arial"/>
                <a:cs typeface="Arial"/>
              </a:rPr>
              <a:t>we</a:t>
            </a:r>
            <a:r>
              <a:rPr dirty="0" sz="1800" spc="-4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40">
                <a:solidFill>
                  <a:srgbClr val="585D60"/>
                </a:solidFill>
                <a:latin typeface="Arial"/>
                <a:cs typeface="Arial"/>
              </a:rPr>
              <a:t>will</a:t>
            </a:r>
            <a:r>
              <a:rPr dirty="0" sz="1800" spc="-4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10">
                <a:solidFill>
                  <a:srgbClr val="585D60"/>
                </a:solidFill>
                <a:latin typeface="Arial"/>
                <a:cs typeface="Arial"/>
              </a:rPr>
              <a:t>explore</a:t>
            </a:r>
            <a:r>
              <a:rPr dirty="0" sz="1800" spc="-4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585D60"/>
                </a:solidFill>
                <a:latin typeface="Arial"/>
                <a:cs typeface="Arial"/>
              </a:rPr>
              <a:t>various</a:t>
            </a:r>
            <a:r>
              <a:rPr dirty="0" sz="1800" spc="-4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35">
                <a:solidFill>
                  <a:srgbClr val="585D60"/>
                </a:solidFill>
                <a:latin typeface="Arial"/>
                <a:cs typeface="Arial"/>
              </a:rPr>
              <a:t>time</a:t>
            </a:r>
            <a:r>
              <a:rPr dirty="0" sz="1800" spc="-4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585D60"/>
                </a:solidFill>
                <a:latin typeface="Arial"/>
                <a:cs typeface="Arial"/>
              </a:rPr>
              <a:t>series</a:t>
            </a:r>
            <a:r>
              <a:rPr dirty="0" sz="1800" spc="-4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data</a:t>
            </a:r>
            <a:r>
              <a:rPr dirty="0" sz="1800" spc="-4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5">
                <a:solidFill>
                  <a:srgbClr val="585D60"/>
                </a:solidFill>
                <a:latin typeface="Arial"/>
                <a:cs typeface="Arial"/>
              </a:rPr>
              <a:t>and</a:t>
            </a:r>
            <a:r>
              <a:rPr dirty="0" sz="1800" spc="-4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5">
                <a:solidFill>
                  <a:srgbClr val="585D60"/>
                </a:solidFill>
                <a:latin typeface="Arial"/>
                <a:cs typeface="Arial"/>
              </a:rPr>
              <a:t>determine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5">
                <a:solidFill>
                  <a:srgbClr val="585D60"/>
                </a:solidFill>
                <a:latin typeface="Arial"/>
                <a:cs typeface="Arial"/>
              </a:rPr>
              <a:t>whether</a:t>
            </a:r>
            <a:r>
              <a:rPr dirty="0" sz="1800" spc="-4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10">
                <a:solidFill>
                  <a:srgbClr val="585D60"/>
                </a:solidFill>
                <a:latin typeface="Arial"/>
                <a:cs typeface="Arial"/>
              </a:rPr>
              <a:t>they</a:t>
            </a:r>
            <a:r>
              <a:rPr dirty="0" sz="1800" spc="-4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30">
                <a:solidFill>
                  <a:srgbClr val="585D60"/>
                </a:solidFill>
                <a:latin typeface="Arial"/>
                <a:cs typeface="Arial"/>
              </a:rPr>
              <a:t>are</a:t>
            </a:r>
            <a:r>
              <a:rPr dirty="0" sz="1800" spc="-4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5">
                <a:solidFill>
                  <a:srgbClr val="585D60"/>
                </a:solidFill>
                <a:latin typeface="Arial"/>
                <a:cs typeface="Arial"/>
              </a:rPr>
              <a:t>stationary  or</a:t>
            </a:r>
            <a:r>
              <a:rPr dirty="0" sz="1800" spc="-6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5">
                <a:solidFill>
                  <a:srgbClr val="585D60"/>
                </a:solidFill>
                <a:latin typeface="Arial"/>
                <a:cs typeface="Arial"/>
              </a:rPr>
              <a:t>non-stationary.</a:t>
            </a:r>
            <a:endParaRPr sz="1800">
              <a:latin typeface="Arial"/>
              <a:cs typeface="Arial"/>
            </a:endParaRPr>
          </a:p>
        </p:txBody>
      </p:sp>
      <p:sp>
        <p:nvSpPr>
          <p:cNvPr id="7" name="object 7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1270" rIns="0" bIns="0" rtlCol="0" vert="horz">
            <a:spAutoFit/>
          </a:bodyPr>
          <a:lstStyle/>
          <a:p>
            <a:pPr marL="123825">
              <a:lnSpc>
                <a:spcPct val="100000"/>
              </a:lnSpc>
              <a:spcBef>
                <a:spcPts val="10"/>
              </a:spcBef>
            </a:pPr>
            <a:fld id="{81D60167-4931-47E6-BA6A-407CBD079E47}" type="slidenum">
              <a:rPr dirty="0" spc="5"/>
              <a:t>4</a:t>
            </a:fld>
            <a:r>
              <a:rPr dirty="0" spc="5"/>
              <a:t> </a:t>
            </a:r>
            <a:r>
              <a:rPr dirty="0" spc="160"/>
              <a:t>/</a:t>
            </a:r>
            <a:r>
              <a:rPr dirty="0" spc="-165"/>
              <a:t> </a:t>
            </a:r>
            <a:r>
              <a:rPr dirty="0" spc="5"/>
              <a:t>33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1270" rIns="0" bIns="0" rtlCol="0" vert="horz">
            <a:spAutoFit/>
          </a:bodyPr>
          <a:lstStyle/>
          <a:p>
            <a:pPr marL="123825">
              <a:lnSpc>
                <a:spcPct val="100000"/>
              </a:lnSpc>
              <a:spcBef>
                <a:spcPts val="10"/>
              </a:spcBef>
            </a:pPr>
            <a:fld id="{81D60167-4931-47E6-BA6A-407CBD079E47}" type="slidenum">
              <a:rPr dirty="0" spc="5"/>
              <a:t>4</a:t>
            </a:fld>
            <a:r>
              <a:rPr dirty="0" spc="5"/>
              <a:t> </a:t>
            </a:r>
            <a:r>
              <a:rPr dirty="0" spc="160"/>
              <a:t>/</a:t>
            </a:r>
            <a:r>
              <a:rPr dirty="0" spc="-165"/>
              <a:t> </a:t>
            </a:r>
            <a:r>
              <a:rPr dirty="0" spc="5"/>
              <a:t>33</a:t>
            </a:r>
          </a:p>
        </p:txBody>
      </p: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01700" y="530225"/>
            <a:ext cx="7496175" cy="539750"/>
          </a:xfrm>
          <a:prstGeom prst="rect"/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3350" spc="-170">
                <a:solidFill>
                  <a:srgbClr val="C2132D"/>
                </a:solidFill>
              </a:rPr>
              <a:t>How </a:t>
            </a:r>
            <a:r>
              <a:rPr dirty="0" sz="3350" spc="-235">
                <a:solidFill>
                  <a:srgbClr val="C2132D"/>
                </a:solidFill>
              </a:rPr>
              <a:t>to </a:t>
            </a:r>
            <a:r>
              <a:rPr dirty="0" sz="3350" spc="-210">
                <a:solidFill>
                  <a:srgbClr val="C2132D"/>
                </a:solidFill>
              </a:rPr>
              <a:t>Identify </a:t>
            </a:r>
            <a:r>
              <a:rPr dirty="0" sz="3350" spc="-195">
                <a:solidFill>
                  <a:srgbClr val="C2132D"/>
                </a:solidFill>
              </a:rPr>
              <a:t>Non-Stationarity </a:t>
            </a:r>
            <a:r>
              <a:rPr dirty="0" sz="3350" spc="-190">
                <a:solidFill>
                  <a:srgbClr val="C2132D"/>
                </a:solidFill>
              </a:rPr>
              <a:t>in </a:t>
            </a:r>
            <a:r>
              <a:rPr dirty="0" sz="3350" spc="-260">
                <a:solidFill>
                  <a:srgbClr val="C2132D"/>
                </a:solidFill>
              </a:rPr>
              <a:t>the</a:t>
            </a:r>
            <a:r>
              <a:rPr dirty="0" sz="3350" spc="-390">
                <a:solidFill>
                  <a:srgbClr val="C2132D"/>
                </a:solidFill>
              </a:rPr>
              <a:t> </a:t>
            </a:r>
            <a:r>
              <a:rPr dirty="0" sz="3350" spc="-105">
                <a:solidFill>
                  <a:srgbClr val="C2132D"/>
                </a:solidFill>
              </a:rPr>
              <a:t>Mean</a:t>
            </a:r>
            <a:endParaRPr sz="3350"/>
          </a:p>
        </p:txBody>
      </p:sp>
      <p:sp>
        <p:nvSpPr>
          <p:cNvPr id="3" name="object 3"/>
          <p:cNvSpPr txBox="1"/>
          <p:nvPr/>
        </p:nvSpPr>
        <p:spPr>
          <a:xfrm>
            <a:off x="1136054" y="1425575"/>
            <a:ext cx="9304655" cy="290957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58750" indent="-133985">
              <a:lnSpc>
                <a:spcPct val="100000"/>
              </a:lnSpc>
              <a:spcBef>
                <a:spcPts val="100"/>
              </a:spcBef>
              <a:buFont typeface="Trebuchet MS"/>
              <a:buChar char="•"/>
              <a:tabLst>
                <a:tab pos="159385" algn="l"/>
              </a:tabLst>
            </a:pPr>
            <a:r>
              <a:rPr dirty="0" sz="1800" spc="5" b="1">
                <a:solidFill>
                  <a:srgbClr val="C2132D"/>
                </a:solidFill>
                <a:latin typeface="Trebuchet MS"/>
                <a:cs typeface="Trebuchet MS"/>
              </a:rPr>
              <a:t>Visual</a:t>
            </a:r>
            <a:r>
              <a:rPr dirty="0" sz="1800" spc="-10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20" b="1">
                <a:solidFill>
                  <a:srgbClr val="C2132D"/>
                </a:solidFill>
                <a:latin typeface="Trebuchet MS"/>
                <a:cs typeface="Trebuchet MS"/>
              </a:rPr>
              <a:t>Inspection</a:t>
            </a:r>
            <a:r>
              <a:rPr dirty="0" sz="1800" spc="-10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75">
                <a:solidFill>
                  <a:srgbClr val="585D60"/>
                </a:solidFill>
                <a:latin typeface="Arial"/>
                <a:cs typeface="Arial"/>
              </a:rPr>
              <a:t>of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the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55" b="1">
                <a:solidFill>
                  <a:srgbClr val="C2132D"/>
                </a:solidFill>
                <a:latin typeface="Trebuchet MS"/>
                <a:cs typeface="Trebuchet MS"/>
              </a:rPr>
              <a:t>time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b="1">
                <a:solidFill>
                  <a:srgbClr val="C2132D"/>
                </a:solidFill>
                <a:latin typeface="Trebuchet MS"/>
                <a:cs typeface="Trebuchet MS"/>
              </a:rPr>
              <a:t>series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50" b="1">
                <a:solidFill>
                  <a:srgbClr val="C2132D"/>
                </a:solidFill>
                <a:latin typeface="Trebuchet MS"/>
                <a:cs typeface="Trebuchet MS"/>
              </a:rPr>
              <a:t>plot</a:t>
            </a:r>
            <a:r>
              <a:rPr dirty="0" sz="1800" spc="-10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40" b="1">
                <a:solidFill>
                  <a:srgbClr val="C2132D"/>
                </a:solidFill>
                <a:latin typeface="Trebuchet MS"/>
                <a:cs typeface="Trebuchet MS"/>
              </a:rPr>
              <a:t>(line-chart)</a:t>
            </a:r>
            <a:r>
              <a:rPr dirty="0" sz="1800" spc="-40">
                <a:solidFill>
                  <a:srgbClr val="585D60"/>
                </a:solidFill>
                <a:latin typeface="Arial"/>
                <a:cs typeface="Arial"/>
              </a:rPr>
              <a:t>:</a:t>
            </a:r>
            <a:endParaRPr sz="1800">
              <a:latin typeface="Arial"/>
              <a:cs typeface="Arial"/>
            </a:endParaRPr>
          </a:p>
          <a:p>
            <a:pPr lvl="1" marL="539750" indent="-134620">
              <a:lnSpc>
                <a:spcPct val="100000"/>
              </a:lnSpc>
              <a:spcBef>
                <a:spcPts val="1290"/>
              </a:spcBef>
              <a:buClr>
                <a:srgbClr val="C2132D"/>
              </a:buClr>
              <a:buFont typeface="Trebuchet MS"/>
              <a:buChar char="•"/>
              <a:tabLst>
                <a:tab pos="540385" algn="l"/>
              </a:tabLst>
            </a:pPr>
            <a:r>
              <a:rPr dirty="0" sz="1800" spc="5">
                <a:solidFill>
                  <a:srgbClr val="585D60"/>
                </a:solidFill>
                <a:latin typeface="Arial"/>
                <a:cs typeface="Arial"/>
              </a:rPr>
              <a:t>Look</a:t>
            </a:r>
            <a:r>
              <a:rPr dirty="0" sz="1800" spc="-6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50">
                <a:solidFill>
                  <a:srgbClr val="585D60"/>
                </a:solidFill>
                <a:latin typeface="Arial"/>
                <a:cs typeface="Arial"/>
              </a:rPr>
              <a:t>for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trends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5">
                <a:solidFill>
                  <a:srgbClr val="585D60"/>
                </a:solidFill>
                <a:latin typeface="Arial"/>
                <a:cs typeface="Arial"/>
              </a:rPr>
              <a:t>in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the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35">
                <a:solidFill>
                  <a:srgbClr val="585D60"/>
                </a:solidFill>
                <a:latin typeface="Arial"/>
                <a:cs typeface="Arial"/>
              </a:rPr>
              <a:t>time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585D60"/>
                </a:solidFill>
                <a:latin typeface="Arial"/>
                <a:cs typeface="Arial"/>
              </a:rPr>
              <a:t>series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25">
                <a:solidFill>
                  <a:srgbClr val="585D60"/>
                </a:solidFill>
                <a:latin typeface="Arial"/>
                <a:cs typeface="Arial"/>
              </a:rPr>
              <a:t>plot.</a:t>
            </a:r>
            <a:endParaRPr sz="1800">
              <a:latin typeface="Arial"/>
              <a:cs typeface="Arial"/>
            </a:endParaRPr>
          </a:p>
          <a:p>
            <a:pPr lvl="1" marL="539750" indent="-134620">
              <a:lnSpc>
                <a:spcPct val="100000"/>
              </a:lnSpc>
              <a:spcBef>
                <a:spcPts val="1290"/>
              </a:spcBef>
              <a:buClr>
                <a:srgbClr val="C2132D"/>
              </a:buClr>
              <a:buFont typeface="Trebuchet MS"/>
              <a:buChar char="•"/>
              <a:tabLst>
                <a:tab pos="540385" algn="l"/>
              </a:tabLst>
            </a:pPr>
            <a:r>
              <a:rPr dirty="0" sz="1800" spc="5">
                <a:solidFill>
                  <a:srgbClr val="585D60"/>
                </a:solidFill>
                <a:latin typeface="Arial"/>
                <a:cs typeface="Arial"/>
              </a:rPr>
              <a:t>Look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50">
                <a:solidFill>
                  <a:srgbClr val="585D60"/>
                </a:solidFill>
                <a:latin typeface="Arial"/>
                <a:cs typeface="Arial"/>
              </a:rPr>
              <a:t>for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5">
                <a:solidFill>
                  <a:srgbClr val="585D60"/>
                </a:solidFill>
                <a:latin typeface="Arial"/>
                <a:cs typeface="Arial"/>
              </a:rPr>
              <a:t>seasonality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5">
                <a:solidFill>
                  <a:srgbClr val="585D60"/>
                </a:solidFill>
                <a:latin typeface="Arial"/>
                <a:cs typeface="Arial"/>
              </a:rPr>
              <a:t>in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the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35">
                <a:solidFill>
                  <a:srgbClr val="585D60"/>
                </a:solidFill>
                <a:latin typeface="Arial"/>
                <a:cs typeface="Arial"/>
              </a:rPr>
              <a:t>time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585D60"/>
                </a:solidFill>
                <a:latin typeface="Arial"/>
                <a:cs typeface="Arial"/>
              </a:rPr>
              <a:t>series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25">
                <a:solidFill>
                  <a:srgbClr val="585D60"/>
                </a:solidFill>
                <a:latin typeface="Arial"/>
                <a:cs typeface="Arial"/>
              </a:rPr>
              <a:t>plot.</a:t>
            </a:r>
            <a:endParaRPr sz="1800">
              <a:latin typeface="Arial"/>
              <a:cs typeface="Arial"/>
            </a:endParaRPr>
          </a:p>
          <a:p>
            <a:pPr marL="158750" indent="-133985">
              <a:lnSpc>
                <a:spcPct val="100000"/>
              </a:lnSpc>
              <a:spcBef>
                <a:spcPts val="1215"/>
              </a:spcBef>
              <a:buClr>
                <a:srgbClr val="C2132D"/>
              </a:buClr>
              <a:buFont typeface="Trebuchet MS"/>
              <a:buChar char="•"/>
              <a:tabLst>
                <a:tab pos="159385" algn="l"/>
              </a:tabLst>
            </a:pPr>
            <a:r>
              <a:rPr dirty="0" sz="1800" spc="-25">
                <a:solidFill>
                  <a:srgbClr val="585D60"/>
                </a:solidFill>
                <a:latin typeface="Arial"/>
                <a:cs typeface="Arial"/>
              </a:rPr>
              <a:t>Examine</a:t>
            </a:r>
            <a:r>
              <a:rPr dirty="0" sz="1800" spc="-6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the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20" b="1">
                <a:solidFill>
                  <a:srgbClr val="C2132D"/>
                </a:solidFill>
                <a:latin typeface="Trebuchet MS"/>
                <a:cs typeface="Trebuchet MS"/>
              </a:rPr>
              <a:t>ACF</a:t>
            </a:r>
            <a:r>
              <a:rPr dirty="0" sz="1800" spc="-10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75">
                <a:solidFill>
                  <a:srgbClr val="585D60"/>
                </a:solidFill>
                <a:latin typeface="Arial"/>
                <a:cs typeface="Arial"/>
              </a:rPr>
              <a:t>of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the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35">
                <a:solidFill>
                  <a:srgbClr val="585D60"/>
                </a:solidFill>
                <a:latin typeface="Arial"/>
                <a:cs typeface="Arial"/>
              </a:rPr>
              <a:t>time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10">
                <a:solidFill>
                  <a:srgbClr val="585D60"/>
                </a:solidFill>
                <a:latin typeface="Arial"/>
                <a:cs typeface="Arial"/>
              </a:rPr>
              <a:t>series:</a:t>
            </a:r>
            <a:endParaRPr sz="1800">
              <a:latin typeface="Arial"/>
              <a:cs typeface="Arial"/>
            </a:endParaRPr>
          </a:p>
          <a:p>
            <a:pPr lvl="1" marL="539750" indent="-134620">
              <a:lnSpc>
                <a:spcPct val="100000"/>
              </a:lnSpc>
              <a:spcBef>
                <a:spcPts val="1290"/>
              </a:spcBef>
              <a:buClr>
                <a:srgbClr val="C2132D"/>
              </a:buClr>
              <a:buFont typeface="Trebuchet MS"/>
              <a:buChar char="•"/>
              <a:tabLst>
                <a:tab pos="540385" algn="l"/>
              </a:tabLst>
            </a:pPr>
            <a:r>
              <a:rPr dirty="0" sz="1800" spc="-30">
                <a:solidFill>
                  <a:srgbClr val="585D60"/>
                </a:solidFill>
                <a:latin typeface="Arial"/>
                <a:cs typeface="Arial"/>
              </a:rPr>
              <a:t>A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b="1">
                <a:solidFill>
                  <a:srgbClr val="C2132D"/>
                </a:solidFill>
                <a:latin typeface="Trebuchet MS"/>
                <a:cs typeface="Trebuchet MS"/>
              </a:rPr>
              <a:t>slow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30" b="1">
                <a:solidFill>
                  <a:srgbClr val="C2132D"/>
                </a:solidFill>
                <a:latin typeface="Trebuchet MS"/>
                <a:cs typeface="Trebuchet MS"/>
              </a:rPr>
              <a:t>decay</a:t>
            </a:r>
            <a:r>
              <a:rPr dirty="0" sz="1800" spc="-10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15">
                <a:solidFill>
                  <a:srgbClr val="585D60"/>
                </a:solidFill>
                <a:latin typeface="Arial"/>
                <a:cs typeface="Arial"/>
              </a:rPr>
              <a:t>in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the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90">
                <a:solidFill>
                  <a:srgbClr val="585D60"/>
                </a:solidFill>
                <a:latin typeface="Arial"/>
                <a:cs typeface="Arial"/>
              </a:rPr>
              <a:t>ACF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40">
                <a:solidFill>
                  <a:srgbClr val="585D60"/>
                </a:solidFill>
                <a:latin typeface="Arial"/>
                <a:cs typeface="Arial"/>
              </a:rPr>
              <a:t>plot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50" b="1">
                <a:solidFill>
                  <a:srgbClr val="C2132D"/>
                </a:solidFill>
                <a:latin typeface="Trebuchet MS"/>
                <a:cs typeface="Trebuchet MS"/>
              </a:rPr>
              <a:t>(die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45" b="1">
                <a:solidFill>
                  <a:srgbClr val="C2132D"/>
                </a:solidFill>
                <a:latin typeface="Trebuchet MS"/>
                <a:cs typeface="Trebuchet MS"/>
              </a:rPr>
              <a:t>down)</a:t>
            </a:r>
            <a:r>
              <a:rPr dirty="0" sz="1800" spc="-10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950" spc="1825">
                <a:solidFill>
                  <a:srgbClr val="585D60"/>
                </a:solidFill>
                <a:latin typeface="Cambria"/>
                <a:cs typeface="Cambria"/>
              </a:rPr>
              <a:t>⟶</a:t>
            </a:r>
            <a:r>
              <a:rPr dirty="0" sz="950" spc="229">
                <a:solidFill>
                  <a:srgbClr val="585D60"/>
                </a:solidFill>
                <a:latin typeface="Cambria"/>
                <a:cs typeface="Cambria"/>
              </a:rPr>
              <a:t> </a:t>
            </a:r>
            <a:r>
              <a:rPr dirty="0" sz="1800" spc="-30" b="1">
                <a:solidFill>
                  <a:srgbClr val="C2132D"/>
                </a:solidFill>
                <a:latin typeface="Trebuchet MS"/>
                <a:cs typeface="Trebuchet MS"/>
              </a:rPr>
              <a:t>non-stationary</a:t>
            </a:r>
            <a:r>
              <a:rPr dirty="0" sz="1800" spc="-30">
                <a:solidFill>
                  <a:srgbClr val="585D60"/>
                </a:solidFill>
                <a:latin typeface="Arial"/>
                <a:cs typeface="Arial"/>
              </a:rPr>
              <a:t>.</a:t>
            </a:r>
            <a:endParaRPr sz="1800">
              <a:latin typeface="Arial"/>
              <a:cs typeface="Arial"/>
            </a:endParaRPr>
          </a:p>
          <a:p>
            <a:pPr lvl="1" marL="539750" indent="-134620">
              <a:lnSpc>
                <a:spcPct val="100000"/>
              </a:lnSpc>
              <a:spcBef>
                <a:spcPts val="1215"/>
              </a:spcBef>
              <a:buClr>
                <a:srgbClr val="C2132D"/>
              </a:buClr>
              <a:buFont typeface="Trebuchet MS"/>
              <a:buChar char="•"/>
              <a:tabLst>
                <a:tab pos="540385" algn="l"/>
              </a:tabLst>
            </a:pPr>
            <a:r>
              <a:rPr dirty="0" sz="1800" spc="-85">
                <a:solidFill>
                  <a:srgbClr val="585D60"/>
                </a:solidFill>
                <a:latin typeface="Arial"/>
                <a:cs typeface="Arial"/>
              </a:rPr>
              <a:t>On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the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other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35">
                <a:solidFill>
                  <a:srgbClr val="585D60"/>
                </a:solidFill>
                <a:latin typeface="Arial"/>
                <a:cs typeface="Arial"/>
              </a:rPr>
              <a:t>hand,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80">
                <a:solidFill>
                  <a:srgbClr val="585D60"/>
                </a:solidFill>
                <a:latin typeface="Arial"/>
                <a:cs typeface="Arial"/>
              </a:rPr>
              <a:t>if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the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90">
                <a:solidFill>
                  <a:srgbClr val="585D60"/>
                </a:solidFill>
                <a:latin typeface="Arial"/>
                <a:cs typeface="Arial"/>
              </a:rPr>
              <a:t>ACF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40">
                <a:solidFill>
                  <a:srgbClr val="585D60"/>
                </a:solidFill>
                <a:latin typeface="Arial"/>
                <a:cs typeface="Arial"/>
              </a:rPr>
              <a:t>plot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15" b="1">
                <a:solidFill>
                  <a:srgbClr val="C2132D"/>
                </a:solidFill>
                <a:latin typeface="Trebuchet MS"/>
                <a:cs typeface="Trebuchet MS"/>
              </a:rPr>
              <a:t>drops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70" b="1">
                <a:solidFill>
                  <a:srgbClr val="C2132D"/>
                </a:solidFill>
                <a:latin typeface="Trebuchet MS"/>
                <a:cs typeface="Trebuchet MS"/>
              </a:rPr>
              <a:t>to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65" b="1">
                <a:solidFill>
                  <a:srgbClr val="C2132D"/>
                </a:solidFill>
                <a:latin typeface="Trebuchet MS"/>
                <a:cs typeface="Trebuchet MS"/>
              </a:rPr>
              <a:t>zero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40" b="1">
                <a:solidFill>
                  <a:srgbClr val="C2132D"/>
                </a:solidFill>
                <a:latin typeface="Trebuchet MS"/>
                <a:cs typeface="Trebuchet MS"/>
              </a:rPr>
              <a:t>quickly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10" b="1">
                <a:solidFill>
                  <a:srgbClr val="C2132D"/>
                </a:solidFill>
                <a:latin typeface="Trebuchet MS"/>
                <a:cs typeface="Trebuchet MS"/>
              </a:rPr>
              <a:t>(cuts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15" b="1">
                <a:solidFill>
                  <a:srgbClr val="C2132D"/>
                </a:solidFill>
                <a:latin typeface="Trebuchet MS"/>
                <a:cs typeface="Trebuchet MS"/>
              </a:rPr>
              <a:t>off)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950" spc="1825">
                <a:solidFill>
                  <a:srgbClr val="585D60"/>
                </a:solidFill>
                <a:latin typeface="Cambria"/>
                <a:cs typeface="Cambria"/>
              </a:rPr>
              <a:t>⟶</a:t>
            </a:r>
            <a:r>
              <a:rPr dirty="0" sz="950" spc="240">
                <a:solidFill>
                  <a:srgbClr val="585D60"/>
                </a:solidFill>
                <a:latin typeface="Cambria"/>
                <a:cs typeface="Cambria"/>
              </a:rPr>
              <a:t> </a:t>
            </a:r>
            <a:r>
              <a:rPr dirty="0" sz="1800" spc="-60" b="1">
                <a:solidFill>
                  <a:srgbClr val="C2132D"/>
                </a:solidFill>
                <a:latin typeface="Trebuchet MS"/>
                <a:cs typeface="Trebuchet MS"/>
              </a:rPr>
              <a:t>likely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35" b="1">
                <a:solidFill>
                  <a:srgbClr val="C2132D"/>
                </a:solidFill>
                <a:latin typeface="Trebuchet MS"/>
                <a:cs typeface="Trebuchet MS"/>
              </a:rPr>
              <a:t>stationary</a:t>
            </a:r>
            <a:r>
              <a:rPr dirty="0" sz="1800" spc="-35">
                <a:solidFill>
                  <a:srgbClr val="585D60"/>
                </a:solidFill>
                <a:latin typeface="Arial"/>
                <a:cs typeface="Arial"/>
              </a:rPr>
              <a:t>.</a:t>
            </a:r>
            <a:endParaRPr sz="1800">
              <a:latin typeface="Arial"/>
              <a:cs typeface="Arial"/>
            </a:endParaRPr>
          </a:p>
          <a:p>
            <a:pPr lvl="1" marL="539750" indent="-134620">
              <a:lnSpc>
                <a:spcPct val="100000"/>
              </a:lnSpc>
              <a:spcBef>
                <a:spcPts val="1290"/>
              </a:spcBef>
              <a:buFont typeface="Trebuchet MS"/>
              <a:buChar char="•"/>
              <a:tabLst>
                <a:tab pos="540385" algn="l"/>
              </a:tabLst>
            </a:pPr>
            <a:r>
              <a:rPr dirty="0" sz="1800" spc="-55" b="1">
                <a:solidFill>
                  <a:srgbClr val="C2132D"/>
                </a:solidFill>
                <a:latin typeface="Trebuchet MS"/>
                <a:cs typeface="Trebuchet MS"/>
              </a:rPr>
              <a:t>Note:</a:t>
            </a:r>
            <a:r>
              <a:rPr dirty="0" sz="1800" spc="-10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30">
                <a:solidFill>
                  <a:srgbClr val="585D60"/>
                </a:solidFill>
                <a:latin typeface="Arial"/>
                <a:cs typeface="Arial"/>
              </a:rPr>
              <a:t>For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5">
                <a:solidFill>
                  <a:srgbClr val="585D60"/>
                </a:solidFill>
                <a:latin typeface="Arial"/>
                <a:cs typeface="Arial"/>
              </a:rPr>
              <a:t>non-stationary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35">
                <a:solidFill>
                  <a:srgbClr val="585D60"/>
                </a:solidFill>
                <a:latin typeface="Arial"/>
                <a:cs typeface="Arial"/>
              </a:rPr>
              <a:t>time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20">
                <a:solidFill>
                  <a:srgbClr val="585D60"/>
                </a:solidFill>
                <a:latin typeface="Arial"/>
                <a:cs typeface="Arial"/>
              </a:rPr>
              <a:t>series,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the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45" b="1">
                <a:solidFill>
                  <a:srgbClr val="C2132D"/>
                </a:solidFill>
                <a:latin typeface="Trebuchet MS"/>
                <a:cs typeface="Trebuchet MS"/>
              </a:rPr>
              <a:t>value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15" b="1">
                <a:solidFill>
                  <a:srgbClr val="C2132D"/>
                </a:solidFill>
                <a:latin typeface="Trebuchet MS"/>
                <a:cs typeface="Trebuchet MS"/>
              </a:rPr>
              <a:t>of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950" spc="305" i="1">
                <a:solidFill>
                  <a:srgbClr val="C2132D"/>
                </a:solidFill>
                <a:latin typeface="Verdana"/>
                <a:cs typeface="Verdana"/>
              </a:rPr>
              <a:t>r</a:t>
            </a:r>
            <a:r>
              <a:rPr dirty="0" baseline="-19607" sz="1275" spc="457">
                <a:solidFill>
                  <a:srgbClr val="C2132D"/>
                </a:solidFill>
                <a:latin typeface="Times New Roman"/>
                <a:cs typeface="Times New Roman"/>
              </a:rPr>
              <a:t>1</a:t>
            </a:r>
            <a:r>
              <a:rPr dirty="0" baseline="-19607" sz="1275" spc="494">
                <a:solidFill>
                  <a:srgbClr val="C2132D"/>
                </a:solidFill>
                <a:latin typeface="Times New Roman"/>
                <a:cs typeface="Times New Roman"/>
              </a:rPr>
              <a:t> </a:t>
            </a:r>
            <a:r>
              <a:rPr dirty="0" sz="1800" spc="40" b="1">
                <a:solidFill>
                  <a:srgbClr val="C2132D"/>
                </a:solidFill>
                <a:latin typeface="Trebuchet MS"/>
                <a:cs typeface="Trebuchet MS"/>
              </a:rPr>
              <a:t>is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50" b="1">
                <a:solidFill>
                  <a:srgbClr val="C2132D"/>
                </a:solidFill>
                <a:latin typeface="Trebuchet MS"/>
                <a:cs typeface="Trebuchet MS"/>
              </a:rPr>
              <a:t>often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25" b="1">
                <a:solidFill>
                  <a:srgbClr val="C2132D"/>
                </a:solidFill>
                <a:latin typeface="Trebuchet MS"/>
                <a:cs typeface="Trebuchet MS"/>
              </a:rPr>
              <a:t>large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30" b="1">
                <a:solidFill>
                  <a:srgbClr val="C2132D"/>
                </a:solidFill>
                <a:latin typeface="Trebuchet MS"/>
                <a:cs typeface="Trebuchet MS"/>
              </a:rPr>
              <a:t>and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30" b="1">
                <a:solidFill>
                  <a:srgbClr val="C2132D"/>
                </a:solidFill>
                <a:latin typeface="Trebuchet MS"/>
                <a:cs typeface="Trebuchet MS"/>
              </a:rPr>
              <a:t>positive</a:t>
            </a:r>
            <a:r>
              <a:rPr dirty="0" sz="1800" spc="-30">
                <a:solidFill>
                  <a:srgbClr val="585D60"/>
                </a:solidFill>
                <a:latin typeface="Arial"/>
                <a:cs typeface="Arial"/>
              </a:rPr>
              <a:t>.</a:t>
            </a:r>
            <a:endParaRPr sz="1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000995" y="2541308"/>
            <a:ext cx="4141192" cy="2705861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01700" y="530225"/>
            <a:ext cx="8756015" cy="539750"/>
          </a:xfrm>
          <a:prstGeom prst="rect"/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3350" spc="-225">
                <a:solidFill>
                  <a:srgbClr val="C2132D"/>
                </a:solidFill>
              </a:rPr>
              <a:t>Example: </a:t>
            </a:r>
            <a:r>
              <a:rPr dirty="0" sz="3350" spc="-215">
                <a:solidFill>
                  <a:srgbClr val="C2132D"/>
                </a:solidFill>
              </a:rPr>
              <a:t>The </a:t>
            </a:r>
            <a:r>
              <a:rPr dirty="0" sz="3350" spc="-195">
                <a:solidFill>
                  <a:srgbClr val="C2132D"/>
                </a:solidFill>
              </a:rPr>
              <a:t>Non-Stationarity </a:t>
            </a:r>
            <a:r>
              <a:rPr dirty="0" sz="3350" spc="-190">
                <a:solidFill>
                  <a:srgbClr val="C2132D"/>
                </a:solidFill>
              </a:rPr>
              <a:t>in </a:t>
            </a:r>
            <a:r>
              <a:rPr dirty="0" sz="3350" spc="-175">
                <a:solidFill>
                  <a:srgbClr val="C2132D"/>
                </a:solidFill>
              </a:rPr>
              <a:t>Kroger </a:t>
            </a:r>
            <a:r>
              <a:rPr dirty="0" sz="3350" spc="-120">
                <a:solidFill>
                  <a:srgbClr val="C2132D"/>
                </a:solidFill>
              </a:rPr>
              <a:t>Stock</a:t>
            </a:r>
            <a:r>
              <a:rPr dirty="0" sz="3350" spc="-484">
                <a:solidFill>
                  <a:srgbClr val="C2132D"/>
                </a:solidFill>
              </a:rPr>
              <a:t> </a:t>
            </a:r>
            <a:r>
              <a:rPr dirty="0" sz="3350" spc="-160">
                <a:solidFill>
                  <a:srgbClr val="C2132D"/>
                </a:solidFill>
              </a:rPr>
              <a:t>Price</a:t>
            </a:r>
            <a:endParaRPr sz="3350"/>
          </a:p>
        </p:txBody>
      </p:sp>
      <p:sp>
        <p:nvSpPr>
          <p:cNvPr id="4" name="object 4"/>
          <p:cNvSpPr/>
          <p:nvPr/>
        </p:nvSpPr>
        <p:spPr>
          <a:xfrm>
            <a:off x="914400" y="1638300"/>
            <a:ext cx="4657725" cy="4819650"/>
          </a:xfrm>
          <a:custGeom>
            <a:avLst/>
            <a:gdLst/>
            <a:ahLst/>
            <a:cxnLst/>
            <a:rect l="l" t="t" r="r" b="b"/>
            <a:pathLst>
              <a:path w="4657725" h="4819650">
                <a:moveTo>
                  <a:pt x="0" y="0"/>
                </a:moveTo>
                <a:lnTo>
                  <a:pt x="4657724" y="0"/>
                </a:lnTo>
                <a:lnTo>
                  <a:pt x="4657724" y="4819649"/>
                </a:lnTo>
                <a:lnTo>
                  <a:pt x="0" y="4819649"/>
                </a:lnTo>
                <a:lnTo>
                  <a:pt x="0" y="0"/>
                </a:lnTo>
                <a:close/>
              </a:path>
            </a:pathLst>
          </a:custGeom>
          <a:solidFill>
            <a:srgbClr val="F7F7F7"/>
          </a:solidFill>
        </p:spPr>
        <p:txBody>
          <a:bodyPr wrap="square" lIns="0" tIns="0" rIns="0" bIns="0" rtlCol="0"/>
          <a:lstStyle/>
          <a:p/>
        </p:txBody>
      </p:sp>
      <p:sp>
        <p:nvSpPr>
          <p:cNvPr id="5" name="object 5"/>
          <p:cNvSpPr txBox="1"/>
          <p:nvPr/>
        </p:nvSpPr>
        <p:spPr>
          <a:xfrm>
            <a:off x="1012031" y="1707419"/>
            <a:ext cx="4502150" cy="4480560"/>
          </a:xfrm>
          <a:prstGeom prst="rect">
            <a:avLst/>
          </a:prstGeom>
        </p:spPr>
        <p:txBody>
          <a:bodyPr wrap="square" lIns="0" tIns="23495" rIns="0" bIns="0" rtlCol="0" vert="horz">
            <a:spAutoFit/>
          </a:bodyPr>
          <a:lstStyle/>
          <a:p>
            <a:pPr marR="2524125">
              <a:lnSpc>
                <a:spcPts val="1430"/>
              </a:lnSpc>
              <a:spcBef>
                <a:spcPts val="185"/>
              </a:spcBef>
            </a:pPr>
            <a:r>
              <a:rPr dirty="0" sz="1200" spc="15" b="1">
                <a:solidFill>
                  <a:srgbClr val="333333"/>
                </a:solidFill>
                <a:latin typeface="Courier New"/>
                <a:cs typeface="Courier New"/>
              </a:rPr>
              <a:t>import </a:t>
            </a:r>
            <a:r>
              <a:rPr dirty="0" sz="1200" spc="15">
                <a:solidFill>
                  <a:srgbClr val="333333"/>
                </a:solidFill>
                <a:latin typeface="Courier New"/>
                <a:cs typeface="Courier New"/>
              </a:rPr>
              <a:t>pandas </a:t>
            </a:r>
            <a:r>
              <a:rPr dirty="0" sz="1200" spc="15" b="1">
                <a:solidFill>
                  <a:srgbClr val="333333"/>
                </a:solidFill>
                <a:latin typeface="Courier New"/>
                <a:cs typeface="Courier New"/>
              </a:rPr>
              <a:t>as </a:t>
            </a:r>
            <a:r>
              <a:rPr dirty="0" sz="1200" spc="15">
                <a:solidFill>
                  <a:srgbClr val="333333"/>
                </a:solidFill>
                <a:latin typeface="Courier New"/>
                <a:cs typeface="Courier New"/>
              </a:rPr>
              <a:t>pd  </a:t>
            </a:r>
            <a:r>
              <a:rPr dirty="0" sz="1200" spc="15" b="1">
                <a:solidFill>
                  <a:srgbClr val="333333"/>
                </a:solidFill>
                <a:latin typeface="Courier New"/>
                <a:cs typeface="Courier New"/>
              </a:rPr>
              <a:t>import </a:t>
            </a:r>
            <a:r>
              <a:rPr dirty="0" sz="1200" spc="15">
                <a:solidFill>
                  <a:srgbClr val="333333"/>
                </a:solidFill>
                <a:latin typeface="Courier New"/>
                <a:cs typeface="Courier New"/>
              </a:rPr>
              <a:t>datetime </a:t>
            </a:r>
            <a:r>
              <a:rPr dirty="0" sz="1200" spc="15" b="1">
                <a:solidFill>
                  <a:srgbClr val="333333"/>
                </a:solidFill>
                <a:latin typeface="Courier New"/>
                <a:cs typeface="Courier New"/>
              </a:rPr>
              <a:t>as</a:t>
            </a:r>
            <a:r>
              <a:rPr dirty="0" sz="1200" spc="-25" b="1">
                <a:solidFill>
                  <a:srgbClr val="333333"/>
                </a:solidFill>
                <a:latin typeface="Courier New"/>
                <a:cs typeface="Courier New"/>
              </a:rPr>
              <a:t> </a:t>
            </a:r>
            <a:r>
              <a:rPr dirty="0" sz="1200" spc="15">
                <a:solidFill>
                  <a:srgbClr val="333333"/>
                </a:solidFill>
                <a:latin typeface="Courier New"/>
                <a:cs typeface="Courier New"/>
              </a:rPr>
              <a:t>dt  </a:t>
            </a:r>
            <a:r>
              <a:rPr dirty="0" sz="1200" spc="15" b="1">
                <a:solidFill>
                  <a:srgbClr val="333333"/>
                </a:solidFill>
                <a:latin typeface="Courier New"/>
                <a:cs typeface="Courier New"/>
              </a:rPr>
              <a:t>import </a:t>
            </a:r>
            <a:r>
              <a:rPr dirty="0" sz="1200" spc="15">
                <a:solidFill>
                  <a:srgbClr val="333333"/>
                </a:solidFill>
                <a:latin typeface="Courier New"/>
                <a:cs typeface="Courier New"/>
              </a:rPr>
              <a:t>seaborn </a:t>
            </a:r>
            <a:r>
              <a:rPr dirty="0" sz="1200" spc="15" b="1">
                <a:solidFill>
                  <a:srgbClr val="333333"/>
                </a:solidFill>
                <a:latin typeface="Courier New"/>
                <a:cs typeface="Courier New"/>
              </a:rPr>
              <a:t>as</a:t>
            </a:r>
            <a:r>
              <a:rPr dirty="0" sz="1200" spc="-25" b="1">
                <a:solidFill>
                  <a:srgbClr val="333333"/>
                </a:solidFill>
                <a:latin typeface="Courier New"/>
                <a:cs typeface="Courier New"/>
              </a:rPr>
              <a:t> </a:t>
            </a:r>
            <a:r>
              <a:rPr dirty="0" sz="1200" spc="15">
                <a:solidFill>
                  <a:srgbClr val="333333"/>
                </a:solidFill>
                <a:latin typeface="Courier New"/>
                <a:cs typeface="Courier New"/>
              </a:rPr>
              <a:t>sns</a:t>
            </a:r>
            <a:endParaRPr sz="1200">
              <a:latin typeface="Courier New"/>
              <a:cs typeface="Courier New"/>
            </a:endParaRPr>
          </a:p>
          <a:p>
            <a:pPr marR="648970">
              <a:lnSpc>
                <a:spcPts val="1430"/>
              </a:lnSpc>
              <a:spcBef>
                <a:spcPts val="1185"/>
              </a:spcBef>
            </a:pPr>
            <a:r>
              <a:rPr dirty="0" sz="1200" spc="15">
                <a:solidFill>
                  <a:srgbClr val="333333"/>
                </a:solidFill>
                <a:latin typeface="Courier New"/>
                <a:cs typeface="Courier New"/>
              </a:rPr>
              <a:t>path = </a:t>
            </a:r>
            <a:r>
              <a:rPr dirty="0" sz="1200" spc="15">
                <a:solidFill>
                  <a:srgbClr val="DD1144"/>
                </a:solidFill>
                <a:latin typeface="Courier New"/>
                <a:cs typeface="Courier New"/>
              </a:rPr>
              <a:t>"../../data/kroger_stock_2024.csv"  </a:t>
            </a:r>
            <a:r>
              <a:rPr dirty="0" sz="1200" spc="15">
                <a:solidFill>
                  <a:srgbClr val="333333"/>
                </a:solidFill>
                <a:latin typeface="Courier New"/>
                <a:cs typeface="Courier New"/>
              </a:rPr>
              <a:t>kr =</a:t>
            </a:r>
            <a:r>
              <a:rPr dirty="0" sz="1200" spc="10">
                <a:solidFill>
                  <a:srgbClr val="333333"/>
                </a:solidFill>
                <a:latin typeface="Courier New"/>
                <a:cs typeface="Courier New"/>
              </a:rPr>
              <a:t> </a:t>
            </a:r>
            <a:r>
              <a:rPr dirty="0" sz="1200" spc="15">
                <a:solidFill>
                  <a:srgbClr val="333333"/>
                </a:solidFill>
                <a:latin typeface="Courier New"/>
                <a:cs typeface="Courier New"/>
              </a:rPr>
              <a:t>(</a:t>
            </a:r>
            <a:endParaRPr sz="1200">
              <a:latin typeface="Courier New"/>
              <a:cs typeface="Courier New"/>
            </a:endParaRPr>
          </a:p>
          <a:p>
            <a:pPr marL="187325">
              <a:lnSpc>
                <a:spcPts val="1365"/>
              </a:lnSpc>
            </a:pPr>
            <a:r>
              <a:rPr dirty="0" sz="1200" spc="15">
                <a:solidFill>
                  <a:srgbClr val="333333"/>
                </a:solidFill>
                <a:latin typeface="Courier New"/>
                <a:cs typeface="Courier New"/>
              </a:rPr>
              <a:t>pd.read_csv(path)</a:t>
            </a:r>
            <a:endParaRPr sz="1200">
              <a:latin typeface="Courier New"/>
              <a:cs typeface="Courier New"/>
            </a:endParaRPr>
          </a:p>
          <a:p>
            <a:pPr marL="187325">
              <a:lnSpc>
                <a:spcPts val="1425"/>
              </a:lnSpc>
            </a:pPr>
            <a:r>
              <a:rPr dirty="0" sz="1200" spc="15">
                <a:solidFill>
                  <a:srgbClr val="333333"/>
                </a:solidFill>
                <a:latin typeface="Courier New"/>
                <a:cs typeface="Courier New"/>
              </a:rPr>
              <a:t>.assign(</a:t>
            </a:r>
            <a:endParaRPr sz="1200">
              <a:latin typeface="Courier New"/>
              <a:cs typeface="Courier New"/>
            </a:endParaRPr>
          </a:p>
          <a:p>
            <a:pPr marL="374650">
              <a:lnSpc>
                <a:spcPts val="1430"/>
              </a:lnSpc>
              <a:spcBef>
                <a:spcPts val="50"/>
              </a:spcBef>
            </a:pPr>
            <a:r>
              <a:rPr dirty="0" sz="1200" spc="15">
                <a:solidFill>
                  <a:srgbClr val="333333"/>
                </a:solidFill>
                <a:latin typeface="Courier New"/>
                <a:cs typeface="Courier New"/>
              </a:rPr>
              <a:t>ds=</a:t>
            </a:r>
            <a:r>
              <a:rPr dirty="0" sz="1200" spc="15" b="1">
                <a:solidFill>
                  <a:srgbClr val="333333"/>
                </a:solidFill>
                <a:latin typeface="Courier New"/>
                <a:cs typeface="Courier New"/>
              </a:rPr>
              <a:t>lambda </a:t>
            </a:r>
            <a:r>
              <a:rPr dirty="0" sz="1200" spc="15">
                <a:solidFill>
                  <a:srgbClr val="333333"/>
                </a:solidFill>
                <a:latin typeface="Courier New"/>
                <a:cs typeface="Courier New"/>
              </a:rPr>
              <a:t>x: pd.to_datetime(x[</a:t>
            </a:r>
            <a:r>
              <a:rPr dirty="0" sz="1200" spc="15">
                <a:solidFill>
                  <a:srgbClr val="DD1144"/>
                </a:solidFill>
                <a:latin typeface="Courier New"/>
                <a:cs typeface="Courier New"/>
              </a:rPr>
              <a:t>'date'</a:t>
            </a:r>
            <a:r>
              <a:rPr dirty="0" sz="1200" spc="15">
                <a:solidFill>
                  <a:srgbClr val="333333"/>
                </a:solidFill>
                <a:latin typeface="Courier New"/>
                <a:cs typeface="Courier New"/>
              </a:rPr>
              <a:t>]),  m=</a:t>
            </a:r>
            <a:r>
              <a:rPr dirty="0" sz="1200" spc="15" b="1">
                <a:solidFill>
                  <a:srgbClr val="333333"/>
                </a:solidFill>
                <a:latin typeface="Courier New"/>
                <a:cs typeface="Courier New"/>
              </a:rPr>
              <a:t>lambda </a:t>
            </a:r>
            <a:r>
              <a:rPr dirty="0" sz="1200" spc="15">
                <a:solidFill>
                  <a:srgbClr val="333333"/>
                </a:solidFill>
                <a:latin typeface="Courier New"/>
                <a:cs typeface="Courier New"/>
              </a:rPr>
              <a:t>x:</a:t>
            </a:r>
            <a:r>
              <a:rPr dirty="0" sz="1200" spc="50">
                <a:solidFill>
                  <a:srgbClr val="333333"/>
                </a:solidFill>
                <a:latin typeface="Courier New"/>
                <a:cs typeface="Courier New"/>
              </a:rPr>
              <a:t> </a:t>
            </a:r>
            <a:r>
              <a:rPr dirty="0" sz="1200" spc="15">
                <a:solidFill>
                  <a:srgbClr val="333333"/>
                </a:solidFill>
                <a:latin typeface="Courier New"/>
                <a:cs typeface="Courier New"/>
              </a:rPr>
              <a:t>x[</a:t>
            </a:r>
            <a:r>
              <a:rPr dirty="0" sz="1200" spc="15">
                <a:solidFill>
                  <a:srgbClr val="DD1144"/>
                </a:solidFill>
                <a:latin typeface="Courier New"/>
                <a:cs typeface="Courier New"/>
              </a:rPr>
              <a:t>'ds'</a:t>
            </a:r>
            <a:r>
              <a:rPr dirty="0" sz="1200" spc="15">
                <a:solidFill>
                  <a:srgbClr val="333333"/>
                </a:solidFill>
                <a:latin typeface="Courier New"/>
                <a:cs typeface="Courier New"/>
              </a:rPr>
              <a:t>].dt.month_name().str[:</a:t>
            </a:r>
            <a:r>
              <a:rPr dirty="0" sz="1200" spc="15">
                <a:solidFill>
                  <a:srgbClr val="008080"/>
                </a:solidFill>
                <a:latin typeface="Courier New"/>
                <a:cs typeface="Courier New"/>
              </a:rPr>
              <a:t>3</a:t>
            </a:r>
            <a:r>
              <a:rPr dirty="0" sz="1200" spc="15">
                <a:solidFill>
                  <a:srgbClr val="333333"/>
                </a:solidFill>
                <a:latin typeface="Courier New"/>
                <a:cs typeface="Courier New"/>
              </a:rPr>
              <a:t>],</a:t>
            </a:r>
            <a:endParaRPr sz="1200">
              <a:latin typeface="Courier New"/>
              <a:cs typeface="Courier New"/>
            </a:endParaRPr>
          </a:p>
          <a:p>
            <a:pPr marL="187325">
              <a:lnSpc>
                <a:spcPts val="1330"/>
              </a:lnSpc>
            </a:pPr>
            <a:r>
              <a:rPr dirty="0" sz="1200" spc="15">
                <a:solidFill>
                  <a:srgbClr val="333333"/>
                </a:solidFill>
                <a:latin typeface="Courier New"/>
                <a:cs typeface="Courier New"/>
              </a:rPr>
              <a:t>)</a:t>
            </a:r>
            <a:endParaRPr sz="1200">
              <a:latin typeface="Courier New"/>
              <a:cs typeface="Courier New"/>
            </a:endParaRPr>
          </a:p>
          <a:p>
            <a:pPr>
              <a:lnSpc>
                <a:spcPts val="1395"/>
              </a:lnSpc>
            </a:pPr>
            <a:r>
              <a:rPr dirty="0" sz="1200" spc="15">
                <a:solidFill>
                  <a:srgbClr val="333333"/>
                </a:solidFill>
                <a:latin typeface="Courier New"/>
                <a:cs typeface="Courier New"/>
              </a:rPr>
              <a:t>)</a:t>
            </a:r>
            <a:endParaRPr sz="1200">
              <a:latin typeface="Courier New"/>
              <a:cs typeface="Courier New"/>
            </a:endParaRPr>
          </a:p>
          <a:p>
            <a:pPr marR="2055495">
              <a:lnSpc>
                <a:spcPts val="1430"/>
              </a:lnSpc>
              <a:spcBef>
                <a:spcPts val="1315"/>
              </a:spcBef>
            </a:pPr>
            <a:r>
              <a:rPr dirty="0" sz="1200" spc="15">
                <a:solidFill>
                  <a:srgbClr val="333333"/>
                </a:solidFill>
                <a:latin typeface="Courier New"/>
                <a:cs typeface="Courier New"/>
              </a:rPr>
              <a:t>plt.figure(figsize=(</a:t>
            </a:r>
            <a:r>
              <a:rPr dirty="0" sz="1200" spc="15">
                <a:solidFill>
                  <a:srgbClr val="008080"/>
                </a:solidFill>
                <a:latin typeface="Courier New"/>
                <a:cs typeface="Courier New"/>
              </a:rPr>
              <a:t>8</a:t>
            </a:r>
            <a:r>
              <a:rPr dirty="0" sz="1200" spc="15">
                <a:solidFill>
                  <a:srgbClr val="333333"/>
                </a:solidFill>
                <a:latin typeface="Courier New"/>
                <a:cs typeface="Courier New"/>
              </a:rPr>
              <a:t>,</a:t>
            </a:r>
            <a:r>
              <a:rPr dirty="0" sz="1200" spc="-5">
                <a:solidFill>
                  <a:srgbClr val="333333"/>
                </a:solidFill>
                <a:latin typeface="Courier New"/>
                <a:cs typeface="Courier New"/>
              </a:rPr>
              <a:t> </a:t>
            </a:r>
            <a:r>
              <a:rPr dirty="0" sz="1200" spc="15">
                <a:solidFill>
                  <a:srgbClr val="008080"/>
                </a:solidFill>
                <a:latin typeface="Courier New"/>
                <a:cs typeface="Courier New"/>
              </a:rPr>
              <a:t>5</a:t>
            </a:r>
            <a:r>
              <a:rPr dirty="0" sz="1200" spc="15">
                <a:solidFill>
                  <a:srgbClr val="333333"/>
                </a:solidFill>
                <a:latin typeface="Courier New"/>
                <a:cs typeface="Courier New"/>
              </a:rPr>
              <a:t>))  ax =</a:t>
            </a:r>
            <a:r>
              <a:rPr dirty="0" sz="1200" spc="5">
                <a:solidFill>
                  <a:srgbClr val="333333"/>
                </a:solidFill>
                <a:latin typeface="Courier New"/>
                <a:cs typeface="Courier New"/>
              </a:rPr>
              <a:t> </a:t>
            </a:r>
            <a:r>
              <a:rPr dirty="0" sz="1200" spc="15">
                <a:solidFill>
                  <a:srgbClr val="333333"/>
                </a:solidFill>
                <a:latin typeface="Courier New"/>
                <a:cs typeface="Courier New"/>
              </a:rPr>
              <a:t>sns.lineplot(</a:t>
            </a:r>
            <a:endParaRPr sz="1200">
              <a:latin typeface="Courier New"/>
              <a:cs typeface="Courier New"/>
            </a:endParaRPr>
          </a:p>
          <a:p>
            <a:pPr marL="187325">
              <a:lnSpc>
                <a:spcPts val="1290"/>
              </a:lnSpc>
            </a:pPr>
            <a:r>
              <a:rPr dirty="0" sz="1200" spc="15">
                <a:solidFill>
                  <a:srgbClr val="333333"/>
                </a:solidFill>
                <a:latin typeface="Courier New"/>
                <a:cs typeface="Courier New"/>
              </a:rPr>
              <a:t>data=kr, x=</a:t>
            </a:r>
            <a:r>
              <a:rPr dirty="0" sz="1200" spc="15">
                <a:solidFill>
                  <a:srgbClr val="DD1144"/>
                </a:solidFill>
                <a:latin typeface="Courier New"/>
                <a:cs typeface="Courier New"/>
              </a:rPr>
              <a:t>'ds'</a:t>
            </a:r>
            <a:r>
              <a:rPr dirty="0" sz="1200" spc="15">
                <a:solidFill>
                  <a:srgbClr val="333333"/>
                </a:solidFill>
                <a:latin typeface="Courier New"/>
                <a:cs typeface="Courier New"/>
              </a:rPr>
              <a:t>, y=</a:t>
            </a:r>
            <a:r>
              <a:rPr dirty="0" sz="1200" spc="15">
                <a:solidFill>
                  <a:srgbClr val="DD1144"/>
                </a:solidFill>
                <a:latin typeface="Courier New"/>
                <a:cs typeface="Courier New"/>
              </a:rPr>
              <a:t>'price'</a:t>
            </a:r>
            <a:r>
              <a:rPr dirty="0" sz="1200" spc="15">
                <a:solidFill>
                  <a:srgbClr val="333333"/>
                </a:solidFill>
                <a:latin typeface="Courier New"/>
                <a:cs typeface="Courier New"/>
              </a:rPr>
              <a:t>,</a:t>
            </a:r>
            <a:r>
              <a:rPr dirty="0" sz="1200" spc="25">
                <a:solidFill>
                  <a:srgbClr val="333333"/>
                </a:solidFill>
                <a:latin typeface="Courier New"/>
                <a:cs typeface="Courier New"/>
              </a:rPr>
              <a:t> </a:t>
            </a:r>
            <a:r>
              <a:rPr dirty="0" sz="1200" spc="15">
                <a:solidFill>
                  <a:srgbClr val="333333"/>
                </a:solidFill>
                <a:latin typeface="Courier New"/>
                <a:cs typeface="Courier New"/>
              </a:rPr>
              <a:t>color=</a:t>
            </a:r>
            <a:r>
              <a:rPr dirty="0" sz="1200" spc="15">
                <a:solidFill>
                  <a:srgbClr val="DD1144"/>
                </a:solidFill>
                <a:latin typeface="Courier New"/>
                <a:cs typeface="Courier New"/>
              </a:rPr>
              <a:t>'black'</a:t>
            </a:r>
            <a:endParaRPr sz="1200">
              <a:latin typeface="Courier New"/>
              <a:cs typeface="Courier New"/>
            </a:endParaRPr>
          </a:p>
          <a:p>
            <a:pPr marL="187325">
              <a:lnSpc>
                <a:spcPts val="1425"/>
              </a:lnSpc>
            </a:pPr>
            <a:r>
              <a:rPr dirty="0" sz="1200" spc="15">
                <a:solidFill>
                  <a:srgbClr val="333333"/>
                </a:solidFill>
                <a:latin typeface="Courier New"/>
                <a:cs typeface="Courier New"/>
              </a:rPr>
              <a:t>)</a:t>
            </a:r>
            <a:endParaRPr sz="1200">
              <a:latin typeface="Courier New"/>
              <a:cs typeface="Courier New"/>
            </a:endParaRPr>
          </a:p>
          <a:p>
            <a:pPr>
              <a:lnSpc>
                <a:spcPts val="1425"/>
              </a:lnSpc>
            </a:pPr>
            <a:r>
              <a:rPr dirty="0" sz="1200" spc="15">
                <a:solidFill>
                  <a:srgbClr val="333333"/>
                </a:solidFill>
                <a:latin typeface="Courier New"/>
                <a:cs typeface="Courier New"/>
              </a:rPr>
              <a:t>sns.scatterplot(</a:t>
            </a:r>
            <a:endParaRPr sz="1200">
              <a:latin typeface="Courier New"/>
              <a:cs typeface="Courier New"/>
            </a:endParaRPr>
          </a:p>
          <a:p>
            <a:pPr marL="187325" marR="179705">
              <a:lnSpc>
                <a:spcPts val="1430"/>
              </a:lnSpc>
              <a:spcBef>
                <a:spcPts val="50"/>
              </a:spcBef>
            </a:pPr>
            <a:r>
              <a:rPr dirty="0" sz="1200" spc="15">
                <a:solidFill>
                  <a:srgbClr val="333333"/>
                </a:solidFill>
                <a:latin typeface="Courier New"/>
                <a:cs typeface="Courier New"/>
              </a:rPr>
              <a:t>data = kr, x = </a:t>
            </a:r>
            <a:r>
              <a:rPr dirty="0" sz="1200" spc="15">
                <a:solidFill>
                  <a:srgbClr val="DD1144"/>
                </a:solidFill>
                <a:latin typeface="Courier New"/>
                <a:cs typeface="Courier New"/>
              </a:rPr>
              <a:t>'ds'</a:t>
            </a:r>
            <a:r>
              <a:rPr dirty="0" sz="1200" spc="15">
                <a:solidFill>
                  <a:srgbClr val="333333"/>
                </a:solidFill>
                <a:latin typeface="Courier New"/>
                <a:cs typeface="Courier New"/>
              </a:rPr>
              <a:t>, y = </a:t>
            </a:r>
            <a:r>
              <a:rPr dirty="0" sz="1200" spc="15">
                <a:solidFill>
                  <a:srgbClr val="DD1144"/>
                </a:solidFill>
                <a:latin typeface="Courier New"/>
                <a:cs typeface="Courier New"/>
              </a:rPr>
              <a:t>'price'</a:t>
            </a:r>
            <a:r>
              <a:rPr dirty="0" sz="1200" spc="15">
                <a:solidFill>
                  <a:srgbClr val="333333"/>
                </a:solidFill>
                <a:latin typeface="Courier New"/>
                <a:cs typeface="Courier New"/>
              </a:rPr>
              <a:t>, hue = </a:t>
            </a:r>
            <a:r>
              <a:rPr dirty="0" sz="1200" spc="15">
                <a:solidFill>
                  <a:srgbClr val="DD1144"/>
                </a:solidFill>
                <a:latin typeface="Courier New"/>
                <a:cs typeface="Courier New"/>
              </a:rPr>
              <a:t>'m'</a:t>
            </a:r>
            <a:r>
              <a:rPr dirty="0" sz="1200" spc="15">
                <a:solidFill>
                  <a:srgbClr val="333333"/>
                </a:solidFill>
                <a:latin typeface="Courier New"/>
                <a:cs typeface="Courier New"/>
              </a:rPr>
              <a:t>,  s=</a:t>
            </a:r>
            <a:r>
              <a:rPr dirty="0" sz="1200" spc="15">
                <a:solidFill>
                  <a:srgbClr val="008080"/>
                </a:solidFill>
                <a:latin typeface="Courier New"/>
                <a:cs typeface="Courier New"/>
              </a:rPr>
              <a:t>40</a:t>
            </a:r>
            <a:r>
              <a:rPr dirty="0" sz="1200" spc="15">
                <a:solidFill>
                  <a:srgbClr val="333333"/>
                </a:solidFill>
                <a:latin typeface="Courier New"/>
                <a:cs typeface="Courier New"/>
              </a:rPr>
              <a:t>, ax=ax,</a:t>
            </a:r>
            <a:r>
              <a:rPr dirty="0" sz="1200" spc="10">
                <a:solidFill>
                  <a:srgbClr val="333333"/>
                </a:solidFill>
                <a:latin typeface="Courier New"/>
                <a:cs typeface="Courier New"/>
              </a:rPr>
              <a:t> </a:t>
            </a:r>
            <a:r>
              <a:rPr dirty="0" sz="1200" spc="15">
                <a:solidFill>
                  <a:srgbClr val="333333"/>
                </a:solidFill>
                <a:latin typeface="Courier New"/>
                <a:cs typeface="Courier New"/>
              </a:rPr>
              <a:t>palette=</a:t>
            </a:r>
            <a:r>
              <a:rPr dirty="0" sz="1200" spc="15">
                <a:solidFill>
                  <a:srgbClr val="DD1144"/>
                </a:solidFill>
                <a:latin typeface="Courier New"/>
                <a:cs typeface="Courier New"/>
              </a:rPr>
              <a:t>'Paired'</a:t>
            </a:r>
            <a:endParaRPr sz="1200">
              <a:latin typeface="Courier New"/>
              <a:cs typeface="Courier New"/>
            </a:endParaRPr>
          </a:p>
          <a:p>
            <a:pPr marL="187325">
              <a:lnSpc>
                <a:spcPts val="1365"/>
              </a:lnSpc>
            </a:pPr>
            <a:r>
              <a:rPr dirty="0" sz="1200" spc="15">
                <a:solidFill>
                  <a:srgbClr val="333333"/>
                </a:solidFill>
                <a:latin typeface="Courier New"/>
                <a:cs typeface="Courier New"/>
              </a:rPr>
              <a:t>)</a:t>
            </a:r>
            <a:endParaRPr sz="1200">
              <a:latin typeface="Courier New"/>
              <a:cs typeface="Courier New"/>
            </a:endParaRPr>
          </a:p>
          <a:p>
            <a:pPr>
              <a:lnSpc>
                <a:spcPts val="1425"/>
              </a:lnSpc>
            </a:pPr>
            <a:r>
              <a:rPr dirty="0" sz="1200" spc="15">
                <a:solidFill>
                  <a:srgbClr val="333333"/>
                </a:solidFill>
                <a:latin typeface="Courier New"/>
                <a:cs typeface="Courier New"/>
              </a:rPr>
              <a:t>ax.set(</a:t>
            </a:r>
            <a:endParaRPr sz="1200">
              <a:latin typeface="Courier New"/>
              <a:cs typeface="Courier New"/>
            </a:endParaRPr>
          </a:p>
          <a:p>
            <a:pPr marL="187325">
              <a:lnSpc>
                <a:spcPts val="1350"/>
              </a:lnSpc>
              <a:spcBef>
                <a:spcPts val="110"/>
              </a:spcBef>
            </a:pPr>
            <a:r>
              <a:rPr dirty="0" sz="1200" spc="15">
                <a:solidFill>
                  <a:srgbClr val="333333"/>
                </a:solidFill>
                <a:latin typeface="Courier New"/>
                <a:cs typeface="Courier New"/>
              </a:rPr>
              <a:t>title=</a:t>
            </a:r>
            <a:r>
              <a:rPr dirty="0" sz="1200" spc="15">
                <a:solidFill>
                  <a:srgbClr val="DD1144"/>
                </a:solidFill>
                <a:latin typeface="Courier New"/>
                <a:cs typeface="Courier New"/>
              </a:rPr>
              <a:t>"Kroger's Daily Adjusted Closing Price"</a:t>
            </a:r>
            <a:r>
              <a:rPr dirty="0" sz="1200" spc="15">
                <a:solidFill>
                  <a:srgbClr val="333333"/>
                </a:solidFill>
                <a:latin typeface="Courier New"/>
                <a:cs typeface="Courier New"/>
              </a:rPr>
              <a:t>,  xlabel=</a:t>
            </a:r>
            <a:r>
              <a:rPr dirty="0" sz="1200" spc="15">
                <a:solidFill>
                  <a:srgbClr val="DD1144"/>
                </a:solidFill>
                <a:latin typeface="Courier New"/>
                <a:cs typeface="Courier New"/>
              </a:rPr>
              <a:t>"Date"</a:t>
            </a:r>
            <a:r>
              <a:rPr dirty="0" sz="1200" spc="15">
                <a:solidFill>
                  <a:srgbClr val="333333"/>
                </a:solidFill>
                <a:latin typeface="Courier New"/>
                <a:cs typeface="Courier New"/>
              </a:rPr>
              <a:t>,</a:t>
            </a:r>
            <a:endParaRPr sz="1200">
              <a:latin typeface="Courier New"/>
              <a:cs typeface="Courier New"/>
            </a:endParaRPr>
          </a:p>
          <a:p>
            <a:pPr marL="187325">
              <a:lnSpc>
                <a:spcPts val="1395"/>
              </a:lnSpc>
            </a:pPr>
            <a:r>
              <a:rPr dirty="0" sz="1200" spc="15">
                <a:solidFill>
                  <a:srgbClr val="333333"/>
                </a:solidFill>
                <a:latin typeface="Courier New"/>
                <a:cs typeface="Courier New"/>
              </a:rPr>
              <a:t>ylabel=</a:t>
            </a:r>
            <a:r>
              <a:rPr dirty="0" sz="1200" spc="15">
                <a:solidFill>
                  <a:srgbClr val="DD1144"/>
                </a:solidFill>
                <a:latin typeface="Courier New"/>
                <a:cs typeface="Courier New"/>
              </a:rPr>
              <a:t>"Adjusted Daily Closing Price"</a:t>
            </a:r>
            <a:r>
              <a:rPr dirty="0" sz="1200" spc="15">
                <a:solidFill>
                  <a:srgbClr val="333333"/>
                </a:solidFill>
                <a:latin typeface="Courier New"/>
                <a:cs typeface="Courier New"/>
              </a:rPr>
              <a:t>,</a:t>
            </a:r>
            <a:endParaRPr sz="1200">
              <a:latin typeface="Courier New"/>
              <a:cs typeface="Courier New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012031" y="6155594"/>
            <a:ext cx="93980" cy="213360"/>
          </a:xfrm>
          <a:prstGeom prst="rect">
            <a:avLst/>
          </a:prstGeom>
        </p:spPr>
        <p:txBody>
          <a:bodyPr wrap="square" lIns="0" tIns="16510" rIns="0" bIns="0" rtlCol="0" vert="horz">
            <a:spAutoFit/>
          </a:bodyPr>
          <a:lstStyle/>
          <a:p>
            <a:pPr>
              <a:lnSpc>
                <a:spcPct val="100000"/>
              </a:lnSpc>
              <a:spcBef>
                <a:spcPts val="130"/>
              </a:spcBef>
            </a:pPr>
            <a:r>
              <a:rPr dirty="0" sz="1200" spc="15">
                <a:solidFill>
                  <a:srgbClr val="333333"/>
                </a:solidFill>
                <a:latin typeface="Courier New"/>
                <a:cs typeface="Courier New"/>
              </a:rPr>
              <a:t>)</a:t>
            </a:r>
            <a:endParaRPr sz="1200">
              <a:latin typeface="Courier New"/>
              <a:cs typeface="Courier New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10964712" y="6207124"/>
            <a:ext cx="421005" cy="208279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200" spc="5">
                <a:solidFill>
                  <a:srgbClr val="585D60"/>
                </a:solidFill>
                <a:latin typeface="Arial"/>
                <a:cs typeface="Arial"/>
              </a:rPr>
              <a:t>7 </a:t>
            </a:r>
            <a:r>
              <a:rPr dirty="0" sz="1200" spc="160">
                <a:solidFill>
                  <a:srgbClr val="585D60"/>
                </a:solidFill>
                <a:latin typeface="Arial"/>
                <a:cs typeface="Arial"/>
              </a:rPr>
              <a:t>/</a:t>
            </a:r>
            <a:r>
              <a:rPr dirty="0" sz="1200" spc="-16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200" spc="5">
                <a:solidFill>
                  <a:srgbClr val="585D60"/>
                </a:solidFill>
                <a:latin typeface="Arial"/>
                <a:cs typeface="Arial"/>
              </a:rPr>
              <a:t>33</a:t>
            </a:r>
            <a:endParaRPr sz="12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5762624" y="2933699"/>
            <a:ext cx="4848224" cy="3552824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01700" y="530225"/>
            <a:ext cx="8756015" cy="539750"/>
          </a:xfrm>
          <a:prstGeom prst="rect"/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3350" spc="-225">
                <a:solidFill>
                  <a:srgbClr val="C2132D"/>
                </a:solidFill>
              </a:rPr>
              <a:t>Example: </a:t>
            </a:r>
            <a:r>
              <a:rPr dirty="0" sz="3350" spc="-215">
                <a:solidFill>
                  <a:srgbClr val="C2132D"/>
                </a:solidFill>
              </a:rPr>
              <a:t>The </a:t>
            </a:r>
            <a:r>
              <a:rPr dirty="0" sz="3350" spc="-195">
                <a:solidFill>
                  <a:srgbClr val="C2132D"/>
                </a:solidFill>
              </a:rPr>
              <a:t>Non-Stationarity </a:t>
            </a:r>
            <a:r>
              <a:rPr dirty="0" sz="3350" spc="-190">
                <a:solidFill>
                  <a:srgbClr val="C2132D"/>
                </a:solidFill>
              </a:rPr>
              <a:t>in </a:t>
            </a:r>
            <a:r>
              <a:rPr dirty="0" sz="3350" spc="-175">
                <a:solidFill>
                  <a:srgbClr val="C2132D"/>
                </a:solidFill>
              </a:rPr>
              <a:t>Kroger </a:t>
            </a:r>
            <a:r>
              <a:rPr dirty="0" sz="3350" spc="-120">
                <a:solidFill>
                  <a:srgbClr val="C2132D"/>
                </a:solidFill>
              </a:rPr>
              <a:t>Stock</a:t>
            </a:r>
            <a:r>
              <a:rPr dirty="0" sz="3350" spc="-484">
                <a:solidFill>
                  <a:srgbClr val="C2132D"/>
                </a:solidFill>
              </a:rPr>
              <a:t> </a:t>
            </a:r>
            <a:r>
              <a:rPr dirty="0" sz="3350" spc="-160">
                <a:solidFill>
                  <a:srgbClr val="C2132D"/>
                </a:solidFill>
              </a:rPr>
              <a:t>Price</a:t>
            </a:r>
            <a:endParaRPr sz="3350"/>
          </a:p>
        </p:txBody>
      </p:sp>
      <p:sp>
        <p:nvSpPr>
          <p:cNvPr id="4" name="object 4"/>
          <p:cNvSpPr/>
          <p:nvPr/>
        </p:nvSpPr>
        <p:spPr>
          <a:xfrm>
            <a:off x="914400" y="5543549"/>
            <a:ext cx="171450" cy="142875"/>
          </a:xfrm>
          <a:custGeom>
            <a:avLst/>
            <a:gdLst/>
            <a:ahLst/>
            <a:cxnLst/>
            <a:rect l="l" t="t" r="r" b="b"/>
            <a:pathLst>
              <a:path w="171450" h="142875">
                <a:moveTo>
                  <a:pt x="0" y="0"/>
                </a:moveTo>
                <a:lnTo>
                  <a:pt x="171449" y="0"/>
                </a:lnTo>
                <a:lnTo>
                  <a:pt x="171449" y="142874"/>
                </a:lnTo>
                <a:lnTo>
                  <a:pt x="0" y="142874"/>
                </a:lnTo>
                <a:lnTo>
                  <a:pt x="0" y="0"/>
                </a:lnTo>
                <a:close/>
              </a:path>
            </a:pathLst>
          </a:custGeom>
          <a:solidFill>
            <a:srgbClr val="FBFBFB"/>
          </a:solidFill>
        </p:spPr>
        <p:txBody>
          <a:bodyPr wrap="square" lIns="0" tIns="0" rIns="0" bIns="0" rtlCol="0"/>
          <a:lstStyle/>
          <a:p/>
        </p:txBody>
      </p:sp>
      <p:sp>
        <p:nvSpPr>
          <p:cNvPr id="5" name="object 5"/>
          <p:cNvSpPr txBox="1"/>
          <p:nvPr/>
        </p:nvSpPr>
        <p:spPr>
          <a:xfrm>
            <a:off x="947737" y="5559425"/>
            <a:ext cx="98425" cy="12827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>
              <a:lnSpc>
                <a:spcPct val="100000"/>
              </a:lnSpc>
              <a:spcBef>
                <a:spcPts val="125"/>
              </a:spcBef>
            </a:pPr>
            <a:r>
              <a:rPr dirty="0" sz="650" spc="25">
                <a:solidFill>
                  <a:srgbClr val="8B8B8B"/>
                </a:solidFill>
                <a:latin typeface="Segoe Fluent Icons"/>
                <a:cs typeface="Segoe Fluent Icons"/>
              </a:rPr>
              <a:t></a:t>
            </a:r>
            <a:endParaRPr sz="650">
              <a:latin typeface="Segoe Fluent Icons"/>
              <a:cs typeface="Segoe Fluent Icons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5400674" y="5543549"/>
            <a:ext cx="171450" cy="142875"/>
          </a:xfrm>
          <a:custGeom>
            <a:avLst/>
            <a:gdLst/>
            <a:ahLst/>
            <a:cxnLst/>
            <a:rect l="l" t="t" r="r" b="b"/>
            <a:pathLst>
              <a:path w="171450" h="142875">
                <a:moveTo>
                  <a:pt x="0" y="0"/>
                </a:moveTo>
                <a:lnTo>
                  <a:pt x="171449" y="0"/>
                </a:lnTo>
                <a:lnTo>
                  <a:pt x="171449" y="142874"/>
                </a:lnTo>
                <a:lnTo>
                  <a:pt x="0" y="142874"/>
                </a:lnTo>
                <a:lnTo>
                  <a:pt x="0" y="0"/>
                </a:lnTo>
                <a:close/>
              </a:path>
            </a:pathLst>
          </a:custGeom>
          <a:solidFill>
            <a:srgbClr val="FBFBFB"/>
          </a:solidFill>
        </p:spPr>
        <p:txBody>
          <a:bodyPr wrap="square" lIns="0" tIns="0" rIns="0" bIns="0" rtlCol="0"/>
          <a:lstStyle/>
          <a:p/>
        </p:txBody>
      </p:sp>
      <p:sp>
        <p:nvSpPr>
          <p:cNvPr id="7" name="object 7"/>
          <p:cNvSpPr txBox="1"/>
          <p:nvPr/>
        </p:nvSpPr>
        <p:spPr>
          <a:xfrm>
            <a:off x="5453062" y="5559425"/>
            <a:ext cx="98425" cy="12827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>
              <a:lnSpc>
                <a:spcPct val="100000"/>
              </a:lnSpc>
              <a:spcBef>
                <a:spcPts val="125"/>
              </a:spcBef>
            </a:pPr>
            <a:r>
              <a:rPr dirty="0" sz="650" spc="25">
                <a:solidFill>
                  <a:srgbClr val="8B8B8B"/>
                </a:solidFill>
                <a:latin typeface="Segoe Fluent Icons"/>
                <a:cs typeface="Segoe Fluent Icons"/>
              </a:rPr>
              <a:t></a:t>
            </a:r>
            <a:endParaRPr sz="650">
              <a:latin typeface="Segoe Fluent Icons"/>
              <a:cs typeface="Segoe Fluent Icons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1085850" y="5543549"/>
            <a:ext cx="4314825" cy="142875"/>
          </a:xfrm>
          <a:custGeom>
            <a:avLst/>
            <a:gdLst/>
            <a:ahLst/>
            <a:cxnLst/>
            <a:rect l="l" t="t" r="r" b="b"/>
            <a:pathLst>
              <a:path w="4314825" h="142875">
                <a:moveTo>
                  <a:pt x="0" y="0"/>
                </a:moveTo>
                <a:lnTo>
                  <a:pt x="4314824" y="0"/>
                </a:lnTo>
                <a:lnTo>
                  <a:pt x="4314824" y="142874"/>
                </a:lnTo>
                <a:lnTo>
                  <a:pt x="0" y="142874"/>
                </a:lnTo>
                <a:lnTo>
                  <a:pt x="0" y="0"/>
                </a:lnTo>
                <a:close/>
              </a:path>
            </a:pathLst>
          </a:custGeom>
          <a:solidFill>
            <a:srgbClr val="FBFBFB"/>
          </a:solidFill>
        </p:spPr>
        <p:txBody>
          <a:bodyPr wrap="square" lIns="0" tIns="0" rIns="0" bIns="0" rtlCol="0"/>
          <a:lstStyle/>
          <a:p/>
        </p:txBody>
      </p:sp>
      <p:sp>
        <p:nvSpPr>
          <p:cNvPr id="9" name="object 9"/>
          <p:cNvSpPr/>
          <p:nvPr/>
        </p:nvSpPr>
        <p:spPr>
          <a:xfrm>
            <a:off x="1085849" y="5572124"/>
            <a:ext cx="4191000" cy="85725"/>
          </a:xfrm>
          <a:custGeom>
            <a:avLst/>
            <a:gdLst/>
            <a:ahLst/>
            <a:cxnLst/>
            <a:rect l="l" t="t" r="r" b="b"/>
            <a:pathLst>
              <a:path w="4191000" h="85725">
                <a:moveTo>
                  <a:pt x="4153821" y="85724"/>
                </a:moveTo>
                <a:lnTo>
                  <a:pt x="37178" y="85724"/>
                </a:lnTo>
                <a:lnTo>
                  <a:pt x="31710" y="84636"/>
                </a:lnTo>
                <a:lnTo>
                  <a:pt x="1087" y="54013"/>
                </a:lnTo>
                <a:lnTo>
                  <a:pt x="0" y="48546"/>
                </a:lnTo>
                <a:lnTo>
                  <a:pt x="0" y="37178"/>
                </a:lnTo>
                <a:lnTo>
                  <a:pt x="21208" y="5437"/>
                </a:lnTo>
                <a:lnTo>
                  <a:pt x="37178" y="0"/>
                </a:lnTo>
                <a:lnTo>
                  <a:pt x="4153821" y="0"/>
                </a:lnTo>
                <a:lnTo>
                  <a:pt x="4185561" y="21207"/>
                </a:lnTo>
                <a:lnTo>
                  <a:pt x="4190999" y="37178"/>
                </a:lnTo>
                <a:lnTo>
                  <a:pt x="4190999" y="48546"/>
                </a:lnTo>
                <a:lnTo>
                  <a:pt x="4169790" y="80286"/>
                </a:lnTo>
                <a:lnTo>
                  <a:pt x="4153821" y="85724"/>
                </a:lnTo>
                <a:close/>
              </a:path>
            </a:pathLst>
          </a:custGeom>
          <a:solidFill>
            <a:srgbClr val="8B8B8B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0" name="object 10"/>
          <p:cNvSpPr/>
          <p:nvPr/>
        </p:nvSpPr>
        <p:spPr>
          <a:xfrm>
            <a:off x="914400" y="1638300"/>
            <a:ext cx="4657725" cy="3905250"/>
          </a:xfrm>
          <a:custGeom>
            <a:avLst/>
            <a:gdLst/>
            <a:ahLst/>
            <a:cxnLst/>
            <a:rect l="l" t="t" r="r" b="b"/>
            <a:pathLst>
              <a:path w="4657725" h="3905250">
                <a:moveTo>
                  <a:pt x="0" y="0"/>
                </a:moveTo>
                <a:lnTo>
                  <a:pt x="4657724" y="0"/>
                </a:lnTo>
                <a:lnTo>
                  <a:pt x="4657724" y="3905249"/>
                </a:lnTo>
                <a:lnTo>
                  <a:pt x="0" y="3905249"/>
                </a:lnTo>
                <a:lnTo>
                  <a:pt x="0" y="0"/>
                </a:lnTo>
                <a:close/>
              </a:path>
            </a:pathLst>
          </a:custGeom>
          <a:solidFill>
            <a:srgbClr val="F7F7F7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1" name="object 11"/>
          <p:cNvSpPr txBox="1"/>
          <p:nvPr/>
        </p:nvSpPr>
        <p:spPr>
          <a:xfrm>
            <a:off x="1012031" y="1707419"/>
            <a:ext cx="4608830" cy="1451610"/>
          </a:xfrm>
          <a:prstGeom prst="rect">
            <a:avLst/>
          </a:prstGeom>
        </p:spPr>
        <p:txBody>
          <a:bodyPr wrap="square" lIns="0" tIns="16510" rIns="0" bIns="0" rtlCol="0" vert="horz">
            <a:spAutoFit/>
          </a:bodyPr>
          <a:lstStyle/>
          <a:p>
            <a:pPr>
              <a:lnSpc>
                <a:spcPts val="1430"/>
              </a:lnSpc>
              <a:spcBef>
                <a:spcPts val="130"/>
              </a:spcBef>
            </a:pPr>
            <a:r>
              <a:rPr dirty="0" sz="1200" spc="15" b="1">
                <a:solidFill>
                  <a:srgbClr val="333333"/>
                </a:solidFill>
                <a:latin typeface="Courier New"/>
                <a:cs typeface="Courier New"/>
              </a:rPr>
              <a:t>from </a:t>
            </a:r>
            <a:r>
              <a:rPr dirty="0" sz="1200" spc="15">
                <a:solidFill>
                  <a:srgbClr val="333333"/>
                </a:solidFill>
                <a:latin typeface="Courier New"/>
                <a:cs typeface="Courier New"/>
              </a:rPr>
              <a:t>statsmodels.tsa.stattools </a:t>
            </a:r>
            <a:r>
              <a:rPr dirty="0" sz="1200" spc="15" b="1">
                <a:solidFill>
                  <a:srgbClr val="333333"/>
                </a:solidFill>
                <a:latin typeface="Courier New"/>
                <a:cs typeface="Courier New"/>
              </a:rPr>
              <a:t>import</a:t>
            </a:r>
            <a:r>
              <a:rPr dirty="0" sz="1200" spc="20" b="1">
                <a:solidFill>
                  <a:srgbClr val="333333"/>
                </a:solidFill>
                <a:latin typeface="Courier New"/>
                <a:cs typeface="Courier New"/>
              </a:rPr>
              <a:t> </a:t>
            </a:r>
            <a:r>
              <a:rPr dirty="0" sz="1200" spc="15">
                <a:solidFill>
                  <a:srgbClr val="333333"/>
                </a:solidFill>
                <a:latin typeface="Courier New"/>
                <a:cs typeface="Courier New"/>
              </a:rPr>
              <a:t>acf</a:t>
            </a:r>
            <a:endParaRPr sz="1200">
              <a:latin typeface="Courier New"/>
              <a:cs typeface="Courier New"/>
            </a:endParaRPr>
          </a:p>
          <a:p>
            <a:pPr>
              <a:lnSpc>
                <a:spcPts val="1430"/>
              </a:lnSpc>
            </a:pPr>
            <a:r>
              <a:rPr dirty="0" sz="1200" spc="15" b="1">
                <a:solidFill>
                  <a:srgbClr val="333333"/>
                </a:solidFill>
                <a:latin typeface="Courier New"/>
                <a:cs typeface="Courier New"/>
              </a:rPr>
              <a:t>from </a:t>
            </a:r>
            <a:r>
              <a:rPr dirty="0" sz="1200" spc="15">
                <a:solidFill>
                  <a:srgbClr val="333333"/>
                </a:solidFill>
                <a:latin typeface="Courier New"/>
                <a:cs typeface="Courier New"/>
              </a:rPr>
              <a:t>statsmodels.graphics.tsaplots </a:t>
            </a:r>
            <a:r>
              <a:rPr dirty="0" sz="1200" spc="15" b="1">
                <a:solidFill>
                  <a:srgbClr val="333333"/>
                </a:solidFill>
                <a:latin typeface="Courier New"/>
                <a:cs typeface="Courier New"/>
              </a:rPr>
              <a:t>import</a:t>
            </a:r>
            <a:r>
              <a:rPr dirty="0" sz="1200" spc="65" b="1">
                <a:solidFill>
                  <a:srgbClr val="333333"/>
                </a:solidFill>
                <a:latin typeface="Courier New"/>
                <a:cs typeface="Courier New"/>
              </a:rPr>
              <a:t> </a:t>
            </a:r>
            <a:r>
              <a:rPr dirty="0" sz="1200" spc="15">
                <a:solidFill>
                  <a:srgbClr val="333333"/>
                </a:solidFill>
                <a:latin typeface="Courier New"/>
                <a:cs typeface="Courier New"/>
              </a:rPr>
              <a:t>plot_ac</a:t>
            </a:r>
            <a:endParaRPr sz="1200">
              <a:latin typeface="Courier New"/>
              <a:cs typeface="Courier New"/>
            </a:endParaRPr>
          </a:p>
          <a:p>
            <a:pPr marL="187325" indent="-187960">
              <a:lnSpc>
                <a:spcPts val="1490"/>
              </a:lnSpc>
              <a:spcBef>
                <a:spcPts val="1135"/>
              </a:spcBef>
              <a:buChar char="❖"/>
              <a:tabLst>
                <a:tab pos="187960" algn="l"/>
              </a:tabLst>
            </a:pPr>
            <a:r>
              <a:rPr dirty="0" sz="1250" spc="-15" i="1">
                <a:solidFill>
                  <a:srgbClr val="999987"/>
                </a:solidFill>
                <a:latin typeface="Courier New"/>
                <a:cs typeface="Courier New"/>
              </a:rPr>
              <a:t>Using the data from Slide</a:t>
            </a:r>
            <a:r>
              <a:rPr dirty="0" sz="1250" spc="-25" i="1">
                <a:solidFill>
                  <a:srgbClr val="999987"/>
                </a:solidFill>
                <a:latin typeface="Courier New"/>
                <a:cs typeface="Courier New"/>
              </a:rPr>
              <a:t> </a:t>
            </a:r>
            <a:r>
              <a:rPr dirty="0" sz="1250" spc="-15" i="1">
                <a:solidFill>
                  <a:srgbClr val="999987"/>
                </a:solidFill>
                <a:latin typeface="Courier New"/>
                <a:cs typeface="Courier New"/>
              </a:rPr>
              <a:t>7</a:t>
            </a:r>
            <a:endParaRPr sz="1250">
              <a:latin typeface="Courier New"/>
              <a:cs typeface="Courier New"/>
            </a:endParaRPr>
          </a:p>
          <a:p>
            <a:pPr>
              <a:lnSpc>
                <a:spcPts val="1420"/>
              </a:lnSpc>
            </a:pPr>
            <a:r>
              <a:rPr dirty="0" sz="1200" spc="15">
                <a:solidFill>
                  <a:srgbClr val="333333"/>
                </a:solidFill>
                <a:latin typeface="Courier New"/>
                <a:cs typeface="Courier New"/>
              </a:rPr>
              <a:t>acf_df =</a:t>
            </a:r>
            <a:r>
              <a:rPr dirty="0" sz="1200" spc="10">
                <a:solidFill>
                  <a:srgbClr val="333333"/>
                </a:solidFill>
                <a:latin typeface="Courier New"/>
                <a:cs typeface="Courier New"/>
              </a:rPr>
              <a:t> </a:t>
            </a:r>
            <a:r>
              <a:rPr dirty="0" sz="1200" spc="15">
                <a:solidFill>
                  <a:srgbClr val="333333"/>
                </a:solidFill>
                <a:latin typeface="Courier New"/>
                <a:cs typeface="Courier New"/>
              </a:rPr>
              <a:t>pd.DataFrame(</a:t>
            </a:r>
            <a:endParaRPr sz="1200">
              <a:latin typeface="Courier New"/>
              <a:cs typeface="Courier New"/>
            </a:endParaRPr>
          </a:p>
          <a:p>
            <a:pPr marL="187325">
              <a:lnSpc>
                <a:spcPts val="1425"/>
              </a:lnSpc>
            </a:pPr>
            <a:r>
              <a:rPr dirty="0" sz="1200" spc="15">
                <a:solidFill>
                  <a:srgbClr val="333333"/>
                </a:solidFill>
                <a:latin typeface="Courier New"/>
                <a:cs typeface="Courier New"/>
              </a:rPr>
              <a:t>{</a:t>
            </a:r>
            <a:r>
              <a:rPr dirty="0" sz="1200" spc="15">
                <a:solidFill>
                  <a:srgbClr val="DD1144"/>
                </a:solidFill>
                <a:latin typeface="Courier New"/>
                <a:cs typeface="Courier New"/>
              </a:rPr>
              <a:t>'lag'</a:t>
            </a:r>
            <a:r>
              <a:rPr dirty="0" sz="1200" spc="15">
                <a:solidFill>
                  <a:srgbClr val="333333"/>
                </a:solidFill>
                <a:latin typeface="Courier New"/>
                <a:cs typeface="Courier New"/>
              </a:rPr>
              <a:t>: range(</a:t>
            </a:r>
            <a:r>
              <a:rPr dirty="0" sz="1200" spc="15">
                <a:solidFill>
                  <a:srgbClr val="008080"/>
                </a:solidFill>
                <a:latin typeface="Courier New"/>
                <a:cs typeface="Courier New"/>
              </a:rPr>
              <a:t>0</a:t>
            </a:r>
            <a:r>
              <a:rPr dirty="0" sz="1200" spc="15">
                <a:solidFill>
                  <a:srgbClr val="333333"/>
                </a:solidFill>
                <a:latin typeface="Courier New"/>
                <a:cs typeface="Courier New"/>
              </a:rPr>
              <a:t>,</a:t>
            </a:r>
            <a:r>
              <a:rPr dirty="0" sz="1200" spc="10">
                <a:solidFill>
                  <a:srgbClr val="333333"/>
                </a:solidFill>
                <a:latin typeface="Courier New"/>
                <a:cs typeface="Courier New"/>
              </a:rPr>
              <a:t> </a:t>
            </a:r>
            <a:r>
              <a:rPr dirty="0" sz="1200" spc="15">
                <a:solidFill>
                  <a:srgbClr val="008080"/>
                </a:solidFill>
                <a:latin typeface="Courier New"/>
                <a:cs typeface="Courier New"/>
              </a:rPr>
              <a:t>21</a:t>
            </a:r>
            <a:r>
              <a:rPr dirty="0" sz="1200" spc="15">
                <a:solidFill>
                  <a:srgbClr val="333333"/>
                </a:solidFill>
                <a:latin typeface="Courier New"/>
                <a:cs typeface="Courier New"/>
              </a:rPr>
              <a:t>),</a:t>
            </a:r>
            <a:endParaRPr sz="1200">
              <a:latin typeface="Courier New"/>
              <a:cs typeface="Courier New"/>
            </a:endParaRPr>
          </a:p>
          <a:p>
            <a:pPr marL="281305">
              <a:lnSpc>
                <a:spcPts val="1425"/>
              </a:lnSpc>
            </a:pPr>
            <a:r>
              <a:rPr dirty="0" sz="1200" spc="15">
                <a:solidFill>
                  <a:srgbClr val="DD1144"/>
                </a:solidFill>
                <a:latin typeface="Courier New"/>
                <a:cs typeface="Courier New"/>
              </a:rPr>
              <a:t>'acf'</a:t>
            </a:r>
            <a:r>
              <a:rPr dirty="0" sz="1200" spc="15">
                <a:solidFill>
                  <a:srgbClr val="333333"/>
                </a:solidFill>
                <a:latin typeface="Courier New"/>
                <a:cs typeface="Courier New"/>
              </a:rPr>
              <a:t>: acf(kr[</a:t>
            </a:r>
            <a:r>
              <a:rPr dirty="0" sz="1200" spc="15">
                <a:solidFill>
                  <a:srgbClr val="DD1144"/>
                </a:solidFill>
                <a:latin typeface="Courier New"/>
                <a:cs typeface="Courier New"/>
              </a:rPr>
              <a:t>'price'</a:t>
            </a:r>
            <a:r>
              <a:rPr dirty="0" sz="1200" spc="15">
                <a:solidFill>
                  <a:srgbClr val="333333"/>
                </a:solidFill>
                <a:latin typeface="Courier New"/>
                <a:cs typeface="Courier New"/>
              </a:rPr>
              <a:t>], nlags=</a:t>
            </a:r>
            <a:r>
              <a:rPr dirty="0" sz="1200" spc="15">
                <a:solidFill>
                  <a:srgbClr val="008080"/>
                </a:solidFill>
                <a:latin typeface="Courier New"/>
                <a:cs typeface="Courier New"/>
              </a:rPr>
              <a:t>20</a:t>
            </a:r>
            <a:r>
              <a:rPr dirty="0" sz="1200" spc="15">
                <a:solidFill>
                  <a:srgbClr val="333333"/>
                </a:solidFill>
                <a:latin typeface="Courier New"/>
                <a:cs typeface="Courier New"/>
              </a:rPr>
              <a:t>)</a:t>
            </a:r>
            <a:endParaRPr sz="1200">
              <a:latin typeface="Courier New"/>
              <a:cs typeface="Courier New"/>
            </a:endParaRPr>
          </a:p>
          <a:p>
            <a:pPr marL="187325">
              <a:lnSpc>
                <a:spcPts val="1430"/>
              </a:lnSpc>
            </a:pPr>
            <a:r>
              <a:rPr dirty="0" sz="1200" spc="15">
                <a:solidFill>
                  <a:srgbClr val="333333"/>
                </a:solidFill>
                <a:latin typeface="Courier New"/>
                <a:cs typeface="Courier New"/>
              </a:rPr>
              <a:t>}</a:t>
            </a:r>
            <a:endParaRPr sz="1200">
              <a:latin typeface="Courier New"/>
              <a:cs typeface="Courier New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1012031" y="3126644"/>
            <a:ext cx="3751579" cy="2318385"/>
          </a:xfrm>
          <a:prstGeom prst="rect">
            <a:avLst/>
          </a:prstGeom>
        </p:spPr>
        <p:txBody>
          <a:bodyPr wrap="square" lIns="0" tIns="16510" rIns="0" bIns="0" rtlCol="0" vert="horz">
            <a:spAutoFit/>
          </a:bodyPr>
          <a:lstStyle/>
          <a:p>
            <a:pPr>
              <a:lnSpc>
                <a:spcPct val="100000"/>
              </a:lnSpc>
              <a:spcBef>
                <a:spcPts val="130"/>
              </a:spcBef>
            </a:pPr>
            <a:r>
              <a:rPr dirty="0" sz="1200" spc="15">
                <a:solidFill>
                  <a:srgbClr val="333333"/>
                </a:solidFill>
                <a:latin typeface="Courier New"/>
                <a:cs typeface="Courier New"/>
              </a:rPr>
              <a:t>)</a:t>
            </a:r>
            <a:endParaRPr sz="1200">
              <a:latin typeface="Courier New"/>
              <a:cs typeface="Courier New"/>
            </a:endParaRPr>
          </a:p>
          <a:p>
            <a:pPr marL="187325" indent="-187960">
              <a:lnSpc>
                <a:spcPts val="1490"/>
              </a:lnSpc>
              <a:spcBef>
                <a:spcPts val="1135"/>
              </a:spcBef>
              <a:buChar char="❖"/>
              <a:tabLst>
                <a:tab pos="187960" algn="l"/>
              </a:tabLst>
            </a:pPr>
            <a:r>
              <a:rPr dirty="0" sz="1250" spc="-15" i="1">
                <a:solidFill>
                  <a:srgbClr val="999987"/>
                </a:solidFill>
                <a:latin typeface="Courier New"/>
                <a:cs typeface="Courier New"/>
              </a:rPr>
              <a:t>Print the first few rows of the ACF</a:t>
            </a:r>
            <a:r>
              <a:rPr dirty="0" sz="1250" spc="-10" i="1">
                <a:solidFill>
                  <a:srgbClr val="999987"/>
                </a:solidFill>
                <a:latin typeface="Courier New"/>
                <a:cs typeface="Courier New"/>
              </a:rPr>
              <a:t> </a:t>
            </a:r>
            <a:r>
              <a:rPr dirty="0" sz="1250" spc="-275" i="1">
                <a:solidFill>
                  <a:srgbClr val="999987"/>
                </a:solidFill>
                <a:latin typeface="Courier New"/>
                <a:cs typeface="Courier New"/>
              </a:rPr>
              <a:t>df</a:t>
            </a:r>
            <a:endParaRPr sz="1250">
              <a:latin typeface="Courier New"/>
              <a:cs typeface="Courier New"/>
            </a:endParaRPr>
          </a:p>
          <a:p>
            <a:pPr>
              <a:lnSpc>
                <a:spcPts val="1430"/>
              </a:lnSpc>
            </a:pPr>
            <a:r>
              <a:rPr dirty="0" sz="1200" spc="15">
                <a:solidFill>
                  <a:srgbClr val="333333"/>
                </a:solidFill>
                <a:latin typeface="Courier New"/>
                <a:cs typeface="Courier New"/>
              </a:rPr>
              <a:t>acf_df.head()</a:t>
            </a:r>
            <a:endParaRPr sz="1200">
              <a:latin typeface="Courier New"/>
              <a:cs typeface="Courier New"/>
            </a:endParaRPr>
          </a:p>
          <a:p>
            <a:pPr marR="367665">
              <a:lnSpc>
                <a:spcPts val="1430"/>
              </a:lnSpc>
              <a:spcBef>
                <a:spcPts val="1240"/>
              </a:spcBef>
              <a:buChar char="❖"/>
              <a:tabLst>
                <a:tab pos="187960" algn="l"/>
                <a:tab pos="1031240" algn="l"/>
              </a:tabLst>
            </a:pPr>
            <a:r>
              <a:rPr dirty="0" sz="1250" spc="-15" i="1">
                <a:solidFill>
                  <a:srgbClr val="999987"/>
                </a:solidFill>
                <a:latin typeface="Courier New"/>
                <a:cs typeface="Courier New"/>
              </a:rPr>
              <a:t>Plot the ACF and beautify the </a:t>
            </a:r>
            <a:r>
              <a:rPr dirty="0" sz="1250" spc="-145" i="1">
                <a:solidFill>
                  <a:srgbClr val="999987"/>
                </a:solidFill>
                <a:latin typeface="Courier New"/>
                <a:cs typeface="Courier New"/>
              </a:rPr>
              <a:t>plot </a:t>
            </a:r>
            <a:r>
              <a:rPr dirty="0" sz="1250" spc="-145" i="1">
                <a:solidFill>
                  <a:srgbClr val="333333"/>
                </a:solidFill>
                <a:latin typeface="Courier New"/>
                <a:cs typeface="Courier New"/>
              </a:rPr>
              <a:t> </a:t>
            </a:r>
            <a:r>
              <a:rPr dirty="0" sz="1200" spc="15">
                <a:solidFill>
                  <a:srgbClr val="333333"/>
                </a:solidFill>
                <a:latin typeface="Courier New"/>
                <a:cs typeface="Courier New"/>
              </a:rPr>
              <a:t>plt.figure( figsize=(</a:t>
            </a:r>
            <a:r>
              <a:rPr dirty="0" sz="1200" spc="15">
                <a:solidFill>
                  <a:srgbClr val="008080"/>
                </a:solidFill>
                <a:latin typeface="Courier New"/>
                <a:cs typeface="Courier New"/>
              </a:rPr>
              <a:t>8</a:t>
            </a:r>
            <a:r>
              <a:rPr dirty="0" sz="1200" spc="15">
                <a:solidFill>
                  <a:srgbClr val="333333"/>
                </a:solidFill>
                <a:latin typeface="Courier New"/>
                <a:cs typeface="Courier New"/>
              </a:rPr>
              <a:t>, </a:t>
            </a:r>
            <a:r>
              <a:rPr dirty="0" sz="1200" spc="15">
                <a:solidFill>
                  <a:srgbClr val="008080"/>
                </a:solidFill>
                <a:latin typeface="Courier New"/>
                <a:cs typeface="Courier New"/>
              </a:rPr>
              <a:t>5</a:t>
            </a:r>
            <a:r>
              <a:rPr dirty="0" sz="1200" spc="15">
                <a:solidFill>
                  <a:srgbClr val="333333"/>
                </a:solidFill>
                <a:latin typeface="Courier New"/>
                <a:cs typeface="Courier New"/>
              </a:rPr>
              <a:t>) )  plot_acf(	kr[</a:t>
            </a:r>
            <a:r>
              <a:rPr dirty="0" sz="1200" spc="15">
                <a:solidFill>
                  <a:srgbClr val="DD1144"/>
                </a:solidFill>
                <a:latin typeface="Courier New"/>
                <a:cs typeface="Courier New"/>
              </a:rPr>
              <a:t>'price'</a:t>
            </a:r>
            <a:r>
              <a:rPr dirty="0" sz="1200" spc="15">
                <a:solidFill>
                  <a:srgbClr val="333333"/>
                </a:solidFill>
                <a:latin typeface="Courier New"/>
                <a:cs typeface="Courier New"/>
              </a:rPr>
              <a:t>], lags=</a:t>
            </a:r>
            <a:r>
              <a:rPr dirty="0" sz="1200" spc="15">
                <a:solidFill>
                  <a:srgbClr val="008080"/>
                </a:solidFill>
                <a:latin typeface="Courier New"/>
                <a:cs typeface="Courier New"/>
              </a:rPr>
              <a:t>20 </a:t>
            </a:r>
            <a:r>
              <a:rPr dirty="0" sz="1200" spc="15">
                <a:solidFill>
                  <a:srgbClr val="333333"/>
                </a:solidFill>
                <a:latin typeface="Courier New"/>
                <a:cs typeface="Courier New"/>
              </a:rPr>
              <a:t>)  plt.xticks( ticks=range(</a:t>
            </a:r>
            <a:r>
              <a:rPr dirty="0" sz="1200" spc="15">
                <a:solidFill>
                  <a:srgbClr val="008080"/>
                </a:solidFill>
                <a:latin typeface="Courier New"/>
                <a:cs typeface="Courier New"/>
              </a:rPr>
              <a:t>0</a:t>
            </a:r>
            <a:r>
              <a:rPr dirty="0" sz="1200" spc="15">
                <a:solidFill>
                  <a:srgbClr val="333333"/>
                </a:solidFill>
                <a:latin typeface="Courier New"/>
                <a:cs typeface="Courier New"/>
              </a:rPr>
              <a:t>, </a:t>
            </a:r>
            <a:r>
              <a:rPr dirty="0" sz="1200" spc="15">
                <a:solidFill>
                  <a:srgbClr val="008080"/>
                </a:solidFill>
                <a:latin typeface="Courier New"/>
                <a:cs typeface="Courier New"/>
              </a:rPr>
              <a:t>21</a:t>
            </a:r>
            <a:r>
              <a:rPr dirty="0" sz="1200" spc="15">
                <a:solidFill>
                  <a:srgbClr val="333333"/>
                </a:solidFill>
                <a:latin typeface="Courier New"/>
                <a:cs typeface="Courier New"/>
              </a:rPr>
              <a:t>) )  plt.xlabel(</a:t>
            </a:r>
            <a:r>
              <a:rPr dirty="0" sz="1200" spc="15">
                <a:solidFill>
                  <a:srgbClr val="DD1144"/>
                </a:solidFill>
                <a:latin typeface="Courier New"/>
                <a:cs typeface="Courier New"/>
              </a:rPr>
              <a:t>'Lag'</a:t>
            </a:r>
            <a:r>
              <a:rPr dirty="0" sz="1200" spc="15">
                <a:solidFill>
                  <a:srgbClr val="333333"/>
                </a:solidFill>
                <a:latin typeface="Courier New"/>
                <a:cs typeface="Courier New"/>
              </a:rPr>
              <a:t>)</a:t>
            </a:r>
            <a:endParaRPr sz="1200">
              <a:latin typeface="Courier New"/>
              <a:cs typeface="Courier New"/>
            </a:endParaRPr>
          </a:p>
          <a:p>
            <a:pPr>
              <a:lnSpc>
                <a:spcPts val="1350"/>
              </a:lnSpc>
            </a:pPr>
            <a:r>
              <a:rPr dirty="0" sz="1200" spc="15">
                <a:solidFill>
                  <a:srgbClr val="333333"/>
                </a:solidFill>
                <a:latin typeface="Courier New"/>
                <a:cs typeface="Courier New"/>
              </a:rPr>
              <a:t>plt.ylabel(</a:t>
            </a:r>
            <a:r>
              <a:rPr dirty="0" sz="1200" spc="15">
                <a:solidFill>
                  <a:srgbClr val="DD1144"/>
                </a:solidFill>
                <a:latin typeface="Courier New"/>
                <a:cs typeface="Courier New"/>
              </a:rPr>
              <a:t>'ACF'</a:t>
            </a:r>
            <a:r>
              <a:rPr dirty="0" sz="1200" spc="15">
                <a:solidFill>
                  <a:srgbClr val="333333"/>
                </a:solidFill>
                <a:latin typeface="Courier New"/>
                <a:cs typeface="Courier New"/>
              </a:rPr>
              <a:t>)</a:t>
            </a:r>
            <a:endParaRPr sz="1200">
              <a:latin typeface="Courier New"/>
              <a:cs typeface="Courier New"/>
            </a:endParaRPr>
          </a:p>
          <a:p>
            <a:pPr>
              <a:lnSpc>
                <a:spcPts val="1350"/>
              </a:lnSpc>
              <a:spcBef>
                <a:spcPts val="115"/>
              </a:spcBef>
            </a:pPr>
            <a:r>
              <a:rPr dirty="0" sz="1200" spc="15">
                <a:solidFill>
                  <a:srgbClr val="333333"/>
                </a:solidFill>
                <a:latin typeface="Courier New"/>
                <a:cs typeface="Courier New"/>
              </a:rPr>
              <a:t>plt.title(</a:t>
            </a:r>
            <a:r>
              <a:rPr dirty="0" sz="1200" spc="15">
                <a:solidFill>
                  <a:srgbClr val="DD1144"/>
                </a:solidFill>
                <a:latin typeface="Courier New"/>
                <a:cs typeface="Courier New"/>
              </a:rPr>
              <a:t>"ACF of Kroger's Stock Price"</a:t>
            </a:r>
            <a:r>
              <a:rPr dirty="0" sz="1200" spc="15">
                <a:solidFill>
                  <a:srgbClr val="333333"/>
                </a:solidFill>
                <a:latin typeface="Courier New"/>
                <a:cs typeface="Courier New"/>
              </a:rPr>
              <a:t>)  plt.show()</a:t>
            </a:r>
            <a:endParaRPr sz="1200">
              <a:latin typeface="Courier New"/>
              <a:cs typeface="Courier New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5762624" y="1619250"/>
            <a:ext cx="4848225" cy="1133475"/>
          </a:xfrm>
          <a:custGeom>
            <a:avLst/>
            <a:gdLst/>
            <a:ahLst/>
            <a:cxnLst/>
            <a:rect l="l" t="t" r="r" b="b"/>
            <a:pathLst>
              <a:path w="4848225" h="1133475">
                <a:moveTo>
                  <a:pt x="0" y="0"/>
                </a:moveTo>
                <a:lnTo>
                  <a:pt x="4848224" y="0"/>
                </a:lnTo>
                <a:lnTo>
                  <a:pt x="4848224" y="1133474"/>
                </a:lnTo>
                <a:lnTo>
                  <a:pt x="0" y="1133474"/>
                </a:lnTo>
                <a:lnTo>
                  <a:pt x="0" y="0"/>
                </a:lnTo>
                <a:close/>
              </a:path>
            </a:pathLst>
          </a:custGeom>
          <a:solidFill>
            <a:srgbClr val="F7F7F7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4" name="object 14"/>
          <p:cNvSpPr txBox="1"/>
          <p:nvPr/>
        </p:nvSpPr>
        <p:spPr>
          <a:xfrm>
            <a:off x="5836691" y="1672853"/>
            <a:ext cx="192405" cy="197485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1100" spc="-5" i="1">
                <a:solidFill>
                  <a:srgbClr val="999987"/>
                </a:solidFill>
                <a:latin typeface="Courier New"/>
                <a:cs typeface="Courier New"/>
              </a:rPr>
              <a:t>##</a:t>
            </a:r>
            <a:endParaRPr sz="1100">
              <a:latin typeface="Courier New"/>
              <a:cs typeface="Courier New"/>
            </a:endParaRPr>
          </a:p>
        </p:txBody>
      </p:sp>
      <p:sp>
        <p:nvSpPr>
          <p:cNvPr id="18" name="object 18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1270" rIns="0" bIns="0" rtlCol="0" vert="horz">
            <a:spAutoFit/>
          </a:bodyPr>
          <a:lstStyle/>
          <a:p>
            <a:pPr marL="123825">
              <a:lnSpc>
                <a:spcPct val="100000"/>
              </a:lnSpc>
              <a:spcBef>
                <a:spcPts val="10"/>
              </a:spcBef>
            </a:pPr>
            <a:fld id="{81D60167-4931-47E6-BA6A-407CBD079E47}" type="slidenum">
              <a:rPr dirty="0" spc="5"/>
              <a:t>9</a:t>
            </a:fld>
            <a:r>
              <a:rPr dirty="0" spc="5"/>
              <a:t> </a:t>
            </a:r>
            <a:r>
              <a:rPr dirty="0" spc="160"/>
              <a:t>/</a:t>
            </a:r>
            <a:r>
              <a:rPr dirty="0" spc="-165"/>
              <a:t> </a:t>
            </a:r>
            <a:r>
              <a:rPr dirty="0" spc="5"/>
              <a:t>33</a:t>
            </a:r>
          </a:p>
        </p:txBody>
      </p:sp>
      <p:sp>
        <p:nvSpPr>
          <p:cNvPr id="15" name="object 15"/>
          <p:cNvSpPr txBox="1"/>
          <p:nvPr/>
        </p:nvSpPr>
        <p:spPr>
          <a:xfrm>
            <a:off x="6336982" y="1672853"/>
            <a:ext cx="275590" cy="197485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1100" spc="-5" i="1">
                <a:solidFill>
                  <a:srgbClr val="999987"/>
                </a:solidFill>
                <a:latin typeface="Courier New"/>
                <a:cs typeface="Courier New"/>
              </a:rPr>
              <a:t>lag</a:t>
            </a:r>
            <a:endParaRPr sz="1100">
              <a:latin typeface="Courier New"/>
              <a:cs typeface="Courier New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7004036" y="1672853"/>
            <a:ext cx="275590" cy="197485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1100" spc="-5" i="1">
                <a:solidFill>
                  <a:srgbClr val="999987"/>
                </a:solidFill>
                <a:latin typeface="Courier New"/>
                <a:cs typeface="Courier New"/>
              </a:rPr>
              <a:t>acf</a:t>
            </a:r>
            <a:endParaRPr sz="1100">
              <a:latin typeface="Courier New"/>
              <a:cs typeface="Courier New"/>
            </a:endParaRPr>
          </a:p>
        </p:txBody>
      </p:sp>
      <p:graphicFrame>
        <p:nvGraphicFramePr>
          <p:cNvPr id="17" name="object 17"/>
          <p:cNvGraphicFramePr>
            <a:graphicFrameLocks noGrp="1"/>
          </p:cNvGraphicFramePr>
          <p:nvPr/>
        </p:nvGraphicFramePr>
        <p:xfrm>
          <a:off x="5817641" y="1849770"/>
          <a:ext cx="1481455" cy="81851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0029"/>
                <a:gridCol w="291464"/>
                <a:gridCol w="333375"/>
                <a:gridCol w="615315"/>
              </a:tblGrid>
              <a:tr h="166230">
                <a:tc>
                  <a:txBody>
                    <a:bodyPr/>
                    <a:lstStyle/>
                    <a:p>
                      <a:pPr marL="31750">
                        <a:lnSpc>
                          <a:spcPts val="1200"/>
                        </a:lnSpc>
                        <a:spcBef>
                          <a:spcPts val="10"/>
                        </a:spcBef>
                      </a:pPr>
                      <a:r>
                        <a:rPr dirty="0" sz="1100" spc="-5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##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127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41275">
                        <a:lnSpc>
                          <a:spcPts val="1200"/>
                        </a:lnSpc>
                        <a:spcBef>
                          <a:spcPts val="10"/>
                        </a:spcBef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0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127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75565">
                        <a:lnSpc>
                          <a:spcPts val="1200"/>
                        </a:lnSpc>
                        <a:spcBef>
                          <a:spcPts val="10"/>
                        </a:spcBef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0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127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1435">
                        <a:lnSpc>
                          <a:spcPts val="1200"/>
                        </a:lnSpc>
                        <a:spcBef>
                          <a:spcPts val="10"/>
                        </a:spcBef>
                      </a:pPr>
                      <a:r>
                        <a:rPr dirty="0" sz="1100" spc="-5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1.0000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1270">
                    <a:solidFill>
                      <a:srgbClr val="F7F7F7"/>
                    </a:solidFill>
                  </a:tcPr>
                </a:tc>
              </a:tr>
              <a:tr h="157162">
                <a:tc>
                  <a:txBody>
                    <a:bodyPr/>
                    <a:lstStyle/>
                    <a:p>
                      <a:pPr marL="31750">
                        <a:lnSpc>
                          <a:spcPts val="1140"/>
                        </a:lnSpc>
                      </a:pPr>
                      <a:r>
                        <a:rPr dirty="0" sz="1100" spc="-5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##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41275">
                        <a:lnSpc>
                          <a:spcPts val="1140"/>
                        </a:lnSpc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1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75565">
                        <a:lnSpc>
                          <a:spcPts val="1140"/>
                        </a:lnSpc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1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1435">
                        <a:lnSpc>
                          <a:spcPts val="1140"/>
                        </a:lnSpc>
                      </a:pPr>
                      <a:r>
                        <a:rPr dirty="0" sz="1100" spc="-5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0.9737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</a:tr>
              <a:tr h="161925">
                <a:tc>
                  <a:txBody>
                    <a:bodyPr/>
                    <a:lstStyle/>
                    <a:p>
                      <a:pPr marL="31750">
                        <a:lnSpc>
                          <a:spcPts val="1175"/>
                        </a:lnSpc>
                      </a:pPr>
                      <a:r>
                        <a:rPr dirty="0" sz="1100" spc="-5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##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41275">
                        <a:lnSpc>
                          <a:spcPts val="1175"/>
                        </a:lnSpc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2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75565">
                        <a:lnSpc>
                          <a:spcPts val="1175"/>
                        </a:lnSpc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2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1435">
                        <a:lnSpc>
                          <a:spcPts val="1175"/>
                        </a:lnSpc>
                      </a:pPr>
                      <a:r>
                        <a:rPr dirty="0" sz="1100" spc="-5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0.9467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</a:tr>
              <a:tr h="161925">
                <a:tc>
                  <a:txBody>
                    <a:bodyPr/>
                    <a:lstStyle/>
                    <a:p>
                      <a:pPr marL="31750">
                        <a:lnSpc>
                          <a:spcPts val="1175"/>
                        </a:lnSpc>
                      </a:pPr>
                      <a:r>
                        <a:rPr dirty="0" sz="1100" spc="-5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##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41275">
                        <a:lnSpc>
                          <a:spcPts val="1175"/>
                        </a:lnSpc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3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75565">
                        <a:lnSpc>
                          <a:spcPts val="1175"/>
                        </a:lnSpc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3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1435">
                        <a:lnSpc>
                          <a:spcPts val="1175"/>
                        </a:lnSpc>
                      </a:pPr>
                      <a:r>
                        <a:rPr dirty="0" sz="1100" spc="-5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0.9189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</a:tr>
              <a:tr h="170993">
                <a:tc>
                  <a:txBody>
                    <a:bodyPr/>
                    <a:lstStyle/>
                    <a:p>
                      <a:pPr marL="31750">
                        <a:lnSpc>
                          <a:spcPts val="1245"/>
                        </a:lnSpc>
                      </a:pPr>
                      <a:r>
                        <a:rPr dirty="0" sz="1100" spc="-5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##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41275">
                        <a:lnSpc>
                          <a:spcPts val="1245"/>
                        </a:lnSpc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4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75565">
                        <a:lnSpc>
                          <a:spcPts val="1245"/>
                        </a:lnSpc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4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51435">
                        <a:lnSpc>
                          <a:spcPts val="1245"/>
                        </a:lnSpc>
                      </a:pPr>
                      <a:r>
                        <a:rPr dirty="0" sz="1100" spc="-5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0.8954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5931158" y="4321336"/>
            <a:ext cx="4201794" cy="1812763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01700" y="530225"/>
            <a:ext cx="8925560" cy="539750"/>
          </a:xfrm>
          <a:prstGeom prst="rect"/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3350" spc="-170">
                <a:solidFill>
                  <a:srgbClr val="C2132D"/>
                </a:solidFill>
              </a:rPr>
              <a:t>How</a:t>
            </a:r>
            <a:r>
              <a:rPr dirty="0" sz="3350" spc="-240">
                <a:solidFill>
                  <a:srgbClr val="C2132D"/>
                </a:solidFill>
              </a:rPr>
              <a:t> </a:t>
            </a:r>
            <a:r>
              <a:rPr dirty="0" sz="3350" spc="-75">
                <a:solidFill>
                  <a:srgbClr val="C2132D"/>
                </a:solidFill>
              </a:rPr>
              <a:t>Does</a:t>
            </a:r>
            <a:r>
              <a:rPr dirty="0" sz="3350" spc="-240">
                <a:solidFill>
                  <a:srgbClr val="C2132D"/>
                </a:solidFill>
              </a:rPr>
              <a:t> </a:t>
            </a:r>
            <a:r>
              <a:rPr dirty="0" sz="3350" spc="-260">
                <a:solidFill>
                  <a:srgbClr val="C2132D"/>
                </a:solidFill>
              </a:rPr>
              <a:t>the</a:t>
            </a:r>
            <a:r>
              <a:rPr dirty="0" sz="3350" spc="-235">
                <a:solidFill>
                  <a:srgbClr val="C2132D"/>
                </a:solidFill>
              </a:rPr>
              <a:t> </a:t>
            </a:r>
            <a:r>
              <a:rPr dirty="0" sz="3350" spc="-95">
                <a:solidFill>
                  <a:srgbClr val="C2132D"/>
                </a:solidFill>
              </a:rPr>
              <a:t>ACF</a:t>
            </a:r>
            <a:r>
              <a:rPr dirty="0" sz="3350" spc="-240">
                <a:solidFill>
                  <a:srgbClr val="C2132D"/>
                </a:solidFill>
              </a:rPr>
              <a:t> </a:t>
            </a:r>
            <a:r>
              <a:rPr dirty="0" sz="3350" spc="-140">
                <a:solidFill>
                  <a:srgbClr val="C2132D"/>
                </a:solidFill>
              </a:rPr>
              <a:t>of</a:t>
            </a:r>
            <a:r>
              <a:rPr dirty="0" sz="3350" spc="-240">
                <a:solidFill>
                  <a:srgbClr val="C2132D"/>
                </a:solidFill>
              </a:rPr>
              <a:t> </a:t>
            </a:r>
            <a:r>
              <a:rPr dirty="0" sz="3350" spc="-145">
                <a:solidFill>
                  <a:srgbClr val="C2132D"/>
                </a:solidFill>
              </a:rPr>
              <a:t>a</a:t>
            </a:r>
            <a:r>
              <a:rPr dirty="0" sz="3350" spc="-235">
                <a:solidFill>
                  <a:srgbClr val="C2132D"/>
                </a:solidFill>
              </a:rPr>
              <a:t> </a:t>
            </a:r>
            <a:r>
              <a:rPr dirty="0" sz="3350" spc="-180">
                <a:solidFill>
                  <a:srgbClr val="C2132D"/>
                </a:solidFill>
              </a:rPr>
              <a:t>Stationary</a:t>
            </a:r>
            <a:r>
              <a:rPr dirty="0" sz="3350" spc="-310">
                <a:solidFill>
                  <a:srgbClr val="C2132D"/>
                </a:solidFill>
              </a:rPr>
              <a:t> </a:t>
            </a:r>
            <a:r>
              <a:rPr dirty="0" sz="3350" spc="-215">
                <a:solidFill>
                  <a:srgbClr val="C2132D"/>
                </a:solidFill>
              </a:rPr>
              <a:t>Time</a:t>
            </a:r>
            <a:r>
              <a:rPr dirty="0" sz="3350" spc="-240">
                <a:solidFill>
                  <a:srgbClr val="C2132D"/>
                </a:solidFill>
              </a:rPr>
              <a:t> </a:t>
            </a:r>
            <a:r>
              <a:rPr dirty="0" sz="3350" spc="-105">
                <a:solidFill>
                  <a:srgbClr val="C2132D"/>
                </a:solidFill>
              </a:rPr>
              <a:t>Series</a:t>
            </a:r>
            <a:r>
              <a:rPr dirty="0" sz="3350" spc="-235">
                <a:solidFill>
                  <a:srgbClr val="C2132D"/>
                </a:solidFill>
              </a:rPr>
              <a:t> </a:t>
            </a:r>
            <a:r>
              <a:rPr dirty="0" sz="3350" spc="-55">
                <a:solidFill>
                  <a:srgbClr val="C2132D"/>
                </a:solidFill>
              </a:rPr>
              <a:t>Look?</a:t>
            </a:r>
            <a:endParaRPr sz="3350"/>
          </a:p>
        </p:txBody>
      </p:sp>
      <p:sp>
        <p:nvSpPr>
          <p:cNvPr id="4" name="object 4"/>
          <p:cNvSpPr txBox="1"/>
          <p:nvPr/>
        </p:nvSpPr>
        <p:spPr>
          <a:xfrm>
            <a:off x="1148754" y="1425575"/>
            <a:ext cx="9337040" cy="106172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46050" indent="-133985">
              <a:lnSpc>
                <a:spcPct val="100000"/>
              </a:lnSpc>
              <a:spcBef>
                <a:spcPts val="100"/>
              </a:spcBef>
              <a:buClr>
                <a:srgbClr val="C2132D"/>
              </a:buClr>
              <a:buFont typeface="Trebuchet MS"/>
              <a:buChar char="•"/>
              <a:tabLst>
                <a:tab pos="146685" algn="l"/>
              </a:tabLst>
            </a:pPr>
            <a:r>
              <a:rPr dirty="0" sz="1800" spc="-30">
                <a:solidFill>
                  <a:srgbClr val="585D60"/>
                </a:solidFill>
                <a:latin typeface="Arial"/>
                <a:cs typeface="Arial"/>
              </a:rPr>
              <a:t>For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25">
                <a:solidFill>
                  <a:srgbClr val="585D60"/>
                </a:solidFill>
                <a:latin typeface="Arial"/>
                <a:cs typeface="Arial"/>
              </a:rPr>
              <a:t>a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35" b="1">
                <a:solidFill>
                  <a:srgbClr val="C2132D"/>
                </a:solidFill>
                <a:latin typeface="Trebuchet MS"/>
                <a:cs typeface="Trebuchet MS"/>
              </a:rPr>
              <a:t>stationary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55" b="1">
                <a:solidFill>
                  <a:srgbClr val="C2132D"/>
                </a:solidFill>
                <a:latin typeface="Trebuchet MS"/>
                <a:cs typeface="Trebuchet MS"/>
              </a:rPr>
              <a:t>time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25" b="1">
                <a:solidFill>
                  <a:srgbClr val="C2132D"/>
                </a:solidFill>
                <a:latin typeface="Trebuchet MS"/>
                <a:cs typeface="Trebuchet MS"/>
              </a:rPr>
              <a:t>series</a:t>
            </a:r>
            <a:r>
              <a:rPr dirty="0" sz="1800" spc="-25">
                <a:solidFill>
                  <a:srgbClr val="585D60"/>
                </a:solidFill>
                <a:latin typeface="Arial"/>
                <a:cs typeface="Arial"/>
              </a:rPr>
              <a:t>,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the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20" b="1">
                <a:solidFill>
                  <a:srgbClr val="C2132D"/>
                </a:solidFill>
                <a:latin typeface="Trebuchet MS"/>
                <a:cs typeface="Trebuchet MS"/>
              </a:rPr>
              <a:t>ACF</a:t>
            </a:r>
            <a:r>
              <a:rPr dirty="0" sz="1800" spc="-10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40">
                <a:solidFill>
                  <a:srgbClr val="585D60"/>
                </a:solidFill>
                <a:latin typeface="Arial"/>
                <a:cs typeface="Arial"/>
              </a:rPr>
              <a:t>plot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40">
                <a:solidFill>
                  <a:srgbClr val="585D60"/>
                </a:solidFill>
                <a:latin typeface="Arial"/>
                <a:cs typeface="Arial"/>
              </a:rPr>
              <a:t>will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30" b="1">
                <a:solidFill>
                  <a:srgbClr val="C2132D"/>
                </a:solidFill>
                <a:latin typeface="Trebuchet MS"/>
                <a:cs typeface="Trebuchet MS"/>
              </a:rPr>
              <a:t>decay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45" b="1">
                <a:solidFill>
                  <a:srgbClr val="C2132D"/>
                </a:solidFill>
                <a:latin typeface="Trebuchet MS"/>
                <a:cs typeface="Trebuchet MS"/>
              </a:rPr>
              <a:t>(cut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15" b="1">
                <a:solidFill>
                  <a:srgbClr val="C2132D"/>
                </a:solidFill>
                <a:latin typeface="Trebuchet MS"/>
                <a:cs typeface="Trebuchet MS"/>
              </a:rPr>
              <a:t>off)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40" b="1">
                <a:solidFill>
                  <a:srgbClr val="C2132D"/>
                </a:solidFill>
                <a:latin typeface="Trebuchet MS"/>
                <a:cs typeface="Trebuchet MS"/>
              </a:rPr>
              <a:t>quickly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45">
                <a:solidFill>
                  <a:srgbClr val="585D60"/>
                </a:solidFill>
                <a:latin typeface="Arial"/>
                <a:cs typeface="Arial"/>
              </a:rPr>
              <a:t>to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20">
                <a:solidFill>
                  <a:srgbClr val="585D60"/>
                </a:solidFill>
                <a:latin typeface="Arial"/>
                <a:cs typeface="Arial"/>
              </a:rPr>
              <a:t>zero.</a:t>
            </a:r>
            <a:endParaRPr sz="1800">
              <a:latin typeface="Arial"/>
              <a:cs typeface="Arial"/>
            </a:endParaRPr>
          </a:p>
          <a:p>
            <a:pPr lvl="1" marL="527050" marR="5080" indent="-133985">
              <a:lnSpc>
                <a:spcPct val="118100"/>
              </a:lnSpc>
              <a:spcBef>
                <a:spcPts val="900"/>
              </a:spcBef>
              <a:buClr>
                <a:srgbClr val="C2132D"/>
              </a:buClr>
              <a:buFont typeface="Trebuchet MS"/>
              <a:buChar char="•"/>
              <a:tabLst>
                <a:tab pos="527685" algn="l"/>
              </a:tabLst>
            </a:pP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Non-significant </a:t>
            </a:r>
            <a:r>
              <a:rPr dirty="0" sz="1800" spc="15">
                <a:solidFill>
                  <a:srgbClr val="585D60"/>
                </a:solidFill>
                <a:latin typeface="Arial"/>
                <a:cs typeface="Arial"/>
              </a:rPr>
              <a:t>autocorrelations </a:t>
            </a:r>
            <a:r>
              <a:rPr dirty="0" sz="1800" spc="-30">
                <a:solidFill>
                  <a:srgbClr val="585D60"/>
                </a:solidFill>
                <a:latin typeface="Arial"/>
                <a:cs typeface="Arial"/>
              </a:rPr>
              <a:t>are </a:t>
            </a:r>
            <a:r>
              <a:rPr dirty="0" sz="1800" spc="30">
                <a:solidFill>
                  <a:srgbClr val="585D60"/>
                </a:solidFill>
                <a:latin typeface="Arial"/>
                <a:cs typeface="Arial"/>
              </a:rPr>
              <a:t>within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the </a:t>
            </a:r>
            <a:r>
              <a:rPr dirty="0" sz="1800" spc="-55" b="1">
                <a:solidFill>
                  <a:srgbClr val="C2132D"/>
                </a:solidFill>
                <a:latin typeface="Trebuchet MS"/>
                <a:cs typeface="Trebuchet MS"/>
              </a:rPr>
              <a:t>blue </a:t>
            </a:r>
            <a:r>
              <a:rPr dirty="0" sz="1800" spc="-10" b="1">
                <a:solidFill>
                  <a:srgbClr val="C2132D"/>
                </a:solidFill>
                <a:latin typeface="Trebuchet MS"/>
                <a:cs typeface="Trebuchet MS"/>
              </a:rPr>
              <a:t>shaded</a:t>
            </a:r>
            <a:r>
              <a:rPr dirty="0" sz="1800" spc="-37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50" b="1">
                <a:solidFill>
                  <a:srgbClr val="C2132D"/>
                </a:solidFill>
                <a:latin typeface="Trebuchet MS"/>
                <a:cs typeface="Trebuchet MS"/>
              </a:rPr>
              <a:t>region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, </a:t>
            </a:r>
            <a:r>
              <a:rPr dirty="0" sz="1800" spc="-5">
                <a:solidFill>
                  <a:srgbClr val="585D60"/>
                </a:solidFill>
                <a:latin typeface="Arial"/>
                <a:cs typeface="Arial"/>
              </a:rPr>
              <a:t>and </a:t>
            </a:r>
            <a:r>
              <a:rPr dirty="0" sz="1800" spc="-30">
                <a:solidFill>
                  <a:srgbClr val="585D60"/>
                </a:solidFill>
                <a:latin typeface="Arial"/>
                <a:cs typeface="Arial"/>
              </a:rPr>
              <a:t>are </a:t>
            </a:r>
            <a:r>
              <a:rPr dirty="0" sz="1800" spc="-25" b="1">
                <a:solidFill>
                  <a:srgbClr val="C2132D"/>
                </a:solidFill>
                <a:latin typeface="Trebuchet MS"/>
                <a:cs typeface="Trebuchet MS"/>
              </a:rPr>
              <a:t>statistically  </a:t>
            </a:r>
            <a:r>
              <a:rPr dirty="0" sz="1800" spc="-55" b="1">
                <a:solidFill>
                  <a:srgbClr val="C2132D"/>
                </a:solidFill>
                <a:latin typeface="Trebuchet MS"/>
                <a:cs typeface="Trebuchet MS"/>
              </a:rPr>
              <a:t>not </a:t>
            </a:r>
            <a:r>
              <a:rPr dirty="0" sz="1800" spc="-65" b="1">
                <a:solidFill>
                  <a:srgbClr val="C2132D"/>
                </a:solidFill>
                <a:latin typeface="Trebuchet MS"/>
                <a:cs typeface="Trebuchet MS"/>
              </a:rPr>
              <a:t>different </a:t>
            </a:r>
            <a:r>
              <a:rPr dirty="0" sz="1800" spc="-40" b="1">
                <a:solidFill>
                  <a:srgbClr val="C2132D"/>
                </a:solidFill>
                <a:latin typeface="Trebuchet MS"/>
                <a:cs typeface="Trebuchet MS"/>
              </a:rPr>
              <a:t>from</a:t>
            </a:r>
            <a:r>
              <a:rPr dirty="0" sz="1800" spc="-17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60" b="1">
                <a:solidFill>
                  <a:srgbClr val="C2132D"/>
                </a:solidFill>
                <a:latin typeface="Trebuchet MS"/>
                <a:cs typeface="Trebuchet MS"/>
              </a:rPr>
              <a:t>zero</a:t>
            </a:r>
            <a:r>
              <a:rPr dirty="0" sz="1800" spc="-60">
                <a:solidFill>
                  <a:srgbClr val="585D60"/>
                </a:solidFill>
                <a:latin typeface="Arial"/>
                <a:cs typeface="Arial"/>
              </a:rPr>
              <a:t>.</a:t>
            </a:r>
            <a:endParaRPr sz="1800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914400" y="2943224"/>
            <a:ext cx="4657725" cy="3362325"/>
          </a:xfrm>
          <a:custGeom>
            <a:avLst/>
            <a:gdLst/>
            <a:ahLst/>
            <a:cxnLst/>
            <a:rect l="l" t="t" r="r" b="b"/>
            <a:pathLst>
              <a:path w="4657725" h="3362325">
                <a:moveTo>
                  <a:pt x="0" y="0"/>
                </a:moveTo>
                <a:lnTo>
                  <a:pt x="4657724" y="0"/>
                </a:lnTo>
                <a:lnTo>
                  <a:pt x="4657724" y="3362324"/>
                </a:lnTo>
                <a:lnTo>
                  <a:pt x="0" y="3362324"/>
                </a:lnTo>
                <a:lnTo>
                  <a:pt x="0" y="0"/>
                </a:lnTo>
                <a:close/>
              </a:path>
            </a:pathLst>
          </a:custGeom>
          <a:solidFill>
            <a:srgbClr val="F7F7F7"/>
          </a:solidFill>
        </p:spPr>
        <p:txBody>
          <a:bodyPr wrap="square" lIns="0" tIns="0" rIns="0" bIns="0" rtlCol="0"/>
          <a:lstStyle/>
          <a:p/>
        </p:txBody>
      </p:sp>
      <p:sp>
        <p:nvSpPr>
          <p:cNvPr id="6" name="object 6"/>
          <p:cNvSpPr/>
          <p:nvPr/>
        </p:nvSpPr>
        <p:spPr>
          <a:xfrm>
            <a:off x="1009650" y="3914775"/>
            <a:ext cx="4457700" cy="180975"/>
          </a:xfrm>
          <a:custGeom>
            <a:avLst/>
            <a:gdLst/>
            <a:ahLst/>
            <a:cxnLst/>
            <a:rect l="l" t="t" r="r" b="b"/>
            <a:pathLst>
              <a:path w="4457700" h="180975">
                <a:moveTo>
                  <a:pt x="0" y="0"/>
                </a:moveTo>
                <a:lnTo>
                  <a:pt x="4457699" y="0"/>
                </a:lnTo>
                <a:lnTo>
                  <a:pt x="4457699" y="180974"/>
                </a:lnTo>
                <a:lnTo>
                  <a:pt x="0" y="180974"/>
                </a:lnTo>
                <a:lnTo>
                  <a:pt x="0" y="0"/>
                </a:lnTo>
                <a:close/>
              </a:path>
            </a:pathLst>
          </a:custGeom>
          <a:solidFill>
            <a:srgbClr val="FFDE6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7" name="object 7"/>
          <p:cNvSpPr/>
          <p:nvPr/>
        </p:nvSpPr>
        <p:spPr>
          <a:xfrm>
            <a:off x="1009650" y="5305425"/>
            <a:ext cx="4457700" cy="180975"/>
          </a:xfrm>
          <a:custGeom>
            <a:avLst/>
            <a:gdLst/>
            <a:ahLst/>
            <a:cxnLst/>
            <a:rect l="l" t="t" r="r" b="b"/>
            <a:pathLst>
              <a:path w="4457700" h="180975">
                <a:moveTo>
                  <a:pt x="0" y="0"/>
                </a:moveTo>
                <a:lnTo>
                  <a:pt x="4457699" y="0"/>
                </a:lnTo>
                <a:lnTo>
                  <a:pt x="4457699" y="180974"/>
                </a:lnTo>
                <a:lnTo>
                  <a:pt x="0" y="180974"/>
                </a:lnTo>
                <a:lnTo>
                  <a:pt x="0" y="0"/>
                </a:lnTo>
                <a:close/>
              </a:path>
            </a:pathLst>
          </a:custGeom>
          <a:solidFill>
            <a:srgbClr val="FFDE6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8" name="object 8"/>
          <p:cNvSpPr txBox="1"/>
          <p:nvPr/>
        </p:nvSpPr>
        <p:spPr>
          <a:xfrm>
            <a:off x="1009650" y="3038474"/>
            <a:ext cx="4457700" cy="180975"/>
          </a:xfrm>
          <a:prstGeom prst="rect">
            <a:avLst/>
          </a:prstGeom>
          <a:solidFill>
            <a:srgbClr val="FFDE65"/>
          </a:solidFill>
        </p:spPr>
        <p:txBody>
          <a:bodyPr wrap="square" lIns="0" tIns="0" rIns="0" bIns="0" rtlCol="0" vert="horz">
            <a:spAutoFit/>
          </a:bodyPr>
          <a:lstStyle/>
          <a:p>
            <a:pPr marL="1905">
              <a:lnSpc>
                <a:spcPts val="1365"/>
              </a:lnSpc>
            </a:pPr>
            <a:r>
              <a:rPr dirty="0" sz="1200" spc="15">
                <a:solidFill>
                  <a:srgbClr val="333333"/>
                </a:solidFill>
                <a:latin typeface="Courier New"/>
                <a:cs typeface="Courier New"/>
              </a:rPr>
              <a:t>kr[</a:t>
            </a:r>
            <a:r>
              <a:rPr dirty="0" sz="1200" spc="15">
                <a:solidFill>
                  <a:srgbClr val="DD1144"/>
                </a:solidFill>
                <a:latin typeface="Courier New"/>
                <a:cs typeface="Courier New"/>
              </a:rPr>
              <a:t>'delta'</a:t>
            </a:r>
            <a:r>
              <a:rPr dirty="0" sz="1200" spc="15">
                <a:solidFill>
                  <a:srgbClr val="333333"/>
                </a:solidFill>
                <a:latin typeface="Courier New"/>
                <a:cs typeface="Courier New"/>
              </a:rPr>
              <a:t>] = kr[</a:t>
            </a:r>
            <a:r>
              <a:rPr dirty="0" sz="1200" spc="15">
                <a:solidFill>
                  <a:srgbClr val="DD1144"/>
                </a:solidFill>
                <a:latin typeface="Courier New"/>
                <a:cs typeface="Courier New"/>
              </a:rPr>
              <a:t>'price'</a:t>
            </a:r>
            <a:r>
              <a:rPr dirty="0" sz="1200" spc="15">
                <a:solidFill>
                  <a:srgbClr val="333333"/>
                </a:solidFill>
                <a:latin typeface="Courier New"/>
                <a:cs typeface="Courier New"/>
              </a:rPr>
              <a:t>].diff()</a:t>
            </a:r>
            <a:endParaRPr sz="1200">
              <a:latin typeface="Courier New"/>
              <a:cs typeface="Courier New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1012031" y="3345719"/>
            <a:ext cx="4502150" cy="2870835"/>
          </a:xfrm>
          <a:prstGeom prst="rect">
            <a:avLst/>
          </a:prstGeom>
        </p:spPr>
        <p:txBody>
          <a:bodyPr wrap="square" lIns="0" tIns="16510" rIns="0" bIns="0" rtlCol="0" vert="horz">
            <a:spAutoFit/>
          </a:bodyPr>
          <a:lstStyle/>
          <a:p>
            <a:pPr>
              <a:lnSpc>
                <a:spcPts val="1430"/>
              </a:lnSpc>
              <a:spcBef>
                <a:spcPts val="130"/>
              </a:spcBef>
            </a:pPr>
            <a:r>
              <a:rPr dirty="0" sz="1200" spc="15">
                <a:solidFill>
                  <a:srgbClr val="333333"/>
                </a:solidFill>
                <a:latin typeface="Courier New"/>
                <a:cs typeface="Courier New"/>
              </a:rPr>
              <a:t>acf_df =</a:t>
            </a:r>
            <a:r>
              <a:rPr dirty="0" sz="1200" spc="10">
                <a:solidFill>
                  <a:srgbClr val="333333"/>
                </a:solidFill>
                <a:latin typeface="Courier New"/>
                <a:cs typeface="Courier New"/>
              </a:rPr>
              <a:t> </a:t>
            </a:r>
            <a:r>
              <a:rPr dirty="0" sz="1200" spc="15">
                <a:solidFill>
                  <a:srgbClr val="333333"/>
                </a:solidFill>
                <a:latin typeface="Courier New"/>
                <a:cs typeface="Courier New"/>
              </a:rPr>
              <a:t>pd.DataFrame(</a:t>
            </a:r>
            <a:endParaRPr sz="1200">
              <a:latin typeface="Courier New"/>
              <a:cs typeface="Courier New"/>
            </a:endParaRPr>
          </a:p>
          <a:p>
            <a:pPr marL="281305" marR="2336165" indent="-93980">
              <a:lnSpc>
                <a:spcPts val="1430"/>
              </a:lnSpc>
              <a:spcBef>
                <a:spcPts val="50"/>
              </a:spcBef>
            </a:pPr>
            <a:r>
              <a:rPr dirty="0" sz="1200" spc="15">
                <a:solidFill>
                  <a:srgbClr val="333333"/>
                </a:solidFill>
                <a:latin typeface="Courier New"/>
                <a:cs typeface="Courier New"/>
              </a:rPr>
              <a:t>{</a:t>
            </a:r>
            <a:r>
              <a:rPr dirty="0" sz="1200" spc="15">
                <a:solidFill>
                  <a:srgbClr val="DD1144"/>
                </a:solidFill>
                <a:latin typeface="Courier New"/>
                <a:cs typeface="Courier New"/>
              </a:rPr>
              <a:t>'lag'</a:t>
            </a:r>
            <a:r>
              <a:rPr dirty="0" sz="1200" spc="15">
                <a:solidFill>
                  <a:srgbClr val="333333"/>
                </a:solidFill>
                <a:latin typeface="Courier New"/>
                <a:cs typeface="Courier New"/>
              </a:rPr>
              <a:t>: range(</a:t>
            </a:r>
            <a:r>
              <a:rPr dirty="0" sz="1200" spc="15">
                <a:solidFill>
                  <a:srgbClr val="008080"/>
                </a:solidFill>
                <a:latin typeface="Courier New"/>
                <a:cs typeface="Courier New"/>
              </a:rPr>
              <a:t>0</a:t>
            </a:r>
            <a:r>
              <a:rPr dirty="0" sz="1200" spc="15">
                <a:solidFill>
                  <a:srgbClr val="333333"/>
                </a:solidFill>
                <a:latin typeface="Courier New"/>
                <a:cs typeface="Courier New"/>
              </a:rPr>
              <a:t>,</a:t>
            </a:r>
            <a:r>
              <a:rPr dirty="0" sz="1200" spc="-25">
                <a:solidFill>
                  <a:srgbClr val="333333"/>
                </a:solidFill>
                <a:latin typeface="Courier New"/>
                <a:cs typeface="Courier New"/>
              </a:rPr>
              <a:t> </a:t>
            </a:r>
            <a:r>
              <a:rPr dirty="0" sz="1200" spc="15">
                <a:solidFill>
                  <a:srgbClr val="008080"/>
                </a:solidFill>
                <a:latin typeface="Courier New"/>
                <a:cs typeface="Courier New"/>
              </a:rPr>
              <a:t>21</a:t>
            </a:r>
            <a:r>
              <a:rPr dirty="0" sz="1200" spc="15">
                <a:solidFill>
                  <a:srgbClr val="333333"/>
                </a:solidFill>
                <a:latin typeface="Courier New"/>
                <a:cs typeface="Courier New"/>
              </a:rPr>
              <a:t>),  </a:t>
            </a:r>
            <a:r>
              <a:rPr dirty="0" sz="1200" spc="15">
                <a:solidFill>
                  <a:srgbClr val="DD1144"/>
                </a:solidFill>
                <a:latin typeface="Courier New"/>
                <a:cs typeface="Courier New"/>
              </a:rPr>
              <a:t>'acf'</a:t>
            </a:r>
            <a:r>
              <a:rPr dirty="0" sz="1200" spc="15">
                <a:solidFill>
                  <a:srgbClr val="333333"/>
                </a:solidFill>
                <a:latin typeface="Courier New"/>
                <a:cs typeface="Courier New"/>
              </a:rPr>
              <a:t>:</a:t>
            </a:r>
            <a:r>
              <a:rPr dirty="0" sz="1200" spc="5">
                <a:solidFill>
                  <a:srgbClr val="333333"/>
                </a:solidFill>
                <a:latin typeface="Courier New"/>
                <a:cs typeface="Courier New"/>
              </a:rPr>
              <a:t> </a:t>
            </a:r>
            <a:r>
              <a:rPr dirty="0" sz="1200" spc="15">
                <a:solidFill>
                  <a:srgbClr val="333333"/>
                </a:solidFill>
                <a:latin typeface="Courier New"/>
                <a:cs typeface="Courier New"/>
              </a:rPr>
              <a:t>acf(</a:t>
            </a:r>
            <a:endParaRPr sz="1200">
              <a:latin typeface="Courier New"/>
              <a:cs typeface="Courier New"/>
            </a:endParaRPr>
          </a:p>
          <a:p>
            <a:pPr marL="468630">
              <a:lnSpc>
                <a:spcPts val="1365"/>
              </a:lnSpc>
            </a:pPr>
            <a:r>
              <a:rPr dirty="0" sz="1200" spc="15">
                <a:solidFill>
                  <a:srgbClr val="333333"/>
                </a:solidFill>
                <a:latin typeface="Courier New"/>
                <a:cs typeface="Courier New"/>
              </a:rPr>
              <a:t>kr[</a:t>
            </a:r>
            <a:r>
              <a:rPr dirty="0" sz="1200" spc="15">
                <a:solidFill>
                  <a:srgbClr val="DD1144"/>
                </a:solidFill>
                <a:latin typeface="Courier New"/>
                <a:cs typeface="Courier New"/>
              </a:rPr>
              <a:t>'delta'</a:t>
            </a:r>
            <a:r>
              <a:rPr dirty="0" sz="1200" spc="15">
                <a:solidFill>
                  <a:srgbClr val="333333"/>
                </a:solidFill>
                <a:latin typeface="Courier New"/>
                <a:cs typeface="Courier New"/>
              </a:rPr>
              <a:t>], nlags=</a:t>
            </a:r>
            <a:r>
              <a:rPr dirty="0" sz="1200" spc="15">
                <a:solidFill>
                  <a:srgbClr val="008080"/>
                </a:solidFill>
                <a:latin typeface="Courier New"/>
                <a:cs typeface="Courier New"/>
              </a:rPr>
              <a:t>20</a:t>
            </a:r>
            <a:r>
              <a:rPr dirty="0" sz="1200" spc="15">
                <a:solidFill>
                  <a:srgbClr val="333333"/>
                </a:solidFill>
                <a:latin typeface="Courier New"/>
                <a:cs typeface="Courier New"/>
              </a:rPr>
              <a:t>, missing=</a:t>
            </a:r>
            <a:r>
              <a:rPr dirty="0" sz="1200" spc="15">
                <a:solidFill>
                  <a:srgbClr val="DD1144"/>
                </a:solidFill>
                <a:latin typeface="Courier New"/>
                <a:cs typeface="Courier New"/>
              </a:rPr>
              <a:t>'drop'</a:t>
            </a:r>
            <a:endParaRPr sz="1200">
              <a:latin typeface="Courier New"/>
              <a:cs typeface="Courier New"/>
            </a:endParaRPr>
          </a:p>
          <a:p>
            <a:pPr marL="468630">
              <a:lnSpc>
                <a:spcPts val="1425"/>
              </a:lnSpc>
            </a:pPr>
            <a:r>
              <a:rPr dirty="0" sz="1200" spc="15">
                <a:solidFill>
                  <a:srgbClr val="333333"/>
                </a:solidFill>
                <a:latin typeface="Courier New"/>
                <a:cs typeface="Courier New"/>
              </a:rPr>
              <a:t>).round(</a:t>
            </a:r>
            <a:r>
              <a:rPr dirty="0" sz="1200" spc="15">
                <a:solidFill>
                  <a:srgbClr val="008080"/>
                </a:solidFill>
                <a:latin typeface="Courier New"/>
                <a:cs typeface="Courier New"/>
              </a:rPr>
              <a:t>4</a:t>
            </a:r>
            <a:r>
              <a:rPr dirty="0" sz="1200" spc="15">
                <a:solidFill>
                  <a:srgbClr val="333333"/>
                </a:solidFill>
                <a:latin typeface="Courier New"/>
                <a:cs typeface="Courier New"/>
              </a:rPr>
              <a:t>)</a:t>
            </a:r>
            <a:endParaRPr sz="1200">
              <a:latin typeface="Courier New"/>
              <a:cs typeface="Courier New"/>
            </a:endParaRPr>
          </a:p>
          <a:p>
            <a:pPr marL="187325">
              <a:lnSpc>
                <a:spcPts val="1425"/>
              </a:lnSpc>
            </a:pPr>
            <a:r>
              <a:rPr dirty="0" sz="1200" spc="15">
                <a:solidFill>
                  <a:srgbClr val="333333"/>
                </a:solidFill>
                <a:latin typeface="Courier New"/>
                <a:cs typeface="Courier New"/>
              </a:rPr>
              <a:t>}</a:t>
            </a:r>
            <a:endParaRPr sz="1200">
              <a:latin typeface="Courier New"/>
              <a:cs typeface="Courier New"/>
            </a:endParaRPr>
          </a:p>
          <a:p>
            <a:pPr>
              <a:lnSpc>
                <a:spcPts val="1435"/>
              </a:lnSpc>
            </a:pPr>
            <a:r>
              <a:rPr dirty="0" sz="1200" spc="15">
                <a:solidFill>
                  <a:srgbClr val="333333"/>
                </a:solidFill>
                <a:latin typeface="Courier New"/>
                <a:cs typeface="Courier New"/>
              </a:rPr>
              <a:t>)</a:t>
            </a:r>
            <a:endParaRPr sz="12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185"/>
              </a:spcBef>
            </a:pPr>
            <a:r>
              <a:rPr dirty="0" sz="1200" spc="15">
                <a:solidFill>
                  <a:srgbClr val="333333"/>
                </a:solidFill>
                <a:latin typeface="Courier New"/>
                <a:cs typeface="Courier New"/>
              </a:rPr>
              <a:t>acf_df.head()</a:t>
            </a:r>
            <a:endParaRPr sz="1200">
              <a:latin typeface="Courier New"/>
              <a:cs typeface="Courier New"/>
            </a:endParaRPr>
          </a:p>
          <a:p>
            <a:pPr marR="179070">
              <a:lnSpc>
                <a:spcPts val="1420"/>
              </a:lnSpc>
              <a:spcBef>
                <a:spcPts val="1245"/>
              </a:spcBef>
            </a:pPr>
            <a:r>
              <a:rPr dirty="0" sz="1200" spc="15">
                <a:solidFill>
                  <a:srgbClr val="333333"/>
                </a:solidFill>
                <a:latin typeface="Courier New"/>
                <a:cs typeface="Courier New"/>
              </a:rPr>
              <a:t>plt.figure( figsize=(</a:t>
            </a:r>
            <a:r>
              <a:rPr dirty="0" sz="1200" spc="15">
                <a:solidFill>
                  <a:srgbClr val="008080"/>
                </a:solidFill>
                <a:latin typeface="Courier New"/>
                <a:cs typeface="Courier New"/>
              </a:rPr>
              <a:t>8</a:t>
            </a:r>
            <a:r>
              <a:rPr dirty="0" sz="1200" spc="15">
                <a:solidFill>
                  <a:srgbClr val="333333"/>
                </a:solidFill>
                <a:latin typeface="Courier New"/>
                <a:cs typeface="Courier New"/>
              </a:rPr>
              <a:t>, </a:t>
            </a:r>
            <a:r>
              <a:rPr dirty="0" sz="1200" spc="15">
                <a:solidFill>
                  <a:srgbClr val="008080"/>
                </a:solidFill>
                <a:latin typeface="Courier New"/>
                <a:cs typeface="Courier New"/>
              </a:rPr>
              <a:t>5</a:t>
            </a:r>
            <a:r>
              <a:rPr dirty="0" sz="1200" spc="15">
                <a:solidFill>
                  <a:srgbClr val="333333"/>
                </a:solidFill>
                <a:latin typeface="Courier New"/>
                <a:cs typeface="Courier New"/>
              </a:rPr>
              <a:t>) )  plot_acf(kr[</a:t>
            </a:r>
            <a:r>
              <a:rPr dirty="0" sz="1200" spc="15">
                <a:solidFill>
                  <a:srgbClr val="DD1144"/>
                </a:solidFill>
                <a:latin typeface="Courier New"/>
                <a:cs typeface="Courier New"/>
              </a:rPr>
              <a:t>'delta'</a:t>
            </a:r>
            <a:r>
              <a:rPr dirty="0" sz="1200" spc="15">
                <a:solidFill>
                  <a:srgbClr val="333333"/>
                </a:solidFill>
                <a:latin typeface="Courier New"/>
                <a:cs typeface="Courier New"/>
              </a:rPr>
              <a:t>], lags=</a:t>
            </a:r>
            <a:r>
              <a:rPr dirty="0" sz="1200" spc="15">
                <a:solidFill>
                  <a:srgbClr val="008080"/>
                </a:solidFill>
                <a:latin typeface="Courier New"/>
                <a:cs typeface="Courier New"/>
              </a:rPr>
              <a:t>20</a:t>
            </a:r>
            <a:r>
              <a:rPr dirty="0" sz="1200" spc="15">
                <a:solidFill>
                  <a:srgbClr val="333333"/>
                </a:solidFill>
                <a:latin typeface="Courier New"/>
                <a:cs typeface="Courier New"/>
              </a:rPr>
              <a:t>, missing=</a:t>
            </a:r>
            <a:r>
              <a:rPr dirty="0" sz="1200" spc="15">
                <a:solidFill>
                  <a:srgbClr val="DD1144"/>
                </a:solidFill>
                <a:latin typeface="Courier New"/>
                <a:cs typeface="Courier New"/>
              </a:rPr>
              <a:t>'drop'</a:t>
            </a:r>
            <a:r>
              <a:rPr dirty="0" sz="1200" spc="15">
                <a:solidFill>
                  <a:srgbClr val="333333"/>
                </a:solidFill>
                <a:latin typeface="Courier New"/>
                <a:cs typeface="Courier New"/>
              </a:rPr>
              <a:t>)  plt.xticks( ticks=range(</a:t>
            </a:r>
            <a:r>
              <a:rPr dirty="0" sz="1200" spc="15">
                <a:solidFill>
                  <a:srgbClr val="008080"/>
                </a:solidFill>
                <a:latin typeface="Courier New"/>
                <a:cs typeface="Courier New"/>
              </a:rPr>
              <a:t>0</a:t>
            </a:r>
            <a:r>
              <a:rPr dirty="0" sz="1200" spc="15">
                <a:solidFill>
                  <a:srgbClr val="333333"/>
                </a:solidFill>
                <a:latin typeface="Courier New"/>
                <a:cs typeface="Courier New"/>
              </a:rPr>
              <a:t>, </a:t>
            </a:r>
            <a:r>
              <a:rPr dirty="0" sz="1200" spc="15">
                <a:solidFill>
                  <a:srgbClr val="008080"/>
                </a:solidFill>
                <a:latin typeface="Courier New"/>
                <a:cs typeface="Courier New"/>
              </a:rPr>
              <a:t>21</a:t>
            </a:r>
            <a:r>
              <a:rPr dirty="0" sz="1200" spc="15">
                <a:solidFill>
                  <a:srgbClr val="333333"/>
                </a:solidFill>
                <a:latin typeface="Courier New"/>
                <a:cs typeface="Courier New"/>
              </a:rPr>
              <a:t>) )  plt.xlabel(</a:t>
            </a:r>
            <a:r>
              <a:rPr dirty="0" sz="1200" spc="15">
                <a:solidFill>
                  <a:srgbClr val="DD1144"/>
                </a:solidFill>
                <a:latin typeface="Courier New"/>
                <a:cs typeface="Courier New"/>
              </a:rPr>
              <a:t>'Lag'</a:t>
            </a:r>
            <a:r>
              <a:rPr dirty="0" sz="1200" spc="15">
                <a:solidFill>
                  <a:srgbClr val="333333"/>
                </a:solidFill>
                <a:latin typeface="Courier New"/>
                <a:cs typeface="Courier New"/>
              </a:rPr>
              <a:t>)</a:t>
            </a:r>
            <a:endParaRPr sz="1200">
              <a:latin typeface="Courier New"/>
              <a:cs typeface="Courier New"/>
            </a:endParaRPr>
          </a:p>
          <a:p>
            <a:pPr>
              <a:lnSpc>
                <a:spcPts val="1390"/>
              </a:lnSpc>
            </a:pPr>
            <a:r>
              <a:rPr dirty="0" sz="1200" spc="15">
                <a:solidFill>
                  <a:srgbClr val="333333"/>
                </a:solidFill>
                <a:latin typeface="Courier New"/>
                <a:cs typeface="Courier New"/>
              </a:rPr>
              <a:t>plt.ylabel(</a:t>
            </a:r>
            <a:r>
              <a:rPr dirty="0" sz="1200" spc="15">
                <a:solidFill>
                  <a:srgbClr val="DD1144"/>
                </a:solidFill>
                <a:latin typeface="Courier New"/>
                <a:cs typeface="Courier New"/>
              </a:rPr>
              <a:t>'ACF'</a:t>
            </a:r>
            <a:r>
              <a:rPr dirty="0" sz="1200" spc="15">
                <a:solidFill>
                  <a:srgbClr val="333333"/>
                </a:solidFill>
                <a:latin typeface="Courier New"/>
                <a:cs typeface="Courier New"/>
              </a:rPr>
              <a:t>)</a:t>
            </a:r>
            <a:endParaRPr sz="1200">
              <a:latin typeface="Courier New"/>
              <a:cs typeface="Courier New"/>
            </a:endParaRPr>
          </a:p>
          <a:p>
            <a:pPr>
              <a:lnSpc>
                <a:spcPts val="1430"/>
              </a:lnSpc>
            </a:pPr>
            <a:r>
              <a:rPr dirty="0" sz="1200" spc="15">
                <a:solidFill>
                  <a:srgbClr val="333333"/>
                </a:solidFill>
                <a:latin typeface="Courier New"/>
                <a:cs typeface="Courier New"/>
              </a:rPr>
              <a:t>plt.title(</a:t>
            </a:r>
            <a:r>
              <a:rPr dirty="0" sz="1200" spc="15">
                <a:solidFill>
                  <a:srgbClr val="DD1144"/>
                </a:solidFill>
                <a:latin typeface="Courier New"/>
                <a:cs typeface="Courier New"/>
              </a:rPr>
              <a:t>"ACF of Kroger's Diff in Stock</a:t>
            </a:r>
            <a:r>
              <a:rPr dirty="0" sz="1200" spc="50">
                <a:solidFill>
                  <a:srgbClr val="DD1144"/>
                </a:solidFill>
                <a:latin typeface="Courier New"/>
                <a:cs typeface="Courier New"/>
              </a:rPr>
              <a:t> </a:t>
            </a:r>
            <a:r>
              <a:rPr dirty="0" sz="1200" spc="15">
                <a:solidFill>
                  <a:srgbClr val="DD1144"/>
                </a:solidFill>
                <a:latin typeface="Courier New"/>
                <a:cs typeface="Courier New"/>
              </a:rPr>
              <a:t>Price"</a:t>
            </a:r>
            <a:r>
              <a:rPr dirty="0" sz="1200" spc="15">
                <a:solidFill>
                  <a:srgbClr val="333333"/>
                </a:solidFill>
                <a:latin typeface="Courier New"/>
                <a:cs typeface="Courier New"/>
              </a:rPr>
              <a:t>)</a:t>
            </a:r>
            <a:endParaRPr sz="1200">
              <a:latin typeface="Courier New"/>
              <a:cs typeface="Courier New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5762624" y="2914649"/>
            <a:ext cx="4848225" cy="1133475"/>
          </a:xfrm>
          <a:custGeom>
            <a:avLst/>
            <a:gdLst/>
            <a:ahLst/>
            <a:cxnLst/>
            <a:rect l="l" t="t" r="r" b="b"/>
            <a:pathLst>
              <a:path w="4848225" h="1133475">
                <a:moveTo>
                  <a:pt x="0" y="0"/>
                </a:moveTo>
                <a:lnTo>
                  <a:pt x="4848224" y="0"/>
                </a:lnTo>
                <a:lnTo>
                  <a:pt x="4848224" y="1133474"/>
                </a:lnTo>
                <a:lnTo>
                  <a:pt x="0" y="1133474"/>
                </a:lnTo>
                <a:lnTo>
                  <a:pt x="0" y="0"/>
                </a:lnTo>
                <a:close/>
              </a:path>
            </a:pathLst>
          </a:custGeom>
          <a:solidFill>
            <a:srgbClr val="F7F7F7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1" name="object 11"/>
          <p:cNvSpPr txBox="1"/>
          <p:nvPr/>
        </p:nvSpPr>
        <p:spPr>
          <a:xfrm>
            <a:off x="5836691" y="2977778"/>
            <a:ext cx="192405" cy="197485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1100" spc="-5" i="1">
                <a:solidFill>
                  <a:srgbClr val="999987"/>
                </a:solidFill>
                <a:latin typeface="Courier New"/>
                <a:cs typeface="Courier New"/>
              </a:rPr>
              <a:t>##</a:t>
            </a:r>
            <a:endParaRPr sz="1100">
              <a:latin typeface="Courier New"/>
              <a:cs typeface="Courier New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1270" rIns="0" bIns="0" rtlCol="0" vert="horz">
            <a:spAutoFit/>
          </a:bodyPr>
          <a:lstStyle/>
          <a:p>
            <a:pPr marL="123825">
              <a:lnSpc>
                <a:spcPct val="100000"/>
              </a:lnSpc>
              <a:spcBef>
                <a:spcPts val="10"/>
              </a:spcBef>
            </a:pPr>
            <a:fld id="{81D60167-4931-47E6-BA6A-407CBD079E47}" type="slidenum">
              <a:rPr dirty="0" spc="5"/>
              <a:t>9</a:t>
            </a:fld>
            <a:r>
              <a:rPr dirty="0" spc="5"/>
              <a:t> </a:t>
            </a:r>
            <a:r>
              <a:rPr dirty="0" spc="160"/>
              <a:t>/</a:t>
            </a:r>
            <a:r>
              <a:rPr dirty="0" spc="-165"/>
              <a:t> </a:t>
            </a:r>
            <a:r>
              <a:rPr dirty="0" spc="5"/>
              <a:t>33</a:t>
            </a:r>
          </a:p>
        </p:txBody>
      </p:sp>
      <p:sp>
        <p:nvSpPr>
          <p:cNvPr id="12" name="object 12"/>
          <p:cNvSpPr txBox="1"/>
          <p:nvPr/>
        </p:nvSpPr>
        <p:spPr>
          <a:xfrm>
            <a:off x="6336982" y="2977778"/>
            <a:ext cx="275590" cy="197485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1100" spc="-5" i="1">
                <a:solidFill>
                  <a:srgbClr val="999987"/>
                </a:solidFill>
                <a:latin typeface="Courier New"/>
                <a:cs typeface="Courier New"/>
              </a:rPr>
              <a:t>lag</a:t>
            </a:r>
            <a:endParaRPr sz="1100">
              <a:latin typeface="Courier New"/>
              <a:cs typeface="Courier New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7004036" y="2977778"/>
            <a:ext cx="275590" cy="197485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1100" spc="-5" i="1">
                <a:solidFill>
                  <a:srgbClr val="999987"/>
                </a:solidFill>
                <a:latin typeface="Courier New"/>
                <a:cs typeface="Courier New"/>
              </a:rPr>
              <a:t>acf</a:t>
            </a:r>
            <a:endParaRPr sz="1100">
              <a:latin typeface="Courier New"/>
              <a:cs typeface="Courier New"/>
            </a:endParaRPr>
          </a:p>
        </p:txBody>
      </p:sp>
      <p:graphicFrame>
        <p:nvGraphicFramePr>
          <p:cNvPr id="14" name="object 14"/>
          <p:cNvGraphicFramePr>
            <a:graphicFrameLocks noGrp="1"/>
          </p:cNvGraphicFramePr>
          <p:nvPr/>
        </p:nvGraphicFramePr>
        <p:xfrm>
          <a:off x="5817641" y="3145170"/>
          <a:ext cx="1481455" cy="81851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0029"/>
                <a:gridCol w="291464"/>
                <a:gridCol w="291465"/>
                <a:gridCol w="656590"/>
              </a:tblGrid>
              <a:tr h="170993">
                <a:tc>
                  <a:txBody>
                    <a:bodyPr/>
                    <a:lstStyle/>
                    <a:p>
                      <a:pPr marL="31750">
                        <a:lnSpc>
                          <a:spcPts val="1235"/>
                        </a:lnSpc>
                        <a:spcBef>
                          <a:spcPts val="10"/>
                        </a:spcBef>
                      </a:pPr>
                      <a:r>
                        <a:rPr dirty="0" sz="1100" spc="-5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##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127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41275">
                        <a:lnSpc>
                          <a:spcPts val="1235"/>
                        </a:lnSpc>
                        <a:spcBef>
                          <a:spcPts val="10"/>
                        </a:spcBef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0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127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33655">
                        <a:lnSpc>
                          <a:spcPts val="1235"/>
                        </a:lnSpc>
                        <a:spcBef>
                          <a:spcPts val="10"/>
                        </a:spcBef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0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127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24130">
                        <a:lnSpc>
                          <a:spcPts val="1235"/>
                        </a:lnSpc>
                        <a:spcBef>
                          <a:spcPts val="10"/>
                        </a:spcBef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1.0000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1270">
                    <a:solidFill>
                      <a:srgbClr val="F7F7F7"/>
                    </a:solidFill>
                  </a:tcPr>
                </a:tc>
              </a:tr>
              <a:tr h="161925">
                <a:tc>
                  <a:txBody>
                    <a:bodyPr/>
                    <a:lstStyle/>
                    <a:p>
                      <a:pPr marL="31750">
                        <a:lnSpc>
                          <a:spcPts val="1175"/>
                        </a:lnSpc>
                      </a:pPr>
                      <a:r>
                        <a:rPr dirty="0" sz="1100" spc="-5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##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41275">
                        <a:lnSpc>
                          <a:spcPts val="1175"/>
                        </a:lnSpc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1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33655">
                        <a:lnSpc>
                          <a:spcPts val="1175"/>
                        </a:lnSpc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1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24130">
                        <a:lnSpc>
                          <a:spcPts val="1175"/>
                        </a:lnSpc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-0.0274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</a:tr>
              <a:tr h="161925">
                <a:tc>
                  <a:txBody>
                    <a:bodyPr/>
                    <a:lstStyle/>
                    <a:p>
                      <a:pPr marL="31750">
                        <a:lnSpc>
                          <a:spcPts val="1175"/>
                        </a:lnSpc>
                      </a:pPr>
                      <a:r>
                        <a:rPr dirty="0" sz="1100" spc="-5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##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41275">
                        <a:lnSpc>
                          <a:spcPts val="1175"/>
                        </a:lnSpc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2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33655">
                        <a:lnSpc>
                          <a:spcPts val="1175"/>
                        </a:lnSpc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2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24130">
                        <a:lnSpc>
                          <a:spcPts val="1175"/>
                        </a:lnSpc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-0.0382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</a:tr>
              <a:tr h="157162">
                <a:tc>
                  <a:txBody>
                    <a:bodyPr/>
                    <a:lstStyle/>
                    <a:p>
                      <a:pPr marL="31750">
                        <a:lnSpc>
                          <a:spcPts val="1140"/>
                        </a:lnSpc>
                      </a:pPr>
                      <a:r>
                        <a:rPr dirty="0" sz="1100" spc="-5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##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41275">
                        <a:lnSpc>
                          <a:spcPts val="1140"/>
                        </a:lnSpc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3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33655">
                        <a:lnSpc>
                          <a:spcPts val="1140"/>
                        </a:lnSpc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3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24130">
                        <a:lnSpc>
                          <a:spcPts val="1140"/>
                        </a:lnSpc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-0.1016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</a:tr>
              <a:tr h="166230">
                <a:tc>
                  <a:txBody>
                    <a:bodyPr/>
                    <a:lstStyle/>
                    <a:p>
                      <a:pPr marL="31750">
                        <a:lnSpc>
                          <a:spcPts val="1210"/>
                        </a:lnSpc>
                      </a:pPr>
                      <a:r>
                        <a:rPr dirty="0" sz="1100" spc="-5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##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41275">
                        <a:lnSpc>
                          <a:spcPts val="1210"/>
                        </a:lnSpc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4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33655">
                        <a:lnSpc>
                          <a:spcPts val="1210"/>
                        </a:lnSpc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4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marR="24130">
                        <a:lnSpc>
                          <a:spcPts val="1210"/>
                        </a:lnSpc>
                      </a:pPr>
                      <a:r>
                        <a:rPr dirty="0" sz="1100" i="1">
                          <a:solidFill>
                            <a:srgbClr val="999987"/>
                          </a:solidFill>
                          <a:latin typeface="Courier New"/>
                          <a:cs typeface="Courier New"/>
                        </a:rPr>
                        <a:t>-0.0387</a:t>
                      </a:r>
                      <a:endParaRPr sz="11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1525250" cy="6486525"/>
          </a:xfrm>
          <a:custGeom>
            <a:avLst/>
            <a:gdLst/>
            <a:ahLst/>
            <a:cxnLst/>
            <a:rect l="l" t="t" r="r" b="b"/>
            <a:pathLst>
              <a:path w="11525250" h="6486525">
                <a:moveTo>
                  <a:pt x="0" y="0"/>
                </a:moveTo>
                <a:lnTo>
                  <a:pt x="11525249" y="0"/>
                </a:lnTo>
                <a:lnTo>
                  <a:pt x="11525249" y="6486524"/>
                </a:lnTo>
                <a:lnTo>
                  <a:pt x="0" y="6486524"/>
                </a:lnTo>
                <a:lnTo>
                  <a:pt x="0" y="0"/>
                </a:lnTo>
                <a:close/>
              </a:path>
            </a:pathLst>
          </a:custGeom>
          <a:solidFill>
            <a:srgbClr val="C2132D"/>
          </a:solidFill>
        </p:spPr>
        <p:txBody>
          <a:bodyPr wrap="square" lIns="0" tIns="0" rIns="0" bIns="0" rtlCol="0"/>
          <a:lstStyle/>
          <a:p/>
        </p:txBody>
      </p:sp>
      <p:sp>
        <p:nvSpPr>
          <p:cNvPr id="3" name="object 3"/>
          <p:cNvSpPr/>
          <p:nvPr/>
        </p:nvSpPr>
        <p:spPr>
          <a:xfrm>
            <a:off x="941832" y="1795272"/>
            <a:ext cx="9656445" cy="1039494"/>
          </a:xfrm>
          <a:custGeom>
            <a:avLst/>
            <a:gdLst/>
            <a:ahLst/>
            <a:cxnLst/>
            <a:rect l="l" t="t" r="r" b="b"/>
            <a:pathLst>
              <a:path w="9656445" h="1039494">
                <a:moveTo>
                  <a:pt x="0" y="0"/>
                </a:moveTo>
                <a:lnTo>
                  <a:pt x="9656064" y="0"/>
                </a:lnTo>
                <a:lnTo>
                  <a:pt x="9656064" y="1039368"/>
                </a:lnTo>
                <a:lnTo>
                  <a:pt x="0" y="1039368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/>
          <p:nvPr/>
        </p:nvSpPr>
        <p:spPr>
          <a:xfrm>
            <a:off x="3959352" y="2313432"/>
            <a:ext cx="3611879" cy="942340"/>
          </a:xfrm>
          <a:custGeom>
            <a:avLst/>
            <a:gdLst/>
            <a:ahLst/>
            <a:cxnLst/>
            <a:rect l="l" t="t" r="r" b="b"/>
            <a:pathLst>
              <a:path w="3611879" h="942339">
                <a:moveTo>
                  <a:pt x="0" y="0"/>
                </a:moveTo>
                <a:lnTo>
                  <a:pt x="3611880" y="0"/>
                </a:lnTo>
                <a:lnTo>
                  <a:pt x="3611880" y="941832"/>
                </a:lnTo>
                <a:lnTo>
                  <a:pt x="0" y="941832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/>
        </p:txBody>
      </p: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16839" rIns="0" bIns="0" rtlCol="0" vert="horz">
            <a:spAutoFit/>
          </a:bodyPr>
          <a:lstStyle/>
          <a:p>
            <a:pPr marL="3044825" marR="5080" indent="-3032760">
              <a:lnSpc>
                <a:spcPts val="4130"/>
              </a:lnSpc>
              <a:spcBef>
                <a:spcPts val="919"/>
              </a:spcBef>
            </a:pPr>
            <a:r>
              <a:rPr dirty="0" spc="-1150">
                <a:solidFill>
                  <a:srgbClr val="000000"/>
                </a:solidFill>
              </a:rPr>
              <a:t>M</a:t>
            </a:r>
            <a:r>
              <a:rPr dirty="0" spc="-1150"/>
              <a:t>M</a:t>
            </a:r>
            <a:r>
              <a:rPr dirty="0" spc="-1150">
                <a:solidFill>
                  <a:srgbClr val="000000"/>
                </a:solidFill>
              </a:rPr>
              <a:t>a</a:t>
            </a:r>
            <a:r>
              <a:rPr dirty="0" spc="-1150"/>
              <a:t>a</a:t>
            </a:r>
            <a:r>
              <a:rPr dirty="0" spc="-1150">
                <a:solidFill>
                  <a:srgbClr val="000000"/>
                </a:solidFill>
              </a:rPr>
              <a:t>t</a:t>
            </a:r>
            <a:r>
              <a:rPr dirty="0" spc="-1150"/>
              <a:t>t</a:t>
            </a:r>
            <a:r>
              <a:rPr dirty="0" spc="-1150">
                <a:solidFill>
                  <a:srgbClr val="000000"/>
                </a:solidFill>
              </a:rPr>
              <a:t>h</a:t>
            </a:r>
            <a:r>
              <a:rPr dirty="0" spc="-1150"/>
              <a:t>h</a:t>
            </a:r>
            <a:r>
              <a:rPr dirty="0" spc="-1150">
                <a:solidFill>
                  <a:srgbClr val="000000"/>
                </a:solidFill>
              </a:rPr>
              <a:t>e</a:t>
            </a:r>
            <a:r>
              <a:rPr dirty="0" spc="-1150"/>
              <a:t>e</a:t>
            </a:r>
            <a:r>
              <a:rPr dirty="0" spc="-1150">
                <a:solidFill>
                  <a:srgbClr val="000000"/>
                </a:solidFill>
              </a:rPr>
              <a:t>m</a:t>
            </a:r>
            <a:r>
              <a:rPr dirty="0" spc="-1150"/>
              <a:t>m</a:t>
            </a:r>
            <a:r>
              <a:rPr dirty="0" spc="-1150">
                <a:solidFill>
                  <a:srgbClr val="000000"/>
                </a:solidFill>
              </a:rPr>
              <a:t>a</a:t>
            </a:r>
            <a:r>
              <a:rPr dirty="0" spc="-1150"/>
              <a:t>a</a:t>
            </a:r>
            <a:r>
              <a:rPr dirty="0" spc="-1150">
                <a:solidFill>
                  <a:srgbClr val="000000"/>
                </a:solidFill>
              </a:rPr>
              <a:t>t</a:t>
            </a:r>
            <a:r>
              <a:rPr dirty="0" spc="-1150"/>
              <a:t>t</a:t>
            </a:r>
            <a:r>
              <a:rPr dirty="0" spc="-1150">
                <a:solidFill>
                  <a:srgbClr val="000000"/>
                </a:solidFill>
              </a:rPr>
              <a:t>i</a:t>
            </a:r>
            <a:r>
              <a:rPr dirty="0" spc="-1150"/>
              <a:t>i</a:t>
            </a:r>
            <a:r>
              <a:rPr dirty="0" spc="-1150">
                <a:solidFill>
                  <a:srgbClr val="000000"/>
                </a:solidFill>
              </a:rPr>
              <a:t>c</a:t>
            </a:r>
            <a:r>
              <a:rPr dirty="0" spc="-1150"/>
              <a:t>c</a:t>
            </a:r>
            <a:r>
              <a:rPr dirty="0" spc="-1150">
                <a:solidFill>
                  <a:srgbClr val="000000"/>
                </a:solidFill>
              </a:rPr>
              <a:t>a</a:t>
            </a:r>
            <a:r>
              <a:rPr dirty="0" spc="-1150"/>
              <a:t>a</a:t>
            </a:r>
            <a:r>
              <a:rPr dirty="0" spc="-1150">
                <a:solidFill>
                  <a:srgbClr val="000000"/>
                </a:solidFill>
              </a:rPr>
              <a:t>l</a:t>
            </a:r>
            <a:r>
              <a:rPr dirty="0" spc="-1150"/>
              <a:t>l </a:t>
            </a:r>
            <a:r>
              <a:rPr dirty="0" spc="-1160">
                <a:solidFill>
                  <a:srgbClr val="000000"/>
                </a:solidFill>
              </a:rPr>
              <a:t>B</a:t>
            </a:r>
            <a:r>
              <a:rPr dirty="0" spc="-1160"/>
              <a:t>B</a:t>
            </a:r>
            <a:r>
              <a:rPr dirty="0" spc="-1160">
                <a:solidFill>
                  <a:srgbClr val="000000"/>
                </a:solidFill>
              </a:rPr>
              <a:t>a</a:t>
            </a:r>
            <a:r>
              <a:rPr dirty="0" spc="-1160"/>
              <a:t>a</a:t>
            </a:r>
            <a:r>
              <a:rPr dirty="0" spc="-1160">
                <a:solidFill>
                  <a:srgbClr val="000000"/>
                </a:solidFill>
              </a:rPr>
              <a:t>c</a:t>
            </a:r>
            <a:r>
              <a:rPr dirty="0" spc="-1160"/>
              <a:t>c</a:t>
            </a:r>
            <a:r>
              <a:rPr dirty="0" spc="-1160">
                <a:solidFill>
                  <a:srgbClr val="000000"/>
                </a:solidFill>
              </a:rPr>
              <a:t>k</a:t>
            </a:r>
            <a:r>
              <a:rPr dirty="0" spc="-1160"/>
              <a:t>k</a:t>
            </a:r>
            <a:r>
              <a:rPr dirty="0" spc="-1160">
                <a:solidFill>
                  <a:srgbClr val="000000"/>
                </a:solidFill>
              </a:rPr>
              <a:t>g</a:t>
            </a:r>
            <a:r>
              <a:rPr dirty="0" spc="-1160"/>
              <a:t>g</a:t>
            </a:r>
            <a:r>
              <a:rPr dirty="0" spc="-1160">
                <a:solidFill>
                  <a:srgbClr val="000000"/>
                </a:solidFill>
              </a:rPr>
              <a:t>r</a:t>
            </a:r>
            <a:r>
              <a:rPr dirty="0" spc="-1160"/>
              <a:t>r</a:t>
            </a:r>
            <a:r>
              <a:rPr dirty="0" spc="-1160">
                <a:solidFill>
                  <a:srgbClr val="000000"/>
                </a:solidFill>
              </a:rPr>
              <a:t>o</a:t>
            </a:r>
            <a:r>
              <a:rPr dirty="0" spc="-1160"/>
              <a:t>o</a:t>
            </a:r>
            <a:r>
              <a:rPr dirty="0" spc="-1160">
                <a:solidFill>
                  <a:srgbClr val="000000"/>
                </a:solidFill>
              </a:rPr>
              <a:t>u</a:t>
            </a:r>
            <a:r>
              <a:rPr dirty="0" spc="-1160"/>
              <a:t>u</a:t>
            </a:r>
            <a:r>
              <a:rPr dirty="0" spc="-1160">
                <a:solidFill>
                  <a:srgbClr val="000000"/>
                </a:solidFill>
              </a:rPr>
              <a:t>n</a:t>
            </a:r>
            <a:r>
              <a:rPr dirty="0" spc="-1160"/>
              <a:t>n</a:t>
            </a:r>
            <a:r>
              <a:rPr dirty="0" spc="-1160">
                <a:solidFill>
                  <a:srgbClr val="000000"/>
                </a:solidFill>
              </a:rPr>
              <a:t>d</a:t>
            </a:r>
            <a:r>
              <a:rPr dirty="0" spc="-1160"/>
              <a:t>d </a:t>
            </a:r>
            <a:r>
              <a:rPr dirty="0" spc="-1205">
                <a:solidFill>
                  <a:srgbClr val="000000"/>
                </a:solidFill>
              </a:rPr>
              <a:t>o</a:t>
            </a:r>
            <a:r>
              <a:rPr dirty="0" spc="-1205"/>
              <a:t>o</a:t>
            </a:r>
            <a:r>
              <a:rPr dirty="0" spc="-1205">
                <a:solidFill>
                  <a:srgbClr val="000000"/>
                </a:solidFill>
              </a:rPr>
              <a:t>n</a:t>
            </a:r>
            <a:r>
              <a:rPr dirty="0" spc="-1205"/>
              <a:t>n </a:t>
            </a:r>
            <a:r>
              <a:rPr dirty="0" spc="-1180">
                <a:solidFill>
                  <a:srgbClr val="000000"/>
                </a:solidFill>
              </a:rPr>
              <a:t>t</a:t>
            </a:r>
            <a:r>
              <a:rPr dirty="0" spc="-1180"/>
              <a:t>t</a:t>
            </a:r>
            <a:r>
              <a:rPr dirty="0" spc="-1180">
                <a:solidFill>
                  <a:srgbClr val="000000"/>
                </a:solidFill>
              </a:rPr>
              <a:t>h</a:t>
            </a:r>
            <a:r>
              <a:rPr dirty="0" spc="-1180"/>
              <a:t>h</a:t>
            </a:r>
            <a:r>
              <a:rPr dirty="0" spc="-1180">
                <a:solidFill>
                  <a:srgbClr val="000000"/>
                </a:solidFill>
              </a:rPr>
              <a:t>e</a:t>
            </a:r>
            <a:r>
              <a:rPr dirty="0" spc="-1180"/>
              <a:t>e </a:t>
            </a:r>
            <a:r>
              <a:rPr dirty="0" spc="-1145">
                <a:solidFill>
                  <a:srgbClr val="000000"/>
                </a:solidFill>
              </a:rPr>
              <a:t>9</a:t>
            </a:r>
            <a:r>
              <a:rPr dirty="0" spc="-1145"/>
              <a:t>9</a:t>
            </a:r>
            <a:r>
              <a:rPr dirty="0" spc="-1145">
                <a:solidFill>
                  <a:srgbClr val="000000"/>
                </a:solidFill>
              </a:rPr>
              <a:t>5</a:t>
            </a:r>
            <a:r>
              <a:rPr dirty="0" spc="-1145"/>
              <a:t>5</a:t>
            </a:r>
            <a:r>
              <a:rPr dirty="0" spc="-1145">
                <a:solidFill>
                  <a:srgbClr val="000000"/>
                </a:solidFill>
              </a:rPr>
              <a:t>%</a:t>
            </a:r>
            <a:r>
              <a:rPr dirty="0" spc="-1145"/>
              <a:t>% </a:t>
            </a:r>
            <a:r>
              <a:rPr dirty="0" spc="-1015">
                <a:solidFill>
                  <a:srgbClr val="000000"/>
                </a:solidFill>
              </a:rPr>
              <a:t>L</a:t>
            </a:r>
            <a:r>
              <a:rPr dirty="0" spc="-1015"/>
              <a:t>L</a:t>
            </a:r>
            <a:r>
              <a:rPr dirty="0" spc="-1015">
                <a:solidFill>
                  <a:srgbClr val="000000"/>
                </a:solidFill>
              </a:rPr>
              <a:t>i</a:t>
            </a:r>
            <a:r>
              <a:rPr dirty="0" spc="-1015"/>
              <a:t>i</a:t>
            </a:r>
            <a:r>
              <a:rPr dirty="0" spc="-1015">
                <a:solidFill>
                  <a:srgbClr val="000000"/>
                </a:solidFill>
              </a:rPr>
              <a:t>m</a:t>
            </a:r>
            <a:r>
              <a:rPr dirty="0" spc="-1015"/>
              <a:t>m</a:t>
            </a:r>
            <a:r>
              <a:rPr dirty="0" spc="-1015">
                <a:solidFill>
                  <a:srgbClr val="000000"/>
                </a:solidFill>
              </a:rPr>
              <a:t>i</a:t>
            </a:r>
            <a:r>
              <a:rPr dirty="0" spc="-1015"/>
              <a:t>i</a:t>
            </a:r>
            <a:r>
              <a:rPr dirty="0" spc="-1015">
                <a:solidFill>
                  <a:srgbClr val="000000"/>
                </a:solidFill>
              </a:rPr>
              <a:t>t</a:t>
            </a:r>
            <a:r>
              <a:rPr dirty="0" spc="-1015"/>
              <a:t>t</a:t>
            </a:r>
            <a:r>
              <a:rPr dirty="0" spc="-1015">
                <a:solidFill>
                  <a:srgbClr val="000000"/>
                </a:solidFill>
              </a:rPr>
              <a:t>s</a:t>
            </a:r>
            <a:r>
              <a:rPr dirty="0" spc="-1015"/>
              <a:t>s  </a:t>
            </a:r>
            <a:r>
              <a:rPr dirty="0" spc="-1019">
                <a:solidFill>
                  <a:srgbClr val="000000"/>
                </a:solidFill>
              </a:rPr>
              <a:t>o</a:t>
            </a:r>
            <a:r>
              <a:rPr dirty="0" spc="-1019"/>
              <a:t>o</a:t>
            </a:r>
            <a:r>
              <a:rPr dirty="0" spc="-1019">
                <a:solidFill>
                  <a:srgbClr val="000000"/>
                </a:solidFill>
              </a:rPr>
              <a:t>f</a:t>
            </a:r>
            <a:r>
              <a:rPr dirty="0" spc="-1019"/>
              <a:t>f </a:t>
            </a:r>
            <a:r>
              <a:rPr dirty="0" spc="-1180">
                <a:solidFill>
                  <a:srgbClr val="000000"/>
                </a:solidFill>
              </a:rPr>
              <a:t>t</a:t>
            </a:r>
            <a:r>
              <a:rPr dirty="0" spc="-1180"/>
              <a:t>t</a:t>
            </a:r>
            <a:r>
              <a:rPr dirty="0" spc="-1180">
                <a:solidFill>
                  <a:srgbClr val="000000"/>
                </a:solidFill>
              </a:rPr>
              <a:t>h</a:t>
            </a:r>
            <a:r>
              <a:rPr dirty="0" spc="-1180"/>
              <a:t>h</a:t>
            </a:r>
            <a:r>
              <a:rPr dirty="0" spc="-1180">
                <a:solidFill>
                  <a:srgbClr val="000000"/>
                </a:solidFill>
              </a:rPr>
              <a:t>e</a:t>
            </a:r>
            <a:r>
              <a:rPr dirty="0" spc="-1180"/>
              <a:t>e </a:t>
            </a:r>
            <a:r>
              <a:rPr dirty="0" spc="-1230"/>
              <a:t>A</a:t>
            </a:r>
            <a:r>
              <a:rPr dirty="0" spc="-1230">
                <a:solidFill>
                  <a:srgbClr val="000000"/>
                </a:solidFill>
              </a:rPr>
              <a:t>AC</a:t>
            </a:r>
            <a:r>
              <a:rPr dirty="0" spc="-1230"/>
              <a:t>C</a:t>
            </a:r>
            <a:r>
              <a:rPr dirty="0" spc="-1230">
                <a:solidFill>
                  <a:srgbClr val="000000"/>
                </a:solidFill>
              </a:rPr>
              <a:t>F</a:t>
            </a:r>
            <a:r>
              <a:rPr dirty="0" spc="-1230"/>
              <a:t>F </a:t>
            </a:r>
            <a:r>
              <a:rPr dirty="0" spc="-1170">
                <a:solidFill>
                  <a:srgbClr val="000000"/>
                </a:solidFill>
              </a:rPr>
              <a:t>P</a:t>
            </a:r>
            <a:r>
              <a:rPr dirty="0" spc="-1170"/>
              <a:t>P</a:t>
            </a:r>
            <a:r>
              <a:rPr dirty="0" spc="-1170">
                <a:solidFill>
                  <a:srgbClr val="000000"/>
                </a:solidFill>
              </a:rPr>
              <a:t>l</a:t>
            </a:r>
            <a:r>
              <a:rPr dirty="0" spc="-1170"/>
              <a:t>l</a:t>
            </a:r>
            <a:r>
              <a:rPr dirty="0" spc="-1170">
                <a:solidFill>
                  <a:srgbClr val="000000"/>
                </a:solidFill>
              </a:rPr>
              <a:t>o</a:t>
            </a:r>
            <a:r>
              <a:rPr dirty="0" spc="-1170"/>
              <a:t>ot</a:t>
            </a:r>
            <a:r>
              <a:rPr dirty="0" spc="-1170">
                <a:solidFill>
                  <a:srgbClr val="000000"/>
                </a:solidFill>
              </a:rPr>
              <a:t>t</a:t>
            </a:r>
          </a:p>
        </p:txBody>
      </p:sp>
      <p:sp>
        <p:nvSpPr>
          <p:cNvPr id="6" name="object 6"/>
          <p:cNvSpPr/>
          <p:nvPr/>
        </p:nvSpPr>
        <p:spPr>
          <a:xfrm>
            <a:off x="1752600" y="3169920"/>
            <a:ext cx="4636135" cy="1076325"/>
          </a:xfrm>
          <a:custGeom>
            <a:avLst/>
            <a:gdLst/>
            <a:ahLst/>
            <a:cxnLst/>
            <a:rect l="l" t="t" r="r" b="b"/>
            <a:pathLst>
              <a:path w="4636135" h="1076325">
                <a:moveTo>
                  <a:pt x="0" y="0"/>
                </a:moveTo>
                <a:lnTo>
                  <a:pt x="4636008" y="0"/>
                </a:lnTo>
                <a:lnTo>
                  <a:pt x="4636008" y="1075944"/>
                </a:lnTo>
                <a:lnTo>
                  <a:pt x="0" y="1075944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/>
        </p:txBody>
      </p:sp>
      <p:sp>
        <p:nvSpPr>
          <p:cNvPr id="7" name="object 7"/>
          <p:cNvSpPr txBox="1"/>
          <p:nvPr/>
        </p:nvSpPr>
        <p:spPr>
          <a:xfrm>
            <a:off x="5792088" y="3371608"/>
            <a:ext cx="340995" cy="614045"/>
          </a:xfrm>
          <a:prstGeom prst="rect">
            <a:avLst/>
          </a:prstGeom>
        </p:spPr>
        <p:txBody>
          <a:bodyPr wrap="square" lIns="0" tIns="0" rIns="0" bIns="0" rtlCol="0" vert="horz">
            <a:spAutoFit/>
          </a:bodyPr>
          <a:lstStyle/>
          <a:p>
            <a:pPr>
              <a:lnSpc>
                <a:spcPts val="4645"/>
              </a:lnSpc>
            </a:pPr>
            <a:r>
              <a:rPr dirty="0" sz="4100" spc="-3060">
                <a:latin typeface="Trebuchet MS"/>
                <a:cs typeface="Trebuchet MS"/>
              </a:rPr>
              <a:t>w</a:t>
            </a:r>
            <a:r>
              <a:rPr dirty="0" sz="4100" spc="-375">
                <a:solidFill>
                  <a:srgbClr val="FFFFFF"/>
                </a:solidFill>
                <a:latin typeface="Trebuchet MS"/>
                <a:cs typeface="Trebuchet MS"/>
              </a:rPr>
              <a:t>w</a:t>
            </a:r>
            <a:endParaRPr sz="4100">
              <a:latin typeface="Trebuchet MS"/>
              <a:cs typeface="Trebuchet MS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6019800" y="3233928"/>
            <a:ext cx="3749040" cy="899160"/>
          </a:xfrm>
          <a:custGeom>
            <a:avLst/>
            <a:gdLst/>
            <a:ahLst/>
            <a:cxnLst/>
            <a:rect l="l" t="t" r="r" b="b"/>
            <a:pathLst>
              <a:path w="3749040" h="899160">
                <a:moveTo>
                  <a:pt x="0" y="0"/>
                </a:moveTo>
                <a:lnTo>
                  <a:pt x="3749040" y="0"/>
                </a:lnTo>
                <a:lnTo>
                  <a:pt x="3749040" y="899160"/>
                </a:lnTo>
                <a:lnTo>
                  <a:pt x="0" y="899160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/>
        </p:txBody>
      </p:sp>
      <p:sp>
        <p:nvSpPr>
          <p:cNvPr id="9" name="object 9"/>
          <p:cNvSpPr/>
          <p:nvPr/>
        </p:nvSpPr>
        <p:spPr>
          <a:xfrm>
            <a:off x="2273808" y="3694176"/>
            <a:ext cx="6964680" cy="1076325"/>
          </a:xfrm>
          <a:custGeom>
            <a:avLst/>
            <a:gdLst/>
            <a:ahLst/>
            <a:cxnLst/>
            <a:rect l="l" t="t" r="r" b="b"/>
            <a:pathLst>
              <a:path w="6964680" h="1076325">
                <a:moveTo>
                  <a:pt x="0" y="0"/>
                </a:moveTo>
                <a:lnTo>
                  <a:pt x="6964680" y="0"/>
                </a:lnTo>
                <a:lnTo>
                  <a:pt x="6964680" y="1075944"/>
                </a:lnTo>
                <a:lnTo>
                  <a:pt x="0" y="1075944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0" name="object 10"/>
          <p:cNvSpPr txBox="1"/>
          <p:nvPr/>
        </p:nvSpPr>
        <p:spPr>
          <a:xfrm>
            <a:off x="1974899" y="3321050"/>
            <a:ext cx="7575550" cy="1177925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algn="ctr">
              <a:lnSpc>
                <a:spcPts val="4520"/>
              </a:lnSpc>
              <a:spcBef>
                <a:spcPts val="125"/>
              </a:spcBef>
              <a:tabLst>
                <a:tab pos="4264660" algn="l"/>
              </a:tabLst>
            </a:pPr>
            <a:r>
              <a:rPr dirty="0" sz="4100" spc="-1110">
                <a:latin typeface="Trebuchet MS"/>
                <a:cs typeface="Trebuchet MS"/>
              </a:rPr>
              <a:t>(</a:t>
            </a:r>
            <a:r>
              <a:rPr dirty="0" sz="4100" spc="-1110">
                <a:solidFill>
                  <a:srgbClr val="FFFFFF"/>
                </a:solidFill>
                <a:latin typeface="Trebuchet MS"/>
                <a:cs typeface="Trebuchet MS"/>
              </a:rPr>
              <a:t>(</a:t>
            </a:r>
            <a:r>
              <a:rPr dirty="0" sz="4100" spc="-1110">
                <a:latin typeface="Trebuchet MS"/>
                <a:cs typeface="Trebuchet MS"/>
              </a:rPr>
              <a:t>U</a:t>
            </a:r>
            <a:r>
              <a:rPr dirty="0" sz="4100" spc="-1110">
                <a:solidFill>
                  <a:srgbClr val="FFFFFF"/>
                </a:solidFill>
                <a:latin typeface="Trebuchet MS"/>
                <a:cs typeface="Trebuchet MS"/>
              </a:rPr>
              <a:t>U</a:t>
            </a:r>
            <a:r>
              <a:rPr dirty="0" sz="4100" spc="-1110">
                <a:latin typeface="Trebuchet MS"/>
                <a:cs typeface="Trebuchet MS"/>
              </a:rPr>
              <a:t>n</a:t>
            </a:r>
            <a:r>
              <a:rPr dirty="0" sz="4100" spc="-1110">
                <a:solidFill>
                  <a:srgbClr val="FFFFFF"/>
                </a:solidFill>
                <a:latin typeface="Trebuchet MS"/>
                <a:cs typeface="Trebuchet MS"/>
              </a:rPr>
              <a:t>n</a:t>
            </a:r>
            <a:r>
              <a:rPr dirty="0" sz="4100" spc="-1110">
                <a:latin typeface="Trebuchet MS"/>
                <a:cs typeface="Trebuchet MS"/>
              </a:rPr>
              <a:t>d</a:t>
            </a:r>
            <a:r>
              <a:rPr dirty="0" sz="4100" spc="-1110">
                <a:solidFill>
                  <a:srgbClr val="FFFFFF"/>
                </a:solidFill>
                <a:latin typeface="Trebuchet MS"/>
                <a:cs typeface="Trebuchet MS"/>
              </a:rPr>
              <a:t>d</a:t>
            </a:r>
            <a:r>
              <a:rPr dirty="0" sz="4100" spc="-1110">
                <a:latin typeface="Trebuchet MS"/>
                <a:cs typeface="Trebuchet MS"/>
              </a:rPr>
              <a:t>e</a:t>
            </a:r>
            <a:r>
              <a:rPr dirty="0" sz="4100" spc="-1110">
                <a:solidFill>
                  <a:srgbClr val="FFFFFF"/>
                </a:solidFill>
                <a:latin typeface="Trebuchet MS"/>
                <a:cs typeface="Trebuchet MS"/>
              </a:rPr>
              <a:t>e</a:t>
            </a:r>
            <a:r>
              <a:rPr dirty="0" sz="4100" spc="-1110">
                <a:latin typeface="Trebuchet MS"/>
                <a:cs typeface="Trebuchet MS"/>
              </a:rPr>
              <a:t>r</a:t>
            </a:r>
            <a:r>
              <a:rPr dirty="0" sz="4100" spc="-1110">
                <a:solidFill>
                  <a:srgbClr val="FFFFFF"/>
                </a:solidFill>
                <a:latin typeface="Trebuchet MS"/>
                <a:cs typeface="Trebuchet MS"/>
              </a:rPr>
              <a:t>r</a:t>
            </a:r>
            <a:r>
              <a:rPr dirty="0" sz="4100" spc="-1110">
                <a:latin typeface="Trebuchet MS"/>
                <a:cs typeface="Trebuchet MS"/>
              </a:rPr>
              <a:t>s</a:t>
            </a:r>
            <a:r>
              <a:rPr dirty="0" sz="4100" spc="-1110">
                <a:solidFill>
                  <a:srgbClr val="FFFFFF"/>
                </a:solidFill>
                <a:latin typeface="Trebuchet MS"/>
                <a:cs typeface="Trebuchet MS"/>
              </a:rPr>
              <a:t>s</a:t>
            </a:r>
            <a:r>
              <a:rPr dirty="0" sz="4100" spc="-1110">
                <a:latin typeface="Trebuchet MS"/>
                <a:cs typeface="Trebuchet MS"/>
              </a:rPr>
              <a:t>t</a:t>
            </a:r>
            <a:r>
              <a:rPr dirty="0" sz="4100" spc="-1110">
                <a:solidFill>
                  <a:srgbClr val="FFFFFF"/>
                </a:solidFill>
                <a:latin typeface="Trebuchet MS"/>
                <a:cs typeface="Trebuchet MS"/>
              </a:rPr>
              <a:t>t</a:t>
            </a:r>
            <a:r>
              <a:rPr dirty="0" sz="4100" spc="-1110">
                <a:latin typeface="Trebuchet MS"/>
                <a:cs typeface="Trebuchet MS"/>
              </a:rPr>
              <a:t>a</a:t>
            </a:r>
            <a:r>
              <a:rPr dirty="0" sz="4100" spc="-1110">
                <a:solidFill>
                  <a:srgbClr val="FFFFFF"/>
                </a:solidFill>
                <a:latin typeface="Trebuchet MS"/>
                <a:cs typeface="Trebuchet MS"/>
              </a:rPr>
              <a:t>a</a:t>
            </a:r>
            <a:r>
              <a:rPr dirty="0" sz="4100" spc="-1110">
                <a:latin typeface="Trebuchet MS"/>
                <a:cs typeface="Trebuchet MS"/>
              </a:rPr>
              <a:t>n</a:t>
            </a:r>
            <a:r>
              <a:rPr dirty="0" sz="4100" spc="-1110">
                <a:solidFill>
                  <a:srgbClr val="FFFFFF"/>
                </a:solidFill>
                <a:latin typeface="Trebuchet MS"/>
                <a:cs typeface="Trebuchet MS"/>
              </a:rPr>
              <a:t>n</a:t>
            </a:r>
            <a:r>
              <a:rPr dirty="0" sz="4100" spc="-1110">
                <a:latin typeface="Trebuchet MS"/>
                <a:cs typeface="Trebuchet MS"/>
              </a:rPr>
              <a:t>d</a:t>
            </a:r>
            <a:r>
              <a:rPr dirty="0" sz="4100" spc="-1110">
                <a:solidFill>
                  <a:srgbClr val="FFFFFF"/>
                </a:solidFill>
                <a:latin typeface="Trebuchet MS"/>
                <a:cs typeface="Trebuchet MS"/>
              </a:rPr>
              <a:t>d</a:t>
            </a:r>
            <a:r>
              <a:rPr dirty="0" sz="4100" spc="-1110">
                <a:latin typeface="Trebuchet MS"/>
                <a:cs typeface="Trebuchet MS"/>
              </a:rPr>
              <a:t>i</a:t>
            </a:r>
            <a:r>
              <a:rPr dirty="0" sz="4100" spc="-1110">
                <a:solidFill>
                  <a:srgbClr val="FFFFFF"/>
                </a:solidFill>
                <a:latin typeface="Trebuchet MS"/>
                <a:cs typeface="Trebuchet MS"/>
              </a:rPr>
              <a:t>i</a:t>
            </a:r>
            <a:r>
              <a:rPr dirty="0" sz="4100" spc="-1110">
                <a:latin typeface="Trebuchet MS"/>
                <a:cs typeface="Trebuchet MS"/>
              </a:rPr>
              <a:t>n</a:t>
            </a:r>
            <a:r>
              <a:rPr dirty="0" sz="4100" spc="-1110">
                <a:solidFill>
                  <a:srgbClr val="FFFFFF"/>
                </a:solidFill>
                <a:latin typeface="Trebuchet MS"/>
                <a:cs typeface="Trebuchet MS"/>
              </a:rPr>
              <a:t>n</a:t>
            </a:r>
            <a:r>
              <a:rPr dirty="0" sz="4100" spc="-1110">
                <a:latin typeface="Trebuchet MS"/>
                <a:cs typeface="Trebuchet MS"/>
              </a:rPr>
              <a:t>g</a:t>
            </a:r>
            <a:r>
              <a:rPr dirty="0" sz="4100" spc="-1110">
                <a:solidFill>
                  <a:srgbClr val="FFFFFF"/>
                </a:solidFill>
                <a:latin typeface="Trebuchet MS"/>
                <a:cs typeface="Trebuchet MS"/>
              </a:rPr>
              <a:t>g      </a:t>
            </a:r>
            <a:r>
              <a:rPr dirty="0" sz="4100" spc="-1005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dirty="0" sz="4100" spc="-1210">
                <a:latin typeface="Trebuchet MS"/>
                <a:cs typeface="Trebuchet MS"/>
              </a:rPr>
              <a:t>h</a:t>
            </a:r>
            <a:r>
              <a:rPr dirty="0" sz="4100" spc="-1210">
                <a:solidFill>
                  <a:srgbClr val="FFFFFF"/>
                </a:solidFill>
                <a:latin typeface="Trebuchet MS"/>
                <a:cs typeface="Trebuchet MS"/>
              </a:rPr>
              <a:t>h</a:t>
            </a:r>
            <a:r>
              <a:rPr dirty="0" sz="4100" spc="-1210">
                <a:latin typeface="Trebuchet MS"/>
                <a:cs typeface="Trebuchet MS"/>
              </a:rPr>
              <a:t>o</a:t>
            </a:r>
            <a:r>
              <a:rPr dirty="0" sz="4100" spc="-1210">
                <a:solidFill>
                  <a:srgbClr val="FFFFFF"/>
                </a:solidFill>
                <a:latin typeface="Trebuchet MS"/>
                <a:cs typeface="Trebuchet MS"/>
              </a:rPr>
              <a:t>o	</a:t>
            </a:r>
            <a:r>
              <a:rPr dirty="0" sz="3900" spc="-1170">
                <a:latin typeface="Courier New"/>
                <a:cs typeface="Courier New"/>
              </a:rPr>
              <a:t>s</a:t>
            </a:r>
            <a:r>
              <a:rPr dirty="0" sz="3900" spc="-1170">
                <a:solidFill>
                  <a:srgbClr val="FFFFFF"/>
                </a:solidFill>
                <a:latin typeface="Courier New"/>
                <a:cs typeface="Courier New"/>
              </a:rPr>
              <a:t>s</a:t>
            </a:r>
            <a:r>
              <a:rPr dirty="0" sz="3900" spc="-1170">
                <a:latin typeface="Courier New"/>
                <a:cs typeface="Courier New"/>
              </a:rPr>
              <a:t>t</a:t>
            </a:r>
            <a:r>
              <a:rPr dirty="0" sz="3900" spc="-1170">
                <a:solidFill>
                  <a:srgbClr val="FFFFFF"/>
                </a:solidFill>
                <a:latin typeface="Courier New"/>
                <a:cs typeface="Courier New"/>
              </a:rPr>
              <a:t>t</a:t>
            </a:r>
            <a:r>
              <a:rPr dirty="0" sz="3900" spc="-1170">
                <a:latin typeface="Courier New"/>
                <a:cs typeface="Courier New"/>
              </a:rPr>
              <a:t>a</a:t>
            </a:r>
            <a:r>
              <a:rPr dirty="0" sz="3900" spc="-1170">
                <a:solidFill>
                  <a:srgbClr val="FFFFFF"/>
                </a:solidFill>
                <a:latin typeface="Courier New"/>
                <a:cs typeface="Courier New"/>
              </a:rPr>
              <a:t>a</a:t>
            </a:r>
            <a:r>
              <a:rPr dirty="0" sz="3900" spc="-1170">
                <a:latin typeface="Courier New"/>
                <a:cs typeface="Courier New"/>
              </a:rPr>
              <a:t>t</a:t>
            </a:r>
            <a:r>
              <a:rPr dirty="0" sz="3900" spc="-1170">
                <a:solidFill>
                  <a:srgbClr val="FFFFFF"/>
                </a:solidFill>
                <a:latin typeface="Courier New"/>
                <a:cs typeface="Courier New"/>
              </a:rPr>
              <a:t>t</a:t>
            </a:r>
            <a:r>
              <a:rPr dirty="0" sz="3900" spc="-1170">
                <a:latin typeface="Courier New"/>
                <a:cs typeface="Courier New"/>
              </a:rPr>
              <a:t>s</a:t>
            </a:r>
            <a:r>
              <a:rPr dirty="0" sz="3900" spc="-1170">
                <a:solidFill>
                  <a:srgbClr val="FFFFFF"/>
                </a:solidFill>
                <a:latin typeface="Courier New"/>
                <a:cs typeface="Courier New"/>
              </a:rPr>
              <a:t>s</a:t>
            </a:r>
            <a:r>
              <a:rPr dirty="0" sz="3900" spc="-1170">
                <a:latin typeface="Courier New"/>
                <a:cs typeface="Courier New"/>
              </a:rPr>
              <a:t>m</a:t>
            </a:r>
            <a:r>
              <a:rPr dirty="0" sz="3900" spc="-1170">
                <a:solidFill>
                  <a:srgbClr val="FFFFFF"/>
                </a:solidFill>
                <a:latin typeface="Courier New"/>
                <a:cs typeface="Courier New"/>
              </a:rPr>
              <a:t>m</a:t>
            </a:r>
            <a:r>
              <a:rPr dirty="0" sz="3900" spc="-1170">
                <a:latin typeface="Courier New"/>
                <a:cs typeface="Courier New"/>
              </a:rPr>
              <a:t>o</a:t>
            </a:r>
            <a:r>
              <a:rPr dirty="0" sz="3900" spc="-1170">
                <a:solidFill>
                  <a:srgbClr val="FFFFFF"/>
                </a:solidFill>
                <a:latin typeface="Courier New"/>
                <a:cs typeface="Courier New"/>
              </a:rPr>
              <a:t>o</a:t>
            </a:r>
            <a:r>
              <a:rPr dirty="0" sz="3900" spc="-1170">
                <a:latin typeface="Courier New"/>
                <a:cs typeface="Courier New"/>
              </a:rPr>
              <a:t>d</a:t>
            </a:r>
            <a:r>
              <a:rPr dirty="0" sz="3900" spc="-1170">
                <a:solidFill>
                  <a:srgbClr val="FFFFFF"/>
                </a:solidFill>
                <a:latin typeface="Courier New"/>
                <a:cs typeface="Courier New"/>
              </a:rPr>
              <a:t>de</a:t>
            </a:r>
            <a:r>
              <a:rPr dirty="0" sz="3900" spc="-1170">
                <a:latin typeface="Courier New"/>
                <a:cs typeface="Courier New"/>
              </a:rPr>
              <a:t>e</a:t>
            </a:r>
            <a:r>
              <a:rPr dirty="0" sz="3900" spc="-1170">
                <a:solidFill>
                  <a:srgbClr val="FFFFFF"/>
                </a:solidFill>
                <a:latin typeface="Courier New"/>
                <a:cs typeface="Courier New"/>
              </a:rPr>
              <a:t>l</a:t>
            </a:r>
            <a:r>
              <a:rPr dirty="0" sz="3900" spc="-1170">
                <a:latin typeface="Courier New"/>
                <a:cs typeface="Courier New"/>
              </a:rPr>
              <a:t>ls</a:t>
            </a:r>
            <a:r>
              <a:rPr dirty="0" sz="3900" spc="-1170">
                <a:solidFill>
                  <a:srgbClr val="FFFFFF"/>
                </a:solidFill>
                <a:latin typeface="Courier New"/>
                <a:cs typeface="Courier New"/>
              </a:rPr>
              <a:t>s</a:t>
            </a:r>
            <a:endParaRPr sz="3900">
              <a:latin typeface="Courier New"/>
              <a:cs typeface="Courier New"/>
            </a:endParaRPr>
          </a:p>
          <a:p>
            <a:pPr algn="ctr">
              <a:lnSpc>
                <a:spcPts val="4520"/>
              </a:lnSpc>
            </a:pPr>
            <a:r>
              <a:rPr dirty="0" sz="4100" spc="-1205">
                <a:latin typeface="Trebuchet MS"/>
                <a:cs typeface="Trebuchet MS"/>
              </a:rPr>
              <a:t>c</a:t>
            </a:r>
            <a:r>
              <a:rPr dirty="0" sz="4100" spc="-1205">
                <a:solidFill>
                  <a:srgbClr val="FFFFFF"/>
                </a:solidFill>
                <a:latin typeface="Trebuchet MS"/>
                <a:cs typeface="Trebuchet MS"/>
              </a:rPr>
              <a:t>co</a:t>
            </a:r>
            <a:r>
              <a:rPr dirty="0" sz="4100" spc="-1205">
                <a:latin typeface="Trebuchet MS"/>
                <a:cs typeface="Trebuchet MS"/>
              </a:rPr>
              <a:t>o</a:t>
            </a:r>
            <a:r>
              <a:rPr dirty="0" sz="4100" spc="-1205">
                <a:solidFill>
                  <a:srgbClr val="FFFFFF"/>
                </a:solidFill>
                <a:latin typeface="Trebuchet MS"/>
                <a:cs typeface="Trebuchet MS"/>
              </a:rPr>
              <a:t>m</a:t>
            </a:r>
            <a:r>
              <a:rPr dirty="0" sz="4100" spc="-1205">
                <a:latin typeface="Trebuchet MS"/>
                <a:cs typeface="Trebuchet MS"/>
              </a:rPr>
              <a:t>m</a:t>
            </a:r>
            <a:r>
              <a:rPr dirty="0" sz="4100" spc="-1205">
                <a:solidFill>
                  <a:srgbClr val="FFFFFF"/>
                </a:solidFill>
                <a:latin typeface="Trebuchet MS"/>
                <a:cs typeface="Trebuchet MS"/>
              </a:rPr>
              <a:t>p</a:t>
            </a:r>
            <a:r>
              <a:rPr dirty="0" sz="4100" spc="-1205">
                <a:latin typeface="Trebuchet MS"/>
                <a:cs typeface="Trebuchet MS"/>
              </a:rPr>
              <a:t>p</a:t>
            </a:r>
            <a:r>
              <a:rPr dirty="0" sz="4100" spc="-1205">
                <a:solidFill>
                  <a:srgbClr val="FFFFFF"/>
                </a:solidFill>
                <a:latin typeface="Trebuchet MS"/>
                <a:cs typeface="Trebuchet MS"/>
              </a:rPr>
              <a:t>u</a:t>
            </a:r>
            <a:r>
              <a:rPr dirty="0" sz="4100" spc="-1205">
                <a:latin typeface="Trebuchet MS"/>
                <a:cs typeface="Trebuchet MS"/>
              </a:rPr>
              <a:t>ut</a:t>
            </a:r>
            <a:r>
              <a:rPr dirty="0" sz="4100" spc="-1205">
                <a:solidFill>
                  <a:srgbClr val="FFFFFF"/>
                </a:solidFill>
                <a:latin typeface="Trebuchet MS"/>
                <a:cs typeface="Trebuchet MS"/>
              </a:rPr>
              <a:t>te</a:t>
            </a:r>
            <a:r>
              <a:rPr dirty="0" sz="4100" spc="-1205">
                <a:latin typeface="Trebuchet MS"/>
                <a:cs typeface="Trebuchet MS"/>
              </a:rPr>
              <a:t>es</a:t>
            </a:r>
            <a:r>
              <a:rPr dirty="0" sz="4100" spc="-1205">
                <a:solidFill>
                  <a:srgbClr val="FFFFFF"/>
                </a:solidFill>
                <a:latin typeface="Trebuchet MS"/>
                <a:cs typeface="Trebuchet MS"/>
              </a:rPr>
              <a:t>s </a:t>
            </a:r>
            <a:r>
              <a:rPr dirty="0" sz="4100" spc="-1130">
                <a:latin typeface="Trebuchet MS"/>
                <a:cs typeface="Trebuchet MS"/>
              </a:rPr>
              <a:t>c</a:t>
            </a:r>
            <a:r>
              <a:rPr dirty="0" sz="4100" spc="-1130">
                <a:solidFill>
                  <a:srgbClr val="FFFFFF"/>
                </a:solidFill>
                <a:latin typeface="Trebuchet MS"/>
                <a:cs typeface="Trebuchet MS"/>
              </a:rPr>
              <a:t>co</a:t>
            </a:r>
            <a:r>
              <a:rPr dirty="0" sz="4100" spc="-1130">
                <a:latin typeface="Trebuchet MS"/>
                <a:cs typeface="Trebuchet MS"/>
              </a:rPr>
              <a:t>o</a:t>
            </a:r>
            <a:r>
              <a:rPr dirty="0" sz="4100" spc="-1130">
                <a:solidFill>
                  <a:srgbClr val="FFFFFF"/>
                </a:solidFill>
                <a:latin typeface="Trebuchet MS"/>
                <a:cs typeface="Trebuchet MS"/>
              </a:rPr>
              <a:t>n</a:t>
            </a:r>
            <a:r>
              <a:rPr dirty="0" sz="4100" spc="-1130">
                <a:latin typeface="Trebuchet MS"/>
                <a:cs typeface="Trebuchet MS"/>
              </a:rPr>
              <a:t>n</a:t>
            </a:r>
            <a:r>
              <a:rPr dirty="0" sz="4100" spc="-1130">
                <a:solidFill>
                  <a:srgbClr val="FFFFFF"/>
                </a:solidFill>
                <a:latin typeface="Trebuchet MS"/>
                <a:cs typeface="Trebuchet MS"/>
              </a:rPr>
              <a:t>fi</a:t>
            </a:r>
            <a:r>
              <a:rPr dirty="0" sz="4100" spc="-1130">
                <a:latin typeface="Trebuchet MS"/>
                <a:cs typeface="Trebuchet MS"/>
              </a:rPr>
              <a:t>fi</a:t>
            </a:r>
            <a:r>
              <a:rPr dirty="0" sz="4100" spc="-1130">
                <a:solidFill>
                  <a:srgbClr val="FFFFFF"/>
                </a:solidFill>
                <a:latin typeface="Trebuchet MS"/>
                <a:cs typeface="Trebuchet MS"/>
              </a:rPr>
              <a:t>d</a:t>
            </a:r>
            <a:r>
              <a:rPr dirty="0" sz="4100" spc="-1130">
                <a:latin typeface="Trebuchet MS"/>
                <a:cs typeface="Trebuchet MS"/>
              </a:rPr>
              <a:t>d</a:t>
            </a:r>
            <a:r>
              <a:rPr dirty="0" sz="4100" spc="-1130">
                <a:solidFill>
                  <a:srgbClr val="FFFFFF"/>
                </a:solidFill>
                <a:latin typeface="Trebuchet MS"/>
                <a:cs typeface="Trebuchet MS"/>
              </a:rPr>
              <a:t>e</a:t>
            </a:r>
            <a:r>
              <a:rPr dirty="0" sz="4100" spc="-1130">
                <a:latin typeface="Trebuchet MS"/>
                <a:cs typeface="Trebuchet MS"/>
              </a:rPr>
              <a:t>en</a:t>
            </a:r>
            <a:r>
              <a:rPr dirty="0" sz="4100" spc="-1130">
                <a:solidFill>
                  <a:srgbClr val="FFFFFF"/>
                </a:solidFill>
                <a:latin typeface="Trebuchet MS"/>
                <a:cs typeface="Trebuchet MS"/>
              </a:rPr>
              <a:t>n</a:t>
            </a:r>
            <a:r>
              <a:rPr dirty="0" sz="4100" spc="-1130">
                <a:latin typeface="Trebuchet MS"/>
                <a:cs typeface="Trebuchet MS"/>
              </a:rPr>
              <a:t>c</a:t>
            </a:r>
            <a:r>
              <a:rPr dirty="0" sz="4100" spc="-1130">
                <a:solidFill>
                  <a:srgbClr val="FFFFFF"/>
                </a:solidFill>
                <a:latin typeface="Trebuchet MS"/>
                <a:cs typeface="Trebuchet MS"/>
              </a:rPr>
              <a:t>ce</a:t>
            </a:r>
            <a:r>
              <a:rPr dirty="0" sz="4100" spc="-1130">
                <a:latin typeface="Trebuchet MS"/>
                <a:cs typeface="Trebuchet MS"/>
              </a:rPr>
              <a:t>e</a:t>
            </a:r>
            <a:r>
              <a:rPr dirty="0" sz="4100" spc="-1035">
                <a:latin typeface="Trebuchet MS"/>
                <a:cs typeface="Trebuchet MS"/>
              </a:rPr>
              <a:t> </a:t>
            </a:r>
            <a:r>
              <a:rPr dirty="0" sz="4100" spc="-980">
                <a:solidFill>
                  <a:srgbClr val="FFFFFF"/>
                </a:solidFill>
                <a:latin typeface="Trebuchet MS"/>
                <a:cs typeface="Trebuchet MS"/>
              </a:rPr>
              <a:t>i</a:t>
            </a:r>
            <a:r>
              <a:rPr dirty="0" sz="4100" spc="-980">
                <a:latin typeface="Trebuchet MS"/>
                <a:cs typeface="Trebuchet MS"/>
              </a:rPr>
              <a:t>in</a:t>
            </a:r>
            <a:r>
              <a:rPr dirty="0" sz="4100" spc="-980">
                <a:solidFill>
                  <a:srgbClr val="FFFFFF"/>
                </a:solidFill>
                <a:latin typeface="Trebuchet MS"/>
                <a:cs typeface="Trebuchet MS"/>
              </a:rPr>
              <a:t>n</a:t>
            </a:r>
            <a:r>
              <a:rPr dirty="0" sz="4100" spc="-980">
                <a:latin typeface="Trebuchet MS"/>
                <a:cs typeface="Trebuchet MS"/>
              </a:rPr>
              <a:t>t</a:t>
            </a:r>
            <a:r>
              <a:rPr dirty="0" sz="4100" spc="-980">
                <a:solidFill>
                  <a:srgbClr val="FFFFFF"/>
                </a:solidFill>
                <a:latin typeface="Trebuchet MS"/>
                <a:cs typeface="Trebuchet MS"/>
              </a:rPr>
              <a:t>t</a:t>
            </a:r>
            <a:r>
              <a:rPr dirty="0" sz="4100" spc="-980">
                <a:latin typeface="Trebuchet MS"/>
                <a:cs typeface="Trebuchet MS"/>
              </a:rPr>
              <a:t>e</a:t>
            </a:r>
            <a:r>
              <a:rPr dirty="0" sz="4100" spc="-980">
                <a:solidFill>
                  <a:srgbClr val="FFFFFF"/>
                </a:solidFill>
                <a:latin typeface="Trebuchet MS"/>
                <a:cs typeface="Trebuchet MS"/>
              </a:rPr>
              <a:t>e</a:t>
            </a:r>
            <a:r>
              <a:rPr dirty="0" sz="4100" spc="-980">
                <a:latin typeface="Trebuchet MS"/>
                <a:cs typeface="Trebuchet MS"/>
              </a:rPr>
              <a:t>r</a:t>
            </a:r>
            <a:r>
              <a:rPr dirty="0" sz="4100" spc="-980">
                <a:solidFill>
                  <a:srgbClr val="FFFFFF"/>
                </a:solidFill>
                <a:latin typeface="Trebuchet MS"/>
                <a:cs typeface="Trebuchet MS"/>
              </a:rPr>
              <a:t>r</a:t>
            </a:r>
            <a:r>
              <a:rPr dirty="0" sz="4100" spc="-980">
                <a:latin typeface="Trebuchet MS"/>
                <a:cs typeface="Trebuchet MS"/>
              </a:rPr>
              <a:t>v</a:t>
            </a:r>
            <a:r>
              <a:rPr dirty="0" sz="4100" spc="-980">
                <a:solidFill>
                  <a:srgbClr val="FFFFFF"/>
                </a:solidFill>
                <a:latin typeface="Trebuchet MS"/>
                <a:cs typeface="Trebuchet MS"/>
              </a:rPr>
              <a:t>v</a:t>
            </a:r>
            <a:r>
              <a:rPr dirty="0" sz="4100" spc="-980">
                <a:latin typeface="Trebuchet MS"/>
                <a:cs typeface="Trebuchet MS"/>
              </a:rPr>
              <a:t>a</a:t>
            </a:r>
            <a:r>
              <a:rPr dirty="0" sz="4100" spc="-980">
                <a:solidFill>
                  <a:srgbClr val="FFFFFF"/>
                </a:solidFill>
                <a:latin typeface="Trebuchet MS"/>
                <a:cs typeface="Trebuchet MS"/>
              </a:rPr>
              <a:t>a</a:t>
            </a:r>
            <a:r>
              <a:rPr dirty="0" sz="4100" spc="-980">
                <a:latin typeface="Trebuchet MS"/>
                <a:cs typeface="Trebuchet MS"/>
              </a:rPr>
              <a:t>l</a:t>
            </a:r>
            <a:r>
              <a:rPr dirty="0" sz="4100" spc="-980">
                <a:solidFill>
                  <a:srgbClr val="FFFFFF"/>
                </a:solidFill>
                <a:latin typeface="Trebuchet MS"/>
                <a:cs typeface="Trebuchet MS"/>
              </a:rPr>
              <a:t>l</a:t>
            </a:r>
            <a:r>
              <a:rPr dirty="0" sz="4100" spc="-980">
                <a:latin typeface="Trebuchet MS"/>
                <a:cs typeface="Trebuchet MS"/>
              </a:rPr>
              <a:t>s</a:t>
            </a:r>
            <a:r>
              <a:rPr dirty="0" sz="4100" spc="-980">
                <a:solidFill>
                  <a:srgbClr val="FFFFFF"/>
                </a:solidFill>
                <a:latin typeface="Trebuchet MS"/>
                <a:cs typeface="Trebuchet MS"/>
              </a:rPr>
              <a:t>s</a:t>
            </a:r>
            <a:r>
              <a:rPr dirty="0" sz="4100" spc="-980">
                <a:latin typeface="Trebuchet MS"/>
                <a:cs typeface="Trebuchet MS"/>
              </a:rPr>
              <a:t>)</a:t>
            </a:r>
            <a:r>
              <a:rPr dirty="0" sz="4100" spc="-980">
                <a:solidFill>
                  <a:srgbClr val="FFFFFF"/>
                </a:solidFill>
                <a:latin typeface="Trebuchet MS"/>
                <a:cs typeface="Trebuchet MS"/>
              </a:rPr>
              <a:t>)</a:t>
            </a:r>
            <a:endParaRPr sz="4100">
              <a:latin typeface="Trebuchet MS"/>
              <a:cs typeface="Trebuchet MS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10637519" y="5995415"/>
            <a:ext cx="887730" cy="491490"/>
          </a:xfrm>
          <a:custGeom>
            <a:avLst/>
            <a:gdLst/>
            <a:ahLst/>
            <a:cxnLst/>
            <a:rect l="l" t="t" r="r" b="b"/>
            <a:pathLst>
              <a:path w="887729" h="491489">
                <a:moveTo>
                  <a:pt x="0" y="0"/>
                </a:moveTo>
                <a:lnTo>
                  <a:pt x="887729" y="0"/>
                </a:lnTo>
                <a:lnTo>
                  <a:pt x="887729" y="491109"/>
                </a:lnTo>
                <a:lnTo>
                  <a:pt x="0" y="491109"/>
                </a:lnTo>
                <a:lnTo>
                  <a:pt x="0" y="0"/>
                </a:lnTo>
                <a:close/>
              </a:path>
            </a:pathLst>
          </a:custGeom>
          <a:solidFill>
            <a:srgbClr val="333333">
              <a:alpha val="50000"/>
            </a:srgbClr>
          </a:solidFill>
        </p:spPr>
        <p:txBody>
          <a:bodyPr wrap="square" lIns="0" tIns="0" rIns="0" bIns="0" rtlCol="0"/>
          <a:lstStyle/>
          <a:p/>
        </p:txBody>
      </p:sp>
      <p:sp>
        <p:nvSpPr>
          <p:cNvPr id="12" name="object 12"/>
          <p:cNvSpPr txBox="1"/>
          <p:nvPr/>
        </p:nvSpPr>
        <p:spPr>
          <a:xfrm>
            <a:off x="10878987" y="6207124"/>
            <a:ext cx="506730" cy="208279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200" spc="-295">
                <a:latin typeface="Trebuchet MS"/>
                <a:cs typeface="Trebuchet MS"/>
              </a:rPr>
              <a:t>1</a:t>
            </a:r>
            <a:r>
              <a:rPr dirty="0" sz="1200" spc="-295">
                <a:solidFill>
                  <a:srgbClr val="FFFFFF"/>
                </a:solidFill>
                <a:latin typeface="Trebuchet MS"/>
                <a:cs typeface="Trebuchet MS"/>
              </a:rPr>
              <a:t>1</a:t>
            </a:r>
            <a:r>
              <a:rPr dirty="0" sz="1200" spc="-295">
                <a:latin typeface="Trebuchet MS"/>
                <a:cs typeface="Trebuchet MS"/>
              </a:rPr>
              <a:t>0</a:t>
            </a:r>
            <a:r>
              <a:rPr dirty="0" sz="1200" spc="-295">
                <a:solidFill>
                  <a:srgbClr val="FFFFFF"/>
                </a:solidFill>
                <a:latin typeface="Trebuchet MS"/>
                <a:cs typeface="Trebuchet MS"/>
              </a:rPr>
              <a:t>0 </a:t>
            </a:r>
            <a:r>
              <a:rPr dirty="0" sz="1200" spc="-385">
                <a:latin typeface="Trebuchet MS"/>
                <a:cs typeface="Trebuchet MS"/>
              </a:rPr>
              <a:t>/</a:t>
            </a:r>
            <a:r>
              <a:rPr dirty="0" sz="1200" spc="-385">
                <a:solidFill>
                  <a:srgbClr val="FFFFFF"/>
                </a:solidFill>
                <a:latin typeface="Trebuchet MS"/>
                <a:cs typeface="Trebuchet MS"/>
              </a:rPr>
              <a:t>/</a:t>
            </a:r>
            <a:r>
              <a:rPr dirty="0" sz="1200" spc="-95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dirty="0" sz="1200" spc="-295">
                <a:latin typeface="Trebuchet MS"/>
                <a:cs typeface="Trebuchet MS"/>
              </a:rPr>
              <a:t>3</a:t>
            </a:r>
            <a:r>
              <a:rPr dirty="0" sz="1200" spc="-295">
                <a:solidFill>
                  <a:srgbClr val="FFFFFF"/>
                </a:solidFill>
                <a:latin typeface="Trebuchet MS"/>
                <a:cs typeface="Trebuchet MS"/>
              </a:rPr>
              <a:t>3</a:t>
            </a:r>
            <a:r>
              <a:rPr dirty="0" sz="1200" spc="-295">
                <a:latin typeface="Trebuchet MS"/>
                <a:cs typeface="Trebuchet MS"/>
              </a:rPr>
              <a:t>3</a:t>
            </a:r>
            <a:r>
              <a:rPr dirty="0" sz="1200" spc="-295">
                <a:solidFill>
                  <a:srgbClr val="FFFFFF"/>
                </a:solidFill>
                <a:latin typeface="Trebuchet MS"/>
                <a:cs typeface="Trebuchet MS"/>
              </a:rPr>
              <a:t>3</a:t>
            </a:r>
            <a:endParaRPr sz="1200">
              <a:latin typeface="Trebuchet MS"/>
              <a:cs typeface="Trebuchet M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01700" y="530225"/>
            <a:ext cx="6835140" cy="539750"/>
          </a:xfrm>
          <a:prstGeom prst="rect"/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3350" spc="-220">
                <a:solidFill>
                  <a:srgbClr val="C2132D"/>
                </a:solidFill>
              </a:rPr>
              <a:t>1. </a:t>
            </a:r>
            <a:r>
              <a:rPr dirty="0" sz="3350" spc="-175">
                <a:solidFill>
                  <a:srgbClr val="C2132D"/>
                </a:solidFill>
              </a:rPr>
              <a:t>Standard </a:t>
            </a:r>
            <a:r>
              <a:rPr dirty="0" sz="3350" spc="-220">
                <a:solidFill>
                  <a:srgbClr val="C2132D"/>
                </a:solidFill>
              </a:rPr>
              <a:t>Error </a:t>
            </a:r>
            <a:r>
              <a:rPr dirty="0" sz="3350" spc="-140">
                <a:solidFill>
                  <a:srgbClr val="C2132D"/>
                </a:solidFill>
              </a:rPr>
              <a:t>of </a:t>
            </a:r>
            <a:r>
              <a:rPr dirty="0" sz="3350" spc="-95">
                <a:solidFill>
                  <a:srgbClr val="C2132D"/>
                </a:solidFill>
              </a:rPr>
              <a:t>ACF </a:t>
            </a:r>
            <a:r>
              <a:rPr dirty="0" sz="3350" spc="-185">
                <a:solidFill>
                  <a:srgbClr val="C2132D"/>
                </a:solidFill>
              </a:rPr>
              <a:t>for </a:t>
            </a:r>
            <a:r>
              <a:rPr dirty="0" sz="3350" spc="-250">
                <a:solidFill>
                  <a:srgbClr val="C2132D"/>
                </a:solidFill>
              </a:rPr>
              <a:t>White</a:t>
            </a:r>
            <a:r>
              <a:rPr dirty="0" sz="3350" spc="-605">
                <a:solidFill>
                  <a:srgbClr val="C2132D"/>
                </a:solidFill>
              </a:rPr>
              <a:t> </a:t>
            </a:r>
            <a:r>
              <a:rPr dirty="0" sz="3350" spc="-80">
                <a:solidFill>
                  <a:srgbClr val="C2132D"/>
                </a:solidFill>
              </a:rPr>
              <a:t>Noise</a:t>
            </a:r>
            <a:endParaRPr sz="3350"/>
          </a:p>
        </p:txBody>
      </p:sp>
      <p:sp>
        <p:nvSpPr>
          <p:cNvPr id="3" name="object 3"/>
          <p:cNvSpPr txBox="1"/>
          <p:nvPr/>
        </p:nvSpPr>
        <p:spPr>
          <a:xfrm>
            <a:off x="901700" y="1376044"/>
            <a:ext cx="9518015" cy="67310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 marR="5080">
              <a:lnSpc>
                <a:spcPct val="118100"/>
              </a:lnSpc>
              <a:spcBef>
                <a:spcPts val="100"/>
              </a:spcBef>
            </a:pPr>
            <a:r>
              <a:rPr dirty="0" sz="1800" spc="-30">
                <a:solidFill>
                  <a:srgbClr val="585D60"/>
                </a:solidFill>
                <a:latin typeface="Arial"/>
                <a:cs typeface="Arial"/>
              </a:rPr>
              <a:t>For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15">
                <a:solidFill>
                  <a:srgbClr val="585D60"/>
                </a:solidFill>
                <a:latin typeface="Arial"/>
                <a:cs typeface="Arial"/>
              </a:rPr>
              <a:t>an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55" b="1">
                <a:solidFill>
                  <a:srgbClr val="C2132D"/>
                </a:solidFill>
                <a:latin typeface="Trebuchet MS"/>
                <a:cs typeface="Trebuchet MS"/>
              </a:rPr>
              <a:t>uncorrelated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80" b="1">
                <a:solidFill>
                  <a:srgbClr val="C2132D"/>
                </a:solidFill>
                <a:latin typeface="Trebuchet MS"/>
                <a:cs typeface="Trebuchet MS"/>
              </a:rPr>
              <a:t>white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10" b="1">
                <a:solidFill>
                  <a:srgbClr val="C2132D"/>
                </a:solidFill>
                <a:latin typeface="Trebuchet MS"/>
                <a:cs typeface="Trebuchet MS"/>
              </a:rPr>
              <a:t>noise</a:t>
            </a:r>
            <a:r>
              <a:rPr dirty="0" sz="1800" spc="-10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10">
                <a:solidFill>
                  <a:srgbClr val="585D60"/>
                </a:solidFill>
                <a:latin typeface="Arial"/>
                <a:cs typeface="Arial"/>
              </a:rPr>
              <a:t>process,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the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standard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5">
                <a:solidFill>
                  <a:srgbClr val="585D60"/>
                </a:solidFill>
                <a:latin typeface="Arial"/>
                <a:cs typeface="Arial"/>
              </a:rPr>
              <a:t>error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70">
                <a:solidFill>
                  <a:srgbClr val="585D60"/>
                </a:solidFill>
                <a:latin typeface="Arial"/>
                <a:cs typeface="Arial"/>
              </a:rPr>
              <a:t>(SE)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75">
                <a:solidFill>
                  <a:srgbClr val="585D60"/>
                </a:solidFill>
                <a:latin typeface="Arial"/>
                <a:cs typeface="Arial"/>
              </a:rPr>
              <a:t>of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the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sample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90">
                <a:solidFill>
                  <a:srgbClr val="585D60"/>
                </a:solidFill>
                <a:latin typeface="Arial"/>
                <a:cs typeface="Arial"/>
              </a:rPr>
              <a:t>ACF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30">
                <a:solidFill>
                  <a:srgbClr val="585D60"/>
                </a:solidFill>
                <a:latin typeface="Arial"/>
                <a:cs typeface="Arial"/>
              </a:rPr>
              <a:t>at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5">
                <a:solidFill>
                  <a:srgbClr val="585D60"/>
                </a:solidFill>
                <a:latin typeface="Arial"/>
                <a:cs typeface="Arial"/>
              </a:rPr>
              <a:t>lag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5">
                <a:solidFill>
                  <a:srgbClr val="585D60"/>
                </a:solidFill>
                <a:latin typeface="Arial"/>
                <a:cs typeface="Arial"/>
              </a:rPr>
              <a:t>(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k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25">
                <a:solidFill>
                  <a:srgbClr val="585D60"/>
                </a:solidFill>
                <a:latin typeface="Arial"/>
                <a:cs typeface="Arial"/>
              </a:rPr>
              <a:t>)  </a:t>
            </a:r>
            <a:r>
              <a:rPr dirty="0" sz="1800">
                <a:solidFill>
                  <a:srgbClr val="585D60"/>
                </a:solidFill>
                <a:latin typeface="Arial"/>
                <a:cs typeface="Arial"/>
              </a:rPr>
              <a:t>is:</a:t>
            </a:r>
            <a:endParaRPr sz="180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148754" y="3092449"/>
            <a:ext cx="6993890" cy="117602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46050" indent="-133985">
              <a:lnSpc>
                <a:spcPct val="100000"/>
              </a:lnSpc>
              <a:spcBef>
                <a:spcPts val="100"/>
              </a:spcBef>
              <a:buClr>
                <a:srgbClr val="C2132D"/>
              </a:buClr>
              <a:buFont typeface="Trebuchet MS"/>
              <a:buChar char="•"/>
              <a:tabLst>
                <a:tab pos="146685" algn="l"/>
              </a:tabLst>
            </a:pP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Here,</a:t>
            </a:r>
            <a:r>
              <a:rPr dirty="0" sz="1800" spc="-6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5">
                <a:solidFill>
                  <a:srgbClr val="585D60"/>
                </a:solidFill>
                <a:latin typeface="Arial"/>
                <a:cs typeface="Arial"/>
              </a:rPr>
              <a:t>(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20">
                <a:solidFill>
                  <a:srgbClr val="585D60"/>
                </a:solidFill>
                <a:latin typeface="Arial"/>
                <a:cs typeface="Arial"/>
              </a:rPr>
              <a:t>N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25">
                <a:solidFill>
                  <a:srgbClr val="585D60"/>
                </a:solidFill>
                <a:latin typeface="Arial"/>
                <a:cs typeface="Arial"/>
              </a:rPr>
              <a:t>)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30">
                <a:solidFill>
                  <a:srgbClr val="585D60"/>
                </a:solidFill>
                <a:latin typeface="Arial"/>
                <a:cs typeface="Arial"/>
              </a:rPr>
              <a:t>is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the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b="1">
                <a:solidFill>
                  <a:srgbClr val="C2132D"/>
                </a:solidFill>
                <a:latin typeface="Trebuchet MS"/>
                <a:cs typeface="Trebuchet MS"/>
              </a:rPr>
              <a:t>sample</a:t>
            </a:r>
            <a:r>
              <a:rPr dirty="0" sz="1800" spc="-10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10" b="1">
                <a:solidFill>
                  <a:srgbClr val="C2132D"/>
                </a:solidFill>
                <a:latin typeface="Trebuchet MS"/>
                <a:cs typeface="Trebuchet MS"/>
              </a:rPr>
              <a:t>size</a:t>
            </a:r>
            <a:r>
              <a:rPr dirty="0" sz="1800" spc="-10">
                <a:solidFill>
                  <a:srgbClr val="585D60"/>
                </a:solidFill>
                <a:latin typeface="Arial"/>
                <a:cs typeface="Arial"/>
              </a:rPr>
              <a:t>.</a:t>
            </a:r>
            <a:endParaRPr sz="1800">
              <a:latin typeface="Arial"/>
              <a:cs typeface="Arial"/>
            </a:endParaRPr>
          </a:p>
          <a:p>
            <a:pPr marL="146050" indent="-133985">
              <a:lnSpc>
                <a:spcPct val="100000"/>
              </a:lnSpc>
              <a:spcBef>
                <a:spcPts val="1290"/>
              </a:spcBef>
              <a:buClr>
                <a:srgbClr val="C2132D"/>
              </a:buClr>
              <a:buFont typeface="Trebuchet MS"/>
              <a:buChar char="•"/>
              <a:tabLst>
                <a:tab pos="146685" algn="l"/>
              </a:tabLst>
            </a:pP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Assumes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the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585D60"/>
                </a:solidFill>
                <a:latin typeface="Arial"/>
                <a:cs typeface="Arial"/>
              </a:rPr>
              <a:t>series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30">
                <a:solidFill>
                  <a:srgbClr val="585D60"/>
                </a:solidFill>
                <a:latin typeface="Arial"/>
                <a:cs typeface="Arial"/>
              </a:rPr>
              <a:t>is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80" b="1">
                <a:solidFill>
                  <a:srgbClr val="C2132D"/>
                </a:solidFill>
                <a:latin typeface="Trebuchet MS"/>
                <a:cs typeface="Trebuchet MS"/>
              </a:rPr>
              <a:t>white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20" b="1">
                <a:solidFill>
                  <a:srgbClr val="C2132D"/>
                </a:solidFill>
                <a:latin typeface="Trebuchet MS"/>
                <a:cs typeface="Trebuchet MS"/>
              </a:rPr>
              <a:t>noise</a:t>
            </a:r>
            <a:r>
              <a:rPr dirty="0" sz="1800" spc="-20">
                <a:solidFill>
                  <a:srgbClr val="585D60"/>
                </a:solidFill>
                <a:latin typeface="Arial"/>
                <a:cs typeface="Arial"/>
              </a:rPr>
              <a:t>: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5">
                <a:solidFill>
                  <a:srgbClr val="585D60"/>
                </a:solidFill>
                <a:latin typeface="Arial"/>
                <a:cs typeface="Arial"/>
              </a:rPr>
              <a:t>no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5">
                <a:solidFill>
                  <a:srgbClr val="585D60"/>
                </a:solidFill>
                <a:latin typeface="Arial"/>
                <a:cs typeface="Arial"/>
              </a:rPr>
              <a:t>autocorrelation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15">
                <a:solidFill>
                  <a:srgbClr val="585D60"/>
                </a:solidFill>
                <a:latin typeface="Arial"/>
                <a:cs typeface="Arial"/>
              </a:rPr>
              <a:t>beyond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5">
                <a:solidFill>
                  <a:srgbClr val="585D60"/>
                </a:solidFill>
                <a:latin typeface="Arial"/>
                <a:cs typeface="Arial"/>
              </a:rPr>
              <a:t>lag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10">
                <a:solidFill>
                  <a:srgbClr val="585D60"/>
                </a:solidFill>
                <a:latin typeface="Arial"/>
                <a:cs typeface="Arial"/>
              </a:rPr>
              <a:t>0.</a:t>
            </a:r>
            <a:endParaRPr sz="1800">
              <a:latin typeface="Arial"/>
              <a:cs typeface="Arial"/>
            </a:endParaRPr>
          </a:p>
          <a:p>
            <a:pPr marL="146050" indent="-133985">
              <a:lnSpc>
                <a:spcPct val="100000"/>
              </a:lnSpc>
              <a:spcBef>
                <a:spcPts val="1290"/>
              </a:spcBef>
              <a:buClr>
                <a:srgbClr val="C2132D"/>
              </a:buClr>
              <a:buFont typeface="Trebuchet MS"/>
              <a:buChar char="•"/>
              <a:tabLst>
                <a:tab pos="146685" algn="l"/>
              </a:tabLst>
            </a:pPr>
            <a:r>
              <a:rPr dirty="0" sz="1800" spc="-30">
                <a:solidFill>
                  <a:srgbClr val="585D60"/>
                </a:solidFill>
                <a:latin typeface="Arial"/>
                <a:cs typeface="Arial"/>
              </a:rPr>
              <a:t>The </a:t>
            </a:r>
            <a:r>
              <a:rPr dirty="0" sz="1800" spc="15" b="1">
                <a:solidFill>
                  <a:srgbClr val="C2132D"/>
                </a:solidFill>
                <a:latin typeface="Trebuchet MS"/>
                <a:cs typeface="Trebuchet MS"/>
              </a:rPr>
              <a:t>95% </a:t>
            </a:r>
            <a:r>
              <a:rPr dirty="0" sz="1800" spc="-35" b="1">
                <a:solidFill>
                  <a:srgbClr val="C2132D"/>
                </a:solidFill>
                <a:latin typeface="Trebuchet MS"/>
                <a:cs typeface="Trebuchet MS"/>
              </a:rPr>
              <a:t>confidence </a:t>
            </a:r>
            <a:r>
              <a:rPr dirty="0" sz="1800" spc="-60" b="1">
                <a:solidFill>
                  <a:srgbClr val="C2132D"/>
                </a:solidFill>
                <a:latin typeface="Trebuchet MS"/>
                <a:cs typeface="Trebuchet MS"/>
              </a:rPr>
              <a:t>interval </a:t>
            </a:r>
            <a:r>
              <a:rPr dirty="0" sz="1800" spc="10" b="1">
                <a:solidFill>
                  <a:srgbClr val="C2132D"/>
                </a:solidFill>
                <a:latin typeface="Trebuchet MS"/>
                <a:cs typeface="Trebuchet MS"/>
              </a:rPr>
              <a:t>(CI)</a:t>
            </a:r>
            <a:r>
              <a:rPr dirty="0" sz="1800" spc="-34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>
                <a:solidFill>
                  <a:srgbClr val="585D60"/>
                </a:solidFill>
                <a:latin typeface="Arial"/>
                <a:cs typeface="Arial"/>
              </a:rPr>
              <a:t>is:</a:t>
            </a:r>
            <a:endParaRPr sz="18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5511651" y="2526345"/>
            <a:ext cx="109855" cy="201930"/>
          </a:xfrm>
          <a:prstGeom prst="rect">
            <a:avLst/>
          </a:prstGeom>
        </p:spPr>
        <p:txBody>
          <a:bodyPr wrap="square" lIns="0" tIns="1333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dirty="0" sz="1150" spc="85" i="1">
                <a:solidFill>
                  <a:srgbClr val="585D60"/>
                </a:solidFill>
                <a:latin typeface="Arial"/>
                <a:cs typeface="Arial"/>
              </a:rPr>
              <a:t>k</a:t>
            </a:r>
            <a:endParaRPr sz="115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004444" y="2366645"/>
            <a:ext cx="958850" cy="31369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900" spc="-165">
                <a:solidFill>
                  <a:srgbClr val="585D60"/>
                </a:solidFill>
                <a:latin typeface="Lucida Sans Unicode"/>
                <a:cs typeface="Lucida Sans Unicode"/>
              </a:rPr>
              <a:t>SE(</a:t>
            </a:r>
            <a:r>
              <a:rPr dirty="0" sz="1600" spc="-165" i="1">
                <a:solidFill>
                  <a:srgbClr val="585D60"/>
                </a:solidFill>
                <a:latin typeface="Arial"/>
                <a:cs typeface="Arial"/>
              </a:rPr>
              <a:t>ρ</a:t>
            </a:r>
            <a:r>
              <a:rPr dirty="0" sz="1900" spc="-165">
                <a:solidFill>
                  <a:srgbClr val="585D60"/>
                </a:solidFill>
                <a:latin typeface="Lucida Sans Unicode"/>
                <a:cs typeface="Lucida Sans Unicode"/>
              </a:rPr>
              <a:t>^ </a:t>
            </a:r>
            <a:r>
              <a:rPr dirty="0" sz="1900" spc="80">
                <a:solidFill>
                  <a:srgbClr val="585D60"/>
                </a:solidFill>
                <a:latin typeface="Lucida Sans Unicode"/>
                <a:cs typeface="Lucida Sans Unicode"/>
              </a:rPr>
              <a:t>)</a:t>
            </a:r>
            <a:r>
              <a:rPr dirty="0" sz="1900" spc="-295">
                <a:solidFill>
                  <a:srgbClr val="585D60"/>
                </a:solidFill>
                <a:latin typeface="Lucida Sans Unicode"/>
                <a:cs typeface="Lucida Sans Unicode"/>
              </a:rPr>
              <a:t> </a:t>
            </a:r>
            <a:r>
              <a:rPr dirty="0" sz="1900" spc="-110">
                <a:solidFill>
                  <a:srgbClr val="585D60"/>
                </a:solidFill>
                <a:latin typeface="Lucida Sans Unicode"/>
                <a:cs typeface="Lucida Sans Unicode"/>
              </a:rPr>
              <a:t>≈</a:t>
            </a:r>
            <a:endParaRPr sz="1900">
              <a:latin typeface="Lucida Sans Unicode"/>
              <a:cs typeface="Lucida Sans Unicode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6191200" y="2214245"/>
            <a:ext cx="139700" cy="31369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900" spc="-305">
                <a:solidFill>
                  <a:srgbClr val="585D60"/>
                </a:solidFill>
                <a:latin typeface="Lucida Sans Unicode"/>
                <a:cs typeface="Lucida Sans Unicode"/>
              </a:rPr>
              <a:t>1</a:t>
            </a:r>
            <a:endParaRPr sz="1900">
              <a:latin typeface="Lucida Sans Unicode"/>
              <a:cs typeface="Lucida Sans Unicode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6257924" y="2628900"/>
            <a:ext cx="200025" cy="0"/>
          </a:xfrm>
          <a:custGeom>
            <a:avLst/>
            <a:gdLst/>
            <a:ahLst/>
            <a:cxnLst/>
            <a:rect l="l" t="t" r="r" b="b"/>
            <a:pathLst>
              <a:path w="200025" h="0">
                <a:moveTo>
                  <a:pt x="0" y="0"/>
                </a:moveTo>
                <a:lnTo>
                  <a:pt x="200024" y="0"/>
                </a:lnTo>
              </a:path>
            </a:pathLst>
          </a:custGeom>
          <a:ln w="19049">
            <a:solidFill>
              <a:srgbClr val="585D6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9" name="object 9"/>
          <p:cNvSpPr txBox="1"/>
          <p:nvPr/>
        </p:nvSpPr>
        <p:spPr>
          <a:xfrm>
            <a:off x="6051599" y="2557145"/>
            <a:ext cx="400050" cy="31369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900" spc="-35">
                <a:solidFill>
                  <a:srgbClr val="585D60"/>
                </a:solidFill>
                <a:latin typeface="Lucida Sans Unicode"/>
                <a:cs typeface="Lucida Sans Unicode"/>
              </a:rPr>
              <a:t>√</a:t>
            </a:r>
            <a:r>
              <a:rPr dirty="0" baseline="-5208" sz="2400" spc="427" i="1">
                <a:solidFill>
                  <a:srgbClr val="585D60"/>
                </a:solidFill>
                <a:latin typeface="Arial"/>
                <a:cs typeface="Arial"/>
              </a:rPr>
              <a:t>N</a:t>
            </a:r>
            <a:endParaRPr baseline="-5208" sz="2400">
              <a:latin typeface="Arial"/>
              <a:cs typeface="Arial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6038849" y="2566987"/>
            <a:ext cx="438150" cy="0"/>
          </a:xfrm>
          <a:custGeom>
            <a:avLst/>
            <a:gdLst/>
            <a:ahLst/>
            <a:cxnLst/>
            <a:rect l="l" t="t" r="r" b="b"/>
            <a:pathLst>
              <a:path w="438150" h="0">
                <a:moveTo>
                  <a:pt x="0" y="0"/>
                </a:moveTo>
                <a:lnTo>
                  <a:pt x="438149" y="0"/>
                </a:lnTo>
              </a:path>
            </a:pathLst>
          </a:custGeom>
          <a:ln w="9524">
            <a:solidFill>
              <a:srgbClr val="585D6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11" name="object 11"/>
          <p:cNvSpPr txBox="1"/>
          <p:nvPr/>
        </p:nvSpPr>
        <p:spPr>
          <a:xfrm>
            <a:off x="4600971" y="4585969"/>
            <a:ext cx="838835" cy="31369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900" spc="-225">
                <a:solidFill>
                  <a:srgbClr val="585D60"/>
                </a:solidFill>
                <a:latin typeface="Lucida Sans Unicode"/>
                <a:cs typeface="Lucida Sans Unicode"/>
              </a:rPr>
              <a:t>±1.96</a:t>
            </a:r>
            <a:r>
              <a:rPr dirty="0" sz="1900" spc="-280">
                <a:solidFill>
                  <a:srgbClr val="585D60"/>
                </a:solidFill>
                <a:latin typeface="Lucida Sans Unicode"/>
                <a:cs typeface="Lucida Sans Unicode"/>
              </a:rPr>
              <a:t> </a:t>
            </a:r>
            <a:r>
              <a:rPr dirty="0" sz="1900" spc="-110">
                <a:solidFill>
                  <a:srgbClr val="585D60"/>
                </a:solidFill>
                <a:latin typeface="Lucida Sans Unicode"/>
                <a:cs typeface="Lucida Sans Unicode"/>
              </a:rPr>
              <a:t>×</a:t>
            </a:r>
            <a:endParaRPr sz="1900">
              <a:latin typeface="Lucida Sans Unicode"/>
              <a:cs typeface="Lucida Sans Unicode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6178549" y="4597400"/>
            <a:ext cx="280670" cy="29972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267335" algn="l"/>
              </a:tabLst>
            </a:pPr>
            <a:r>
              <a:rPr dirty="0" u="heavy" sz="1800">
                <a:solidFill>
                  <a:srgbClr val="585D60"/>
                </a:solidFill>
                <a:uFill>
                  <a:solidFill>
                    <a:srgbClr val="585D60"/>
                  </a:solidFill>
                </a:uFill>
                <a:latin typeface="Times New Roman"/>
                <a:cs typeface="Times New Roman"/>
              </a:rPr>
              <a:t> 	</a:t>
            </a:r>
            <a:endParaRPr sz="1800">
              <a:latin typeface="Times New Roman"/>
              <a:cs typeface="Times New Roman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5940573" y="4483328"/>
            <a:ext cx="513715" cy="84836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5400" spc="-4435">
                <a:solidFill>
                  <a:srgbClr val="585D60"/>
                </a:solidFill>
                <a:latin typeface="Cambria"/>
                <a:cs typeface="Cambria"/>
              </a:rPr>
              <a:t></a:t>
            </a:r>
            <a:r>
              <a:rPr dirty="0" sz="5400" spc="-4470">
                <a:solidFill>
                  <a:srgbClr val="585D60"/>
                </a:solidFill>
                <a:latin typeface="Cambria"/>
                <a:cs typeface="Cambria"/>
              </a:rPr>
              <a:t></a:t>
            </a:r>
            <a:r>
              <a:rPr dirty="0" sz="5400" spc="-4170">
                <a:solidFill>
                  <a:srgbClr val="585D60"/>
                </a:solidFill>
                <a:latin typeface="Cambria"/>
                <a:cs typeface="Cambria"/>
              </a:rPr>
              <a:t></a:t>
            </a:r>
            <a:r>
              <a:rPr dirty="0" sz="5400" spc="-4435">
                <a:solidFill>
                  <a:srgbClr val="585D60"/>
                </a:solidFill>
                <a:latin typeface="Cambria"/>
                <a:cs typeface="Cambria"/>
              </a:rPr>
              <a:t></a:t>
            </a:r>
            <a:r>
              <a:rPr dirty="0" sz="5400" spc="-4470">
                <a:solidFill>
                  <a:srgbClr val="585D60"/>
                </a:solidFill>
                <a:latin typeface="Cambria"/>
                <a:cs typeface="Cambria"/>
              </a:rPr>
              <a:t></a:t>
            </a:r>
            <a:r>
              <a:rPr dirty="0" sz="5400" spc="-4170">
                <a:solidFill>
                  <a:srgbClr val="585D60"/>
                </a:solidFill>
                <a:latin typeface="Cambria"/>
                <a:cs typeface="Cambria"/>
              </a:rPr>
              <a:t></a:t>
            </a:r>
            <a:endParaRPr sz="5400">
              <a:latin typeface="Cambria"/>
              <a:cs typeface="Cambria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5464769" y="5226430"/>
            <a:ext cx="1459865" cy="219710"/>
          </a:xfrm>
          <a:prstGeom prst="rect">
            <a:avLst/>
          </a:prstGeom>
        </p:spPr>
        <p:txBody>
          <a:bodyPr wrap="square" lIns="0" tIns="1524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dirty="0" sz="1250">
                <a:latin typeface="Arial"/>
                <a:cs typeface="Arial"/>
              </a:rPr>
              <a:t>Standard </a:t>
            </a:r>
            <a:r>
              <a:rPr dirty="0" sz="1250" spc="40">
                <a:latin typeface="Arial"/>
                <a:cs typeface="Arial"/>
              </a:rPr>
              <a:t>Error</a:t>
            </a:r>
            <a:r>
              <a:rPr dirty="0" sz="1250" spc="-110">
                <a:latin typeface="Arial"/>
                <a:cs typeface="Arial"/>
              </a:rPr>
              <a:t> </a:t>
            </a:r>
            <a:r>
              <a:rPr dirty="0" sz="1250" spc="15">
                <a:latin typeface="Arial"/>
                <a:cs typeface="Arial"/>
              </a:rPr>
              <a:t>(SE)</a:t>
            </a:r>
            <a:endParaRPr sz="1250">
              <a:latin typeface="Arial"/>
              <a:cs typeface="Arial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6124971" y="4424044"/>
            <a:ext cx="139700" cy="31369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900" spc="-305">
                <a:solidFill>
                  <a:srgbClr val="585D60"/>
                </a:solidFill>
                <a:latin typeface="Lucida Sans Unicode"/>
                <a:cs typeface="Lucida Sans Unicode"/>
              </a:rPr>
              <a:t>1</a:t>
            </a:r>
            <a:endParaRPr sz="1900">
              <a:latin typeface="Lucida Sans Unicode"/>
              <a:cs typeface="Lucida Sans Unicode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5985370" y="4766944"/>
            <a:ext cx="203200" cy="31369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900" spc="-1345">
                <a:solidFill>
                  <a:srgbClr val="585D60"/>
                </a:solidFill>
                <a:latin typeface="Lucida Sans Unicode"/>
                <a:cs typeface="Lucida Sans Unicode"/>
              </a:rPr>
              <a:t>√</a:t>
            </a:r>
            <a:endParaRPr sz="1900">
              <a:latin typeface="Lucida Sans Unicode"/>
              <a:cs typeface="Lucida Sans Unicode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6175870" y="4817998"/>
            <a:ext cx="196850" cy="275590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1600" spc="-1095" i="1">
                <a:solidFill>
                  <a:srgbClr val="585D60"/>
                </a:solidFill>
                <a:latin typeface="Arial"/>
                <a:cs typeface="Arial"/>
              </a:rPr>
              <a:t>N</a:t>
            </a:r>
            <a:endParaRPr sz="1600">
              <a:latin typeface="Arial"/>
              <a:cs typeface="Arial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5972174" y="4776787"/>
            <a:ext cx="438150" cy="0"/>
          </a:xfrm>
          <a:custGeom>
            <a:avLst/>
            <a:gdLst/>
            <a:ahLst/>
            <a:cxnLst/>
            <a:rect l="l" t="t" r="r" b="b"/>
            <a:pathLst>
              <a:path w="438150" h="0">
                <a:moveTo>
                  <a:pt x="0" y="0"/>
                </a:moveTo>
                <a:lnTo>
                  <a:pt x="438149" y="0"/>
                </a:lnTo>
              </a:path>
            </a:pathLst>
          </a:custGeom>
          <a:ln w="9524">
            <a:solidFill>
              <a:srgbClr val="585D6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19" name="object 19"/>
          <p:cNvSpPr txBox="1"/>
          <p:nvPr/>
        </p:nvSpPr>
        <p:spPr>
          <a:xfrm>
            <a:off x="901700" y="5702299"/>
            <a:ext cx="7405370" cy="29972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750" spc="1155">
                <a:solidFill>
                  <a:srgbClr val="585D60"/>
                </a:solidFill>
                <a:latin typeface="Arial"/>
                <a:cs typeface="Arial"/>
              </a:rPr>
              <a:t>💡</a:t>
            </a:r>
            <a:r>
              <a:rPr dirty="0" sz="1750" spc="-3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45" b="1">
                <a:solidFill>
                  <a:srgbClr val="C2132D"/>
                </a:solidFill>
                <a:latin typeface="Trebuchet MS"/>
                <a:cs typeface="Trebuchet MS"/>
              </a:rPr>
              <a:t>Key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65" b="1">
                <a:solidFill>
                  <a:srgbClr val="C2132D"/>
                </a:solidFill>
                <a:latin typeface="Trebuchet MS"/>
                <a:cs typeface="Trebuchet MS"/>
              </a:rPr>
              <a:t>idea: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More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data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950" spc="1825">
                <a:solidFill>
                  <a:srgbClr val="585D60"/>
                </a:solidFill>
                <a:latin typeface="Cambria"/>
                <a:cs typeface="Cambria"/>
              </a:rPr>
              <a:t>⟶</a:t>
            </a:r>
            <a:r>
              <a:rPr dirty="0" sz="950" spc="240">
                <a:solidFill>
                  <a:srgbClr val="585D60"/>
                </a:solidFill>
                <a:latin typeface="Cambria"/>
                <a:cs typeface="Cambria"/>
              </a:rPr>
              <a:t> </a:t>
            </a:r>
            <a:r>
              <a:rPr dirty="0" sz="1800" spc="-15" b="1">
                <a:solidFill>
                  <a:srgbClr val="C2132D"/>
                </a:solidFill>
                <a:latin typeface="Trebuchet MS"/>
                <a:cs typeface="Trebuchet MS"/>
              </a:rPr>
              <a:t>Smaller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85" b="1">
                <a:solidFill>
                  <a:srgbClr val="C2132D"/>
                </a:solidFill>
                <a:latin typeface="Trebuchet MS"/>
                <a:cs typeface="Trebuchet MS"/>
              </a:rPr>
              <a:t>SE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950" spc="1825">
                <a:solidFill>
                  <a:srgbClr val="585D60"/>
                </a:solidFill>
                <a:latin typeface="Cambria"/>
                <a:cs typeface="Cambria"/>
              </a:rPr>
              <a:t>⟶</a:t>
            </a:r>
            <a:r>
              <a:rPr dirty="0" sz="950" spc="240">
                <a:solidFill>
                  <a:srgbClr val="585D60"/>
                </a:solidFill>
                <a:latin typeface="Cambria"/>
                <a:cs typeface="Cambria"/>
              </a:rPr>
              <a:t> </a:t>
            </a:r>
            <a:r>
              <a:rPr dirty="0" sz="1800" spc="-60" b="1">
                <a:solidFill>
                  <a:srgbClr val="C2132D"/>
                </a:solidFill>
                <a:latin typeface="Trebuchet MS"/>
                <a:cs typeface="Trebuchet MS"/>
              </a:rPr>
              <a:t>Narrower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35" b="1">
                <a:solidFill>
                  <a:srgbClr val="C2132D"/>
                </a:solidFill>
                <a:latin typeface="Trebuchet MS"/>
                <a:cs typeface="Trebuchet MS"/>
              </a:rPr>
              <a:t>confidence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b="1">
                <a:solidFill>
                  <a:srgbClr val="C2132D"/>
                </a:solidFill>
                <a:latin typeface="Trebuchet MS"/>
                <a:cs typeface="Trebuchet MS"/>
              </a:rPr>
              <a:t>bands</a:t>
            </a:r>
            <a:r>
              <a:rPr dirty="0" sz="1800">
                <a:solidFill>
                  <a:srgbClr val="585D60"/>
                </a:solidFill>
                <a:latin typeface="Arial"/>
                <a:cs typeface="Arial"/>
              </a:rPr>
              <a:t>.</a:t>
            </a:r>
            <a:endParaRPr sz="1800">
              <a:latin typeface="Arial"/>
              <a:cs typeface="Arial"/>
            </a:endParaRPr>
          </a:p>
        </p:txBody>
      </p:sp>
      <p:sp>
        <p:nvSpPr>
          <p:cNvPr id="20" name="object 20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1270" rIns="0" bIns="0" rtlCol="0" vert="horz">
            <a:spAutoFit/>
          </a:bodyPr>
          <a:lstStyle/>
          <a:p>
            <a:pPr marL="38100">
              <a:lnSpc>
                <a:spcPct val="100000"/>
              </a:lnSpc>
              <a:spcBef>
                <a:spcPts val="10"/>
              </a:spcBef>
            </a:pPr>
            <a:fld id="{81D60167-4931-47E6-BA6A-407CBD079E47}" type="slidenum">
              <a:rPr dirty="0" spc="5"/>
              <a:t>11</a:t>
            </a:fld>
            <a:r>
              <a:rPr dirty="0" spc="5"/>
              <a:t> </a:t>
            </a:r>
            <a:r>
              <a:rPr dirty="0" spc="160"/>
              <a:t>/</a:t>
            </a:r>
            <a:r>
              <a:rPr dirty="0" spc="-165"/>
              <a:t> </a:t>
            </a:r>
            <a:r>
              <a:rPr dirty="0" spc="5"/>
              <a:t>33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01700" y="530225"/>
            <a:ext cx="5798820" cy="539750"/>
          </a:xfrm>
          <a:prstGeom prst="rect"/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3350" spc="-220">
                <a:solidFill>
                  <a:srgbClr val="C2132D"/>
                </a:solidFill>
              </a:rPr>
              <a:t>2. </a:t>
            </a:r>
            <a:r>
              <a:rPr dirty="0" sz="3350" spc="-245">
                <a:solidFill>
                  <a:srgbClr val="C2132D"/>
                </a:solidFill>
              </a:rPr>
              <a:t>Bartlett’s </a:t>
            </a:r>
            <a:r>
              <a:rPr dirty="0" sz="3350" spc="-195">
                <a:solidFill>
                  <a:srgbClr val="C2132D"/>
                </a:solidFill>
              </a:rPr>
              <a:t>Formula </a:t>
            </a:r>
            <a:r>
              <a:rPr dirty="0" sz="3350" spc="-185">
                <a:solidFill>
                  <a:srgbClr val="C2132D"/>
                </a:solidFill>
              </a:rPr>
              <a:t>for </a:t>
            </a:r>
            <a:r>
              <a:rPr dirty="0" sz="3350" spc="10">
                <a:solidFill>
                  <a:srgbClr val="C2132D"/>
                </a:solidFill>
              </a:rPr>
              <a:t>SE </a:t>
            </a:r>
            <a:r>
              <a:rPr dirty="0" sz="3350" spc="-140">
                <a:solidFill>
                  <a:srgbClr val="C2132D"/>
                </a:solidFill>
              </a:rPr>
              <a:t>of</a:t>
            </a:r>
            <a:r>
              <a:rPr dirty="0" sz="3350" spc="-585">
                <a:solidFill>
                  <a:srgbClr val="C2132D"/>
                </a:solidFill>
              </a:rPr>
              <a:t> </a:t>
            </a:r>
            <a:r>
              <a:rPr dirty="0" sz="3350" spc="-95">
                <a:solidFill>
                  <a:srgbClr val="C2132D"/>
                </a:solidFill>
              </a:rPr>
              <a:t>ACF</a:t>
            </a:r>
            <a:endParaRPr sz="3350"/>
          </a:p>
        </p:txBody>
      </p:sp>
      <p:sp>
        <p:nvSpPr>
          <p:cNvPr id="3" name="object 3"/>
          <p:cNvSpPr txBox="1"/>
          <p:nvPr/>
        </p:nvSpPr>
        <p:spPr>
          <a:xfrm>
            <a:off x="901700" y="1425575"/>
            <a:ext cx="7047230" cy="29972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800" spc="-30">
                <a:solidFill>
                  <a:srgbClr val="585D60"/>
                </a:solidFill>
                <a:latin typeface="Arial"/>
                <a:cs typeface="Arial"/>
              </a:rPr>
              <a:t>For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25">
                <a:solidFill>
                  <a:srgbClr val="585D60"/>
                </a:solidFill>
                <a:latin typeface="Arial"/>
                <a:cs typeface="Arial"/>
              </a:rPr>
              <a:t>a</a:t>
            </a:r>
            <a:r>
              <a:rPr dirty="0" sz="1800" spc="-4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35" b="1">
                <a:solidFill>
                  <a:srgbClr val="C2132D"/>
                </a:solidFill>
                <a:latin typeface="Trebuchet MS"/>
                <a:cs typeface="Trebuchet MS"/>
              </a:rPr>
              <a:t>stationary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35">
                <a:solidFill>
                  <a:srgbClr val="585D60"/>
                </a:solidFill>
                <a:latin typeface="Arial"/>
                <a:cs typeface="Arial"/>
              </a:rPr>
              <a:t>time</a:t>
            </a:r>
            <a:r>
              <a:rPr dirty="0" sz="1800" spc="-4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20">
                <a:solidFill>
                  <a:srgbClr val="585D60"/>
                </a:solidFill>
                <a:latin typeface="Arial"/>
                <a:cs typeface="Arial"/>
              </a:rPr>
              <a:t>series,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the</a:t>
            </a:r>
            <a:r>
              <a:rPr dirty="0" sz="1800" spc="-4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85" b="1">
                <a:solidFill>
                  <a:srgbClr val="C2132D"/>
                </a:solidFill>
                <a:latin typeface="Trebuchet MS"/>
                <a:cs typeface="Trebuchet MS"/>
              </a:rPr>
              <a:t>SE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b="1">
                <a:solidFill>
                  <a:srgbClr val="C2132D"/>
                </a:solidFill>
                <a:latin typeface="Trebuchet MS"/>
                <a:cs typeface="Trebuchet MS"/>
              </a:rPr>
              <a:t>must</a:t>
            </a:r>
            <a:r>
              <a:rPr dirty="0" sz="1800" spc="-8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30" b="1">
                <a:solidFill>
                  <a:srgbClr val="C2132D"/>
                </a:solidFill>
                <a:latin typeface="Trebuchet MS"/>
                <a:cs typeface="Trebuchet MS"/>
              </a:rPr>
              <a:t>account</a:t>
            </a:r>
            <a:r>
              <a:rPr dirty="0" sz="1800" spc="-8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45" b="1">
                <a:solidFill>
                  <a:srgbClr val="C2132D"/>
                </a:solidFill>
                <a:latin typeface="Trebuchet MS"/>
                <a:cs typeface="Trebuchet MS"/>
              </a:rPr>
              <a:t>for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55" b="1">
                <a:solidFill>
                  <a:srgbClr val="C2132D"/>
                </a:solidFill>
                <a:latin typeface="Trebuchet MS"/>
                <a:cs typeface="Trebuchet MS"/>
              </a:rPr>
              <a:t>autocorrelation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:</a:t>
            </a:r>
            <a:endParaRPr sz="180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901700" y="3652519"/>
            <a:ext cx="1906905" cy="88265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 marR="5080">
              <a:lnSpc>
                <a:spcPct val="156300"/>
              </a:lnSpc>
              <a:spcBef>
                <a:spcPts val="95"/>
              </a:spcBef>
            </a:pPr>
            <a:r>
              <a:rPr dirty="0" sz="1800" spc="-35" b="1">
                <a:solidFill>
                  <a:srgbClr val="C2132D"/>
                </a:solidFill>
                <a:latin typeface="Trebuchet MS"/>
                <a:cs typeface="Trebuchet MS"/>
              </a:rPr>
              <a:t>confidence</a:t>
            </a:r>
            <a:r>
              <a:rPr dirty="0" sz="1800" spc="-17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b="1">
                <a:solidFill>
                  <a:srgbClr val="C2132D"/>
                </a:solidFill>
                <a:latin typeface="Trebuchet MS"/>
                <a:cs typeface="Trebuchet MS"/>
              </a:rPr>
              <a:t>bands</a:t>
            </a:r>
            <a:r>
              <a:rPr dirty="0" sz="1800">
                <a:solidFill>
                  <a:srgbClr val="585D60"/>
                </a:solidFill>
                <a:latin typeface="Arial"/>
                <a:cs typeface="Arial"/>
              </a:rPr>
              <a:t>.  </a:t>
            </a:r>
            <a:r>
              <a:rPr dirty="0" sz="1800" spc="-50" b="1">
                <a:solidFill>
                  <a:srgbClr val="C2132D"/>
                </a:solidFill>
                <a:latin typeface="Trebuchet MS"/>
                <a:cs typeface="Trebuchet MS"/>
              </a:rPr>
              <a:t>Hence:</a:t>
            </a:r>
            <a:endParaRPr sz="1800">
              <a:latin typeface="Trebuchet MS"/>
              <a:cs typeface="Trebuchet MS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1148754" y="4633594"/>
            <a:ext cx="8302625" cy="882650"/>
          </a:xfrm>
          <a:prstGeom prst="rect">
            <a:avLst/>
          </a:prstGeom>
        </p:spPr>
        <p:txBody>
          <a:bodyPr wrap="square" lIns="0" tIns="167005" rIns="0" bIns="0" rtlCol="0" vert="horz">
            <a:spAutoFit/>
          </a:bodyPr>
          <a:lstStyle/>
          <a:p>
            <a:pPr marL="146050" indent="-133985">
              <a:lnSpc>
                <a:spcPct val="100000"/>
              </a:lnSpc>
              <a:spcBef>
                <a:spcPts val="1315"/>
              </a:spcBef>
              <a:buClr>
                <a:srgbClr val="C2132D"/>
              </a:buClr>
              <a:buFont typeface="Trebuchet MS"/>
              <a:buChar char="•"/>
              <a:tabLst>
                <a:tab pos="146685" algn="l"/>
              </a:tabLst>
            </a:pPr>
            <a:r>
              <a:rPr dirty="0" sz="1800" spc="55">
                <a:solidFill>
                  <a:srgbClr val="585D60"/>
                </a:solidFill>
                <a:latin typeface="Arial"/>
                <a:cs typeface="Arial"/>
              </a:rPr>
              <a:t>If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the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35">
                <a:solidFill>
                  <a:srgbClr val="585D60"/>
                </a:solidFill>
                <a:latin typeface="Arial"/>
                <a:cs typeface="Arial"/>
              </a:rPr>
              <a:t>time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585D60"/>
                </a:solidFill>
                <a:latin typeface="Arial"/>
                <a:cs typeface="Arial"/>
              </a:rPr>
              <a:t>series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30">
                <a:solidFill>
                  <a:srgbClr val="585D60"/>
                </a:solidFill>
                <a:latin typeface="Arial"/>
                <a:cs typeface="Arial"/>
              </a:rPr>
              <a:t>is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30" b="1">
                <a:solidFill>
                  <a:srgbClr val="C2132D"/>
                </a:solidFill>
                <a:latin typeface="Trebuchet MS"/>
                <a:cs typeface="Trebuchet MS"/>
              </a:rPr>
              <a:t>highly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55" b="1">
                <a:solidFill>
                  <a:srgbClr val="C2132D"/>
                </a:solidFill>
                <a:latin typeface="Trebuchet MS"/>
                <a:cs typeface="Trebuchet MS"/>
              </a:rPr>
              <a:t>correlated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40">
                <a:solidFill>
                  <a:srgbClr val="585D60"/>
                </a:solidFill>
                <a:latin typeface="Arial"/>
                <a:cs typeface="Arial"/>
              </a:rPr>
              <a:t>(e.g.,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25">
                <a:solidFill>
                  <a:srgbClr val="585D60"/>
                </a:solidFill>
                <a:latin typeface="Arial"/>
                <a:cs typeface="Arial"/>
              </a:rPr>
              <a:t>a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40" b="1">
                <a:solidFill>
                  <a:srgbClr val="C2132D"/>
                </a:solidFill>
                <a:latin typeface="Trebuchet MS"/>
                <a:cs typeface="Trebuchet MS"/>
              </a:rPr>
              <a:t>random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50" b="1">
                <a:solidFill>
                  <a:srgbClr val="C2132D"/>
                </a:solidFill>
                <a:latin typeface="Trebuchet MS"/>
                <a:cs typeface="Trebuchet MS"/>
              </a:rPr>
              <a:t>walk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), </a:t>
            </a:r>
            <a:r>
              <a:rPr dirty="0" sz="1800" spc="-155">
                <a:solidFill>
                  <a:srgbClr val="585D60"/>
                </a:solidFill>
                <a:latin typeface="Arial"/>
                <a:cs typeface="Arial"/>
              </a:rPr>
              <a:t>SE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10" b="1">
                <a:solidFill>
                  <a:srgbClr val="C2132D"/>
                </a:solidFill>
                <a:latin typeface="Trebuchet MS"/>
                <a:cs typeface="Trebuchet MS"/>
              </a:rPr>
              <a:t>increases</a:t>
            </a:r>
            <a:r>
              <a:rPr dirty="0" sz="1800" spc="-10">
                <a:solidFill>
                  <a:srgbClr val="585D60"/>
                </a:solidFill>
                <a:latin typeface="Arial"/>
                <a:cs typeface="Arial"/>
              </a:rPr>
              <a:t>.</a:t>
            </a:r>
            <a:endParaRPr sz="1800">
              <a:latin typeface="Arial"/>
              <a:cs typeface="Arial"/>
            </a:endParaRPr>
          </a:p>
          <a:p>
            <a:pPr marL="146050" indent="-133985">
              <a:lnSpc>
                <a:spcPct val="100000"/>
              </a:lnSpc>
              <a:spcBef>
                <a:spcPts val="1215"/>
              </a:spcBef>
              <a:buFont typeface="Trebuchet MS"/>
              <a:buChar char="•"/>
              <a:tabLst>
                <a:tab pos="146685" algn="l"/>
              </a:tabLst>
            </a:pPr>
            <a:r>
              <a:rPr dirty="0" sz="1800" spc="-35" b="1">
                <a:solidFill>
                  <a:srgbClr val="C2132D"/>
                </a:solidFill>
                <a:latin typeface="Trebuchet MS"/>
                <a:cs typeface="Trebuchet MS"/>
              </a:rPr>
              <a:t>Differencing </a:t>
            </a:r>
            <a:r>
              <a:rPr dirty="0" sz="1800" spc="-30" b="1">
                <a:solidFill>
                  <a:srgbClr val="C2132D"/>
                </a:solidFill>
                <a:latin typeface="Trebuchet MS"/>
                <a:cs typeface="Trebuchet MS"/>
              </a:rPr>
              <a:t>reduces </a:t>
            </a:r>
            <a:r>
              <a:rPr dirty="0" sz="1800" spc="-60" b="1">
                <a:solidFill>
                  <a:srgbClr val="C2132D"/>
                </a:solidFill>
                <a:latin typeface="Trebuchet MS"/>
                <a:cs typeface="Trebuchet MS"/>
              </a:rPr>
              <a:t>autocorrelation</a:t>
            </a:r>
            <a:r>
              <a:rPr dirty="0" sz="1800" spc="-60">
                <a:solidFill>
                  <a:srgbClr val="585D60"/>
                </a:solidFill>
                <a:latin typeface="Arial"/>
                <a:cs typeface="Arial"/>
              </a:rPr>
              <a:t>, </a:t>
            </a:r>
            <a:r>
              <a:rPr dirty="0" sz="1800" spc="15">
                <a:solidFill>
                  <a:srgbClr val="585D60"/>
                </a:solidFill>
                <a:latin typeface="Arial"/>
                <a:cs typeface="Arial"/>
              </a:rPr>
              <a:t>making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the </a:t>
            </a:r>
            <a:r>
              <a:rPr dirty="0" sz="1800" spc="30">
                <a:solidFill>
                  <a:srgbClr val="585D60"/>
                </a:solidFill>
                <a:latin typeface="Arial"/>
                <a:cs typeface="Arial"/>
              </a:rPr>
              <a:t>sum </a:t>
            </a:r>
            <a:r>
              <a:rPr dirty="0" sz="1800" spc="-20" b="1">
                <a:solidFill>
                  <a:srgbClr val="C2132D"/>
                </a:solidFill>
                <a:latin typeface="Trebuchet MS"/>
                <a:cs typeface="Trebuchet MS"/>
              </a:rPr>
              <a:t>smaller </a:t>
            </a:r>
            <a:r>
              <a:rPr dirty="0" sz="1800" spc="-5">
                <a:solidFill>
                  <a:srgbClr val="585D60"/>
                </a:solidFill>
                <a:latin typeface="Arial"/>
                <a:cs typeface="Arial"/>
              </a:rPr>
              <a:t>and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the</a:t>
            </a:r>
            <a:r>
              <a:rPr dirty="0" sz="1800" spc="-32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155">
                <a:solidFill>
                  <a:srgbClr val="585D60"/>
                </a:solidFill>
                <a:latin typeface="Arial"/>
                <a:cs typeface="Arial"/>
              </a:rPr>
              <a:t>SE </a:t>
            </a:r>
            <a:r>
              <a:rPr dirty="0" sz="1800" spc="-60" b="1">
                <a:solidFill>
                  <a:srgbClr val="C2132D"/>
                </a:solidFill>
                <a:latin typeface="Trebuchet MS"/>
                <a:cs typeface="Trebuchet MS"/>
              </a:rPr>
              <a:t>lower</a:t>
            </a:r>
            <a:r>
              <a:rPr dirty="0" sz="1800" spc="-60">
                <a:solidFill>
                  <a:srgbClr val="585D60"/>
                </a:solidFill>
                <a:latin typeface="Arial"/>
                <a:cs typeface="Arial"/>
              </a:rPr>
              <a:t>.</a:t>
            </a:r>
            <a:endParaRPr sz="18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4734173" y="2364420"/>
            <a:ext cx="109855" cy="201930"/>
          </a:xfrm>
          <a:prstGeom prst="rect">
            <a:avLst/>
          </a:prstGeom>
        </p:spPr>
        <p:txBody>
          <a:bodyPr wrap="square" lIns="0" tIns="1333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dirty="0" sz="1150" spc="85" i="1">
                <a:solidFill>
                  <a:srgbClr val="585D60"/>
                </a:solidFill>
                <a:latin typeface="Arial"/>
                <a:cs typeface="Arial"/>
              </a:rPr>
              <a:t>k</a:t>
            </a:r>
            <a:endParaRPr sz="115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226966" y="2204720"/>
            <a:ext cx="958850" cy="31369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900" spc="-165">
                <a:solidFill>
                  <a:srgbClr val="585D60"/>
                </a:solidFill>
                <a:latin typeface="Lucida Sans Unicode"/>
                <a:cs typeface="Lucida Sans Unicode"/>
              </a:rPr>
              <a:t>SE(</a:t>
            </a:r>
            <a:r>
              <a:rPr dirty="0" sz="1600" spc="-165" i="1">
                <a:solidFill>
                  <a:srgbClr val="585D60"/>
                </a:solidFill>
                <a:latin typeface="Arial"/>
                <a:cs typeface="Arial"/>
              </a:rPr>
              <a:t>ρ</a:t>
            </a:r>
            <a:r>
              <a:rPr dirty="0" sz="1900" spc="-165">
                <a:solidFill>
                  <a:srgbClr val="585D60"/>
                </a:solidFill>
                <a:latin typeface="Lucida Sans Unicode"/>
                <a:cs typeface="Lucida Sans Unicode"/>
              </a:rPr>
              <a:t>^ </a:t>
            </a:r>
            <a:r>
              <a:rPr dirty="0" sz="1900" spc="80">
                <a:solidFill>
                  <a:srgbClr val="585D60"/>
                </a:solidFill>
                <a:latin typeface="Lucida Sans Unicode"/>
                <a:cs typeface="Lucida Sans Unicode"/>
              </a:rPr>
              <a:t>)</a:t>
            </a:r>
            <a:r>
              <a:rPr dirty="0" sz="1900" spc="-295">
                <a:solidFill>
                  <a:srgbClr val="585D60"/>
                </a:solidFill>
                <a:latin typeface="Lucida Sans Unicode"/>
                <a:cs typeface="Lucida Sans Unicode"/>
              </a:rPr>
              <a:t> </a:t>
            </a:r>
            <a:r>
              <a:rPr dirty="0" sz="1900" spc="-110">
                <a:solidFill>
                  <a:srgbClr val="585D60"/>
                </a:solidFill>
                <a:latin typeface="Lucida Sans Unicode"/>
                <a:cs typeface="Lucida Sans Unicode"/>
              </a:rPr>
              <a:t>≈</a:t>
            </a:r>
            <a:endParaRPr sz="1900">
              <a:latin typeface="Lucida Sans Unicode"/>
              <a:cs typeface="Lucida Sans Unicode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5223966" y="1444853"/>
            <a:ext cx="254635" cy="84836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5400" spc="-4420">
                <a:solidFill>
                  <a:srgbClr val="585D60"/>
                </a:solidFill>
                <a:latin typeface="Cambria"/>
                <a:cs typeface="Cambria"/>
              </a:rPr>
              <a:t></a:t>
            </a:r>
            <a:endParaRPr sz="5400">
              <a:latin typeface="Cambria"/>
              <a:cs typeface="Cambria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5223966" y="1711553"/>
            <a:ext cx="267335" cy="84836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5400" spc="-2515">
                <a:solidFill>
                  <a:srgbClr val="585D60"/>
                </a:solidFill>
                <a:latin typeface="Cambria"/>
                <a:cs typeface="Cambria"/>
              </a:rPr>
              <a:t></a:t>
            </a:r>
            <a:endParaRPr sz="5400">
              <a:latin typeface="Cambria"/>
              <a:cs typeface="Cambria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5476874" y="2009775"/>
            <a:ext cx="1809750" cy="0"/>
          </a:xfrm>
          <a:custGeom>
            <a:avLst/>
            <a:gdLst/>
            <a:ahLst/>
            <a:cxnLst/>
            <a:rect l="l" t="t" r="r" b="b"/>
            <a:pathLst>
              <a:path w="1809750" h="0">
                <a:moveTo>
                  <a:pt x="0" y="0"/>
                </a:moveTo>
                <a:lnTo>
                  <a:pt x="1809749" y="0"/>
                </a:lnTo>
              </a:path>
            </a:pathLst>
          </a:custGeom>
          <a:ln w="19049">
            <a:solidFill>
              <a:srgbClr val="585D6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11" name="object 11"/>
          <p:cNvSpPr txBox="1"/>
          <p:nvPr/>
        </p:nvSpPr>
        <p:spPr>
          <a:xfrm>
            <a:off x="6515645" y="2008428"/>
            <a:ext cx="316230" cy="22923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1150" spc="85" i="1">
                <a:solidFill>
                  <a:srgbClr val="585D60"/>
                </a:solidFill>
                <a:latin typeface="Arial"/>
                <a:cs typeface="Arial"/>
              </a:rPr>
              <a:t>k</a:t>
            </a:r>
            <a:r>
              <a:rPr dirty="0" sz="1300" spc="-45">
                <a:solidFill>
                  <a:srgbClr val="585D60"/>
                </a:solidFill>
                <a:latin typeface="Lucida Sans Unicode"/>
                <a:cs typeface="Lucida Sans Unicode"/>
              </a:rPr>
              <a:t>−</a:t>
            </a:r>
            <a:r>
              <a:rPr dirty="0" sz="1300" spc="-190">
                <a:solidFill>
                  <a:srgbClr val="585D60"/>
                </a:solidFill>
                <a:latin typeface="Lucida Sans Unicode"/>
                <a:cs typeface="Lucida Sans Unicode"/>
              </a:rPr>
              <a:t>1</a:t>
            </a:r>
            <a:endParaRPr sz="1300">
              <a:latin typeface="Lucida Sans Unicode"/>
              <a:cs typeface="Lucida Sans Unicode"/>
            </a:endParaRPr>
          </a:p>
        </p:txBody>
      </p:sp>
      <p:sp>
        <p:nvSpPr>
          <p:cNvPr id="23" name="object 23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1270" rIns="0" bIns="0" rtlCol="0" vert="horz">
            <a:spAutoFit/>
          </a:bodyPr>
          <a:lstStyle/>
          <a:p>
            <a:pPr marL="38100">
              <a:lnSpc>
                <a:spcPct val="100000"/>
              </a:lnSpc>
              <a:spcBef>
                <a:spcPts val="10"/>
              </a:spcBef>
            </a:pPr>
            <a:fld id="{81D60167-4931-47E6-BA6A-407CBD079E47}" type="slidenum">
              <a:rPr dirty="0" spc="5"/>
              <a:t>11</a:t>
            </a:fld>
            <a:r>
              <a:rPr dirty="0" spc="5"/>
              <a:t> </a:t>
            </a:r>
            <a:r>
              <a:rPr dirty="0" spc="160"/>
              <a:t>/</a:t>
            </a:r>
            <a:r>
              <a:rPr dirty="0" spc="-165"/>
              <a:t> </a:t>
            </a:r>
            <a:r>
              <a:rPr dirty="0" spc="5"/>
              <a:t>33</a:t>
            </a:r>
          </a:p>
        </p:txBody>
      </p:sp>
      <p:sp>
        <p:nvSpPr>
          <p:cNvPr id="12" name="object 12"/>
          <p:cNvSpPr txBox="1"/>
          <p:nvPr/>
        </p:nvSpPr>
        <p:spPr>
          <a:xfrm>
            <a:off x="6524426" y="2541828"/>
            <a:ext cx="299085" cy="22923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1150" spc="265" i="1">
                <a:solidFill>
                  <a:srgbClr val="585D60"/>
                </a:solidFill>
                <a:latin typeface="Arial"/>
                <a:cs typeface="Arial"/>
              </a:rPr>
              <a:t>j</a:t>
            </a:r>
            <a:r>
              <a:rPr dirty="0" sz="1300" spc="-45">
                <a:solidFill>
                  <a:srgbClr val="585D60"/>
                </a:solidFill>
                <a:latin typeface="Lucida Sans Unicode"/>
                <a:cs typeface="Lucida Sans Unicode"/>
              </a:rPr>
              <a:t>=</a:t>
            </a:r>
            <a:r>
              <a:rPr dirty="0" sz="1300" spc="-190">
                <a:solidFill>
                  <a:srgbClr val="585D60"/>
                </a:solidFill>
                <a:latin typeface="Lucida Sans Unicode"/>
                <a:cs typeface="Lucida Sans Unicode"/>
              </a:rPr>
              <a:t>1</a:t>
            </a:r>
            <a:endParaRPr sz="1300">
              <a:latin typeface="Lucida Sans Unicode"/>
              <a:cs typeface="Lucida Sans Unicode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6999485" y="2170353"/>
            <a:ext cx="106680" cy="22923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1300" spc="-190">
                <a:solidFill>
                  <a:srgbClr val="585D60"/>
                </a:solidFill>
                <a:latin typeface="Lucida Sans Unicode"/>
                <a:cs typeface="Lucida Sans Unicode"/>
              </a:rPr>
              <a:t>2</a:t>
            </a:r>
            <a:endParaRPr sz="1300">
              <a:latin typeface="Lucida Sans Unicode"/>
              <a:cs typeface="Lucida Sans Unicode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6999485" y="2364420"/>
            <a:ext cx="92075" cy="201930"/>
          </a:xfrm>
          <a:prstGeom prst="rect">
            <a:avLst/>
          </a:prstGeom>
        </p:spPr>
        <p:txBody>
          <a:bodyPr wrap="square" lIns="0" tIns="1333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dirty="0" sz="1150" spc="265" i="1">
                <a:solidFill>
                  <a:srgbClr val="585D60"/>
                </a:solidFill>
                <a:latin typeface="Arial"/>
                <a:cs typeface="Arial"/>
              </a:rPr>
              <a:t>j</a:t>
            </a:r>
            <a:endParaRPr sz="1150">
              <a:latin typeface="Arial"/>
              <a:cs typeface="Arial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5768974" y="1759178"/>
            <a:ext cx="1529715" cy="84836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5400" spc="-640">
                <a:solidFill>
                  <a:srgbClr val="585D60"/>
                </a:solidFill>
                <a:latin typeface="Cambria"/>
                <a:cs typeface="Cambria"/>
              </a:rPr>
              <a:t>(</a:t>
            </a:r>
            <a:r>
              <a:rPr dirty="0" sz="1900" spc="-305">
                <a:solidFill>
                  <a:srgbClr val="585D60"/>
                </a:solidFill>
                <a:latin typeface="Lucida Sans Unicode"/>
                <a:cs typeface="Lucida Sans Unicode"/>
              </a:rPr>
              <a:t>1</a:t>
            </a:r>
            <a:r>
              <a:rPr dirty="0" sz="1900" spc="-204">
                <a:solidFill>
                  <a:srgbClr val="585D60"/>
                </a:solidFill>
                <a:latin typeface="Lucida Sans Unicode"/>
                <a:cs typeface="Lucida Sans Unicode"/>
              </a:rPr>
              <a:t> </a:t>
            </a:r>
            <a:r>
              <a:rPr dirty="0" sz="1900" spc="-110">
                <a:solidFill>
                  <a:srgbClr val="585D60"/>
                </a:solidFill>
                <a:latin typeface="Lucida Sans Unicode"/>
                <a:cs typeface="Lucida Sans Unicode"/>
              </a:rPr>
              <a:t>+</a:t>
            </a:r>
            <a:r>
              <a:rPr dirty="0" sz="1900" spc="-204">
                <a:solidFill>
                  <a:srgbClr val="585D60"/>
                </a:solidFill>
                <a:latin typeface="Lucida Sans Unicode"/>
                <a:cs typeface="Lucida Sans Unicode"/>
              </a:rPr>
              <a:t> </a:t>
            </a:r>
            <a:r>
              <a:rPr dirty="0" sz="1900" spc="-305">
                <a:solidFill>
                  <a:srgbClr val="585D60"/>
                </a:solidFill>
                <a:latin typeface="Lucida Sans Unicode"/>
                <a:cs typeface="Lucida Sans Unicode"/>
              </a:rPr>
              <a:t>2</a:t>
            </a:r>
            <a:r>
              <a:rPr dirty="0" sz="1900" spc="-305">
                <a:solidFill>
                  <a:srgbClr val="585D60"/>
                </a:solidFill>
                <a:latin typeface="Lucida Sans Unicode"/>
                <a:cs typeface="Lucida Sans Unicode"/>
              </a:rPr>
              <a:t> </a:t>
            </a:r>
            <a:r>
              <a:rPr dirty="0" sz="2500" spc="815">
                <a:solidFill>
                  <a:srgbClr val="585D60"/>
                </a:solidFill>
                <a:latin typeface="Arial"/>
                <a:cs typeface="Arial"/>
              </a:rPr>
              <a:t>∑</a:t>
            </a:r>
            <a:r>
              <a:rPr dirty="0" sz="2500" spc="-39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600" spc="-760" i="1">
                <a:solidFill>
                  <a:srgbClr val="585D60"/>
                </a:solidFill>
                <a:latin typeface="Arial"/>
                <a:cs typeface="Arial"/>
              </a:rPr>
              <a:t>ρ</a:t>
            </a:r>
            <a:r>
              <a:rPr dirty="0" sz="1900" spc="-305">
                <a:solidFill>
                  <a:srgbClr val="585D60"/>
                </a:solidFill>
                <a:latin typeface="Lucida Sans Unicode"/>
                <a:cs typeface="Lucida Sans Unicode"/>
              </a:rPr>
              <a:t>^</a:t>
            </a:r>
            <a:r>
              <a:rPr dirty="0" sz="1900" spc="125">
                <a:solidFill>
                  <a:srgbClr val="585D60"/>
                </a:solidFill>
                <a:latin typeface="Lucida Sans Unicode"/>
                <a:cs typeface="Lucida Sans Unicode"/>
              </a:rPr>
              <a:t> </a:t>
            </a:r>
            <a:r>
              <a:rPr dirty="0" sz="5400" spc="-640">
                <a:solidFill>
                  <a:srgbClr val="585D60"/>
                </a:solidFill>
                <a:latin typeface="Cambria"/>
                <a:cs typeface="Cambria"/>
              </a:rPr>
              <a:t>)</a:t>
            </a:r>
            <a:endParaRPr sz="5400">
              <a:latin typeface="Cambria"/>
              <a:cs typeface="Cambria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5492749" y="2052320"/>
            <a:ext cx="273050" cy="31369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u="sng" sz="1800" spc="75">
                <a:solidFill>
                  <a:srgbClr val="585D60"/>
                </a:solidFill>
                <a:uFill>
                  <a:solidFill>
                    <a:srgbClr val="585D60"/>
                  </a:solidFill>
                </a:uFill>
                <a:latin typeface="Times New Roman"/>
                <a:cs typeface="Times New Roman"/>
              </a:rPr>
              <a:t> </a:t>
            </a:r>
            <a:r>
              <a:rPr dirty="0" u="sng" sz="1900" spc="-305">
                <a:solidFill>
                  <a:srgbClr val="585D60"/>
                </a:solidFill>
                <a:uFill>
                  <a:solidFill>
                    <a:srgbClr val="585D60"/>
                  </a:solidFill>
                </a:uFill>
                <a:latin typeface="Lucida Sans Unicode"/>
                <a:cs typeface="Lucida Sans Unicode"/>
              </a:rPr>
              <a:t>1</a:t>
            </a:r>
            <a:r>
              <a:rPr dirty="0" u="sng" sz="1900" spc="-85">
                <a:solidFill>
                  <a:srgbClr val="585D60"/>
                </a:solidFill>
                <a:uFill>
                  <a:solidFill>
                    <a:srgbClr val="585D60"/>
                  </a:solidFill>
                </a:uFill>
                <a:latin typeface="Lucida Sans Unicode"/>
                <a:cs typeface="Lucida Sans Unicode"/>
              </a:rPr>
              <a:t> </a:t>
            </a:r>
            <a:endParaRPr sz="1900">
              <a:latin typeface="Lucida Sans Unicode"/>
              <a:cs typeface="Lucida Sans Unicode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5223966" y="1921103"/>
            <a:ext cx="501015" cy="84836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5400" spc="-1180">
                <a:solidFill>
                  <a:srgbClr val="585D60"/>
                </a:solidFill>
                <a:latin typeface="Cambria"/>
                <a:cs typeface="Cambria"/>
              </a:rPr>
              <a:t>⎷</a:t>
            </a:r>
            <a:r>
              <a:rPr dirty="0" sz="1600" spc="285" i="1">
                <a:solidFill>
                  <a:srgbClr val="585D60"/>
                </a:solidFill>
                <a:latin typeface="Arial"/>
                <a:cs typeface="Arial"/>
              </a:rPr>
              <a:t>N</a:t>
            </a:r>
            <a:endParaRPr sz="1600">
              <a:latin typeface="Arial"/>
              <a:cs typeface="Arial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5318472" y="3189528"/>
            <a:ext cx="286385" cy="22923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1150" spc="-85" i="1">
                <a:solidFill>
                  <a:srgbClr val="585D60"/>
                </a:solidFill>
                <a:latin typeface="Arial"/>
                <a:cs typeface="Arial"/>
              </a:rPr>
              <a:t>j</a:t>
            </a:r>
            <a:r>
              <a:rPr dirty="0" sz="1300" spc="-85">
                <a:solidFill>
                  <a:srgbClr val="585D60"/>
                </a:solidFill>
                <a:latin typeface="Lucida Sans Unicode"/>
                <a:cs typeface="Lucida Sans Unicode"/>
              </a:rPr>
              <a:t>=1</a:t>
            </a:r>
            <a:endParaRPr sz="1300">
              <a:latin typeface="Lucida Sans Unicode"/>
              <a:cs typeface="Lucida Sans Unicode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876300" y="3052444"/>
            <a:ext cx="8783320" cy="31369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38100">
              <a:lnSpc>
                <a:spcPct val="100000"/>
              </a:lnSpc>
              <a:spcBef>
                <a:spcPts val="90"/>
              </a:spcBef>
              <a:tabLst>
                <a:tab pos="4060825" algn="l"/>
                <a:tab pos="5154930" algn="l"/>
              </a:tabLst>
            </a:pPr>
            <a:r>
              <a:rPr dirty="0" sz="1800" spc="-30">
                <a:solidFill>
                  <a:srgbClr val="585D60"/>
                </a:solidFill>
                <a:latin typeface="Arial"/>
                <a:cs typeface="Arial"/>
              </a:rPr>
              <a:t>The </a:t>
            </a:r>
            <a:r>
              <a:rPr dirty="0" sz="1800" spc="35" b="1">
                <a:solidFill>
                  <a:srgbClr val="C2132D"/>
                </a:solidFill>
                <a:latin typeface="Trebuchet MS"/>
                <a:cs typeface="Trebuchet MS"/>
              </a:rPr>
              <a:t>sum </a:t>
            </a:r>
            <a:r>
              <a:rPr dirty="0" sz="1800" spc="-15" b="1">
                <a:solidFill>
                  <a:srgbClr val="C2132D"/>
                </a:solidFill>
                <a:latin typeface="Trebuchet MS"/>
                <a:cs typeface="Trebuchet MS"/>
              </a:rPr>
              <a:t>of</a:t>
            </a:r>
            <a:r>
              <a:rPr dirty="0" sz="1800" spc="-229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25" b="1">
                <a:solidFill>
                  <a:srgbClr val="C2132D"/>
                </a:solidFill>
                <a:latin typeface="Trebuchet MS"/>
                <a:cs typeface="Trebuchet MS"/>
              </a:rPr>
              <a:t>squared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45" b="1">
                <a:solidFill>
                  <a:srgbClr val="C2132D"/>
                </a:solidFill>
                <a:latin typeface="Trebuchet MS"/>
                <a:cs typeface="Trebuchet MS"/>
              </a:rPr>
              <a:t>autocorrelations</a:t>
            </a:r>
            <a:r>
              <a:rPr dirty="0" sz="1800" spc="-45">
                <a:solidFill>
                  <a:srgbClr val="585D60"/>
                </a:solidFill>
                <a:latin typeface="Arial"/>
                <a:cs typeface="Arial"/>
              </a:rPr>
              <a:t>,	</a:t>
            </a:r>
            <a:r>
              <a:rPr dirty="0" sz="1900" spc="-305">
                <a:solidFill>
                  <a:srgbClr val="585D60"/>
                </a:solidFill>
                <a:latin typeface="Lucida Sans Unicode"/>
                <a:cs typeface="Lucida Sans Unicode"/>
              </a:rPr>
              <a:t>2</a:t>
            </a:r>
            <a:r>
              <a:rPr dirty="0" sz="1900" spc="-300">
                <a:solidFill>
                  <a:srgbClr val="585D60"/>
                </a:solidFill>
                <a:latin typeface="Lucida Sans Unicode"/>
                <a:cs typeface="Lucida Sans Unicode"/>
              </a:rPr>
              <a:t> </a:t>
            </a:r>
            <a:r>
              <a:rPr dirty="0" sz="1800" spc="114">
                <a:solidFill>
                  <a:srgbClr val="585D60"/>
                </a:solidFill>
                <a:latin typeface="Arial"/>
                <a:cs typeface="Arial"/>
              </a:rPr>
              <a:t>∑</a:t>
            </a:r>
            <a:r>
              <a:rPr dirty="0" baseline="45893" sz="1725" spc="172" i="1">
                <a:solidFill>
                  <a:srgbClr val="585D60"/>
                </a:solidFill>
                <a:latin typeface="Arial"/>
                <a:cs typeface="Arial"/>
              </a:rPr>
              <a:t>k</a:t>
            </a:r>
            <a:r>
              <a:rPr dirty="0" baseline="40598" sz="1950" spc="172">
                <a:solidFill>
                  <a:srgbClr val="585D60"/>
                </a:solidFill>
                <a:latin typeface="Lucida Sans Unicode"/>
                <a:cs typeface="Lucida Sans Unicode"/>
              </a:rPr>
              <a:t>−1</a:t>
            </a:r>
            <a:r>
              <a:rPr dirty="0" baseline="40598" sz="1950" spc="-30">
                <a:solidFill>
                  <a:srgbClr val="585D60"/>
                </a:solidFill>
                <a:latin typeface="Lucida Sans Unicode"/>
                <a:cs typeface="Lucida Sans Unicode"/>
              </a:rPr>
              <a:t> </a:t>
            </a:r>
            <a:r>
              <a:rPr dirty="0" sz="1600" spc="-415" i="1">
                <a:solidFill>
                  <a:srgbClr val="585D60"/>
                </a:solidFill>
                <a:latin typeface="Arial"/>
                <a:cs typeface="Arial"/>
              </a:rPr>
              <a:t>ρ</a:t>
            </a:r>
            <a:r>
              <a:rPr dirty="0" baseline="1461" sz="2850" spc="-622">
                <a:solidFill>
                  <a:srgbClr val="585D60"/>
                </a:solidFill>
                <a:latin typeface="Lucida Sans Unicode"/>
                <a:cs typeface="Lucida Sans Unicode"/>
              </a:rPr>
              <a:t>^</a:t>
            </a:r>
            <a:r>
              <a:rPr dirty="0" baseline="38461" sz="1950" spc="-622">
                <a:solidFill>
                  <a:srgbClr val="585D60"/>
                </a:solidFill>
                <a:latin typeface="Lucida Sans Unicode"/>
                <a:cs typeface="Lucida Sans Unicode"/>
              </a:rPr>
              <a:t>2	</a:t>
            </a:r>
            <a:r>
              <a:rPr dirty="0" sz="1800" spc="-150">
                <a:solidFill>
                  <a:srgbClr val="585D60"/>
                </a:solidFill>
                <a:latin typeface="Arial"/>
                <a:cs typeface="Arial"/>
              </a:rPr>
              <a:t>, </a:t>
            </a:r>
            <a:r>
              <a:rPr dirty="0" sz="1800">
                <a:solidFill>
                  <a:srgbClr val="585D60"/>
                </a:solidFill>
                <a:latin typeface="Arial"/>
                <a:cs typeface="Arial"/>
              </a:rPr>
              <a:t>increases </a:t>
            </a:r>
            <a:r>
              <a:rPr dirty="0" sz="1800" spc="-155">
                <a:solidFill>
                  <a:srgbClr val="585D60"/>
                </a:solidFill>
                <a:latin typeface="Arial"/>
                <a:cs typeface="Arial"/>
              </a:rPr>
              <a:t>SE, </a:t>
            </a:r>
            <a:r>
              <a:rPr dirty="0" sz="1800" spc="20">
                <a:solidFill>
                  <a:srgbClr val="585D60"/>
                </a:solidFill>
                <a:latin typeface="Arial"/>
                <a:cs typeface="Arial"/>
              </a:rPr>
              <a:t>which </a:t>
            </a:r>
            <a:r>
              <a:rPr dirty="0" sz="1800">
                <a:solidFill>
                  <a:srgbClr val="585D60"/>
                </a:solidFill>
                <a:latin typeface="Arial"/>
                <a:cs typeface="Arial"/>
              </a:rPr>
              <a:t>leads </a:t>
            </a:r>
            <a:r>
              <a:rPr dirty="0" sz="1800" spc="45">
                <a:solidFill>
                  <a:srgbClr val="585D60"/>
                </a:solidFill>
                <a:latin typeface="Arial"/>
                <a:cs typeface="Arial"/>
              </a:rPr>
              <a:t>to</a:t>
            </a:r>
            <a:r>
              <a:rPr dirty="0" sz="1800" spc="-7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75" b="1">
                <a:solidFill>
                  <a:srgbClr val="C2132D"/>
                </a:solidFill>
                <a:latin typeface="Trebuchet MS"/>
                <a:cs typeface="Trebuchet MS"/>
              </a:rPr>
              <a:t>wider</a:t>
            </a:r>
            <a:endParaRPr sz="1800">
              <a:latin typeface="Trebuchet MS"/>
              <a:cs typeface="Trebuchet MS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5794126" y="3202619"/>
            <a:ext cx="92075" cy="201930"/>
          </a:xfrm>
          <a:prstGeom prst="rect">
            <a:avLst/>
          </a:prstGeom>
        </p:spPr>
        <p:txBody>
          <a:bodyPr wrap="square" lIns="0" tIns="1333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dirty="0" sz="1150" spc="265" i="1">
                <a:solidFill>
                  <a:srgbClr val="585D60"/>
                </a:solidFill>
                <a:latin typeface="Arial"/>
                <a:cs typeface="Arial"/>
              </a:rPr>
              <a:t>j</a:t>
            </a:r>
            <a:endParaRPr sz="1150">
              <a:latin typeface="Arial"/>
              <a:cs typeface="Arial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4929881" y="2825978"/>
            <a:ext cx="961390" cy="84836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5400" spc="-4300">
                <a:solidFill>
                  <a:srgbClr val="585D60"/>
                </a:solidFill>
                <a:latin typeface="Cambria"/>
                <a:cs typeface="Cambria"/>
              </a:rPr>
              <a:t></a:t>
            </a:r>
            <a:r>
              <a:rPr dirty="0" sz="5400" spc="-4520">
                <a:solidFill>
                  <a:srgbClr val="585D60"/>
                </a:solidFill>
                <a:latin typeface="Cambria"/>
                <a:cs typeface="Cambria"/>
              </a:rPr>
              <a:t></a:t>
            </a:r>
            <a:r>
              <a:rPr dirty="0" sz="5400" spc="-4335">
                <a:solidFill>
                  <a:srgbClr val="585D60"/>
                </a:solidFill>
                <a:latin typeface="Cambria"/>
                <a:cs typeface="Cambria"/>
              </a:rPr>
              <a:t></a:t>
            </a:r>
            <a:r>
              <a:rPr dirty="0" sz="5400" spc="-4170">
                <a:solidFill>
                  <a:srgbClr val="585D60"/>
                </a:solidFill>
                <a:latin typeface="Cambria"/>
                <a:cs typeface="Cambria"/>
              </a:rPr>
              <a:t></a:t>
            </a:r>
            <a:r>
              <a:rPr dirty="0" sz="5400" spc="-4300">
                <a:solidFill>
                  <a:srgbClr val="585D60"/>
                </a:solidFill>
                <a:latin typeface="Cambria"/>
                <a:cs typeface="Cambria"/>
              </a:rPr>
              <a:t></a:t>
            </a:r>
            <a:r>
              <a:rPr dirty="0" sz="5400" spc="-4520">
                <a:solidFill>
                  <a:srgbClr val="585D60"/>
                </a:solidFill>
                <a:latin typeface="Cambria"/>
                <a:cs typeface="Cambria"/>
              </a:rPr>
              <a:t></a:t>
            </a:r>
            <a:r>
              <a:rPr dirty="0" sz="5400" spc="-4335">
                <a:solidFill>
                  <a:srgbClr val="585D60"/>
                </a:solidFill>
                <a:latin typeface="Cambria"/>
                <a:cs typeface="Cambria"/>
              </a:rPr>
              <a:t></a:t>
            </a:r>
            <a:r>
              <a:rPr dirty="0" sz="5400" spc="-4835">
                <a:solidFill>
                  <a:srgbClr val="585D60"/>
                </a:solidFill>
                <a:latin typeface="Cambria"/>
                <a:cs typeface="Cambria"/>
              </a:rPr>
              <a:t></a:t>
            </a:r>
            <a:endParaRPr sz="5400">
              <a:latin typeface="Cambria"/>
              <a:cs typeface="Cambria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4784923" y="3559555"/>
            <a:ext cx="1259205" cy="219710"/>
          </a:xfrm>
          <a:prstGeom prst="rect">
            <a:avLst/>
          </a:prstGeom>
        </p:spPr>
        <p:txBody>
          <a:bodyPr wrap="square" lIns="0" tIns="1524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dirty="0" sz="1250" spc="10">
                <a:latin typeface="Arial"/>
                <a:cs typeface="Arial"/>
              </a:rPr>
              <a:t>Effect </a:t>
            </a:r>
            <a:r>
              <a:rPr dirty="0" sz="1250" spc="-10">
                <a:latin typeface="Arial"/>
                <a:cs typeface="Arial"/>
              </a:rPr>
              <a:t>of past</a:t>
            </a:r>
            <a:r>
              <a:rPr dirty="0" sz="1250" spc="-140">
                <a:latin typeface="Arial"/>
                <a:cs typeface="Arial"/>
              </a:rPr>
              <a:t> </a:t>
            </a:r>
            <a:r>
              <a:rPr dirty="0" sz="1250" spc="-45">
                <a:latin typeface="Arial"/>
                <a:cs typeface="Arial"/>
              </a:rPr>
              <a:t>lags</a:t>
            </a:r>
            <a:endParaRPr sz="125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01700" y="530225"/>
            <a:ext cx="6210300" cy="539750"/>
          </a:xfrm>
          <a:prstGeom prst="rect"/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3350" spc="-220">
                <a:solidFill>
                  <a:srgbClr val="C2132D"/>
                </a:solidFill>
              </a:rPr>
              <a:t>3. </a:t>
            </a:r>
            <a:r>
              <a:rPr dirty="0" sz="3350" spc="-245">
                <a:solidFill>
                  <a:srgbClr val="C2132D"/>
                </a:solidFill>
              </a:rPr>
              <a:t>Why </a:t>
            </a:r>
            <a:r>
              <a:rPr dirty="0" sz="3350" spc="-120">
                <a:solidFill>
                  <a:srgbClr val="C2132D"/>
                </a:solidFill>
              </a:rPr>
              <a:t>Do </a:t>
            </a:r>
            <a:r>
              <a:rPr dirty="0" sz="3350">
                <a:solidFill>
                  <a:srgbClr val="C2132D"/>
                </a:solidFill>
              </a:rPr>
              <a:t>CIs </a:t>
            </a:r>
            <a:r>
              <a:rPr dirty="0" sz="3350" spc="-220">
                <a:solidFill>
                  <a:srgbClr val="C2132D"/>
                </a:solidFill>
              </a:rPr>
              <a:t>Widen </a:t>
            </a:r>
            <a:r>
              <a:rPr dirty="0" sz="3350" spc="-240">
                <a:solidFill>
                  <a:srgbClr val="C2132D"/>
                </a:solidFill>
              </a:rPr>
              <a:t>at </a:t>
            </a:r>
            <a:r>
              <a:rPr dirty="0" sz="3350" spc="-180">
                <a:solidFill>
                  <a:srgbClr val="C2132D"/>
                </a:solidFill>
              </a:rPr>
              <a:t>Larger</a:t>
            </a:r>
            <a:r>
              <a:rPr dirty="0" sz="3350" spc="-665">
                <a:solidFill>
                  <a:srgbClr val="C2132D"/>
                </a:solidFill>
              </a:rPr>
              <a:t> </a:t>
            </a:r>
            <a:r>
              <a:rPr dirty="0" sz="3350" spc="25">
                <a:solidFill>
                  <a:srgbClr val="C2132D"/>
                </a:solidFill>
              </a:rPr>
              <a:t>Lags?</a:t>
            </a:r>
            <a:endParaRPr sz="3350"/>
          </a:p>
        </p:txBody>
      </p:sp>
      <p:sp>
        <p:nvSpPr>
          <p:cNvPr id="3" name="object 3"/>
          <p:cNvSpPr txBox="1"/>
          <p:nvPr/>
        </p:nvSpPr>
        <p:spPr>
          <a:xfrm>
            <a:off x="901700" y="1425575"/>
            <a:ext cx="9444355" cy="29972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800" spc="-75">
                <a:solidFill>
                  <a:srgbClr val="585D60"/>
                </a:solidFill>
                <a:latin typeface="Arial"/>
                <a:cs typeface="Arial"/>
              </a:rPr>
              <a:t>Even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5">
                <a:solidFill>
                  <a:srgbClr val="585D60"/>
                </a:solidFill>
                <a:latin typeface="Arial"/>
                <a:cs typeface="Arial"/>
              </a:rPr>
              <a:t>though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40" b="1">
                <a:solidFill>
                  <a:srgbClr val="C2132D"/>
                </a:solidFill>
                <a:latin typeface="Trebuchet MS"/>
                <a:cs typeface="Trebuchet MS"/>
              </a:rPr>
              <a:t>autocorrelations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30" b="1">
                <a:solidFill>
                  <a:srgbClr val="C2132D"/>
                </a:solidFill>
                <a:latin typeface="Trebuchet MS"/>
                <a:cs typeface="Trebuchet MS"/>
              </a:rPr>
              <a:t>shrink</a:t>
            </a:r>
            <a:r>
              <a:rPr dirty="0" sz="1800" spc="-8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55" b="1">
                <a:solidFill>
                  <a:srgbClr val="C2132D"/>
                </a:solidFill>
                <a:latin typeface="Trebuchet MS"/>
                <a:cs typeface="Trebuchet MS"/>
              </a:rPr>
              <a:t>at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40" b="1">
                <a:solidFill>
                  <a:srgbClr val="C2132D"/>
                </a:solidFill>
                <a:latin typeface="Trebuchet MS"/>
                <a:cs typeface="Trebuchet MS"/>
              </a:rPr>
              <a:t>higher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15" b="1">
                <a:solidFill>
                  <a:srgbClr val="C2132D"/>
                </a:solidFill>
                <a:latin typeface="Trebuchet MS"/>
                <a:cs typeface="Trebuchet MS"/>
              </a:rPr>
              <a:t>lags</a:t>
            </a:r>
            <a:r>
              <a:rPr dirty="0" sz="1800" spc="15">
                <a:solidFill>
                  <a:srgbClr val="585D60"/>
                </a:solidFill>
                <a:latin typeface="Arial"/>
                <a:cs typeface="Arial"/>
              </a:rPr>
              <a:t>,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the</a:t>
            </a:r>
            <a:r>
              <a:rPr dirty="0" sz="1800" spc="-4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confidence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intervals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45">
                <a:solidFill>
                  <a:srgbClr val="585D60"/>
                </a:solidFill>
                <a:latin typeface="Arial"/>
                <a:cs typeface="Arial"/>
              </a:rPr>
              <a:t>still</a:t>
            </a:r>
            <a:r>
              <a:rPr dirty="0" sz="1800" spc="-4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585D60"/>
                </a:solidFill>
                <a:latin typeface="Arial"/>
                <a:cs typeface="Arial"/>
              </a:rPr>
              <a:t>widen.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10" b="1">
                <a:latin typeface="Trebuchet MS"/>
                <a:cs typeface="Trebuchet MS"/>
              </a:rPr>
              <a:t>Why?</a:t>
            </a:r>
            <a:endParaRPr sz="1800">
              <a:latin typeface="Trebuchet MS"/>
              <a:cs typeface="Trebuchet M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734173" y="2364420"/>
            <a:ext cx="109855" cy="201930"/>
          </a:xfrm>
          <a:prstGeom prst="rect">
            <a:avLst/>
          </a:prstGeom>
        </p:spPr>
        <p:txBody>
          <a:bodyPr wrap="square" lIns="0" tIns="1333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dirty="0" sz="1150" spc="85" i="1">
                <a:solidFill>
                  <a:srgbClr val="585D60"/>
                </a:solidFill>
                <a:latin typeface="Arial"/>
                <a:cs typeface="Arial"/>
              </a:rPr>
              <a:t>k</a:t>
            </a:r>
            <a:endParaRPr sz="115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4226966" y="2204720"/>
            <a:ext cx="958850" cy="31369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900" spc="-165">
                <a:solidFill>
                  <a:srgbClr val="585D60"/>
                </a:solidFill>
                <a:latin typeface="Lucida Sans Unicode"/>
                <a:cs typeface="Lucida Sans Unicode"/>
              </a:rPr>
              <a:t>SE(</a:t>
            </a:r>
            <a:r>
              <a:rPr dirty="0" sz="1600" spc="-165" i="1">
                <a:solidFill>
                  <a:srgbClr val="585D60"/>
                </a:solidFill>
                <a:latin typeface="Arial"/>
                <a:cs typeface="Arial"/>
              </a:rPr>
              <a:t>ρ</a:t>
            </a:r>
            <a:r>
              <a:rPr dirty="0" sz="1900" spc="-165">
                <a:solidFill>
                  <a:srgbClr val="585D60"/>
                </a:solidFill>
                <a:latin typeface="Lucida Sans Unicode"/>
                <a:cs typeface="Lucida Sans Unicode"/>
              </a:rPr>
              <a:t>^ </a:t>
            </a:r>
            <a:r>
              <a:rPr dirty="0" sz="1900" spc="80">
                <a:solidFill>
                  <a:srgbClr val="585D60"/>
                </a:solidFill>
                <a:latin typeface="Lucida Sans Unicode"/>
                <a:cs typeface="Lucida Sans Unicode"/>
              </a:rPr>
              <a:t>)</a:t>
            </a:r>
            <a:r>
              <a:rPr dirty="0" sz="1900" spc="-295">
                <a:solidFill>
                  <a:srgbClr val="585D60"/>
                </a:solidFill>
                <a:latin typeface="Lucida Sans Unicode"/>
                <a:cs typeface="Lucida Sans Unicode"/>
              </a:rPr>
              <a:t> </a:t>
            </a:r>
            <a:r>
              <a:rPr dirty="0" sz="1900" spc="-110">
                <a:solidFill>
                  <a:srgbClr val="585D60"/>
                </a:solidFill>
                <a:latin typeface="Lucida Sans Unicode"/>
                <a:cs typeface="Lucida Sans Unicode"/>
              </a:rPr>
              <a:t>≈</a:t>
            </a:r>
            <a:endParaRPr sz="1900">
              <a:latin typeface="Lucida Sans Unicode"/>
              <a:cs typeface="Lucida Sans Unicode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223966" y="1444853"/>
            <a:ext cx="254635" cy="84836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5400" spc="-4420">
                <a:solidFill>
                  <a:srgbClr val="585D60"/>
                </a:solidFill>
                <a:latin typeface="Cambria"/>
                <a:cs typeface="Cambria"/>
              </a:rPr>
              <a:t></a:t>
            </a:r>
            <a:endParaRPr sz="5400">
              <a:latin typeface="Cambria"/>
              <a:cs typeface="Cambria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5223966" y="1711553"/>
            <a:ext cx="267335" cy="84836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5400" spc="-2515">
                <a:solidFill>
                  <a:srgbClr val="585D60"/>
                </a:solidFill>
                <a:latin typeface="Cambria"/>
                <a:cs typeface="Cambria"/>
              </a:rPr>
              <a:t></a:t>
            </a:r>
            <a:endParaRPr sz="5400">
              <a:latin typeface="Cambria"/>
              <a:cs typeface="Cambria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5476874" y="2009775"/>
            <a:ext cx="1809750" cy="0"/>
          </a:xfrm>
          <a:custGeom>
            <a:avLst/>
            <a:gdLst/>
            <a:ahLst/>
            <a:cxnLst/>
            <a:rect l="l" t="t" r="r" b="b"/>
            <a:pathLst>
              <a:path w="1809750" h="0">
                <a:moveTo>
                  <a:pt x="0" y="0"/>
                </a:moveTo>
                <a:lnTo>
                  <a:pt x="1809749" y="0"/>
                </a:lnTo>
              </a:path>
            </a:pathLst>
          </a:custGeom>
          <a:ln w="19049">
            <a:solidFill>
              <a:srgbClr val="585D6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9" name="object 9"/>
          <p:cNvSpPr txBox="1"/>
          <p:nvPr/>
        </p:nvSpPr>
        <p:spPr>
          <a:xfrm>
            <a:off x="6515645" y="2008428"/>
            <a:ext cx="316230" cy="22923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1150" spc="85" i="1">
                <a:solidFill>
                  <a:srgbClr val="585D60"/>
                </a:solidFill>
                <a:latin typeface="Arial"/>
                <a:cs typeface="Arial"/>
              </a:rPr>
              <a:t>k</a:t>
            </a:r>
            <a:r>
              <a:rPr dirty="0" sz="1300" spc="-45">
                <a:solidFill>
                  <a:srgbClr val="585D60"/>
                </a:solidFill>
                <a:latin typeface="Lucida Sans Unicode"/>
                <a:cs typeface="Lucida Sans Unicode"/>
              </a:rPr>
              <a:t>−</a:t>
            </a:r>
            <a:r>
              <a:rPr dirty="0" sz="1300" spc="-190">
                <a:solidFill>
                  <a:srgbClr val="585D60"/>
                </a:solidFill>
                <a:latin typeface="Lucida Sans Unicode"/>
                <a:cs typeface="Lucida Sans Unicode"/>
              </a:rPr>
              <a:t>1</a:t>
            </a:r>
            <a:endParaRPr sz="1300">
              <a:latin typeface="Lucida Sans Unicode"/>
              <a:cs typeface="Lucida Sans Unicode"/>
            </a:endParaRPr>
          </a:p>
        </p:txBody>
      </p:sp>
      <p:sp>
        <p:nvSpPr>
          <p:cNvPr id="23" name="object 23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1270" rIns="0" bIns="0" rtlCol="0" vert="horz">
            <a:spAutoFit/>
          </a:bodyPr>
          <a:lstStyle/>
          <a:p>
            <a:pPr marL="38100">
              <a:lnSpc>
                <a:spcPct val="100000"/>
              </a:lnSpc>
              <a:spcBef>
                <a:spcPts val="10"/>
              </a:spcBef>
            </a:pPr>
            <a:fld id="{81D60167-4931-47E6-BA6A-407CBD079E47}" type="slidenum">
              <a:rPr dirty="0" spc="5"/>
              <a:t>11</a:t>
            </a:fld>
            <a:r>
              <a:rPr dirty="0" spc="5"/>
              <a:t> </a:t>
            </a:r>
            <a:r>
              <a:rPr dirty="0" spc="160"/>
              <a:t>/</a:t>
            </a:r>
            <a:r>
              <a:rPr dirty="0" spc="-165"/>
              <a:t> </a:t>
            </a:r>
            <a:r>
              <a:rPr dirty="0" spc="5"/>
              <a:t>33</a:t>
            </a:r>
          </a:p>
        </p:txBody>
      </p:sp>
      <p:sp>
        <p:nvSpPr>
          <p:cNvPr id="10" name="object 10"/>
          <p:cNvSpPr txBox="1"/>
          <p:nvPr/>
        </p:nvSpPr>
        <p:spPr>
          <a:xfrm>
            <a:off x="6524426" y="2541828"/>
            <a:ext cx="299085" cy="22923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1150" spc="265" i="1">
                <a:solidFill>
                  <a:srgbClr val="585D60"/>
                </a:solidFill>
                <a:latin typeface="Arial"/>
                <a:cs typeface="Arial"/>
              </a:rPr>
              <a:t>j</a:t>
            </a:r>
            <a:r>
              <a:rPr dirty="0" sz="1300" spc="-45">
                <a:solidFill>
                  <a:srgbClr val="585D60"/>
                </a:solidFill>
                <a:latin typeface="Lucida Sans Unicode"/>
                <a:cs typeface="Lucida Sans Unicode"/>
              </a:rPr>
              <a:t>=</a:t>
            </a:r>
            <a:r>
              <a:rPr dirty="0" sz="1300" spc="-190">
                <a:solidFill>
                  <a:srgbClr val="585D60"/>
                </a:solidFill>
                <a:latin typeface="Lucida Sans Unicode"/>
                <a:cs typeface="Lucida Sans Unicode"/>
              </a:rPr>
              <a:t>1</a:t>
            </a:r>
            <a:endParaRPr sz="1300">
              <a:latin typeface="Lucida Sans Unicode"/>
              <a:cs typeface="Lucida Sans Unicode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6999485" y="2170353"/>
            <a:ext cx="106680" cy="22923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1300" spc="-190">
                <a:solidFill>
                  <a:srgbClr val="585D60"/>
                </a:solidFill>
                <a:latin typeface="Lucida Sans Unicode"/>
                <a:cs typeface="Lucida Sans Unicode"/>
              </a:rPr>
              <a:t>2</a:t>
            </a:r>
            <a:endParaRPr sz="1300">
              <a:latin typeface="Lucida Sans Unicode"/>
              <a:cs typeface="Lucida Sans Unicode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6999485" y="2364420"/>
            <a:ext cx="92075" cy="201930"/>
          </a:xfrm>
          <a:prstGeom prst="rect">
            <a:avLst/>
          </a:prstGeom>
        </p:spPr>
        <p:txBody>
          <a:bodyPr wrap="square" lIns="0" tIns="1333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dirty="0" sz="1150" spc="265" i="1">
                <a:solidFill>
                  <a:srgbClr val="585D60"/>
                </a:solidFill>
                <a:latin typeface="Arial"/>
                <a:cs typeface="Arial"/>
              </a:rPr>
              <a:t>j</a:t>
            </a:r>
            <a:endParaRPr sz="1150">
              <a:latin typeface="Arial"/>
              <a:cs typeface="Arial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5768974" y="1759178"/>
            <a:ext cx="1529715" cy="84836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5400" spc="-640">
                <a:solidFill>
                  <a:srgbClr val="585D60"/>
                </a:solidFill>
                <a:latin typeface="Cambria"/>
                <a:cs typeface="Cambria"/>
              </a:rPr>
              <a:t>(</a:t>
            </a:r>
            <a:r>
              <a:rPr dirty="0" sz="1900" spc="-305">
                <a:solidFill>
                  <a:srgbClr val="585D60"/>
                </a:solidFill>
                <a:latin typeface="Lucida Sans Unicode"/>
                <a:cs typeface="Lucida Sans Unicode"/>
              </a:rPr>
              <a:t>1</a:t>
            </a:r>
            <a:r>
              <a:rPr dirty="0" sz="1900" spc="-204">
                <a:solidFill>
                  <a:srgbClr val="585D60"/>
                </a:solidFill>
                <a:latin typeface="Lucida Sans Unicode"/>
                <a:cs typeface="Lucida Sans Unicode"/>
              </a:rPr>
              <a:t> </a:t>
            </a:r>
            <a:r>
              <a:rPr dirty="0" sz="1900" spc="-110">
                <a:solidFill>
                  <a:srgbClr val="585D60"/>
                </a:solidFill>
                <a:latin typeface="Lucida Sans Unicode"/>
                <a:cs typeface="Lucida Sans Unicode"/>
              </a:rPr>
              <a:t>+</a:t>
            </a:r>
            <a:r>
              <a:rPr dirty="0" sz="1900" spc="-204">
                <a:solidFill>
                  <a:srgbClr val="585D60"/>
                </a:solidFill>
                <a:latin typeface="Lucida Sans Unicode"/>
                <a:cs typeface="Lucida Sans Unicode"/>
              </a:rPr>
              <a:t> </a:t>
            </a:r>
            <a:r>
              <a:rPr dirty="0" sz="1900" spc="-305">
                <a:solidFill>
                  <a:srgbClr val="585D60"/>
                </a:solidFill>
                <a:latin typeface="Lucida Sans Unicode"/>
                <a:cs typeface="Lucida Sans Unicode"/>
              </a:rPr>
              <a:t>2</a:t>
            </a:r>
            <a:r>
              <a:rPr dirty="0" sz="1900" spc="-305">
                <a:solidFill>
                  <a:srgbClr val="585D60"/>
                </a:solidFill>
                <a:latin typeface="Lucida Sans Unicode"/>
                <a:cs typeface="Lucida Sans Unicode"/>
              </a:rPr>
              <a:t> </a:t>
            </a:r>
            <a:r>
              <a:rPr dirty="0" sz="2500" spc="815">
                <a:solidFill>
                  <a:srgbClr val="585D60"/>
                </a:solidFill>
                <a:latin typeface="Arial"/>
                <a:cs typeface="Arial"/>
              </a:rPr>
              <a:t>∑</a:t>
            </a:r>
            <a:r>
              <a:rPr dirty="0" sz="2500" spc="-39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600" spc="-760" i="1">
                <a:solidFill>
                  <a:srgbClr val="585D60"/>
                </a:solidFill>
                <a:latin typeface="Arial"/>
                <a:cs typeface="Arial"/>
              </a:rPr>
              <a:t>ρ</a:t>
            </a:r>
            <a:r>
              <a:rPr dirty="0" sz="1900" spc="-305">
                <a:solidFill>
                  <a:srgbClr val="585D60"/>
                </a:solidFill>
                <a:latin typeface="Lucida Sans Unicode"/>
                <a:cs typeface="Lucida Sans Unicode"/>
              </a:rPr>
              <a:t>^</a:t>
            </a:r>
            <a:r>
              <a:rPr dirty="0" sz="1900" spc="125">
                <a:solidFill>
                  <a:srgbClr val="585D60"/>
                </a:solidFill>
                <a:latin typeface="Lucida Sans Unicode"/>
                <a:cs typeface="Lucida Sans Unicode"/>
              </a:rPr>
              <a:t> </a:t>
            </a:r>
            <a:r>
              <a:rPr dirty="0" sz="5400" spc="-640">
                <a:solidFill>
                  <a:srgbClr val="585D60"/>
                </a:solidFill>
                <a:latin typeface="Cambria"/>
                <a:cs typeface="Cambria"/>
              </a:rPr>
              <a:t>)</a:t>
            </a:r>
            <a:endParaRPr sz="5400">
              <a:latin typeface="Cambria"/>
              <a:cs typeface="Cambria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5492749" y="2052320"/>
            <a:ext cx="273050" cy="31369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u="sng" sz="1800" spc="75">
                <a:solidFill>
                  <a:srgbClr val="585D60"/>
                </a:solidFill>
                <a:uFill>
                  <a:solidFill>
                    <a:srgbClr val="585D60"/>
                  </a:solidFill>
                </a:uFill>
                <a:latin typeface="Times New Roman"/>
                <a:cs typeface="Times New Roman"/>
              </a:rPr>
              <a:t> </a:t>
            </a:r>
            <a:r>
              <a:rPr dirty="0" u="sng" sz="1900" spc="-305">
                <a:solidFill>
                  <a:srgbClr val="585D60"/>
                </a:solidFill>
                <a:uFill>
                  <a:solidFill>
                    <a:srgbClr val="585D60"/>
                  </a:solidFill>
                </a:uFill>
                <a:latin typeface="Lucida Sans Unicode"/>
                <a:cs typeface="Lucida Sans Unicode"/>
              </a:rPr>
              <a:t>1</a:t>
            </a:r>
            <a:r>
              <a:rPr dirty="0" u="sng" sz="1900" spc="-85">
                <a:solidFill>
                  <a:srgbClr val="585D60"/>
                </a:solidFill>
                <a:uFill>
                  <a:solidFill>
                    <a:srgbClr val="585D60"/>
                  </a:solidFill>
                </a:uFill>
                <a:latin typeface="Lucida Sans Unicode"/>
                <a:cs typeface="Lucida Sans Unicode"/>
              </a:rPr>
              <a:t> </a:t>
            </a:r>
            <a:endParaRPr sz="1900">
              <a:latin typeface="Lucida Sans Unicode"/>
              <a:cs typeface="Lucida Sans Unicode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5223966" y="1921103"/>
            <a:ext cx="501015" cy="84836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5400" spc="-1180">
                <a:solidFill>
                  <a:srgbClr val="585D60"/>
                </a:solidFill>
                <a:latin typeface="Cambria"/>
                <a:cs typeface="Cambria"/>
              </a:rPr>
              <a:t>⎷</a:t>
            </a:r>
            <a:r>
              <a:rPr dirty="0" sz="1600" spc="285" i="1">
                <a:solidFill>
                  <a:srgbClr val="585D60"/>
                </a:solidFill>
                <a:latin typeface="Arial"/>
                <a:cs typeface="Arial"/>
              </a:rPr>
              <a:t>N</a:t>
            </a:r>
            <a:endParaRPr sz="1600">
              <a:latin typeface="Arial"/>
              <a:cs typeface="Arial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3650853" y="3627678"/>
            <a:ext cx="286385" cy="22923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1150" spc="-80" i="1">
                <a:solidFill>
                  <a:srgbClr val="585D60"/>
                </a:solidFill>
                <a:latin typeface="Arial"/>
                <a:cs typeface="Arial"/>
              </a:rPr>
              <a:t>j</a:t>
            </a:r>
            <a:r>
              <a:rPr dirty="0" sz="1300" spc="-80">
                <a:solidFill>
                  <a:srgbClr val="585D60"/>
                </a:solidFill>
                <a:latin typeface="Lucida Sans Unicode"/>
                <a:cs typeface="Lucida Sans Unicode"/>
              </a:rPr>
              <a:t>=1</a:t>
            </a:r>
            <a:endParaRPr sz="1300">
              <a:latin typeface="Lucida Sans Unicode"/>
              <a:cs typeface="Lucida Sans Unicode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876300" y="3481069"/>
            <a:ext cx="3382010" cy="31369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38100">
              <a:lnSpc>
                <a:spcPct val="100000"/>
              </a:lnSpc>
              <a:spcBef>
                <a:spcPts val="90"/>
              </a:spcBef>
              <a:tabLst>
                <a:tab pos="1999614" algn="l"/>
              </a:tabLst>
            </a:pPr>
            <a:r>
              <a:rPr dirty="0" sz="1800" spc="-35" b="1">
                <a:solidFill>
                  <a:srgbClr val="C2132D"/>
                </a:solidFill>
                <a:latin typeface="Trebuchet MS"/>
                <a:cs typeface="Trebuchet MS"/>
              </a:rPr>
              <a:t>Larger </a:t>
            </a:r>
            <a:r>
              <a:rPr dirty="0" sz="1800" spc="55" b="1">
                <a:solidFill>
                  <a:srgbClr val="C2132D"/>
                </a:solidFill>
                <a:latin typeface="Trebuchet MS"/>
                <a:cs typeface="Trebuchet MS"/>
              </a:rPr>
              <a:t>lags</a:t>
            </a:r>
            <a:r>
              <a:rPr dirty="0" sz="1800" spc="-15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950" spc="1825">
                <a:solidFill>
                  <a:srgbClr val="585D60"/>
                </a:solidFill>
                <a:latin typeface="Cambria"/>
                <a:cs typeface="Cambria"/>
              </a:rPr>
              <a:t>⟶</a:t>
            </a:r>
            <a:r>
              <a:rPr dirty="0" sz="950" spc="240">
                <a:solidFill>
                  <a:srgbClr val="585D60"/>
                </a:solidFill>
                <a:latin typeface="Cambria"/>
                <a:cs typeface="Cambria"/>
              </a:rPr>
              <a:t> </a:t>
            </a:r>
            <a:r>
              <a:rPr dirty="0" sz="1900" spc="80">
                <a:solidFill>
                  <a:srgbClr val="585D60"/>
                </a:solidFill>
                <a:latin typeface="Lucida Sans Unicode"/>
                <a:cs typeface="Lucida Sans Unicode"/>
              </a:rPr>
              <a:t>(	</a:t>
            </a:r>
            <a:r>
              <a:rPr dirty="0" sz="1900" spc="-305">
                <a:solidFill>
                  <a:srgbClr val="585D60"/>
                </a:solidFill>
                <a:latin typeface="Lucida Sans Unicode"/>
                <a:cs typeface="Lucida Sans Unicode"/>
              </a:rPr>
              <a:t>1 </a:t>
            </a:r>
            <a:r>
              <a:rPr dirty="0" sz="1900" spc="-110">
                <a:solidFill>
                  <a:srgbClr val="585D60"/>
                </a:solidFill>
                <a:latin typeface="Lucida Sans Unicode"/>
                <a:cs typeface="Lucida Sans Unicode"/>
              </a:rPr>
              <a:t>+ </a:t>
            </a:r>
            <a:r>
              <a:rPr dirty="0" sz="1900" spc="-305">
                <a:solidFill>
                  <a:srgbClr val="585D60"/>
                </a:solidFill>
                <a:latin typeface="Lucida Sans Unicode"/>
                <a:cs typeface="Lucida Sans Unicode"/>
              </a:rPr>
              <a:t>2 </a:t>
            </a:r>
            <a:r>
              <a:rPr dirty="0" sz="1800" spc="114">
                <a:solidFill>
                  <a:srgbClr val="585D60"/>
                </a:solidFill>
                <a:latin typeface="Arial"/>
                <a:cs typeface="Arial"/>
              </a:rPr>
              <a:t>∑</a:t>
            </a:r>
            <a:r>
              <a:rPr dirty="0" baseline="43478" sz="1725" spc="172" i="1">
                <a:solidFill>
                  <a:srgbClr val="585D60"/>
                </a:solidFill>
                <a:latin typeface="Arial"/>
                <a:cs typeface="Arial"/>
              </a:rPr>
              <a:t>k</a:t>
            </a:r>
            <a:r>
              <a:rPr dirty="0" baseline="38461" sz="1950" spc="172">
                <a:solidFill>
                  <a:srgbClr val="585D60"/>
                </a:solidFill>
                <a:latin typeface="Lucida Sans Unicode"/>
                <a:cs typeface="Lucida Sans Unicode"/>
              </a:rPr>
              <a:t>−1</a:t>
            </a:r>
            <a:r>
              <a:rPr dirty="0" baseline="38461" sz="1950" spc="-127">
                <a:solidFill>
                  <a:srgbClr val="585D60"/>
                </a:solidFill>
                <a:latin typeface="Lucida Sans Unicode"/>
                <a:cs typeface="Lucida Sans Unicode"/>
              </a:rPr>
              <a:t> </a:t>
            </a:r>
            <a:r>
              <a:rPr dirty="0" sz="1600" spc="-415" i="1">
                <a:solidFill>
                  <a:srgbClr val="585D60"/>
                </a:solidFill>
                <a:latin typeface="Arial"/>
                <a:cs typeface="Arial"/>
              </a:rPr>
              <a:t>ρ</a:t>
            </a:r>
            <a:r>
              <a:rPr dirty="0" sz="1900" spc="-415">
                <a:solidFill>
                  <a:srgbClr val="585D60"/>
                </a:solidFill>
                <a:latin typeface="Lucida Sans Unicode"/>
                <a:cs typeface="Lucida Sans Unicode"/>
              </a:rPr>
              <a:t>^</a:t>
            </a:r>
            <a:r>
              <a:rPr dirty="0" baseline="34188" sz="1950" spc="-622">
                <a:solidFill>
                  <a:srgbClr val="585D60"/>
                </a:solidFill>
                <a:latin typeface="Lucida Sans Unicode"/>
                <a:cs typeface="Lucida Sans Unicode"/>
              </a:rPr>
              <a:t>2</a:t>
            </a:r>
            <a:endParaRPr baseline="34188" sz="1950">
              <a:latin typeface="Lucida Sans Unicode"/>
              <a:cs typeface="Lucida Sans Unicode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4126507" y="3640769"/>
            <a:ext cx="92075" cy="201930"/>
          </a:xfrm>
          <a:prstGeom prst="rect">
            <a:avLst/>
          </a:prstGeom>
        </p:spPr>
        <p:txBody>
          <a:bodyPr wrap="square" lIns="0" tIns="1333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dirty="0" sz="1150" spc="265" i="1">
                <a:solidFill>
                  <a:srgbClr val="585D60"/>
                </a:solidFill>
                <a:latin typeface="Arial"/>
                <a:cs typeface="Arial"/>
              </a:rPr>
              <a:t>j</a:t>
            </a:r>
            <a:endParaRPr sz="1150">
              <a:latin typeface="Arial"/>
              <a:cs typeface="Arial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2868761" y="3254603"/>
            <a:ext cx="1356995" cy="84836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5400" spc="-4300">
                <a:solidFill>
                  <a:srgbClr val="585D60"/>
                </a:solidFill>
                <a:latin typeface="Cambria"/>
                <a:cs typeface="Cambria"/>
              </a:rPr>
              <a:t></a:t>
            </a:r>
            <a:r>
              <a:rPr dirty="0" sz="5400" spc="-4515">
                <a:solidFill>
                  <a:srgbClr val="585D60"/>
                </a:solidFill>
                <a:latin typeface="Cambria"/>
                <a:cs typeface="Cambria"/>
              </a:rPr>
              <a:t></a:t>
            </a:r>
            <a:r>
              <a:rPr dirty="0" sz="5400" spc="-4335">
                <a:solidFill>
                  <a:srgbClr val="585D60"/>
                </a:solidFill>
                <a:latin typeface="Cambria"/>
                <a:cs typeface="Cambria"/>
              </a:rPr>
              <a:t></a:t>
            </a:r>
            <a:r>
              <a:rPr dirty="0" sz="5400" spc="-4170">
                <a:solidFill>
                  <a:srgbClr val="585D60"/>
                </a:solidFill>
                <a:latin typeface="Cambria"/>
                <a:cs typeface="Cambria"/>
              </a:rPr>
              <a:t></a:t>
            </a:r>
            <a:r>
              <a:rPr dirty="0" sz="5400" spc="-4300">
                <a:solidFill>
                  <a:srgbClr val="585D60"/>
                </a:solidFill>
                <a:latin typeface="Cambria"/>
                <a:cs typeface="Cambria"/>
              </a:rPr>
              <a:t></a:t>
            </a:r>
            <a:r>
              <a:rPr dirty="0" sz="5400" spc="-4515">
                <a:solidFill>
                  <a:srgbClr val="585D60"/>
                </a:solidFill>
                <a:latin typeface="Cambria"/>
                <a:cs typeface="Cambria"/>
              </a:rPr>
              <a:t></a:t>
            </a:r>
            <a:r>
              <a:rPr dirty="0" sz="5400" spc="-4335">
                <a:solidFill>
                  <a:srgbClr val="585D60"/>
                </a:solidFill>
                <a:latin typeface="Cambria"/>
                <a:cs typeface="Cambria"/>
              </a:rPr>
              <a:t></a:t>
            </a:r>
            <a:r>
              <a:rPr dirty="0" sz="5400" spc="-4850">
                <a:solidFill>
                  <a:srgbClr val="585D60"/>
                </a:solidFill>
                <a:latin typeface="Cambria"/>
                <a:cs typeface="Cambria"/>
              </a:rPr>
              <a:t></a:t>
            </a:r>
            <a:endParaRPr sz="5400">
              <a:latin typeface="Cambria"/>
              <a:cs typeface="Cambria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2631677" y="3988180"/>
            <a:ext cx="1837055" cy="219710"/>
          </a:xfrm>
          <a:prstGeom prst="rect">
            <a:avLst/>
          </a:prstGeom>
        </p:spPr>
        <p:txBody>
          <a:bodyPr wrap="square" lIns="0" tIns="1524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dirty="0" sz="1250" spc="20">
                <a:latin typeface="Arial"/>
                <a:cs typeface="Arial"/>
              </a:rPr>
              <a:t>Cumulative </a:t>
            </a:r>
            <a:r>
              <a:rPr dirty="0" sz="1250" spc="-35">
                <a:latin typeface="Arial"/>
                <a:cs typeface="Arial"/>
              </a:rPr>
              <a:t>sum</a:t>
            </a:r>
            <a:r>
              <a:rPr dirty="0" sz="1250" spc="-114">
                <a:latin typeface="Arial"/>
                <a:cs typeface="Arial"/>
              </a:rPr>
              <a:t> </a:t>
            </a:r>
            <a:r>
              <a:rPr dirty="0" sz="1250" spc="-55">
                <a:latin typeface="Arial"/>
                <a:cs typeface="Arial"/>
              </a:rPr>
              <a:t>increases</a:t>
            </a:r>
            <a:endParaRPr sz="1250">
              <a:latin typeface="Arial"/>
              <a:cs typeface="Arial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4443214" y="3481069"/>
            <a:ext cx="1677035" cy="31369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900" spc="80">
                <a:solidFill>
                  <a:srgbClr val="585D60"/>
                </a:solidFill>
                <a:latin typeface="Lucida Sans Unicode"/>
                <a:cs typeface="Lucida Sans Unicode"/>
              </a:rPr>
              <a:t>)</a:t>
            </a:r>
            <a:r>
              <a:rPr dirty="0" sz="1900" spc="-180">
                <a:solidFill>
                  <a:srgbClr val="585D60"/>
                </a:solidFill>
                <a:latin typeface="Lucida Sans Unicode"/>
                <a:cs typeface="Lucida Sans Unicode"/>
              </a:rPr>
              <a:t> </a:t>
            </a:r>
            <a:r>
              <a:rPr dirty="0" sz="950" spc="1825">
                <a:solidFill>
                  <a:srgbClr val="585D60"/>
                </a:solidFill>
                <a:latin typeface="Cambria"/>
                <a:cs typeface="Cambria"/>
              </a:rPr>
              <a:t>⟶</a:t>
            </a:r>
            <a:r>
              <a:rPr dirty="0" sz="950" spc="215">
                <a:solidFill>
                  <a:srgbClr val="585D60"/>
                </a:solidFill>
                <a:latin typeface="Cambria"/>
                <a:cs typeface="Cambria"/>
              </a:rPr>
              <a:t> </a:t>
            </a:r>
            <a:r>
              <a:rPr dirty="0" sz="1800" spc="-25" b="1">
                <a:solidFill>
                  <a:srgbClr val="C2132D"/>
                </a:solidFill>
                <a:latin typeface="Trebuchet MS"/>
                <a:cs typeface="Trebuchet MS"/>
              </a:rPr>
              <a:t>Higher</a:t>
            </a:r>
            <a:r>
              <a:rPr dirty="0" sz="1800" spc="-12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50" b="1">
                <a:solidFill>
                  <a:srgbClr val="C2132D"/>
                </a:solidFill>
                <a:latin typeface="Trebuchet MS"/>
                <a:cs typeface="Trebuchet MS"/>
              </a:rPr>
              <a:t>SE</a:t>
            </a:r>
            <a:r>
              <a:rPr dirty="0" sz="1800" spc="50">
                <a:solidFill>
                  <a:srgbClr val="585D60"/>
                </a:solidFill>
                <a:latin typeface="Arial"/>
                <a:cs typeface="Arial"/>
              </a:rPr>
              <a:t>.</a:t>
            </a:r>
            <a:endParaRPr sz="1800">
              <a:latin typeface="Arial"/>
              <a:cs typeface="Arial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863600" y="4321175"/>
            <a:ext cx="7567930" cy="116903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50800">
              <a:lnSpc>
                <a:spcPct val="100000"/>
              </a:lnSpc>
              <a:spcBef>
                <a:spcPts val="100"/>
              </a:spcBef>
            </a:pPr>
            <a:r>
              <a:rPr dirty="0" sz="1800" spc="-85" b="1">
                <a:solidFill>
                  <a:srgbClr val="C2132D"/>
                </a:solidFill>
                <a:latin typeface="Trebuchet MS"/>
                <a:cs typeface="Trebuchet MS"/>
              </a:rPr>
              <a:t>Fewer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35" b="1">
                <a:solidFill>
                  <a:srgbClr val="C2132D"/>
                </a:solidFill>
                <a:latin typeface="Trebuchet MS"/>
                <a:cs typeface="Trebuchet MS"/>
              </a:rPr>
              <a:t>overlapping</a:t>
            </a:r>
            <a:r>
              <a:rPr dirty="0" sz="1800" spc="-8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15" b="1">
                <a:solidFill>
                  <a:srgbClr val="C2132D"/>
                </a:solidFill>
                <a:latin typeface="Trebuchet MS"/>
                <a:cs typeface="Trebuchet MS"/>
              </a:rPr>
              <a:t>observations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30">
                <a:solidFill>
                  <a:srgbClr val="585D60"/>
                </a:solidFill>
                <a:latin typeface="Arial"/>
                <a:cs typeface="Arial"/>
              </a:rPr>
              <a:t>at</a:t>
            </a:r>
            <a:r>
              <a:rPr dirty="0" sz="1800" spc="-4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5">
                <a:solidFill>
                  <a:srgbClr val="585D60"/>
                </a:solidFill>
                <a:latin typeface="Arial"/>
                <a:cs typeface="Arial"/>
              </a:rPr>
              <a:t>higher</a:t>
            </a:r>
            <a:r>
              <a:rPr dirty="0" sz="1800" spc="-4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lags</a:t>
            </a:r>
            <a:r>
              <a:rPr dirty="0" sz="1800" spc="-4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950" spc="1825">
                <a:solidFill>
                  <a:srgbClr val="585D60"/>
                </a:solidFill>
                <a:latin typeface="Cambria"/>
                <a:cs typeface="Cambria"/>
              </a:rPr>
              <a:t>⟶</a:t>
            </a:r>
            <a:r>
              <a:rPr dirty="0" sz="950" spc="245">
                <a:solidFill>
                  <a:srgbClr val="585D60"/>
                </a:solidFill>
                <a:latin typeface="Cambria"/>
                <a:cs typeface="Cambria"/>
              </a:rPr>
              <a:t> </a:t>
            </a:r>
            <a:r>
              <a:rPr dirty="0" sz="1800" spc="-20" b="1">
                <a:solidFill>
                  <a:srgbClr val="C2132D"/>
                </a:solidFill>
                <a:latin typeface="Trebuchet MS"/>
                <a:cs typeface="Trebuchet MS"/>
              </a:rPr>
              <a:t>Increased</a:t>
            </a:r>
            <a:r>
              <a:rPr dirty="0" sz="1800" spc="-8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55" b="1">
                <a:solidFill>
                  <a:srgbClr val="C2132D"/>
                </a:solidFill>
                <a:latin typeface="Trebuchet MS"/>
                <a:cs typeface="Trebuchet MS"/>
              </a:rPr>
              <a:t>uncertainty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.</a:t>
            </a:r>
            <a:endParaRPr sz="1800">
              <a:latin typeface="Arial"/>
              <a:cs typeface="Arial"/>
            </a:endParaRPr>
          </a:p>
          <a:p>
            <a:pPr>
              <a:lnSpc>
                <a:spcPct val="100000"/>
              </a:lnSpc>
            </a:pPr>
            <a:endParaRPr sz="21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0"/>
              </a:spcBef>
            </a:pPr>
            <a:endParaRPr sz="1850">
              <a:latin typeface="Arial"/>
              <a:cs typeface="Arial"/>
            </a:endParaRPr>
          </a:p>
          <a:p>
            <a:pPr marL="50800">
              <a:lnSpc>
                <a:spcPct val="100000"/>
              </a:lnSpc>
            </a:pPr>
            <a:r>
              <a:rPr dirty="0" sz="1800" spc="-35" b="1">
                <a:solidFill>
                  <a:srgbClr val="C2132D"/>
                </a:solidFill>
                <a:latin typeface="Trebuchet MS"/>
                <a:cs typeface="Trebuchet MS"/>
              </a:rPr>
              <a:t>Result:</a:t>
            </a:r>
            <a:r>
              <a:rPr dirty="0" sz="1800" spc="-10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10">
                <a:solidFill>
                  <a:srgbClr val="585D60"/>
                </a:solidFill>
                <a:latin typeface="Arial"/>
                <a:cs typeface="Arial"/>
              </a:rPr>
              <a:t>Confidence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intervals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60" b="1">
                <a:solidFill>
                  <a:srgbClr val="C2132D"/>
                </a:solidFill>
                <a:latin typeface="Trebuchet MS"/>
                <a:cs typeface="Trebuchet MS"/>
              </a:rPr>
              <a:t>widen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55" b="1">
                <a:solidFill>
                  <a:srgbClr val="C2132D"/>
                </a:solidFill>
                <a:latin typeface="Trebuchet MS"/>
                <a:cs typeface="Trebuchet MS"/>
              </a:rPr>
              <a:t>at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40" b="1">
                <a:solidFill>
                  <a:srgbClr val="C2132D"/>
                </a:solidFill>
                <a:latin typeface="Trebuchet MS"/>
                <a:cs typeface="Trebuchet MS"/>
              </a:rPr>
              <a:t>larger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15" b="1">
                <a:solidFill>
                  <a:srgbClr val="C2132D"/>
                </a:solidFill>
                <a:latin typeface="Trebuchet MS"/>
                <a:cs typeface="Trebuchet MS"/>
              </a:rPr>
              <a:t>lags</a:t>
            </a:r>
            <a:r>
              <a:rPr dirty="0" sz="1800" spc="15">
                <a:solidFill>
                  <a:srgbClr val="585D60"/>
                </a:solidFill>
                <a:latin typeface="Arial"/>
                <a:cs typeface="Arial"/>
              </a:rPr>
              <a:t>,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40">
                <a:solidFill>
                  <a:srgbClr val="585D60"/>
                </a:solidFill>
                <a:latin typeface="Arial"/>
                <a:cs typeface="Arial"/>
              </a:rPr>
              <a:t>even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80">
                <a:solidFill>
                  <a:srgbClr val="585D60"/>
                </a:solidFill>
                <a:latin typeface="Arial"/>
                <a:cs typeface="Arial"/>
              </a:rPr>
              <a:t>if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600" spc="-325" i="1">
                <a:solidFill>
                  <a:srgbClr val="585D60"/>
                </a:solidFill>
                <a:latin typeface="Arial"/>
                <a:cs typeface="Arial"/>
              </a:rPr>
              <a:t>ρ</a:t>
            </a:r>
            <a:r>
              <a:rPr dirty="0" baseline="1461" sz="2850" spc="-487">
                <a:solidFill>
                  <a:srgbClr val="585D60"/>
                </a:solidFill>
                <a:latin typeface="Lucida Sans Unicode"/>
                <a:cs typeface="Lucida Sans Unicode"/>
              </a:rPr>
              <a:t>^</a:t>
            </a:r>
            <a:r>
              <a:rPr dirty="0" baseline="-26570" sz="1725" spc="-487" i="1">
                <a:solidFill>
                  <a:srgbClr val="585D60"/>
                </a:solidFill>
                <a:latin typeface="Arial"/>
                <a:cs typeface="Arial"/>
              </a:rPr>
              <a:t>k</a:t>
            </a:r>
            <a:r>
              <a:rPr dirty="0" baseline="-26570" sz="1725" spc="322" i="1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30">
                <a:solidFill>
                  <a:srgbClr val="585D60"/>
                </a:solidFill>
                <a:latin typeface="Arial"/>
                <a:cs typeface="Arial"/>
              </a:rPr>
              <a:t>is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20">
                <a:solidFill>
                  <a:srgbClr val="585D60"/>
                </a:solidFill>
                <a:latin typeface="Arial"/>
                <a:cs typeface="Arial"/>
              </a:rPr>
              <a:t>small.</a:t>
            </a:r>
            <a:endParaRPr sz="1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object 11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1270" rIns="0" bIns="0" rtlCol="0" vert="horz">
            <a:spAutoFit/>
          </a:bodyPr>
          <a:lstStyle/>
          <a:p>
            <a:pPr marL="38100">
              <a:lnSpc>
                <a:spcPct val="100000"/>
              </a:lnSpc>
              <a:spcBef>
                <a:spcPts val="10"/>
              </a:spcBef>
            </a:pPr>
            <a:fld id="{81D60167-4931-47E6-BA6A-407CBD079E47}" type="slidenum">
              <a:rPr dirty="0" spc="5"/>
              <a:t>11</a:t>
            </a:fld>
            <a:r>
              <a:rPr dirty="0" spc="5"/>
              <a:t> </a:t>
            </a:r>
            <a:r>
              <a:rPr dirty="0" spc="160"/>
              <a:t>/</a:t>
            </a:r>
            <a:r>
              <a:rPr dirty="0" spc="-165"/>
              <a:t> </a:t>
            </a:r>
            <a:r>
              <a:rPr dirty="0" spc="5"/>
              <a:t>33</a:t>
            </a:r>
          </a:p>
        </p:txBody>
      </p: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01700" y="530225"/>
            <a:ext cx="7887970" cy="539750"/>
          </a:xfrm>
          <a:prstGeom prst="rect"/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3350" spc="-220">
                <a:solidFill>
                  <a:srgbClr val="C2132D"/>
                </a:solidFill>
              </a:rPr>
              <a:t>4. </a:t>
            </a:r>
            <a:r>
              <a:rPr dirty="0" sz="3350" spc="-185">
                <a:solidFill>
                  <a:srgbClr val="C2132D"/>
                </a:solidFill>
              </a:rPr>
              <a:t>Impact </a:t>
            </a:r>
            <a:r>
              <a:rPr dirty="0" sz="3350" spc="-140">
                <a:solidFill>
                  <a:srgbClr val="C2132D"/>
                </a:solidFill>
              </a:rPr>
              <a:t>of </a:t>
            </a:r>
            <a:r>
              <a:rPr dirty="0" sz="3350" spc="-185">
                <a:solidFill>
                  <a:srgbClr val="C2132D"/>
                </a:solidFill>
              </a:rPr>
              <a:t>Differencing </a:t>
            </a:r>
            <a:r>
              <a:rPr dirty="0" sz="3350" spc="-150">
                <a:solidFill>
                  <a:srgbClr val="C2132D"/>
                </a:solidFill>
              </a:rPr>
              <a:t>on </a:t>
            </a:r>
            <a:r>
              <a:rPr dirty="0" sz="3350" spc="-195">
                <a:solidFill>
                  <a:srgbClr val="C2132D"/>
                </a:solidFill>
              </a:rPr>
              <a:t>Confidence</a:t>
            </a:r>
            <a:r>
              <a:rPr dirty="0" sz="3350" spc="-520">
                <a:solidFill>
                  <a:srgbClr val="C2132D"/>
                </a:solidFill>
              </a:rPr>
              <a:t> </a:t>
            </a:r>
            <a:r>
              <a:rPr dirty="0" sz="3350" spc="-140">
                <a:solidFill>
                  <a:srgbClr val="C2132D"/>
                </a:solidFill>
              </a:rPr>
              <a:t>Limits</a:t>
            </a:r>
            <a:endParaRPr sz="3350"/>
          </a:p>
        </p:txBody>
      </p:sp>
      <p:sp>
        <p:nvSpPr>
          <p:cNvPr id="3" name="object 3"/>
          <p:cNvSpPr txBox="1"/>
          <p:nvPr/>
        </p:nvSpPr>
        <p:spPr>
          <a:xfrm>
            <a:off x="1148754" y="4204969"/>
            <a:ext cx="7292340" cy="1758950"/>
          </a:xfrm>
          <a:prstGeom prst="rect">
            <a:avLst/>
          </a:prstGeom>
        </p:spPr>
        <p:txBody>
          <a:bodyPr wrap="square" lIns="0" tIns="167005" rIns="0" bIns="0" rtlCol="0" vert="horz">
            <a:spAutoFit/>
          </a:bodyPr>
          <a:lstStyle/>
          <a:p>
            <a:pPr marL="146050" indent="-133985">
              <a:lnSpc>
                <a:spcPct val="100000"/>
              </a:lnSpc>
              <a:spcBef>
                <a:spcPts val="1315"/>
              </a:spcBef>
              <a:buFont typeface="Trebuchet MS"/>
              <a:buChar char="•"/>
              <a:tabLst>
                <a:tab pos="146685" algn="l"/>
              </a:tabLst>
            </a:pPr>
            <a:r>
              <a:rPr dirty="0" sz="1800" b="1">
                <a:solidFill>
                  <a:srgbClr val="C2132D"/>
                </a:solidFill>
                <a:latin typeface="Trebuchet MS"/>
                <a:cs typeface="Trebuchet MS"/>
              </a:rPr>
              <a:t>Decreases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10" b="1">
                <a:solidFill>
                  <a:srgbClr val="C2132D"/>
                </a:solidFill>
                <a:latin typeface="Trebuchet MS"/>
                <a:cs typeface="Trebuchet MS"/>
              </a:rPr>
              <a:t>SE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,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585D60"/>
                </a:solidFill>
                <a:latin typeface="Arial"/>
                <a:cs typeface="Arial"/>
              </a:rPr>
              <a:t>leading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45">
                <a:solidFill>
                  <a:srgbClr val="585D60"/>
                </a:solidFill>
                <a:latin typeface="Arial"/>
                <a:cs typeface="Arial"/>
              </a:rPr>
              <a:t>to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75" b="1">
                <a:solidFill>
                  <a:srgbClr val="C2132D"/>
                </a:solidFill>
                <a:latin typeface="Trebuchet MS"/>
                <a:cs typeface="Trebuchet MS"/>
              </a:rPr>
              <a:t>narrower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80" b="1">
                <a:solidFill>
                  <a:srgbClr val="C2132D"/>
                </a:solidFill>
                <a:latin typeface="Trebuchet MS"/>
                <a:cs typeface="Trebuchet MS"/>
              </a:rPr>
              <a:t>CIs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compared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45">
                <a:solidFill>
                  <a:srgbClr val="585D60"/>
                </a:solidFill>
                <a:latin typeface="Arial"/>
                <a:cs typeface="Arial"/>
              </a:rPr>
              <a:t>to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the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5">
                <a:solidFill>
                  <a:srgbClr val="585D60"/>
                </a:solidFill>
                <a:latin typeface="Arial"/>
                <a:cs typeface="Arial"/>
              </a:rPr>
              <a:t>original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5">
                <a:solidFill>
                  <a:srgbClr val="585D60"/>
                </a:solidFill>
                <a:latin typeface="Arial"/>
                <a:cs typeface="Arial"/>
              </a:rPr>
              <a:t>series.</a:t>
            </a:r>
            <a:endParaRPr sz="1800">
              <a:latin typeface="Arial"/>
              <a:cs typeface="Arial"/>
            </a:endParaRPr>
          </a:p>
          <a:p>
            <a:pPr marL="146050" indent="-133985">
              <a:lnSpc>
                <a:spcPct val="100000"/>
              </a:lnSpc>
              <a:spcBef>
                <a:spcPts val="1215"/>
              </a:spcBef>
              <a:buClr>
                <a:srgbClr val="C2132D"/>
              </a:buClr>
              <a:buFont typeface="Trebuchet MS"/>
              <a:buChar char="•"/>
              <a:tabLst>
                <a:tab pos="146685" algn="l"/>
              </a:tabLst>
            </a:pPr>
            <a:r>
              <a:rPr dirty="0" sz="1800" spc="-15">
                <a:solidFill>
                  <a:srgbClr val="585D60"/>
                </a:solidFill>
                <a:latin typeface="Arial"/>
                <a:cs typeface="Arial"/>
              </a:rPr>
              <a:t>Explains </a:t>
            </a:r>
            <a:r>
              <a:rPr dirty="0" sz="1800" spc="-70" b="1">
                <a:solidFill>
                  <a:srgbClr val="C2132D"/>
                </a:solidFill>
                <a:latin typeface="Trebuchet MS"/>
                <a:cs typeface="Trebuchet MS"/>
              </a:rPr>
              <a:t>why </a:t>
            </a:r>
            <a:r>
              <a:rPr dirty="0" sz="1700" spc="5">
                <a:solidFill>
                  <a:srgbClr val="C2132D"/>
                </a:solidFill>
                <a:latin typeface="Courier New"/>
                <a:cs typeface="Courier New"/>
              </a:rPr>
              <a:t>plot_acf()</a:t>
            </a:r>
            <a:r>
              <a:rPr dirty="0" sz="1700" spc="-650">
                <a:solidFill>
                  <a:srgbClr val="C2132D"/>
                </a:solidFill>
                <a:latin typeface="Courier New"/>
                <a:cs typeface="Courier New"/>
              </a:rPr>
              <a:t> </a:t>
            </a:r>
            <a:r>
              <a:rPr dirty="0" sz="1800" spc="-5" b="1">
                <a:solidFill>
                  <a:srgbClr val="C2132D"/>
                </a:solidFill>
                <a:latin typeface="Trebuchet MS"/>
                <a:cs typeface="Trebuchet MS"/>
              </a:rPr>
              <a:t>shows:</a:t>
            </a:r>
            <a:endParaRPr sz="1800">
              <a:latin typeface="Trebuchet MS"/>
              <a:cs typeface="Trebuchet MS"/>
            </a:endParaRPr>
          </a:p>
          <a:p>
            <a:pPr lvl="1" marL="527050" indent="-134620">
              <a:lnSpc>
                <a:spcPct val="100000"/>
              </a:lnSpc>
              <a:spcBef>
                <a:spcPts val="1290"/>
              </a:spcBef>
              <a:buClr>
                <a:srgbClr val="C2132D"/>
              </a:buClr>
              <a:buFont typeface="Trebuchet MS"/>
              <a:buChar char="•"/>
              <a:tabLst>
                <a:tab pos="527685" algn="l"/>
              </a:tabLst>
            </a:pPr>
            <a:r>
              <a:rPr dirty="0" sz="1800" spc="-60" b="1">
                <a:latin typeface="Trebuchet MS"/>
                <a:cs typeface="Trebuchet MS"/>
              </a:rPr>
              <a:t>Wider </a:t>
            </a:r>
            <a:r>
              <a:rPr dirty="0" sz="1800" spc="-20" b="1">
                <a:latin typeface="Trebuchet MS"/>
                <a:cs typeface="Trebuchet MS"/>
              </a:rPr>
              <a:t>limits </a:t>
            </a:r>
            <a:r>
              <a:rPr dirty="0" sz="1800" spc="-45" b="1">
                <a:latin typeface="Trebuchet MS"/>
                <a:cs typeface="Trebuchet MS"/>
              </a:rPr>
              <a:t>for </a:t>
            </a:r>
            <a:r>
              <a:rPr dirty="0" sz="1800" b="1">
                <a:latin typeface="Trebuchet MS"/>
                <a:cs typeface="Trebuchet MS"/>
              </a:rPr>
              <a:t>a</a:t>
            </a:r>
            <a:r>
              <a:rPr dirty="0" sz="1800" spc="-400" b="1">
                <a:latin typeface="Trebuchet MS"/>
                <a:cs typeface="Trebuchet MS"/>
              </a:rPr>
              <a:t> </a:t>
            </a:r>
            <a:r>
              <a:rPr dirty="0" sz="1800" spc="-50" b="1">
                <a:latin typeface="Trebuchet MS"/>
                <a:cs typeface="Trebuchet MS"/>
              </a:rPr>
              <a:t>trending </a:t>
            </a:r>
            <a:r>
              <a:rPr dirty="0" sz="1800" spc="-60" b="1">
                <a:latin typeface="Trebuchet MS"/>
                <a:cs typeface="Trebuchet MS"/>
              </a:rPr>
              <a:t>or </a:t>
            </a:r>
            <a:r>
              <a:rPr dirty="0" sz="1800" spc="-30" b="1">
                <a:latin typeface="Trebuchet MS"/>
                <a:cs typeface="Trebuchet MS"/>
              </a:rPr>
              <a:t>non-stationary </a:t>
            </a:r>
            <a:r>
              <a:rPr dirty="0" sz="1800" spc="-20" b="1">
                <a:latin typeface="Trebuchet MS"/>
                <a:cs typeface="Trebuchet MS"/>
              </a:rPr>
              <a:t>series.</a:t>
            </a:r>
            <a:endParaRPr sz="1800">
              <a:latin typeface="Trebuchet MS"/>
              <a:cs typeface="Trebuchet MS"/>
            </a:endParaRPr>
          </a:p>
          <a:p>
            <a:pPr lvl="1" marL="527050" indent="-134620">
              <a:lnSpc>
                <a:spcPct val="100000"/>
              </a:lnSpc>
              <a:spcBef>
                <a:spcPts val="1290"/>
              </a:spcBef>
              <a:buClr>
                <a:srgbClr val="C2132D"/>
              </a:buClr>
              <a:buFont typeface="Trebuchet MS"/>
              <a:buChar char="•"/>
              <a:tabLst>
                <a:tab pos="527685" algn="l"/>
              </a:tabLst>
            </a:pPr>
            <a:r>
              <a:rPr dirty="0" sz="1800" spc="-60" b="1">
                <a:latin typeface="Trebuchet MS"/>
                <a:cs typeface="Trebuchet MS"/>
              </a:rPr>
              <a:t>Narrower </a:t>
            </a:r>
            <a:r>
              <a:rPr dirty="0" sz="1800" spc="-20" b="1">
                <a:latin typeface="Trebuchet MS"/>
                <a:cs typeface="Trebuchet MS"/>
              </a:rPr>
              <a:t>limits </a:t>
            </a:r>
            <a:r>
              <a:rPr dirty="0" sz="1800" spc="-60" b="1">
                <a:latin typeface="Trebuchet MS"/>
                <a:cs typeface="Trebuchet MS"/>
              </a:rPr>
              <a:t>after</a:t>
            </a:r>
            <a:r>
              <a:rPr dirty="0" sz="1800" spc="-210" b="1">
                <a:latin typeface="Trebuchet MS"/>
                <a:cs typeface="Trebuchet MS"/>
              </a:rPr>
              <a:t> </a:t>
            </a:r>
            <a:r>
              <a:rPr dirty="0" sz="1800" spc="-45" b="1">
                <a:latin typeface="Trebuchet MS"/>
                <a:cs typeface="Trebuchet MS"/>
              </a:rPr>
              <a:t>differencing.</a:t>
            </a:r>
            <a:endParaRPr sz="1800">
              <a:latin typeface="Trebuchet MS"/>
              <a:cs typeface="Trebuchet M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876300" y="1425575"/>
            <a:ext cx="7660640" cy="131889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dirty="0" sz="1800" spc="-45">
                <a:solidFill>
                  <a:srgbClr val="585D60"/>
                </a:solidFill>
                <a:latin typeface="Arial"/>
                <a:cs typeface="Arial"/>
              </a:rPr>
              <a:t>When </a:t>
            </a:r>
            <a:r>
              <a:rPr dirty="0" sz="1800" spc="-40" b="1">
                <a:solidFill>
                  <a:srgbClr val="C2132D"/>
                </a:solidFill>
                <a:latin typeface="Trebuchet MS"/>
                <a:cs typeface="Trebuchet MS"/>
              </a:rPr>
              <a:t>differencing </a:t>
            </a:r>
            <a:r>
              <a:rPr dirty="0" sz="1800" spc="-25">
                <a:solidFill>
                  <a:srgbClr val="585D60"/>
                </a:solidFill>
                <a:latin typeface="Arial"/>
                <a:cs typeface="Arial"/>
              </a:rPr>
              <a:t>a </a:t>
            </a:r>
            <a:r>
              <a:rPr dirty="0" sz="1800" spc="35">
                <a:solidFill>
                  <a:srgbClr val="585D60"/>
                </a:solidFill>
                <a:latin typeface="Arial"/>
                <a:cs typeface="Arial"/>
              </a:rPr>
              <a:t>time</a:t>
            </a:r>
            <a:r>
              <a:rPr dirty="0" sz="1800" spc="-1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10">
                <a:solidFill>
                  <a:srgbClr val="585D60"/>
                </a:solidFill>
                <a:latin typeface="Arial"/>
                <a:cs typeface="Arial"/>
              </a:rPr>
              <a:t>series:</a:t>
            </a:r>
            <a:endParaRPr sz="1800">
              <a:latin typeface="Arial"/>
              <a:cs typeface="Arial"/>
            </a:endParaRPr>
          </a:p>
          <a:p>
            <a:pPr marL="4130040">
              <a:lnSpc>
                <a:spcPct val="100000"/>
              </a:lnSpc>
              <a:spcBef>
                <a:spcPts val="1565"/>
              </a:spcBef>
            </a:pPr>
            <a:r>
              <a:rPr dirty="0" sz="1600" spc="55" i="1">
                <a:solidFill>
                  <a:srgbClr val="585D60"/>
                </a:solidFill>
                <a:latin typeface="Arial"/>
                <a:cs typeface="Arial"/>
              </a:rPr>
              <a:t>Y</a:t>
            </a:r>
            <a:r>
              <a:rPr dirty="0" baseline="-14492" sz="1725" spc="82" i="1">
                <a:solidFill>
                  <a:srgbClr val="585D60"/>
                </a:solidFill>
                <a:latin typeface="Arial"/>
                <a:cs typeface="Arial"/>
              </a:rPr>
              <a:t>t </a:t>
            </a:r>
            <a:r>
              <a:rPr dirty="0" sz="1900" spc="-110">
                <a:solidFill>
                  <a:srgbClr val="585D60"/>
                </a:solidFill>
                <a:latin typeface="Lucida Sans Unicode"/>
                <a:cs typeface="Lucida Sans Unicode"/>
              </a:rPr>
              <a:t>= </a:t>
            </a:r>
            <a:r>
              <a:rPr dirty="0" sz="1600" spc="280" i="1">
                <a:solidFill>
                  <a:srgbClr val="585D60"/>
                </a:solidFill>
                <a:latin typeface="Arial"/>
                <a:cs typeface="Arial"/>
              </a:rPr>
              <a:t>X</a:t>
            </a:r>
            <a:r>
              <a:rPr dirty="0" baseline="-14492" sz="1725" spc="419" i="1">
                <a:solidFill>
                  <a:srgbClr val="585D60"/>
                </a:solidFill>
                <a:latin typeface="Arial"/>
                <a:cs typeface="Arial"/>
              </a:rPr>
              <a:t>t </a:t>
            </a:r>
            <a:r>
              <a:rPr dirty="0" sz="1900" spc="-110">
                <a:solidFill>
                  <a:srgbClr val="585D60"/>
                </a:solidFill>
                <a:latin typeface="Lucida Sans Unicode"/>
                <a:cs typeface="Lucida Sans Unicode"/>
              </a:rPr>
              <a:t>−</a:t>
            </a:r>
            <a:r>
              <a:rPr dirty="0" sz="1900" spc="-480">
                <a:solidFill>
                  <a:srgbClr val="585D60"/>
                </a:solidFill>
                <a:latin typeface="Lucida Sans Unicode"/>
                <a:cs typeface="Lucida Sans Unicode"/>
              </a:rPr>
              <a:t> </a:t>
            </a:r>
            <a:r>
              <a:rPr dirty="0" sz="1600" spc="80" i="1">
                <a:solidFill>
                  <a:srgbClr val="585D60"/>
                </a:solidFill>
                <a:latin typeface="Arial"/>
                <a:cs typeface="Arial"/>
              </a:rPr>
              <a:t>X</a:t>
            </a:r>
            <a:r>
              <a:rPr dirty="0" baseline="-14492" sz="1725" spc="120" i="1">
                <a:solidFill>
                  <a:srgbClr val="585D60"/>
                </a:solidFill>
                <a:latin typeface="Arial"/>
                <a:cs typeface="Arial"/>
              </a:rPr>
              <a:t>t</a:t>
            </a:r>
            <a:r>
              <a:rPr dirty="0" baseline="-12820" sz="1950" spc="120">
                <a:solidFill>
                  <a:srgbClr val="585D60"/>
                </a:solidFill>
                <a:latin typeface="Lucida Sans Unicode"/>
                <a:cs typeface="Lucida Sans Unicode"/>
              </a:rPr>
              <a:t>−1</a:t>
            </a:r>
            <a:endParaRPr baseline="-12820" sz="1950">
              <a:latin typeface="Lucida Sans Unicode"/>
              <a:cs typeface="Lucida Sans Unicode"/>
            </a:endParaRPr>
          </a:p>
          <a:p>
            <a:pPr>
              <a:lnSpc>
                <a:spcPct val="100000"/>
              </a:lnSpc>
              <a:spcBef>
                <a:spcPts val="20"/>
              </a:spcBef>
            </a:pPr>
            <a:endParaRPr sz="1300">
              <a:latin typeface="Lucida Sans Unicode"/>
              <a:cs typeface="Lucida Sans Unicode"/>
            </a:endParaRPr>
          </a:p>
          <a:p>
            <a:pPr marL="419100" indent="-133985">
              <a:lnSpc>
                <a:spcPct val="100000"/>
              </a:lnSpc>
              <a:buFont typeface="Trebuchet MS"/>
              <a:buChar char="•"/>
              <a:tabLst>
                <a:tab pos="419100" algn="l"/>
              </a:tabLst>
            </a:pPr>
            <a:r>
              <a:rPr dirty="0" sz="1800" b="1">
                <a:solidFill>
                  <a:srgbClr val="C2132D"/>
                </a:solidFill>
                <a:latin typeface="Trebuchet MS"/>
                <a:cs typeface="Trebuchet MS"/>
              </a:rPr>
              <a:t>Reduces </a:t>
            </a:r>
            <a:r>
              <a:rPr dirty="0" sz="1800" spc="-60" b="1">
                <a:solidFill>
                  <a:srgbClr val="C2132D"/>
                </a:solidFill>
                <a:latin typeface="Trebuchet MS"/>
                <a:cs typeface="Trebuchet MS"/>
              </a:rPr>
              <a:t>autocorrelation</a:t>
            </a:r>
            <a:r>
              <a:rPr dirty="0" sz="1800" spc="-60">
                <a:solidFill>
                  <a:srgbClr val="585D60"/>
                </a:solidFill>
                <a:latin typeface="Arial"/>
                <a:cs typeface="Arial"/>
              </a:rPr>
              <a:t>,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shrinking the </a:t>
            </a:r>
            <a:r>
              <a:rPr dirty="0" sz="1800" spc="-55" b="1">
                <a:solidFill>
                  <a:srgbClr val="C2132D"/>
                </a:solidFill>
                <a:latin typeface="Trebuchet MS"/>
                <a:cs typeface="Trebuchet MS"/>
              </a:rPr>
              <a:t>Bartlett </a:t>
            </a:r>
            <a:r>
              <a:rPr dirty="0" sz="1800" spc="35" b="1">
                <a:solidFill>
                  <a:srgbClr val="C2132D"/>
                </a:solidFill>
                <a:latin typeface="Trebuchet MS"/>
                <a:cs typeface="Trebuchet MS"/>
              </a:rPr>
              <a:t>sum </a:t>
            </a:r>
            <a:r>
              <a:rPr dirty="0" sz="1800" spc="15">
                <a:solidFill>
                  <a:srgbClr val="585D60"/>
                </a:solidFill>
                <a:latin typeface="Arial"/>
                <a:cs typeface="Arial"/>
              </a:rPr>
              <a:t>in</a:t>
            </a:r>
            <a:r>
              <a:rPr dirty="0" sz="1800" spc="-27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155">
                <a:solidFill>
                  <a:srgbClr val="585D60"/>
                </a:solidFill>
                <a:latin typeface="Arial"/>
                <a:cs typeface="Arial"/>
              </a:rPr>
              <a:t>SE </a:t>
            </a:r>
            <a:r>
              <a:rPr dirty="0" sz="1800" spc="20">
                <a:solidFill>
                  <a:srgbClr val="585D60"/>
                </a:solidFill>
                <a:latin typeface="Arial"/>
                <a:cs typeface="Arial"/>
              </a:rPr>
              <a:t>computation:</a:t>
            </a:r>
            <a:endParaRPr sz="18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5473848" y="2951403"/>
            <a:ext cx="316230" cy="22923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1150" spc="85" i="1">
                <a:solidFill>
                  <a:srgbClr val="585D60"/>
                </a:solidFill>
                <a:latin typeface="Arial"/>
                <a:cs typeface="Arial"/>
              </a:rPr>
              <a:t>k</a:t>
            </a:r>
            <a:r>
              <a:rPr dirty="0" sz="1300" spc="-45">
                <a:solidFill>
                  <a:srgbClr val="585D60"/>
                </a:solidFill>
                <a:latin typeface="Lucida Sans Unicode"/>
                <a:cs typeface="Lucida Sans Unicode"/>
              </a:rPr>
              <a:t>−</a:t>
            </a:r>
            <a:r>
              <a:rPr dirty="0" sz="1300" spc="-190">
                <a:solidFill>
                  <a:srgbClr val="585D60"/>
                </a:solidFill>
                <a:latin typeface="Lucida Sans Unicode"/>
                <a:cs typeface="Lucida Sans Unicode"/>
              </a:rPr>
              <a:t>1</a:t>
            </a:r>
            <a:endParaRPr sz="1300">
              <a:latin typeface="Lucida Sans Unicode"/>
              <a:cs typeface="Lucida Sans Unicode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482629" y="3494328"/>
            <a:ext cx="299085" cy="22923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1150" spc="265" i="1">
                <a:solidFill>
                  <a:srgbClr val="585D60"/>
                </a:solidFill>
                <a:latin typeface="Arial"/>
                <a:cs typeface="Arial"/>
              </a:rPr>
              <a:t>j</a:t>
            </a:r>
            <a:r>
              <a:rPr dirty="0" sz="1300" spc="-45">
                <a:solidFill>
                  <a:srgbClr val="585D60"/>
                </a:solidFill>
                <a:latin typeface="Lucida Sans Unicode"/>
                <a:cs typeface="Lucida Sans Unicode"/>
              </a:rPr>
              <a:t>=</a:t>
            </a:r>
            <a:r>
              <a:rPr dirty="0" sz="1300" spc="-190">
                <a:solidFill>
                  <a:srgbClr val="585D60"/>
                </a:solidFill>
                <a:latin typeface="Lucida Sans Unicode"/>
                <a:cs typeface="Lucida Sans Unicode"/>
              </a:rPr>
              <a:t>1</a:t>
            </a:r>
            <a:endParaRPr sz="1300">
              <a:latin typeface="Lucida Sans Unicode"/>
              <a:cs typeface="Lucida Sans Unicode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5428803" y="3077209"/>
            <a:ext cx="661035" cy="409575"/>
          </a:xfrm>
          <a:prstGeom prst="rect">
            <a:avLst/>
          </a:prstGeom>
        </p:spPr>
        <p:txBody>
          <a:bodyPr wrap="square" lIns="0" tIns="15240" rIns="0" bIns="0" rtlCol="0" vert="horz">
            <a:spAutoFit/>
          </a:bodyPr>
          <a:lstStyle/>
          <a:p>
            <a:pPr marL="38100">
              <a:lnSpc>
                <a:spcPct val="100000"/>
              </a:lnSpc>
              <a:spcBef>
                <a:spcPts val="120"/>
              </a:spcBef>
            </a:pPr>
            <a:r>
              <a:rPr dirty="0" sz="2500" spc="815">
                <a:solidFill>
                  <a:srgbClr val="585D60"/>
                </a:solidFill>
                <a:latin typeface="Arial"/>
                <a:cs typeface="Arial"/>
              </a:rPr>
              <a:t>∑</a:t>
            </a:r>
            <a:r>
              <a:rPr dirty="0" sz="2500" spc="-44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600" spc="-415" i="1">
                <a:solidFill>
                  <a:srgbClr val="585D60"/>
                </a:solidFill>
                <a:latin typeface="Arial"/>
                <a:cs typeface="Arial"/>
              </a:rPr>
              <a:t>ρ</a:t>
            </a:r>
            <a:r>
              <a:rPr dirty="0" sz="1900" spc="-415">
                <a:solidFill>
                  <a:srgbClr val="585D60"/>
                </a:solidFill>
                <a:latin typeface="Lucida Sans Unicode"/>
                <a:cs typeface="Lucida Sans Unicode"/>
              </a:rPr>
              <a:t>^</a:t>
            </a:r>
            <a:r>
              <a:rPr dirty="0" baseline="34188" sz="1950" spc="-622">
                <a:solidFill>
                  <a:srgbClr val="585D60"/>
                </a:solidFill>
                <a:latin typeface="Lucida Sans Unicode"/>
                <a:cs typeface="Lucida Sans Unicode"/>
              </a:rPr>
              <a:t>2</a:t>
            </a:r>
            <a:endParaRPr baseline="34188" sz="1950">
              <a:latin typeface="Lucida Sans Unicode"/>
              <a:cs typeface="Lucida Sans Unicode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5957688" y="3316919"/>
            <a:ext cx="92075" cy="201930"/>
          </a:xfrm>
          <a:prstGeom prst="rect">
            <a:avLst/>
          </a:prstGeom>
        </p:spPr>
        <p:txBody>
          <a:bodyPr wrap="square" lIns="0" tIns="1333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dirty="0" sz="1150" spc="265" i="1">
                <a:solidFill>
                  <a:srgbClr val="585D60"/>
                </a:solidFill>
                <a:latin typeface="Arial"/>
                <a:cs typeface="Arial"/>
              </a:rPr>
              <a:t>j</a:t>
            </a:r>
            <a:endParaRPr sz="115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5459561" y="3149828"/>
            <a:ext cx="612140" cy="84836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5400" spc="-4400">
                <a:solidFill>
                  <a:srgbClr val="585D60"/>
                </a:solidFill>
                <a:latin typeface="Cambria"/>
                <a:cs typeface="Cambria"/>
              </a:rPr>
              <a:t></a:t>
            </a:r>
            <a:r>
              <a:rPr dirty="0" sz="5400" spc="-4715">
                <a:solidFill>
                  <a:srgbClr val="585D60"/>
                </a:solidFill>
                <a:latin typeface="Cambria"/>
                <a:cs typeface="Cambria"/>
              </a:rPr>
              <a:t></a:t>
            </a:r>
            <a:r>
              <a:rPr dirty="0" sz="5400" spc="-4435">
                <a:solidFill>
                  <a:srgbClr val="585D60"/>
                </a:solidFill>
                <a:latin typeface="Cambria"/>
                <a:cs typeface="Cambria"/>
              </a:rPr>
              <a:t></a:t>
            </a:r>
            <a:r>
              <a:rPr dirty="0" sz="5400" spc="-4170">
                <a:solidFill>
                  <a:srgbClr val="585D60"/>
                </a:solidFill>
                <a:latin typeface="Cambria"/>
                <a:cs typeface="Cambria"/>
              </a:rPr>
              <a:t></a:t>
            </a:r>
            <a:r>
              <a:rPr dirty="0" sz="5400" spc="-4400">
                <a:solidFill>
                  <a:srgbClr val="585D60"/>
                </a:solidFill>
                <a:latin typeface="Cambria"/>
                <a:cs typeface="Cambria"/>
              </a:rPr>
              <a:t></a:t>
            </a:r>
            <a:r>
              <a:rPr dirty="0" sz="5400" spc="-4715">
                <a:solidFill>
                  <a:srgbClr val="585D60"/>
                </a:solidFill>
                <a:latin typeface="Cambria"/>
                <a:cs typeface="Cambria"/>
              </a:rPr>
              <a:t></a:t>
            </a:r>
            <a:r>
              <a:rPr dirty="0" sz="5400" spc="-4435">
                <a:solidFill>
                  <a:srgbClr val="585D60"/>
                </a:solidFill>
                <a:latin typeface="Cambria"/>
                <a:cs typeface="Cambria"/>
              </a:rPr>
              <a:t></a:t>
            </a:r>
            <a:r>
              <a:rPr dirty="0" sz="5400" spc="-4170">
                <a:solidFill>
                  <a:srgbClr val="585D60"/>
                </a:solidFill>
                <a:latin typeface="Cambria"/>
                <a:cs typeface="Cambria"/>
              </a:rPr>
              <a:t></a:t>
            </a:r>
            <a:endParaRPr sz="5400">
              <a:latin typeface="Cambria"/>
              <a:cs typeface="Cambria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4884787" y="3883405"/>
            <a:ext cx="1755775" cy="219710"/>
          </a:xfrm>
          <a:prstGeom prst="rect">
            <a:avLst/>
          </a:prstGeom>
        </p:spPr>
        <p:txBody>
          <a:bodyPr wrap="square" lIns="0" tIns="1524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dirty="0" sz="1250" spc="-10">
                <a:latin typeface="Arial"/>
                <a:cs typeface="Arial"/>
              </a:rPr>
              <a:t>smaller </a:t>
            </a:r>
            <a:r>
              <a:rPr dirty="0" sz="1250" spc="15">
                <a:latin typeface="Arial"/>
                <a:cs typeface="Arial"/>
              </a:rPr>
              <a:t>after</a:t>
            </a:r>
            <a:r>
              <a:rPr dirty="0" sz="1250" spc="-95">
                <a:latin typeface="Arial"/>
                <a:cs typeface="Arial"/>
              </a:rPr>
              <a:t> </a:t>
            </a:r>
            <a:r>
              <a:rPr dirty="0" sz="1250" spc="-5">
                <a:latin typeface="Arial"/>
                <a:cs typeface="Arial"/>
              </a:rPr>
              <a:t>differencing</a:t>
            </a:r>
            <a:endParaRPr sz="125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1270" rIns="0" bIns="0" rtlCol="0" vert="horz">
            <a:spAutoFit/>
          </a:bodyPr>
          <a:lstStyle/>
          <a:p>
            <a:pPr marL="38100">
              <a:lnSpc>
                <a:spcPct val="100000"/>
              </a:lnSpc>
              <a:spcBef>
                <a:spcPts val="10"/>
              </a:spcBef>
            </a:pPr>
            <a:fld id="{81D60167-4931-47E6-BA6A-407CBD079E47}" type="slidenum">
              <a:rPr dirty="0" spc="5"/>
              <a:t>11</a:t>
            </a:fld>
            <a:r>
              <a:rPr dirty="0" spc="5"/>
              <a:t> </a:t>
            </a:r>
            <a:r>
              <a:rPr dirty="0" spc="160"/>
              <a:t>/</a:t>
            </a:r>
            <a:r>
              <a:rPr dirty="0" spc="-165"/>
              <a:t> </a:t>
            </a:r>
            <a:r>
              <a:rPr dirty="0" spc="5"/>
              <a:t>33</a:t>
            </a:r>
          </a:p>
        </p:txBody>
      </p: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01700" y="530225"/>
            <a:ext cx="3262629" cy="539750"/>
          </a:xfrm>
          <a:prstGeom prst="rect"/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3350" spc="2120">
                <a:solidFill>
                  <a:srgbClr val="C2132D"/>
                </a:solidFill>
                <a:latin typeface="Arial"/>
                <a:cs typeface="Arial"/>
              </a:rPr>
              <a:t>🔑</a:t>
            </a:r>
            <a:r>
              <a:rPr dirty="0" sz="3350" spc="-310">
                <a:solidFill>
                  <a:srgbClr val="C2132D"/>
                </a:solidFill>
                <a:latin typeface="Arial"/>
                <a:cs typeface="Arial"/>
              </a:rPr>
              <a:t> </a:t>
            </a:r>
            <a:r>
              <a:rPr dirty="0" sz="3350" spc="-220">
                <a:solidFill>
                  <a:srgbClr val="C2132D"/>
                </a:solidFill>
              </a:rPr>
              <a:t>Key </a:t>
            </a:r>
            <a:r>
              <a:rPr dirty="0" sz="3350" spc="-185">
                <a:solidFill>
                  <a:srgbClr val="C2132D"/>
                </a:solidFill>
              </a:rPr>
              <a:t>Takeaways</a:t>
            </a:r>
            <a:endParaRPr sz="3350">
              <a:latin typeface="Arial"/>
              <a:cs typeface="Arial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901700" y="1425575"/>
            <a:ext cx="8464550" cy="117602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750" spc="65">
                <a:solidFill>
                  <a:srgbClr val="585D60"/>
                </a:solidFill>
                <a:latin typeface="Segoe UI Emoji"/>
                <a:cs typeface="Segoe UI Emoji"/>
              </a:rPr>
              <a:t>✅</a:t>
            </a:r>
            <a:r>
              <a:rPr dirty="0" sz="1750" spc="-35">
                <a:solidFill>
                  <a:srgbClr val="585D60"/>
                </a:solidFill>
                <a:latin typeface="Segoe UI Emoji"/>
                <a:cs typeface="Segoe UI Emoji"/>
              </a:rPr>
              <a:t> </a:t>
            </a:r>
            <a:r>
              <a:rPr dirty="0" sz="1800" spc="-10">
                <a:solidFill>
                  <a:srgbClr val="585D60"/>
                </a:solidFill>
                <a:latin typeface="Arial"/>
                <a:cs typeface="Arial"/>
              </a:rPr>
              <a:t>Original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585D60"/>
                </a:solidFill>
                <a:latin typeface="Arial"/>
                <a:cs typeface="Arial"/>
              </a:rPr>
              <a:t>series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40">
                <a:solidFill>
                  <a:srgbClr val="585D60"/>
                </a:solidFill>
                <a:latin typeface="Arial"/>
                <a:cs typeface="Arial"/>
              </a:rPr>
              <a:t>with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5" b="1">
                <a:latin typeface="Trebuchet MS"/>
                <a:cs typeface="Trebuchet MS"/>
              </a:rPr>
              <a:t>strong</a:t>
            </a:r>
            <a:r>
              <a:rPr dirty="0" sz="1800" spc="-95" b="1">
                <a:latin typeface="Trebuchet MS"/>
                <a:cs typeface="Trebuchet MS"/>
              </a:rPr>
              <a:t> </a:t>
            </a:r>
            <a:r>
              <a:rPr dirty="0" sz="1800" spc="-50" b="1">
                <a:latin typeface="Trebuchet MS"/>
                <a:cs typeface="Trebuchet MS"/>
              </a:rPr>
              <a:t>autocorrelation</a:t>
            </a:r>
            <a:r>
              <a:rPr dirty="0" sz="1800" spc="-95" b="1">
                <a:latin typeface="Trebuchet MS"/>
                <a:cs typeface="Trebuchet MS"/>
              </a:rPr>
              <a:t> </a:t>
            </a:r>
            <a:r>
              <a:rPr dirty="0" sz="950" spc="1825">
                <a:solidFill>
                  <a:srgbClr val="585D60"/>
                </a:solidFill>
                <a:latin typeface="Cambria"/>
                <a:cs typeface="Cambria"/>
              </a:rPr>
              <a:t>⟶</a:t>
            </a:r>
            <a:r>
              <a:rPr dirty="0" sz="950" spc="235">
                <a:solidFill>
                  <a:srgbClr val="585D60"/>
                </a:solidFill>
                <a:latin typeface="Cambria"/>
                <a:cs typeface="Cambria"/>
              </a:rPr>
              <a:t> </a:t>
            </a:r>
            <a:r>
              <a:rPr dirty="0" sz="1800" spc="-60" b="1">
                <a:solidFill>
                  <a:srgbClr val="C2132D"/>
                </a:solidFill>
                <a:latin typeface="Trebuchet MS"/>
                <a:cs typeface="Trebuchet MS"/>
              </a:rPr>
              <a:t>Wider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35" b="1">
                <a:solidFill>
                  <a:srgbClr val="C2132D"/>
                </a:solidFill>
                <a:latin typeface="Trebuchet MS"/>
                <a:cs typeface="Trebuchet MS"/>
              </a:rPr>
              <a:t>confidence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5" b="1">
                <a:solidFill>
                  <a:srgbClr val="C2132D"/>
                </a:solidFill>
                <a:latin typeface="Trebuchet MS"/>
                <a:cs typeface="Trebuchet MS"/>
              </a:rPr>
              <a:t>bands</a:t>
            </a:r>
            <a:endParaRPr sz="1800">
              <a:latin typeface="Trebuchet MS"/>
              <a:cs typeface="Trebuchet MS"/>
            </a:endParaRPr>
          </a:p>
          <a:p>
            <a:pPr marL="12700">
              <a:lnSpc>
                <a:spcPct val="100000"/>
              </a:lnSpc>
              <a:spcBef>
                <a:spcPts val="1290"/>
              </a:spcBef>
            </a:pPr>
            <a:r>
              <a:rPr dirty="0" sz="1750" spc="65">
                <a:solidFill>
                  <a:srgbClr val="585D60"/>
                </a:solidFill>
                <a:latin typeface="Segoe UI Emoji"/>
                <a:cs typeface="Segoe UI Emoji"/>
              </a:rPr>
              <a:t>✅</a:t>
            </a:r>
            <a:r>
              <a:rPr dirty="0" sz="1750" spc="-30">
                <a:solidFill>
                  <a:srgbClr val="585D60"/>
                </a:solidFill>
                <a:latin typeface="Segoe UI Emoji"/>
                <a:cs typeface="Segoe UI Emoji"/>
              </a:rPr>
              <a:t> </a:t>
            </a:r>
            <a:r>
              <a:rPr dirty="0" sz="1800">
                <a:solidFill>
                  <a:srgbClr val="585D60"/>
                </a:solidFill>
                <a:latin typeface="Arial"/>
                <a:cs typeface="Arial"/>
              </a:rPr>
              <a:t>Differenced</a:t>
            </a:r>
            <a:r>
              <a:rPr dirty="0" sz="1800" spc="-4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585D60"/>
                </a:solidFill>
                <a:latin typeface="Arial"/>
                <a:cs typeface="Arial"/>
              </a:rPr>
              <a:t>series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40">
                <a:solidFill>
                  <a:srgbClr val="585D60"/>
                </a:solidFill>
                <a:latin typeface="Arial"/>
                <a:cs typeface="Arial"/>
              </a:rPr>
              <a:t>with</a:t>
            </a:r>
            <a:r>
              <a:rPr dirty="0" sz="1800" spc="-4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65" b="1">
                <a:latin typeface="Trebuchet MS"/>
                <a:cs typeface="Trebuchet MS"/>
              </a:rPr>
              <a:t>weaker</a:t>
            </a:r>
            <a:r>
              <a:rPr dirty="0" sz="1800" spc="-90" b="1">
                <a:latin typeface="Trebuchet MS"/>
                <a:cs typeface="Trebuchet MS"/>
              </a:rPr>
              <a:t> </a:t>
            </a:r>
            <a:r>
              <a:rPr dirty="0" sz="1800" spc="-50" b="1">
                <a:latin typeface="Trebuchet MS"/>
                <a:cs typeface="Trebuchet MS"/>
              </a:rPr>
              <a:t>autocorrelation</a:t>
            </a:r>
            <a:r>
              <a:rPr dirty="0" sz="1800" spc="-90" b="1">
                <a:latin typeface="Trebuchet MS"/>
                <a:cs typeface="Trebuchet MS"/>
              </a:rPr>
              <a:t> </a:t>
            </a:r>
            <a:r>
              <a:rPr dirty="0" sz="950" spc="1825">
                <a:solidFill>
                  <a:srgbClr val="585D60"/>
                </a:solidFill>
                <a:latin typeface="Cambria"/>
                <a:cs typeface="Cambria"/>
              </a:rPr>
              <a:t>⟶</a:t>
            </a:r>
            <a:r>
              <a:rPr dirty="0" sz="950" spc="240">
                <a:solidFill>
                  <a:srgbClr val="585D60"/>
                </a:solidFill>
                <a:latin typeface="Cambria"/>
                <a:cs typeface="Cambria"/>
              </a:rPr>
              <a:t> </a:t>
            </a:r>
            <a:r>
              <a:rPr dirty="0" sz="1800" spc="-60" b="1">
                <a:solidFill>
                  <a:srgbClr val="C2132D"/>
                </a:solidFill>
                <a:latin typeface="Trebuchet MS"/>
                <a:cs typeface="Trebuchet MS"/>
              </a:rPr>
              <a:t>Narrower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35" b="1">
                <a:solidFill>
                  <a:srgbClr val="C2132D"/>
                </a:solidFill>
                <a:latin typeface="Trebuchet MS"/>
                <a:cs typeface="Trebuchet MS"/>
              </a:rPr>
              <a:t>confidence</a:t>
            </a:r>
            <a:r>
              <a:rPr dirty="0" sz="1800" spc="-8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5" b="1">
                <a:solidFill>
                  <a:srgbClr val="C2132D"/>
                </a:solidFill>
                <a:latin typeface="Trebuchet MS"/>
                <a:cs typeface="Trebuchet MS"/>
              </a:rPr>
              <a:t>bands</a:t>
            </a:r>
            <a:endParaRPr sz="1800">
              <a:latin typeface="Trebuchet MS"/>
              <a:cs typeface="Trebuchet MS"/>
            </a:endParaRPr>
          </a:p>
          <a:p>
            <a:pPr marL="12700">
              <a:lnSpc>
                <a:spcPct val="100000"/>
              </a:lnSpc>
              <a:spcBef>
                <a:spcPts val="1290"/>
              </a:spcBef>
            </a:pPr>
            <a:r>
              <a:rPr dirty="0" sz="1750" spc="65">
                <a:solidFill>
                  <a:srgbClr val="585D60"/>
                </a:solidFill>
                <a:latin typeface="Segoe UI Emoji"/>
                <a:cs typeface="Segoe UI Emoji"/>
              </a:rPr>
              <a:t>✅</a:t>
            </a:r>
            <a:r>
              <a:rPr dirty="0" sz="1750" spc="-35">
                <a:solidFill>
                  <a:srgbClr val="585D60"/>
                </a:solidFill>
                <a:latin typeface="Segoe UI Emoji"/>
                <a:cs typeface="Segoe UI Emoji"/>
              </a:rPr>
              <a:t> </a:t>
            </a:r>
            <a:r>
              <a:rPr dirty="0" sz="1800" spc="80" b="1">
                <a:solidFill>
                  <a:srgbClr val="C2132D"/>
                </a:solidFill>
                <a:latin typeface="Trebuchet MS"/>
                <a:cs typeface="Trebuchet MS"/>
              </a:rPr>
              <a:t>CIs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60" b="1">
                <a:solidFill>
                  <a:srgbClr val="C2132D"/>
                </a:solidFill>
                <a:latin typeface="Trebuchet MS"/>
                <a:cs typeface="Trebuchet MS"/>
              </a:rPr>
              <a:t>widen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55" b="1">
                <a:solidFill>
                  <a:srgbClr val="C2132D"/>
                </a:solidFill>
                <a:latin typeface="Trebuchet MS"/>
                <a:cs typeface="Trebuchet MS"/>
              </a:rPr>
              <a:t>at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40" b="1">
                <a:solidFill>
                  <a:srgbClr val="C2132D"/>
                </a:solidFill>
                <a:latin typeface="Trebuchet MS"/>
                <a:cs typeface="Trebuchet MS"/>
              </a:rPr>
              <a:t>larger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55" b="1">
                <a:solidFill>
                  <a:srgbClr val="C2132D"/>
                </a:solidFill>
                <a:latin typeface="Trebuchet MS"/>
                <a:cs typeface="Trebuchet MS"/>
              </a:rPr>
              <a:t>lags</a:t>
            </a:r>
            <a:r>
              <a:rPr dirty="0" sz="1800" spc="-10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15">
                <a:solidFill>
                  <a:srgbClr val="585D60"/>
                </a:solidFill>
                <a:latin typeface="Arial"/>
                <a:cs typeface="Arial"/>
              </a:rPr>
              <a:t>due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45">
                <a:solidFill>
                  <a:srgbClr val="585D60"/>
                </a:solidFill>
                <a:latin typeface="Arial"/>
                <a:cs typeface="Arial"/>
              </a:rPr>
              <a:t>to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20" b="1">
                <a:latin typeface="Trebuchet MS"/>
                <a:cs typeface="Trebuchet MS"/>
              </a:rPr>
              <a:t>accumulating</a:t>
            </a:r>
            <a:r>
              <a:rPr dirty="0" sz="1800" spc="-95" b="1">
                <a:latin typeface="Trebuchet MS"/>
                <a:cs typeface="Trebuchet MS"/>
              </a:rPr>
              <a:t> </a:t>
            </a:r>
            <a:r>
              <a:rPr dirty="0" sz="1800" spc="-30" b="1">
                <a:latin typeface="Trebuchet MS"/>
                <a:cs typeface="Trebuchet MS"/>
              </a:rPr>
              <a:t>estimation</a:t>
            </a:r>
            <a:r>
              <a:rPr dirty="0" sz="1800" spc="-95" b="1">
                <a:latin typeface="Trebuchet MS"/>
                <a:cs typeface="Trebuchet MS"/>
              </a:rPr>
              <a:t> </a:t>
            </a:r>
            <a:r>
              <a:rPr dirty="0" sz="1800" spc="-55" b="1">
                <a:latin typeface="Trebuchet MS"/>
                <a:cs typeface="Trebuchet MS"/>
              </a:rPr>
              <a:t>uncertainty</a:t>
            </a:r>
            <a:endParaRPr sz="1800">
              <a:latin typeface="Trebuchet MS"/>
              <a:cs typeface="Trebuchet M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566672" y="2758440"/>
            <a:ext cx="8388350" cy="1042669"/>
          </a:xfrm>
          <a:prstGeom prst="rect"/>
          <a:solidFill>
            <a:srgbClr val="333333"/>
          </a:solidFill>
        </p:spPr>
        <p:txBody>
          <a:bodyPr wrap="square" lIns="0" tIns="140335" rIns="0" bIns="0" rtlCol="0" vert="horz">
            <a:spAutoFit/>
          </a:bodyPr>
          <a:lstStyle/>
          <a:p>
            <a:pPr marL="246379">
              <a:lnSpc>
                <a:spcPct val="100000"/>
              </a:lnSpc>
              <a:spcBef>
                <a:spcPts val="1105"/>
              </a:spcBef>
            </a:pPr>
            <a:r>
              <a:rPr dirty="0" spc="-960">
                <a:solidFill>
                  <a:srgbClr val="000000"/>
                </a:solidFill>
              </a:rPr>
              <a:t>S</a:t>
            </a:r>
            <a:r>
              <a:rPr dirty="0" spc="-960"/>
              <a:t>S</a:t>
            </a:r>
            <a:r>
              <a:rPr dirty="0" spc="-960">
                <a:solidFill>
                  <a:srgbClr val="000000"/>
                </a:solidFill>
              </a:rPr>
              <a:t>t</a:t>
            </a:r>
            <a:r>
              <a:rPr dirty="0" spc="-960"/>
              <a:t>t</a:t>
            </a:r>
            <a:r>
              <a:rPr dirty="0" spc="-960">
                <a:solidFill>
                  <a:srgbClr val="000000"/>
                </a:solidFill>
              </a:rPr>
              <a:t>a</a:t>
            </a:r>
            <a:r>
              <a:rPr dirty="0" spc="-960"/>
              <a:t>a</a:t>
            </a:r>
            <a:r>
              <a:rPr dirty="0" spc="-960">
                <a:solidFill>
                  <a:srgbClr val="000000"/>
                </a:solidFill>
              </a:rPr>
              <a:t>b</a:t>
            </a:r>
            <a:r>
              <a:rPr dirty="0" spc="-960"/>
              <a:t>b</a:t>
            </a:r>
            <a:r>
              <a:rPr dirty="0" spc="-960">
                <a:solidFill>
                  <a:srgbClr val="000000"/>
                </a:solidFill>
              </a:rPr>
              <a:t>i</a:t>
            </a:r>
            <a:r>
              <a:rPr dirty="0" spc="-960"/>
              <a:t>i</a:t>
            </a:r>
            <a:r>
              <a:rPr dirty="0" spc="-960">
                <a:solidFill>
                  <a:srgbClr val="000000"/>
                </a:solidFill>
              </a:rPr>
              <a:t>l</a:t>
            </a:r>
            <a:r>
              <a:rPr dirty="0" spc="-960"/>
              <a:t>l</a:t>
            </a:r>
            <a:r>
              <a:rPr dirty="0" spc="-960">
                <a:solidFill>
                  <a:srgbClr val="000000"/>
                </a:solidFill>
              </a:rPr>
              <a:t>i</a:t>
            </a:r>
            <a:r>
              <a:rPr dirty="0" spc="-960"/>
              <a:t>i</a:t>
            </a:r>
            <a:r>
              <a:rPr dirty="0" spc="-960">
                <a:solidFill>
                  <a:srgbClr val="000000"/>
                </a:solidFill>
              </a:rPr>
              <a:t>z</a:t>
            </a:r>
            <a:r>
              <a:rPr dirty="0" spc="-960"/>
              <a:t>z</a:t>
            </a:r>
            <a:r>
              <a:rPr dirty="0" spc="-960">
                <a:solidFill>
                  <a:srgbClr val="000000"/>
                </a:solidFill>
              </a:rPr>
              <a:t>i</a:t>
            </a:r>
            <a:r>
              <a:rPr dirty="0" spc="-960"/>
              <a:t>i</a:t>
            </a:r>
            <a:r>
              <a:rPr dirty="0" spc="-960">
                <a:solidFill>
                  <a:srgbClr val="000000"/>
                </a:solidFill>
              </a:rPr>
              <a:t>n</a:t>
            </a:r>
            <a:r>
              <a:rPr dirty="0" spc="-960"/>
              <a:t>n</a:t>
            </a:r>
            <a:r>
              <a:rPr dirty="0" spc="-960">
                <a:solidFill>
                  <a:srgbClr val="000000"/>
                </a:solidFill>
              </a:rPr>
              <a:t>g</a:t>
            </a:r>
            <a:r>
              <a:rPr dirty="0" spc="-960"/>
              <a:t>g </a:t>
            </a:r>
            <a:r>
              <a:rPr dirty="0" spc="-1090">
                <a:solidFill>
                  <a:srgbClr val="000000"/>
                </a:solidFill>
              </a:rPr>
              <a:t>N</a:t>
            </a:r>
            <a:r>
              <a:rPr dirty="0" spc="-1090"/>
              <a:t>N</a:t>
            </a:r>
            <a:r>
              <a:rPr dirty="0" spc="-1090">
                <a:solidFill>
                  <a:srgbClr val="000000"/>
                </a:solidFill>
              </a:rPr>
              <a:t>o</a:t>
            </a:r>
            <a:r>
              <a:rPr dirty="0" spc="-1090"/>
              <a:t>o</a:t>
            </a:r>
            <a:r>
              <a:rPr dirty="0" spc="-1090">
                <a:solidFill>
                  <a:srgbClr val="000000"/>
                </a:solidFill>
              </a:rPr>
              <a:t>n</a:t>
            </a:r>
            <a:r>
              <a:rPr dirty="0" spc="-1090"/>
              <a:t>n</a:t>
            </a:r>
            <a:r>
              <a:rPr dirty="0" spc="-1090">
                <a:solidFill>
                  <a:srgbClr val="000000"/>
                </a:solidFill>
              </a:rPr>
              <a:t>-</a:t>
            </a:r>
            <a:r>
              <a:rPr dirty="0" spc="-1090"/>
              <a:t>-</a:t>
            </a:r>
            <a:r>
              <a:rPr dirty="0" spc="-1090">
                <a:solidFill>
                  <a:srgbClr val="000000"/>
                </a:solidFill>
              </a:rPr>
              <a:t>S</a:t>
            </a:r>
            <a:r>
              <a:rPr dirty="0" spc="-1090"/>
              <a:t>S</a:t>
            </a:r>
            <a:r>
              <a:rPr dirty="0" spc="-1090">
                <a:solidFill>
                  <a:srgbClr val="000000"/>
                </a:solidFill>
              </a:rPr>
              <a:t>t</a:t>
            </a:r>
            <a:r>
              <a:rPr dirty="0" spc="-1090"/>
              <a:t>t</a:t>
            </a:r>
            <a:r>
              <a:rPr dirty="0" spc="-1090">
                <a:solidFill>
                  <a:srgbClr val="000000"/>
                </a:solidFill>
              </a:rPr>
              <a:t>a</a:t>
            </a:r>
            <a:r>
              <a:rPr dirty="0" spc="-1090"/>
              <a:t>a</a:t>
            </a:r>
            <a:r>
              <a:rPr dirty="0" spc="-1090">
                <a:solidFill>
                  <a:srgbClr val="000000"/>
                </a:solidFill>
              </a:rPr>
              <a:t>t</a:t>
            </a:r>
            <a:r>
              <a:rPr dirty="0" spc="-1090"/>
              <a:t>t</a:t>
            </a:r>
            <a:r>
              <a:rPr dirty="0" spc="-1090">
                <a:solidFill>
                  <a:srgbClr val="000000"/>
                </a:solidFill>
              </a:rPr>
              <a:t>i</a:t>
            </a:r>
            <a:r>
              <a:rPr dirty="0" spc="-1090"/>
              <a:t>i</a:t>
            </a:r>
            <a:r>
              <a:rPr dirty="0" spc="-1090">
                <a:solidFill>
                  <a:srgbClr val="000000"/>
                </a:solidFill>
              </a:rPr>
              <a:t>o</a:t>
            </a:r>
            <a:r>
              <a:rPr dirty="0" spc="-1090"/>
              <a:t>o</a:t>
            </a:r>
            <a:r>
              <a:rPr dirty="0" spc="-1090">
                <a:solidFill>
                  <a:srgbClr val="000000"/>
                </a:solidFill>
              </a:rPr>
              <a:t>n</a:t>
            </a:r>
            <a:r>
              <a:rPr dirty="0" spc="-1090"/>
              <a:t>n</a:t>
            </a:r>
            <a:r>
              <a:rPr dirty="0" spc="-1090">
                <a:solidFill>
                  <a:srgbClr val="000000"/>
                </a:solidFill>
              </a:rPr>
              <a:t>a</a:t>
            </a:r>
            <a:r>
              <a:rPr dirty="0" spc="-1090"/>
              <a:t>a</a:t>
            </a:r>
            <a:r>
              <a:rPr dirty="0" spc="-1090">
                <a:solidFill>
                  <a:srgbClr val="000000"/>
                </a:solidFill>
              </a:rPr>
              <a:t>r</a:t>
            </a:r>
            <a:r>
              <a:rPr dirty="0" spc="-1090"/>
              <a:t>r</a:t>
            </a:r>
            <a:r>
              <a:rPr dirty="0" spc="-1090">
                <a:solidFill>
                  <a:srgbClr val="000000"/>
                </a:solidFill>
              </a:rPr>
              <a:t>y</a:t>
            </a:r>
            <a:r>
              <a:rPr dirty="0" spc="-1090"/>
              <a:t>y</a:t>
            </a:r>
            <a:r>
              <a:rPr dirty="0" spc="-1030"/>
              <a:t> </a:t>
            </a:r>
            <a:r>
              <a:rPr dirty="0" spc="-1285">
                <a:solidFill>
                  <a:srgbClr val="000000"/>
                </a:solidFill>
              </a:rPr>
              <a:t>T</a:t>
            </a:r>
            <a:r>
              <a:rPr dirty="0" spc="-1285"/>
              <a:t>T</a:t>
            </a:r>
            <a:r>
              <a:rPr dirty="0" spc="-1285">
                <a:solidFill>
                  <a:srgbClr val="000000"/>
                </a:solidFill>
              </a:rPr>
              <a:t>i</a:t>
            </a:r>
            <a:r>
              <a:rPr dirty="0" spc="-1285"/>
              <a:t>i</a:t>
            </a:r>
            <a:r>
              <a:rPr dirty="0" spc="-1285">
                <a:solidFill>
                  <a:srgbClr val="000000"/>
                </a:solidFill>
              </a:rPr>
              <a:t>m</a:t>
            </a:r>
            <a:r>
              <a:rPr dirty="0" spc="-1285"/>
              <a:t>m</a:t>
            </a:r>
            <a:r>
              <a:rPr dirty="0" spc="-1285">
                <a:solidFill>
                  <a:srgbClr val="000000"/>
                </a:solidFill>
              </a:rPr>
              <a:t>e</a:t>
            </a:r>
            <a:r>
              <a:rPr dirty="0" spc="-1285"/>
              <a:t>e</a:t>
            </a:r>
            <a:r>
              <a:rPr dirty="0" spc="-245"/>
              <a:t> </a:t>
            </a:r>
            <a:r>
              <a:rPr dirty="0" spc="-975">
                <a:solidFill>
                  <a:srgbClr val="000000"/>
                </a:solidFill>
              </a:rPr>
              <a:t>S</a:t>
            </a:r>
            <a:r>
              <a:rPr dirty="0" spc="-975"/>
              <a:t>S</a:t>
            </a:r>
            <a:r>
              <a:rPr dirty="0" spc="-975">
                <a:solidFill>
                  <a:srgbClr val="000000"/>
                </a:solidFill>
              </a:rPr>
              <a:t>e</a:t>
            </a:r>
            <a:r>
              <a:rPr dirty="0" spc="-975"/>
              <a:t>e</a:t>
            </a:r>
            <a:r>
              <a:rPr dirty="0" spc="-975">
                <a:solidFill>
                  <a:srgbClr val="000000"/>
                </a:solidFill>
              </a:rPr>
              <a:t>r</a:t>
            </a:r>
            <a:r>
              <a:rPr dirty="0" spc="-975"/>
              <a:t>r</a:t>
            </a:r>
            <a:r>
              <a:rPr dirty="0" spc="-975">
                <a:solidFill>
                  <a:srgbClr val="000000"/>
                </a:solidFill>
              </a:rPr>
              <a:t>i</a:t>
            </a:r>
            <a:r>
              <a:rPr dirty="0" spc="-975"/>
              <a:t>i</a:t>
            </a:r>
            <a:r>
              <a:rPr dirty="0" spc="-975">
                <a:solidFill>
                  <a:srgbClr val="000000"/>
                </a:solidFill>
              </a:rPr>
              <a:t>e</a:t>
            </a:r>
            <a:r>
              <a:rPr dirty="0" spc="-975"/>
              <a:t>e</a:t>
            </a:r>
            <a:r>
              <a:rPr dirty="0" spc="-975">
                <a:solidFill>
                  <a:srgbClr val="000000"/>
                </a:solidFill>
              </a:rPr>
              <a:t>s</a:t>
            </a:r>
            <a:r>
              <a:rPr dirty="0" spc="-975"/>
              <a:t>s</a:t>
            </a:r>
          </a:p>
        </p:txBody>
      </p:sp>
      <p:sp>
        <p:nvSpPr>
          <p:cNvPr id="3" name="object 3"/>
          <p:cNvSpPr/>
          <p:nvPr/>
        </p:nvSpPr>
        <p:spPr>
          <a:xfrm>
            <a:off x="10637519" y="5995415"/>
            <a:ext cx="887730" cy="491490"/>
          </a:xfrm>
          <a:custGeom>
            <a:avLst/>
            <a:gdLst/>
            <a:ahLst/>
            <a:cxnLst/>
            <a:rect l="l" t="t" r="r" b="b"/>
            <a:pathLst>
              <a:path w="887729" h="491489">
                <a:moveTo>
                  <a:pt x="0" y="0"/>
                </a:moveTo>
                <a:lnTo>
                  <a:pt x="887729" y="0"/>
                </a:lnTo>
                <a:lnTo>
                  <a:pt x="887729" y="491109"/>
                </a:lnTo>
                <a:lnTo>
                  <a:pt x="0" y="491109"/>
                </a:lnTo>
                <a:lnTo>
                  <a:pt x="0" y="0"/>
                </a:lnTo>
                <a:close/>
              </a:path>
            </a:pathLst>
          </a:custGeom>
          <a:solidFill>
            <a:srgbClr val="333333">
              <a:alpha val="50000"/>
            </a:srgbClr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/>
          <p:nvPr/>
        </p:nvSpPr>
        <p:spPr>
          <a:xfrm>
            <a:off x="10878987" y="6218137"/>
            <a:ext cx="506730" cy="204470"/>
          </a:xfrm>
          <a:prstGeom prst="rect">
            <a:avLst/>
          </a:prstGeom>
        </p:spPr>
        <p:txBody>
          <a:bodyPr wrap="square" lIns="0" tIns="12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"/>
              </a:spcBef>
            </a:pPr>
            <a:r>
              <a:rPr dirty="0" sz="1200" spc="-295">
                <a:latin typeface="Trebuchet MS"/>
                <a:cs typeface="Trebuchet MS"/>
              </a:rPr>
              <a:t>1</a:t>
            </a:r>
            <a:r>
              <a:rPr dirty="0" sz="1200" spc="-295">
                <a:solidFill>
                  <a:srgbClr val="FFFFFF"/>
                </a:solidFill>
                <a:latin typeface="Trebuchet MS"/>
                <a:cs typeface="Trebuchet MS"/>
              </a:rPr>
              <a:t>1</a:t>
            </a:r>
            <a:r>
              <a:rPr dirty="0" sz="1200" spc="-295">
                <a:latin typeface="Trebuchet MS"/>
                <a:cs typeface="Trebuchet MS"/>
              </a:rPr>
              <a:t>6</a:t>
            </a:r>
            <a:r>
              <a:rPr dirty="0" sz="1200" spc="-295">
                <a:solidFill>
                  <a:srgbClr val="FFFFFF"/>
                </a:solidFill>
                <a:latin typeface="Trebuchet MS"/>
                <a:cs typeface="Trebuchet MS"/>
              </a:rPr>
              <a:t>6 </a:t>
            </a:r>
            <a:r>
              <a:rPr dirty="0" sz="1200" spc="-385">
                <a:latin typeface="Trebuchet MS"/>
                <a:cs typeface="Trebuchet MS"/>
              </a:rPr>
              <a:t>/</a:t>
            </a:r>
            <a:r>
              <a:rPr dirty="0" sz="1200" spc="-385">
                <a:solidFill>
                  <a:srgbClr val="FFFFFF"/>
                </a:solidFill>
                <a:latin typeface="Trebuchet MS"/>
                <a:cs typeface="Trebuchet MS"/>
              </a:rPr>
              <a:t>/</a:t>
            </a:r>
            <a:r>
              <a:rPr dirty="0" sz="1200" spc="-95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dirty="0" sz="1200" spc="-295">
                <a:latin typeface="Trebuchet MS"/>
                <a:cs typeface="Trebuchet MS"/>
              </a:rPr>
              <a:t>3</a:t>
            </a:r>
            <a:r>
              <a:rPr dirty="0" sz="1200" spc="-295">
                <a:solidFill>
                  <a:srgbClr val="FFFFFF"/>
                </a:solidFill>
                <a:latin typeface="Trebuchet MS"/>
                <a:cs typeface="Trebuchet MS"/>
              </a:rPr>
              <a:t>3</a:t>
            </a:r>
            <a:r>
              <a:rPr dirty="0" sz="1200" spc="-295">
                <a:latin typeface="Trebuchet MS"/>
                <a:cs typeface="Trebuchet MS"/>
              </a:rPr>
              <a:t>3</a:t>
            </a:r>
            <a:r>
              <a:rPr dirty="0" sz="1200" spc="-295">
                <a:solidFill>
                  <a:srgbClr val="FFFFFF"/>
                </a:solidFill>
                <a:latin typeface="Trebuchet MS"/>
                <a:cs typeface="Trebuchet MS"/>
              </a:rPr>
              <a:t>3</a:t>
            </a:r>
            <a:endParaRPr sz="1200">
              <a:latin typeface="Trebuchet MS"/>
              <a:cs typeface="Trebuchet M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object 20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1270" rIns="0" bIns="0" rtlCol="0" vert="horz">
            <a:spAutoFit/>
          </a:bodyPr>
          <a:lstStyle/>
          <a:p>
            <a:pPr marL="38100">
              <a:lnSpc>
                <a:spcPct val="100000"/>
              </a:lnSpc>
              <a:spcBef>
                <a:spcPts val="10"/>
              </a:spcBef>
            </a:pPr>
            <a:fld id="{81D60167-4931-47E6-BA6A-407CBD079E47}" type="slidenum">
              <a:rPr dirty="0" spc="5"/>
              <a:t>17</a:t>
            </a:fld>
            <a:r>
              <a:rPr dirty="0" spc="5"/>
              <a:t> </a:t>
            </a:r>
            <a:r>
              <a:rPr dirty="0" spc="160"/>
              <a:t>/</a:t>
            </a:r>
            <a:r>
              <a:rPr dirty="0" spc="-165"/>
              <a:t> </a:t>
            </a:r>
            <a:r>
              <a:rPr dirty="0" spc="5"/>
              <a:t>33</a:t>
            </a:r>
          </a:p>
        </p:txBody>
      </p: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01700" y="530225"/>
            <a:ext cx="5720080" cy="539750"/>
          </a:xfrm>
          <a:prstGeom prst="rect"/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3350" spc="-150">
                <a:solidFill>
                  <a:srgbClr val="C2132D"/>
                </a:solidFill>
              </a:rPr>
              <a:t>Stabilizing </a:t>
            </a:r>
            <a:r>
              <a:rPr dirty="0" sz="3350" spc="-260">
                <a:solidFill>
                  <a:srgbClr val="C2132D"/>
                </a:solidFill>
              </a:rPr>
              <a:t>the </a:t>
            </a:r>
            <a:r>
              <a:rPr dirty="0" sz="3350" spc="-175">
                <a:solidFill>
                  <a:srgbClr val="C2132D"/>
                </a:solidFill>
              </a:rPr>
              <a:t>Mean:</a:t>
            </a:r>
            <a:r>
              <a:rPr dirty="0" sz="3350" spc="-290">
                <a:solidFill>
                  <a:srgbClr val="C2132D"/>
                </a:solidFill>
              </a:rPr>
              <a:t> </a:t>
            </a:r>
            <a:r>
              <a:rPr dirty="0" sz="3350" spc="-185">
                <a:solidFill>
                  <a:srgbClr val="C2132D"/>
                </a:solidFill>
              </a:rPr>
              <a:t>Differencing</a:t>
            </a:r>
            <a:endParaRPr sz="3350"/>
          </a:p>
        </p:txBody>
      </p:sp>
      <p:sp>
        <p:nvSpPr>
          <p:cNvPr id="3" name="object 3"/>
          <p:cNvSpPr txBox="1"/>
          <p:nvPr/>
        </p:nvSpPr>
        <p:spPr>
          <a:xfrm>
            <a:off x="1148754" y="1425575"/>
            <a:ext cx="9356090" cy="106172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46050" indent="-133985">
              <a:lnSpc>
                <a:spcPct val="100000"/>
              </a:lnSpc>
              <a:spcBef>
                <a:spcPts val="100"/>
              </a:spcBef>
              <a:buFont typeface="Trebuchet MS"/>
              <a:buChar char="•"/>
              <a:tabLst>
                <a:tab pos="146685" algn="l"/>
              </a:tabLst>
            </a:pPr>
            <a:r>
              <a:rPr dirty="0" sz="1800" spc="-35" b="1">
                <a:solidFill>
                  <a:srgbClr val="C2132D"/>
                </a:solidFill>
                <a:latin typeface="Trebuchet MS"/>
                <a:cs typeface="Trebuchet MS"/>
              </a:rPr>
              <a:t>Differencing</a:t>
            </a:r>
            <a:r>
              <a:rPr dirty="0" sz="1800" spc="-10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30">
                <a:solidFill>
                  <a:srgbClr val="585D60"/>
                </a:solidFill>
                <a:latin typeface="Arial"/>
                <a:cs typeface="Arial"/>
              </a:rPr>
              <a:t>is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25">
                <a:solidFill>
                  <a:srgbClr val="585D60"/>
                </a:solidFill>
                <a:latin typeface="Arial"/>
                <a:cs typeface="Arial"/>
              </a:rPr>
              <a:t>a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40">
                <a:solidFill>
                  <a:srgbClr val="585D60"/>
                </a:solidFill>
                <a:latin typeface="Arial"/>
                <a:cs typeface="Arial"/>
              </a:rPr>
              <a:t>common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5">
                <a:solidFill>
                  <a:srgbClr val="585D60"/>
                </a:solidFill>
                <a:latin typeface="Arial"/>
                <a:cs typeface="Arial"/>
              </a:rPr>
              <a:t>technique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45">
                <a:solidFill>
                  <a:srgbClr val="585D60"/>
                </a:solidFill>
                <a:latin typeface="Arial"/>
                <a:cs typeface="Arial"/>
              </a:rPr>
              <a:t>to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35" b="1">
                <a:solidFill>
                  <a:srgbClr val="C2132D"/>
                </a:solidFill>
                <a:latin typeface="Trebuchet MS"/>
                <a:cs typeface="Trebuchet MS"/>
              </a:rPr>
              <a:t>stabilize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80" b="1">
                <a:solidFill>
                  <a:srgbClr val="C2132D"/>
                </a:solidFill>
                <a:latin typeface="Trebuchet MS"/>
                <a:cs typeface="Trebuchet MS"/>
              </a:rPr>
              <a:t>the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25" b="1">
                <a:solidFill>
                  <a:srgbClr val="C2132D"/>
                </a:solidFill>
                <a:latin typeface="Trebuchet MS"/>
                <a:cs typeface="Trebuchet MS"/>
              </a:rPr>
              <a:t>mean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75">
                <a:solidFill>
                  <a:srgbClr val="585D60"/>
                </a:solidFill>
                <a:latin typeface="Arial"/>
                <a:cs typeface="Arial"/>
              </a:rPr>
              <a:t>of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25">
                <a:solidFill>
                  <a:srgbClr val="585D60"/>
                </a:solidFill>
                <a:latin typeface="Arial"/>
                <a:cs typeface="Arial"/>
              </a:rPr>
              <a:t>a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35">
                <a:solidFill>
                  <a:srgbClr val="585D60"/>
                </a:solidFill>
                <a:latin typeface="Arial"/>
                <a:cs typeface="Arial"/>
              </a:rPr>
              <a:t>time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5">
                <a:solidFill>
                  <a:srgbClr val="585D60"/>
                </a:solidFill>
                <a:latin typeface="Arial"/>
                <a:cs typeface="Arial"/>
              </a:rPr>
              <a:t>series.</a:t>
            </a:r>
            <a:endParaRPr sz="1800">
              <a:latin typeface="Arial"/>
              <a:cs typeface="Arial"/>
            </a:endParaRPr>
          </a:p>
          <a:p>
            <a:pPr marL="146050" marR="5080" indent="-133985">
              <a:lnSpc>
                <a:spcPct val="118100"/>
              </a:lnSpc>
              <a:spcBef>
                <a:spcPts val="900"/>
              </a:spcBef>
              <a:buClr>
                <a:srgbClr val="C2132D"/>
              </a:buClr>
              <a:buFont typeface="Trebuchet MS"/>
              <a:buChar char="•"/>
              <a:tabLst>
                <a:tab pos="146685" algn="l"/>
              </a:tabLst>
            </a:pPr>
            <a:r>
              <a:rPr dirty="0" sz="1800" spc="-30">
                <a:solidFill>
                  <a:srgbClr val="585D60"/>
                </a:solidFill>
                <a:latin typeface="Arial"/>
                <a:cs typeface="Arial"/>
              </a:rPr>
              <a:t>The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35" b="1">
                <a:solidFill>
                  <a:srgbClr val="C2132D"/>
                </a:solidFill>
                <a:latin typeface="Trebuchet MS"/>
                <a:cs typeface="Trebuchet MS"/>
              </a:rPr>
              <a:t>first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55" b="1">
                <a:solidFill>
                  <a:srgbClr val="C2132D"/>
                </a:solidFill>
                <a:latin typeface="Trebuchet MS"/>
                <a:cs typeface="Trebuchet MS"/>
              </a:rPr>
              <a:t>difference</a:t>
            </a:r>
            <a:r>
              <a:rPr dirty="0" sz="1800" spc="-10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75">
                <a:solidFill>
                  <a:srgbClr val="585D60"/>
                </a:solidFill>
                <a:latin typeface="Arial"/>
                <a:cs typeface="Arial"/>
              </a:rPr>
              <a:t>of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25">
                <a:solidFill>
                  <a:srgbClr val="585D60"/>
                </a:solidFill>
                <a:latin typeface="Arial"/>
                <a:cs typeface="Arial"/>
              </a:rPr>
              <a:t>a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35">
                <a:solidFill>
                  <a:srgbClr val="585D60"/>
                </a:solidFill>
                <a:latin typeface="Arial"/>
                <a:cs typeface="Arial"/>
              </a:rPr>
              <a:t>time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585D60"/>
                </a:solidFill>
                <a:latin typeface="Arial"/>
                <a:cs typeface="Arial"/>
              </a:rPr>
              <a:t>series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30">
                <a:solidFill>
                  <a:srgbClr val="585D60"/>
                </a:solidFill>
                <a:latin typeface="Arial"/>
                <a:cs typeface="Arial"/>
              </a:rPr>
              <a:t>is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the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5" b="1">
                <a:solidFill>
                  <a:srgbClr val="C2132D"/>
                </a:solidFill>
                <a:latin typeface="Trebuchet MS"/>
                <a:cs typeface="Trebuchet MS"/>
              </a:rPr>
              <a:t>change</a:t>
            </a:r>
            <a:r>
              <a:rPr dirty="0" sz="1800" spc="-10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>
                <a:solidFill>
                  <a:srgbClr val="585D60"/>
                </a:solidFill>
                <a:latin typeface="Arial"/>
                <a:cs typeface="Arial"/>
              </a:rPr>
              <a:t>between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consecutive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observations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5">
                <a:solidFill>
                  <a:srgbClr val="585D60"/>
                </a:solidFill>
                <a:latin typeface="Arial"/>
                <a:cs typeface="Arial"/>
              </a:rPr>
              <a:t>in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the  </a:t>
            </a:r>
            <a:r>
              <a:rPr dirty="0" sz="1800" spc="15">
                <a:solidFill>
                  <a:srgbClr val="585D60"/>
                </a:solidFill>
                <a:latin typeface="Arial"/>
                <a:cs typeface="Arial"/>
              </a:rPr>
              <a:t>original</a:t>
            </a:r>
            <a:r>
              <a:rPr dirty="0" sz="1800" spc="-6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10">
                <a:solidFill>
                  <a:srgbClr val="585D60"/>
                </a:solidFill>
                <a:latin typeface="Arial"/>
                <a:cs typeface="Arial"/>
              </a:rPr>
              <a:t>series:</a:t>
            </a:r>
            <a:endParaRPr sz="180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504354" y="2604770"/>
            <a:ext cx="824230" cy="31369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71450" indent="-133985">
              <a:lnSpc>
                <a:spcPct val="100000"/>
              </a:lnSpc>
              <a:spcBef>
                <a:spcPts val="90"/>
              </a:spcBef>
              <a:buClr>
                <a:srgbClr val="C2132D"/>
              </a:buClr>
              <a:buSzPct val="94736"/>
              <a:buFont typeface="Trebuchet MS"/>
              <a:buChar char="•"/>
              <a:tabLst>
                <a:tab pos="172085" algn="l"/>
              </a:tabLst>
            </a:pPr>
            <a:r>
              <a:rPr dirty="0" sz="1900" spc="130">
                <a:solidFill>
                  <a:srgbClr val="585D60"/>
                </a:solidFill>
                <a:latin typeface="Lucida Sans Unicode"/>
                <a:cs typeface="Lucida Sans Unicode"/>
              </a:rPr>
              <a:t>Δ</a:t>
            </a:r>
            <a:r>
              <a:rPr dirty="0" sz="1600" spc="130" i="1">
                <a:solidFill>
                  <a:srgbClr val="585D60"/>
                </a:solidFill>
                <a:latin typeface="Arial"/>
                <a:cs typeface="Arial"/>
              </a:rPr>
              <a:t>y</a:t>
            </a:r>
            <a:r>
              <a:rPr dirty="0" baseline="-14492" sz="1725" spc="195" i="1">
                <a:solidFill>
                  <a:srgbClr val="585D60"/>
                </a:solidFill>
                <a:latin typeface="Arial"/>
                <a:cs typeface="Arial"/>
              </a:rPr>
              <a:t>t</a:t>
            </a:r>
            <a:r>
              <a:rPr dirty="0" baseline="-14492" sz="1725" spc="300" i="1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900" spc="-110">
                <a:solidFill>
                  <a:srgbClr val="585D60"/>
                </a:solidFill>
                <a:latin typeface="Lucida Sans Unicode"/>
                <a:cs typeface="Lucida Sans Unicode"/>
              </a:rPr>
              <a:t>=</a:t>
            </a:r>
            <a:endParaRPr sz="1900">
              <a:latin typeface="Lucida Sans Unicode"/>
              <a:cs typeface="Lucida Sans Unicode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632570" y="2636773"/>
            <a:ext cx="125095" cy="275590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1600" spc="-165" i="1">
                <a:solidFill>
                  <a:srgbClr val="585D60"/>
                </a:solidFill>
                <a:latin typeface="Arial"/>
                <a:cs typeface="Arial"/>
              </a:rPr>
              <a:t>y</a:t>
            </a:r>
            <a:endParaRPr sz="16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2757884" y="2598978"/>
            <a:ext cx="69850" cy="22923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1300" spc="-75">
                <a:solidFill>
                  <a:srgbClr val="585D60"/>
                </a:solidFill>
                <a:latin typeface="Lucida Sans Unicode"/>
                <a:cs typeface="Lucida Sans Unicode"/>
              </a:rPr>
              <a:t>′</a:t>
            </a:r>
            <a:endParaRPr sz="1300">
              <a:latin typeface="Lucida Sans Unicode"/>
              <a:cs typeface="Lucida Sans Unicode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2744638" y="2764470"/>
            <a:ext cx="83820" cy="201930"/>
          </a:xfrm>
          <a:prstGeom prst="rect">
            <a:avLst/>
          </a:prstGeom>
        </p:spPr>
        <p:txBody>
          <a:bodyPr wrap="square" lIns="0" tIns="1333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dirty="0" sz="1150" spc="135" i="1">
                <a:solidFill>
                  <a:srgbClr val="585D60"/>
                </a:solidFill>
                <a:latin typeface="Arial"/>
                <a:cs typeface="Arial"/>
              </a:rPr>
              <a:t>t</a:t>
            </a:r>
            <a:endParaRPr sz="115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2533005" y="2340203"/>
            <a:ext cx="389890" cy="84836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5400" spc="-4365">
                <a:solidFill>
                  <a:srgbClr val="585D60"/>
                </a:solidFill>
                <a:latin typeface="Cambria"/>
                <a:cs typeface="Cambria"/>
              </a:rPr>
              <a:t></a:t>
            </a:r>
            <a:r>
              <a:rPr dirty="0" sz="5400" spc="-4170">
                <a:solidFill>
                  <a:srgbClr val="585D60"/>
                </a:solidFill>
                <a:latin typeface="Cambria"/>
                <a:cs typeface="Cambria"/>
              </a:rPr>
              <a:t></a:t>
            </a:r>
            <a:r>
              <a:rPr dirty="0" sz="5400" spc="-4350">
                <a:solidFill>
                  <a:srgbClr val="585D60"/>
                </a:solidFill>
                <a:latin typeface="Cambria"/>
                <a:cs typeface="Cambria"/>
              </a:rPr>
              <a:t></a:t>
            </a:r>
            <a:r>
              <a:rPr dirty="0" sz="5400" spc="-4170">
                <a:solidFill>
                  <a:srgbClr val="585D60"/>
                </a:solidFill>
                <a:latin typeface="Cambria"/>
                <a:cs typeface="Cambria"/>
              </a:rPr>
              <a:t></a:t>
            </a:r>
            <a:endParaRPr sz="5400">
              <a:latin typeface="Cambria"/>
              <a:cs typeface="Cambria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2551757" y="3084753"/>
            <a:ext cx="365760" cy="22923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1300" spc="130">
                <a:solidFill>
                  <a:srgbClr val="585D60"/>
                </a:solidFill>
                <a:latin typeface="Lucida Sans Unicode"/>
                <a:cs typeface="Lucida Sans Unicode"/>
              </a:rPr>
              <a:t>F</a:t>
            </a:r>
            <a:r>
              <a:rPr dirty="0" sz="1300" spc="-25">
                <a:solidFill>
                  <a:srgbClr val="585D60"/>
                </a:solidFill>
                <a:latin typeface="Lucida Sans Unicode"/>
                <a:cs typeface="Lucida Sans Unicode"/>
              </a:rPr>
              <a:t>i</a:t>
            </a:r>
            <a:r>
              <a:rPr dirty="0" sz="1300" spc="-35">
                <a:solidFill>
                  <a:srgbClr val="585D60"/>
                </a:solidFill>
                <a:latin typeface="Lucida Sans Unicode"/>
                <a:cs typeface="Lucida Sans Unicode"/>
              </a:rPr>
              <a:t>r</a:t>
            </a:r>
            <a:r>
              <a:rPr dirty="0" sz="1300" spc="-165">
                <a:solidFill>
                  <a:srgbClr val="585D60"/>
                </a:solidFill>
                <a:latin typeface="Lucida Sans Unicode"/>
                <a:cs typeface="Lucida Sans Unicode"/>
              </a:rPr>
              <a:t>s</a:t>
            </a:r>
            <a:r>
              <a:rPr dirty="0" sz="1300" spc="5">
                <a:solidFill>
                  <a:srgbClr val="585D60"/>
                </a:solidFill>
                <a:latin typeface="Lucida Sans Unicode"/>
                <a:cs typeface="Lucida Sans Unicode"/>
              </a:rPr>
              <a:t>t</a:t>
            </a:r>
            <a:endParaRPr sz="1300">
              <a:latin typeface="Lucida Sans Unicode"/>
              <a:cs typeface="Lucida Sans Unicode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2368103" y="3303828"/>
            <a:ext cx="732790" cy="22923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1300" spc="-95">
                <a:solidFill>
                  <a:srgbClr val="585D60"/>
                </a:solidFill>
                <a:latin typeface="Lucida Sans Unicode"/>
                <a:cs typeface="Lucida Sans Unicode"/>
              </a:rPr>
              <a:t>Difference</a:t>
            </a:r>
            <a:endParaRPr sz="1300">
              <a:latin typeface="Lucida Sans Unicode"/>
              <a:cs typeface="Lucida Sans Unicode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3858170" y="2735895"/>
            <a:ext cx="83820" cy="201930"/>
          </a:xfrm>
          <a:prstGeom prst="rect">
            <a:avLst/>
          </a:prstGeom>
        </p:spPr>
        <p:txBody>
          <a:bodyPr wrap="square" lIns="0" tIns="1333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dirty="0" sz="1150" spc="135" i="1">
                <a:solidFill>
                  <a:srgbClr val="585D60"/>
                </a:solidFill>
                <a:latin typeface="Arial"/>
                <a:cs typeface="Arial"/>
              </a:rPr>
              <a:t>t</a:t>
            </a:r>
            <a:endParaRPr sz="1150">
              <a:latin typeface="Arial"/>
              <a:cs typeface="Arial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3166119" y="2604770"/>
            <a:ext cx="1165860" cy="31369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  <a:tabLst>
                <a:tab pos="592455" algn="l"/>
              </a:tabLst>
            </a:pPr>
            <a:r>
              <a:rPr dirty="0" sz="1900" spc="-110">
                <a:solidFill>
                  <a:srgbClr val="585D60"/>
                </a:solidFill>
                <a:latin typeface="Lucida Sans Unicode"/>
                <a:cs typeface="Lucida Sans Unicode"/>
              </a:rPr>
              <a:t>=	</a:t>
            </a:r>
            <a:r>
              <a:rPr dirty="0" sz="1600" spc="80" i="1">
                <a:solidFill>
                  <a:srgbClr val="585D60"/>
                </a:solidFill>
                <a:latin typeface="Arial"/>
                <a:cs typeface="Arial"/>
              </a:rPr>
              <a:t>y </a:t>
            </a:r>
            <a:r>
              <a:rPr dirty="0" sz="1900" spc="-110">
                <a:solidFill>
                  <a:srgbClr val="585D60"/>
                </a:solidFill>
                <a:latin typeface="Lucida Sans Unicode"/>
                <a:cs typeface="Lucida Sans Unicode"/>
              </a:rPr>
              <a:t>−</a:t>
            </a:r>
            <a:r>
              <a:rPr dirty="0" sz="1900" spc="-385">
                <a:solidFill>
                  <a:srgbClr val="585D60"/>
                </a:solidFill>
                <a:latin typeface="Lucida Sans Unicode"/>
                <a:cs typeface="Lucida Sans Unicode"/>
              </a:rPr>
              <a:t> </a:t>
            </a:r>
            <a:r>
              <a:rPr dirty="0" sz="1600" spc="-405" i="1">
                <a:solidFill>
                  <a:srgbClr val="585D60"/>
                </a:solidFill>
                <a:latin typeface="Arial"/>
                <a:cs typeface="Arial"/>
              </a:rPr>
              <a:t>y</a:t>
            </a:r>
            <a:endParaRPr sz="1600">
              <a:latin typeface="Arial"/>
              <a:cs typeface="Arial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4319240" y="2713278"/>
            <a:ext cx="290830" cy="22923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1150" spc="135" i="1">
                <a:solidFill>
                  <a:srgbClr val="585D60"/>
                </a:solidFill>
                <a:latin typeface="Arial"/>
                <a:cs typeface="Arial"/>
              </a:rPr>
              <a:t>t</a:t>
            </a:r>
            <a:r>
              <a:rPr dirty="0" sz="1300" spc="-45">
                <a:solidFill>
                  <a:srgbClr val="585D60"/>
                </a:solidFill>
                <a:latin typeface="Lucida Sans Unicode"/>
                <a:cs typeface="Lucida Sans Unicode"/>
              </a:rPr>
              <a:t>−</a:t>
            </a:r>
            <a:r>
              <a:rPr dirty="0" sz="1300" spc="-190">
                <a:solidFill>
                  <a:srgbClr val="585D60"/>
                </a:solidFill>
                <a:latin typeface="Lucida Sans Unicode"/>
                <a:cs typeface="Lucida Sans Unicode"/>
              </a:rPr>
              <a:t>1</a:t>
            </a:r>
            <a:endParaRPr sz="1300">
              <a:latin typeface="Lucida Sans Unicode"/>
              <a:cs typeface="Lucida Sans Unicode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3751460" y="2321153"/>
            <a:ext cx="849630" cy="84836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5400" spc="-4290">
                <a:solidFill>
                  <a:srgbClr val="585D60"/>
                </a:solidFill>
                <a:latin typeface="Cambria"/>
                <a:cs typeface="Cambria"/>
              </a:rPr>
              <a:t></a:t>
            </a:r>
            <a:r>
              <a:rPr dirty="0" sz="5400" spc="-4490">
                <a:solidFill>
                  <a:srgbClr val="585D60"/>
                </a:solidFill>
                <a:latin typeface="Cambria"/>
                <a:cs typeface="Cambria"/>
              </a:rPr>
              <a:t></a:t>
            </a:r>
            <a:r>
              <a:rPr dirty="0" sz="5400" spc="-4320">
                <a:solidFill>
                  <a:srgbClr val="585D60"/>
                </a:solidFill>
                <a:latin typeface="Cambria"/>
                <a:cs typeface="Cambria"/>
              </a:rPr>
              <a:t></a:t>
            </a:r>
            <a:r>
              <a:rPr dirty="0" sz="5400" spc="-4170">
                <a:solidFill>
                  <a:srgbClr val="585D60"/>
                </a:solidFill>
                <a:latin typeface="Cambria"/>
                <a:cs typeface="Cambria"/>
              </a:rPr>
              <a:t></a:t>
            </a:r>
            <a:r>
              <a:rPr dirty="0" sz="5400" spc="-4290">
                <a:solidFill>
                  <a:srgbClr val="585D60"/>
                </a:solidFill>
                <a:latin typeface="Cambria"/>
                <a:cs typeface="Cambria"/>
              </a:rPr>
              <a:t></a:t>
            </a:r>
            <a:r>
              <a:rPr dirty="0" sz="5400" spc="-4490">
                <a:solidFill>
                  <a:srgbClr val="585D60"/>
                </a:solidFill>
                <a:latin typeface="Cambria"/>
                <a:cs typeface="Cambria"/>
              </a:rPr>
              <a:t></a:t>
            </a:r>
            <a:r>
              <a:rPr dirty="0" sz="5400" spc="-4320">
                <a:solidFill>
                  <a:srgbClr val="585D60"/>
                </a:solidFill>
                <a:latin typeface="Cambria"/>
                <a:cs typeface="Cambria"/>
              </a:rPr>
              <a:t></a:t>
            </a:r>
            <a:r>
              <a:rPr dirty="0" sz="5400" spc="-4840">
                <a:solidFill>
                  <a:srgbClr val="585D60"/>
                </a:solidFill>
                <a:latin typeface="Cambria"/>
                <a:cs typeface="Cambria"/>
              </a:rPr>
              <a:t></a:t>
            </a:r>
            <a:endParaRPr sz="5400">
              <a:latin typeface="Cambria"/>
              <a:cs typeface="Cambria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3682255" y="3065703"/>
            <a:ext cx="996315" cy="22923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1300" spc="-60">
                <a:solidFill>
                  <a:srgbClr val="585D60"/>
                </a:solidFill>
                <a:latin typeface="Lucida Sans Unicode"/>
                <a:cs typeface="Lucida Sans Unicode"/>
              </a:rPr>
              <a:t>Current</a:t>
            </a:r>
            <a:r>
              <a:rPr dirty="0" sz="1300" spc="-150">
                <a:solidFill>
                  <a:srgbClr val="585D60"/>
                </a:solidFill>
                <a:latin typeface="Lucida Sans Unicode"/>
                <a:cs typeface="Lucida Sans Unicode"/>
              </a:rPr>
              <a:t> </a:t>
            </a:r>
            <a:r>
              <a:rPr dirty="0" sz="1300" spc="-75">
                <a:solidFill>
                  <a:srgbClr val="585D60"/>
                </a:solidFill>
                <a:latin typeface="Lucida Sans Unicode"/>
                <a:cs typeface="Lucida Sans Unicode"/>
              </a:rPr>
              <a:t>value</a:t>
            </a:r>
            <a:endParaRPr sz="1300">
              <a:latin typeface="Lucida Sans Unicode"/>
              <a:cs typeface="Lucida Sans Unicode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3434754" y="3284778"/>
            <a:ext cx="1490980" cy="22923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1300" spc="-110">
                <a:solidFill>
                  <a:srgbClr val="585D60"/>
                </a:solidFill>
                <a:latin typeface="Lucida Sans Unicode"/>
                <a:cs typeface="Lucida Sans Unicode"/>
              </a:rPr>
              <a:t>minus </a:t>
            </a:r>
            <a:r>
              <a:rPr dirty="0" sz="1300" spc="-95">
                <a:solidFill>
                  <a:srgbClr val="585D60"/>
                </a:solidFill>
                <a:latin typeface="Lucida Sans Unicode"/>
                <a:cs typeface="Lucida Sans Unicode"/>
              </a:rPr>
              <a:t>previous</a:t>
            </a:r>
            <a:r>
              <a:rPr dirty="0" sz="1300" spc="-140">
                <a:solidFill>
                  <a:srgbClr val="585D60"/>
                </a:solidFill>
                <a:latin typeface="Lucida Sans Unicode"/>
                <a:cs typeface="Lucida Sans Unicode"/>
              </a:rPr>
              <a:t> </a:t>
            </a:r>
            <a:r>
              <a:rPr dirty="0" sz="1300" spc="-75">
                <a:solidFill>
                  <a:srgbClr val="585D60"/>
                </a:solidFill>
                <a:latin typeface="Lucida Sans Unicode"/>
                <a:cs typeface="Lucida Sans Unicode"/>
              </a:rPr>
              <a:t>value</a:t>
            </a:r>
            <a:endParaRPr sz="1300">
              <a:latin typeface="Lucida Sans Unicode"/>
              <a:cs typeface="Lucida Sans Unicode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148754" y="3652519"/>
            <a:ext cx="9447530" cy="31369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46050" indent="-133985">
              <a:lnSpc>
                <a:spcPct val="100000"/>
              </a:lnSpc>
              <a:spcBef>
                <a:spcPts val="90"/>
              </a:spcBef>
              <a:buClr>
                <a:srgbClr val="C2132D"/>
              </a:buClr>
              <a:buFont typeface="Trebuchet MS"/>
              <a:buChar char="•"/>
              <a:tabLst>
                <a:tab pos="146685" algn="l"/>
              </a:tabLst>
            </a:pPr>
            <a:r>
              <a:rPr dirty="0" sz="1800" spc="-30">
                <a:solidFill>
                  <a:srgbClr val="585D60"/>
                </a:solidFill>
                <a:latin typeface="Arial"/>
                <a:cs typeface="Arial"/>
              </a:rPr>
              <a:t>The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50" b="1">
                <a:solidFill>
                  <a:srgbClr val="C2132D"/>
                </a:solidFill>
                <a:latin typeface="Trebuchet MS"/>
                <a:cs typeface="Trebuchet MS"/>
              </a:rPr>
              <a:t>differenced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b="1">
                <a:solidFill>
                  <a:srgbClr val="C2132D"/>
                </a:solidFill>
                <a:latin typeface="Trebuchet MS"/>
                <a:cs typeface="Trebuchet MS"/>
              </a:rPr>
              <a:t>series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40">
                <a:solidFill>
                  <a:srgbClr val="585D60"/>
                </a:solidFill>
                <a:latin typeface="Arial"/>
                <a:cs typeface="Arial"/>
              </a:rPr>
              <a:t>will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35">
                <a:solidFill>
                  <a:srgbClr val="585D60"/>
                </a:solidFill>
                <a:latin typeface="Arial"/>
                <a:cs typeface="Arial"/>
              </a:rPr>
              <a:t>have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585D60"/>
                </a:solidFill>
                <a:latin typeface="Arial"/>
                <a:cs typeface="Arial"/>
              </a:rPr>
              <a:t>only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600" spc="285" i="1">
                <a:solidFill>
                  <a:srgbClr val="585D60"/>
                </a:solidFill>
                <a:latin typeface="Arial"/>
                <a:cs typeface="Arial"/>
              </a:rPr>
              <a:t>N</a:t>
            </a:r>
            <a:r>
              <a:rPr dirty="0" sz="1600" spc="110" i="1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900" spc="-110">
                <a:solidFill>
                  <a:srgbClr val="585D60"/>
                </a:solidFill>
                <a:latin typeface="Lucida Sans Unicode"/>
                <a:cs typeface="Lucida Sans Unicode"/>
              </a:rPr>
              <a:t>−</a:t>
            </a:r>
            <a:r>
              <a:rPr dirty="0" sz="1900" spc="-204">
                <a:solidFill>
                  <a:srgbClr val="585D60"/>
                </a:solidFill>
                <a:latin typeface="Lucida Sans Unicode"/>
                <a:cs typeface="Lucida Sans Unicode"/>
              </a:rPr>
              <a:t> </a:t>
            </a:r>
            <a:r>
              <a:rPr dirty="0" sz="1900" spc="-305">
                <a:solidFill>
                  <a:srgbClr val="585D60"/>
                </a:solidFill>
                <a:latin typeface="Lucida Sans Unicode"/>
                <a:cs typeface="Lucida Sans Unicode"/>
              </a:rPr>
              <a:t>1</a:t>
            </a:r>
            <a:r>
              <a:rPr dirty="0" sz="1900" spc="-155">
                <a:solidFill>
                  <a:srgbClr val="585D60"/>
                </a:solidFill>
                <a:latin typeface="Lucida Sans Unicode"/>
                <a:cs typeface="Lucida Sans Unicode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observations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since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60">
                <a:solidFill>
                  <a:srgbClr val="585D60"/>
                </a:solidFill>
                <a:latin typeface="Arial"/>
                <a:cs typeface="Arial"/>
              </a:rPr>
              <a:t>it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30">
                <a:solidFill>
                  <a:srgbClr val="585D60"/>
                </a:solidFill>
                <a:latin typeface="Arial"/>
                <a:cs typeface="Arial"/>
              </a:rPr>
              <a:t>is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35">
                <a:solidFill>
                  <a:srgbClr val="585D60"/>
                </a:solidFill>
                <a:latin typeface="Arial"/>
                <a:cs typeface="Arial"/>
              </a:rPr>
              <a:t>not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5">
                <a:solidFill>
                  <a:srgbClr val="585D60"/>
                </a:solidFill>
                <a:latin typeface="Arial"/>
                <a:cs typeface="Arial"/>
              </a:rPr>
              <a:t>possible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45">
                <a:solidFill>
                  <a:srgbClr val="585D60"/>
                </a:solidFill>
                <a:latin typeface="Arial"/>
                <a:cs typeface="Arial"/>
              </a:rPr>
              <a:t>to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5">
                <a:solidFill>
                  <a:srgbClr val="585D60"/>
                </a:solidFill>
                <a:latin typeface="Arial"/>
                <a:cs typeface="Arial"/>
              </a:rPr>
              <a:t>calculate</a:t>
            </a:r>
            <a:endParaRPr sz="1800">
              <a:latin typeface="Arial"/>
              <a:cs typeface="Arial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1257299" y="3987800"/>
            <a:ext cx="4035425" cy="29972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dirty="0" sz="1800" spc="-25">
                <a:solidFill>
                  <a:srgbClr val="585D60"/>
                </a:solidFill>
                <a:latin typeface="Arial"/>
                <a:cs typeface="Arial"/>
              </a:rPr>
              <a:t>a </a:t>
            </a:r>
            <a:r>
              <a:rPr dirty="0" sz="1800" spc="15">
                <a:solidFill>
                  <a:srgbClr val="585D60"/>
                </a:solidFill>
                <a:latin typeface="Arial"/>
                <a:cs typeface="Arial"/>
              </a:rPr>
              <a:t>difference </a:t>
            </a:r>
            <a:r>
              <a:rPr dirty="0" sz="1600" spc="50" i="1">
                <a:solidFill>
                  <a:srgbClr val="585D60"/>
                </a:solidFill>
                <a:latin typeface="Arial"/>
                <a:cs typeface="Arial"/>
              </a:rPr>
              <a:t>y</a:t>
            </a:r>
            <a:r>
              <a:rPr dirty="0" baseline="27777" sz="1950" spc="75">
                <a:solidFill>
                  <a:srgbClr val="585D60"/>
                </a:solidFill>
                <a:latin typeface="Lucida Sans Unicode"/>
                <a:cs typeface="Lucida Sans Unicode"/>
              </a:rPr>
              <a:t>′ </a:t>
            </a:r>
            <a:r>
              <a:rPr dirty="0" sz="1800" spc="50">
                <a:solidFill>
                  <a:srgbClr val="585D60"/>
                </a:solidFill>
                <a:latin typeface="Arial"/>
                <a:cs typeface="Arial"/>
              </a:rPr>
              <a:t>for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the </a:t>
            </a:r>
            <a:r>
              <a:rPr dirty="0" sz="1800" spc="45">
                <a:solidFill>
                  <a:srgbClr val="585D60"/>
                </a:solidFill>
                <a:latin typeface="Arial"/>
                <a:cs typeface="Arial"/>
              </a:rPr>
              <a:t>first</a:t>
            </a:r>
            <a:r>
              <a:rPr dirty="0" sz="1800" spc="-9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5">
                <a:solidFill>
                  <a:srgbClr val="585D60"/>
                </a:solidFill>
                <a:latin typeface="Arial"/>
                <a:cs typeface="Arial"/>
              </a:rPr>
              <a:t>observation.</a:t>
            </a:r>
            <a:endParaRPr sz="1800">
              <a:latin typeface="Arial"/>
              <a:cs typeface="Arial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2658318" y="4113453"/>
            <a:ext cx="106680" cy="22923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1300" spc="-190">
                <a:solidFill>
                  <a:srgbClr val="585D60"/>
                </a:solidFill>
                <a:latin typeface="Lucida Sans Unicode"/>
                <a:cs typeface="Lucida Sans Unicode"/>
              </a:rPr>
              <a:t>1</a:t>
            </a:r>
            <a:endParaRPr sz="1300">
              <a:latin typeface="Lucida Sans Unicode"/>
              <a:cs typeface="Lucida Sans Unicode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object 29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1270" rIns="0" bIns="0" rtlCol="0" vert="horz">
            <a:spAutoFit/>
          </a:bodyPr>
          <a:lstStyle/>
          <a:p>
            <a:pPr marL="38100">
              <a:lnSpc>
                <a:spcPct val="100000"/>
              </a:lnSpc>
              <a:spcBef>
                <a:spcPts val="10"/>
              </a:spcBef>
            </a:pPr>
            <a:fld id="{81D60167-4931-47E6-BA6A-407CBD079E47}" type="slidenum">
              <a:rPr dirty="0" spc="5"/>
              <a:t>17</a:t>
            </a:fld>
            <a:r>
              <a:rPr dirty="0" spc="5"/>
              <a:t> </a:t>
            </a:r>
            <a:r>
              <a:rPr dirty="0" spc="160"/>
              <a:t>/</a:t>
            </a:r>
            <a:r>
              <a:rPr dirty="0" spc="-165"/>
              <a:t> </a:t>
            </a:r>
            <a:r>
              <a:rPr dirty="0" spc="5"/>
              <a:t>33</a:t>
            </a:r>
          </a:p>
        </p:txBody>
      </p: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01700" y="530225"/>
            <a:ext cx="4433570" cy="539750"/>
          </a:xfrm>
          <a:prstGeom prst="rect"/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3350" spc="-185">
                <a:solidFill>
                  <a:srgbClr val="C2132D"/>
                </a:solidFill>
              </a:rPr>
              <a:t>Second-order</a:t>
            </a:r>
            <a:r>
              <a:rPr dirty="0" sz="3350" spc="-280">
                <a:solidFill>
                  <a:srgbClr val="C2132D"/>
                </a:solidFill>
              </a:rPr>
              <a:t> </a:t>
            </a:r>
            <a:r>
              <a:rPr dirty="0" sz="3350" spc="-185">
                <a:solidFill>
                  <a:srgbClr val="C2132D"/>
                </a:solidFill>
              </a:rPr>
              <a:t>Differencing</a:t>
            </a:r>
            <a:endParaRPr sz="3350"/>
          </a:p>
        </p:txBody>
      </p:sp>
      <p:sp>
        <p:nvSpPr>
          <p:cNvPr id="3" name="object 3"/>
          <p:cNvSpPr txBox="1"/>
          <p:nvPr/>
        </p:nvSpPr>
        <p:spPr>
          <a:xfrm>
            <a:off x="901700" y="1376044"/>
            <a:ext cx="8806815" cy="67310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 marR="5080">
              <a:lnSpc>
                <a:spcPct val="118100"/>
              </a:lnSpc>
              <a:spcBef>
                <a:spcPts val="100"/>
              </a:spcBef>
            </a:pPr>
            <a:r>
              <a:rPr dirty="0" sz="1800" spc="-5">
                <a:solidFill>
                  <a:srgbClr val="585D60"/>
                </a:solidFill>
                <a:latin typeface="Arial"/>
                <a:cs typeface="Arial"/>
              </a:rPr>
              <a:t>Occasionally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the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5">
                <a:solidFill>
                  <a:srgbClr val="585D60"/>
                </a:solidFill>
                <a:latin typeface="Arial"/>
                <a:cs typeface="Arial"/>
              </a:rPr>
              <a:t>differenced</a:t>
            </a:r>
            <a:r>
              <a:rPr dirty="0" sz="1800" spc="-4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data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40">
                <a:solidFill>
                  <a:srgbClr val="585D60"/>
                </a:solidFill>
                <a:latin typeface="Arial"/>
                <a:cs typeface="Arial"/>
              </a:rPr>
              <a:t>will</a:t>
            </a:r>
            <a:r>
              <a:rPr dirty="0" sz="1800" spc="-4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35">
                <a:solidFill>
                  <a:srgbClr val="585D60"/>
                </a:solidFill>
                <a:latin typeface="Arial"/>
                <a:cs typeface="Arial"/>
              </a:rPr>
              <a:t>not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15">
                <a:solidFill>
                  <a:srgbClr val="585D60"/>
                </a:solidFill>
                <a:latin typeface="Arial"/>
                <a:cs typeface="Arial"/>
              </a:rPr>
              <a:t>appear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5">
                <a:solidFill>
                  <a:srgbClr val="585D60"/>
                </a:solidFill>
                <a:latin typeface="Arial"/>
                <a:cs typeface="Arial"/>
              </a:rPr>
              <a:t>stationary</a:t>
            </a:r>
            <a:r>
              <a:rPr dirty="0" sz="1800" spc="-4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5">
                <a:solidFill>
                  <a:srgbClr val="585D60"/>
                </a:solidFill>
                <a:latin typeface="Arial"/>
                <a:cs typeface="Arial"/>
              </a:rPr>
              <a:t>and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60">
                <a:solidFill>
                  <a:srgbClr val="585D60"/>
                </a:solidFill>
                <a:latin typeface="Arial"/>
                <a:cs typeface="Arial"/>
              </a:rPr>
              <a:t>it</a:t>
            </a:r>
            <a:r>
              <a:rPr dirty="0" sz="1800" spc="-4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5">
                <a:solidFill>
                  <a:srgbClr val="585D60"/>
                </a:solidFill>
                <a:latin typeface="Arial"/>
                <a:cs typeface="Arial"/>
              </a:rPr>
              <a:t>may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20">
                <a:solidFill>
                  <a:srgbClr val="585D60"/>
                </a:solidFill>
                <a:latin typeface="Arial"/>
                <a:cs typeface="Arial"/>
              </a:rPr>
              <a:t>be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5">
                <a:solidFill>
                  <a:srgbClr val="585D60"/>
                </a:solidFill>
                <a:latin typeface="Arial"/>
                <a:cs typeface="Arial"/>
              </a:rPr>
              <a:t>necessary</a:t>
            </a:r>
            <a:r>
              <a:rPr dirty="0" sz="1800" spc="-4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45">
                <a:solidFill>
                  <a:srgbClr val="585D60"/>
                </a:solidFill>
                <a:latin typeface="Arial"/>
                <a:cs typeface="Arial"/>
              </a:rPr>
              <a:t>to  </a:t>
            </a:r>
            <a:r>
              <a:rPr dirty="0" sz="1800" spc="15">
                <a:solidFill>
                  <a:srgbClr val="585D60"/>
                </a:solidFill>
                <a:latin typeface="Arial"/>
                <a:cs typeface="Arial"/>
              </a:rPr>
              <a:t>difference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the data </a:t>
            </a:r>
            <a:r>
              <a:rPr dirty="0" sz="1800" spc="-25">
                <a:solidFill>
                  <a:srgbClr val="585D60"/>
                </a:solidFill>
                <a:latin typeface="Arial"/>
                <a:cs typeface="Arial"/>
              </a:rPr>
              <a:t>a </a:t>
            </a:r>
            <a:r>
              <a:rPr dirty="0" sz="1800" spc="5">
                <a:solidFill>
                  <a:srgbClr val="585D60"/>
                </a:solidFill>
                <a:latin typeface="Arial"/>
                <a:cs typeface="Arial"/>
              </a:rPr>
              <a:t>second</a:t>
            </a:r>
            <a:r>
              <a:rPr dirty="0" sz="1800" spc="-29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5">
                <a:solidFill>
                  <a:srgbClr val="585D60"/>
                </a:solidFill>
                <a:latin typeface="Arial"/>
                <a:cs typeface="Arial"/>
              </a:rPr>
              <a:t>time:</a:t>
            </a:r>
            <a:endParaRPr sz="180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873202" y="2274823"/>
            <a:ext cx="125095" cy="275590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1600" spc="-800" i="1">
                <a:solidFill>
                  <a:srgbClr val="585D60"/>
                </a:solidFill>
                <a:latin typeface="Arial"/>
                <a:cs typeface="Arial"/>
              </a:rPr>
              <a:t>y</a:t>
            </a:r>
            <a:endParaRPr sz="16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998515" y="2227503"/>
            <a:ext cx="101600" cy="22923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1300" spc="-200">
                <a:solidFill>
                  <a:srgbClr val="585D60"/>
                </a:solidFill>
                <a:latin typeface="Lucida Sans Unicode"/>
                <a:cs typeface="Lucida Sans Unicode"/>
              </a:rPr>
              <a:t>′′</a:t>
            </a:r>
            <a:endParaRPr sz="1300">
              <a:latin typeface="Lucida Sans Unicode"/>
              <a:cs typeface="Lucida Sans Unicode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985269" y="2402520"/>
            <a:ext cx="83820" cy="201930"/>
          </a:xfrm>
          <a:prstGeom prst="rect">
            <a:avLst/>
          </a:prstGeom>
        </p:spPr>
        <p:txBody>
          <a:bodyPr wrap="square" lIns="0" tIns="1333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dirty="0" sz="1150" spc="135" i="1">
                <a:solidFill>
                  <a:srgbClr val="585D60"/>
                </a:solidFill>
                <a:latin typeface="Arial"/>
                <a:cs typeface="Arial"/>
              </a:rPr>
              <a:t>t</a:t>
            </a:r>
            <a:endParaRPr sz="115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795365" y="1978253"/>
            <a:ext cx="389890" cy="84836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5400" spc="-4365">
                <a:solidFill>
                  <a:srgbClr val="585D60"/>
                </a:solidFill>
                <a:latin typeface="Cambria"/>
                <a:cs typeface="Cambria"/>
              </a:rPr>
              <a:t></a:t>
            </a:r>
            <a:r>
              <a:rPr dirty="0" sz="5400" spc="-4170">
                <a:solidFill>
                  <a:srgbClr val="585D60"/>
                </a:solidFill>
                <a:latin typeface="Cambria"/>
                <a:cs typeface="Cambria"/>
              </a:rPr>
              <a:t></a:t>
            </a:r>
            <a:r>
              <a:rPr dirty="0" sz="5400" spc="-4350">
                <a:solidFill>
                  <a:srgbClr val="585D60"/>
                </a:solidFill>
                <a:latin typeface="Cambria"/>
                <a:cs typeface="Cambria"/>
              </a:rPr>
              <a:t></a:t>
            </a:r>
            <a:r>
              <a:rPr dirty="0" sz="5400" spc="-4170">
                <a:solidFill>
                  <a:srgbClr val="585D60"/>
                </a:solidFill>
                <a:latin typeface="Cambria"/>
                <a:cs typeface="Cambria"/>
              </a:rPr>
              <a:t></a:t>
            </a:r>
            <a:endParaRPr sz="5400">
              <a:latin typeface="Cambria"/>
              <a:cs typeface="Cambria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363317" y="2703753"/>
            <a:ext cx="1266825" cy="22923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1300" spc="-105">
                <a:solidFill>
                  <a:srgbClr val="585D60"/>
                </a:solidFill>
                <a:latin typeface="Lucida Sans Unicode"/>
                <a:cs typeface="Lucida Sans Unicode"/>
              </a:rPr>
              <a:t>Second</a:t>
            </a:r>
            <a:r>
              <a:rPr dirty="0" sz="1300" spc="-145">
                <a:solidFill>
                  <a:srgbClr val="585D60"/>
                </a:solidFill>
                <a:latin typeface="Lucida Sans Unicode"/>
                <a:cs typeface="Lucida Sans Unicode"/>
              </a:rPr>
              <a:t> </a:t>
            </a:r>
            <a:r>
              <a:rPr dirty="0" sz="1300" spc="-95">
                <a:solidFill>
                  <a:srgbClr val="585D60"/>
                </a:solidFill>
                <a:latin typeface="Lucida Sans Unicode"/>
                <a:cs typeface="Lucida Sans Unicode"/>
              </a:rPr>
              <a:t>Difference</a:t>
            </a:r>
            <a:endParaRPr sz="1300">
              <a:latin typeface="Lucida Sans Unicode"/>
              <a:cs typeface="Lucida Sans Unicode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5926881" y="2402520"/>
            <a:ext cx="83820" cy="201930"/>
          </a:xfrm>
          <a:prstGeom prst="rect">
            <a:avLst/>
          </a:prstGeom>
        </p:spPr>
        <p:txBody>
          <a:bodyPr wrap="square" lIns="0" tIns="1333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dirty="0" sz="1150" spc="135" i="1">
                <a:solidFill>
                  <a:srgbClr val="585D60"/>
                </a:solidFill>
                <a:latin typeface="Arial"/>
                <a:cs typeface="Arial"/>
              </a:rPr>
              <a:t>t</a:t>
            </a:r>
            <a:endParaRPr sz="1150"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4642841" y="2242820"/>
            <a:ext cx="1866900" cy="31369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38100">
              <a:lnSpc>
                <a:spcPct val="100000"/>
              </a:lnSpc>
              <a:spcBef>
                <a:spcPts val="90"/>
              </a:spcBef>
              <a:tabLst>
                <a:tab pos="1184275" algn="l"/>
              </a:tabLst>
            </a:pPr>
            <a:r>
              <a:rPr dirty="0" sz="1900" spc="-110">
                <a:solidFill>
                  <a:srgbClr val="585D60"/>
                </a:solidFill>
                <a:latin typeface="Lucida Sans Unicode"/>
                <a:cs typeface="Lucida Sans Unicode"/>
              </a:rPr>
              <a:t>=	</a:t>
            </a:r>
            <a:r>
              <a:rPr dirty="0" sz="1600" spc="50" i="1">
                <a:solidFill>
                  <a:srgbClr val="585D60"/>
                </a:solidFill>
                <a:latin typeface="Arial"/>
                <a:cs typeface="Arial"/>
              </a:rPr>
              <a:t>y</a:t>
            </a:r>
            <a:r>
              <a:rPr dirty="0" baseline="27777" sz="1950" spc="75">
                <a:solidFill>
                  <a:srgbClr val="585D60"/>
                </a:solidFill>
                <a:latin typeface="Lucida Sans Unicode"/>
                <a:cs typeface="Lucida Sans Unicode"/>
              </a:rPr>
              <a:t>′ </a:t>
            </a:r>
            <a:r>
              <a:rPr dirty="0" sz="1900" spc="-110">
                <a:solidFill>
                  <a:srgbClr val="585D60"/>
                </a:solidFill>
                <a:latin typeface="Lucida Sans Unicode"/>
                <a:cs typeface="Lucida Sans Unicode"/>
              </a:rPr>
              <a:t>−</a:t>
            </a:r>
            <a:r>
              <a:rPr dirty="0" sz="1900" spc="-235">
                <a:solidFill>
                  <a:srgbClr val="585D60"/>
                </a:solidFill>
                <a:latin typeface="Lucida Sans Unicode"/>
                <a:cs typeface="Lucida Sans Unicode"/>
              </a:rPr>
              <a:t> </a:t>
            </a:r>
            <a:r>
              <a:rPr dirty="0" sz="1600" spc="50" i="1">
                <a:solidFill>
                  <a:srgbClr val="585D60"/>
                </a:solidFill>
                <a:latin typeface="Arial"/>
                <a:cs typeface="Arial"/>
              </a:rPr>
              <a:t>y</a:t>
            </a:r>
            <a:r>
              <a:rPr dirty="0" baseline="27777" sz="1950" spc="75">
                <a:solidFill>
                  <a:srgbClr val="585D60"/>
                </a:solidFill>
                <a:latin typeface="Lucida Sans Unicode"/>
                <a:cs typeface="Lucida Sans Unicode"/>
              </a:rPr>
              <a:t>′</a:t>
            </a:r>
            <a:endParaRPr baseline="27777" sz="1950">
              <a:latin typeface="Lucida Sans Unicode"/>
              <a:cs typeface="Lucida Sans Unicode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6387950" y="2379903"/>
            <a:ext cx="290830" cy="22923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1150" spc="135" i="1">
                <a:solidFill>
                  <a:srgbClr val="585D60"/>
                </a:solidFill>
                <a:latin typeface="Arial"/>
                <a:cs typeface="Arial"/>
              </a:rPr>
              <a:t>t</a:t>
            </a:r>
            <a:r>
              <a:rPr dirty="0" sz="1300" spc="-45">
                <a:solidFill>
                  <a:srgbClr val="585D60"/>
                </a:solidFill>
                <a:latin typeface="Lucida Sans Unicode"/>
                <a:cs typeface="Lucida Sans Unicode"/>
              </a:rPr>
              <a:t>−</a:t>
            </a:r>
            <a:r>
              <a:rPr dirty="0" sz="1300" spc="-190">
                <a:solidFill>
                  <a:srgbClr val="585D60"/>
                </a:solidFill>
                <a:latin typeface="Lucida Sans Unicode"/>
                <a:cs typeface="Lucida Sans Unicode"/>
              </a:rPr>
              <a:t>1</a:t>
            </a:r>
            <a:endParaRPr sz="1300">
              <a:latin typeface="Lucida Sans Unicode"/>
              <a:cs typeface="Lucida Sans Unicode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5820171" y="1997303"/>
            <a:ext cx="849630" cy="84836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5400" spc="-4290">
                <a:solidFill>
                  <a:srgbClr val="585D60"/>
                </a:solidFill>
                <a:latin typeface="Cambria"/>
                <a:cs typeface="Cambria"/>
              </a:rPr>
              <a:t></a:t>
            </a:r>
            <a:r>
              <a:rPr dirty="0" sz="5400" spc="-4490">
                <a:solidFill>
                  <a:srgbClr val="585D60"/>
                </a:solidFill>
                <a:latin typeface="Cambria"/>
                <a:cs typeface="Cambria"/>
              </a:rPr>
              <a:t></a:t>
            </a:r>
            <a:r>
              <a:rPr dirty="0" sz="5400" spc="-4320">
                <a:solidFill>
                  <a:srgbClr val="585D60"/>
                </a:solidFill>
                <a:latin typeface="Cambria"/>
                <a:cs typeface="Cambria"/>
              </a:rPr>
              <a:t></a:t>
            </a:r>
            <a:r>
              <a:rPr dirty="0" sz="5400" spc="-4170">
                <a:solidFill>
                  <a:srgbClr val="585D60"/>
                </a:solidFill>
                <a:latin typeface="Cambria"/>
                <a:cs typeface="Cambria"/>
              </a:rPr>
              <a:t></a:t>
            </a:r>
            <a:r>
              <a:rPr dirty="0" sz="5400" spc="-4290">
                <a:solidFill>
                  <a:srgbClr val="585D60"/>
                </a:solidFill>
                <a:latin typeface="Cambria"/>
                <a:cs typeface="Cambria"/>
              </a:rPr>
              <a:t></a:t>
            </a:r>
            <a:r>
              <a:rPr dirty="0" sz="5400" spc="-4490">
                <a:solidFill>
                  <a:srgbClr val="585D60"/>
                </a:solidFill>
                <a:latin typeface="Cambria"/>
                <a:cs typeface="Cambria"/>
              </a:rPr>
              <a:t></a:t>
            </a:r>
            <a:r>
              <a:rPr dirty="0" sz="5400" spc="-4320">
                <a:solidFill>
                  <a:srgbClr val="585D60"/>
                </a:solidFill>
                <a:latin typeface="Cambria"/>
                <a:cs typeface="Cambria"/>
              </a:rPr>
              <a:t></a:t>
            </a:r>
            <a:r>
              <a:rPr dirty="0" sz="5400" spc="-4840">
                <a:solidFill>
                  <a:srgbClr val="585D60"/>
                </a:solidFill>
                <a:latin typeface="Cambria"/>
                <a:cs typeface="Cambria"/>
              </a:rPr>
              <a:t></a:t>
            </a:r>
            <a:endParaRPr sz="5400">
              <a:latin typeface="Cambria"/>
              <a:cs typeface="Cambria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4909790" y="2722803"/>
            <a:ext cx="2677160" cy="22923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1300" spc="-15">
                <a:solidFill>
                  <a:srgbClr val="585D60"/>
                </a:solidFill>
                <a:latin typeface="Lucida Sans Unicode"/>
                <a:cs typeface="Lucida Sans Unicode"/>
              </a:rPr>
              <a:t>First </a:t>
            </a:r>
            <a:r>
              <a:rPr dirty="0" sz="1300" spc="-95">
                <a:solidFill>
                  <a:srgbClr val="585D60"/>
                </a:solidFill>
                <a:latin typeface="Lucida Sans Unicode"/>
                <a:cs typeface="Lucida Sans Unicode"/>
              </a:rPr>
              <a:t>Difference </a:t>
            </a:r>
            <a:r>
              <a:rPr dirty="0" sz="1300" spc="-130">
                <a:solidFill>
                  <a:srgbClr val="585D60"/>
                </a:solidFill>
                <a:latin typeface="Lucida Sans Unicode"/>
                <a:cs typeface="Lucida Sans Unicode"/>
              </a:rPr>
              <a:t>of </a:t>
            </a:r>
            <a:r>
              <a:rPr dirty="0" sz="1300" spc="-85">
                <a:solidFill>
                  <a:srgbClr val="585D60"/>
                </a:solidFill>
                <a:latin typeface="Lucida Sans Unicode"/>
                <a:cs typeface="Lucida Sans Unicode"/>
              </a:rPr>
              <a:t>the </a:t>
            </a:r>
            <a:r>
              <a:rPr dirty="0" sz="1300" spc="-15">
                <a:solidFill>
                  <a:srgbClr val="585D60"/>
                </a:solidFill>
                <a:latin typeface="Lucida Sans Unicode"/>
                <a:cs typeface="Lucida Sans Unicode"/>
              </a:rPr>
              <a:t>First</a:t>
            </a:r>
            <a:r>
              <a:rPr dirty="0" sz="1300" spc="-165">
                <a:solidFill>
                  <a:srgbClr val="585D60"/>
                </a:solidFill>
                <a:latin typeface="Lucida Sans Unicode"/>
                <a:cs typeface="Lucida Sans Unicode"/>
              </a:rPr>
              <a:t> </a:t>
            </a:r>
            <a:r>
              <a:rPr dirty="0" sz="1300" spc="-95">
                <a:solidFill>
                  <a:srgbClr val="585D60"/>
                </a:solidFill>
                <a:latin typeface="Lucida Sans Unicode"/>
                <a:cs typeface="Lucida Sans Unicode"/>
              </a:rPr>
              <a:t>Difference</a:t>
            </a:r>
            <a:endParaRPr sz="1300">
              <a:latin typeface="Lucida Sans Unicode"/>
              <a:cs typeface="Lucida Sans Unicode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5286176" y="3059745"/>
            <a:ext cx="71120" cy="201930"/>
          </a:xfrm>
          <a:prstGeom prst="rect">
            <a:avLst/>
          </a:prstGeom>
        </p:spPr>
        <p:txBody>
          <a:bodyPr wrap="square" lIns="0" tIns="1333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dirty="0" sz="1150" spc="-285" i="1">
                <a:solidFill>
                  <a:srgbClr val="585D60"/>
                </a:solidFill>
                <a:latin typeface="Arial"/>
                <a:cs typeface="Arial"/>
              </a:rPr>
              <a:t>t</a:t>
            </a:r>
            <a:endParaRPr sz="1150">
              <a:latin typeface="Arial"/>
              <a:cs typeface="Arial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4668241" y="2928620"/>
            <a:ext cx="1092200" cy="31369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  <a:tabLst>
                <a:tab pos="429259" algn="l"/>
              </a:tabLst>
            </a:pPr>
            <a:r>
              <a:rPr dirty="0" sz="1900" spc="-110">
                <a:solidFill>
                  <a:srgbClr val="585D60"/>
                </a:solidFill>
                <a:latin typeface="Lucida Sans Unicode"/>
                <a:cs typeface="Lucida Sans Unicode"/>
              </a:rPr>
              <a:t>=	</a:t>
            </a:r>
            <a:r>
              <a:rPr dirty="0" sz="1900" spc="80">
                <a:solidFill>
                  <a:srgbClr val="585D60"/>
                </a:solidFill>
                <a:latin typeface="Lucida Sans Unicode"/>
                <a:cs typeface="Lucida Sans Unicode"/>
              </a:rPr>
              <a:t>(</a:t>
            </a:r>
            <a:r>
              <a:rPr dirty="0" sz="1600" spc="80" i="1">
                <a:solidFill>
                  <a:srgbClr val="585D60"/>
                </a:solidFill>
                <a:latin typeface="Arial"/>
                <a:cs typeface="Arial"/>
              </a:rPr>
              <a:t>y </a:t>
            </a:r>
            <a:r>
              <a:rPr dirty="0" sz="1900" spc="-110">
                <a:solidFill>
                  <a:srgbClr val="585D60"/>
                </a:solidFill>
                <a:latin typeface="Lucida Sans Unicode"/>
                <a:cs typeface="Lucida Sans Unicode"/>
              </a:rPr>
              <a:t>−</a:t>
            </a:r>
            <a:r>
              <a:rPr dirty="0" sz="1900" spc="-380">
                <a:solidFill>
                  <a:srgbClr val="585D60"/>
                </a:solidFill>
                <a:latin typeface="Lucida Sans Unicode"/>
                <a:cs typeface="Lucida Sans Unicode"/>
              </a:rPr>
              <a:t> </a:t>
            </a:r>
            <a:r>
              <a:rPr dirty="0" sz="1600" spc="-440" i="1">
                <a:solidFill>
                  <a:srgbClr val="585D60"/>
                </a:solidFill>
                <a:latin typeface="Arial"/>
                <a:cs typeface="Arial"/>
              </a:rPr>
              <a:t>y</a:t>
            </a:r>
            <a:endParaRPr sz="1600">
              <a:latin typeface="Arial"/>
              <a:cs typeface="Arial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4909790" y="3389553"/>
            <a:ext cx="1396365" cy="22923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1300" spc="-15">
                <a:solidFill>
                  <a:srgbClr val="585D60"/>
                </a:solidFill>
                <a:latin typeface="Lucida Sans Unicode"/>
                <a:cs typeface="Lucida Sans Unicode"/>
              </a:rPr>
              <a:t>First </a:t>
            </a:r>
            <a:r>
              <a:rPr dirty="0" sz="1300" spc="-95">
                <a:solidFill>
                  <a:srgbClr val="585D60"/>
                </a:solidFill>
                <a:latin typeface="Lucida Sans Unicode"/>
                <a:cs typeface="Lucida Sans Unicode"/>
              </a:rPr>
              <a:t>Difference </a:t>
            </a:r>
            <a:r>
              <a:rPr dirty="0" sz="1300" spc="-40">
                <a:solidFill>
                  <a:srgbClr val="585D60"/>
                </a:solidFill>
                <a:latin typeface="Lucida Sans Unicode"/>
                <a:cs typeface="Lucida Sans Unicode"/>
              </a:rPr>
              <a:t>at</a:t>
            </a:r>
            <a:r>
              <a:rPr dirty="0" sz="1300" spc="-225">
                <a:solidFill>
                  <a:srgbClr val="585D60"/>
                </a:solidFill>
                <a:latin typeface="Lucida Sans Unicode"/>
                <a:cs typeface="Lucida Sans Unicode"/>
              </a:rPr>
              <a:t> </a:t>
            </a:r>
            <a:r>
              <a:rPr dirty="0" sz="1150" spc="135" i="1">
                <a:solidFill>
                  <a:srgbClr val="585D60"/>
                </a:solidFill>
                <a:latin typeface="Arial"/>
                <a:cs typeface="Arial"/>
              </a:rPr>
              <a:t>t</a:t>
            </a:r>
            <a:endParaRPr sz="115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5747245" y="3037128"/>
            <a:ext cx="2146935" cy="22923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1201420" algn="l"/>
                <a:tab pos="1868805" algn="l"/>
              </a:tabLst>
            </a:pPr>
            <a:r>
              <a:rPr dirty="0" sz="1150" spc="135" i="1">
                <a:solidFill>
                  <a:srgbClr val="585D60"/>
                </a:solidFill>
                <a:latin typeface="Arial"/>
                <a:cs typeface="Arial"/>
              </a:rPr>
              <a:t>t</a:t>
            </a:r>
            <a:r>
              <a:rPr dirty="0" sz="1300" spc="-45">
                <a:solidFill>
                  <a:srgbClr val="585D60"/>
                </a:solidFill>
                <a:latin typeface="Lucida Sans Unicode"/>
                <a:cs typeface="Lucida Sans Unicode"/>
              </a:rPr>
              <a:t>−</a:t>
            </a:r>
            <a:r>
              <a:rPr dirty="0" sz="1300" spc="-190">
                <a:solidFill>
                  <a:srgbClr val="585D60"/>
                </a:solidFill>
                <a:latin typeface="Lucida Sans Unicode"/>
                <a:cs typeface="Lucida Sans Unicode"/>
              </a:rPr>
              <a:t>1</a:t>
            </a:r>
            <a:r>
              <a:rPr dirty="0" sz="1300" spc="-190">
                <a:solidFill>
                  <a:srgbClr val="585D60"/>
                </a:solidFill>
                <a:latin typeface="Lucida Sans Unicode"/>
                <a:cs typeface="Lucida Sans Unicode"/>
              </a:rPr>
              <a:t>	</a:t>
            </a:r>
            <a:r>
              <a:rPr dirty="0" sz="1150" spc="135" i="1">
                <a:solidFill>
                  <a:srgbClr val="585D60"/>
                </a:solidFill>
                <a:latin typeface="Arial"/>
                <a:cs typeface="Arial"/>
              </a:rPr>
              <a:t>t</a:t>
            </a:r>
            <a:r>
              <a:rPr dirty="0" sz="1300" spc="-45">
                <a:solidFill>
                  <a:srgbClr val="585D60"/>
                </a:solidFill>
                <a:latin typeface="Lucida Sans Unicode"/>
                <a:cs typeface="Lucida Sans Unicode"/>
              </a:rPr>
              <a:t>−</a:t>
            </a:r>
            <a:r>
              <a:rPr dirty="0" sz="1300" spc="-190">
                <a:solidFill>
                  <a:srgbClr val="585D60"/>
                </a:solidFill>
                <a:latin typeface="Lucida Sans Unicode"/>
                <a:cs typeface="Lucida Sans Unicode"/>
              </a:rPr>
              <a:t>1</a:t>
            </a:r>
            <a:r>
              <a:rPr dirty="0" sz="1300" spc="-190">
                <a:solidFill>
                  <a:srgbClr val="585D60"/>
                </a:solidFill>
                <a:latin typeface="Lucida Sans Unicode"/>
                <a:cs typeface="Lucida Sans Unicode"/>
              </a:rPr>
              <a:t>	</a:t>
            </a:r>
            <a:r>
              <a:rPr dirty="0" sz="1150" spc="135" i="1">
                <a:solidFill>
                  <a:srgbClr val="585D60"/>
                </a:solidFill>
                <a:latin typeface="Arial"/>
                <a:cs typeface="Arial"/>
              </a:rPr>
              <a:t>t</a:t>
            </a:r>
            <a:r>
              <a:rPr dirty="0" sz="1300" spc="-45">
                <a:solidFill>
                  <a:srgbClr val="585D60"/>
                </a:solidFill>
                <a:latin typeface="Lucida Sans Unicode"/>
                <a:cs typeface="Lucida Sans Unicode"/>
              </a:rPr>
              <a:t>−</a:t>
            </a:r>
            <a:r>
              <a:rPr dirty="0" sz="1300" spc="-190">
                <a:solidFill>
                  <a:srgbClr val="585D60"/>
                </a:solidFill>
                <a:latin typeface="Lucida Sans Unicode"/>
                <a:cs typeface="Lucida Sans Unicode"/>
              </a:rPr>
              <a:t>2</a:t>
            </a:r>
            <a:endParaRPr sz="1300">
              <a:latin typeface="Lucida Sans Unicode"/>
              <a:cs typeface="Lucida Sans Unicode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6023619" y="2928620"/>
            <a:ext cx="1971039" cy="31369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  <a:tabLst>
                <a:tab pos="320040" algn="l"/>
                <a:tab pos="723900" algn="l"/>
                <a:tab pos="1251585" algn="l"/>
                <a:tab pos="1868805" algn="l"/>
              </a:tabLst>
            </a:pPr>
            <a:r>
              <a:rPr dirty="0" sz="1900" spc="80">
                <a:solidFill>
                  <a:srgbClr val="585D60"/>
                </a:solidFill>
                <a:latin typeface="Lucida Sans Unicode"/>
                <a:cs typeface="Lucida Sans Unicode"/>
              </a:rPr>
              <a:t>)</a:t>
            </a:r>
            <a:r>
              <a:rPr dirty="0" sz="1900" spc="80">
                <a:solidFill>
                  <a:srgbClr val="585D60"/>
                </a:solidFill>
                <a:latin typeface="Lucida Sans Unicode"/>
                <a:cs typeface="Lucida Sans Unicode"/>
              </a:rPr>
              <a:t>	</a:t>
            </a:r>
            <a:r>
              <a:rPr dirty="0" sz="1900" spc="-110">
                <a:solidFill>
                  <a:srgbClr val="585D60"/>
                </a:solidFill>
                <a:latin typeface="Lucida Sans Unicode"/>
                <a:cs typeface="Lucida Sans Unicode"/>
              </a:rPr>
              <a:t>−</a:t>
            </a:r>
            <a:r>
              <a:rPr dirty="0" sz="1900" spc="-110">
                <a:solidFill>
                  <a:srgbClr val="585D60"/>
                </a:solidFill>
                <a:latin typeface="Lucida Sans Unicode"/>
                <a:cs typeface="Lucida Sans Unicode"/>
              </a:rPr>
              <a:t>	</a:t>
            </a:r>
            <a:r>
              <a:rPr dirty="0" sz="1900" spc="80">
                <a:solidFill>
                  <a:srgbClr val="585D60"/>
                </a:solidFill>
                <a:latin typeface="Lucida Sans Unicode"/>
                <a:cs typeface="Lucida Sans Unicode"/>
              </a:rPr>
              <a:t>(</a:t>
            </a:r>
            <a:r>
              <a:rPr dirty="0" sz="1600" spc="80" i="1">
                <a:solidFill>
                  <a:srgbClr val="585D60"/>
                </a:solidFill>
                <a:latin typeface="Arial"/>
                <a:cs typeface="Arial"/>
              </a:rPr>
              <a:t>y</a:t>
            </a:r>
            <a:r>
              <a:rPr dirty="0" sz="1600" spc="80" i="1">
                <a:solidFill>
                  <a:srgbClr val="585D60"/>
                </a:solidFill>
                <a:latin typeface="Arial"/>
                <a:cs typeface="Arial"/>
              </a:rPr>
              <a:t>	</a:t>
            </a:r>
            <a:r>
              <a:rPr dirty="0" sz="1900" spc="-110">
                <a:solidFill>
                  <a:srgbClr val="585D60"/>
                </a:solidFill>
                <a:latin typeface="Lucida Sans Unicode"/>
                <a:cs typeface="Lucida Sans Unicode"/>
              </a:rPr>
              <a:t>−</a:t>
            </a:r>
            <a:r>
              <a:rPr dirty="0" sz="1900" spc="-204">
                <a:solidFill>
                  <a:srgbClr val="585D60"/>
                </a:solidFill>
                <a:latin typeface="Lucida Sans Unicode"/>
                <a:cs typeface="Lucida Sans Unicode"/>
              </a:rPr>
              <a:t> </a:t>
            </a:r>
            <a:r>
              <a:rPr dirty="0" sz="1600" spc="80" i="1">
                <a:solidFill>
                  <a:srgbClr val="585D60"/>
                </a:solidFill>
                <a:latin typeface="Arial"/>
                <a:cs typeface="Arial"/>
              </a:rPr>
              <a:t>y</a:t>
            </a:r>
            <a:r>
              <a:rPr dirty="0" sz="1600" i="1">
                <a:solidFill>
                  <a:srgbClr val="585D60"/>
                </a:solidFill>
                <a:latin typeface="Arial"/>
                <a:cs typeface="Arial"/>
              </a:rPr>
              <a:t>	</a:t>
            </a:r>
            <a:r>
              <a:rPr dirty="0" sz="1900" spc="80">
                <a:solidFill>
                  <a:srgbClr val="585D60"/>
                </a:solidFill>
                <a:latin typeface="Lucida Sans Unicode"/>
                <a:cs typeface="Lucida Sans Unicode"/>
              </a:rPr>
              <a:t>)</a:t>
            </a:r>
            <a:endParaRPr sz="1900">
              <a:latin typeface="Lucida Sans Unicode"/>
              <a:cs typeface="Lucida Sans Unicode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5090467" y="2664053"/>
            <a:ext cx="2884170" cy="84836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1662430" algn="l"/>
              </a:tabLst>
            </a:pPr>
            <a:r>
              <a:rPr dirty="0" sz="5400" spc="-4445">
                <a:solidFill>
                  <a:srgbClr val="585D60"/>
                </a:solidFill>
                <a:latin typeface="Cambria"/>
                <a:cs typeface="Cambria"/>
              </a:rPr>
              <a:t>	</a:t>
            </a:r>
            <a:r>
              <a:rPr dirty="0" sz="5400" spc="-4810">
                <a:solidFill>
                  <a:srgbClr val="585D60"/>
                </a:solidFill>
                <a:latin typeface="Cambria"/>
                <a:cs typeface="Cambria"/>
              </a:rPr>
              <a:t></a:t>
            </a:r>
            <a:endParaRPr sz="5400">
              <a:latin typeface="Cambria"/>
              <a:cs typeface="Cambria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5021857" y="3736019"/>
            <a:ext cx="83820" cy="201930"/>
          </a:xfrm>
          <a:prstGeom prst="rect">
            <a:avLst/>
          </a:prstGeom>
        </p:spPr>
        <p:txBody>
          <a:bodyPr wrap="square" lIns="0" tIns="1333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dirty="0" sz="1150" spc="135" i="1">
                <a:solidFill>
                  <a:srgbClr val="585D60"/>
                </a:solidFill>
                <a:latin typeface="Arial"/>
                <a:cs typeface="Arial"/>
              </a:rPr>
              <a:t>t</a:t>
            </a:r>
            <a:endParaRPr sz="1150">
              <a:latin typeface="Arial"/>
              <a:cs typeface="Arial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4668241" y="3604894"/>
            <a:ext cx="941705" cy="31369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900" spc="-110">
                <a:solidFill>
                  <a:srgbClr val="585D60"/>
                </a:solidFill>
                <a:latin typeface="Lucida Sans Unicode"/>
                <a:cs typeface="Lucida Sans Unicode"/>
              </a:rPr>
              <a:t>= </a:t>
            </a:r>
            <a:r>
              <a:rPr dirty="0" sz="1600" spc="80" i="1">
                <a:solidFill>
                  <a:srgbClr val="585D60"/>
                </a:solidFill>
                <a:latin typeface="Arial"/>
                <a:cs typeface="Arial"/>
              </a:rPr>
              <a:t>y </a:t>
            </a:r>
            <a:r>
              <a:rPr dirty="0" sz="1900" spc="-110">
                <a:solidFill>
                  <a:srgbClr val="585D60"/>
                </a:solidFill>
                <a:latin typeface="Lucida Sans Unicode"/>
                <a:cs typeface="Lucida Sans Unicode"/>
              </a:rPr>
              <a:t>−</a:t>
            </a:r>
            <a:r>
              <a:rPr dirty="0" sz="1900" spc="-375">
                <a:solidFill>
                  <a:srgbClr val="585D60"/>
                </a:solidFill>
                <a:latin typeface="Lucida Sans Unicode"/>
                <a:cs typeface="Lucida Sans Unicode"/>
              </a:rPr>
              <a:t> 2</a:t>
            </a:r>
            <a:r>
              <a:rPr dirty="0" sz="1600" spc="-375" i="1">
                <a:solidFill>
                  <a:srgbClr val="585D60"/>
                </a:solidFill>
                <a:latin typeface="Arial"/>
                <a:cs typeface="Arial"/>
              </a:rPr>
              <a:t>y</a:t>
            </a:r>
            <a:endParaRPr sz="1600">
              <a:latin typeface="Arial"/>
              <a:cs typeface="Arial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5597226" y="3713403"/>
            <a:ext cx="278130" cy="22923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1150" spc="-170" i="1">
                <a:solidFill>
                  <a:srgbClr val="585D60"/>
                </a:solidFill>
                <a:latin typeface="Arial"/>
                <a:cs typeface="Arial"/>
              </a:rPr>
              <a:t>t</a:t>
            </a:r>
            <a:r>
              <a:rPr dirty="0" sz="1300" spc="-170">
                <a:solidFill>
                  <a:srgbClr val="585D60"/>
                </a:solidFill>
                <a:latin typeface="Lucida Sans Unicode"/>
                <a:cs typeface="Lucida Sans Unicode"/>
              </a:rPr>
              <a:t>−1</a:t>
            </a:r>
            <a:endParaRPr sz="1300">
              <a:latin typeface="Lucida Sans Unicode"/>
              <a:cs typeface="Lucida Sans Unicode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6264869" y="3713403"/>
            <a:ext cx="290830" cy="22923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1150" spc="135" i="1">
                <a:solidFill>
                  <a:srgbClr val="585D60"/>
                </a:solidFill>
                <a:latin typeface="Arial"/>
                <a:cs typeface="Arial"/>
              </a:rPr>
              <a:t>t</a:t>
            </a:r>
            <a:r>
              <a:rPr dirty="0" sz="1300" spc="-45">
                <a:solidFill>
                  <a:srgbClr val="585D60"/>
                </a:solidFill>
                <a:latin typeface="Lucida Sans Unicode"/>
                <a:cs typeface="Lucida Sans Unicode"/>
              </a:rPr>
              <a:t>−</a:t>
            </a:r>
            <a:r>
              <a:rPr dirty="0" sz="1300" spc="-190">
                <a:solidFill>
                  <a:srgbClr val="585D60"/>
                </a:solidFill>
                <a:latin typeface="Lucida Sans Unicode"/>
                <a:cs typeface="Lucida Sans Unicode"/>
              </a:rPr>
              <a:t>2</a:t>
            </a:r>
            <a:endParaRPr sz="1300">
              <a:latin typeface="Lucida Sans Unicode"/>
              <a:cs typeface="Lucida Sans Unicode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4915148" y="3321278"/>
            <a:ext cx="1628139" cy="84836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5400" spc="-4295">
                <a:solidFill>
                  <a:srgbClr val="585D60"/>
                </a:solidFill>
                <a:latin typeface="Cambria"/>
                <a:cs typeface="Cambria"/>
              </a:rPr>
              <a:t></a:t>
            </a:r>
            <a:r>
              <a:rPr dirty="0" sz="5400" spc="-4510">
                <a:solidFill>
                  <a:srgbClr val="585D60"/>
                </a:solidFill>
                <a:latin typeface="Cambria"/>
                <a:cs typeface="Cambria"/>
              </a:rPr>
              <a:t></a:t>
            </a:r>
            <a:r>
              <a:rPr dirty="0" sz="5400" spc="-4330">
                <a:solidFill>
                  <a:srgbClr val="585D60"/>
                </a:solidFill>
                <a:latin typeface="Cambria"/>
                <a:cs typeface="Cambria"/>
              </a:rPr>
              <a:t></a:t>
            </a:r>
            <a:r>
              <a:rPr dirty="0" sz="5400" spc="-4170">
                <a:solidFill>
                  <a:srgbClr val="585D60"/>
                </a:solidFill>
                <a:latin typeface="Cambria"/>
                <a:cs typeface="Cambria"/>
              </a:rPr>
              <a:t></a:t>
            </a:r>
            <a:r>
              <a:rPr dirty="0" sz="5400" spc="-4295">
                <a:solidFill>
                  <a:srgbClr val="585D60"/>
                </a:solidFill>
                <a:latin typeface="Cambria"/>
                <a:cs typeface="Cambria"/>
              </a:rPr>
              <a:t></a:t>
            </a:r>
            <a:r>
              <a:rPr dirty="0" sz="5400" spc="-4510">
                <a:solidFill>
                  <a:srgbClr val="585D60"/>
                </a:solidFill>
                <a:latin typeface="Cambria"/>
                <a:cs typeface="Cambria"/>
              </a:rPr>
              <a:t></a:t>
            </a:r>
            <a:r>
              <a:rPr dirty="0" sz="5400" spc="-4330">
                <a:solidFill>
                  <a:srgbClr val="585D60"/>
                </a:solidFill>
                <a:latin typeface="Cambria"/>
                <a:cs typeface="Cambria"/>
              </a:rPr>
              <a:t></a:t>
            </a:r>
            <a:r>
              <a:rPr dirty="0" sz="5400" spc="-4810">
                <a:solidFill>
                  <a:srgbClr val="585D60"/>
                </a:solidFill>
                <a:latin typeface="Cambria"/>
                <a:cs typeface="Cambria"/>
              </a:rPr>
              <a:t></a:t>
            </a:r>
            <a:endParaRPr sz="5400">
              <a:latin typeface="Cambria"/>
              <a:cs typeface="Cambria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4998342" y="4046778"/>
            <a:ext cx="1469390" cy="22923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1300" spc="-20">
                <a:solidFill>
                  <a:srgbClr val="585D60"/>
                </a:solidFill>
                <a:latin typeface="Lucida Sans Unicode"/>
                <a:cs typeface="Lucida Sans Unicode"/>
              </a:rPr>
              <a:t>Final </a:t>
            </a:r>
            <a:r>
              <a:rPr dirty="0" sz="1300" spc="-120">
                <a:solidFill>
                  <a:srgbClr val="585D60"/>
                </a:solidFill>
                <a:latin typeface="Lucida Sans Unicode"/>
                <a:cs typeface="Lucida Sans Unicode"/>
              </a:rPr>
              <a:t>expanded</a:t>
            </a:r>
            <a:r>
              <a:rPr dirty="0" sz="1300" spc="-250">
                <a:solidFill>
                  <a:srgbClr val="585D60"/>
                </a:solidFill>
                <a:latin typeface="Lucida Sans Unicode"/>
                <a:cs typeface="Lucida Sans Unicode"/>
              </a:rPr>
              <a:t> </a:t>
            </a:r>
            <a:r>
              <a:rPr dirty="0" sz="1300" spc="-110">
                <a:solidFill>
                  <a:srgbClr val="585D60"/>
                </a:solidFill>
                <a:latin typeface="Lucida Sans Unicode"/>
                <a:cs typeface="Lucida Sans Unicode"/>
              </a:rPr>
              <a:t>form</a:t>
            </a:r>
            <a:endParaRPr sz="1300">
              <a:latin typeface="Lucida Sans Unicode"/>
              <a:cs typeface="Lucida Sans Unicode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5924202" y="3389553"/>
            <a:ext cx="2238375" cy="52895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647700">
              <a:lnSpc>
                <a:spcPct val="100000"/>
              </a:lnSpc>
              <a:spcBef>
                <a:spcPts val="135"/>
              </a:spcBef>
            </a:pPr>
            <a:r>
              <a:rPr dirty="0" sz="1300" spc="-15">
                <a:solidFill>
                  <a:srgbClr val="585D60"/>
                </a:solidFill>
                <a:latin typeface="Lucida Sans Unicode"/>
                <a:cs typeface="Lucida Sans Unicode"/>
              </a:rPr>
              <a:t>First </a:t>
            </a:r>
            <a:r>
              <a:rPr dirty="0" sz="1300" spc="-95">
                <a:solidFill>
                  <a:srgbClr val="585D60"/>
                </a:solidFill>
                <a:latin typeface="Lucida Sans Unicode"/>
                <a:cs typeface="Lucida Sans Unicode"/>
              </a:rPr>
              <a:t>Difference </a:t>
            </a:r>
            <a:r>
              <a:rPr dirty="0" sz="1300" spc="-40">
                <a:solidFill>
                  <a:srgbClr val="585D60"/>
                </a:solidFill>
                <a:latin typeface="Lucida Sans Unicode"/>
                <a:cs typeface="Lucida Sans Unicode"/>
              </a:rPr>
              <a:t>at</a:t>
            </a:r>
            <a:r>
              <a:rPr dirty="0" sz="1300" spc="-229">
                <a:solidFill>
                  <a:srgbClr val="585D60"/>
                </a:solidFill>
                <a:latin typeface="Lucida Sans Unicode"/>
                <a:cs typeface="Lucida Sans Unicode"/>
              </a:rPr>
              <a:t> </a:t>
            </a:r>
            <a:r>
              <a:rPr dirty="0" sz="1150" spc="-30" i="1">
                <a:solidFill>
                  <a:srgbClr val="585D60"/>
                </a:solidFill>
                <a:latin typeface="Arial"/>
                <a:cs typeface="Arial"/>
              </a:rPr>
              <a:t>t</a:t>
            </a:r>
            <a:r>
              <a:rPr dirty="0" sz="1300" spc="-30">
                <a:solidFill>
                  <a:srgbClr val="585D60"/>
                </a:solidFill>
                <a:latin typeface="Lucida Sans Unicode"/>
                <a:cs typeface="Lucida Sans Unicode"/>
              </a:rPr>
              <a:t>−1</a:t>
            </a:r>
            <a:endParaRPr sz="1300">
              <a:latin typeface="Lucida Sans Unicode"/>
              <a:cs typeface="Lucida Sans Unicode"/>
            </a:endParaRPr>
          </a:p>
          <a:p>
            <a:pPr marL="12700">
              <a:lnSpc>
                <a:spcPct val="100000"/>
              </a:lnSpc>
              <a:spcBef>
                <a:spcPts val="90"/>
              </a:spcBef>
              <a:tabLst>
                <a:tab pos="629285" algn="l"/>
              </a:tabLst>
            </a:pPr>
            <a:r>
              <a:rPr dirty="0" sz="1900" spc="-110">
                <a:solidFill>
                  <a:srgbClr val="585D60"/>
                </a:solidFill>
                <a:latin typeface="Lucida Sans Unicode"/>
                <a:cs typeface="Lucida Sans Unicode"/>
              </a:rPr>
              <a:t>+</a:t>
            </a:r>
            <a:r>
              <a:rPr dirty="0" sz="1900" spc="-204">
                <a:solidFill>
                  <a:srgbClr val="585D60"/>
                </a:solidFill>
                <a:latin typeface="Lucida Sans Unicode"/>
                <a:cs typeface="Lucida Sans Unicode"/>
              </a:rPr>
              <a:t> </a:t>
            </a:r>
            <a:r>
              <a:rPr dirty="0" sz="1600" spc="80" i="1">
                <a:solidFill>
                  <a:srgbClr val="585D60"/>
                </a:solidFill>
                <a:latin typeface="Arial"/>
                <a:cs typeface="Arial"/>
              </a:rPr>
              <a:t>y	</a:t>
            </a:r>
            <a:r>
              <a:rPr dirty="0" sz="1900" spc="-105">
                <a:solidFill>
                  <a:srgbClr val="585D60"/>
                </a:solidFill>
                <a:latin typeface="Lucida Sans Unicode"/>
                <a:cs typeface="Lucida Sans Unicode"/>
              </a:rPr>
              <a:t>.</a:t>
            </a:r>
            <a:endParaRPr sz="1900">
              <a:latin typeface="Lucida Sans Unicode"/>
              <a:cs typeface="Lucida Sans Unicode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1148754" y="4596498"/>
            <a:ext cx="9444355" cy="986790"/>
          </a:xfrm>
          <a:prstGeom prst="rect">
            <a:avLst/>
          </a:prstGeom>
        </p:spPr>
        <p:txBody>
          <a:bodyPr wrap="square" lIns="0" tIns="86360" rIns="0" bIns="0" rtlCol="0" vert="horz">
            <a:spAutoFit/>
          </a:bodyPr>
          <a:lstStyle/>
          <a:p>
            <a:pPr marL="258445">
              <a:lnSpc>
                <a:spcPct val="100000"/>
              </a:lnSpc>
              <a:spcBef>
                <a:spcPts val="680"/>
              </a:spcBef>
            </a:pPr>
            <a:r>
              <a:rPr dirty="0" sz="1150" spc="135" i="1">
                <a:solidFill>
                  <a:srgbClr val="585D60"/>
                </a:solidFill>
                <a:latin typeface="Arial"/>
                <a:cs typeface="Arial"/>
              </a:rPr>
              <a:t>t</a:t>
            </a:r>
            <a:endParaRPr sz="1150">
              <a:latin typeface="Arial"/>
              <a:cs typeface="Arial"/>
            </a:endParaRPr>
          </a:p>
          <a:p>
            <a:pPr marL="146050" marR="5080" indent="-133985">
              <a:lnSpc>
                <a:spcPct val="118100"/>
              </a:lnSpc>
              <a:spcBef>
                <a:spcPts val="505"/>
              </a:spcBef>
              <a:buClr>
                <a:srgbClr val="C2132D"/>
              </a:buClr>
              <a:buFont typeface="Trebuchet MS"/>
              <a:buChar char="•"/>
              <a:tabLst>
                <a:tab pos="146685" algn="l"/>
              </a:tabLst>
            </a:pPr>
            <a:r>
              <a:rPr dirty="0" sz="1800" spc="-10">
                <a:solidFill>
                  <a:srgbClr val="585D60"/>
                </a:solidFill>
                <a:latin typeface="Arial"/>
                <a:cs typeface="Arial"/>
              </a:rPr>
              <a:t>In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5">
                <a:solidFill>
                  <a:srgbClr val="585D60"/>
                </a:solidFill>
                <a:latin typeface="Arial"/>
                <a:cs typeface="Arial"/>
              </a:rPr>
              <a:t>practice,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60">
                <a:solidFill>
                  <a:srgbClr val="585D60"/>
                </a:solidFill>
                <a:latin typeface="Arial"/>
                <a:cs typeface="Arial"/>
              </a:rPr>
              <a:t>it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30">
                <a:solidFill>
                  <a:srgbClr val="585D60"/>
                </a:solidFill>
                <a:latin typeface="Arial"/>
                <a:cs typeface="Arial"/>
              </a:rPr>
              <a:t>is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5">
                <a:solidFill>
                  <a:srgbClr val="585D60"/>
                </a:solidFill>
                <a:latin typeface="Arial"/>
                <a:cs typeface="Arial"/>
              </a:rPr>
              <a:t>unlikely</a:t>
            </a:r>
            <a:r>
              <a:rPr dirty="0" sz="1800" spc="-4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45">
                <a:solidFill>
                  <a:srgbClr val="585D60"/>
                </a:solidFill>
                <a:latin typeface="Arial"/>
                <a:cs typeface="Arial"/>
              </a:rPr>
              <a:t>to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5">
                <a:solidFill>
                  <a:srgbClr val="585D60"/>
                </a:solidFill>
                <a:latin typeface="Arial"/>
                <a:cs typeface="Arial"/>
              </a:rPr>
              <a:t>go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15">
                <a:solidFill>
                  <a:srgbClr val="585D60"/>
                </a:solidFill>
                <a:latin typeface="Arial"/>
                <a:cs typeface="Arial"/>
              </a:rPr>
              <a:t>beyond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5">
                <a:solidFill>
                  <a:srgbClr val="585D60"/>
                </a:solidFill>
                <a:latin typeface="Arial"/>
                <a:cs typeface="Arial"/>
              </a:rPr>
              <a:t>second-order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5">
                <a:solidFill>
                  <a:srgbClr val="585D60"/>
                </a:solidFill>
                <a:latin typeface="Arial"/>
                <a:cs typeface="Arial"/>
              </a:rPr>
              <a:t>differences</a:t>
            </a:r>
            <a:r>
              <a:rPr dirty="0" sz="1800" spc="-4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5">
                <a:solidFill>
                  <a:srgbClr val="585D60"/>
                </a:solidFill>
                <a:latin typeface="Arial"/>
                <a:cs typeface="Arial"/>
              </a:rPr>
              <a:t>(a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25">
                <a:solidFill>
                  <a:srgbClr val="585D60"/>
                </a:solidFill>
                <a:latin typeface="Arial"/>
                <a:cs typeface="Arial"/>
              </a:rPr>
              <a:t>different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5">
                <a:solidFill>
                  <a:srgbClr val="585D60"/>
                </a:solidFill>
                <a:latin typeface="Arial"/>
                <a:cs typeface="Arial"/>
              </a:rPr>
              <a:t>representation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75">
                <a:solidFill>
                  <a:srgbClr val="585D60"/>
                </a:solidFill>
                <a:latin typeface="Arial"/>
                <a:cs typeface="Arial"/>
              </a:rPr>
              <a:t>of 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the </a:t>
            </a:r>
            <a:r>
              <a:rPr dirty="0" sz="1800" spc="-35" b="1">
                <a:solidFill>
                  <a:srgbClr val="C2132D"/>
                </a:solidFill>
                <a:latin typeface="Trebuchet MS"/>
                <a:cs typeface="Trebuchet MS"/>
              </a:rPr>
              <a:t>data </a:t>
            </a:r>
            <a:r>
              <a:rPr dirty="0" sz="1800" spc="-45" b="1">
                <a:solidFill>
                  <a:srgbClr val="C2132D"/>
                </a:solidFill>
                <a:latin typeface="Trebuchet MS"/>
                <a:cs typeface="Trebuchet MS"/>
              </a:rPr>
              <a:t>generation </a:t>
            </a:r>
            <a:r>
              <a:rPr dirty="0" sz="1800" spc="10" b="1">
                <a:solidFill>
                  <a:srgbClr val="C2132D"/>
                </a:solidFill>
                <a:latin typeface="Trebuchet MS"/>
                <a:cs typeface="Trebuchet MS"/>
              </a:rPr>
              <a:t>process</a:t>
            </a:r>
            <a:r>
              <a:rPr dirty="0" sz="1800" spc="-36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5">
                <a:solidFill>
                  <a:srgbClr val="585D60"/>
                </a:solidFill>
                <a:latin typeface="Arial"/>
                <a:cs typeface="Arial"/>
              </a:rPr>
              <a:t>may </a:t>
            </a:r>
            <a:r>
              <a:rPr dirty="0" sz="1800" spc="-20">
                <a:solidFill>
                  <a:srgbClr val="585D60"/>
                </a:solidFill>
                <a:latin typeface="Arial"/>
                <a:cs typeface="Arial"/>
              </a:rPr>
              <a:t>be </a:t>
            </a:r>
            <a:r>
              <a:rPr dirty="0" sz="1800" spc="-15">
                <a:solidFill>
                  <a:srgbClr val="585D60"/>
                </a:solidFill>
                <a:latin typeface="Arial"/>
                <a:cs typeface="Arial"/>
              </a:rPr>
              <a:t>needed).</a:t>
            </a:r>
            <a:endParaRPr sz="1800">
              <a:latin typeface="Arial"/>
              <a:cs typeface="Arial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1123354" y="4509769"/>
            <a:ext cx="2749550" cy="31369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71450" indent="-133985">
              <a:lnSpc>
                <a:spcPct val="100000"/>
              </a:lnSpc>
              <a:spcBef>
                <a:spcPts val="90"/>
              </a:spcBef>
              <a:buClr>
                <a:srgbClr val="C2132D"/>
              </a:buClr>
              <a:buSzPct val="112500"/>
              <a:buFont typeface="Trebuchet MS"/>
              <a:buChar char="•"/>
              <a:tabLst>
                <a:tab pos="172085" algn="l"/>
              </a:tabLst>
            </a:pPr>
            <a:r>
              <a:rPr dirty="0" sz="1600" spc="10" i="1">
                <a:solidFill>
                  <a:srgbClr val="585D60"/>
                </a:solidFill>
                <a:latin typeface="Arial"/>
                <a:cs typeface="Arial"/>
              </a:rPr>
              <a:t>y</a:t>
            </a:r>
            <a:r>
              <a:rPr dirty="0" baseline="25641" sz="1950" spc="15">
                <a:solidFill>
                  <a:srgbClr val="585D60"/>
                </a:solidFill>
                <a:latin typeface="Lucida Sans Unicode"/>
                <a:cs typeface="Lucida Sans Unicode"/>
              </a:rPr>
              <a:t>′′ </a:t>
            </a:r>
            <a:r>
              <a:rPr dirty="0" sz="1800" spc="40">
                <a:solidFill>
                  <a:srgbClr val="585D60"/>
                </a:solidFill>
                <a:latin typeface="Arial"/>
                <a:cs typeface="Arial"/>
              </a:rPr>
              <a:t>will </a:t>
            </a:r>
            <a:r>
              <a:rPr dirty="0" sz="1800" spc="-35">
                <a:solidFill>
                  <a:srgbClr val="585D60"/>
                </a:solidFill>
                <a:latin typeface="Arial"/>
                <a:cs typeface="Arial"/>
              </a:rPr>
              <a:t>have </a:t>
            </a:r>
            <a:r>
              <a:rPr dirty="0" sz="1600" spc="70" i="1">
                <a:solidFill>
                  <a:srgbClr val="585D60"/>
                </a:solidFill>
                <a:latin typeface="Arial"/>
                <a:cs typeface="Arial"/>
              </a:rPr>
              <a:t>T </a:t>
            </a:r>
            <a:r>
              <a:rPr dirty="0" sz="1900" spc="-110">
                <a:solidFill>
                  <a:srgbClr val="585D60"/>
                </a:solidFill>
                <a:latin typeface="Lucida Sans Unicode"/>
                <a:cs typeface="Lucida Sans Unicode"/>
              </a:rPr>
              <a:t>− </a:t>
            </a:r>
            <a:r>
              <a:rPr dirty="0" sz="1900" spc="-305">
                <a:solidFill>
                  <a:srgbClr val="585D60"/>
                </a:solidFill>
                <a:latin typeface="Lucida Sans Unicode"/>
                <a:cs typeface="Lucida Sans Unicode"/>
              </a:rPr>
              <a:t>2</a:t>
            </a:r>
            <a:r>
              <a:rPr dirty="0" sz="1900" spc="-200">
                <a:solidFill>
                  <a:srgbClr val="585D60"/>
                </a:solidFill>
                <a:latin typeface="Lucida Sans Unicode"/>
                <a:cs typeface="Lucida Sans Unicode"/>
              </a:rPr>
              <a:t> </a:t>
            </a:r>
            <a:r>
              <a:rPr dirty="0" sz="1800" spc="-15">
                <a:solidFill>
                  <a:srgbClr val="585D60"/>
                </a:solidFill>
                <a:latin typeface="Arial"/>
                <a:cs typeface="Arial"/>
              </a:rPr>
              <a:t>values.</a:t>
            </a:r>
            <a:endParaRPr sz="1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 7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1270" rIns="0" bIns="0" rtlCol="0" vert="horz">
            <a:spAutoFit/>
          </a:bodyPr>
          <a:lstStyle/>
          <a:p>
            <a:pPr marL="38100">
              <a:lnSpc>
                <a:spcPct val="100000"/>
              </a:lnSpc>
              <a:spcBef>
                <a:spcPts val="10"/>
              </a:spcBef>
            </a:pPr>
            <a:fld id="{81D60167-4931-47E6-BA6A-407CBD079E47}" type="slidenum">
              <a:rPr dirty="0" spc="5"/>
              <a:t>17</a:t>
            </a:fld>
            <a:r>
              <a:rPr dirty="0" spc="5"/>
              <a:t> </a:t>
            </a:r>
            <a:r>
              <a:rPr dirty="0" spc="160"/>
              <a:t>/</a:t>
            </a:r>
            <a:r>
              <a:rPr dirty="0" spc="-165"/>
              <a:t> </a:t>
            </a:r>
            <a:r>
              <a:rPr dirty="0" spc="5"/>
              <a:t>33</a:t>
            </a:r>
          </a:p>
        </p:txBody>
      </p: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01700" y="530225"/>
            <a:ext cx="3735070" cy="539750"/>
          </a:xfrm>
          <a:prstGeom prst="rect"/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3350" spc="-95">
                <a:solidFill>
                  <a:srgbClr val="C2132D"/>
                </a:solidFill>
              </a:rPr>
              <a:t>Seasonal</a:t>
            </a:r>
            <a:r>
              <a:rPr dirty="0" sz="3350" spc="-254">
                <a:solidFill>
                  <a:srgbClr val="C2132D"/>
                </a:solidFill>
              </a:rPr>
              <a:t> </a:t>
            </a:r>
            <a:r>
              <a:rPr dirty="0" sz="3350" spc="-185">
                <a:solidFill>
                  <a:srgbClr val="C2132D"/>
                </a:solidFill>
              </a:rPr>
              <a:t>Differencing</a:t>
            </a:r>
            <a:endParaRPr sz="3350"/>
          </a:p>
        </p:txBody>
      </p:sp>
      <p:sp>
        <p:nvSpPr>
          <p:cNvPr id="3" name="object 3"/>
          <p:cNvSpPr txBox="1"/>
          <p:nvPr/>
        </p:nvSpPr>
        <p:spPr>
          <a:xfrm>
            <a:off x="901700" y="1376044"/>
            <a:ext cx="8770620" cy="67310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 marR="5080">
              <a:lnSpc>
                <a:spcPct val="118100"/>
              </a:lnSpc>
              <a:spcBef>
                <a:spcPts val="100"/>
              </a:spcBef>
            </a:pPr>
            <a:r>
              <a:rPr dirty="0" sz="1800" spc="-30">
                <a:solidFill>
                  <a:srgbClr val="585D60"/>
                </a:solidFill>
                <a:latin typeface="Arial"/>
                <a:cs typeface="Arial"/>
              </a:rPr>
              <a:t>A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5" b="1">
                <a:solidFill>
                  <a:srgbClr val="C2132D"/>
                </a:solidFill>
                <a:latin typeface="Trebuchet MS"/>
                <a:cs typeface="Trebuchet MS"/>
              </a:rPr>
              <a:t>seasonal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55" b="1">
                <a:solidFill>
                  <a:srgbClr val="C2132D"/>
                </a:solidFill>
                <a:latin typeface="Trebuchet MS"/>
                <a:cs typeface="Trebuchet MS"/>
              </a:rPr>
              <a:t>difference</a:t>
            </a:r>
            <a:r>
              <a:rPr dirty="0" sz="1800" spc="-10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30">
                <a:solidFill>
                  <a:srgbClr val="585D60"/>
                </a:solidFill>
                <a:latin typeface="Arial"/>
                <a:cs typeface="Arial"/>
              </a:rPr>
              <a:t>is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the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5">
                <a:solidFill>
                  <a:srgbClr val="585D60"/>
                </a:solidFill>
                <a:latin typeface="Arial"/>
                <a:cs typeface="Arial"/>
              </a:rPr>
              <a:t>difference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585D60"/>
                </a:solidFill>
                <a:latin typeface="Arial"/>
                <a:cs typeface="Arial"/>
              </a:rPr>
              <a:t>between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15">
                <a:solidFill>
                  <a:srgbClr val="585D60"/>
                </a:solidFill>
                <a:latin typeface="Arial"/>
                <a:cs typeface="Arial"/>
              </a:rPr>
              <a:t>an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observation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5">
                <a:solidFill>
                  <a:srgbClr val="585D60"/>
                </a:solidFill>
                <a:latin typeface="Arial"/>
                <a:cs typeface="Arial"/>
              </a:rPr>
              <a:t>and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the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corresponding  observation </a:t>
            </a:r>
            <a:r>
              <a:rPr dirty="0" sz="1800" spc="55">
                <a:solidFill>
                  <a:srgbClr val="585D60"/>
                </a:solidFill>
                <a:latin typeface="Arial"/>
                <a:cs typeface="Arial"/>
              </a:rPr>
              <a:t>from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the </a:t>
            </a:r>
            <a:r>
              <a:rPr dirty="0" sz="1800" spc="-5">
                <a:solidFill>
                  <a:srgbClr val="585D60"/>
                </a:solidFill>
                <a:latin typeface="Arial"/>
                <a:cs typeface="Arial"/>
              </a:rPr>
              <a:t>previous</a:t>
            </a:r>
            <a:r>
              <a:rPr dirty="0" sz="1800" spc="-30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year.</a:t>
            </a:r>
            <a:endParaRPr sz="180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163095" y="2392995"/>
            <a:ext cx="83820" cy="201930"/>
          </a:xfrm>
          <a:prstGeom prst="rect">
            <a:avLst/>
          </a:prstGeom>
        </p:spPr>
        <p:txBody>
          <a:bodyPr wrap="square" lIns="0" tIns="1333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dirty="0" sz="1150" spc="135" i="1">
                <a:solidFill>
                  <a:srgbClr val="585D60"/>
                </a:solidFill>
                <a:latin typeface="Arial"/>
                <a:cs typeface="Arial"/>
              </a:rPr>
              <a:t>t</a:t>
            </a:r>
            <a:endParaRPr sz="115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5025627" y="2233295"/>
            <a:ext cx="1462405" cy="31369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38100">
              <a:lnSpc>
                <a:spcPct val="100000"/>
              </a:lnSpc>
              <a:spcBef>
                <a:spcPts val="90"/>
              </a:spcBef>
            </a:pPr>
            <a:r>
              <a:rPr dirty="0" sz="1600" spc="50" i="1">
                <a:solidFill>
                  <a:srgbClr val="585D60"/>
                </a:solidFill>
                <a:latin typeface="Arial"/>
                <a:cs typeface="Arial"/>
              </a:rPr>
              <a:t>y</a:t>
            </a:r>
            <a:r>
              <a:rPr dirty="0" baseline="27777" sz="1950" spc="75">
                <a:solidFill>
                  <a:srgbClr val="585D60"/>
                </a:solidFill>
                <a:latin typeface="Lucida Sans Unicode"/>
                <a:cs typeface="Lucida Sans Unicode"/>
              </a:rPr>
              <a:t>′ </a:t>
            </a:r>
            <a:r>
              <a:rPr dirty="0" sz="1900" spc="-110">
                <a:solidFill>
                  <a:srgbClr val="585D60"/>
                </a:solidFill>
                <a:latin typeface="Lucida Sans Unicode"/>
                <a:cs typeface="Lucida Sans Unicode"/>
              </a:rPr>
              <a:t>= </a:t>
            </a:r>
            <a:r>
              <a:rPr dirty="0" sz="1600" spc="110" i="1">
                <a:solidFill>
                  <a:srgbClr val="585D60"/>
                </a:solidFill>
                <a:latin typeface="Arial"/>
                <a:cs typeface="Arial"/>
              </a:rPr>
              <a:t>y</a:t>
            </a:r>
            <a:r>
              <a:rPr dirty="0" baseline="-12077" sz="1725" spc="165" i="1">
                <a:solidFill>
                  <a:srgbClr val="585D60"/>
                </a:solidFill>
                <a:latin typeface="Arial"/>
                <a:cs typeface="Arial"/>
              </a:rPr>
              <a:t>t </a:t>
            </a:r>
            <a:r>
              <a:rPr dirty="0" sz="1900" spc="-110">
                <a:solidFill>
                  <a:srgbClr val="585D60"/>
                </a:solidFill>
                <a:latin typeface="Lucida Sans Unicode"/>
                <a:cs typeface="Lucida Sans Unicode"/>
              </a:rPr>
              <a:t>−</a:t>
            </a:r>
            <a:r>
              <a:rPr dirty="0" sz="1900" spc="-75">
                <a:solidFill>
                  <a:srgbClr val="585D60"/>
                </a:solidFill>
                <a:latin typeface="Lucida Sans Unicode"/>
                <a:cs typeface="Lucida Sans Unicode"/>
              </a:rPr>
              <a:t> </a:t>
            </a:r>
            <a:r>
              <a:rPr dirty="0" sz="1600" spc="80" i="1">
                <a:solidFill>
                  <a:srgbClr val="585D60"/>
                </a:solidFill>
                <a:latin typeface="Arial"/>
                <a:cs typeface="Arial"/>
              </a:rPr>
              <a:t>y</a:t>
            </a:r>
            <a:r>
              <a:rPr dirty="0" baseline="-12077" sz="1725" spc="120" i="1">
                <a:solidFill>
                  <a:srgbClr val="585D60"/>
                </a:solidFill>
                <a:latin typeface="Arial"/>
                <a:cs typeface="Arial"/>
              </a:rPr>
              <a:t>t</a:t>
            </a:r>
            <a:r>
              <a:rPr dirty="0" baseline="-10683" sz="1950" spc="120">
                <a:solidFill>
                  <a:srgbClr val="585D60"/>
                </a:solidFill>
                <a:latin typeface="Lucida Sans Unicode"/>
                <a:cs typeface="Lucida Sans Unicode"/>
              </a:rPr>
              <a:t>−</a:t>
            </a:r>
            <a:r>
              <a:rPr dirty="0" baseline="-12077" sz="1725" spc="120" i="1">
                <a:solidFill>
                  <a:srgbClr val="585D60"/>
                </a:solidFill>
                <a:latin typeface="Arial"/>
                <a:cs typeface="Arial"/>
              </a:rPr>
              <a:t>m</a:t>
            </a:r>
            <a:endParaRPr baseline="-12077" sz="1725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901700" y="2776220"/>
            <a:ext cx="6437630" cy="1730375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800" spc="-15">
                <a:solidFill>
                  <a:srgbClr val="585D60"/>
                </a:solidFill>
                <a:latin typeface="Arial"/>
                <a:cs typeface="Arial"/>
              </a:rPr>
              <a:t>where </a:t>
            </a:r>
            <a:r>
              <a:rPr dirty="0" sz="1600" spc="245" i="1">
                <a:solidFill>
                  <a:srgbClr val="585D60"/>
                </a:solidFill>
                <a:latin typeface="Arial"/>
                <a:cs typeface="Arial"/>
              </a:rPr>
              <a:t>m</a:t>
            </a:r>
            <a:r>
              <a:rPr dirty="0" sz="1600" spc="-229" i="1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900" spc="-110">
                <a:solidFill>
                  <a:srgbClr val="585D60"/>
                </a:solidFill>
                <a:latin typeface="Lucida Sans Unicode"/>
                <a:cs typeface="Lucida Sans Unicode"/>
              </a:rPr>
              <a:t>= </a:t>
            </a:r>
            <a:r>
              <a:rPr dirty="0" sz="1800" spc="5">
                <a:solidFill>
                  <a:srgbClr val="585D60"/>
                </a:solidFill>
                <a:latin typeface="Arial"/>
                <a:cs typeface="Arial"/>
              </a:rPr>
              <a:t>number </a:t>
            </a:r>
            <a:r>
              <a:rPr dirty="0" sz="1800" spc="75">
                <a:solidFill>
                  <a:srgbClr val="585D60"/>
                </a:solidFill>
                <a:latin typeface="Arial"/>
                <a:cs typeface="Arial"/>
              </a:rPr>
              <a:t>of </a:t>
            </a:r>
            <a:r>
              <a:rPr dirty="0" sz="1800">
                <a:solidFill>
                  <a:srgbClr val="585D60"/>
                </a:solidFill>
                <a:latin typeface="Arial"/>
                <a:cs typeface="Arial"/>
              </a:rPr>
              <a:t>seasons.</a:t>
            </a:r>
            <a:endParaRPr sz="1800">
              <a:latin typeface="Arial"/>
              <a:cs typeface="Arial"/>
            </a:endParaRPr>
          </a:p>
          <a:p>
            <a:pPr>
              <a:lnSpc>
                <a:spcPct val="100000"/>
              </a:lnSpc>
            </a:pPr>
            <a:endParaRPr sz="1800">
              <a:latin typeface="Arial"/>
              <a:cs typeface="Arial"/>
            </a:endParaRPr>
          </a:p>
          <a:p>
            <a:pPr marL="393700" indent="-133985">
              <a:lnSpc>
                <a:spcPct val="100000"/>
              </a:lnSpc>
              <a:buClr>
                <a:srgbClr val="C2132D"/>
              </a:buClr>
              <a:buFont typeface="Trebuchet MS"/>
              <a:buChar char="•"/>
              <a:tabLst>
                <a:tab pos="393700" algn="l"/>
              </a:tabLst>
            </a:pPr>
            <a:r>
              <a:rPr dirty="0" sz="1800" spc="-30">
                <a:solidFill>
                  <a:srgbClr val="585D60"/>
                </a:solidFill>
                <a:latin typeface="Arial"/>
                <a:cs typeface="Arial"/>
              </a:rPr>
              <a:t>For </a:t>
            </a:r>
            <a:r>
              <a:rPr dirty="0" sz="1800" spc="20">
                <a:solidFill>
                  <a:srgbClr val="585D60"/>
                </a:solidFill>
                <a:latin typeface="Arial"/>
                <a:cs typeface="Arial"/>
              </a:rPr>
              <a:t>monthly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data </a:t>
            </a:r>
            <a:r>
              <a:rPr dirty="0" sz="1600" spc="245" i="1">
                <a:solidFill>
                  <a:srgbClr val="585D60"/>
                </a:solidFill>
                <a:latin typeface="Arial"/>
                <a:cs typeface="Arial"/>
              </a:rPr>
              <a:t>m</a:t>
            </a:r>
            <a:r>
              <a:rPr dirty="0" sz="1600" spc="-105" i="1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900" spc="-110">
                <a:solidFill>
                  <a:srgbClr val="585D60"/>
                </a:solidFill>
                <a:latin typeface="Lucida Sans Unicode"/>
                <a:cs typeface="Lucida Sans Unicode"/>
              </a:rPr>
              <a:t>= </a:t>
            </a:r>
            <a:r>
              <a:rPr dirty="0" sz="1900" spc="-210">
                <a:solidFill>
                  <a:srgbClr val="585D60"/>
                </a:solidFill>
                <a:latin typeface="Lucida Sans Unicode"/>
                <a:cs typeface="Lucida Sans Unicode"/>
              </a:rPr>
              <a:t>12</a:t>
            </a:r>
            <a:r>
              <a:rPr dirty="0" sz="1800" spc="-210">
                <a:solidFill>
                  <a:srgbClr val="585D60"/>
                </a:solidFill>
                <a:latin typeface="Arial"/>
                <a:cs typeface="Arial"/>
              </a:rPr>
              <a:t>.</a:t>
            </a:r>
            <a:endParaRPr sz="1800">
              <a:latin typeface="Arial"/>
              <a:cs typeface="Arial"/>
            </a:endParaRPr>
          </a:p>
          <a:p>
            <a:pPr marL="393700" indent="-133985">
              <a:lnSpc>
                <a:spcPct val="100000"/>
              </a:lnSpc>
              <a:spcBef>
                <a:spcPts val="1170"/>
              </a:spcBef>
              <a:buClr>
                <a:srgbClr val="C2132D"/>
              </a:buClr>
              <a:buFont typeface="Trebuchet MS"/>
              <a:buChar char="•"/>
              <a:tabLst>
                <a:tab pos="393700" algn="l"/>
              </a:tabLst>
            </a:pPr>
            <a:r>
              <a:rPr dirty="0" sz="1800" spc="-30">
                <a:solidFill>
                  <a:srgbClr val="585D60"/>
                </a:solidFill>
                <a:latin typeface="Arial"/>
                <a:cs typeface="Arial"/>
              </a:rPr>
              <a:t>For </a:t>
            </a:r>
            <a:r>
              <a:rPr dirty="0" sz="1800" spc="5">
                <a:solidFill>
                  <a:srgbClr val="585D60"/>
                </a:solidFill>
                <a:latin typeface="Arial"/>
                <a:cs typeface="Arial"/>
              </a:rPr>
              <a:t>quarterly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data </a:t>
            </a:r>
            <a:r>
              <a:rPr dirty="0" sz="1600" spc="245" i="1">
                <a:solidFill>
                  <a:srgbClr val="585D60"/>
                </a:solidFill>
                <a:latin typeface="Arial"/>
                <a:cs typeface="Arial"/>
              </a:rPr>
              <a:t>m </a:t>
            </a:r>
            <a:r>
              <a:rPr dirty="0" sz="1900" spc="-110">
                <a:solidFill>
                  <a:srgbClr val="585D60"/>
                </a:solidFill>
                <a:latin typeface="Lucida Sans Unicode"/>
                <a:cs typeface="Lucida Sans Unicode"/>
              </a:rPr>
              <a:t>=</a:t>
            </a:r>
            <a:r>
              <a:rPr dirty="0" sz="1900" spc="-445">
                <a:solidFill>
                  <a:srgbClr val="585D60"/>
                </a:solidFill>
                <a:latin typeface="Lucida Sans Unicode"/>
                <a:cs typeface="Lucida Sans Unicode"/>
              </a:rPr>
              <a:t> </a:t>
            </a:r>
            <a:r>
              <a:rPr dirty="0" sz="1900" spc="-165">
                <a:solidFill>
                  <a:srgbClr val="585D60"/>
                </a:solidFill>
                <a:latin typeface="Lucida Sans Unicode"/>
                <a:cs typeface="Lucida Sans Unicode"/>
              </a:rPr>
              <a:t>4</a:t>
            </a:r>
            <a:r>
              <a:rPr dirty="0" sz="1800" spc="-165">
                <a:solidFill>
                  <a:srgbClr val="585D60"/>
                </a:solidFill>
                <a:latin typeface="Arial"/>
                <a:cs typeface="Arial"/>
              </a:rPr>
              <a:t>.</a:t>
            </a:r>
            <a:endParaRPr sz="1800">
              <a:latin typeface="Arial"/>
              <a:cs typeface="Arial"/>
            </a:endParaRPr>
          </a:p>
          <a:p>
            <a:pPr marL="393700" indent="-133985">
              <a:lnSpc>
                <a:spcPct val="100000"/>
              </a:lnSpc>
              <a:spcBef>
                <a:spcPts val="1195"/>
              </a:spcBef>
              <a:buClr>
                <a:srgbClr val="C2132D"/>
              </a:buClr>
              <a:buFont typeface="Trebuchet MS"/>
              <a:buChar char="•"/>
              <a:tabLst>
                <a:tab pos="393700" algn="l"/>
              </a:tabLst>
            </a:pPr>
            <a:r>
              <a:rPr dirty="0" sz="1800" spc="-15">
                <a:solidFill>
                  <a:srgbClr val="585D60"/>
                </a:solidFill>
                <a:latin typeface="Arial"/>
                <a:cs typeface="Arial"/>
              </a:rPr>
              <a:t>Seasonally </a:t>
            </a:r>
            <a:r>
              <a:rPr dirty="0" sz="1800" spc="15">
                <a:solidFill>
                  <a:srgbClr val="585D60"/>
                </a:solidFill>
                <a:latin typeface="Arial"/>
                <a:cs typeface="Arial"/>
              </a:rPr>
              <a:t>differenced </a:t>
            </a:r>
            <a:r>
              <a:rPr dirty="0" sz="1800">
                <a:solidFill>
                  <a:srgbClr val="585D60"/>
                </a:solidFill>
                <a:latin typeface="Arial"/>
                <a:cs typeface="Arial"/>
              </a:rPr>
              <a:t>series </a:t>
            </a:r>
            <a:r>
              <a:rPr dirty="0" sz="1800" spc="40">
                <a:solidFill>
                  <a:srgbClr val="585D60"/>
                </a:solidFill>
                <a:latin typeface="Arial"/>
                <a:cs typeface="Arial"/>
              </a:rPr>
              <a:t>will </a:t>
            </a:r>
            <a:r>
              <a:rPr dirty="0" sz="1800" spc="-35">
                <a:solidFill>
                  <a:srgbClr val="585D60"/>
                </a:solidFill>
                <a:latin typeface="Arial"/>
                <a:cs typeface="Arial"/>
              </a:rPr>
              <a:t>have </a:t>
            </a:r>
            <a:r>
              <a:rPr dirty="0" sz="1800" spc="-25">
                <a:solidFill>
                  <a:srgbClr val="C2132D"/>
                </a:solidFill>
                <a:latin typeface="Trebuchet MS"/>
                <a:cs typeface="Trebuchet MS"/>
              </a:rPr>
              <a:t>$T-m$</a:t>
            </a:r>
            <a:r>
              <a:rPr dirty="0" sz="1800" spc="-375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5">
                <a:solidFill>
                  <a:srgbClr val="585D60"/>
                </a:solidFill>
                <a:latin typeface="Arial"/>
                <a:cs typeface="Arial"/>
              </a:rPr>
              <a:t>observations.</a:t>
            </a:r>
            <a:endParaRPr sz="1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1270" rIns="0" bIns="0" rtlCol="0" vert="horz">
            <a:spAutoFit/>
          </a:bodyPr>
          <a:lstStyle/>
          <a:p>
            <a:pPr marL="38100">
              <a:lnSpc>
                <a:spcPct val="100000"/>
              </a:lnSpc>
              <a:spcBef>
                <a:spcPts val="10"/>
              </a:spcBef>
            </a:pPr>
            <a:fld id="{81D60167-4931-47E6-BA6A-407CBD079E47}" type="slidenum">
              <a:rPr dirty="0" spc="5"/>
              <a:t>17</a:t>
            </a:fld>
            <a:r>
              <a:rPr dirty="0" spc="5"/>
              <a:t> </a:t>
            </a:r>
            <a:r>
              <a:rPr dirty="0" spc="160"/>
              <a:t>/</a:t>
            </a:r>
            <a:r>
              <a:rPr dirty="0" spc="-165"/>
              <a:t> </a:t>
            </a:r>
            <a:r>
              <a:rPr dirty="0" spc="5"/>
              <a:t>33</a:t>
            </a:r>
          </a:p>
        </p:txBody>
      </p: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01700" y="530225"/>
            <a:ext cx="4926330" cy="539750"/>
          </a:xfrm>
          <a:prstGeom prst="rect"/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3350" spc="-229">
                <a:solidFill>
                  <a:srgbClr val="C2132D"/>
                </a:solidFill>
              </a:rPr>
              <a:t>Interpretation </a:t>
            </a:r>
            <a:r>
              <a:rPr dirty="0" sz="3350" spc="-140">
                <a:solidFill>
                  <a:srgbClr val="C2132D"/>
                </a:solidFill>
              </a:rPr>
              <a:t>of</a:t>
            </a:r>
            <a:r>
              <a:rPr dirty="0" sz="3350" spc="-245">
                <a:solidFill>
                  <a:srgbClr val="C2132D"/>
                </a:solidFill>
              </a:rPr>
              <a:t> </a:t>
            </a:r>
            <a:r>
              <a:rPr dirty="0" sz="3350" spc="-185">
                <a:solidFill>
                  <a:srgbClr val="C2132D"/>
                </a:solidFill>
              </a:rPr>
              <a:t>Differencing</a:t>
            </a:r>
            <a:endParaRPr sz="3350"/>
          </a:p>
        </p:txBody>
      </p:sp>
      <p:sp>
        <p:nvSpPr>
          <p:cNvPr id="3" name="object 3"/>
          <p:cNvSpPr txBox="1"/>
          <p:nvPr/>
        </p:nvSpPr>
        <p:spPr>
          <a:xfrm>
            <a:off x="1148754" y="1425575"/>
            <a:ext cx="9474835" cy="106172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46050" indent="-133985">
              <a:lnSpc>
                <a:spcPct val="100000"/>
              </a:lnSpc>
              <a:spcBef>
                <a:spcPts val="100"/>
              </a:spcBef>
              <a:buFont typeface="Trebuchet MS"/>
              <a:buChar char="•"/>
              <a:tabLst>
                <a:tab pos="146685" algn="l"/>
              </a:tabLst>
            </a:pPr>
            <a:r>
              <a:rPr dirty="0" sz="1800" spc="-40" b="1">
                <a:solidFill>
                  <a:srgbClr val="C2132D"/>
                </a:solidFill>
                <a:latin typeface="Trebuchet MS"/>
                <a:cs typeface="Trebuchet MS"/>
              </a:rPr>
              <a:t>First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35" b="1">
                <a:solidFill>
                  <a:srgbClr val="C2132D"/>
                </a:solidFill>
                <a:latin typeface="Trebuchet MS"/>
                <a:cs typeface="Trebuchet MS"/>
              </a:rPr>
              <a:t>differences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30">
                <a:solidFill>
                  <a:srgbClr val="585D60"/>
                </a:solidFill>
                <a:latin typeface="Arial"/>
                <a:cs typeface="Arial"/>
              </a:rPr>
              <a:t>are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the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10">
                <a:solidFill>
                  <a:srgbClr val="585D60"/>
                </a:solidFill>
                <a:latin typeface="Arial"/>
                <a:cs typeface="Arial"/>
              </a:rPr>
              <a:t>change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585D60"/>
                </a:solidFill>
                <a:latin typeface="Arial"/>
                <a:cs typeface="Arial"/>
              </a:rPr>
              <a:t>between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40" b="1">
                <a:solidFill>
                  <a:srgbClr val="C2132D"/>
                </a:solidFill>
                <a:latin typeface="Trebuchet MS"/>
                <a:cs typeface="Trebuchet MS"/>
              </a:rPr>
              <a:t>one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30" b="1">
                <a:solidFill>
                  <a:srgbClr val="C2132D"/>
                </a:solidFill>
                <a:latin typeface="Trebuchet MS"/>
                <a:cs typeface="Trebuchet MS"/>
              </a:rPr>
              <a:t>observation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30" b="1">
                <a:solidFill>
                  <a:srgbClr val="C2132D"/>
                </a:solidFill>
                <a:latin typeface="Trebuchet MS"/>
                <a:cs typeface="Trebuchet MS"/>
              </a:rPr>
              <a:t>and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80" b="1">
                <a:solidFill>
                  <a:srgbClr val="C2132D"/>
                </a:solidFill>
                <a:latin typeface="Trebuchet MS"/>
                <a:cs typeface="Trebuchet MS"/>
              </a:rPr>
              <a:t>the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65" b="1">
                <a:solidFill>
                  <a:srgbClr val="C2132D"/>
                </a:solidFill>
                <a:latin typeface="Trebuchet MS"/>
                <a:cs typeface="Trebuchet MS"/>
              </a:rPr>
              <a:t>next</a:t>
            </a:r>
            <a:r>
              <a:rPr dirty="0" sz="1800" spc="-65">
                <a:solidFill>
                  <a:srgbClr val="585D60"/>
                </a:solidFill>
                <a:latin typeface="Arial"/>
                <a:cs typeface="Arial"/>
              </a:rPr>
              <a:t>.</a:t>
            </a:r>
            <a:endParaRPr sz="1800">
              <a:latin typeface="Arial"/>
              <a:cs typeface="Arial"/>
            </a:endParaRPr>
          </a:p>
          <a:p>
            <a:pPr marL="146050" marR="5080" indent="-133985">
              <a:lnSpc>
                <a:spcPct val="118100"/>
              </a:lnSpc>
              <a:spcBef>
                <a:spcPts val="900"/>
              </a:spcBef>
              <a:buFont typeface="Trebuchet MS"/>
              <a:buChar char="•"/>
              <a:tabLst>
                <a:tab pos="146685" algn="l"/>
              </a:tabLst>
            </a:pPr>
            <a:r>
              <a:rPr dirty="0" sz="1800" spc="20" b="1">
                <a:solidFill>
                  <a:srgbClr val="C2132D"/>
                </a:solidFill>
                <a:latin typeface="Trebuchet MS"/>
                <a:cs typeface="Trebuchet MS"/>
              </a:rPr>
              <a:t>Seasonal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35" b="1">
                <a:solidFill>
                  <a:srgbClr val="C2132D"/>
                </a:solidFill>
                <a:latin typeface="Trebuchet MS"/>
                <a:cs typeface="Trebuchet MS"/>
              </a:rPr>
              <a:t>differences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30">
                <a:solidFill>
                  <a:srgbClr val="585D60"/>
                </a:solidFill>
                <a:latin typeface="Arial"/>
                <a:cs typeface="Arial"/>
              </a:rPr>
              <a:t>are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the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10">
                <a:solidFill>
                  <a:srgbClr val="585D60"/>
                </a:solidFill>
                <a:latin typeface="Arial"/>
                <a:cs typeface="Arial"/>
              </a:rPr>
              <a:t>change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585D60"/>
                </a:solidFill>
                <a:latin typeface="Arial"/>
                <a:cs typeface="Arial"/>
              </a:rPr>
              <a:t>between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40" b="1">
                <a:solidFill>
                  <a:srgbClr val="C2132D"/>
                </a:solidFill>
                <a:latin typeface="Trebuchet MS"/>
                <a:cs typeface="Trebuchet MS"/>
              </a:rPr>
              <a:t>one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30" b="1">
                <a:solidFill>
                  <a:srgbClr val="C2132D"/>
                </a:solidFill>
                <a:latin typeface="Trebuchet MS"/>
                <a:cs typeface="Trebuchet MS"/>
              </a:rPr>
              <a:t>observation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30" b="1">
                <a:solidFill>
                  <a:srgbClr val="C2132D"/>
                </a:solidFill>
                <a:latin typeface="Trebuchet MS"/>
                <a:cs typeface="Trebuchet MS"/>
              </a:rPr>
              <a:t>and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80" b="1">
                <a:solidFill>
                  <a:srgbClr val="C2132D"/>
                </a:solidFill>
                <a:latin typeface="Trebuchet MS"/>
                <a:cs typeface="Trebuchet MS"/>
              </a:rPr>
              <a:t>the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25" b="1">
                <a:solidFill>
                  <a:srgbClr val="C2132D"/>
                </a:solidFill>
                <a:latin typeface="Trebuchet MS"/>
                <a:cs typeface="Trebuchet MS"/>
              </a:rPr>
              <a:t>same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30" b="1">
                <a:solidFill>
                  <a:srgbClr val="C2132D"/>
                </a:solidFill>
                <a:latin typeface="Trebuchet MS"/>
                <a:cs typeface="Trebuchet MS"/>
              </a:rPr>
              <a:t>observation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60" b="1">
                <a:solidFill>
                  <a:srgbClr val="C2132D"/>
                </a:solidFill>
                <a:latin typeface="Trebuchet MS"/>
                <a:cs typeface="Trebuchet MS"/>
              </a:rPr>
              <a:t>in  </a:t>
            </a:r>
            <a:r>
              <a:rPr dirty="0" sz="1800" spc="-80" b="1">
                <a:solidFill>
                  <a:srgbClr val="C2132D"/>
                </a:solidFill>
                <a:latin typeface="Trebuchet MS"/>
                <a:cs typeface="Trebuchet MS"/>
              </a:rPr>
              <a:t>the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35" b="1">
                <a:solidFill>
                  <a:srgbClr val="C2132D"/>
                </a:solidFill>
                <a:latin typeface="Trebuchet MS"/>
                <a:cs typeface="Trebuchet MS"/>
              </a:rPr>
              <a:t>previous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60" b="1">
                <a:solidFill>
                  <a:srgbClr val="C2132D"/>
                </a:solidFill>
                <a:latin typeface="Trebuchet MS"/>
                <a:cs typeface="Trebuchet MS"/>
              </a:rPr>
              <a:t>year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35">
                <a:solidFill>
                  <a:srgbClr val="585D60"/>
                </a:solidFill>
                <a:latin typeface="Arial"/>
                <a:cs typeface="Arial"/>
              </a:rPr>
              <a:t>(i.e.,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35">
                <a:solidFill>
                  <a:srgbClr val="585D60"/>
                </a:solidFill>
                <a:latin typeface="Arial"/>
                <a:cs typeface="Arial"/>
              </a:rPr>
              <a:t>year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20">
                <a:solidFill>
                  <a:srgbClr val="585D60"/>
                </a:solidFill>
                <a:latin typeface="Arial"/>
                <a:cs typeface="Arial"/>
              </a:rPr>
              <a:t>over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35">
                <a:solidFill>
                  <a:srgbClr val="585D60"/>
                </a:solidFill>
                <a:latin typeface="Arial"/>
                <a:cs typeface="Arial"/>
              </a:rPr>
              <a:t>year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5">
                <a:solidFill>
                  <a:srgbClr val="585D60"/>
                </a:solidFill>
                <a:latin typeface="Arial"/>
                <a:cs typeface="Arial"/>
              </a:rPr>
              <a:t>changes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5">
                <a:solidFill>
                  <a:srgbClr val="585D60"/>
                </a:solidFill>
                <a:latin typeface="Arial"/>
                <a:cs typeface="Arial"/>
              </a:rPr>
              <a:t>or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5">
                <a:solidFill>
                  <a:srgbClr val="585D60"/>
                </a:solidFill>
                <a:latin typeface="Arial"/>
                <a:cs typeface="Arial"/>
              </a:rPr>
              <a:t>changes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585D60"/>
                </a:solidFill>
                <a:latin typeface="Arial"/>
                <a:cs typeface="Arial"/>
              </a:rPr>
              <a:t>between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10">
                <a:solidFill>
                  <a:srgbClr val="585D60"/>
                </a:solidFill>
                <a:latin typeface="Arial"/>
                <a:cs typeface="Arial"/>
              </a:rPr>
              <a:t>one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35">
                <a:solidFill>
                  <a:srgbClr val="585D60"/>
                </a:solidFill>
                <a:latin typeface="Arial"/>
                <a:cs typeface="Arial"/>
              </a:rPr>
              <a:t>year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45">
                <a:solidFill>
                  <a:srgbClr val="585D60"/>
                </a:solidFill>
                <a:latin typeface="Arial"/>
                <a:cs typeface="Arial"/>
              </a:rPr>
              <a:t>to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the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5">
                <a:solidFill>
                  <a:srgbClr val="585D60"/>
                </a:solidFill>
                <a:latin typeface="Arial"/>
                <a:cs typeface="Arial"/>
              </a:rPr>
              <a:t>next).</a:t>
            </a:r>
            <a:endParaRPr sz="1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01700" y="530225"/>
            <a:ext cx="7514590" cy="53975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3350" spc="-150">
                <a:solidFill>
                  <a:srgbClr val="C2132D"/>
                </a:solidFill>
                <a:latin typeface="Trebuchet MS"/>
                <a:cs typeface="Trebuchet MS"/>
              </a:rPr>
              <a:t>Stabilizing </a:t>
            </a:r>
            <a:r>
              <a:rPr dirty="0" sz="3350" spc="-260">
                <a:solidFill>
                  <a:srgbClr val="C2132D"/>
                </a:solidFill>
                <a:latin typeface="Trebuchet MS"/>
                <a:cs typeface="Trebuchet MS"/>
              </a:rPr>
              <a:t>the </a:t>
            </a:r>
            <a:r>
              <a:rPr dirty="0" sz="3350" spc="-210">
                <a:solidFill>
                  <a:srgbClr val="C2132D"/>
                </a:solidFill>
                <a:latin typeface="Trebuchet MS"/>
                <a:cs typeface="Trebuchet MS"/>
              </a:rPr>
              <a:t>Variance: </a:t>
            </a:r>
            <a:r>
              <a:rPr dirty="0" sz="3350" spc="-75">
                <a:solidFill>
                  <a:srgbClr val="C2132D"/>
                </a:solidFill>
                <a:latin typeface="Trebuchet MS"/>
                <a:cs typeface="Trebuchet MS"/>
              </a:rPr>
              <a:t>Log</a:t>
            </a:r>
            <a:r>
              <a:rPr dirty="0" sz="3350" spc="-390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3350" spc="-185">
                <a:solidFill>
                  <a:srgbClr val="C2132D"/>
                </a:solidFill>
                <a:latin typeface="Trebuchet MS"/>
                <a:cs typeface="Trebuchet MS"/>
              </a:rPr>
              <a:t>Transformation</a:t>
            </a:r>
            <a:endParaRPr sz="3350">
              <a:latin typeface="Trebuchet MS"/>
              <a:cs typeface="Trebuchet MS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901700" y="1425575"/>
            <a:ext cx="8616315" cy="29972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800" spc="30" b="1">
                <a:solidFill>
                  <a:srgbClr val="C2132D"/>
                </a:solidFill>
                <a:latin typeface="Trebuchet MS"/>
                <a:cs typeface="Trebuchet MS"/>
              </a:rPr>
              <a:t>Log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35" b="1">
                <a:solidFill>
                  <a:srgbClr val="C2132D"/>
                </a:solidFill>
                <a:latin typeface="Trebuchet MS"/>
                <a:cs typeface="Trebuchet MS"/>
              </a:rPr>
              <a:t>transformation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30">
                <a:solidFill>
                  <a:srgbClr val="585D60"/>
                </a:solidFill>
                <a:latin typeface="Arial"/>
                <a:cs typeface="Arial"/>
              </a:rPr>
              <a:t>is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25">
                <a:solidFill>
                  <a:srgbClr val="585D60"/>
                </a:solidFill>
                <a:latin typeface="Arial"/>
                <a:cs typeface="Arial"/>
              </a:rPr>
              <a:t>a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40">
                <a:solidFill>
                  <a:srgbClr val="585D60"/>
                </a:solidFill>
                <a:latin typeface="Arial"/>
                <a:cs typeface="Arial"/>
              </a:rPr>
              <a:t>common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5">
                <a:solidFill>
                  <a:srgbClr val="585D60"/>
                </a:solidFill>
                <a:latin typeface="Arial"/>
                <a:cs typeface="Arial"/>
              </a:rPr>
              <a:t>technique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45">
                <a:solidFill>
                  <a:srgbClr val="585D60"/>
                </a:solidFill>
                <a:latin typeface="Arial"/>
                <a:cs typeface="Arial"/>
              </a:rPr>
              <a:t>to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35" b="1">
                <a:solidFill>
                  <a:srgbClr val="C2132D"/>
                </a:solidFill>
                <a:latin typeface="Trebuchet MS"/>
                <a:cs typeface="Trebuchet MS"/>
              </a:rPr>
              <a:t>stabilize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80" b="1">
                <a:solidFill>
                  <a:srgbClr val="C2132D"/>
                </a:solidFill>
                <a:latin typeface="Trebuchet MS"/>
                <a:cs typeface="Trebuchet MS"/>
              </a:rPr>
              <a:t>the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40" b="1">
                <a:solidFill>
                  <a:srgbClr val="C2132D"/>
                </a:solidFill>
                <a:latin typeface="Trebuchet MS"/>
                <a:cs typeface="Trebuchet MS"/>
              </a:rPr>
              <a:t>variance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75">
                <a:solidFill>
                  <a:srgbClr val="585D60"/>
                </a:solidFill>
                <a:latin typeface="Arial"/>
                <a:cs typeface="Arial"/>
              </a:rPr>
              <a:t>of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25">
                <a:solidFill>
                  <a:srgbClr val="585D60"/>
                </a:solidFill>
                <a:latin typeface="Arial"/>
                <a:cs typeface="Arial"/>
              </a:rPr>
              <a:t>a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35">
                <a:solidFill>
                  <a:srgbClr val="585D60"/>
                </a:solidFill>
                <a:latin typeface="Arial"/>
                <a:cs typeface="Arial"/>
              </a:rPr>
              <a:t>time</a:t>
            </a:r>
            <a:r>
              <a:rPr dirty="0" sz="1800" spc="-4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5">
                <a:solidFill>
                  <a:srgbClr val="585D60"/>
                </a:solidFill>
                <a:latin typeface="Arial"/>
                <a:cs typeface="Arial"/>
              </a:rPr>
              <a:t>series.</a:t>
            </a:r>
            <a:endParaRPr sz="1800">
              <a:latin typeface="Arial"/>
              <a:cs typeface="Arial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1722024" y="1950562"/>
            <a:ext cx="8077561" cy="430679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5" name="object 5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1270" rIns="0" bIns="0" rtlCol="0" vert="horz">
            <a:spAutoFit/>
          </a:bodyPr>
          <a:lstStyle/>
          <a:p>
            <a:pPr marL="38100">
              <a:lnSpc>
                <a:spcPct val="100000"/>
              </a:lnSpc>
              <a:spcBef>
                <a:spcPts val="10"/>
              </a:spcBef>
            </a:pPr>
            <a:fld id="{81D60167-4931-47E6-BA6A-407CBD079E47}" type="slidenum">
              <a:rPr dirty="0" spc="5"/>
              <a:t>17</a:t>
            </a:fld>
            <a:r>
              <a:rPr dirty="0" spc="5"/>
              <a:t> </a:t>
            </a:r>
            <a:r>
              <a:rPr dirty="0" spc="160"/>
              <a:t>/</a:t>
            </a:r>
            <a:r>
              <a:rPr dirty="0" spc="-165"/>
              <a:t> </a:t>
            </a:r>
            <a:r>
              <a:rPr dirty="0" spc="5"/>
              <a:t>33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01700" y="530225"/>
            <a:ext cx="9389110" cy="53975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3350" spc="-150">
                <a:solidFill>
                  <a:srgbClr val="C2132D"/>
                </a:solidFill>
                <a:latin typeface="Trebuchet MS"/>
                <a:cs typeface="Trebuchet MS"/>
              </a:rPr>
              <a:t>Stabilizing </a:t>
            </a:r>
            <a:r>
              <a:rPr dirty="0" sz="3350" spc="-260">
                <a:solidFill>
                  <a:srgbClr val="C2132D"/>
                </a:solidFill>
                <a:latin typeface="Trebuchet MS"/>
                <a:cs typeface="Trebuchet MS"/>
              </a:rPr>
              <a:t>the </a:t>
            </a:r>
            <a:r>
              <a:rPr dirty="0" sz="3350" spc="-180">
                <a:solidFill>
                  <a:srgbClr val="C2132D"/>
                </a:solidFill>
                <a:latin typeface="Trebuchet MS"/>
                <a:cs typeface="Trebuchet MS"/>
              </a:rPr>
              <a:t>Variance and </a:t>
            </a:r>
            <a:r>
              <a:rPr dirty="0" sz="3350" spc="-260">
                <a:solidFill>
                  <a:srgbClr val="C2132D"/>
                </a:solidFill>
                <a:latin typeface="Trebuchet MS"/>
                <a:cs typeface="Trebuchet MS"/>
              </a:rPr>
              <a:t>the </a:t>
            </a:r>
            <a:r>
              <a:rPr dirty="0" sz="3350" spc="-175">
                <a:solidFill>
                  <a:srgbClr val="C2132D"/>
                </a:solidFill>
                <a:latin typeface="Trebuchet MS"/>
                <a:cs typeface="Trebuchet MS"/>
              </a:rPr>
              <a:t>Mean:</a:t>
            </a:r>
            <a:r>
              <a:rPr dirty="0" sz="3350" spc="-385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3350" spc="-175">
                <a:solidFill>
                  <a:srgbClr val="C2132D"/>
                </a:solidFill>
                <a:latin typeface="Trebuchet MS"/>
                <a:cs typeface="Trebuchet MS"/>
              </a:rPr>
              <a:t>Log-Differencing</a:t>
            </a:r>
            <a:endParaRPr sz="3350">
              <a:latin typeface="Trebuchet MS"/>
              <a:cs typeface="Trebuchet MS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901700" y="1425575"/>
            <a:ext cx="7518400" cy="29972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800" spc="-20" b="1">
                <a:solidFill>
                  <a:srgbClr val="C2132D"/>
                </a:solidFill>
                <a:latin typeface="Trebuchet MS"/>
                <a:cs typeface="Trebuchet MS"/>
              </a:rPr>
              <a:t>Log-differencing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30">
                <a:solidFill>
                  <a:srgbClr val="585D60"/>
                </a:solidFill>
                <a:latin typeface="Arial"/>
                <a:cs typeface="Arial"/>
              </a:rPr>
              <a:t>is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25">
                <a:solidFill>
                  <a:srgbClr val="585D60"/>
                </a:solidFill>
                <a:latin typeface="Arial"/>
                <a:cs typeface="Arial"/>
              </a:rPr>
              <a:t>a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25">
                <a:solidFill>
                  <a:srgbClr val="585D60"/>
                </a:solidFill>
                <a:latin typeface="Arial"/>
                <a:cs typeface="Arial"/>
              </a:rPr>
              <a:t>combination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75">
                <a:solidFill>
                  <a:srgbClr val="585D60"/>
                </a:solidFill>
                <a:latin typeface="Arial"/>
                <a:cs typeface="Arial"/>
              </a:rPr>
              <a:t>of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20" b="1">
                <a:solidFill>
                  <a:srgbClr val="C2132D"/>
                </a:solidFill>
                <a:latin typeface="Trebuchet MS"/>
                <a:cs typeface="Trebuchet MS"/>
              </a:rPr>
              <a:t>log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35" b="1">
                <a:solidFill>
                  <a:srgbClr val="C2132D"/>
                </a:solidFill>
                <a:latin typeface="Trebuchet MS"/>
                <a:cs typeface="Trebuchet MS"/>
              </a:rPr>
              <a:t>transformation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5">
                <a:solidFill>
                  <a:srgbClr val="585D60"/>
                </a:solidFill>
                <a:latin typeface="Arial"/>
                <a:cs typeface="Arial"/>
              </a:rPr>
              <a:t>and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40" b="1">
                <a:solidFill>
                  <a:srgbClr val="C2132D"/>
                </a:solidFill>
                <a:latin typeface="Trebuchet MS"/>
                <a:cs typeface="Trebuchet MS"/>
              </a:rPr>
              <a:t>differencing</a:t>
            </a:r>
            <a:r>
              <a:rPr dirty="0" sz="1800" spc="-40">
                <a:solidFill>
                  <a:srgbClr val="585D60"/>
                </a:solidFill>
                <a:latin typeface="Arial"/>
                <a:cs typeface="Arial"/>
              </a:rPr>
              <a:t>.</a:t>
            </a:r>
            <a:endParaRPr sz="1800">
              <a:latin typeface="Arial"/>
              <a:cs typeface="Arial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1722024" y="1950562"/>
            <a:ext cx="8077561" cy="430679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5" name="object 5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1270" rIns="0" bIns="0" rtlCol="0" vert="horz">
            <a:spAutoFit/>
          </a:bodyPr>
          <a:lstStyle/>
          <a:p>
            <a:pPr marL="38100">
              <a:lnSpc>
                <a:spcPct val="100000"/>
              </a:lnSpc>
              <a:spcBef>
                <a:spcPts val="10"/>
              </a:spcBef>
            </a:pPr>
            <a:fld id="{81D60167-4931-47E6-BA6A-407CBD079E47}" type="slidenum">
              <a:rPr dirty="0" spc="5"/>
              <a:t>17</a:t>
            </a:fld>
            <a:r>
              <a:rPr dirty="0" spc="5"/>
              <a:t> </a:t>
            </a:r>
            <a:r>
              <a:rPr dirty="0" spc="160"/>
              <a:t>/</a:t>
            </a:r>
            <a:r>
              <a:rPr dirty="0" spc="-165"/>
              <a:t> </a:t>
            </a:r>
            <a:r>
              <a:rPr dirty="0" spc="5"/>
              <a:t>33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01700" y="530225"/>
            <a:ext cx="8179434" cy="539750"/>
          </a:xfrm>
          <a:prstGeom prst="rect"/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3350" spc="-225">
                <a:solidFill>
                  <a:srgbClr val="C2132D"/>
                </a:solidFill>
              </a:rPr>
              <a:t>One </a:t>
            </a:r>
            <a:r>
              <a:rPr dirty="0" sz="3350" spc="-175">
                <a:solidFill>
                  <a:srgbClr val="C2132D"/>
                </a:solidFill>
              </a:rPr>
              <a:t>Final </a:t>
            </a:r>
            <a:r>
              <a:rPr dirty="0" sz="3350" spc="-220">
                <a:solidFill>
                  <a:srgbClr val="C2132D"/>
                </a:solidFill>
              </a:rPr>
              <a:t>Step: </a:t>
            </a:r>
            <a:r>
              <a:rPr dirty="0" sz="3350" spc="-120">
                <a:solidFill>
                  <a:srgbClr val="C2132D"/>
                </a:solidFill>
              </a:rPr>
              <a:t>DeSeasonalizing </a:t>
            </a:r>
            <a:r>
              <a:rPr dirty="0" sz="3350" spc="-260">
                <a:solidFill>
                  <a:srgbClr val="C2132D"/>
                </a:solidFill>
              </a:rPr>
              <a:t>the </a:t>
            </a:r>
            <a:r>
              <a:rPr dirty="0" sz="3350" spc="-215">
                <a:solidFill>
                  <a:srgbClr val="C2132D"/>
                </a:solidFill>
              </a:rPr>
              <a:t>Time</a:t>
            </a:r>
            <a:r>
              <a:rPr dirty="0" sz="3350" spc="-509">
                <a:solidFill>
                  <a:srgbClr val="C2132D"/>
                </a:solidFill>
              </a:rPr>
              <a:t> </a:t>
            </a:r>
            <a:r>
              <a:rPr dirty="0" sz="3350" spc="-105">
                <a:solidFill>
                  <a:srgbClr val="C2132D"/>
                </a:solidFill>
              </a:rPr>
              <a:t>Series</a:t>
            </a:r>
            <a:endParaRPr sz="3350"/>
          </a:p>
        </p:txBody>
      </p:sp>
      <p:sp>
        <p:nvSpPr>
          <p:cNvPr id="3" name="object 3"/>
          <p:cNvSpPr/>
          <p:nvPr/>
        </p:nvSpPr>
        <p:spPr>
          <a:xfrm>
            <a:off x="1722024" y="1512428"/>
            <a:ext cx="8077561" cy="4307600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1270" rIns="0" bIns="0" rtlCol="0" vert="horz">
            <a:spAutoFit/>
          </a:bodyPr>
          <a:lstStyle/>
          <a:p>
            <a:pPr marL="38100">
              <a:lnSpc>
                <a:spcPct val="100000"/>
              </a:lnSpc>
              <a:spcBef>
                <a:spcPts val="10"/>
              </a:spcBef>
            </a:pPr>
            <a:fld id="{81D60167-4931-47E6-BA6A-407CBD079E47}" type="slidenum">
              <a:rPr dirty="0" spc="5"/>
              <a:t>17</a:t>
            </a:fld>
            <a:r>
              <a:rPr dirty="0" spc="5"/>
              <a:t> </a:t>
            </a:r>
            <a:r>
              <a:rPr dirty="0" spc="160"/>
              <a:t>/</a:t>
            </a:r>
            <a:r>
              <a:rPr dirty="0" spc="-165"/>
              <a:t> </a:t>
            </a:r>
            <a:r>
              <a:rPr dirty="0" spc="5"/>
              <a:t>33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object 14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1270" rIns="0" bIns="0" rtlCol="0" vert="horz">
            <a:spAutoFit/>
          </a:bodyPr>
          <a:lstStyle/>
          <a:p>
            <a:pPr marL="38100">
              <a:lnSpc>
                <a:spcPct val="100000"/>
              </a:lnSpc>
              <a:spcBef>
                <a:spcPts val="10"/>
              </a:spcBef>
            </a:pPr>
            <a:fld id="{81D60167-4931-47E6-BA6A-407CBD079E47}" type="slidenum">
              <a:rPr dirty="0" spc="5"/>
              <a:t>17</a:t>
            </a:fld>
            <a:r>
              <a:rPr dirty="0" spc="5"/>
              <a:t> </a:t>
            </a:r>
            <a:r>
              <a:rPr dirty="0" spc="160"/>
              <a:t>/</a:t>
            </a:r>
            <a:r>
              <a:rPr dirty="0" spc="-165"/>
              <a:t> </a:t>
            </a:r>
            <a:r>
              <a:rPr dirty="0" spc="5"/>
              <a:t>33</a:t>
            </a:r>
          </a:p>
        </p:txBody>
      </p: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01700" y="530225"/>
            <a:ext cx="9194165" cy="539750"/>
          </a:xfrm>
          <a:prstGeom prst="rect"/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3350" spc="-250">
                <a:solidFill>
                  <a:srgbClr val="C2132D"/>
                </a:solidFill>
              </a:rPr>
              <a:t>Order </a:t>
            </a:r>
            <a:r>
              <a:rPr dirty="0" sz="3350" spc="-75">
                <a:solidFill>
                  <a:srgbClr val="C2132D"/>
                </a:solidFill>
              </a:rPr>
              <a:t>Does </a:t>
            </a:r>
            <a:r>
              <a:rPr dirty="0" sz="3350" spc="-160">
                <a:solidFill>
                  <a:srgbClr val="C2132D"/>
                </a:solidFill>
              </a:rPr>
              <a:t>Not </a:t>
            </a:r>
            <a:r>
              <a:rPr dirty="0" sz="3350" spc="-229">
                <a:solidFill>
                  <a:srgbClr val="C2132D"/>
                </a:solidFill>
              </a:rPr>
              <a:t>Matter: </a:t>
            </a:r>
            <a:r>
              <a:rPr dirty="0" sz="3350" spc="-95">
                <a:solidFill>
                  <a:srgbClr val="C2132D"/>
                </a:solidFill>
              </a:rPr>
              <a:t>Seasonal </a:t>
            </a:r>
            <a:r>
              <a:rPr dirty="0" sz="3350" spc="-180">
                <a:solidFill>
                  <a:srgbClr val="C2132D"/>
                </a:solidFill>
              </a:rPr>
              <a:t>and </a:t>
            </a:r>
            <a:r>
              <a:rPr dirty="0" sz="3350" spc="-150">
                <a:solidFill>
                  <a:srgbClr val="C2132D"/>
                </a:solidFill>
              </a:rPr>
              <a:t>First</a:t>
            </a:r>
            <a:r>
              <a:rPr dirty="0" sz="3350" spc="-645">
                <a:solidFill>
                  <a:srgbClr val="C2132D"/>
                </a:solidFill>
              </a:rPr>
              <a:t> </a:t>
            </a:r>
            <a:r>
              <a:rPr dirty="0" sz="3350" spc="-170">
                <a:solidFill>
                  <a:srgbClr val="C2132D"/>
                </a:solidFill>
              </a:rPr>
              <a:t>Differences</a:t>
            </a:r>
            <a:endParaRPr sz="3350"/>
          </a:p>
        </p:txBody>
      </p:sp>
      <p:sp>
        <p:nvSpPr>
          <p:cNvPr id="3" name="object 3"/>
          <p:cNvSpPr txBox="1"/>
          <p:nvPr/>
        </p:nvSpPr>
        <p:spPr>
          <a:xfrm>
            <a:off x="901700" y="1414144"/>
            <a:ext cx="7470140" cy="86360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800" spc="-45">
                <a:solidFill>
                  <a:srgbClr val="585D60"/>
                </a:solidFill>
                <a:latin typeface="Arial"/>
                <a:cs typeface="Arial"/>
              </a:rPr>
              <a:t>When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25">
                <a:solidFill>
                  <a:srgbClr val="585D60"/>
                </a:solidFill>
                <a:latin typeface="Arial"/>
                <a:cs typeface="Arial"/>
              </a:rPr>
              <a:t>both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585D60"/>
                </a:solidFill>
                <a:latin typeface="Arial"/>
                <a:cs typeface="Arial"/>
              </a:rPr>
              <a:t>seasonal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5">
                <a:solidFill>
                  <a:srgbClr val="585D60"/>
                </a:solidFill>
                <a:latin typeface="Arial"/>
                <a:cs typeface="Arial"/>
              </a:rPr>
              <a:t>and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45">
                <a:solidFill>
                  <a:srgbClr val="585D60"/>
                </a:solidFill>
                <a:latin typeface="Arial"/>
                <a:cs typeface="Arial"/>
              </a:rPr>
              <a:t>first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5">
                <a:solidFill>
                  <a:srgbClr val="585D60"/>
                </a:solidFill>
                <a:latin typeface="Arial"/>
                <a:cs typeface="Arial"/>
              </a:rPr>
              <a:t>differences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30">
                <a:solidFill>
                  <a:srgbClr val="585D60"/>
                </a:solidFill>
                <a:latin typeface="Arial"/>
                <a:cs typeface="Arial"/>
              </a:rPr>
              <a:t>are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5">
                <a:solidFill>
                  <a:srgbClr val="585D60"/>
                </a:solidFill>
                <a:latin typeface="Arial"/>
                <a:cs typeface="Arial"/>
              </a:rPr>
              <a:t>applied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900" spc="204">
                <a:solidFill>
                  <a:srgbClr val="585D60"/>
                </a:solidFill>
                <a:latin typeface="Lucida Sans Unicode"/>
                <a:cs typeface="Lucida Sans Unicode"/>
              </a:rPr>
              <a:t>…</a:t>
            </a:r>
            <a:endParaRPr sz="1900">
              <a:latin typeface="Lucida Sans Unicode"/>
              <a:cs typeface="Lucida Sans Unicode"/>
            </a:endParaRPr>
          </a:p>
          <a:p>
            <a:pPr>
              <a:lnSpc>
                <a:spcPct val="100000"/>
              </a:lnSpc>
              <a:spcBef>
                <a:spcPts val="15"/>
              </a:spcBef>
            </a:pPr>
            <a:endParaRPr sz="1400">
              <a:latin typeface="Lucida Sans Unicode"/>
              <a:cs typeface="Lucida Sans Unicode"/>
            </a:endParaRPr>
          </a:p>
          <a:p>
            <a:pPr marL="393700" indent="-133985">
              <a:lnSpc>
                <a:spcPct val="100000"/>
              </a:lnSpc>
              <a:buClr>
                <a:srgbClr val="C2132D"/>
              </a:buClr>
              <a:buFont typeface="Trebuchet MS"/>
              <a:buChar char="•"/>
              <a:tabLst>
                <a:tab pos="393700" algn="l"/>
              </a:tabLst>
            </a:pPr>
            <a:r>
              <a:rPr dirty="0" sz="1800" spc="60">
                <a:solidFill>
                  <a:srgbClr val="585D60"/>
                </a:solidFill>
                <a:latin typeface="Arial"/>
                <a:cs typeface="Arial"/>
              </a:rPr>
              <a:t>it</a:t>
            </a:r>
            <a:r>
              <a:rPr dirty="0" sz="1800" spc="-6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5">
                <a:solidFill>
                  <a:srgbClr val="585D60"/>
                </a:solidFill>
                <a:latin typeface="Arial"/>
                <a:cs typeface="Arial"/>
              </a:rPr>
              <a:t>makes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5">
                <a:solidFill>
                  <a:srgbClr val="585D60"/>
                </a:solidFill>
                <a:latin typeface="Arial"/>
                <a:cs typeface="Arial"/>
              </a:rPr>
              <a:t>no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5">
                <a:solidFill>
                  <a:srgbClr val="585D60"/>
                </a:solidFill>
                <a:latin typeface="Arial"/>
                <a:cs typeface="Arial"/>
              </a:rPr>
              <a:t>difference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20">
                <a:solidFill>
                  <a:srgbClr val="585D60"/>
                </a:solidFill>
                <a:latin typeface="Arial"/>
                <a:cs typeface="Arial"/>
              </a:rPr>
              <a:t>which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30">
                <a:solidFill>
                  <a:srgbClr val="585D60"/>
                </a:solidFill>
                <a:latin typeface="Arial"/>
                <a:cs typeface="Arial"/>
              </a:rPr>
              <a:t>is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5">
                <a:solidFill>
                  <a:srgbClr val="585D60"/>
                </a:solidFill>
                <a:latin typeface="Arial"/>
                <a:cs typeface="Arial"/>
              </a:rPr>
              <a:t>done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5">
                <a:solidFill>
                  <a:srgbClr val="585D60"/>
                </a:solidFill>
                <a:latin typeface="Arial"/>
                <a:cs typeface="Arial"/>
              </a:rPr>
              <a:t>first---the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5">
                <a:solidFill>
                  <a:srgbClr val="585D60"/>
                </a:solidFill>
                <a:latin typeface="Arial"/>
                <a:cs typeface="Arial"/>
              </a:rPr>
              <a:t>result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40">
                <a:solidFill>
                  <a:srgbClr val="585D60"/>
                </a:solidFill>
                <a:latin typeface="Arial"/>
                <a:cs typeface="Arial"/>
              </a:rPr>
              <a:t>will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20">
                <a:solidFill>
                  <a:srgbClr val="585D60"/>
                </a:solidFill>
                <a:latin typeface="Arial"/>
                <a:cs typeface="Arial"/>
              </a:rPr>
              <a:t>be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the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585D60"/>
                </a:solidFill>
                <a:latin typeface="Arial"/>
                <a:cs typeface="Arial"/>
              </a:rPr>
              <a:t>same.</a:t>
            </a:r>
            <a:endParaRPr sz="180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212155" y="2678745"/>
            <a:ext cx="83820" cy="201930"/>
          </a:xfrm>
          <a:prstGeom prst="rect">
            <a:avLst/>
          </a:prstGeom>
        </p:spPr>
        <p:txBody>
          <a:bodyPr wrap="square" lIns="0" tIns="1333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dirty="0" sz="1150" spc="135" i="1">
                <a:solidFill>
                  <a:srgbClr val="585D60"/>
                </a:solidFill>
                <a:latin typeface="Arial"/>
                <a:cs typeface="Arial"/>
              </a:rPr>
              <a:t>t</a:t>
            </a:r>
            <a:endParaRPr sz="115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876300" y="2519045"/>
            <a:ext cx="8853170" cy="31369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38100">
              <a:lnSpc>
                <a:spcPct val="100000"/>
              </a:lnSpc>
              <a:spcBef>
                <a:spcPts val="90"/>
              </a:spcBef>
            </a:pPr>
            <a:r>
              <a:rPr dirty="0" sz="1800" spc="55">
                <a:solidFill>
                  <a:srgbClr val="585D60"/>
                </a:solidFill>
                <a:latin typeface="Arial"/>
                <a:cs typeface="Arial"/>
              </a:rPr>
              <a:t>If </a:t>
            </a:r>
            <a:r>
              <a:rPr dirty="0" sz="1600" spc="50" i="1">
                <a:solidFill>
                  <a:srgbClr val="585D60"/>
                </a:solidFill>
                <a:latin typeface="Arial"/>
                <a:cs typeface="Arial"/>
              </a:rPr>
              <a:t>y</a:t>
            </a:r>
            <a:r>
              <a:rPr dirty="0" baseline="27777" sz="1950" spc="75">
                <a:solidFill>
                  <a:srgbClr val="585D60"/>
                </a:solidFill>
                <a:latin typeface="Lucida Sans Unicode"/>
                <a:cs typeface="Lucida Sans Unicode"/>
              </a:rPr>
              <a:t>′ </a:t>
            </a:r>
            <a:r>
              <a:rPr dirty="0" sz="1900" spc="-110">
                <a:solidFill>
                  <a:srgbClr val="585D60"/>
                </a:solidFill>
                <a:latin typeface="Lucida Sans Unicode"/>
                <a:cs typeface="Lucida Sans Unicode"/>
              </a:rPr>
              <a:t>= </a:t>
            </a:r>
            <a:r>
              <a:rPr dirty="0" sz="1600" spc="110" i="1">
                <a:solidFill>
                  <a:srgbClr val="585D60"/>
                </a:solidFill>
                <a:latin typeface="Arial"/>
                <a:cs typeface="Arial"/>
              </a:rPr>
              <a:t>y</a:t>
            </a:r>
            <a:r>
              <a:rPr dirty="0" baseline="-12077" sz="1725" spc="165" i="1">
                <a:solidFill>
                  <a:srgbClr val="585D60"/>
                </a:solidFill>
                <a:latin typeface="Arial"/>
                <a:cs typeface="Arial"/>
              </a:rPr>
              <a:t>t </a:t>
            </a:r>
            <a:r>
              <a:rPr dirty="0" sz="1900" spc="-110">
                <a:solidFill>
                  <a:srgbClr val="585D60"/>
                </a:solidFill>
                <a:latin typeface="Lucida Sans Unicode"/>
                <a:cs typeface="Lucida Sans Unicode"/>
              </a:rPr>
              <a:t>− </a:t>
            </a:r>
            <a:r>
              <a:rPr dirty="0" sz="1600" spc="-40" i="1">
                <a:solidFill>
                  <a:srgbClr val="585D60"/>
                </a:solidFill>
                <a:latin typeface="Arial"/>
                <a:cs typeface="Arial"/>
              </a:rPr>
              <a:t>y</a:t>
            </a:r>
            <a:r>
              <a:rPr dirty="0" baseline="-12077" sz="1725" spc="-60" i="1">
                <a:solidFill>
                  <a:srgbClr val="585D60"/>
                </a:solidFill>
                <a:latin typeface="Arial"/>
                <a:cs typeface="Arial"/>
              </a:rPr>
              <a:t>t</a:t>
            </a:r>
            <a:r>
              <a:rPr dirty="0" baseline="-10683" sz="1950" spc="-60">
                <a:solidFill>
                  <a:srgbClr val="585D60"/>
                </a:solidFill>
                <a:latin typeface="Lucida Sans Unicode"/>
                <a:cs typeface="Lucida Sans Unicode"/>
              </a:rPr>
              <a:t>−12 </a:t>
            </a:r>
            <a:r>
              <a:rPr dirty="0" sz="1800" spc="5">
                <a:solidFill>
                  <a:srgbClr val="585D60"/>
                </a:solidFill>
                <a:latin typeface="Arial"/>
                <a:cs typeface="Arial"/>
              </a:rPr>
              <a:t>denotes </a:t>
            </a:r>
            <a:r>
              <a:rPr dirty="0" sz="1800">
                <a:solidFill>
                  <a:srgbClr val="585D60"/>
                </a:solidFill>
                <a:latin typeface="Arial"/>
                <a:cs typeface="Arial"/>
              </a:rPr>
              <a:t>seasonally </a:t>
            </a:r>
            <a:r>
              <a:rPr dirty="0" sz="1800" spc="15">
                <a:solidFill>
                  <a:srgbClr val="585D60"/>
                </a:solidFill>
                <a:latin typeface="Arial"/>
                <a:cs typeface="Arial"/>
              </a:rPr>
              <a:t>differenced </a:t>
            </a:r>
            <a:r>
              <a:rPr dirty="0" sz="1800" spc="-20">
                <a:solidFill>
                  <a:srgbClr val="585D60"/>
                </a:solidFill>
                <a:latin typeface="Arial"/>
                <a:cs typeface="Arial"/>
              </a:rPr>
              <a:t>series, </a:t>
            </a:r>
            <a:r>
              <a:rPr dirty="0" sz="1800" spc="5">
                <a:solidFill>
                  <a:srgbClr val="585D60"/>
                </a:solidFill>
                <a:latin typeface="Arial"/>
                <a:cs typeface="Arial"/>
              </a:rPr>
              <a:t>then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twice-differenced </a:t>
            </a:r>
            <a:r>
              <a:rPr dirty="0" sz="1800">
                <a:solidFill>
                  <a:srgbClr val="585D60"/>
                </a:solidFill>
                <a:latin typeface="Arial"/>
                <a:cs typeface="Arial"/>
              </a:rPr>
              <a:t>series</a:t>
            </a:r>
            <a:r>
              <a:rPr dirty="0" sz="1800" spc="-17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30">
                <a:solidFill>
                  <a:srgbClr val="585D60"/>
                </a:solidFill>
                <a:latin typeface="Arial"/>
                <a:cs typeface="Arial"/>
              </a:rPr>
              <a:t>is</a:t>
            </a:r>
            <a:endParaRPr sz="18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4249439" y="3174044"/>
            <a:ext cx="606425" cy="201930"/>
          </a:xfrm>
          <a:prstGeom prst="rect">
            <a:avLst/>
          </a:prstGeom>
        </p:spPr>
        <p:txBody>
          <a:bodyPr wrap="square" lIns="0" tIns="1333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  <a:tabLst>
                <a:tab pos="535305" algn="l"/>
              </a:tabLst>
            </a:pPr>
            <a:r>
              <a:rPr dirty="0" sz="1150" spc="135" i="1">
                <a:solidFill>
                  <a:srgbClr val="585D60"/>
                </a:solidFill>
                <a:latin typeface="Arial"/>
                <a:cs typeface="Arial"/>
              </a:rPr>
              <a:t>t</a:t>
            </a:r>
            <a:r>
              <a:rPr dirty="0" sz="1150" spc="135" i="1">
                <a:solidFill>
                  <a:srgbClr val="585D60"/>
                </a:solidFill>
                <a:latin typeface="Arial"/>
                <a:cs typeface="Arial"/>
              </a:rPr>
              <a:t>	</a:t>
            </a:r>
            <a:r>
              <a:rPr dirty="0" sz="1150" spc="135" i="1">
                <a:solidFill>
                  <a:srgbClr val="585D60"/>
                </a:solidFill>
                <a:latin typeface="Arial"/>
                <a:cs typeface="Arial"/>
              </a:rPr>
              <a:t>t</a:t>
            </a:r>
            <a:endParaRPr sz="115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111972" y="3014344"/>
            <a:ext cx="1229995" cy="31369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38100">
              <a:lnSpc>
                <a:spcPct val="100000"/>
              </a:lnSpc>
              <a:spcBef>
                <a:spcPts val="90"/>
              </a:spcBef>
            </a:pPr>
            <a:r>
              <a:rPr dirty="0" sz="1600" spc="-110" i="1">
                <a:solidFill>
                  <a:srgbClr val="585D60"/>
                </a:solidFill>
                <a:latin typeface="Arial"/>
                <a:cs typeface="Arial"/>
              </a:rPr>
              <a:t>y</a:t>
            </a:r>
            <a:r>
              <a:rPr dirty="0" baseline="25641" sz="1950" spc="-165">
                <a:solidFill>
                  <a:srgbClr val="585D60"/>
                </a:solidFill>
                <a:latin typeface="Lucida Sans Unicode"/>
                <a:cs typeface="Lucida Sans Unicode"/>
              </a:rPr>
              <a:t>∗ </a:t>
            </a:r>
            <a:r>
              <a:rPr dirty="0" sz="1900" spc="-110">
                <a:solidFill>
                  <a:srgbClr val="585D60"/>
                </a:solidFill>
                <a:latin typeface="Lucida Sans Unicode"/>
                <a:cs typeface="Lucida Sans Unicode"/>
              </a:rPr>
              <a:t>= </a:t>
            </a:r>
            <a:r>
              <a:rPr dirty="0" sz="1600" spc="50" i="1">
                <a:solidFill>
                  <a:srgbClr val="585D60"/>
                </a:solidFill>
                <a:latin typeface="Arial"/>
                <a:cs typeface="Arial"/>
              </a:rPr>
              <a:t>y</a:t>
            </a:r>
            <a:r>
              <a:rPr dirty="0" baseline="25641" sz="1950" spc="75">
                <a:solidFill>
                  <a:srgbClr val="585D60"/>
                </a:solidFill>
                <a:latin typeface="Lucida Sans Unicode"/>
                <a:cs typeface="Lucida Sans Unicode"/>
              </a:rPr>
              <a:t>′ </a:t>
            </a:r>
            <a:r>
              <a:rPr dirty="0" sz="1900" spc="-110">
                <a:solidFill>
                  <a:srgbClr val="585D60"/>
                </a:solidFill>
                <a:latin typeface="Lucida Sans Unicode"/>
                <a:cs typeface="Lucida Sans Unicode"/>
              </a:rPr>
              <a:t>−</a:t>
            </a:r>
            <a:r>
              <a:rPr dirty="0" sz="1900" spc="-250">
                <a:solidFill>
                  <a:srgbClr val="585D60"/>
                </a:solidFill>
                <a:latin typeface="Lucida Sans Unicode"/>
                <a:cs typeface="Lucida Sans Unicode"/>
              </a:rPr>
              <a:t> </a:t>
            </a:r>
            <a:r>
              <a:rPr dirty="0" sz="1600" spc="50" i="1">
                <a:solidFill>
                  <a:srgbClr val="585D60"/>
                </a:solidFill>
                <a:latin typeface="Arial"/>
                <a:cs typeface="Arial"/>
              </a:rPr>
              <a:t>y</a:t>
            </a:r>
            <a:r>
              <a:rPr dirty="0" baseline="25641" sz="1950" spc="75">
                <a:solidFill>
                  <a:srgbClr val="585D60"/>
                </a:solidFill>
                <a:latin typeface="Lucida Sans Unicode"/>
                <a:cs typeface="Lucida Sans Unicode"/>
              </a:rPr>
              <a:t>′</a:t>
            </a:r>
            <a:endParaRPr baseline="25641" sz="1950">
              <a:latin typeface="Lucida Sans Unicode"/>
              <a:cs typeface="Lucida Sans Unicode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5233193" y="3160953"/>
            <a:ext cx="290830" cy="22923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1150" spc="135" i="1">
                <a:solidFill>
                  <a:srgbClr val="585D60"/>
                </a:solidFill>
                <a:latin typeface="Arial"/>
                <a:cs typeface="Arial"/>
              </a:rPr>
              <a:t>t</a:t>
            </a:r>
            <a:r>
              <a:rPr dirty="0" sz="1300" spc="-45">
                <a:solidFill>
                  <a:srgbClr val="585D60"/>
                </a:solidFill>
                <a:latin typeface="Lucida Sans Unicode"/>
                <a:cs typeface="Lucida Sans Unicode"/>
              </a:rPr>
              <a:t>−</a:t>
            </a:r>
            <a:r>
              <a:rPr dirty="0" sz="1300" spc="-190">
                <a:solidFill>
                  <a:srgbClr val="585D60"/>
                </a:solidFill>
                <a:latin typeface="Lucida Sans Unicode"/>
                <a:cs typeface="Lucida Sans Unicode"/>
              </a:rPr>
              <a:t>1</a:t>
            </a:r>
            <a:endParaRPr sz="1300">
              <a:latin typeface="Lucida Sans Unicode"/>
              <a:cs typeface="Lucida Sans Unicode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889000" y="3292855"/>
            <a:ext cx="8514080" cy="1223645"/>
          </a:xfrm>
          <a:prstGeom prst="rect">
            <a:avLst/>
          </a:prstGeom>
        </p:spPr>
        <p:txBody>
          <a:bodyPr wrap="square" lIns="0" tIns="75565" rIns="0" bIns="0" rtlCol="0" vert="horz">
            <a:spAutoFit/>
          </a:bodyPr>
          <a:lstStyle/>
          <a:p>
            <a:pPr marL="3542029">
              <a:lnSpc>
                <a:spcPct val="100000"/>
              </a:lnSpc>
              <a:spcBef>
                <a:spcPts val="595"/>
              </a:spcBef>
            </a:pPr>
            <a:r>
              <a:rPr dirty="0" sz="1900" spc="-110">
                <a:solidFill>
                  <a:srgbClr val="585D60"/>
                </a:solidFill>
                <a:latin typeface="Lucida Sans Unicode"/>
                <a:cs typeface="Lucida Sans Unicode"/>
              </a:rPr>
              <a:t>= </a:t>
            </a:r>
            <a:r>
              <a:rPr dirty="0" sz="1900" spc="100">
                <a:solidFill>
                  <a:srgbClr val="585D60"/>
                </a:solidFill>
                <a:latin typeface="Lucida Sans Unicode"/>
                <a:cs typeface="Lucida Sans Unicode"/>
              </a:rPr>
              <a:t>(</a:t>
            </a:r>
            <a:r>
              <a:rPr dirty="0" sz="1600" spc="100" i="1">
                <a:solidFill>
                  <a:srgbClr val="585D60"/>
                </a:solidFill>
                <a:latin typeface="Arial"/>
                <a:cs typeface="Arial"/>
              </a:rPr>
              <a:t>y</a:t>
            </a:r>
            <a:r>
              <a:rPr dirty="0" baseline="-14492" sz="1725" spc="150" i="1">
                <a:solidFill>
                  <a:srgbClr val="585D60"/>
                </a:solidFill>
                <a:latin typeface="Arial"/>
                <a:cs typeface="Arial"/>
              </a:rPr>
              <a:t>t </a:t>
            </a:r>
            <a:r>
              <a:rPr dirty="0" sz="1900" spc="-110">
                <a:solidFill>
                  <a:srgbClr val="585D60"/>
                </a:solidFill>
                <a:latin typeface="Lucida Sans Unicode"/>
                <a:cs typeface="Lucida Sans Unicode"/>
              </a:rPr>
              <a:t>− </a:t>
            </a:r>
            <a:r>
              <a:rPr dirty="0" sz="1600" spc="-5" i="1">
                <a:solidFill>
                  <a:srgbClr val="585D60"/>
                </a:solidFill>
                <a:latin typeface="Arial"/>
                <a:cs typeface="Arial"/>
              </a:rPr>
              <a:t>y</a:t>
            </a:r>
            <a:r>
              <a:rPr dirty="0" baseline="-14492" sz="1725" spc="-7" i="1">
                <a:solidFill>
                  <a:srgbClr val="585D60"/>
                </a:solidFill>
                <a:latin typeface="Arial"/>
                <a:cs typeface="Arial"/>
              </a:rPr>
              <a:t>t</a:t>
            </a:r>
            <a:r>
              <a:rPr dirty="0" baseline="-12820" sz="1950" spc="-7">
                <a:solidFill>
                  <a:srgbClr val="585D60"/>
                </a:solidFill>
                <a:latin typeface="Lucida Sans Unicode"/>
                <a:cs typeface="Lucida Sans Unicode"/>
              </a:rPr>
              <a:t>−12</a:t>
            </a:r>
            <a:r>
              <a:rPr dirty="0" sz="1900" spc="-5">
                <a:solidFill>
                  <a:srgbClr val="585D60"/>
                </a:solidFill>
                <a:latin typeface="Lucida Sans Unicode"/>
                <a:cs typeface="Lucida Sans Unicode"/>
              </a:rPr>
              <a:t>) </a:t>
            </a:r>
            <a:r>
              <a:rPr dirty="0" sz="1900" spc="-110">
                <a:solidFill>
                  <a:srgbClr val="585D60"/>
                </a:solidFill>
                <a:latin typeface="Lucida Sans Unicode"/>
                <a:cs typeface="Lucida Sans Unicode"/>
              </a:rPr>
              <a:t>− </a:t>
            </a:r>
            <a:r>
              <a:rPr dirty="0" sz="1900" spc="10">
                <a:solidFill>
                  <a:srgbClr val="585D60"/>
                </a:solidFill>
                <a:latin typeface="Lucida Sans Unicode"/>
                <a:cs typeface="Lucida Sans Unicode"/>
              </a:rPr>
              <a:t>(</a:t>
            </a:r>
            <a:r>
              <a:rPr dirty="0" sz="1600" spc="10" i="1">
                <a:solidFill>
                  <a:srgbClr val="585D60"/>
                </a:solidFill>
                <a:latin typeface="Arial"/>
                <a:cs typeface="Arial"/>
              </a:rPr>
              <a:t>y</a:t>
            </a:r>
            <a:r>
              <a:rPr dirty="0" baseline="-14492" sz="1725" spc="15" i="1">
                <a:solidFill>
                  <a:srgbClr val="585D60"/>
                </a:solidFill>
                <a:latin typeface="Arial"/>
                <a:cs typeface="Arial"/>
              </a:rPr>
              <a:t>t</a:t>
            </a:r>
            <a:r>
              <a:rPr dirty="0" baseline="-12820" sz="1950" spc="15">
                <a:solidFill>
                  <a:srgbClr val="585D60"/>
                </a:solidFill>
                <a:latin typeface="Lucida Sans Unicode"/>
                <a:cs typeface="Lucida Sans Unicode"/>
              </a:rPr>
              <a:t>−1 </a:t>
            </a:r>
            <a:r>
              <a:rPr dirty="0" sz="1900" spc="-110">
                <a:solidFill>
                  <a:srgbClr val="585D60"/>
                </a:solidFill>
                <a:latin typeface="Lucida Sans Unicode"/>
                <a:cs typeface="Lucida Sans Unicode"/>
              </a:rPr>
              <a:t>−</a:t>
            </a:r>
            <a:r>
              <a:rPr dirty="0" sz="1900" spc="-465">
                <a:solidFill>
                  <a:srgbClr val="585D60"/>
                </a:solidFill>
                <a:latin typeface="Lucida Sans Unicode"/>
                <a:cs typeface="Lucida Sans Unicode"/>
              </a:rPr>
              <a:t> </a:t>
            </a:r>
            <a:r>
              <a:rPr dirty="0" sz="1600" spc="-5" i="1">
                <a:solidFill>
                  <a:srgbClr val="585D60"/>
                </a:solidFill>
                <a:latin typeface="Arial"/>
                <a:cs typeface="Arial"/>
              </a:rPr>
              <a:t>y</a:t>
            </a:r>
            <a:r>
              <a:rPr dirty="0" baseline="-14492" sz="1725" spc="-7" i="1">
                <a:solidFill>
                  <a:srgbClr val="585D60"/>
                </a:solidFill>
                <a:latin typeface="Arial"/>
                <a:cs typeface="Arial"/>
              </a:rPr>
              <a:t>t</a:t>
            </a:r>
            <a:r>
              <a:rPr dirty="0" baseline="-12820" sz="1950" spc="-7">
                <a:solidFill>
                  <a:srgbClr val="585D60"/>
                </a:solidFill>
                <a:latin typeface="Lucida Sans Unicode"/>
                <a:cs typeface="Lucida Sans Unicode"/>
              </a:rPr>
              <a:t>−13</a:t>
            </a:r>
            <a:r>
              <a:rPr dirty="0" sz="1900" spc="-5">
                <a:solidFill>
                  <a:srgbClr val="585D60"/>
                </a:solidFill>
                <a:latin typeface="Lucida Sans Unicode"/>
                <a:cs typeface="Lucida Sans Unicode"/>
              </a:rPr>
              <a:t>)</a:t>
            </a:r>
            <a:endParaRPr sz="1900">
              <a:latin typeface="Lucida Sans Unicode"/>
              <a:cs typeface="Lucida Sans Unicode"/>
            </a:endParaRPr>
          </a:p>
          <a:p>
            <a:pPr marL="3542029">
              <a:lnSpc>
                <a:spcPct val="100000"/>
              </a:lnSpc>
              <a:spcBef>
                <a:spcPts val="495"/>
              </a:spcBef>
            </a:pPr>
            <a:r>
              <a:rPr dirty="0" baseline="8771" sz="2850" spc="-165">
                <a:solidFill>
                  <a:srgbClr val="585D60"/>
                </a:solidFill>
                <a:latin typeface="Lucida Sans Unicode"/>
                <a:cs typeface="Lucida Sans Unicode"/>
              </a:rPr>
              <a:t>= </a:t>
            </a:r>
            <a:r>
              <a:rPr dirty="0" baseline="10416" sz="2400" spc="165" i="1">
                <a:solidFill>
                  <a:srgbClr val="585D60"/>
                </a:solidFill>
                <a:latin typeface="Arial"/>
                <a:cs typeface="Arial"/>
              </a:rPr>
              <a:t>y</a:t>
            </a:r>
            <a:r>
              <a:rPr dirty="0" sz="1150" spc="110" i="1">
                <a:solidFill>
                  <a:srgbClr val="585D60"/>
                </a:solidFill>
                <a:latin typeface="Arial"/>
                <a:cs typeface="Arial"/>
              </a:rPr>
              <a:t>t </a:t>
            </a:r>
            <a:r>
              <a:rPr dirty="0" baseline="8771" sz="2850" spc="-165">
                <a:solidFill>
                  <a:srgbClr val="585D60"/>
                </a:solidFill>
                <a:latin typeface="Lucida Sans Unicode"/>
                <a:cs typeface="Lucida Sans Unicode"/>
              </a:rPr>
              <a:t>− </a:t>
            </a:r>
            <a:r>
              <a:rPr dirty="0" baseline="10416" sz="2400" spc="-7" i="1">
                <a:solidFill>
                  <a:srgbClr val="585D60"/>
                </a:solidFill>
                <a:latin typeface="Arial"/>
                <a:cs typeface="Arial"/>
              </a:rPr>
              <a:t>y</a:t>
            </a:r>
            <a:r>
              <a:rPr dirty="0" sz="1150" spc="-5" i="1">
                <a:solidFill>
                  <a:srgbClr val="585D60"/>
                </a:solidFill>
                <a:latin typeface="Arial"/>
                <a:cs typeface="Arial"/>
              </a:rPr>
              <a:t>t</a:t>
            </a:r>
            <a:r>
              <a:rPr dirty="0" sz="1300" spc="-5">
                <a:solidFill>
                  <a:srgbClr val="585D60"/>
                </a:solidFill>
                <a:latin typeface="Lucida Sans Unicode"/>
                <a:cs typeface="Lucida Sans Unicode"/>
              </a:rPr>
              <a:t>−1 </a:t>
            </a:r>
            <a:r>
              <a:rPr dirty="0" baseline="8771" sz="2850" spc="-165">
                <a:solidFill>
                  <a:srgbClr val="585D60"/>
                </a:solidFill>
                <a:latin typeface="Lucida Sans Unicode"/>
                <a:cs typeface="Lucida Sans Unicode"/>
              </a:rPr>
              <a:t>− </a:t>
            </a:r>
            <a:r>
              <a:rPr dirty="0" baseline="10416" sz="2400" spc="-60" i="1">
                <a:solidFill>
                  <a:srgbClr val="585D60"/>
                </a:solidFill>
                <a:latin typeface="Arial"/>
                <a:cs typeface="Arial"/>
              </a:rPr>
              <a:t>y</a:t>
            </a:r>
            <a:r>
              <a:rPr dirty="0" sz="1150" spc="-40" i="1">
                <a:solidFill>
                  <a:srgbClr val="585D60"/>
                </a:solidFill>
                <a:latin typeface="Arial"/>
                <a:cs typeface="Arial"/>
              </a:rPr>
              <a:t>t</a:t>
            </a:r>
            <a:r>
              <a:rPr dirty="0" sz="1300" spc="-40">
                <a:solidFill>
                  <a:srgbClr val="585D60"/>
                </a:solidFill>
                <a:latin typeface="Lucida Sans Unicode"/>
                <a:cs typeface="Lucida Sans Unicode"/>
              </a:rPr>
              <a:t>−12 </a:t>
            </a:r>
            <a:r>
              <a:rPr dirty="0" baseline="8771" sz="2850" spc="-165">
                <a:solidFill>
                  <a:srgbClr val="585D60"/>
                </a:solidFill>
                <a:latin typeface="Lucida Sans Unicode"/>
                <a:cs typeface="Lucida Sans Unicode"/>
              </a:rPr>
              <a:t>+ </a:t>
            </a:r>
            <a:r>
              <a:rPr dirty="0" baseline="10416" sz="2400" spc="-60" i="1">
                <a:solidFill>
                  <a:srgbClr val="585D60"/>
                </a:solidFill>
                <a:latin typeface="Arial"/>
                <a:cs typeface="Arial"/>
              </a:rPr>
              <a:t>y</a:t>
            </a:r>
            <a:r>
              <a:rPr dirty="0" sz="1150" spc="-40" i="1">
                <a:solidFill>
                  <a:srgbClr val="585D60"/>
                </a:solidFill>
                <a:latin typeface="Arial"/>
                <a:cs typeface="Arial"/>
              </a:rPr>
              <a:t>t</a:t>
            </a:r>
            <a:r>
              <a:rPr dirty="0" sz="1300" spc="-40">
                <a:solidFill>
                  <a:srgbClr val="585D60"/>
                </a:solidFill>
                <a:latin typeface="Lucida Sans Unicode"/>
                <a:cs typeface="Lucida Sans Unicode"/>
              </a:rPr>
              <a:t>−13</a:t>
            </a:r>
            <a:r>
              <a:rPr dirty="0" sz="1300" spc="35">
                <a:solidFill>
                  <a:srgbClr val="585D60"/>
                </a:solidFill>
                <a:latin typeface="Lucida Sans Unicode"/>
                <a:cs typeface="Lucida Sans Unicode"/>
              </a:rPr>
              <a:t> </a:t>
            </a:r>
            <a:r>
              <a:rPr dirty="0" baseline="8771" sz="2850" spc="-157">
                <a:solidFill>
                  <a:srgbClr val="585D60"/>
                </a:solidFill>
                <a:latin typeface="Lucida Sans Unicode"/>
                <a:cs typeface="Lucida Sans Unicode"/>
              </a:rPr>
              <a:t>.</a:t>
            </a:r>
            <a:endParaRPr baseline="8771" sz="2850">
              <a:latin typeface="Lucida Sans Unicode"/>
              <a:cs typeface="Lucida Sans Unicode"/>
            </a:endParaRPr>
          </a:p>
          <a:p>
            <a:pPr marL="25400">
              <a:lnSpc>
                <a:spcPct val="100000"/>
              </a:lnSpc>
              <a:spcBef>
                <a:spcPts val="1720"/>
              </a:spcBef>
            </a:pPr>
            <a:r>
              <a:rPr dirty="0" sz="1800" spc="5">
                <a:solidFill>
                  <a:srgbClr val="585D60"/>
                </a:solidFill>
                <a:latin typeface="Arial"/>
                <a:cs typeface="Arial"/>
              </a:rPr>
              <a:t>This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30">
                <a:solidFill>
                  <a:srgbClr val="585D60"/>
                </a:solidFill>
                <a:latin typeface="Arial"/>
                <a:cs typeface="Arial"/>
              </a:rPr>
              <a:t>is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585D60"/>
                </a:solidFill>
                <a:latin typeface="Arial"/>
                <a:cs typeface="Arial"/>
              </a:rPr>
              <a:t>equivalent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45">
                <a:solidFill>
                  <a:srgbClr val="585D60"/>
                </a:solidFill>
                <a:latin typeface="Arial"/>
                <a:cs typeface="Arial"/>
              </a:rPr>
              <a:t>to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the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5">
                <a:solidFill>
                  <a:srgbClr val="585D60"/>
                </a:solidFill>
                <a:latin typeface="Arial"/>
                <a:cs typeface="Arial"/>
              </a:rPr>
              <a:t>first-differenced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585D60"/>
                </a:solidFill>
                <a:latin typeface="Arial"/>
                <a:cs typeface="Arial"/>
              </a:rPr>
              <a:t>series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75">
                <a:solidFill>
                  <a:srgbClr val="585D60"/>
                </a:solidFill>
                <a:latin typeface="Arial"/>
                <a:cs typeface="Arial"/>
              </a:rPr>
              <a:t>of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the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585D60"/>
                </a:solidFill>
                <a:latin typeface="Arial"/>
                <a:cs typeface="Arial"/>
              </a:rPr>
              <a:t>seasonally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5">
                <a:solidFill>
                  <a:srgbClr val="585D60"/>
                </a:solidFill>
                <a:latin typeface="Arial"/>
                <a:cs typeface="Arial"/>
              </a:rPr>
              <a:t>differenced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10">
                <a:solidFill>
                  <a:srgbClr val="585D60"/>
                </a:solidFill>
                <a:latin typeface="Arial"/>
                <a:cs typeface="Arial"/>
              </a:rPr>
              <a:t>series:</a:t>
            </a:r>
            <a:endParaRPr sz="1800"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4249439" y="4869494"/>
            <a:ext cx="606425" cy="201930"/>
          </a:xfrm>
          <a:prstGeom prst="rect">
            <a:avLst/>
          </a:prstGeom>
        </p:spPr>
        <p:txBody>
          <a:bodyPr wrap="square" lIns="0" tIns="1333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  <a:tabLst>
                <a:tab pos="535305" algn="l"/>
              </a:tabLst>
            </a:pPr>
            <a:r>
              <a:rPr dirty="0" sz="1150" spc="135" i="1">
                <a:solidFill>
                  <a:srgbClr val="585D60"/>
                </a:solidFill>
                <a:latin typeface="Arial"/>
                <a:cs typeface="Arial"/>
              </a:rPr>
              <a:t>t</a:t>
            </a:r>
            <a:r>
              <a:rPr dirty="0" sz="1150" spc="135" i="1">
                <a:solidFill>
                  <a:srgbClr val="585D60"/>
                </a:solidFill>
                <a:latin typeface="Arial"/>
                <a:cs typeface="Arial"/>
              </a:rPr>
              <a:t>	</a:t>
            </a:r>
            <a:r>
              <a:rPr dirty="0" sz="1150" spc="135" i="1">
                <a:solidFill>
                  <a:srgbClr val="585D60"/>
                </a:solidFill>
                <a:latin typeface="Arial"/>
                <a:cs typeface="Arial"/>
              </a:rPr>
              <a:t>t</a:t>
            </a:r>
            <a:endParaRPr sz="1150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4111972" y="4709794"/>
            <a:ext cx="1229995" cy="31369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38100">
              <a:lnSpc>
                <a:spcPct val="100000"/>
              </a:lnSpc>
              <a:spcBef>
                <a:spcPts val="90"/>
              </a:spcBef>
            </a:pPr>
            <a:r>
              <a:rPr dirty="0" sz="1600" spc="-110" i="1">
                <a:solidFill>
                  <a:srgbClr val="585D60"/>
                </a:solidFill>
                <a:latin typeface="Arial"/>
                <a:cs typeface="Arial"/>
              </a:rPr>
              <a:t>y</a:t>
            </a:r>
            <a:r>
              <a:rPr dirty="0" baseline="27777" sz="1950" spc="-165">
                <a:solidFill>
                  <a:srgbClr val="585D60"/>
                </a:solidFill>
                <a:latin typeface="Lucida Sans Unicode"/>
                <a:cs typeface="Lucida Sans Unicode"/>
              </a:rPr>
              <a:t>∗ </a:t>
            </a:r>
            <a:r>
              <a:rPr dirty="0" sz="1900" spc="-110">
                <a:solidFill>
                  <a:srgbClr val="585D60"/>
                </a:solidFill>
                <a:latin typeface="Lucida Sans Unicode"/>
                <a:cs typeface="Lucida Sans Unicode"/>
              </a:rPr>
              <a:t>= </a:t>
            </a:r>
            <a:r>
              <a:rPr dirty="0" sz="1600" spc="50" i="1">
                <a:solidFill>
                  <a:srgbClr val="585D60"/>
                </a:solidFill>
                <a:latin typeface="Arial"/>
                <a:cs typeface="Arial"/>
              </a:rPr>
              <a:t>y</a:t>
            </a:r>
            <a:r>
              <a:rPr dirty="0" baseline="27777" sz="1950" spc="75">
                <a:solidFill>
                  <a:srgbClr val="585D60"/>
                </a:solidFill>
                <a:latin typeface="Lucida Sans Unicode"/>
                <a:cs typeface="Lucida Sans Unicode"/>
              </a:rPr>
              <a:t>′ </a:t>
            </a:r>
            <a:r>
              <a:rPr dirty="0" sz="1900" spc="-110">
                <a:solidFill>
                  <a:srgbClr val="585D60"/>
                </a:solidFill>
                <a:latin typeface="Lucida Sans Unicode"/>
                <a:cs typeface="Lucida Sans Unicode"/>
              </a:rPr>
              <a:t>−</a:t>
            </a:r>
            <a:r>
              <a:rPr dirty="0" sz="1900" spc="-250">
                <a:solidFill>
                  <a:srgbClr val="585D60"/>
                </a:solidFill>
                <a:latin typeface="Lucida Sans Unicode"/>
                <a:cs typeface="Lucida Sans Unicode"/>
              </a:rPr>
              <a:t> </a:t>
            </a:r>
            <a:r>
              <a:rPr dirty="0" sz="1600" spc="50" i="1">
                <a:solidFill>
                  <a:srgbClr val="585D60"/>
                </a:solidFill>
                <a:latin typeface="Arial"/>
                <a:cs typeface="Arial"/>
              </a:rPr>
              <a:t>y</a:t>
            </a:r>
            <a:r>
              <a:rPr dirty="0" baseline="27777" sz="1950" spc="75">
                <a:solidFill>
                  <a:srgbClr val="585D60"/>
                </a:solidFill>
                <a:latin typeface="Lucida Sans Unicode"/>
                <a:cs typeface="Lucida Sans Unicode"/>
              </a:rPr>
              <a:t>′</a:t>
            </a:r>
            <a:endParaRPr baseline="27777" sz="1950">
              <a:latin typeface="Lucida Sans Unicode"/>
              <a:cs typeface="Lucida Sans Unicode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5233193" y="4846878"/>
            <a:ext cx="290830" cy="22923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1150" spc="135" i="1">
                <a:solidFill>
                  <a:srgbClr val="585D60"/>
                </a:solidFill>
                <a:latin typeface="Arial"/>
                <a:cs typeface="Arial"/>
              </a:rPr>
              <a:t>t</a:t>
            </a:r>
            <a:r>
              <a:rPr dirty="0" sz="1300" spc="-45">
                <a:solidFill>
                  <a:srgbClr val="585D60"/>
                </a:solidFill>
                <a:latin typeface="Lucida Sans Unicode"/>
                <a:cs typeface="Lucida Sans Unicode"/>
              </a:rPr>
              <a:t>−</a:t>
            </a:r>
            <a:r>
              <a:rPr dirty="0" sz="1300" spc="-190">
                <a:solidFill>
                  <a:srgbClr val="585D60"/>
                </a:solidFill>
                <a:latin typeface="Lucida Sans Unicode"/>
                <a:cs typeface="Lucida Sans Unicode"/>
              </a:rPr>
              <a:t>1</a:t>
            </a:r>
            <a:endParaRPr sz="1300">
              <a:latin typeface="Lucida Sans Unicode"/>
              <a:cs typeface="Lucida Sans Unicode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4393108" y="4997830"/>
            <a:ext cx="3020695" cy="711200"/>
          </a:xfrm>
          <a:prstGeom prst="rect">
            <a:avLst/>
          </a:prstGeom>
        </p:spPr>
        <p:txBody>
          <a:bodyPr wrap="square" lIns="0" tIns="66040" rIns="0" bIns="0" rtlCol="0" vert="horz">
            <a:spAutoFit/>
          </a:bodyPr>
          <a:lstStyle/>
          <a:p>
            <a:pPr marL="38100">
              <a:lnSpc>
                <a:spcPct val="100000"/>
              </a:lnSpc>
              <a:spcBef>
                <a:spcPts val="520"/>
              </a:spcBef>
            </a:pPr>
            <a:r>
              <a:rPr dirty="0" sz="1900" spc="-110">
                <a:solidFill>
                  <a:srgbClr val="585D60"/>
                </a:solidFill>
                <a:latin typeface="Lucida Sans Unicode"/>
                <a:cs typeface="Lucida Sans Unicode"/>
              </a:rPr>
              <a:t>= </a:t>
            </a:r>
            <a:r>
              <a:rPr dirty="0" sz="1900" spc="100">
                <a:solidFill>
                  <a:srgbClr val="585D60"/>
                </a:solidFill>
                <a:latin typeface="Lucida Sans Unicode"/>
                <a:cs typeface="Lucida Sans Unicode"/>
              </a:rPr>
              <a:t>(</a:t>
            </a:r>
            <a:r>
              <a:rPr dirty="0" sz="1600" spc="100" i="1">
                <a:solidFill>
                  <a:srgbClr val="585D60"/>
                </a:solidFill>
                <a:latin typeface="Arial"/>
                <a:cs typeface="Arial"/>
              </a:rPr>
              <a:t>y</a:t>
            </a:r>
            <a:r>
              <a:rPr dirty="0" baseline="-12077" sz="1725" spc="150" i="1">
                <a:solidFill>
                  <a:srgbClr val="585D60"/>
                </a:solidFill>
                <a:latin typeface="Arial"/>
                <a:cs typeface="Arial"/>
              </a:rPr>
              <a:t>t </a:t>
            </a:r>
            <a:r>
              <a:rPr dirty="0" sz="1900" spc="-110">
                <a:solidFill>
                  <a:srgbClr val="585D60"/>
                </a:solidFill>
                <a:latin typeface="Lucida Sans Unicode"/>
                <a:cs typeface="Lucida Sans Unicode"/>
              </a:rPr>
              <a:t>− </a:t>
            </a:r>
            <a:r>
              <a:rPr dirty="0" sz="1600" spc="-5" i="1">
                <a:solidFill>
                  <a:srgbClr val="585D60"/>
                </a:solidFill>
                <a:latin typeface="Arial"/>
                <a:cs typeface="Arial"/>
              </a:rPr>
              <a:t>y</a:t>
            </a:r>
            <a:r>
              <a:rPr dirty="0" baseline="-12077" sz="1725" spc="-7" i="1">
                <a:solidFill>
                  <a:srgbClr val="585D60"/>
                </a:solidFill>
                <a:latin typeface="Arial"/>
                <a:cs typeface="Arial"/>
              </a:rPr>
              <a:t>t</a:t>
            </a:r>
            <a:r>
              <a:rPr dirty="0" baseline="-10683" sz="1950" spc="-7">
                <a:solidFill>
                  <a:srgbClr val="585D60"/>
                </a:solidFill>
                <a:latin typeface="Lucida Sans Unicode"/>
                <a:cs typeface="Lucida Sans Unicode"/>
              </a:rPr>
              <a:t>−12</a:t>
            </a:r>
            <a:r>
              <a:rPr dirty="0" sz="1900" spc="-5">
                <a:solidFill>
                  <a:srgbClr val="585D60"/>
                </a:solidFill>
                <a:latin typeface="Lucida Sans Unicode"/>
                <a:cs typeface="Lucida Sans Unicode"/>
              </a:rPr>
              <a:t>)</a:t>
            </a:r>
            <a:r>
              <a:rPr dirty="0" sz="1900" spc="-405">
                <a:solidFill>
                  <a:srgbClr val="585D60"/>
                </a:solidFill>
                <a:latin typeface="Lucida Sans Unicode"/>
                <a:cs typeface="Lucida Sans Unicode"/>
              </a:rPr>
              <a:t> </a:t>
            </a:r>
            <a:r>
              <a:rPr dirty="0" sz="1900" spc="-110">
                <a:solidFill>
                  <a:srgbClr val="585D60"/>
                </a:solidFill>
                <a:latin typeface="Lucida Sans Unicode"/>
                <a:cs typeface="Lucida Sans Unicode"/>
              </a:rPr>
              <a:t>− </a:t>
            </a:r>
            <a:r>
              <a:rPr dirty="0" sz="1900" spc="10">
                <a:solidFill>
                  <a:srgbClr val="585D60"/>
                </a:solidFill>
                <a:latin typeface="Lucida Sans Unicode"/>
                <a:cs typeface="Lucida Sans Unicode"/>
              </a:rPr>
              <a:t>(</a:t>
            </a:r>
            <a:r>
              <a:rPr dirty="0" sz="1600" spc="10" i="1">
                <a:solidFill>
                  <a:srgbClr val="585D60"/>
                </a:solidFill>
                <a:latin typeface="Arial"/>
                <a:cs typeface="Arial"/>
              </a:rPr>
              <a:t>y</a:t>
            </a:r>
            <a:r>
              <a:rPr dirty="0" baseline="-12077" sz="1725" spc="15" i="1">
                <a:solidFill>
                  <a:srgbClr val="585D60"/>
                </a:solidFill>
                <a:latin typeface="Arial"/>
                <a:cs typeface="Arial"/>
              </a:rPr>
              <a:t>t</a:t>
            </a:r>
            <a:r>
              <a:rPr dirty="0" baseline="-10683" sz="1950" spc="15">
                <a:solidFill>
                  <a:srgbClr val="585D60"/>
                </a:solidFill>
                <a:latin typeface="Lucida Sans Unicode"/>
                <a:cs typeface="Lucida Sans Unicode"/>
              </a:rPr>
              <a:t>−1 </a:t>
            </a:r>
            <a:r>
              <a:rPr dirty="0" sz="1900" spc="-110">
                <a:solidFill>
                  <a:srgbClr val="585D60"/>
                </a:solidFill>
                <a:latin typeface="Lucida Sans Unicode"/>
                <a:cs typeface="Lucida Sans Unicode"/>
              </a:rPr>
              <a:t>− </a:t>
            </a:r>
            <a:r>
              <a:rPr dirty="0" sz="1600" spc="-5" i="1">
                <a:solidFill>
                  <a:srgbClr val="585D60"/>
                </a:solidFill>
                <a:latin typeface="Arial"/>
                <a:cs typeface="Arial"/>
              </a:rPr>
              <a:t>y</a:t>
            </a:r>
            <a:r>
              <a:rPr dirty="0" baseline="-12077" sz="1725" spc="-7" i="1">
                <a:solidFill>
                  <a:srgbClr val="585D60"/>
                </a:solidFill>
                <a:latin typeface="Arial"/>
                <a:cs typeface="Arial"/>
              </a:rPr>
              <a:t>t</a:t>
            </a:r>
            <a:r>
              <a:rPr dirty="0" baseline="-10683" sz="1950" spc="-7">
                <a:solidFill>
                  <a:srgbClr val="585D60"/>
                </a:solidFill>
                <a:latin typeface="Lucida Sans Unicode"/>
                <a:cs typeface="Lucida Sans Unicode"/>
              </a:rPr>
              <a:t>−13</a:t>
            </a:r>
            <a:r>
              <a:rPr dirty="0" sz="1900" spc="-5">
                <a:solidFill>
                  <a:srgbClr val="585D60"/>
                </a:solidFill>
                <a:latin typeface="Lucida Sans Unicode"/>
                <a:cs typeface="Lucida Sans Unicode"/>
              </a:rPr>
              <a:t>)</a:t>
            </a:r>
            <a:endParaRPr sz="1900">
              <a:latin typeface="Lucida Sans Unicode"/>
              <a:cs typeface="Lucida Sans Unicode"/>
            </a:endParaRPr>
          </a:p>
          <a:p>
            <a:pPr marL="38100">
              <a:lnSpc>
                <a:spcPct val="100000"/>
              </a:lnSpc>
              <a:spcBef>
                <a:spcPts val="420"/>
              </a:spcBef>
            </a:pPr>
            <a:r>
              <a:rPr dirty="0" baseline="5847" sz="2850" spc="-165">
                <a:solidFill>
                  <a:srgbClr val="585D60"/>
                </a:solidFill>
                <a:latin typeface="Lucida Sans Unicode"/>
                <a:cs typeface="Lucida Sans Unicode"/>
              </a:rPr>
              <a:t>= </a:t>
            </a:r>
            <a:r>
              <a:rPr dirty="0" baseline="6944" sz="2400" spc="165" i="1">
                <a:solidFill>
                  <a:srgbClr val="585D60"/>
                </a:solidFill>
                <a:latin typeface="Arial"/>
                <a:cs typeface="Arial"/>
              </a:rPr>
              <a:t>y</a:t>
            </a:r>
            <a:r>
              <a:rPr dirty="0" sz="1150" spc="110" i="1">
                <a:solidFill>
                  <a:srgbClr val="585D60"/>
                </a:solidFill>
                <a:latin typeface="Arial"/>
                <a:cs typeface="Arial"/>
              </a:rPr>
              <a:t>t </a:t>
            </a:r>
            <a:r>
              <a:rPr dirty="0" baseline="5847" sz="2850" spc="-165">
                <a:solidFill>
                  <a:srgbClr val="585D60"/>
                </a:solidFill>
                <a:latin typeface="Lucida Sans Unicode"/>
                <a:cs typeface="Lucida Sans Unicode"/>
              </a:rPr>
              <a:t>− </a:t>
            </a:r>
            <a:r>
              <a:rPr dirty="0" baseline="6944" sz="2400" spc="-7" i="1">
                <a:solidFill>
                  <a:srgbClr val="585D60"/>
                </a:solidFill>
                <a:latin typeface="Arial"/>
                <a:cs typeface="Arial"/>
              </a:rPr>
              <a:t>y</a:t>
            </a:r>
            <a:r>
              <a:rPr dirty="0" sz="1150" spc="-5" i="1">
                <a:solidFill>
                  <a:srgbClr val="585D60"/>
                </a:solidFill>
                <a:latin typeface="Arial"/>
                <a:cs typeface="Arial"/>
              </a:rPr>
              <a:t>t</a:t>
            </a:r>
            <a:r>
              <a:rPr dirty="0" sz="1300" spc="-5">
                <a:solidFill>
                  <a:srgbClr val="585D60"/>
                </a:solidFill>
                <a:latin typeface="Lucida Sans Unicode"/>
                <a:cs typeface="Lucida Sans Unicode"/>
              </a:rPr>
              <a:t>−1 </a:t>
            </a:r>
            <a:r>
              <a:rPr dirty="0" baseline="5847" sz="2850" spc="-165">
                <a:solidFill>
                  <a:srgbClr val="585D60"/>
                </a:solidFill>
                <a:latin typeface="Lucida Sans Unicode"/>
                <a:cs typeface="Lucida Sans Unicode"/>
              </a:rPr>
              <a:t>− </a:t>
            </a:r>
            <a:r>
              <a:rPr dirty="0" baseline="6944" sz="2400" spc="-60" i="1">
                <a:solidFill>
                  <a:srgbClr val="585D60"/>
                </a:solidFill>
                <a:latin typeface="Arial"/>
                <a:cs typeface="Arial"/>
              </a:rPr>
              <a:t>y</a:t>
            </a:r>
            <a:r>
              <a:rPr dirty="0" sz="1150" spc="-40" i="1">
                <a:solidFill>
                  <a:srgbClr val="585D60"/>
                </a:solidFill>
                <a:latin typeface="Arial"/>
                <a:cs typeface="Arial"/>
              </a:rPr>
              <a:t>t</a:t>
            </a:r>
            <a:r>
              <a:rPr dirty="0" sz="1300" spc="-40">
                <a:solidFill>
                  <a:srgbClr val="585D60"/>
                </a:solidFill>
                <a:latin typeface="Lucida Sans Unicode"/>
                <a:cs typeface="Lucida Sans Unicode"/>
              </a:rPr>
              <a:t>−12 </a:t>
            </a:r>
            <a:r>
              <a:rPr dirty="0" baseline="5847" sz="2850" spc="-165">
                <a:solidFill>
                  <a:srgbClr val="585D60"/>
                </a:solidFill>
                <a:latin typeface="Lucida Sans Unicode"/>
                <a:cs typeface="Lucida Sans Unicode"/>
              </a:rPr>
              <a:t>+ </a:t>
            </a:r>
            <a:r>
              <a:rPr dirty="0" baseline="6944" sz="2400" spc="-60" i="1">
                <a:solidFill>
                  <a:srgbClr val="585D60"/>
                </a:solidFill>
                <a:latin typeface="Arial"/>
                <a:cs typeface="Arial"/>
              </a:rPr>
              <a:t>y</a:t>
            </a:r>
            <a:r>
              <a:rPr dirty="0" sz="1150" spc="-40" i="1">
                <a:solidFill>
                  <a:srgbClr val="585D60"/>
                </a:solidFill>
                <a:latin typeface="Arial"/>
                <a:cs typeface="Arial"/>
              </a:rPr>
              <a:t>t</a:t>
            </a:r>
            <a:r>
              <a:rPr dirty="0" sz="1300" spc="-40">
                <a:solidFill>
                  <a:srgbClr val="585D60"/>
                </a:solidFill>
                <a:latin typeface="Lucida Sans Unicode"/>
                <a:cs typeface="Lucida Sans Unicode"/>
              </a:rPr>
              <a:t>−13</a:t>
            </a:r>
            <a:r>
              <a:rPr dirty="0" sz="1300" spc="5">
                <a:solidFill>
                  <a:srgbClr val="585D60"/>
                </a:solidFill>
                <a:latin typeface="Lucida Sans Unicode"/>
                <a:cs typeface="Lucida Sans Unicode"/>
              </a:rPr>
              <a:t> </a:t>
            </a:r>
            <a:r>
              <a:rPr dirty="0" baseline="5847" sz="2850" spc="-157">
                <a:solidFill>
                  <a:srgbClr val="585D60"/>
                </a:solidFill>
                <a:latin typeface="Lucida Sans Unicode"/>
                <a:cs typeface="Lucida Sans Unicode"/>
              </a:rPr>
              <a:t>.</a:t>
            </a:r>
            <a:endParaRPr baseline="5847" sz="2850">
              <a:latin typeface="Lucida Sans Unicode"/>
              <a:cs typeface="Lucida Sans Unicode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1270" rIns="0" bIns="0" rtlCol="0" vert="horz">
            <a:spAutoFit/>
          </a:bodyPr>
          <a:lstStyle/>
          <a:p>
            <a:pPr marL="38100">
              <a:lnSpc>
                <a:spcPct val="100000"/>
              </a:lnSpc>
              <a:spcBef>
                <a:spcPts val="10"/>
              </a:spcBef>
            </a:pPr>
            <a:fld id="{81D60167-4931-47E6-BA6A-407CBD079E47}" type="slidenum">
              <a:rPr dirty="0" spc="5"/>
              <a:t>17</a:t>
            </a:fld>
            <a:r>
              <a:rPr dirty="0" spc="5"/>
              <a:t> </a:t>
            </a:r>
            <a:r>
              <a:rPr dirty="0" spc="160"/>
              <a:t>/</a:t>
            </a:r>
            <a:r>
              <a:rPr dirty="0" spc="-165"/>
              <a:t> </a:t>
            </a:r>
            <a:r>
              <a:rPr dirty="0" spc="5"/>
              <a:t>33</a:t>
            </a:r>
          </a:p>
        </p:txBody>
      </p: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01700" y="530225"/>
            <a:ext cx="6140450" cy="539750"/>
          </a:xfrm>
          <a:prstGeom prst="rect"/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3350" spc="-245">
                <a:solidFill>
                  <a:srgbClr val="C2132D"/>
                </a:solidFill>
              </a:rPr>
              <a:t>Why </a:t>
            </a:r>
            <a:r>
              <a:rPr dirty="0" sz="3350" spc="-120">
                <a:solidFill>
                  <a:srgbClr val="C2132D"/>
                </a:solidFill>
              </a:rPr>
              <a:t>Do </a:t>
            </a:r>
            <a:r>
              <a:rPr dirty="0" sz="3350" spc="-95">
                <a:solidFill>
                  <a:srgbClr val="C2132D"/>
                </a:solidFill>
              </a:rPr>
              <a:t>Seasonal </a:t>
            </a:r>
            <a:r>
              <a:rPr dirty="0" sz="3350" spc="-185">
                <a:solidFill>
                  <a:srgbClr val="C2132D"/>
                </a:solidFill>
              </a:rPr>
              <a:t>Differencing</a:t>
            </a:r>
            <a:r>
              <a:rPr dirty="0" sz="3350" spc="-459">
                <a:solidFill>
                  <a:srgbClr val="C2132D"/>
                </a:solidFill>
              </a:rPr>
              <a:t> </a:t>
            </a:r>
            <a:r>
              <a:rPr dirty="0" sz="3350" spc="-95">
                <a:solidFill>
                  <a:srgbClr val="C2132D"/>
                </a:solidFill>
              </a:rPr>
              <a:t>First?</a:t>
            </a:r>
            <a:endParaRPr sz="3350"/>
          </a:p>
        </p:txBody>
      </p:sp>
      <p:sp>
        <p:nvSpPr>
          <p:cNvPr id="3" name="object 3"/>
          <p:cNvSpPr txBox="1"/>
          <p:nvPr/>
        </p:nvSpPr>
        <p:spPr>
          <a:xfrm>
            <a:off x="901700" y="1425575"/>
            <a:ext cx="9510395" cy="268097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800" spc="-5">
                <a:solidFill>
                  <a:srgbClr val="585D60"/>
                </a:solidFill>
                <a:latin typeface="Arial"/>
                <a:cs typeface="Arial"/>
              </a:rPr>
              <a:t>Hyndman</a:t>
            </a:r>
            <a:r>
              <a:rPr dirty="0" sz="1800" spc="-4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85">
                <a:solidFill>
                  <a:srgbClr val="585D60"/>
                </a:solidFill>
                <a:latin typeface="Arial"/>
                <a:cs typeface="Arial"/>
              </a:rPr>
              <a:t>&amp;</a:t>
            </a:r>
            <a:r>
              <a:rPr dirty="0" sz="1800" spc="-4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Athanasopoulos</a:t>
            </a:r>
            <a:r>
              <a:rPr dirty="0" sz="1800" spc="-4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(2022)</a:t>
            </a:r>
            <a:r>
              <a:rPr dirty="0" sz="1800" spc="-4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recommend</a:t>
            </a:r>
            <a:r>
              <a:rPr dirty="0" sz="1800" spc="-4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585D60"/>
                </a:solidFill>
                <a:latin typeface="Arial"/>
                <a:cs typeface="Arial"/>
              </a:rPr>
              <a:t>applying</a:t>
            </a:r>
            <a:r>
              <a:rPr dirty="0" sz="1800" spc="-4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585D60"/>
                </a:solidFill>
                <a:latin typeface="Arial"/>
                <a:cs typeface="Arial"/>
              </a:rPr>
              <a:t>seasonal</a:t>
            </a:r>
            <a:r>
              <a:rPr dirty="0" sz="1800" spc="-4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20">
                <a:solidFill>
                  <a:srgbClr val="585D60"/>
                </a:solidFill>
                <a:latin typeface="Arial"/>
                <a:cs typeface="Arial"/>
              </a:rPr>
              <a:t>differencing</a:t>
            </a:r>
            <a:r>
              <a:rPr dirty="0" sz="1800" spc="-4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45">
                <a:solidFill>
                  <a:srgbClr val="585D60"/>
                </a:solidFill>
                <a:latin typeface="Arial"/>
                <a:cs typeface="Arial"/>
              </a:rPr>
              <a:t>first</a:t>
            </a:r>
            <a:r>
              <a:rPr dirty="0" sz="1800" spc="-4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15">
                <a:solidFill>
                  <a:srgbClr val="585D60"/>
                </a:solidFill>
                <a:latin typeface="Arial"/>
                <a:cs typeface="Arial"/>
              </a:rPr>
              <a:t>because:</a:t>
            </a:r>
            <a:endParaRPr sz="1800">
              <a:latin typeface="Arial"/>
              <a:cs typeface="Arial"/>
            </a:endParaRPr>
          </a:p>
          <a:p>
            <a:pPr marL="393065" marR="739775" indent="-133985">
              <a:lnSpc>
                <a:spcPct val="118100"/>
              </a:lnSpc>
              <a:spcBef>
                <a:spcPts val="1800"/>
              </a:spcBef>
              <a:buClr>
                <a:srgbClr val="C2132D"/>
              </a:buClr>
              <a:buFont typeface="Trebuchet MS"/>
              <a:buChar char="•"/>
              <a:tabLst>
                <a:tab pos="393700" algn="l"/>
              </a:tabLst>
            </a:pPr>
            <a:r>
              <a:rPr dirty="0" sz="1800" spc="55">
                <a:solidFill>
                  <a:srgbClr val="585D60"/>
                </a:solidFill>
                <a:latin typeface="Arial"/>
                <a:cs typeface="Arial"/>
              </a:rPr>
              <a:t>If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585D60"/>
                </a:solidFill>
                <a:latin typeface="Arial"/>
                <a:cs typeface="Arial"/>
              </a:rPr>
              <a:t>seasonal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20">
                <a:solidFill>
                  <a:srgbClr val="585D60"/>
                </a:solidFill>
                <a:latin typeface="Arial"/>
                <a:cs typeface="Arial"/>
              </a:rPr>
              <a:t>differencing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5">
                <a:solidFill>
                  <a:srgbClr val="585D60"/>
                </a:solidFill>
                <a:latin typeface="Arial"/>
                <a:cs typeface="Arial"/>
              </a:rPr>
              <a:t>alone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5">
                <a:solidFill>
                  <a:srgbClr val="585D60"/>
                </a:solidFill>
                <a:latin typeface="Arial"/>
                <a:cs typeface="Arial"/>
              </a:rPr>
              <a:t>makes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the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585D60"/>
                </a:solidFill>
                <a:latin typeface="Arial"/>
                <a:cs typeface="Arial"/>
              </a:rPr>
              <a:t>series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5">
                <a:solidFill>
                  <a:srgbClr val="585D60"/>
                </a:solidFill>
                <a:latin typeface="Arial"/>
                <a:cs typeface="Arial"/>
              </a:rPr>
              <a:t>stationary,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585D60"/>
                </a:solidFill>
                <a:latin typeface="Arial"/>
                <a:cs typeface="Arial"/>
              </a:rPr>
              <a:t>we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don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35">
                <a:solidFill>
                  <a:srgbClr val="585D60"/>
                </a:solidFill>
                <a:latin typeface="Arial"/>
                <a:cs typeface="Arial"/>
              </a:rPr>
              <a:t>not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25">
                <a:solidFill>
                  <a:srgbClr val="585D60"/>
                </a:solidFill>
                <a:latin typeface="Arial"/>
                <a:cs typeface="Arial"/>
              </a:rPr>
              <a:t>need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30">
                <a:solidFill>
                  <a:srgbClr val="585D60"/>
                </a:solidFill>
                <a:latin typeface="Arial"/>
                <a:cs typeface="Arial"/>
              </a:rPr>
              <a:t>further  </a:t>
            </a:r>
            <a:r>
              <a:rPr dirty="0" sz="1800" spc="15">
                <a:solidFill>
                  <a:srgbClr val="585D60"/>
                </a:solidFill>
                <a:latin typeface="Arial"/>
                <a:cs typeface="Arial"/>
              </a:rPr>
              <a:t>differencing.</a:t>
            </a:r>
            <a:endParaRPr sz="1800">
              <a:latin typeface="Arial"/>
              <a:cs typeface="Arial"/>
            </a:endParaRPr>
          </a:p>
          <a:p>
            <a:pPr marL="393065" marR="93980" indent="-133985">
              <a:lnSpc>
                <a:spcPct val="118100"/>
              </a:lnSpc>
              <a:spcBef>
                <a:spcPts val="819"/>
              </a:spcBef>
              <a:buClr>
                <a:srgbClr val="C2132D"/>
              </a:buClr>
              <a:buFont typeface="Trebuchet MS"/>
              <a:buChar char="•"/>
              <a:tabLst>
                <a:tab pos="393700" algn="l"/>
              </a:tabLst>
            </a:pPr>
            <a:r>
              <a:rPr dirty="0" sz="1800" spc="55">
                <a:solidFill>
                  <a:srgbClr val="585D60"/>
                </a:solidFill>
                <a:latin typeface="Arial"/>
                <a:cs typeface="Arial"/>
              </a:rPr>
              <a:t>If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585D60"/>
                </a:solidFill>
                <a:latin typeface="Arial"/>
                <a:cs typeface="Arial"/>
              </a:rPr>
              <a:t>we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45">
                <a:solidFill>
                  <a:srgbClr val="585D60"/>
                </a:solidFill>
                <a:latin typeface="Arial"/>
                <a:cs typeface="Arial"/>
              </a:rPr>
              <a:t>first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5">
                <a:solidFill>
                  <a:srgbClr val="585D60"/>
                </a:solidFill>
                <a:latin typeface="Arial"/>
                <a:cs typeface="Arial"/>
              </a:rPr>
              <a:t>apply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5">
                <a:solidFill>
                  <a:srgbClr val="585D60"/>
                </a:solidFill>
                <a:latin typeface="Arial"/>
                <a:cs typeface="Arial"/>
              </a:rPr>
              <a:t>regular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5">
                <a:solidFill>
                  <a:srgbClr val="585D60"/>
                </a:solidFill>
                <a:latin typeface="Arial"/>
                <a:cs typeface="Arial"/>
              </a:rPr>
              <a:t>differencing,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the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585D60"/>
                </a:solidFill>
                <a:latin typeface="Arial"/>
                <a:cs typeface="Arial"/>
              </a:rPr>
              <a:t>seasonal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5">
                <a:solidFill>
                  <a:srgbClr val="585D60"/>
                </a:solidFill>
                <a:latin typeface="Arial"/>
                <a:cs typeface="Arial"/>
              </a:rPr>
              <a:t>pattern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5">
                <a:solidFill>
                  <a:srgbClr val="585D60"/>
                </a:solidFill>
                <a:latin typeface="Arial"/>
                <a:cs typeface="Arial"/>
              </a:rPr>
              <a:t>may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5">
                <a:solidFill>
                  <a:srgbClr val="585D60"/>
                </a:solidFill>
                <a:latin typeface="Arial"/>
                <a:cs typeface="Arial"/>
              </a:rPr>
              <a:t>remain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5">
                <a:solidFill>
                  <a:srgbClr val="585D60"/>
                </a:solidFill>
                <a:latin typeface="Arial"/>
                <a:cs typeface="Arial"/>
              </a:rPr>
              <a:t>strong,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5">
                <a:solidFill>
                  <a:srgbClr val="585D60"/>
                </a:solidFill>
                <a:latin typeface="Arial"/>
                <a:cs typeface="Arial"/>
              </a:rPr>
              <a:t>meaning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15">
                <a:solidFill>
                  <a:srgbClr val="585D60"/>
                </a:solidFill>
                <a:latin typeface="Arial"/>
                <a:cs typeface="Arial"/>
              </a:rPr>
              <a:t>an  </a:t>
            </a:r>
            <a:r>
              <a:rPr dirty="0" sz="1800" spc="-5">
                <a:solidFill>
                  <a:srgbClr val="585D60"/>
                </a:solidFill>
                <a:latin typeface="Arial"/>
                <a:cs typeface="Arial"/>
              </a:rPr>
              <a:t>extra</a:t>
            </a:r>
            <a:r>
              <a:rPr dirty="0" sz="1800" spc="-6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585D60"/>
                </a:solidFill>
                <a:latin typeface="Arial"/>
                <a:cs typeface="Arial"/>
              </a:rPr>
              <a:t>seasonal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20">
                <a:solidFill>
                  <a:srgbClr val="585D60"/>
                </a:solidFill>
                <a:latin typeface="Arial"/>
                <a:cs typeface="Arial"/>
              </a:rPr>
              <a:t>differencing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20">
                <a:solidFill>
                  <a:srgbClr val="585D60"/>
                </a:solidFill>
                <a:latin typeface="Arial"/>
                <a:cs typeface="Arial"/>
              </a:rPr>
              <a:t>step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40">
                <a:solidFill>
                  <a:srgbClr val="585D60"/>
                </a:solidFill>
                <a:latin typeface="Arial"/>
                <a:cs typeface="Arial"/>
              </a:rPr>
              <a:t>will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45">
                <a:solidFill>
                  <a:srgbClr val="585D60"/>
                </a:solidFill>
                <a:latin typeface="Arial"/>
                <a:cs typeface="Arial"/>
              </a:rPr>
              <a:t>still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20">
                <a:solidFill>
                  <a:srgbClr val="585D60"/>
                </a:solidFill>
                <a:latin typeface="Arial"/>
                <a:cs typeface="Arial"/>
              </a:rPr>
              <a:t>be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20">
                <a:solidFill>
                  <a:srgbClr val="585D60"/>
                </a:solidFill>
                <a:latin typeface="Arial"/>
                <a:cs typeface="Arial"/>
              </a:rPr>
              <a:t>necessary.</a:t>
            </a:r>
            <a:endParaRPr sz="1800">
              <a:latin typeface="Arial"/>
              <a:cs typeface="Arial"/>
            </a:endParaRPr>
          </a:p>
          <a:p>
            <a:pPr marL="393700" indent="-133985">
              <a:lnSpc>
                <a:spcPct val="100000"/>
              </a:lnSpc>
              <a:spcBef>
                <a:spcPts val="1215"/>
              </a:spcBef>
              <a:buFont typeface="Trebuchet MS"/>
              <a:buChar char="•"/>
              <a:tabLst>
                <a:tab pos="393700" algn="l"/>
              </a:tabLst>
            </a:pPr>
            <a:r>
              <a:rPr dirty="0" sz="1800" spc="20" b="1">
                <a:solidFill>
                  <a:srgbClr val="C2132D"/>
                </a:solidFill>
                <a:latin typeface="Trebuchet MS"/>
                <a:cs typeface="Trebuchet MS"/>
              </a:rPr>
              <a:t>Seasonal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40" b="1">
                <a:solidFill>
                  <a:srgbClr val="C2132D"/>
                </a:solidFill>
                <a:latin typeface="Trebuchet MS"/>
                <a:cs typeface="Trebuchet MS"/>
              </a:rPr>
              <a:t>differencing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40" b="1">
                <a:solidFill>
                  <a:srgbClr val="C2132D"/>
                </a:solidFill>
                <a:latin typeface="Trebuchet MS"/>
                <a:cs typeface="Trebuchet MS"/>
              </a:rPr>
              <a:t>is</a:t>
            </a:r>
            <a:r>
              <a:rPr dirty="0" sz="1800" spc="-8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50" b="1">
                <a:solidFill>
                  <a:srgbClr val="C2132D"/>
                </a:solidFill>
                <a:latin typeface="Trebuchet MS"/>
                <a:cs typeface="Trebuchet MS"/>
              </a:rPr>
              <a:t>often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50" b="1">
                <a:solidFill>
                  <a:srgbClr val="C2132D"/>
                </a:solidFill>
                <a:latin typeface="Trebuchet MS"/>
                <a:cs typeface="Trebuchet MS"/>
              </a:rPr>
              <a:t>more</a:t>
            </a:r>
            <a:r>
              <a:rPr dirty="0" sz="1800" spc="-8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55" b="1">
                <a:solidFill>
                  <a:srgbClr val="C2132D"/>
                </a:solidFill>
                <a:latin typeface="Trebuchet MS"/>
                <a:cs typeface="Trebuchet MS"/>
              </a:rPr>
              <a:t>effective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30">
                <a:solidFill>
                  <a:srgbClr val="585D60"/>
                </a:solidFill>
                <a:latin typeface="Arial"/>
                <a:cs typeface="Arial"/>
              </a:rPr>
              <a:t>at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5">
                <a:solidFill>
                  <a:srgbClr val="585D60"/>
                </a:solidFill>
                <a:latin typeface="Arial"/>
                <a:cs typeface="Arial"/>
              </a:rPr>
              <a:t>removing</a:t>
            </a:r>
            <a:r>
              <a:rPr dirty="0" sz="1800" spc="-4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non-stationarity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5">
                <a:solidFill>
                  <a:srgbClr val="585D60"/>
                </a:solidFill>
                <a:latin typeface="Arial"/>
                <a:cs typeface="Arial"/>
              </a:rPr>
              <a:t>in</a:t>
            </a:r>
            <a:r>
              <a:rPr dirty="0" sz="1800" spc="-4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data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40">
                <a:solidFill>
                  <a:srgbClr val="585D60"/>
                </a:solidFill>
                <a:latin typeface="Arial"/>
                <a:cs typeface="Arial"/>
              </a:rPr>
              <a:t>with</a:t>
            </a:r>
            <a:endParaRPr sz="1800">
              <a:latin typeface="Arial"/>
              <a:cs typeface="Arial"/>
            </a:endParaRPr>
          </a:p>
          <a:p>
            <a:pPr marL="393065">
              <a:lnSpc>
                <a:spcPct val="100000"/>
              </a:lnSpc>
              <a:spcBef>
                <a:spcPts val="390"/>
              </a:spcBef>
            </a:pPr>
            <a:r>
              <a:rPr dirty="0" sz="1800" spc="-5" b="1">
                <a:solidFill>
                  <a:srgbClr val="C2132D"/>
                </a:solidFill>
                <a:latin typeface="Trebuchet MS"/>
                <a:cs typeface="Trebuchet MS"/>
              </a:rPr>
              <a:t>strong</a:t>
            </a:r>
            <a:r>
              <a:rPr dirty="0" sz="1800" spc="-10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10" b="1">
                <a:solidFill>
                  <a:srgbClr val="C2132D"/>
                </a:solidFill>
                <a:latin typeface="Trebuchet MS"/>
                <a:cs typeface="Trebuchet MS"/>
              </a:rPr>
              <a:t>seasonality</a:t>
            </a:r>
            <a:r>
              <a:rPr dirty="0" sz="1800" spc="-10">
                <a:solidFill>
                  <a:srgbClr val="585D60"/>
                </a:solidFill>
                <a:latin typeface="Arial"/>
                <a:cs typeface="Arial"/>
              </a:rPr>
              <a:t>.</a:t>
            </a:r>
            <a:endParaRPr sz="1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959352" y="2773680"/>
            <a:ext cx="3615054" cy="920750"/>
          </a:xfrm>
          <a:prstGeom prst="rect"/>
          <a:solidFill>
            <a:srgbClr val="333333"/>
          </a:solidFill>
        </p:spPr>
        <p:txBody>
          <a:bodyPr wrap="square" lIns="0" tIns="125095" rIns="0" bIns="0" rtlCol="0" vert="horz">
            <a:spAutoFit/>
          </a:bodyPr>
          <a:lstStyle/>
          <a:p>
            <a:pPr marL="233679">
              <a:lnSpc>
                <a:spcPct val="100000"/>
              </a:lnSpc>
              <a:spcBef>
                <a:spcPts val="985"/>
              </a:spcBef>
            </a:pPr>
            <a:r>
              <a:rPr dirty="0" spc="-1115">
                <a:solidFill>
                  <a:srgbClr val="000000"/>
                </a:solidFill>
              </a:rPr>
              <a:t>U</a:t>
            </a:r>
            <a:r>
              <a:rPr dirty="0" spc="-1115"/>
              <a:t>U</a:t>
            </a:r>
            <a:r>
              <a:rPr dirty="0" spc="-1115">
                <a:solidFill>
                  <a:srgbClr val="000000"/>
                </a:solidFill>
              </a:rPr>
              <a:t>n</a:t>
            </a:r>
            <a:r>
              <a:rPr dirty="0" spc="-1115"/>
              <a:t>n</a:t>
            </a:r>
            <a:r>
              <a:rPr dirty="0" spc="-1115">
                <a:solidFill>
                  <a:srgbClr val="000000"/>
                </a:solidFill>
              </a:rPr>
              <a:t>i</a:t>
            </a:r>
            <a:r>
              <a:rPr dirty="0" spc="-1115"/>
              <a:t>i</a:t>
            </a:r>
            <a:r>
              <a:rPr dirty="0" spc="-1115">
                <a:solidFill>
                  <a:srgbClr val="000000"/>
                </a:solidFill>
              </a:rPr>
              <a:t>t</a:t>
            </a:r>
            <a:r>
              <a:rPr dirty="0" spc="-1115"/>
              <a:t>t </a:t>
            </a:r>
            <a:r>
              <a:rPr dirty="0" spc="-1165">
                <a:solidFill>
                  <a:srgbClr val="000000"/>
                </a:solidFill>
              </a:rPr>
              <a:t>R</a:t>
            </a:r>
            <a:r>
              <a:rPr dirty="0" spc="-1165"/>
              <a:t>R</a:t>
            </a:r>
            <a:r>
              <a:rPr dirty="0" spc="-1165">
                <a:solidFill>
                  <a:srgbClr val="000000"/>
                </a:solidFill>
              </a:rPr>
              <a:t>o</a:t>
            </a:r>
            <a:r>
              <a:rPr dirty="0" spc="-1165"/>
              <a:t>o</a:t>
            </a:r>
            <a:r>
              <a:rPr dirty="0" spc="-1165">
                <a:solidFill>
                  <a:srgbClr val="000000"/>
                </a:solidFill>
              </a:rPr>
              <a:t>o</a:t>
            </a:r>
            <a:r>
              <a:rPr dirty="0" spc="-1165"/>
              <a:t>o</a:t>
            </a:r>
            <a:r>
              <a:rPr dirty="0" spc="-1165">
                <a:solidFill>
                  <a:srgbClr val="000000"/>
                </a:solidFill>
              </a:rPr>
              <a:t>t</a:t>
            </a:r>
            <a:r>
              <a:rPr dirty="0" spc="-1165"/>
              <a:t>t</a:t>
            </a:r>
            <a:r>
              <a:rPr dirty="0" spc="-1160"/>
              <a:t> </a:t>
            </a:r>
            <a:r>
              <a:rPr dirty="0" spc="-1030">
                <a:solidFill>
                  <a:srgbClr val="000000"/>
                </a:solidFill>
              </a:rPr>
              <a:t>T</a:t>
            </a:r>
            <a:r>
              <a:rPr dirty="0" spc="-1030"/>
              <a:t>T</a:t>
            </a:r>
            <a:r>
              <a:rPr dirty="0" spc="-1030">
                <a:solidFill>
                  <a:srgbClr val="000000"/>
                </a:solidFill>
              </a:rPr>
              <a:t>e</a:t>
            </a:r>
            <a:r>
              <a:rPr dirty="0" spc="-1030"/>
              <a:t>e</a:t>
            </a:r>
            <a:r>
              <a:rPr dirty="0" spc="-1030">
                <a:solidFill>
                  <a:srgbClr val="000000"/>
                </a:solidFill>
              </a:rPr>
              <a:t>s</a:t>
            </a:r>
            <a:r>
              <a:rPr dirty="0" spc="-1030"/>
              <a:t>s</a:t>
            </a:r>
            <a:r>
              <a:rPr dirty="0" spc="-1030">
                <a:solidFill>
                  <a:srgbClr val="000000"/>
                </a:solidFill>
              </a:rPr>
              <a:t>t</a:t>
            </a:r>
            <a:r>
              <a:rPr dirty="0" spc="-1030"/>
              <a:t>t</a:t>
            </a:r>
            <a:r>
              <a:rPr dirty="0" spc="-1030">
                <a:solidFill>
                  <a:srgbClr val="000000"/>
                </a:solidFill>
              </a:rPr>
              <a:t>s</a:t>
            </a:r>
            <a:r>
              <a:rPr dirty="0" spc="-1030"/>
              <a:t>s</a:t>
            </a:r>
          </a:p>
        </p:txBody>
      </p:sp>
      <p:sp>
        <p:nvSpPr>
          <p:cNvPr id="3" name="object 3"/>
          <p:cNvSpPr/>
          <p:nvPr/>
        </p:nvSpPr>
        <p:spPr>
          <a:xfrm>
            <a:off x="10631423" y="5995415"/>
            <a:ext cx="894080" cy="491490"/>
          </a:xfrm>
          <a:custGeom>
            <a:avLst/>
            <a:gdLst/>
            <a:ahLst/>
            <a:cxnLst/>
            <a:rect l="l" t="t" r="r" b="b"/>
            <a:pathLst>
              <a:path w="894079" h="491489">
                <a:moveTo>
                  <a:pt x="0" y="0"/>
                </a:moveTo>
                <a:lnTo>
                  <a:pt x="893825" y="0"/>
                </a:lnTo>
                <a:lnTo>
                  <a:pt x="893825" y="491109"/>
                </a:lnTo>
                <a:lnTo>
                  <a:pt x="0" y="491109"/>
                </a:lnTo>
                <a:lnTo>
                  <a:pt x="0" y="0"/>
                </a:lnTo>
                <a:close/>
              </a:path>
            </a:pathLst>
          </a:custGeom>
          <a:solidFill>
            <a:srgbClr val="333333">
              <a:alpha val="50000"/>
            </a:srgbClr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/>
          <p:nvPr/>
        </p:nvSpPr>
        <p:spPr>
          <a:xfrm>
            <a:off x="10878987" y="6218137"/>
            <a:ext cx="506730" cy="204470"/>
          </a:xfrm>
          <a:prstGeom prst="rect">
            <a:avLst/>
          </a:prstGeom>
        </p:spPr>
        <p:txBody>
          <a:bodyPr wrap="square" lIns="0" tIns="12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"/>
              </a:spcBef>
            </a:pPr>
            <a:r>
              <a:rPr dirty="0" sz="1200" spc="-295">
                <a:latin typeface="Trebuchet MS"/>
                <a:cs typeface="Trebuchet MS"/>
              </a:rPr>
              <a:t>2</a:t>
            </a:r>
            <a:r>
              <a:rPr dirty="0" sz="1200" spc="-295">
                <a:solidFill>
                  <a:srgbClr val="FFFFFF"/>
                </a:solidFill>
                <a:latin typeface="Trebuchet MS"/>
                <a:cs typeface="Trebuchet MS"/>
              </a:rPr>
              <a:t>2</a:t>
            </a:r>
            <a:r>
              <a:rPr dirty="0" sz="1200" spc="-295">
                <a:latin typeface="Trebuchet MS"/>
                <a:cs typeface="Trebuchet MS"/>
              </a:rPr>
              <a:t>6</a:t>
            </a:r>
            <a:r>
              <a:rPr dirty="0" sz="1200" spc="-295">
                <a:solidFill>
                  <a:srgbClr val="FFFFFF"/>
                </a:solidFill>
                <a:latin typeface="Trebuchet MS"/>
                <a:cs typeface="Trebuchet MS"/>
              </a:rPr>
              <a:t>6 </a:t>
            </a:r>
            <a:r>
              <a:rPr dirty="0" sz="1200" spc="-385">
                <a:latin typeface="Trebuchet MS"/>
                <a:cs typeface="Trebuchet MS"/>
              </a:rPr>
              <a:t>/</a:t>
            </a:r>
            <a:r>
              <a:rPr dirty="0" sz="1200" spc="-385">
                <a:solidFill>
                  <a:srgbClr val="FFFFFF"/>
                </a:solidFill>
                <a:latin typeface="Trebuchet MS"/>
                <a:cs typeface="Trebuchet MS"/>
              </a:rPr>
              <a:t>/</a:t>
            </a:r>
            <a:r>
              <a:rPr dirty="0" sz="1200" spc="-95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dirty="0" sz="1200" spc="-295">
                <a:latin typeface="Trebuchet MS"/>
                <a:cs typeface="Trebuchet MS"/>
              </a:rPr>
              <a:t>3</a:t>
            </a:r>
            <a:r>
              <a:rPr dirty="0" sz="1200" spc="-295">
                <a:solidFill>
                  <a:srgbClr val="FFFFFF"/>
                </a:solidFill>
                <a:latin typeface="Trebuchet MS"/>
                <a:cs typeface="Trebuchet MS"/>
              </a:rPr>
              <a:t>3</a:t>
            </a:r>
            <a:r>
              <a:rPr dirty="0" sz="1200" spc="-295">
                <a:latin typeface="Trebuchet MS"/>
                <a:cs typeface="Trebuchet MS"/>
              </a:rPr>
              <a:t>3</a:t>
            </a:r>
            <a:r>
              <a:rPr dirty="0" sz="1200" spc="-295">
                <a:solidFill>
                  <a:srgbClr val="FFFFFF"/>
                </a:solidFill>
                <a:latin typeface="Trebuchet MS"/>
                <a:cs typeface="Trebuchet MS"/>
              </a:rPr>
              <a:t>3</a:t>
            </a:r>
            <a:endParaRPr sz="1200">
              <a:latin typeface="Trebuchet MS"/>
              <a:cs typeface="Trebuchet MS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1270" rIns="0" bIns="0" rtlCol="0" vert="horz">
            <a:spAutoFit/>
          </a:bodyPr>
          <a:lstStyle/>
          <a:p>
            <a:pPr marL="38100">
              <a:lnSpc>
                <a:spcPct val="100000"/>
              </a:lnSpc>
              <a:spcBef>
                <a:spcPts val="10"/>
              </a:spcBef>
            </a:pPr>
            <a:fld id="{81D60167-4931-47E6-BA6A-407CBD079E47}" type="slidenum">
              <a:rPr dirty="0" spc="5"/>
              <a:t>27</a:t>
            </a:fld>
            <a:r>
              <a:rPr dirty="0" spc="5"/>
              <a:t> </a:t>
            </a:r>
            <a:r>
              <a:rPr dirty="0" spc="160"/>
              <a:t>/</a:t>
            </a:r>
            <a:r>
              <a:rPr dirty="0" spc="-165"/>
              <a:t> </a:t>
            </a:r>
            <a:r>
              <a:rPr dirty="0" spc="5"/>
              <a:t>33</a:t>
            </a:r>
          </a:p>
        </p:txBody>
      </p: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01700" y="530225"/>
            <a:ext cx="4305300" cy="539750"/>
          </a:xfrm>
          <a:prstGeom prst="rect"/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3350" spc="-250">
                <a:solidFill>
                  <a:srgbClr val="C2132D"/>
                </a:solidFill>
              </a:rPr>
              <a:t>Unit </a:t>
            </a:r>
            <a:r>
              <a:rPr dirty="0" sz="3350" spc="-175">
                <a:solidFill>
                  <a:srgbClr val="C2132D"/>
                </a:solidFill>
              </a:rPr>
              <a:t>Root </a:t>
            </a:r>
            <a:r>
              <a:rPr dirty="0" sz="3350" spc="-170">
                <a:solidFill>
                  <a:srgbClr val="C2132D"/>
                </a:solidFill>
              </a:rPr>
              <a:t>Tests: </a:t>
            </a:r>
            <a:r>
              <a:rPr dirty="0" sz="3350" spc="-100">
                <a:solidFill>
                  <a:srgbClr val="C2132D"/>
                </a:solidFill>
              </a:rPr>
              <a:t>ADF</a:t>
            </a:r>
            <a:r>
              <a:rPr dirty="0" sz="3350" spc="-525">
                <a:solidFill>
                  <a:srgbClr val="C2132D"/>
                </a:solidFill>
              </a:rPr>
              <a:t> </a:t>
            </a:r>
            <a:r>
              <a:rPr dirty="0" sz="3350" spc="-190">
                <a:solidFill>
                  <a:srgbClr val="C2132D"/>
                </a:solidFill>
              </a:rPr>
              <a:t>Test</a:t>
            </a:r>
            <a:endParaRPr sz="3350"/>
          </a:p>
        </p:txBody>
      </p:sp>
      <p:sp>
        <p:nvSpPr>
          <p:cNvPr id="3" name="object 3"/>
          <p:cNvSpPr txBox="1"/>
          <p:nvPr/>
        </p:nvSpPr>
        <p:spPr>
          <a:xfrm>
            <a:off x="901700" y="1425575"/>
            <a:ext cx="9585325" cy="367157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393700" indent="-133985">
              <a:lnSpc>
                <a:spcPct val="100000"/>
              </a:lnSpc>
              <a:spcBef>
                <a:spcPts val="100"/>
              </a:spcBef>
              <a:buFont typeface="Trebuchet MS"/>
              <a:buChar char="•"/>
              <a:tabLst>
                <a:tab pos="393700" algn="l"/>
              </a:tabLst>
            </a:pPr>
            <a:r>
              <a:rPr dirty="0" sz="1800" spc="-65" b="1">
                <a:solidFill>
                  <a:srgbClr val="C2132D"/>
                </a:solidFill>
                <a:latin typeface="Trebuchet MS"/>
                <a:cs typeface="Trebuchet MS"/>
              </a:rPr>
              <a:t>Unit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65" b="1">
                <a:solidFill>
                  <a:srgbClr val="C2132D"/>
                </a:solidFill>
                <a:latin typeface="Trebuchet MS"/>
                <a:cs typeface="Trebuchet MS"/>
              </a:rPr>
              <a:t>root</a:t>
            </a:r>
            <a:r>
              <a:rPr dirty="0" sz="1800" spc="-8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5" b="1">
                <a:solidFill>
                  <a:srgbClr val="C2132D"/>
                </a:solidFill>
                <a:latin typeface="Trebuchet MS"/>
                <a:cs typeface="Trebuchet MS"/>
              </a:rPr>
              <a:t>tests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30">
                <a:solidFill>
                  <a:srgbClr val="585D60"/>
                </a:solidFill>
                <a:latin typeface="Arial"/>
                <a:cs typeface="Arial"/>
              </a:rPr>
              <a:t>are</a:t>
            </a:r>
            <a:r>
              <a:rPr dirty="0" sz="1800" spc="-4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5">
                <a:solidFill>
                  <a:srgbClr val="585D60"/>
                </a:solidFill>
                <a:latin typeface="Arial"/>
                <a:cs typeface="Arial"/>
              </a:rPr>
              <a:t>used</a:t>
            </a:r>
            <a:r>
              <a:rPr dirty="0" sz="1800" spc="-4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45">
                <a:solidFill>
                  <a:srgbClr val="585D60"/>
                </a:solidFill>
                <a:latin typeface="Arial"/>
                <a:cs typeface="Arial"/>
              </a:rPr>
              <a:t>to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5">
                <a:solidFill>
                  <a:srgbClr val="585D60"/>
                </a:solidFill>
                <a:latin typeface="Arial"/>
                <a:cs typeface="Arial"/>
              </a:rPr>
              <a:t>determine</a:t>
            </a:r>
            <a:r>
              <a:rPr dirty="0" sz="1800" spc="-4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5">
                <a:solidFill>
                  <a:srgbClr val="585D60"/>
                </a:solidFill>
                <a:latin typeface="Arial"/>
                <a:cs typeface="Arial"/>
              </a:rPr>
              <a:t>whether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25">
                <a:solidFill>
                  <a:srgbClr val="585D60"/>
                </a:solidFill>
                <a:latin typeface="Arial"/>
                <a:cs typeface="Arial"/>
              </a:rPr>
              <a:t>a</a:t>
            </a:r>
            <a:r>
              <a:rPr dirty="0" sz="1800" spc="-4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35">
                <a:solidFill>
                  <a:srgbClr val="585D60"/>
                </a:solidFill>
                <a:latin typeface="Arial"/>
                <a:cs typeface="Arial"/>
              </a:rPr>
              <a:t>time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585D60"/>
                </a:solidFill>
                <a:latin typeface="Arial"/>
                <a:cs typeface="Arial"/>
              </a:rPr>
              <a:t>series</a:t>
            </a:r>
            <a:r>
              <a:rPr dirty="0" sz="1800" spc="-4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30">
                <a:solidFill>
                  <a:srgbClr val="585D60"/>
                </a:solidFill>
                <a:latin typeface="Arial"/>
                <a:cs typeface="Arial"/>
              </a:rPr>
              <a:t>is</a:t>
            </a:r>
            <a:r>
              <a:rPr dirty="0" sz="1800" spc="-4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35" b="1">
                <a:solidFill>
                  <a:srgbClr val="C2132D"/>
                </a:solidFill>
                <a:latin typeface="Trebuchet MS"/>
                <a:cs typeface="Trebuchet MS"/>
              </a:rPr>
              <a:t>stationary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15">
                <a:solidFill>
                  <a:srgbClr val="585D60"/>
                </a:solidFill>
                <a:latin typeface="Arial"/>
                <a:cs typeface="Arial"/>
              </a:rPr>
              <a:t>or</a:t>
            </a:r>
            <a:r>
              <a:rPr dirty="0" sz="1800" spc="-4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30" b="1">
                <a:solidFill>
                  <a:srgbClr val="C2132D"/>
                </a:solidFill>
                <a:latin typeface="Trebuchet MS"/>
                <a:cs typeface="Trebuchet MS"/>
              </a:rPr>
              <a:t>non-stationary</a:t>
            </a:r>
            <a:r>
              <a:rPr dirty="0" sz="1800" spc="-30">
                <a:solidFill>
                  <a:srgbClr val="585D60"/>
                </a:solidFill>
                <a:latin typeface="Arial"/>
                <a:cs typeface="Arial"/>
              </a:rPr>
              <a:t>.</a:t>
            </a:r>
            <a:endParaRPr sz="1800">
              <a:latin typeface="Arial"/>
              <a:cs typeface="Arial"/>
            </a:endParaRPr>
          </a:p>
          <a:p>
            <a:pPr marL="393700" indent="-133985">
              <a:lnSpc>
                <a:spcPct val="100000"/>
              </a:lnSpc>
              <a:spcBef>
                <a:spcPts val="1290"/>
              </a:spcBef>
              <a:buClr>
                <a:srgbClr val="C2132D"/>
              </a:buClr>
              <a:buFont typeface="Trebuchet MS"/>
              <a:buChar char="•"/>
              <a:tabLst>
                <a:tab pos="393700" algn="l"/>
              </a:tabLst>
            </a:pPr>
            <a:r>
              <a:rPr dirty="0" sz="1800" spc="-30">
                <a:solidFill>
                  <a:srgbClr val="585D60"/>
                </a:solidFill>
                <a:latin typeface="Arial"/>
                <a:cs typeface="Arial"/>
              </a:rPr>
              <a:t>The</a:t>
            </a:r>
            <a:r>
              <a:rPr dirty="0" sz="1800" spc="-6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55">
                <a:solidFill>
                  <a:srgbClr val="585D60"/>
                </a:solidFill>
                <a:latin typeface="Arial"/>
                <a:cs typeface="Arial"/>
              </a:rPr>
              <a:t>most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40">
                <a:solidFill>
                  <a:srgbClr val="585D60"/>
                </a:solidFill>
                <a:latin typeface="Arial"/>
                <a:cs typeface="Arial"/>
              </a:rPr>
              <a:t>common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25">
                <a:solidFill>
                  <a:srgbClr val="585D60"/>
                </a:solidFill>
                <a:latin typeface="Arial"/>
                <a:cs typeface="Arial"/>
              </a:rPr>
              <a:t>unit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30">
                <a:solidFill>
                  <a:srgbClr val="585D60"/>
                </a:solidFill>
                <a:latin typeface="Arial"/>
                <a:cs typeface="Arial"/>
              </a:rPr>
              <a:t>root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40">
                <a:solidFill>
                  <a:srgbClr val="585D60"/>
                </a:solidFill>
                <a:latin typeface="Arial"/>
                <a:cs typeface="Arial"/>
              </a:rPr>
              <a:t>test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30">
                <a:solidFill>
                  <a:srgbClr val="585D60"/>
                </a:solidFill>
                <a:latin typeface="Arial"/>
                <a:cs typeface="Arial"/>
              </a:rPr>
              <a:t>is</a:t>
            </a:r>
            <a:r>
              <a:rPr dirty="0" sz="1800" spc="-6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the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20" b="1">
                <a:solidFill>
                  <a:srgbClr val="C2132D"/>
                </a:solidFill>
                <a:latin typeface="Trebuchet MS"/>
                <a:cs typeface="Trebuchet MS"/>
              </a:rPr>
              <a:t>Augmented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45" b="1">
                <a:solidFill>
                  <a:srgbClr val="C2132D"/>
                </a:solidFill>
                <a:latin typeface="Trebuchet MS"/>
                <a:cs typeface="Trebuchet MS"/>
              </a:rPr>
              <a:t>Dickey-Fuller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10" b="1">
                <a:solidFill>
                  <a:srgbClr val="C2132D"/>
                </a:solidFill>
                <a:latin typeface="Trebuchet MS"/>
                <a:cs typeface="Trebuchet MS"/>
              </a:rPr>
              <a:t>(ADF)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30" b="1">
                <a:solidFill>
                  <a:srgbClr val="C2132D"/>
                </a:solidFill>
                <a:latin typeface="Trebuchet MS"/>
                <a:cs typeface="Trebuchet MS"/>
              </a:rPr>
              <a:t>test</a:t>
            </a:r>
            <a:r>
              <a:rPr dirty="0" sz="1800" spc="-30">
                <a:solidFill>
                  <a:srgbClr val="585D60"/>
                </a:solidFill>
                <a:latin typeface="Arial"/>
                <a:cs typeface="Arial"/>
              </a:rPr>
              <a:t>.</a:t>
            </a:r>
            <a:endParaRPr sz="1800">
              <a:latin typeface="Arial"/>
              <a:cs typeface="Arial"/>
            </a:endParaRPr>
          </a:p>
          <a:p>
            <a:pPr marL="393065" marR="445770" indent="-133985">
              <a:lnSpc>
                <a:spcPct val="114599"/>
              </a:lnSpc>
              <a:spcBef>
                <a:spcPts val="975"/>
              </a:spcBef>
              <a:buClr>
                <a:srgbClr val="C2132D"/>
              </a:buClr>
              <a:buFont typeface="Trebuchet MS"/>
              <a:buChar char="•"/>
              <a:tabLst>
                <a:tab pos="393700" algn="l"/>
              </a:tabLst>
            </a:pPr>
            <a:r>
              <a:rPr dirty="0" sz="1800" spc="-30">
                <a:solidFill>
                  <a:srgbClr val="585D60"/>
                </a:solidFill>
                <a:latin typeface="Arial"/>
                <a:cs typeface="Arial"/>
              </a:rPr>
              <a:t>The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null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hypothesis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75">
                <a:solidFill>
                  <a:srgbClr val="585D60"/>
                </a:solidFill>
                <a:latin typeface="Arial"/>
                <a:cs typeface="Arial"/>
              </a:rPr>
              <a:t>of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the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85">
                <a:solidFill>
                  <a:srgbClr val="585D60"/>
                </a:solidFill>
                <a:latin typeface="Arial"/>
                <a:cs typeface="Arial"/>
              </a:rPr>
              <a:t>ADF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40">
                <a:solidFill>
                  <a:srgbClr val="585D60"/>
                </a:solidFill>
                <a:latin typeface="Arial"/>
                <a:cs typeface="Arial"/>
              </a:rPr>
              <a:t>test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30">
                <a:solidFill>
                  <a:srgbClr val="585D60"/>
                </a:solidFill>
                <a:latin typeface="Arial"/>
                <a:cs typeface="Arial"/>
              </a:rPr>
              <a:t>is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35">
                <a:solidFill>
                  <a:srgbClr val="585D60"/>
                </a:solidFill>
                <a:latin typeface="Arial"/>
                <a:cs typeface="Arial"/>
              </a:rPr>
              <a:t>that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the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35">
                <a:solidFill>
                  <a:srgbClr val="585D60"/>
                </a:solidFill>
                <a:latin typeface="Arial"/>
                <a:cs typeface="Arial"/>
              </a:rPr>
              <a:t>time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585D60"/>
                </a:solidFill>
                <a:latin typeface="Arial"/>
                <a:cs typeface="Arial"/>
              </a:rPr>
              <a:t>series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5">
                <a:solidFill>
                  <a:srgbClr val="585D60"/>
                </a:solidFill>
                <a:latin typeface="Arial"/>
                <a:cs typeface="Arial"/>
              </a:rPr>
              <a:t>has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25">
                <a:solidFill>
                  <a:srgbClr val="585D60"/>
                </a:solidFill>
                <a:latin typeface="Arial"/>
                <a:cs typeface="Arial"/>
              </a:rPr>
              <a:t>a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70" b="1">
                <a:solidFill>
                  <a:srgbClr val="C2132D"/>
                </a:solidFill>
                <a:latin typeface="Trebuchet MS"/>
                <a:cs typeface="Trebuchet MS"/>
              </a:rPr>
              <a:t>unit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65" b="1">
                <a:solidFill>
                  <a:srgbClr val="C2132D"/>
                </a:solidFill>
                <a:latin typeface="Trebuchet MS"/>
                <a:cs typeface="Trebuchet MS"/>
              </a:rPr>
              <a:t>root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35">
                <a:solidFill>
                  <a:srgbClr val="585D60"/>
                </a:solidFill>
                <a:latin typeface="Arial"/>
                <a:cs typeface="Arial"/>
              </a:rPr>
              <a:t>(i.e.,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60">
                <a:solidFill>
                  <a:srgbClr val="585D60"/>
                </a:solidFill>
                <a:latin typeface="Arial"/>
                <a:cs typeface="Arial"/>
              </a:rPr>
              <a:t>it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30">
                <a:solidFill>
                  <a:srgbClr val="585D60"/>
                </a:solidFill>
                <a:latin typeface="Arial"/>
                <a:cs typeface="Arial"/>
              </a:rPr>
              <a:t>is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20" b="1">
                <a:solidFill>
                  <a:srgbClr val="C2132D"/>
                </a:solidFill>
                <a:latin typeface="Trebuchet MS"/>
                <a:cs typeface="Trebuchet MS"/>
              </a:rPr>
              <a:t>non-  </a:t>
            </a:r>
            <a:r>
              <a:rPr dirty="0" sz="1800" spc="-30" b="1">
                <a:solidFill>
                  <a:srgbClr val="C2132D"/>
                </a:solidFill>
                <a:latin typeface="Trebuchet MS"/>
                <a:cs typeface="Trebuchet MS"/>
              </a:rPr>
              <a:t>stationary</a:t>
            </a:r>
            <a:r>
              <a:rPr dirty="0" sz="1800" spc="-30">
                <a:solidFill>
                  <a:srgbClr val="585D60"/>
                </a:solidFill>
                <a:latin typeface="Arial"/>
                <a:cs typeface="Arial"/>
              </a:rPr>
              <a:t>).</a:t>
            </a:r>
            <a:endParaRPr sz="1800">
              <a:latin typeface="Arial"/>
              <a:cs typeface="Arial"/>
            </a:endParaRPr>
          </a:p>
          <a:p>
            <a:pPr marL="393700" indent="-133985">
              <a:lnSpc>
                <a:spcPct val="100000"/>
              </a:lnSpc>
              <a:spcBef>
                <a:spcPts val="1190"/>
              </a:spcBef>
              <a:buClr>
                <a:srgbClr val="C2132D"/>
              </a:buClr>
              <a:buFont typeface="Trebuchet MS"/>
              <a:buChar char="•"/>
              <a:tabLst>
                <a:tab pos="393700" algn="l"/>
              </a:tabLst>
            </a:pPr>
            <a:r>
              <a:rPr dirty="0" sz="1800" spc="55">
                <a:solidFill>
                  <a:srgbClr val="585D60"/>
                </a:solidFill>
                <a:latin typeface="Arial"/>
                <a:cs typeface="Arial"/>
              </a:rPr>
              <a:t>If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the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null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hypothesis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30">
                <a:solidFill>
                  <a:srgbClr val="585D60"/>
                </a:solidFill>
                <a:latin typeface="Arial"/>
                <a:cs typeface="Arial"/>
              </a:rPr>
              <a:t>is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585D60"/>
                </a:solidFill>
                <a:latin typeface="Arial"/>
                <a:cs typeface="Arial"/>
              </a:rPr>
              <a:t>rejected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40">
                <a:solidFill>
                  <a:srgbClr val="585D60"/>
                </a:solidFill>
                <a:latin typeface="Arial"/>
                <a:cs typeface="Arial"/>
              </a:rPr>
              <a:t>(e.g.,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80">
                <a:solidFill>
                  <a:srgbClr val="585D60"/>
                </a:solidFill>
                <a:latin typeface="Arial"/>
                <a:cs typeface="Arial"/>
              </a:rPr>
              <a:t>if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600" spc="15" i="1">
                <a:solidFill>
                  <a:srgbClr val="585D60"/>
                </a:solidFill>
                <a:latin typeface="Arial"/>
                <a:cs typeface="Arial"/>
              </a:rPr>
              <a:t>p</a:t>
            </a:r>
            <a:r>
              <a:rPr dirty="0" sz="1600" spc="60" i="1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900" spc="-110">
                <a:solidFill>
                  <a:srgbClr val="585D60"/>
                </a:solidFill>
                <a:latin typeface="Lucida Sans Unicode"/>
                <a:cs typeface="Lucida Sans Unicode"/>
              </a:rPr>
              <a:t>&lt;</a:t>
            </a:r>
            <a:r>
              <a:rPr dirty="0" sz="1900" spc="-95">
                <a:solidFill>
                  <a:srgbClr val="585D60"/>
                </a:solidFill>
                <a:latin typeface="Lucida Sans Unicode"/>
                <a:cs typeface="Lucida Sans Unicode"/>
              </a:rPr>
              <a:t> </a:t>
            </a:r>
            <a:r>
              <a:rPr dirty="0" sz="1900" spc="-190">
                <a:solidFill>
                  <a:srgbClr val="585D60"/>
                </a:solidFill>
                <a:latin typeface="Lucida Sans Unicode"/>
                <a:cs typeface="Lucida Sans Unicode"/>
              </a:rPr>
              <a:t>0.05</a:t>
            </a:r>
            <a:r>
              <a:rPr dirty="0" sz="1800" spc="-190">
                <a:solidFill>
                  <a:srgbClr val="585D60"/>
                </a:solidFill>
                <a:latin typeface="Arial"/>
                <a:cs typeface="Arial"/>
              </a:rPr>
              <a:t>),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the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35">
                <a:solidFill>
                  <a:srgbClr val="585D60"/>
                </a:solidFill>
                <a:latin typeface="Arial"/>
                <a:cs typeface="Arial"/>
              </a:rPr>
              <a:t>time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585D60"/>
                </a:solidFill>
                <a:latin typeface="Arial"/>
                <a:cs typeface="Arial"/>
              </a:rPr>
              <a:t>series</a:t>
            </a:r>
            <a:r>
              <a:rPr dirty="0" sz="1800" spc="-4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30">
                <a:solidFill>
                  <a:srgbClr val="585D60"/>
                </a:solidFill>
                <a:latin typeface="Arial"/>
                <a:cs typeface="Arial"/>
              </a:rPr>
              <a:t>is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5">
                <a:solidFill>
                  <a:srgbClr val="585D60"/>
                </a:solidFill>
                <a:latin typeface="Arial"/>
                <a:cs typeface="Arial"/>
              </a:rPr>
              <a:t>considered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35" b="1">
                <a:solidFill>
                  <a:srgbClr val="C2132D"/>
                </a:solidFill>
                <a:latin typeface="Trebuchet MS"/>
                <a:cs typeface="Trebuchet MS"/>
              </a:rPr>
              <a:t>stationary</a:t>
            </a:r>
            <a:r>
              <a:rPr dirty="0" sz="1800" spc="-35">
                <a:solidFill>
                  <a:srgbClr val="585D60"/>
                </a:solidFill>
                <a:latin typeface="Arial"/>
                <a:cs typeface="Arial"/>
              </a:rPr>
              <a:t>.</a:t>
            </a:r>
            <a:endParaRPr sz="1800">
              <a:latin typeface="Arial"/>
              <a:cs typeface="Arial"/>
            </a:endParaRPr>
          </a:p>
          <a:p>
            <a:pPr marL="393065" marR="58419" indent="-133985">
              <a:lnSpc>
                <a:spcPct val="118100"/>
              </a:lnSpc>
              <a:spcBef>
                <a:spcPts val="800"/>
              </a:spcBef>
              <a:buClr>
                <a:srgbClr val="C2132D"/>
              </a:buClr>
              <a:buFont typeface="Trebuchet MS"/>
              <a:buChar char="•"/>
              <a:tabLst>
                <a:tab pos="393700" algn="l"/>
              </a:tabLst>
            </a:pPr>
            <a:r>
              <a:rPr dirty="0" sz="1800" spc="-30">
                <a:solidFill>
                  <a:srgbClr val="585D60"/>
                </a:solidFill>
                <a:latin typeface="Arial"/>
                <a:cs typeface="Arial"/>
              </a:rPr>
              <a:t>The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85">
                <a:solidFill>
                  <a:srgbClr val="585D60"/>
                </a:solidFill>
                <a:latin typeface="Arial"/>
                <a:cs typeface="Arial"/>
              </a:rPr>
              <a:t>ADF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40">
                <a:solidFill>
                  <a:srgbClr val="585D60"/>
                </a:solidFill>
                <a:latin typeface="Arial"/>
                <a:cs typeface="Arial"/>
              </a:rPr>
              <a:t>test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30">
                <a:solidFill>
                  <a:srgbClr val="585D60"/>
                </a:solidFill>
                <a:latin typeface="Arial"/>
                <a:cs typeface="Arial"/>
              </a:rPr>
              <a:t>is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10">
                <a:solidFill>
                  <a:srgbClr val="585D60"/>
                </a:solidFill>
                <a:latin typeface="Arial"/>
                <a:cs typeface="Arial"/>
              </a:rPr>
              <a:t>available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5">
                <a:solidFill>
                  <a:srgbClr val="585D60"/>
                </a:solidFill>
                <a:latin typeface="Arial"/>
                <a:cs typeface="Arial"/>
              </a:rPr>
              <a:t>in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5">
                <a:solidFill>
                  <a:srgbClr val="585D60"/>
                </a:solidFill>
                <a:latin typeface="Arial"/>
                <a:cs typeface="Arial"/>
              </a:rPr>
              <a:t>Python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through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the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700" spc="5">
                <a:solidFill>
                  <a:srgbClr val="C2132D"/>
                </a:solidFill>
                <a:latin typeface="Courier New"/>
                <a:cs typeface="Courier New"/>
              </a:rPr>
              <a:t>statsmodels</a:t>
            </a:r>
            <a:r>
              <a:rPr dirty="0" sz="1700" spc="-570">
                <a:solidFill>
                  <a:srgbClr val="C2132D"/>
                </a:solidFill>
                <a:latin typeface="Courier New"/>
                <a:cs typeface="Courier New"/>
              </a:rPr>
              <a:t> </a:t>
            </a:r>
            <a:r>
              <a:rPr dirty="0" sz="1800" spc="-30">
                <a:solidFill>
                  <a:srgbClr val="585D60"/>
                </a:solidFill>
                <a:latin typeface="Arial"/>
                <a:cs typeface="Arial"/>
              </a:rPr>
              <a:t>library,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5">
                <a:solidFill>
                  <a:srgbClr val="585D60"/>
                </a:solidFill>
                <a:latin typeface="Arial"/>
                <a:cs typeface="Arial"/>
              </a:rPr>
              <a:t>and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585D60"/>
                </a:solidFill>
                <a:latin typeface="Arial"/>
                <a:cs typeface="Arial"/>
              </a:rPr>
              <a:t>can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20">
                <a:solidFill>
                  <a:srgbClr val="585D60"/>
                </a:solidFill>
                <a:latin typeface="Arial"/>
                <a:cs typeface="Arial"/>
              </a:rPr>
              <a:t>be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5">
                <a:solidFill>
                  <a:srgbClr val="585D60"/>
                </a:solidFill>
                <a:latin typeface="Arial"/>
                <a:cs typeface="Arial"/>
              </a:rPr>
              <a:t>accessed 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using the </a:t>
            </a:r>
            <a:r>
              <a:rPr dirty="0" sz="1700" spc="5">
                <a:solidFill>
                  <a:srgbClr val="C2132D"/>
                </a:solidFill>
                <a:latin typeface="Courier New"/>
                <a:cs typeface="Courier New"/>
              </a:rPr>
              <a:t>adfuller()</a:t>
            </a:r>
            <a:r>
              <a:rPr dirty="0" sz="1700" spc="-855">
                <a:solidFill>
                  <a:srgbClr val="C2132D"/>
                </a:solidFill>
                <a:latin typeface="Courier New"/>
                <a:cs typeface="Courier New"/>
              </a:rPr>
              <a:t> </a:t>
            </a:r>
            <a:r>
              <a:rPr dirty="0" sz="1800" spc="35">
                <a:solidFill>
                  <a:srgbClr val="585D60"/>
                </a:solidFill>
                <a:latin typeface="Arial"/>
                <a:cs typeface="Arial"/>
              </a:rPr>
              <a:t>function </a:t>
            </a:r>
            <a:r>
              <a:rPr dirty="0" sz="1800">
                <a:solidFill>
                  <a:srgbClr val="585D60"/>
                </a:solidFill>
                <a:latin typeface="Arial"/>
                <a:cs typeface="Arial"/>
              </a:rPr>
              <a:t>as </a:t>
            </a:r>
            <a:r>
              <a:rPr dirty="0" sz="1800" spc="30">
                <a:solidFill>
                  <a:srgbClr val="585D60"/>
                </a:solidFill>
                <a:latin typeface="Arial"/>
                <a:cs typeface="Arial"/>
              </a:rPr>
              <a:t>follows:</a:t>
            </a:r>
            <a:endParaRPr sz="18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50"/>
              </a:spcBef>
            </a:pPr>
            <a:endParaRPr sz="195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dirty="0" sz="1700" spc="5">
                <a:solidFill>
                  <a:srgbClr val="C2132D"/>
                </a:solidFill>
                <a:latin typeface="Courier New"/>
                <a:cs typeface="Courier New"/>
              </a:rPr>
              <a:t>from statsmodels.tsa.stattools import</a:t>
            </a:r>
            <a:r>
              <a:rPr dirty="0" sz="1700" spc="-5">
                <a:solidFill>
                  <a:srgbClr val="C2132D"/>
                </a:solidFill>
                <a:latin typeface="Courier New"/>
                <a:cs typeface="Courier New"/>
              </a:rPr>
              <a:t> </a:t>
            </a:r>
            <a:r>
              <a:rPr dirty="0" sz="1700" spc="5">
                <a:solidFill>
                  <a:srgbClr val="C2132D"/>
                </a:solidFill>
                <a:latin typeface="Courier New"/>
                <a:cs typeface="Courier New"/>
              </a:rPr>
              <a:t>adfuller</a:t>
            </a:r>
            <a:endParaRPr sz="17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310"/>
              </a:spcBef>
            </a:pPr>
            <a:r>
              <a:rPr dirty="0" sz="1800" spc="-55" b="1">
                <a:solidFill>
                  <a:srgbClr val="C2132D"/>
                </a:solidFill>
                <a:latin typeface="Trebuchet MS"/>
                <a:cs typeface="Trebuchet MS"/>
              </a:rPr>
              <a:t>Note:</a:t>
            </a:r>
            <a:r>
              <a:rPr dirty="0" sz="1800" spc="-10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75">
                <a:solidFill>
                  <a:srgbClr val="585D60"/>
                </a:solidFill>
                <a:latin typeface="Arial"/>
                <a:cs typeface="Arial"/>
              </a:rPr>
              <a:t>See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83D5D3"/>
                </a:solidFill>
                <a:latin typeface="Trebuchet MS"/>
                <a:cs typeface="Trebuchet MS"/>
                <a:hlinkClick r:id="rId2"/>
              </a:rPr>
              <a:t>this</a:t>
            </a:r>
            <a:r>
              <a:rPr dirty="0" sz="1800" spc="-100">
                <a:solidFill>
                  <a:srgbClr val="83D5D3"/>
                </a:solidFill>
                <a:latin typeface="Trebuchet MS"/>
                <a:cs typeface="Trebuchet MS"/>
                <a:hlinkClick r:id="rId2"/>
              </a:rPr>
              <a:t> </a:t>
            </a:r>
            <a:r>
              <a:rPr dirty="0" sz="1800" spc="-40">
                <a:solidFill>
                  <a:srgbClr val="83D5D3"/>
                </a:solidFill>
                <a:latin typeface="Trebuchet MS"/>
                <a:cs typeface="Trebuchet MS"/>
                <a:hlinkClick r:id="rId2"/>
              </a:rPr>
              <a:t>link</a:t>
            </a:r>
            <a:r>
              <a:rPr dirty="0" sz="1800" spc="-100">
                <a:solidFill>
                  <a:srgbClr val="83D5D3"/>
                </a:solidFill>
                <a:latin typeface="Trebuchet MS"/>
                <a:cs typeface="Trebuchet MS"/>
                <a:hlinkClick r:id="rId2"/>
              </a:rPr>
              <a:t> </a:t>
            </a:r>
            <a:r>
              <a:rPr dirty="0" sz="1800" spc="50">
                <a:solidFill>
                  <a:srgbClr val="585D60"/>
                </a:solidFill>
                <a:latin typeface="Arial"/>
                <a:cs typeface="Arial"/>
              </a:rPr>
              <a:t>for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more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35">
                <a:solidFill>
                  <a:srgbClr val="585D60"/>
                </a:solidFill>
                <a:latin typeface="Arial"/>
                <a:cs typeface="Arial"/>
              </a:rPr>
              <a:t>information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5">
                <a:solidFill>
                  <a:srgbClr val="585D60"/>
                </a:solidFill>
                <a:latin typeface="Arial"/>
                <a:cs typeface="Arial"/>
              </a:rPr>
              <a:t>on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the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700" spc="5">
                <a:solidFill>
                  <a:srgbClr val="C2132D"/>
                </a:solidFill>
                <a:latin typeface="Courier New"/>
                <a:cs typeface="Courier New"/>
              </a:rPr>
              <a:t>adfuller()</a:t>
            </a:r>
            <a:r>
              <a:rPr dirty="0" sz="1700" spc="-575">
                <a:solidFill>
                  <a:srgbClr val="C2132D"/>
                </a:solidFill>
                <a:latin typeface="Courier New"/>
                <a:cs typeface="Courier New"/>
              </a:rPr>
              <a:t> </a:t>
            </a:r>
            <a:r>
              <a:rPr dirty="0" sz="1800" spc="30">
                <a:solidFill>
                  <a:srgbClr val="585D60"/>
                </a:solidFill>
                <a:latin typeface="Arial"/>
                <a:cs typeface="Arial"/>
              </a:rPr>
              <a:t>function.</a:t>
            </a:r>
            <a:endParaRPr sz="1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1270" rIns="0" bIns="0" rtlCol="0" vert="horz">
            <a:spAutoFit/>
          </a:bodyPr>
          <a:lstStyle/>
          <a:p>
            <a:pPr marL="38100">
              <a:lnSpc>
                <a:spcPct val="100000"/>
              </a:lnSpc>
              <a:spcBef>
                <a:spcPts val="10"/>
              </a:spcBef>
            </a:pPr>
            <a:fld id="{81D60167-4931-47E6-BA6A-407CBD079E47}" type="slidenum">
              <a:rPr dirty="0" spc="5"/>
              <a:t>27</a:t>
            </a:fld>
            <a:r>
              <a:rPr dirty="0" spc="5"/>
              <a:t> </a:t>
            </a:r>
            <a:r>
              <a:rPr dirty="0" spc="160"/>
              <a:t>/</a:t>
            </a:r>
            <a:r>
              <a:rPr dirty="0" spc="-165"/>
              <a:t> </a:t>
            </a:r>
            <a:r>
              <a:rPr dirty="0" spc="5"/>
              <a:t>33</a:t>
            </a:r>
          </a:p>
        </p:txBody>
      </p: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01700" y="530225"/>
            <a:ext cx="4523105" cy="539750"/>
          </a:xfrm>
          <a:prstGeom prst="rect"/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3350" spc="-250">
                <a:solidFill>
                  <a:srgbClr val="C2132D"/>
                </a:solidFill>
              </a:rPr>
              <a:t>Unit </a:t>
            </a:r>
            <a:r>
              <a:rPr dirty="0" sz="3350" spc="-175">
                <a:solidFill>
                  <a:srgbClr val="C2132D"/>
                </a:solidFill>
              </a:rPr>
              <a:t>Root </a:t>
            </a:r>
            <a:r>
              <a:rPr dirty="0" sz="3350" spc="-170">
                <a:solidFill>
                  <a:srgbClr val="C2132D"/>
                </a:solidFill>
              </a:rPr>
              <a:t>Tests: </a:t>
            </a:r>
            <a:r>
              <a:rPr dirty="0" sz="3350" spc="45">
                <a:solidFill>
                  <a:srgbClr val="C2132D"/>
                </a:solidFill>
              </a:rPr>
              <a:t>KPSS</a:t>
            </a:r>
            <a:r>
              <a:rPr dirty="0" sz="3350" spc="-520">
                <a:solidFill>
                  <a:srgbClr val="C2132D"/>
                </a:solidFill>
              </a:rPr>
              <a:t> </a:t>
            </a:r>
            <a:r>
              <a:rPr dirty="0" sz="3350" spc="-190">
                <a:solidFill>
                  <a:srgbClr val="C2132D"/>
                </a:solidFill>
              </a:rPr>
              <a:t>Test</a:t>
            </a:r>
            <a:endParaRPr sz="3350"/>
          </a:p>
        </p:txBody>
      </p:sp>
      <p:sp>
        <p:nvSpPr>
          <p:cNvPr id="3" name="object 3"/>
          <p:cNvSpPr txBox="1"/>
          <p:nvPr/>
        </p:nvSpPr>
        <p:spPr>
          <a:xfrm>
            <a:off x="901700" y="1376044"/>
            <a:ext cx="9665335" cy="393065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393065" marR="720725" indent="-133985">
              <a:lnSpc>
                <a:spcPct val="118100"/>
              </a:lnSpc>
              <a:spcBef>
                <a:spcPts val="100"/>
              </a:spcBef>
              <a:buClr>
                <a:srgbClr val="C2132D"/>
              </a:buClr>
              <a:buFont typeface="Trebuchet MS"/>
              <a:buChar char="•"/>
              <a:tabLst>
                <a:tab pos="393700" algn="l"/>
              </a:tabLst>
            </a:pPr>
            <a:r>
              <a:rPr dirty="0" sz="1800" spc="-30">
                <a:solidFill>
                  <a:srgbClr val="585D60"/>
                </a:solidFill>
                <a:latin typeface="Arial"/>
                <a:cs typeface="Arial"/>
              </a:rPr>
              <a:t>The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10" b="1">
                <a:solidFill>
                  <a:srgbClr val="C2132D"/>
                </a:solidFill>
                <a:latin typeface="Trebuchet MS"/>
                <a:cs typeface="Trebuchet MS"/>
              </a:rPr>
              <a:t>Kwiatkowski-Phillips-Schmidt-Shin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75" b="1">
                <a:solidFill>
                  <a:srgbClr val="C2132D"/>
                </a:solidFill>
                <a:latin typeface="Trebuchet MS"/>
                <a:cs typeface="Trebuchet MS"/>
              </a:rPr>
              <a:t>(KPSS)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35" b="1">
                <a:solidFill>
                  <a:srgbClr val="C2132D"/>
                </a:solidFill>
                <a:latin typeface="Trebuchet MS"/>
                <a:cs typeface="Trebuchet MS"/>
              </a:rPr>
              <a:t>test</a:t>
            </a:r>
            <a:r>
              <a:rPr dirty="0" sz="1800" spc="-10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30">
                <a:solidFill>
                  <a:srgbClr val="585D60"/>
                </a:solidFill>
                <a:latin typeface="Arial"/>
                <a:cs typeface="Arial"/>
              </a:rPr>
              <a:t>is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5">
                <a:solidFill>
                  <a:srgbClr val="585D60"/>
                </a:solidFill>
                <a:latin typeface="Arial"/>
                <a:cs typeface="Arial"/>
              </a:rPr>
              <a:t>another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25">
                <a:solidFill>
                  <a:srgbClr val="585D60"/>
                </a:solidFill>
                <a:latin typeface="Arial"/>
                <a:cs typeface="Arial"/>
              </a:rPr>
              <a:t>unit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30">
                <a:solidFill>
                  <a:srgbClr val="585D60"/>
                </a:solidFill>
                <a:latin typeface="Arial"/>
                <a:cs typeface="Arial"/>
              </a:rPr>
              <a:t>root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40">
                <a:solidFill>
                  <a:srgbClr val="585D60"/>
                </a:solidFill>
                <a:latin typeface="Arial"/>
                <a:cs typeface="Arial"/>
              </a:rPr>
              <a:t>test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5">
                <a:solidFill>
                  <a:srgbClr val="585D60"/>
                </a:solidFill>
                <a:latin typeface="Arial"/>
                <a:cs typeface="Arial"/>
              </a:rPr>
              <a:t>used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45">
                <a:solidFill>
                  <a:srgbClr val="585D60"/>
                </a:solidFill>
                <a:latin typeface="Arial"/>
                <a:cs typeface="Arial"/>
              </a:rPr>
              <a:t>to  </a:t>
            </a:r>
            <a:r>
              <a:rPr dirty="0" sz="1800" spc="5">
                <a:solidFill>
                  <a:srgbClr val="585D60"/>
                </a:solidFill>
                <a:latin typeface="Arial"/>
                <a:cs typeface="Arial"/>
              </a:rPr>
              <a:t>determine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5">
                <a:solidFill>
                  <a:srgbClr val="585D60"/>
                </a:solidFill>
                <a:latin typeface="Arial"/>
                <a:cs typeface="Arial"/>
              </a:rPr>
              <a:t>whether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25">
                <a:solidFill>
                  <a:srgbClr val="585D60"/>
                </a:solidFill>
                <a:latin typeface="Arial"/>
                <a:cs typeface="Arial"/>
              </a:rPr>
              <a:t>a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35">
                <a:solidFill>
                  <a:srgbClr val="585D60"/>
                </a:solidFill>
                <a:latin typeface="Arial"/>
                <a:cs typeface="Arial"/>
              </a:rPr>
              <a:t>time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585D60"/>
                </a:solidFill>
                <a:latin typeface="Arial"/>
                <a:cs typeface="Arial"/>
              </a:rPr>
              <a:t>series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30">
                <a:solidFill>
                  <a:srgbClr val="585D60"/>
                </a:solidFill>
                <a:latin typeface="Arial"/>
                <a:cs typeface="Arial"/>
              </a:rPr>
              <a:t>is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35" b="1">
                <a:solidFill>
                  <a:srgbClr val="C2132D"/>
                </a:solidFill>
                <a:latin typeface="Trebuchet MS"/>
                <a:cs typeface="Trebuchet MS"/>
              </a:rPr>
              <a:t>stationary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15">
                <a:solidFill>
                  <a:srgbClr val="585D60"/>
                </a:solidFill>
                <a:latin typeface="Arial"/>
                <a:cs typeface="Arial"/>
              </a:rPr>
              <a:t>or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30" b="1">
                <a:solidFill>
                  <a:srgbClr val="C2132D"/>
                </a:solidFill>
                <a:latin typeface="Trebuchet MS"/>
                <a:cs typeface="Trebuchet MS"/>
              </a:rPr>
              <a:t>non-stationary</a:t>
            </a:r>
            <a:r>
              <a:rPr dirty="0" sz="1800" spc="-30">
                <a:solidFill>
                  <a:srgbClr val="585D60"/>
                </a:solidFill>
                <a:latin typeface="Arial"/>
                <a:cs typeface="Arial"/>
              </a:rPr>
              <a:t>.</a:t>
            </a:r>
            <a:endParaRPr sz="1800">
              <a:latin typeface="Arial"/>
              <a:cs typeface="Arial"/>
            </a:endParaRPr>
          </a:p>
          <a:p>
            <a:pPr marL="393065" marR="514350" indent="-133985">
              <a:lnSpc>
                <a:spcPct val="114599"/>
              </a:lnSpc>
              <a:spcBef>
                <a:spcPts val="969"/>
              </a:spcBef>
              <a:buClr>
                <a:srgbClr val="C2132D"/>
              </a:buClr>
              <a:buFont typeface="Trebuchet MS"/>
              <a:buChar char="•"/>
              <a:tabLst>
                <a:tab pos="393700" algn="l"/>
              </a:tabLst>
            </a:pPr>
            <a:r>
              <a:rPr dirty="0" sz="1800" spc="-30">
                <a:solidFill>
                  <a:srgbClr val="585D60"/>
                </a:solidFill>
                <a:latin typeface="Arial"/>
                <a:cs typeface="Arial"/>
              </a:rPr>
              <a:t>The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null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hypothesis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75">
                <a:solidFill>
                  <a:srgbClr val="585D60"/>
                </a:solidFill>
                <a:latin typeface="Arial"/>
                <a:cs typeface="Arial"/>
              </a:rPr>
              <a:t>of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the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100">
                <a:solidFill>
                  <a:srgbClr val="585D60"/>
                </a:solidFill>
                <a:latin typeface="Arial"/>
                <a:cs typeface="Arial"/>
              </a:rPr>
              <a:t>KPSS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40">
                <a:solidFill>
                  <a:srgbClr val="585D60"/>
                </a:solidFill>
                <a:latin typeface="Arial"/>
                <a:cs typeface="Arial"/>
              </a:rPr>
              <a:t>test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30">
                <a:solidFill>
                  <a:srgbClr val="585D60"/>
                </a:solidFill>
                <a:latin typeface="Arial"/>
                <a:cs typeface="Arial"/>
              </a:rPr>
              <a:t>is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35">
                <a:solidFill>
                  <a:srgbClr val="585D60"/>
                </a:solidFill>
                <a:latin typeface="Arial"/>
                <a:cs typeface="Arial"/>
              </a:rPr>
              <a:t>that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the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35">
                <a:solidFill>
                  <a:srgbClr val="585D60"/>
                </a:solidFill>
                <a:latin typeface="Arial"/>
                <a:cs typeface="Arial"/>
              </a:rPr>
              <a:t>time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585D60"/>
                </a:solidFill>
                <a:latin typeface="Arial"/>
                <a:cs typeface="Arial"/>
              </a:rPr>
              <a:t>series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30">
                <a:solidFill>
                  <a:srgbClr val="585D60"/>
                </a:solidFill>
                <a:latin typeface="Arial"/>
                <a:cs typeface="Arial"/>
              </a:rPr>
              <a:t>is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35" b="1">
                <a:solidFill>
                  <a:srgbClr val="C2132D"/>
                </a:solidFill>
                <a:latin typeface="Trebuchet MS"/>
                <a:cs typeface="Trebuchet MS"/>
              </a:rPr>
              <a:t>stationary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5">
                <a:solidFill>
                  <a:srgbClr val="585D60"/>
                </a:solidFill>
                <a:latin typeface="Arial"/>
                <a:cs typeface="Arial"/>
              </a:rPr>
              <a:t>around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25">
                <a:solidFill>
                  <a:srgbClr val="585D60"/>
                </a:solidFill>
                <a:latin typeface="Arial"/>
                <a:cs typeface="Arial"/>
              </a:rPr>
              <a:t>a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60" b="1">
                <a:solidFill>
                  <a:srgbClr val="C2132D"/>
                </a:solidFill>
                <a:latin typeface="Trebuchet MS"/>
                <a:cs typeface="Trebuchet MS"/>
              </a:rPr>
              <a:t>fixed  </a:t>
            </a:r>
            <a:r>
              <a:rPr dirty="0" sz="1800" spc="-55" b="1">
                <a:solidFill>
                  <a:srgbClr val="C2132D"/>
                </a:solidFill>
                <a:latin typeface="Trebuchet MS"/>
                <a:cs typeface="Trebuchet MS"/>
              </a:rPr>
              <a:t>level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.</a:t>
            </a:r>
            <a:endParaRPr sz="1800">
              <a:latin typeface="Arial"/>
              <a:cs typeface="Arial"/>
            </a:endParaRPr>
          </a:p>
          <a:p>
            <a:pPr marL="393065" marR="805815" indent="-133985">
              <a:lnSpc>
                <a:spcPct val="112900"/>
              </a:lnSpc>
              <a:spcBef>
                <a:spcPts val="900"/>
              </a:spcBef>
              <a:buClr>
                <a:srgbClr val="C2132D"/>
              </a:buClr>
              <a:buFont typeface="Trebuchet MS"/>
              <a:buChar char="•"/>
              <a:tabLst>
                <a:tab pos="393700" algn="l"/>
              </a:tabLst>
            </a:pPr>
            <a:r>
              <a:rPr dirty="0" sz="1800" spc="55">
                <a:solidFill>
                  <a:srgbClr val="585D60"/>
                </a:solidFill>
                <a:latin typeface="Arial"/>
                <a:cs typeface="Arial"/>
              </a:rPr>
              <a:t>If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the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null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hypothesis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30">
                <a:solidFill>
                  <a:srgbClr val="585D60"/>
                </a:solidFill>
                <a:latin typeface="Arial"/>
                <a:cs typeface="Arial"/>
              </a:rPr>
              <a:t>is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585D60"/>
                </a:solidFill>
                <a:latin typeface="Arial"/>
                <a:cs typeface="Arial"/>
              </a:rPr>
              <a:t>rejected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40">
                <a:solidFill>
                  <a:srgbClr val="585D60"/>
                </a:solidFill>
                <a:latin typeface="Arial"/>
                <a:cs typeface="Arial"/>
              </a:rPr>
              <a:t>(e.g.,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80">
                <a:solidFill>
                  <a:srgbClr val="585D60"/>
                </a:solidFill>
                <a:latin typeface="Arial"/>
                <a:cs typeface="Arial"/>
              </a:rPr>
              <a:t>if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600" spc="15" i="1">
                <a:solidFill>
                  <a:srgbClr val="585D60"/>
                </a:solidFill>
                <a:latin typeface="Arial"/>
                <a:cs typeface="Arial"/>
              </a:rPr>
              <a:t>p</a:t>
            </a:r>
            <a:r>
              <a:rPr dirty="0" sz="1600" spc="60" i="1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900" spc="-110">
                <a:solidFill>
                  <a:srgbClr val="585D60"/>
                </a:solidFill>
                <a:latin typeface="Lucida Sans Unicode"/>
                <a:cs typeface="Lucida Sans Unicode"/>
              </a:rPr>
              <a:t>&lt;</a:t>
            </a:r>
            <a:r>
              <a:rPr dirty="0" sz="1900" spc="-95">
                <a:solidFill>
                  <a:srgbClr val="585D60"/>
                </a:solidFill>
                <a:latin typeface="Lucida Sans Unicode"/>
                <a:cs typeface="Lucida Sans Unicode"/>
              </a:rPr>
              <a:t> </a:t>
            </a:r>
            <a:r>
              <a:rPr dirty="0" sz="1900" spc="-190">
                <a:solidFill>
                  <a:srgbClr val="585D60"/>
                </a:solidFill>
                <a:latin typeface="Lucida Sans Unicode"/>
                <a:cs typeface="Lucida Sans Unicode"/>
              </a:rPr>
              <a:t>0.05</a:t>
            </a:r>
            <a:r>
              <a:rPr dirty="0" sz="1800" spc="-190">
                <a:solidFill>
                  <a:srgbClr val="585D60"/>
                </a:solidFill>
                <a:latin typeface="Arial"/>
                <a:cs typeface="Arial"/>
              </a:rPr>
              <a:t>),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the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35">
                <a:solidFill>
                  <a:srgbClr val="585D60"/>
                </a:solidFill>
                <a:latin typeface="Arial"/>
                <a:cs typeface="Arial"/>
              </a:rPr>
              <a:t>time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585D60"/>
                </a:solidFill>
                <a:latin typeface="Arial"/>
                <a:cs typeface="Arial"/>
              </a:rPr>
              <a:t>series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30">
                <a:solidFill>
                  <a:srgbClr val="585D60"/>
                </a:solidFill>
                <a:latin typeface="Arial"/>
                <a:cs typeface="Arial"/>
              </a:rPr>
              <a:t>is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5">
                <a:solidFill>
                  <a:srgbClr val="585D60"/>
                </a:solidFill>
                <a:latin typeface="Arial"/>
                <a:cs typeface="Arial"/>
              </a:rPr>
              <a:t>considered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20" b="1">
                <a:solidFill>
                  <a:srgbClr val="C2132D"/>
                </a:solidFill>
                <a:latin typeface="Trebuchet MS"/>
                <a:cs typeface="Trebuchet MS"/>
              </a:rPr>
              <a:t>non-  </a:t>
            </a:r>
            <a:r>
              <a:rPr dirty="0" sz="1800" spc="-35" b="1">
                <a:solidFill>
                  <a:srgbClr val="C2132D"/>
                </a:solidFill>
                <a:latin typeface="Trebuchet MS"/>
                <a:cs typeface="Trebuchet MS"/>
              </a:rPr>
              <a:t>stationary</a:t>
            </a:r>
            <a:r>
              <a:rPr dirty="0" sz="1800" spc="-35">
                <a:solidFill>
                  <a:srgbClr val="585D60"/>
                </a:solidFill>
                <a:latin typeface="Arial"/>
                <a:cs typeface="Arial"/>
              </a:rPr>
              <a:t>.</a:t>
            </a:r>
            <a:endParaRPr sz="1800">
              <a:latin typeface="Arial"/>
              <a:cs typeface="Arial"/>
            </a:endParaRPr>
          </a:p>
          <a:p>
            <a:pPr marL="393065" marR="5080" indent="-133985">
              <a:lnSpc>
                <a:spcPct val="118100"/>
              </a:lnSpc>
              <a:spcBef>
                <a:spcPts val="894"/>
              </a:spcBef>
              <a:buClr>
                <a:srgbClr val="C2132D"/>
              </a:buClr>
              <a:buFont typeface="Trebuchet MS"/>
              <a:buChar char="•"/>
              <a:tabLst>
                <a:tab pos="393700" algn="l"/>
              </a:tabLst>
            </a:pPr>
            <a:r>
              <a:rPr dirty="0" sz="1800" spc="-30">
                <a:solidFill>
                  <a:srgbClr val="585D60"/>
                </a:solidFill>
                <a:latin typeface="Arial"/>
                <a:cs typeface="Arial"/>
              </a:rPr>
              <a:t>The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100">
                <a:solidFill>
                  <a:srgbClr val="585D60"/>
                </a:solidFill>
                <a:latin typeface="Arial"/>
                <a:cs typeface="Arial"/>
              </a:rPr>
              <a:t>KPSS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40">
                <a:solidFill>
                  <a:srgbClr val="585D60"/>
                </a:solidFill>
                <a:latin typeface="Arial"/>
                <a:cs typeface="Arial"/>
              </a:rPr>
              <a:t>test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30">
                <a:solidFill>
                  <a:srgbClr val="585D60"/>
                </a:solidFill>
                <a:latin typeface="Arial"/>
                <a:cs typeface="Arial"/>
              </a:rPr>
              <a:t>is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10">
                <a:solidFill>
                  <a:srgbClr val="585D60"/>
                </a:solidFill>
                <a:latin typeface="Arial"/>
                <a:cs typeface="Arial"/>
              </a:rPr>
              <a:t>available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5">
                <a:solidFill>
                  <a:srgbClr val="585D60"/>
                </a:solidFill>
                <a:latin typeface="Arial"/>
                <a:cs typeface="Arial"/>
              </a:rPr>
              <a:t>in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5">
                <a:solidFill>
                  <a:srgbClr val="585D60"/>
                </a:solidFill>
                <a:latin typeface="Arial"/>
                <a:cs typeface="Arial"/>
              </a:rPr>
              <a:t>Python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through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the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700" spc="5">
                <a:solidFill>
                  <a:srgbClr val="C2132D"/>
                </a:solidFill>
                <a:latin typeface="Courier New"/>
                <a:cs typeface="Courier New"/>
              </a:rPr>
              <a:t>statsmodels</a:t>
            </a:r>
            <a:r>
              <a:rPr dirty="0" sz="1700" spc="-570">
                <a:solidFill>
                  <a:srgbClr val="C2132D"/>
                </a:solidFill>
                <a:latin typeface="Courier New"/>
                <a:cs typeface="Courier New"/>
              </a:rPr>
              <a:t> </a:t>
            </a:r>
            <a:r>
              <a:rPr dirty="0" sz="1800" spc="-30">
                <a:solidFill>
                  <a:srgbClr val="585D60"/>
                </a:solidFill>
                <a:latin typeface="Arial"/>
                <a:cs typeface="Arial"/>
              </a:rPr>
              <a:t>library,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5">
                <a:solidFill>
                  <a:srgbClr val="585D60"/>
                </a:solidFill>
                <a:latin typeface="Arial"/>
                <a:cs typeface="Arial"/>
              </a:rPr>
              <a:t>and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585D60"/>
                </a:solidFill>
                <a:latin typeface="Arial"/>
                <a:cs typeface="Arial"/>
              </a:rPr>
              <a:t>can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20">
                <a:solidFill>
                  <a:srgbClr val="585D60"/>
                </a:solidFill>
                <a:latin typeface="Arial"/>
                <a:cs typeface="Arial"/>
              </a:rPr>
              <a:t>be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5">
                <a:solidFill>
                  <a:srgbClr val="585D60"/>
                </a:solidFill>
                <a:latin typeface="Arial"/>
                <a:cs typeface="Arial"/>
              </a:rPr>
              <a:t>accessed 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using the </a:t>
            </a:r>
            <a:r>
              <a:rPr dirty="0" sz="1700" spc="5">
                <a:solidFill>
                  <a:srgbClr val="C2132D"/>
                </a:solidFill>
                <a:latin typeface="Courier New"/>
                <a:cs typeface="Courier New"/>
              </a:rPr>
              <a:t>kpss()</a:t>
            </a:r>
            <a:r>
              <a:rPr dirty="0" sz="1700" spc="-855">
                <a:solidFill>
                  <a:srgbClr val="C2132D"/>
                </a:solidFill>
                <a:latin typeface="Courier New"/>
                <a:cs typeface="Courier New"/>
              </a:rPr>
              <a:t> </a:t>
            </a:r>
            <a:r>
              <a:rPr dirty="0" sz="1800" spc="35">
                <a:solidFill>
                  <a:srgbClr val="585D60"/>
                </a:solidFill>
                <a:latin typeface="Arial"/>
                <a:cs typeface="Arial"/>
              </a:rPr>
              <a:t>function </a:t>
            </a:r>
            <a:r>
              <a:rPr dirty="0" sz="1800">
                <a:solidFill>
                  <a:srgbClr val="585D60"/>
                </a:solidFill>
                <a:latin typeface="Arial"/>
                <a:cs typeface="Arial"/>
              </a:rPr>
              <a:t>as </a:t>
            </a:r>
            <a:r>
              <a:rPr dirty="0" sz="1800" spc="30">
                <a:solidFill>
                  <a:srgbClr val="585D60"/>
                </a:solidFill>
                <a:latin typeface="Arial"/>
                <a:cs typeface="Arial"/>
              </a:rPr>
              <a:t>follows:</a:t>
            </a:r>
            <a:endParaRPr sz="18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50"/>
              </a:spcBef>
            </a:pPr>
            <a:endParaRPr sz="195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dirty="0" sz="1700" spc="5">
                <a:solidFill>
                  <a:srgbClr val="C2132D"/>
                </a:solidFill>
                <a:latin typeface="Courier New"/>
                <a:cs typeface="Courier New"/>
              </a:rPr>
              <a:t>from statsmodels.tsa.stattools import</a:t>
            </a:r>
            <a:r>
              <a:rPr dirty="0" sz="1700" spc="-5">
                <a:solidFill>
                  <a:srgbClr val="C2132D"/>
                </a:solidFill>
                <a:latin typeface="Courier New"/>
                <a:cs typeface="Courier New"/>
              </a:rPr>
              <a:t> </a:t>
            </a:r>
            <a:r>
              <a:rPr dirty="0" sz="1700" spc="5">
                <a:solidFill>
                  <a:srgbClr val="C2132D"/>
                </a:solidFill>
                <a:latin typeface="Courier New"/>
                <a:cs typeface="Courier New"/>
              </a:rPr>
              <a:t>kpss</a:t>
            </a:r>
            <a:endParaRPr sz="17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310"/>
              </a:spcBef>
            </a:pPr>
            <a:r>
              <a:rPr dirty="0" sz="1800" spc="-55" b="1">
                <a:solidFill>
                  <a:srgbClr val="C2132D"/>
                </a:solidFill>
                <a:latin typeface="Trebuchet MS"/>
                <a:cs typeface="Trebuchet MS"/>
              </a:rPr>
              <a:t>Note:</a:t>
            </a:r>
            <a:r>
              <a:rPr dirty="0" sz="1800" spc="-10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75">
                <a:solidFill>
                  <a:srgbClr val="585D60"/>
                </a:solidFill>
                <a:latin typeface="Arial"/>
                <a:cs typeface="Arial"/>
              </a:rPr>
              <a:t>See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83D5D3"/>
                </a:solidFill>
                <a:latin typeface="Trebuchet MS"/>
                <a:cs typeface="Trebuchet MS"/>
                <a:hlinkClick r:id="rId2"/>
              </a:rPr>
              <a:t>this</a:t>
            </a:r>
            <a:r>
              <a:rPr dirty="0" sz="1800" spc="-100">
                <a:solidFill>
                  <a:srgbClr val="83D5D3"/>
                </a:solidFill>
                <a:latin typeface="Trebuchet MS"/>
                <a:cs typeface="Trebuchet MS"/>
                <a:hlinkClick r:id="rId2"/>
              </a:rPr>
              <a:t> </a:t>
            </a:r>
            <a:r>
              <a:rPr dirty="0" sz="1800" spc="-40">
                <a:solidFill>
                  <a:srgbClr val="83D5D3"/>
                </a:solidFill>
                <a:latin typeface="Trebuchet MS"/>
                <a:cs typeface="Trebuchet MS"/>
                <a:hlinkClick r:id="rId2"/>
              </a:rPr>
              <a:t>link</a:t>
            </a:r>
            <a:r>
              <a:rPr dirty="0" sz="1800" spc="-100">
                <a:solidFill>
                  <a:srgbClr val="83D5D3"/>
                </a:solidFill>
                <a:latin typeface="Trebuchet MS"/>
                <a:cs typeface="Trebuchet MS"/>
                <a:hlinkClick r:id="rId2"/>
              </a:rPr>
              <a:t> </a:t>
            </a:r>
            <a:r>
              <a:rPr dirty="0" sz="1800" spc="50">
                <a:solidFill>
                  <a:srgbClr val="585D60"/>
                </a:solidFill>
                <a:latin typeface="Arial"/>
                <a:cs typeface="Arial"/>
              </a:rPr>
              <a:t>for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more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35">
                <a:solidFill>
                  <a:srgbClr val="585D60"/>
                </a:solidFill>
                <a:latin typeface="Arial"/>
                <a:cs typeface="Arial"/>
              </a:rPr>
              <a:t>information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5">
                <a:solidFill>
                  <a:srgbClr val="585D60"/>
                </a:solidFill>
                <a:latin typeface="Arial"/>
                <a:cs typeface="Arial"/>
              </a:rPr>
              <a:t>on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the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700" spc="5">
                <a:solidFill>
                  <a:srgbClr val="C2132D"/>
                </a:solidFill>
                <a:latin typeface="Courier New"/>
                <a:cs typeface="Courier New"/>
              </a:rPr>
              <a:t>kpss()</a:t>
            </a:r>
            <a:r>
              <a:rPr dirty="0" sz="1700" spc="-575">
                <a:solidFill>
                  <a:srgbClr val="C2132D"/>
                </a:solidFill>
                <a:latin typeface="Courier New"/>
                <a:cs typeface="Courier New"/>
              </a:rPr>
              <a:t> </a:t>
            </a:r>
            <a:r>
              <a:rPr dirty="0" sz="1800" spc="30">
                <a:solidFill>
                  <a:srgbClr val="585D60"/>
                </a:solidFill>
                <a:latin typeface="Arial"/>
                <a:cs typeface="Arial"/>
              </a:rPr>
              <a:t>function.</a:t>
            </a:r>
            <a:endParaRPr sz="1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1270" rIns="0" bIns="0" rtlCol="0" vert="horz">
            <a:spAutoFit/>
          </a:bodyPr>
          <a:lstStyle/>
          <a:p>
            <a:pPr marL="38100">
              <a:lnSpc>
                <a:spcPct val="100000"/>
              </a:lnSpc>
              <a:spcBef>
                <a:spcPts val="10"/>
              </a:spcBef>
            </a:pPr>
            <a:fld id="{81D60167-4931-47E6-BA6A-407CBD079E47}" type="slidenum">
              <a:rPr dirty="0" spc="5"/>
              <a:t>27</a:t>
            </a:fld>
            <a:r>
              <a:rPr dirty="0" spc="5"/>
              <a:t> </a:t>
            </a:r>
            <a:r>
              <a:rPr dirty="0" spc="160"/>
              <a:t>/</a:t>
            </a:r>
            <a:r>
              <a:rPr dirty="0" spc="-165"/>
              <a:t> </a:t>
            </a:r>
            <a:r>
              <a:rPr dirty="0" spc="5"/>
              <a:t>33</a:t>
            </a:r>
          </a:p>
        </p:txBody>
      </p: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01700" y="530225"/>
            <a:ext cx="8521700" cy="1035050"/>
          </a:xfrm>
          <a:prstGeom prst="rect"/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ts val="3960"/>
              </a:lnSpc>
              <a:spcBef>
                <a:spcPts val="125"/>
              </a:spcBef>
            </a:pPr>
            <a:r>
              <a:rPr dirty="0" sz="3350" spc="-135">
                <a:solidFill>
                  <a:srgbClr val="C2132D"/>
                </a:solidFill>
              </a:rPr>
              <a:t>CoreForecast's </a:t>
            </a:r>
            <a:r>
              <a:rPr dirty="0" sz="3350" spc="-140">
                <a:solidFill>
                  <a:srgbClr val="C2132D"/>
                </a:solidFill>
              </a:rPr>
              <a:t>Short </a:t>
            </a:r>
            <a:r>
              <a:rPr dirty="0" sz="3350" spc="-210">
                <a:solidFill>
                  <a:srgbClr val="C2132D"/>
                </a:solidFill>
              </a:rPr>
              <a:t>Cut </a:t>
            </a:r>
            <a:r>
              <a:rPr dirty="0" sz="3350" spc="-95">
                <a:solidFill>
                  <a:srgbClr val="C2132D"/>
                </a:solidFill>
              </a:rPr>
              <a:t>Based </a:t>
            </a:r>
            <a:r>
              <a:rPr dirty="0" sz="3350" spc="-150">
                <a:solidFill>
                  <a:srgbClr val="C2132D"/>
                </a:solidFill>
              </a:rPr>
              <a:t>on </a:t>
            </a:r>
            <a:r>
              <a:rPr dirty="0" sz="3350" spc="-20">
                <a:solidFill>
                  <a:srgbClr val="C2132D"/>
                </a:solidFill>
              </a:rPr>
              <a:t>R's</a:t>
            </a:r>
            <a:r>
              <a:rPr dirty="0" sz="3350" spc="-675">
                <a:solidFill>
                  <a:srgbClr val="C2132D"/>
                </a:solidFill>
              </a:rPr>
              <a:t> </a:t>
            </a:r>
            <a:r>
              <a:rPr dirty="0" sz="3200">
                <a:solidFill>
                  <a:srgbClr val="C2132D"/>
                </a:solidFill>
                <a:latin typeface="Courier New"/>
                <a:cs typeface="Courier New"/>
              </a:rPr>
              <a:t>forecast</a:t>
            </a:r>
            <a:endParaRPr sz="3200">
              <a:latin typeface="Courier New"/>
              <a:cs typeface="Courier New"/>
            </a:endParaRPr>
          </a:p>
          <a:p>
            <a:pPr marL="12700">
              <a:lnSpc>
                <a:spcPts val="3960"/>
              </a:lnSpc>
            </a:pPr>
            <a:r>
              <a:rPr dirty="0" sz="3350" spc="-120">
                <a:solidFill>
                  <a:srgbClr val="C2132D"/>
                </a:solidFill>
              </a:rPr>
              <a:t>Package</a:t>
            </a:r>
            <a:endParaRPr sz="3350"/>
          </a:p>
        </p:txBody>
      </p:sp>
      <p:sp>
        <p:nvSpPr>
          <p:cNvPr id="3" name="object 3"/>
          <p:cNvSpPr txBox="1"/>
          <p:nvPr/>
        </p:nvSpPr>
        <p:spPr>
          <a:xfrm>
            <a:off x="1148754" y="1871345"/>
            <a:ext cx="9440545" cy="358775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46050" marR="469900" indent="-133985">
              <a:lnSpc>
                <a:spcPct val="118100"/>
              </a:lnSpc>
              <a:spcBef>
                <a:spcPts val="100"/>
              </a:spcBef>
              <a:buClr>
                <a:srgbClr val="C2132D"/>
              </a:buClr>
              <a:buFont typeface="Trebuchet MS"/>
              <a:buChar char="•"/>
              <a:tabLst>
                <a:tab pos="146685" algn="l"/>
              </a:tabLst>
            </a:pPr>
            <a:r>
              <a:rPr dirty="0" sz="1800" spc="-10">
                <a:solidFill>
                  <a:srgbClr val="585D60"/>
                </a:solidFill>
                <a:latin typeface="Arial"/>
                <a:cs typeface="Arial"/>
              </a:rPr>
              <a:t>In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170">
                <a:solidFill>
                  <a:srgbClr val="585D60"/>
                </a:solidFill>
                <a:latin typeface="Arial"/>
                <a:cs typeface="Arial"/>
              </a:rPr>
              <a:t>R,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the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700" spc="5">
                <a:solidFill>
                  <a:srgbClr val="C2132D"/>
                </a:solidFill>
                <a:latin typeface="Courier New"/>
                <a:cs typeface="Courier New"/>
              </a:rPr>
              <a:t>forecast</a:t>
            </a:r>
            <a:r>
              <a:rPr dirty="0" sz="1700" spc="-570">
                <a:solidFill>
                  <a:srgbClr val="C2132D"/>
                </a:solidFill>
                <a:latin typeface="Courier New"/>
                <a:cs typeface="Courier New"/>
              </a:rPr>
              <a:t> </a:t>
            </a:r>
            <a:r>
              <a:rPr dirty="0" sz="1800" spc="-5">
                <a:solidFill>
                  <a:srgbClr val="585D60"/>
                </a:solidFill>
                <a:latin typeface="Arial"/>
                <a:cs typeface="Arial"/>
              </a:rPr>
              <a:t>package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585D60"/>
                </a:solidFill>
                <a:latin typeface="Arial"/>
                <a:cs typeface="Arial"/>
              </a:rPr>
              <a:t>provides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25">
                <a:solidFill>
                  <a:srgbClr val="585D60"/>
                </a:solidFill>
                <a:latin typeface="Arial"/>
                <a:cs typeface="Arial"/>
              </a:rPr>
              <a:t>a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585D60"/>
                </a:solidFill>
                <a:latin typeface="Arial"/>
                <a:cs typeface="Arial"/>
              </a:rPr>
              <a:t>convenient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35">
                <a:solidFill>
                  <a:srgbClr val="585D60"/>
                </a:solidFill>
                <a:latin typeface="Arial"/>
                <a:cs typeface="Arial"/>
              </a:rPr>
              <a:t>function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700" spc="5">
                <a:solidFill>
                  <a:srgbClr val="C2132D"/>
                </a:solidFill>
                <a:latin typeface="Courier New"/>
                <a:cs typeface="Courier New"/>
              </a:rPr>
              <a:t>ndiffs()</a:t>
            </a:r>
            <a:r>
              <a:rPr dirty="0" sz="1700" spc="-570">
                <a:solidFill>
                  <a:srgbClr val="C2132D"/>
                </a:solidFill>
                <a:latin typeface="Courier New"/>
                <a:cs typeface="Courier New"/>
              </a:rPr>
              <a:t> </a:t>
            </a:r>
            <a:r>
              <a:rPr dirty="0" sz="1800" spc="45">
                <a:solidFill>
                  <a:srgbClr val="585D60"/>
                </a:solidFill>
                <a:latin typeface="Arial"/>
                <a:cs typeface="Arial"/>
              </a:rPr>
              <a:t>to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5">
                <a:solidFill>
                  <a:srgbClr val="585D60"/>
                </a:solidFill>
                <a:latin typeface="Arial"/>
                <a:cs typeface="Arial"/>
              </a:rPr>
              <a:t>determine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the  </a:t>
            </a:r>
            <a:r>
              <a:rPr dirty="0" sz="1800" spc="5">
                <a:solidFill>
                  <a:srgbClr val="585D60"/>
                </a:solidFill>
                <a:latin typeface="Arial"/>
                <a:cs typeface="Arial"/>
              </a:rPr>
              <a:t>number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75">
                <a:solidFill>
                  <a:srgbClr val="585D60"/>
                </a:solidFill>
                <a:latin typeface="Arial"/>
                <a:cs typeface="Arial"/>
              </a:rPr>
              <a:t>of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5">
                <a:solidFill>
                  <a:srgbClr val="585D60"/>
                </a:solidFill>
                <a:latin typeface="Arial"/>
                <a:cs typeface="Arial"/>
              </a:rPr>
              <a:t>differences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10">
                <a:solidFill>
                  <a:srgbClr val="585D60"/>
                </a:solidFill>
                <a:latin typeface="Arial"/>
                <a:cs typeface="Arial"/>
              </a:rPr>
              <a:t>required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45">
                <a:solidFill>
                  <a:srgbClr val="585D60"/>
                </a:solidFill>
                <a:latin typeface="Arial"/>
                <a:cs typeface="Arial"/>
              </a:rPr>
              <a:t>to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585D60"/>
                </a:solidFill>
                <a:latin typeface="Arial"/>
                <a:cs typeface="Arial"/>
              </a:rPr>
              <a:t>make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25">
                <a:solidFill>
                  <a:srgbClr val="585D60"/>
                </a:solidFill>
                <a:latin typeface="Arial"/>
                <a:cs typeface="Arial"/>
              </a:rPr>
              <a:t>a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35">
                <a:solidFill>
                  <a:srgbClr val="585D60"/>
                </a:solidFill>
                <a:latin typeface="Arial"/>
                <a:cs typeface="Arial"/>
              </a:rPr>
              <a:t>time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585D60"/>
                </a:solidFill>
                <a:latin typeface="Arial"/>
                <a:cs typeface="Arial"/>
              </a:rPr>
              <a:t>series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5">
                <a:solidFill>
                  <a:srgbClr val="585D60"/>
                </a:solidFill>
                <a:latin typeface="Arial"/>
                <a:cs typeface="Arial"/>
              </a:rPr>
              <a:t>stationary.</a:t>
            </a:r>
            <a:endParaRPr sz="1800">
              <a:latin typeface="Arial"/>
              <a:cs typeface="Arial"/>
            </a:endParaRPr>
          </a:p>
          <a:p>
            <a:pPr marL="146050" marR="161290" indent="-133985">
              <a:lnSpc>
                <a:spcPct val="114599"/>
              </a:lnSpc>
              <a:spcBef>
                <a:spcPts val="969"/>
              </a:spcBef>
              <a:buClr>
                <a:srgbClr val="C2132D"/>
              </a:buClr>
              <a:buFont typeface="Trebuchet MS"/>
              <a:buChar char="•"/>
              <a:tabLst>
                <a:tab pos="146685" algn="l"/>
              </a:tabLst>
            </a:pPr>
            <a:r>
              <a:rPr dirty="0" sz="1800" spc="5">
                <a:solidFill>
                  <a:srgbClr val="585D60"/>
                </a:solidFill>
                <a:latin typeface="Arial"/>
                <a:cs typeface="Arial"/>
              </a:rPr>
              <a:t>This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35">
                <a:solidFill>
                  <a:srgbClr val="585D60"/>
                </a:solidFill>
                <a:latin typeface="Arial"/>
                <a:cs typeface="Arial"/>
              </a:rPr>
              <a:t>function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585D60"/>
                </a:solidFill>
                <a:latin typeface="Arial"/>
                <a:cs typeface="Arial"/>
              </a:rPr>
              <a:t>uses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the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25" b="1">
                <a:solidFill>
                  <a:srgbClr val="C2132D"/>
                </a:solidFill>
                <a:latin typeface="Trebuchet MS"/>
                <a:cs typeface="Trebuchet MS"/>
              </a:rPr>
              <a:t>KPSS</a:t>
            </a:r>
            <a:r>
              <a:rPr dirty="0" sz="1800" spc="-8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35" b="1">
                <a:solidFill>
                  <a:srgbClr val="C2132D"/>
                </a:solidFill>
                <a:latin typeface="Trebuchet MS"/>
                <a:cs typeface="Trebuchet MS"/>
              </a:rPr>
              <a:t>test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45">
                <a:solidFill>
                  <a:srgbClr val="585D60"/>
                </a:solidFill>
                <a:latin typeface="Arial"/>
                <a:cs typeface="Arial"/>
              </a:rPr>
              <a:t>to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5">
                <a:solidFill>
                  <a:srgbClr val="585D60"/>
                </a:solidFill>
                <a:latin typeface="Arial"/>
                <a:cs typeface="Arial"/>
              </a:rPr>
              <a:t>determine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the</a:t>
            </a:r>
            <a:r>
              <a:rPr dirty="0" sz="1800" spc="-4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5">
                <a:solidFill>
                  <a:srgbClr val="585D60"/>
                </a:solidFill>
                <a:latin typeface="Arial"/>
                <a:cs typeface="Arial"/>
              </a:rPr>
              <a:t>number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75">
                <a:solidFill>
                  <a:srgbClr val="585D60"/>
                </a:solidFill>
                <a:latin typeface="Arial"/>
                <a:cs typeface="Arial"/>
              </a:rPr>
              <a:t>of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5">
                <a:solidFill>
                  <a:srgbClr val="585D60"/>
                </a:solidFill>
                <a:latin typeface="Arial"/>
                <a:cs typeface="Arial"/>
              </a:rPr>
              <a:t>differences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10">
                <a:solidFill>
                  <a:srgbClr val="585D60"/>
                </a:solidFill>
                <a:latin typeface="Arial"/>
                <a:cs typeface="Arial"/>
              </a:rPr>
              <a:t>required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45">
                <a:solidFill>
                  <a:srgbClr val="585D60"/>
                </a:solidFill>
                <a:latin typeface="Arial"/>
                <a:cs typeface="Arial"/>
              </a:rPr>
              <a:t>to</a:t>
            </a:r>
            <a:r>
              <a:rPr dirty="0" sz="1800" spc="-4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585D60"/>
                </a:solidFill>
                <a:latin typeface="Arial"/>
                <a:cs typeface="Arial"/>
              </a:rPr>
              <a:t>make 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the </a:t>
            </a:r>
            <a:r>
              <a:rPr dirty="0" sz="1800" spc="35">
                <a:solidFill>
                  <a:srgbClr val="585D60"/>
                </a:solidFill>
                <a:latin typeface="Arial"/>
                <a:cs typeface="Arial"/>
              </a:rPr>
              <a:t>time </a:t>
            </a:r>
            <a:r>
              <a:rPr dirty="0" sz="1800">
                <a:solidFill>
                  <a:srgbClr val="585D60"/>
                </a:solidFill>
                <a:latin typeface="Arial"/>
                <a:cs typeface="Arial"/>
              </a:rPr>
              <a:t>series</a:t>
            </a:r>
            <a:r>
              <a:rPr dirty="0" sz="1800" spc="-21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5">
                <a:solidFill>
                  <a:srgbClr val="585D60"/>
                </a:solidFill>
                <a:latin typeface="Arial"/>
                <a:cs typeface="Arial"/>
              </a:rPr>
              <a:t>stationary.</a:t>
            </a:r>
            <a:endParaRPr sz="1800">
              <a:latin typeface="Arial"/>
              <a:cs typeface="Arial"/>
            </a:endParaRPr>
          </a:p>
          <a:p>
            <a:pPr marL="146050" marR="5080" indent="-133985">
              <a:lnSpc>
                <a:spcPct val="117200"/>
              </a:lnSpc>
              <a:spcBef>
                <a:spcPts val="919"/>
              </a:spcBef>
              <a:buClr>
                <a:srgbClr val="C2132D"/>
              </a:buClr>
              <a:buFont typeface="Trebuchet MS"/>
              <a:buChar char="•"/>
              <a:tabLst>
                <a:tab pos="146685" algn="l"/>
              </a:tabLst>
            </a:pPr>
            <a:r>
              <a:rPr dirty="0" sz="1800" spc="-10">
                <a:solidFill>
                  <a:srgbClr val="585D60"/>
                </a:solidFill>
                <a:latin typeface="Arial"/>
                <a:cs typeface="Arial"/>
              </a:rPr>
              <a:t>In </a:t>
            </a:r>
            <a:r>
              <a:rPr dirty="0" sz="1800" spc="-5">
                <a:solidFill>
                  <a:srgbClr val="83D5D3"/>
                </a:solidFill>
                <a:latin typeface="Trebuchet MS"/>
                <a:cs typeface="Trebuchet MS"/>
                <a:hlinkClick r:id="rId2"/>
              </a:rPr>
              <a:t>CoreForecast</a:t>
            </a:r>
            <a:r>
              <a:rPr dirty="0" sz="1800" spc="-5">
                <a:solidFill>
                  <a:srgbClr val="585D60"/>
                </a:solidFill>
                <a:latin typeface="Arial"/>
                <a:cs typeface="Arial"/>
              </a:rPr>
              <a:t>, </a:t>
            </a:r>
            <a:r>
              <a:rPr dirty="0" sz="1800">
                <a:solidFill>
                  <a:srgbClr val="585D60"/>
                </a:solidFill>
                <a:latin typeface="Arial"/>
                <a:cs typeface="Arial"/>
              </a:rPr>
              <a:t>we can </a:t>
            </a:r>
            <a:r>
              <a:rPr dirty="0" sz="1800" spc="-10">
                <a:solidFill>
                  <a:srgbClr val="585D60"/>
                </a:solidFill>
                <a:latin typeface="Arial"/>
                <a:cs typeface="Arial"/>
              </a:rPr>
              <a:t>use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the </a:t>
            </a:r>
            <a:r>
              <a:rPr dirty="0" sz="1700" spc="5">
                <a:solidFill>
                  <a:srgbClr val="C2132D"/>
                </a:solidFill>
                <a:latin typeface="Courier New"/>
                <a:cs typeface="Courier New"/>
              </a:rPr>
              <a:t>num_diffs(x: ndarray, max_d: int = 1) -&gt; int </a:t>
            </a:r>
            <a:r>
              <a:rPr dirty="0" sz="1700" spc="5">
                <a:solidFill>
                  <a:srgbClr val="585D60"/>
                </a:solidFill>
                <a:latin typeface="Courier New"/>
                <a:cs typeface="Courier New"/>
              </a:rPr>
              <a:t> </a:t>
            </a:r>
            <a:r>
              <a:rPr dirty="0" sz="1800" spc="35">
                <a:solidFill>
                  <a:srgbClr val="585D60"/>
                </a:solidFill>
                <a:latin typeface="Arial"/>
                <a:cs typeface="Arial"/>
              </a:rPr>
              <a:t>function </a:t>
            </a:r>
            <a:r>
              <a:rPr dirty="0" sz="1800" spc="45">
                <a:solidFill>
                  <a:srgbClr val="585D60"/>
                </a:solidFill>
                <a:latin typeface="Arial"/>
                <a:cs typeface="Arial"/>
              </a:rPr>
              <a:t>to </a:t>
            </a:r>
            <a:r>
              <a:rPr dirty="0" sz="1800" spc="5">
                <a:solidFill>
                  <a:srgbClr val="585D60"/>
                </a:solidFill>
                <a:latin typeface="Arial"/>
                <a:cs typeface="Arial"/>
              </a:rPr>
              <a:t>determine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the </a:t>
            </a:r>
            <a:r>
              <a:rPr dirty="0" sz="1800" spc="5">
                <a:solidFill>
                  <a:srgbClr val="585D60"/>
                </a:solidFill>
                <a:latin typeface="Arial"/>
                <a:cs typeface="Arial"/>
              </a:rPr>
              <a:t>number </a:t>
            </a:r>
            <a:r>
              <a:rPr dirty="0" sz="1800" spc="75">
                <a:solidFill>
                  <a:srgbClr val="585D60"/>
                </a:solidFill>
                <a:latin typeface="Arial"/>
                <a:cs typeface="Arial"/>
              </a:rPr>
              <a:t>of </a:t>
            </a:r>
            <a:r>
              <a:rPr dirty="0" sz="1800" spc="15">
                <a:solidFill>
                  <a:srgbClr val="585D60"/>
                </a:solidFill>
                <a:latin typeface="Arial"/>
                <a:cs typeface="Arial"/>
              </a:rPr>
              <a:t>differences </a:t>
            </a:r>
            <a:r>
              <a:rPr dirty="0" sz="1800" spc="-10">
                <a:solidFill>
                  <a:srgbClr val="585D60"/>
                </a:solidFill>
                <a:latin typeface="Arial"/>
                <a:cs typeface="Arial"/>
              </a:rPr>
              <a:t>required </a:t>
            </a:r>
            <a:r>
              <a:rPr dirty="0" sz="1800" spc="45">
                <a:solidFill>
                  <a:srgbClr val="585D60"/>
                </a:solidFill>
                <a:latin typeface="Arial"/>
                <a:cs typeface="Arial"/>
              </a:rPr>
              <a:t>to </a:t>
            </a:r>
            <a:r>
              <a:rPr dirty="0" sz="1800">
                <a:solidFill>
                  <a:srgbClr val="585D60"/>
                </a:solidFill>
                <a:latin typeface="Arial"/>
                <a:cs typeface="Arial"/>
              </a:rPr>
              <a:t>make </a:t>
            </a:r>
            <a:r>
              <a:rPr dirty="0" sz="1800" spc="-25">
                <a:solidFill>
                  <a:srgbClr val="585D60"/>
                </a:solidFill>
                <a:latin typeface="Arial"/>
                <a:cs typeface="Arial"/>
              </a:rPr>
              <a:t>a </a:t>
            </a:r>
            <a:r>
              <a:rPr dirty="0" sz="1800" spc="35">
                <a:solidFill>
                  <a:srgbClr val="585D60"/>
                </a:solidFill>
                <a:latin typeface="Arial"/>
                <a:cs typeface="Arial"/>
              </a:rPr>
              <a:t>time </a:t>
            </a:r>
            <a:r>
              <a:rPr dirty="0" sz="1800">
                <a:solidFill>
                  <a:srgbClr val="585D60"/>
                </a:solidFill>
                <a:latin typeface="Arial"/>
                <a:cs typeface="Arial"/>
              </a:rPr>
              <a:t>series </a:t>
            </a:r>
            <a:r>
              <a:rPr dirty="0" sz="1800" spc="5">
                <a:solidFill>
                  <a:srgbClr val="585D60"/>
                </a:solidFill>
                <a:latin typeface="Arial"/>
                <a:cs typeface="Arial"/>
              </a:rPr>
              <a:t>stationary.  </a:t>
            </a:r>
            <a:r>
              <a:rPr dirty="0" sz="1800" spc="-25">
                <a:solidFill>
                  <a:srgbClr val="585D60"/>
                </a:solidFill>
                <a:latin typeface="Arial"/>
                <a:cs typeface="Arial"/>
              </a:rPr>
              <a:t>Similarly, </a:t>
            </a:r>
            <a:r>
              <a:rPr dirty="0" sz="1800">
                <a:solidFill>
                  <a:srgbClr val="585D60"/>
                </a:solidFill>
                <a:latin typeface="Arial"/>
                <a:cs typeface="Arial"/>
              </a:rPr>
              <a:t>we can </a:t>
            </a:r>
            <a:r>
              <a:rPr dirty="0" sz="1800" spc="-10">
                <a:solidFill>
                  <a:srgbClr val="585D60"/>
                </a:solidFill>
                <a:latin typeface="Arial"/>
                <a:cs typeface="Arial"/>
              </a:rPr>
              <a:t>use </a:t>
            </a:r>
            <a:r>
              <a:rPr dirty="0" sz="1700" spc="5">
                <a:solidFill>
                  <a:srgbClr val="C2132D"/>
                </a:solidFill>
                <a:latin typeface="Courier New"/>
                <a:cs typeface="Courier New"/>
              </a:rPr>
              <a:t>num_seas_diffs(x: ndarray, season_length: int, max_d:  int</a:t>
            </a:r>
            <a:r>
              <a:rPr dirty="0" sz="1700" spc="10">
                <a:solidFill>
                  <a:srgbClr val="C2132D"/>
                </a:solidFill>
                <a:latin typeface="Courier New"/>
                <a:cs typeface="Courier New"/>
              </a:rPr>
              <a:t> </a:t>
            </a:r>
            <a:r>
              <a:rPr dirty="0" sz="1700" spc="5">
                <a:solidFill>
                  <a:srgbClr val="C2132D"/>
                </a:solidFill>
                <a:latin typeface="Courier New"/>
                <a:cs typeface="Courier New"/>
              </a:rPr>
              <a:t>=</a:t>
            </a:r>
            <a:r>
              <a:rPr dirty="0" sz="1700" spc="15">
                <a:solidFill>
                  <a:srgbClr val="C2132D"/>
                </a:solidFill>
                <a:latin typeface="Courier New"/>
                <a:cs typeface="Courier New"/>
              </a:rPr>
              <a:t> </a:t>
            </a:r>
            <a:r>
              <a:rPr dirty="0" sz="1700" spc="5">
                <a:solidFill>
                  <a:srgbClr val="C2132D"/>
                </a:solidFill>
                <a:latin typeface="Courier New"/>
                <a:cs typeface="Courier New"/>
              </a:rPr>
              <a:t>1)</a:t>
            </a:r>
            <a:r>
              <a:rPr dirty="0" sz="1700" spc="10">
                <a:solidFill>
                  <a:srgbClr val="C2132D"/>
                </a:solidFill>
                <a:latin typeface="Courier New"/>
                <a:cs typeface="Courier New"/>
              </a:rPr>
              <a:t> </a:t>
            </a:r>
            <a:r>
              <a:rPr dirty="0" sz="1700" spc="5">
                <a:solidFill>
                  <a:srgbClr val="C2132D"/>
                </a:solidFill>
                <a:latin typeface="Lucida Console"/>
                <a:cs typeface="Lucida Console"/>
              </a:rPr>
              <a:t>→</a:t>
            </a:r>
            <a:r>
              <a:rPr dirty="0" sz="1700" spc="10">
                <a:solidFill>
                  <a:srgbClr val="C2132D"/>
                </a:solidFill>
                <a:latin typeface="Lucida Console"/>
                <a:cs typeface="Lucida Console"/>
              </a:rPr>
              <a:t> </a:t>
            </a:r>
            <a:r>
              <a:rPr dirty="0" sz="1700" spc="5">
                <a:solidFill>
                  <a:srgbClr val="C2132D"/>
                </a:solidFill>
                <a:latin typeface="Courier New"/>
                <a:cs typeface="Courier New"/>
              </a:rPr>
              <a:t>int</a:t>
            </a:r>
            <a:r>
              <a:rPr dirty="0" sz="1700" spc="-570">
                <a:solidFill>
                  <a:srgbClr val="C2132D"/>
                </a:solidFill>
                <a:latin typeface="Courier New"/>
                <a:cs typeface="Courier New"/>
              </a:rPr>
              <a:t> </a:t>
            </a:r>
            <a:r>
              <a:rPr dirty="0" sz="1800" spc="45">
                <a:solidFill>
                  <a:srgbClr val="585D60"/>
                </a:solidFill>
                <a:latin typeface="Arial"/>
                <a:cs typeface="Arial"/>
              </a:rPr>
              <a:t>to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5">
                <a:solidFill>
                  <a:srgbClr val="585D60"/>
                </a:solidFill>
                <a:latin typeface="Arial"/>
                <a:cs typeface="Arial"/>
              </a:rPr>
              <a:t>determine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the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5">
                <a:solidFill>
                  <a:srgbClr val="585D60"/>
                </a:solidFill>
                <a:latin typeface="Arial"/>
                <a:cs typeface="Arial"/>
              </a:rPr>
              <a:t>number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75">
                <a:solidFill>
                  <a:srgbClr val="585D60"/>
                </a:solidFill>
                <a:latin typeface="Arial"/>
                <a:cs typeface="Arial"/>
              </a:rPr>
              <a:t>of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585D60"/>
                </a:solidFill>
                <a:latin typeface="Arial"/>
                <a:cs typeface="Arial"/>
              </a:rPr>
              <a:t>seasonal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5">
                <a:solidFill>
                  <a:srgbClr val="585D60"/>
                </a:solidFill>
                <a:latin typeface="Arial"/>
                <a:cs typeface="Arial"/>
              </a:rPr>
              <a:t>differences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10">
                <a:solidFill>
                  <a:srgbClr val="585D60"/>
                </a:solidFill>
                <a:latin typeface="Arial"/>
                <a:cs typeface="Arial"/>
              </a:rPr>
              <a:t>required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45">
                <a:solidFill>
                  <a:srgbClr val="585D60"/>
                </a:solidFill>
                <a:latin typeface="Arial"/>
                <a:cs typeface="Arial"/>
              </a:rPr>
              <a:t>to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585D60"/>
                </a:solidFill>
                <a:latin typeface="Arial"/>
                <a:cs typeface="Arial"/>
              </a:rPr>
              <a:t>make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25">
                <a:solidFill>
                  <a:srgbClr val="585D60"/>
                </a:solidFill>
                <a:latin typeface="Arial"/>
                <a:cs typeface="Arial"/>
              </a:rPr>
              <a:t>a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35">
                <a:solidFill>
                  <a:srgbClr val="585D60"/>
                </a:solidFill>
                <a:latin typeface="Arial"/>
                <a:cs typeface="Arial"/>
              </a:rPr>
              <a:t>time  </a:t>
            </a:r>
            <a:r>
              <a:rPr dirty="0" sz="1800">
                <a:solidFill>
                  <a:srgbClr val="585D60"/>
                </a:solidFill>
                <a:latin typeface="Arial"/>
                <a:cs typeface="Arial"/>
              </a:rPr>
              <a:t>series</a:t>
            </a:r>
            <a:r>
              <a:rPr dirty="0" sz="1800" spc="-6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5">
                <a:solidFill>
                  <a:srgbClr val="585D60"/>
                </a:solidFill>
                <a:latin typeface="Arial"/>
                <a:cs typeface="Arial"/>
              </a:rPr>
              <a:t>stationary.</a:t>
            </a:r>
            <a:endParaRPr sz="1800">
              <a:latin typeface="Arial"/>
              <a:cs typeface="Arial"/>
            </a:endParaRPr>
          </a:p>
          <a:p>
            <a:pPr marL="146050" indent="-133985">
              <a:lnSpc>
                <a:spcPct val="100000"/>
              </a:lnSpc>
              <a:spcBef>
                <a:spcPts val="1290"/>
              </a:spcBef>
              <a:buFont typeface="Trebuchet MS"/>
              <a:buChar char="•"/>
              <a:tabLst>
                <a:tab pos="146685" algn="l"/>
              </a:tabLst>
            </a:pPr>
            <a:r>
              <a:rPr dirty="0" sz="1800" spc="-60" b="1">
                <a:solidFill>
                  <a:srgbClr val="C2132D"/>
                </a:solidFill>
                <a:latin typeface="Trebuchet MS"/>
                <a:cs typeface="Trebuchet MS"/>
              </a:rPr>
              <a:t>Reference: </a:t>
            </a:r>
            <a:r>
              <a:rPr dirty="0" sz="1800" spc="10">
                <a:solidFill>
                  <a:srgbClr val="83D5D3"/>
                </a:solidFill>
                <a:latin typeface="Trebuchet MS"/>
                <a:cs typeface="Trebuchet MS"/>
                <a:hlinkClick r:id="rId2"/>
              </a:rPr>
              <a:t>CoreForecast</a:t>
            </a:r>
            <a:r>
              <a:rPr dirty="0" sz="1800" spc="-145">
                <a:solidFill>
                  <a:srgbClr val="83D5D3"/>
                </a:solidFill>
                <a:latin typeface="Trebuchet MS"/>
                <a:cs typeface="Trebuchet MS"/>
                <a:hlinkClick r:id="rId2"/>
              </a:rPr>
              <a:t> </a:t>
            </a:r>
            <a:r>
              <a:rPr dirty="0" sz="1800">
                <a:solidFill>
                  <a:srgbClr val="83D5D3"/>
                </a:solidFill>
                <a:latin typeface="Trebuchet MS"/>
                <a:cs typeface="Trebuchet MS"/>
                <a:hlinkClick r:id="rId2"/>
              </a:rPr>
              <a:t>Documentation</a:t>
            </a:r>
            <a:r>
              <a:rPr dirty="0" sz="1800">
                <a:solidFill>
                  <a:srgbClr val="585D60"/>
                </a:solidFill>
                <a:latin typeface="Arial"/>
                <a:cs typeface="Arial"/>
              </a:rPr>
              <a:t>.</a:t>
            </a:r>
            <a:endParaRPr sz="1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1270" rIns="0" bIns="0" rtlCol="0" vert="horz">
            <a:spAutoFit/>
          </a:bodyPr>
          <a:lstStyle/>
          <a:p>
            <a:pPr marL="38100">
              <a:lnSpc>
                <a:spcPct val="100000"/>
              </a:lnSpc>
              <a:spcBef>
                <a:spcPts val="10"/>
              </a:spcBef>
            </a:pPr>
            <a:fld id="{81D60167-4931-47E6-BA6A-407CBD079E47}" type="slidenum">
              <a:rPr dirty="0" spc="5"/>
              <a:t>27</a:t>
            </a:fld>
            <a:r>
              <a:rPr dirty="0" spc="5"/>
              <a:t> </a:t>
            </a:r>
            <a:r>
              <a:rPr dirty="0" spc="160"/>
              <a:t>/</a:t>
            </a:r>
            <a:r>
              <a:rPr dirty="0" spc="-165"/>
              <a:t> </a:t>
            </a:r>
            <a:r>
              <a:rPr dirty="0" spc="5"/>
              <a:t>33</a:t>
            </a:r>
          </a:p>
        </p:txBody>
      </p:sp>
      <p:sp>
        <p:nvSpPr>
          <p:cNvPr id="2" name="object 2"/>
          <p:cNvSpPr txBox="1"/>
          <p:nvPr/>
        </p:nvSpPr>
        <p:spPr>
          <a:xfrm>
            <a:off x="901700" y="530225"/>
            <a:ext cx="9401810" cy="53975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3350" spc="-235">
                <a:solidFill>
                  <a:srgbClr val="C2132D"/>
                </a:solidFill>
                <a:latin typeface="Trebuchet MS"/>
                <a:cs typeface="Trebuchet MS"/>
              </a:rPr>
              <a:t>Demo: </a:t>
            </a:r>
            <a:r>
              <a:rPr dirty="0" sz="3350" spc="-204">
                <a:solidFill>
                  <a:srgbClr val="C2132D"/>
                </a:solidFill>
                <a:latin typeface="Trebuchet MS"/>
                <a:cs typeface="Trebuchet MS"/>
              </a:rPr>
              <a:t>Determining </a:t>
            </a:r>
            <a:r>
              <a:rPr dirty="0" sz="3350" spc="-260">
                <a:solidFill>
                  <a:srgbClr val="C2132D"/>
                </a:solidFill>
                <a:latin typeface="Trebuchet MS"/>
                <a:cs typeface="Trebuchet MS"/>
              </a:rPr>
              <a:t>the </a:t>
            </a:r>
            <a:r>
              <a:rPr dirty="0" sz="3350" spc="-204">
                <a:solidFill>
                  <a:srgbClr val="C2132D"/>
                </a:solidFill>
                <a:latin typeface="Trebuchet MS"/>
                <a:cs typeface="Trebuchet MS"/>
              </a:rPr>
              <a:t>Number </a:t>
            </a:r>
            <a:r>
              <a:rPr dirty="0" sz="3350" spc="-140">
                <a:solidFill>
                  <a:srgbClr val="C2132D"/>
                </a:solidFill>
                <a:latin typeface="Trebuchet MS"/>
                <a:cs typeface="Trebuchet MS"/>
              </a:rPr>
              <a:t>of </a:t>
            </a:r>
            <a:r>
              <a:rPr dirty="0" sz="3350" spc="-170">
                <a:solidFill>
                  <a:srgbClr val="C2132D"/>
                </a:solidFill>
                <a:latin typeface="Trebuchet MS"/>
                <a:cs typeface="Trebuchet MS"/>
              </a:rPr>
              <a:t>Differences</a:t>
            </a:r>
            <a:r>
              <a:rPr dirty="0" sz="3350" spc="-355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3350" spc="-215">
                <a:solidFill>
                  <a:srgbClr val="C2132D"/>
                </a:solidFill>
                <a:latin typeface="Trebuchet MS"/>
                <a:cs typeface="Trebuchet MS"/>
              </a:rPr>
              <a:t>Required</a:t>
            </a:r>
            <a:endParaRPr sz="3350">
              <a:latin typeface="Trebuchet MS"/>
              <a:cs typeface="Trebuchet MS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901700" y="1376044"/>
            <a:ext cx="8959850" cy="67310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 marR="5080">
              <a:lnSpc>
                <a:spcPct val="118100"/>
              </a:lnSpc>
              <a:spcBef>
                <a:spcPts val="100"/>
              </a:spcBef>
            </a:pPr>
            <a:r>
              <a:rPr dirty="0" sz="1800">
                <a:solidFill>
                  <a:srgbClr val="585D60"/>
                </a:solidFill>
                <a:latin typeface="Arial"/>
                <a:cs typeface="Arial"/>
              </a:rPr>
              <a:t>Let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us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5">
                <a:solidFill>
                  <a:srgbClr val="585D60"/>
                </a:solidFill>
                <a:latin typeface="Arial"/>
                <a:cs typeface="Arial"/>
              </a:rPr>
              <a:t>examine</a:t>
            </a:r>
            <a:r>
              <a:rPr dirty="0" sz="1800" spc="-4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the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35">
                <a:solidFill>
                  <a:srgbClr val="83D5D3"/>
                </a:solidFill>
                <a:latin typeface="Trebuchet MS"/>
                <a:cs typeface="Trebuchet MS"/>
                <a:hlinkClick r:id="rId2"/>
              </a:rPr>
              <a:t>airpassengers</a:t>
            </a:r>
            <a:r>
              <a:rPr dirty="0" sz="1800" spc="-95">
                <a:solidFill>
                  <a:srgbClr val="83D5D3"/>
                </a:solidFill>
                <a:latin typeface="Trebuchet MS"/>
                <a:cs typeface="Trebuchet MS"/>
                <a:hlinkClick r:id="rId2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dataset.</a:t>
            </a:r>
            <a:r>
              <a:rPr dirty="0" sz="1800" spc="-4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Our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goal</a:t>
            </a:r>
            <a:r>
              <a:rPr dirty="0" sz="1800" spc="-4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30">
                <a:solidFill>
                  <a:srgbClr val="585D60"/>
                </a:solidFill>
                <a:latin typeface="Arial"/>
                <a:cs typeface="Arial"/>
              </a:rPr>
              <a:t>is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45">
                <a:solidFill>
                  <a:srgbClr val="585D60"/>
                </a:solidFill>
                <a:latin typeface="Arial"/>
                <a:cs typeface="Arial"/>
              </a:rPr>
              <a:t>to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585D60"/>
                </a:solidFill>
                <a:latin typeface="Arial"/>
                <a:cs typeface="Arial"/>
              </a:rPr>
              <a:t>make</a:t>
            </a:r>
            <a:r>
              <a:rPr dirty="0" sz="1800" spc="-4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35">
                <a:solidFill>
                  <a:srgbClr val="585D60"/>
                </a:solidFill>
                <a:latin typeface="Arial"/>
                <a:cs typeface="Arial"/>
              </a:rPr>
              <a:t>this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5">
                <a:solidFill>
                  <a:srgbClr val="585D60"/>
                </a:solidFill>
                <a:latin typeface="Arial"/>
                <a:cs typeface="Arial"/>
              </a:rPr>
              <a:t>dataset</a:t>
            </a:r>
            <a:r>
              <a:rPr dirty="0" sz="1800" spc="-4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5">
                <a:solidFill>
                  <a:srgbClr val="585D60"/>
                </a:solidFill>
                <a:latin typeface="Arial"/>
                <a:cs typeface="Arial"/>
              </a:rPr>
              <a:t>stationary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25">
                <a:solidFill>
                  <a:srgbClr val="585D60"/>
                </a:solidFill>
                <a:latin typeface="Arial"/>
                <a:cs typeface="Arial"/>
              </a:rPr>
              <a:t>by  </a:t>
            </a:r>
            <a:r>
              <a:rPr dirty="0" sz="1800" spc="15">
                <a:solidFill>
                  <a:srgbClr val="585D60"/>
                </a:solidFill>
                <a:latin typeface="Arial"/>
                <a:cs typeface="Arial"/>
              </a:rPr>
              <a:t>making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the </a:t>
            </a:r>
            <a:r>
              <a:rPr dirty="0" sz="1800" spc="5">
                <a:solidFill>
                  <a:srgbClr val="585D60"/>
                </a:solidFill>
                <a:latin typeface="Arial"/>
                <a:cs typeface="Arial"/>
              </a:rPr>
              <a:t>appropriate</a:t>
            </a:r>
            <a:r>
              <a:rPr dirty="0" sz="1800" spc="-19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25">
                <a:solidFill>
                  <a:srgbClr val="585D60"/>
                </a:solidFill>
                <a:latin typeface="Arial"/>
                <a:cs typeface="Arial"/>
              </a:rPr>
              <a:t>transformations.</a:t>
            </a:r>
            <a:endParaRPr sz="1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898136" y="2779776"/>
            <a:ext cx="1746885" cy="1015365"/>
          </a:xfrm>
          <a:prstGeom prst="rect"/>
          <a:solidFill>
            <a:srgbClr val="333333"/>
          </a:solidFill>
        </p:spPr>
        <p:txBody>
          <a:bodyPr wrap="square" lIns="0" tIns="118745" rIns="0" bIns="0" rtlCol="0" vert="horz">
            <a:spAutoFit/>
          </a:bodyPr>
          <a:lstStyle/>
          <a:p>
            <a:pPr marL="226695">
              <a:lnSpc>
                <a:spcPct val="100000"/>
              </a:lnSpc>
              <a:spcBef>
                <a:spcPts val="935"/>
              </a:spcBef>
            </a:pPr>
            <a:r>
              <a:rPr dirty="0" spc="-1220">
                <a:solidFill>
                  <a:srgbClr val="000000"/>
                </a:solidFill>
              </a:rPr>
              <a:t>R</a:t>
            </a:r>
            <a:r>
              <a:rPr dirty="0" spc="-1220"/>
              <a:t>R</a:t>
            </a:r>
            <a:r>
              <a:rPr dirty="0" spc="-1220">
                <a:solidFill>
                  <a:srgbClr val="000000"/>
                </a:solidFill>
              </a:rPr>
              <a:t>e</a:t>
            </a:r>
            <a:r>
              <a:rPr dirty="0" spc="-1220"/>
              <a:t>e</a:t>
            </a:r>
            <a:r>
              <a:rPr dirty="0" spc="-1220">
                <a:solidFill>
                  <a:srgbClr val="000000"/>
                </a:solidFill>
              </a:rPr>
              <a:t>c</a:t>
            </a:r>
            <a:r>
              <a:rPr dirty="0" spc="-1220"/>
              <a:t>c</a:t>
            </a:r>
            <a:r>
              <a:rPr dirty="0" spc="-1220">
                <a:solidFill>
                  <a:srgbClr val="000000"/>
                </a:solidFill>
              </a:rPr>
              <a:t>a</a:t>
            </a:r>
            <a:r>
              <a:rPr dirty="0" spc="-1220"/>
              <a:t>a</a:t>
            </a:r>
            <a:r>
              <a:rPr dirty="0" spc="-1220">
                <a:solidFill>
                  <a:srgbClr val="000000"/>
                </a:solidFill>
              </a:rPr>
              <a:t>p</a:t>
            </a:r>
            <a:r>
              <a:rPr dirty="0" spc="-1220"/>
              <a:t>p</a:t>
            </a:r>
          </a:p>
        </p:txBody>
      </p:sp>
      <p:sp>
        <p:nvSpPr>
          <p:cNvPr id="3" name="object 3"/>
          <p:cNvSpPr/>
          <p:nvPr/>
        </p:nvSpPr>
        <p:spPr>
          <a:xfrm>
            <a:off x="10631423" y="5995415"/>
            <a:ext cx="894080" cy="491490"/>
          </a:xfrm>
          <a:custGeom>
            <a:avLst/>
            <a:gdLst/>
            <a:ahLst/>
            <a:cxnLst/>
            <a:rect l="l" t="t" r="r" b="b"/>
            <a:pathLst>
              <a:path w="894079" h="491489">
                <a:moveTo>
                  <a:pt x="0" y="0"/>
                </a:moveTo>
                <a:lnTo>
                  <a:pt x="893825" y="0"/>
                </a:lnTo>
                <a:lnTo>
                  <a:pt x="893825" y="491109"/>
                </a:lnTo>
                <a:lnTo>
                  <a:pt x="0" y="491109"/>
                </a:lnTo>
                <a:lnTo>
                  <a:pt x="0" y="0"/>
                </a:lnTo>
                <a:close/>
              </a:path>
            </a:pathLst>
          </a:custGeom>
          <a:solidFill>
            <a:srgbClr val="333333">
              <a:alpha val="50000"/>
            </a:srgbClr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/>
          <p:nvPr/>
        </p:nvSpPr>
        <p:spPr>
          <a:xfrm>
            <a:off x="10878987" y="6218137"/>
            <a:ext cx="506730" cy="204470"/>
          </a:xfrm>
          <a:prstGeom prst="rect">
            <a:avLst/>
          </a:prstGeom>
        </p:spPr>
        <p:txBody>
          <a:bodyPr wrap="square" lIns="0" tIns="12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"/>
              </a:spcBef>
            </a:pPr>
            <a:r>
              <a:rPr dirty="0" sz="1200" spc="-295">
                <a:latin typeface="Trebuchet MS"/>
                <a:cs typeface="Trebuchet MS"/>
              </a:rPr>
              <a:t>3</a:t>
            </a:r>
            <a:r>
              <a:rPr dirty="0" sz="1200" spc="-295">
                <a:solidFill>
                  <a:srgbClr val="FFFFFF"/>
                </a:solidFill>
                <a:latin typeface="Trebuchet MS"/>
                <a:cs typeface="Trebuchet MS"/>
              </a:rPr>
              <a:t>3</a:t>
            </a:r>
            <a:r>
              <a:rPr dirty="0" sz="1200" spc="-295">
                <a:latin typeface="Trebuchet MS"/>
                <a:cs typeface="Trebuchet MS"/>
              </a:rPr>
              <a:t>1</a:t>
            </a:r>
            <a:r>
              <a:rPr dirty="0" sz="1200" spc="-295">
                <a:solidFill>
                  <a:srgbClr val="FFFFFF"/>
                </a:solidFill>
                <a:latin typeface="Trebuchet MS"/>
                <a:cs typeface="Trebuchet MS"/>
              </a:rPr>
              <a:t>1 </a:t>
            </a:r>
            <a:r>
              <a:rPr dirty="0" sz="1200" spc="-385">
                <a:latin typeface="Trebuchet MS"/>
                <a:cs typeface="Trebuchet MS"/>
              </a:rPr>
              <a:t>/</a:t>
            </a:r>
            <a:r>
              <a:rPr dirty="0" sz="1200" spc="-385">
                <a:solidFill>
                  <a:srgbClr val="FFFFFF"/>
                </a:solidFill>
                <a:latin typeface="Trebuchet MS"/>
                <a:cs typeface="Trebuchet MS"/>
              </a:rPr>
              <a:t>/</a:t>
            </a:r>
            <a:r>
              <a:rPr dirty="0" sz="1200" spc="-95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dirty="0" sz="1200" spc="-295">
                <a:latin typeface="Trebuchet MS"/>
                <a:cs typeface="Trebuchet MS"/>
              </a:rPr>
              <a:t>3</a:t>
            </a:r>
            <a:r>
              <a:rPr dirty="0" sz="1200" spc="-295">
                <a:solidFill>
                  <a:srgbClr val="FFFFFF"/>
                </a:solidFill>
                <a:latin typeface="Trebuchet MS"/>
                <a:cs typeface="Trebuchet MS"/>
              </a:rPr>
              <a:t>3</a:t>
            </a:r>
            <a:r>
              <a:rPr dirty="0" sz="1200" spc="-295">
                <a:latin typeface="Trebuchet MS"/>
                <a:cs typeface="Trebuchet MS"/>
              </a:rPr>
              <a:t>3</a:t>
            </a:r>
            <a:r>
              <a:rPr dirty="0" sz="1200" spc="-295">
                <a:solidFill>
                  <a:srgbClr val="FFFFFF"/>
                </a:solidFill>
                <a:latin typeface="Trebuchet MS"/>
                <a:cs typeface="Trebuchet MS"/>
              </a:rPr>
              <a:t>3</a:t>
            </a:r>
            <a:endParaRPr sz="1200">
              <a:latin typeface="Trebuchet MS"/>
              <a:cs typeface="Trebuchet MS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1270" rIns="0" bIns="0" rtlCol="0" vert="horz">
            <a:spAutoFit/>
          </a:bodyPr>
          <a:lstStyle/>
          <a:p>
            <a:pPr marL="38100">
              <a:lnSpc>
                <a:spcPct val="100000"/>
              </a:lnSpc>
              <a:spcBef>
                <a:spcPts val="10"/>
              </a:spcBef>
            </a:pPr>
            <a:fld id="{81D60167-4931-47E6-BA6A-407CBD079E47}" type="slidenum">
              <a:rPr dirty="0" spc="5"/>
              <a:t>32</a:t>
            </a:fld>
            <a:r>
              <a:rPr dirty="0" spc="5"/>
              <a:t> </a:t>
            </a:r>
            <a:r>
              <a:rPr dirty="0" spc="160"/>
              <a:t>/</a:t>
            </a:r>
            <a:r>
              <a:rPr dirty="0" spc="-165"/>
              <a:t> </a:t>
            </a:r>
            <a:r>
              <a:rPr dirty="0" spc="5"/>
              <a:t>33</a:t>
            </a:r>
          </a:p>
        </p:txBody>
      </p: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01700" y="530225"/>
            <a:ext cx="4178300" cy="539750"/>
          </a:xfrm>
          <a:prstGeom prst="rect"/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3350" spc="-170">
                <a:solidFill>
                  <a:srgbClr val="C2132D"/>
                </a:solidFill>
              </a:rPr>
              <a:t>Summary </a:t>
            </a:r>
            <a:r>
              <a:rPr dirty="0" sz="3350" spc="-140">
                <a:solidFill>
                  <a:srgbClr val="C2132D"/>
                </a:solidFill>
              </a:rPr>
              <a:t>of </a:t>
            </a:r>
            <a:r>
              <a:rPr dirty="0" sz="3350" spc="-90">
                <a:solidFill>
                  <a:srgbClr val="C2132D"/>
                </a:solidFill>
              </a:rPr>
              <a:t>Main</a:t>
            </a:r>
            <a:r>
              <a:rPr dirty="0" sz="3350" spc="-455">
                <a:solidFill>
                  <a:srgbClr val="C2132D"/>
                </a:solidFill>
              </a:rPr>
              <a:t> </a:t>
            </a:r>
            <a:r>
              <a:rPr dirty="0" sz="3350" spc="-110">
                <a:solidFill>
                  <a:srgbClr val="C2132D"/>
                </a:solidFill>
              </a:rPr>
              <a:t>Points</a:t>
            </a:r>
            <a:endParaRPr sz="3350"/>
          </a:p>
        </p:txBody>
      </p:sp>
      <p:sp>
        <p:nvSpPr>
          <p:cNvPr id="3" name="object 3"/>
          <p:cNvSpPr txBox="1"/>
          <p:nvPr/>
        </p:nvSpPr>
        <p:spPr>
          <a:xfrm>
            <a:off x="901700" y="1425575"/>
            <a:ext cx="9044940" cy="247142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800" spc="-65">
                <a:solidFill>
                  <a:srgbClr val="585D60"/>
                </a:solidFill>
                <a:latin typeface="Arial"/>
                <a:cs typeface="Arial"/>
              </a:rPr>
              <a:t>By </a:t>
            </a:r>
            <a:r>
              <a:rPr dirty="0" sz="1800" spc="-50">
                <a:solidFill>
                  <a:srgbClr val="585D60"/>
                </a:solidFill>
                <a:latin typeface="Arial"/>
                <a:cs typeface="Arial"/>
              </a:rPr>
              <a:t>now, </a:t>
            </a:r>
            <a:r>
              <a:rPr dirty="0" sz="1800" spc="-20">
                <a:solidFill>
                  <a:srgbClr val="585D60"/>
                </a:solidFill>
                <a:latin typeface="Arial"/>
                <a:cs typeface="Arial"/>
              </a:rPr>
              <a:t>you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should </a:t>
            </a:r>
            <a:r>
              <a:rPr dirty="0" sz="1800" spc="-20">
                <a:solidFill>
                  <a:srgbClr val="585D60"/>
                </a:solidFill>
                <a:latin typeface="Arial"/>
                <a:cs typeface="Arial"/>
              </a:rPr>
              <a:t>be </a:t>
            </a:r>
            <a:r>
              <a:rPr dirty="0" sz="1800" spc="-10">
                <a:solidFill>
                  <a:srgbClr val="585D60"/>
                </a:solidFill>
                <a:latin typeface="Arial"/>
                <a:cs typeface="Arial"/>
              </a:rPr>
              <a:t>able </a:t>
            </a:r>
            <a:r>
              <a:rPr dirty="0" sz="1800" spc="45">
                <a:solidFill>
                  <a:srgbClr val="585D60"/>
                </a:solidFill>
                <a:latin typeface="Arial"/>
                <a:cs typeface="Arial"/>
              </a:rPr>
              <a:t>to</a:t>
            </a:r>
            <a:r>
              <a:rPr dirty="0" sz="1800" spc="-36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5">
                <a:solidFill>
                  <a:srgbClr val="585D60"/>
                </a:solidFill>
                <a:latin typeface="Arial"/>
                <a:cs typeface="Arial"/>
              </a:rPr>
              <a:t>do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the </a:t>
            </a:r>
            <a:r>
              <a:rPr dirty="0" sz="1800" spc="25">
                <a:solidFill>
                  <a:srgbClr val="585D60"/>
                </a:solidFill>
                <a:latin typeface="Arial"/>
                <a:cs typeface="Arial"/>
              </a:rPr>
              <a:t>following:</a:t>
            </a:r>
            <a:endParaRPr sz="18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5"/>
              </a:spcBef>
            </a:pPr>
            <a:endParaRPr sz="1900">
              <a:latin typeface="Arial"/>
              <a:cs typeface="Arial"/>
            </a:endParaRPr>
          </a:p>
          <a:p>
            <a:pPr marL="393700" indent="-133985">
              <a:lnSpc>
                <a:spcPct val="100000"/>
              </a:lnSpc>
              <a:buClr>
                <a:srgbClr val="C2132D"/>
              </a:buClr>
              <a:buFont typeface="Trebuchet MS"/>
              <a:buChar char="•"/>
              <a:tabLst>
                <a:tab pos="393700" algn="l"/>
              </a:tabLst>
            </a:pPr>
            <a:r>
              <a:rPr dirty="0" sz="1800" spc="-25">
                <a:solidFill>
                  <a:srgbClr val="585D60"/>
                </a:solidFill>
                <a:latin typeface="Arial"/>
                <a:cs typeface="Arial"/>
              </a:rPr>
              <a:t>Define a </a:t>
            </a:r>
            <a:r>
              <a:rPr dirty="0" sz="1800" spc="-35" b="1">
                <a:solidFill>
                  <a:srgbClr val="C2132D"/>
                </a:solidFill>
                <a:latin typeface="Trebuchet MS"/>
                <a:cs typeface="Trebuchet MS"/>
              </a:rPr>
              <a:t>stationary </a:t>
            </a:r>
            <a:r>
              <a:rPr dirty="0" sz="1800" spc="-55" b="1">
                <a:solidFill>
                  <a:srgbClr val="C2132D"/>
                </a:solidFill>
                <a:latin typeface="Trebuchet MS"/>
                <a:cs typeface="Trebuchet MS"/>
              </a:rPr>
              <a:t>time</a:t>
            </a:r>
            <a:r>
              <a:rPr dirty="0" sz="1800" spc="-22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5" b="1">
                <a:solidFill>
                  <a:srgbClr val="C2132D"/>
                </a:solidFill>
                <a:latin typeface="Trebuchet MS"/>
                <a:cs typeface="Trebuchet MS"/>
              </a:rPr>
              <a:t>series</a:t>
            </a:r>
            <a:r>
              <a:rPr dirty="0" sz="1800" spc="-5">
                <a:solidFill>
                  <a:srgbClr val="585D60"/>
                </a:solidFill>
                <a:latin typeface="Arial"/>
                <a:cs typeface="Arial"/>
              </a:rPr>
              <a:t>.</a:t>
            </a:r>
            <a:endParaRPr sz="1800">
              <a:latin typeface="Arial"/>
              <a:cs typeface="Arial"/>
            </a:endParaRPr>
          </a:p>
          <a:p>
            <a:pPr marL="393700" indent="-133985">
              <a:lnSpc>
                <a:spcPct val="100000"/>
              </a:lnSpc>
              <a:spcBef>
                <a:spcPts val="1290"/>
              </a:spcBef>
              <a:buClr>
                <a:srgbClr val="C2132D"/>
              </a:buClr>
              <a:buFont typeface="Trebuchet MS"/>
              <a:buChar char="•"/>
              <a:tabLst>
                <a:tab pos="393700" algn="l"/>
              </a:tabLst>
            </a:pPr>
            <a:r>
              <a:rPr dirty="0" sz="1800" spc="-10">
                <a:solidFill>
                  <a:srgbClr val="585D60"/>
                </a:solidFill>
                <a:latin typeface="Arial"/>
                <a:cs typeface="Arial"/>
              </a:rPr>
              <a:t>Understand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20">
                <a:solidFill>
                  <a:srgbClr val="585D60"/>
                </a:solidFill>
                <a:latin typeface="Arial"/>
                <a:cs typeface="Arial"/>
              </a:rPr>
              <a:t>how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35">
                <a:solidFill>
                  <a:srgbClr val="585D60"/>
                </a:solidFill>
                <a:latin typeface="Arial"/>
                <a:cs typeface="Arial"/>
              </a:rPr>
              <a:t>plotting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techniques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585D60"/>
                </a:solidFill>
                <a:latin typeface="Arial"/>
                <a:cs typeface="Arial"/>
              </a:rPr>
              <a:t>can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5">
                <a:solidFill>
                  <a:srgbClr val="585D60"/>
                </a:solidFill>
                <a:latin typeface="Arial"/>
                <a:cs typeface="Arial"/>
              </a:rPr>
              <a:t>help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25">
                <a:solidFill>
                  <a:srgbClr val="585D60"/>
                </a:solidFill>
                <a:latin typeface="Arial"/>
                <a:cs typeface="Arial"/>
              </a:rPr>
              <a:t>identify</a:t>
            </a:r>
            <a:r>
              <a:rPr dirty="0" sz="1800" spc="-6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5">
                <a:solidFill>
                  <a:srgbClr val="585D60"/>
                </a:solidFill>
                <a:latin typeface="Arial"/>
                <a:cs typeface="Arial"/>
              </a:rPr>
              <a:t>non-stationarity.</a:t>
            </a:r>
            <a:endParaRPr sz="1800">
              <a:latin typeface="Arial"/>
              <a:cs typeface="Arial"/>
            </a:endParaRPr>
          </a:p>
          <a:p>
            <a:pPr marL="393700" indent="-133985">
              <a:lnSpc>
                <a:spcPct val="100000"/>
              </a:lnSpc>
              <a:spcBef>
                <a:spcPts val="1215"/>
              </a:spcBef>
              <a:buClr>
                <a:srgbClr val="C2132D"/>
              </a:buClr>
              <a:buFont typeface="Trebuchet MS"/>
              <a:buChar char="•"/>
              <a:tabLst>
                <a:tab pos="393700" algn="l"/>
              </a:tabLst>
            </a:pPr>
            <a:r>
              <a:rPr dirty="0" sz="1800" spc="-10">
                <a:solidFill>
                  <a:srgbClr val="585D60"/>
                </a:solidFill>
                <a:latin typeface="Arial"/>
                <a:cs typeface="Arial"/>
              </a:rPr>
              <a:t>Understand</a:t>
            </a:r>
            <a:r>
              <a:rPr dirty="0" sz="1800" spc="-4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20">
                <a:solidFill>
                  <a:srgbClr val="585D60"/>
                </a:solidFill>
                <a:latin typeface="Arial"/>
                <a:cs typeface="Arial"/>
              </a:rPr>
              <a:t>how</a:t>
            </a:r>
            <a:r>
              <a:rPr dirty="0" sz="1800" spc="-4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585D60"/>
                </a:solidFill>
                <a:latin typeface="Arial"/>
                <a:cs typeface="Arial"/>
              </a:rPr>
              <a:t>we</a:t>
            </a:r>
            <a:r>
              <a:rPr dirty="0" sz="1800" spc="-4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585D60"/>
                </a:solidFill>
                <a:latin typeface="Arial"/>
                <a:cs typeface="Arial"/>
              </a:rPr>
              <a:t>can</a:t>
            </a:r>
            <a:r>
              <a:rPr dirty="0" sz="1800" spc="-4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35" b="1">
                <a:solidFill>
                  <a:srgbClr val="C2132D"/>
                </a:solidFill>
                <a:latin typeface="Trebuchet MS"/>
                <a:cs typeface="Trebuchet MS"/>
              </a:rPr>
              <a:t>stabilize</a:t>
            </a:r>
            <a:r>
              <a:rPr dirty="0" sz="1800" spc="-8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b="1">
                <a:solidFill>
                  <a:srgbClr val="C2132D"/>
                </a:solidFill>
                <a:latin typeface="Trebuchet MS"/>
                <a:cs typeface="Trebuchet MS"/>
              </a:rPr>
              <a:t>a</a:t>
            </a:r>
            <a:r>
              <a:rPr dirty="0" sz="1800" spc="-8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30" b="1">
                <a:solidFill>
                  <a:srgbClr val="C2132D"/>
                </a:solidFill>
                <a:latin typeface="Trebuchet MS"/>
                <a:cs typeface="Trebuchet MS"/>
              </a:rPr>
              <a:t>non-stationary</a:t>
            </a:r>
            <a:r>
              <a:rPr dirty="0" sz="1800" spc="-8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55" b="1">
                <a:solidFill>
                  <a:srgbClr val="C2132D"/>
                </a:solidFill>
                <a:latin typeface="Trebuchet MS"/>
                <a:cs typeface="Trebuchet MS"/>
              </a:rPr>
              <a:t>time</a:t>
            </a:r>
            <a:r>
              <a:rPr dirty="0" sz="1800" spc="-8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b="1">
                <a:solidFill>
                  <a:srgbClr val="C2132D"/>
                </a:solidFill>
                <a:latin typeface="Trebuchet MS"/>
                <a:cs typeface="Trebuchet MS"/>
              </a:rPr>
              <a:t>series</a:t>
            </a:r>
            <a:r>
              <a:rPr dirty="0" sz="1800" spc="-8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70" b="1">
                <a:solidFill>
                  <a:srgbClr val="C2132D"/>
                </a:solidFill>
                <a:latin typeface="Trebuchet MS"/>
                <a:cs typeface="Trebuchet MS"/>
              </a:rPr>
              <a:t>to</a:t>
            </a:r>
            <a:r>
              <a:rPr dirty="0" sz="1800" spc="-8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45" b="1">
                <a:solidFill>
                  <a:srgbClr val="C2132D"/>
                </a:solidFill>
                <a:latin typeface="Trebuchet MS"/>
                <a:cs typeface="Trebuchet MS"/>
              </a:rPr>
              <a:t>achieve</a:t>
            </a:r>
            <a:r>
              <a:rPr dirty="0" sz="1800" spc="-8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45" b="1">
                <a:solidFill>
                  <a:srgbClr val="C2132D"/>
                </a:solidFill>
                <a:latin typeface="Trebuchet MS"/>
                <a:cs typeface="Trebuchet MS"/>
              </a:rPr>
              <a:t>stationarity</a:t>
            </a:r>
            <a:endParaRPr sz="1800">
              <a:latin typeface="Trebuchet MS"/>
              <a:cs typeface="Trebuchet MS"/>
            </a:endParaRPr>
          </a:p>
          <a:p>
            <a:pPr marL="393065">
              <a:lnSpc>
                <a:spcPct val="100000"/>
              </a:lnSpc>
              <a:spcBef>
                <a:spcPts val="390"/>
              </a:spcBef>
            </a:pPr>
            <a:r>
              <a:rPr dirty="0" sz="1800" spc="20">
                <a:solidFill>
                  <a:srgbClr val="585D60"/>
                </a:solidFill>
                <a:latin typeface="Arial"/>
                <a:cs typeface="Arial"/>
              </a:rPr>
              <a:t>(differencing</a:t>
            </a:r>
            <a:r>
              <a:rPr dirty="0" sz="1800" spc="-6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45">
                <a:solidFill>
                  <a:srgbClr val="585D60"/>
                </a:solidFill>
                <a:latin typeface="Arial"/>
                <a:cs typeface="Arial"/>
              </a:rPr>
              <a:t>to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5">
                <a:solidFill>
                  <a:srgbClr val="585D60"/>
                </a:solidFill>
                <a:latin typeface="Arial"/>
                <a:cs typeface="Arial"/>
              </a:rPr>
              <a:t>stabilize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the</a:t>
            </a:r>
            <a:r>
              <a:rPr dirty="0" sz="1800" spc="-6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30">
                <a:solidFill>
                  <a:srgbClr val="585D60"/>
                </a:solidFill>
                <a:latin typeface="Arial"/>
                <a:cs typeface="Arial"/>
              </a:rPr>
              <a:t>mean,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5">
                <a:solidFill>
                  <a:srgbClr val="585D60"/>
                </a:solidFill>
                <a:latin typeface="Arial"/>
                <a:cs typeface="Arial"/>
              </a:rPr>
              <a:t>and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20">
                <a:solidFill>
                  <a:srgbClr val="585D60"/>
                </a:solidFill>
                <a:latin typeface="Arial"/>
                <a:cs typeface="Arial"/>
              </a:rPr>
              <a:t>log</a:t>
            </a:r>
            <a:r>
              <a:rPr dirty="0" sz="1800" spc="-6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30">
                <a:solidFill>
                  <a:srgbClr val="585D60"/>
                </a:solidFill>
                <a:latin typeface="Arial"/>
                <a:cs typeface="Arial"/>
              </a:rPr>
              <a:t>transformation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45">
                <a:solidFill>
                  <a:srgbClr val="585D60"/>
                </a:solidFill>
                <a:latin typeface="Arial"/>
                <a:cs typeface="Arial"/>
              </a:rPr>
              <a:t>to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5">
                <a:solidFill>
                  <a:srgbClr val="585D60"/>
                </a:solidFill>
                <a:latin typeface="Arial"/>
                <a:cs typeface="Arial"/>
              </a:rPr>
              <a:t>stabilize</a:t>
            </a:r>
            <a:r>
              <a:rPr dirty="0" sz="1800" spc="-60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the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5">
                <a:solidFill>
                  <a:srgbClr val="585D60"/>
                </a:solidFill>
                <a:latin typeface="Arial"/>
                <a:cs typeface="Arial"/>
              </a:rPr>
              <a:t>variance).</a:t>
            </a:r>
            <a:endParaRPr sz="1800">
              <a:latin typeface="Arial"/>
              <a:cs typeface="Arial"/>
            </a:endParaRPr>
          </a:p>
          <a:p>
            <a:pPr marL="393700" indent="-133985">
              <a:lnSpc>
                <a:spcPct val="100000"/>
              </a:lnSpc>
              <a:spcBef>
                <a:spcPts val="1215"/>
              </a:spcBef>
              <a:buClr>
                <a:srgbClr val="C2132D"/>
              </a:buClr>
              <a:buFont typeface="Trebuchet MS"/>
              <a:buChar char="•"/>
              <a:tabLst>
                <a:tab pos="393700" algn="l"/>
              </a:tabLst>
            </a:pPr>
            <a:r>
              <a:rPr dirty="0" sz="1800" spc="-10">
                <a:solidFill>
                  <a:srgbClr val="585D60"/>
                </a:solidFill>
                <a:latin typeface="Arial"/>
                <a:cs typeface="Arial"/>
              </a:rPr>
              <a:t>Understand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20">
                <a:solidFill>
                  <a:srgbClr val="585D60"/>
                </a:solidFill>
                <a:latin typeface="Arial"/>
                <a:cs typeface="Arial"/>
              </a:rPr>
              <a:t>how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45">
                <a:solidFill>
                  <a:srgbClr val="585D60"/>
                </a:solidFill>
                <a:latin typeface="Arial"/>
                <a:cs typeface="Arial"/>
              </a:rPr>
              <a:t>to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10">
                <a:solidFill>
                  <a:srgbClr val="585D60"/>
                </a:solidFill>
                <a:latin typeface="Arial"/>
                <a:cs typeface="Arial"/>
              </a:rPr>
              <a:t>use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-70" b="1">
                <a:solidFill>
                  <a:srgbClr val="C2132D"/>
                </a:solidFill>
                <a:latin typeface="Trebuchet MS"/>
                <a:cs typeface="Trebuchet MS"/>
              </a:rPr>
              <a:t>unit</a:t>
            </a:r>
            <a:r>
              <a:rPr dirty="0" sz="180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-65" b="1">
                <a:solidFill>
                  <a:srgbClr val="C2132D"/>
                </a:solidFill>
                <a:latin typeface="Trebuchet MS"/>
                <a:cs typeface="Trebuchet MS"/>
              </a:rPr>
              <a:t>root</a:t>
            </a:r>
            <a:r>
              <a:rPr dirty="0" sz="180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5" b="1">
                <a:solidFill>
                  <a:srgbClr val="C2132D"/>
                </a:solidFill>
                <a:latin typeface="Trebuchet MS"/>
                <a:cs typeface="Trebuchet MS"/>
              </a:rPr>
              <a:t>tests</a:t>
            </a:r>
            <a:r>
              <a:rPr dirty="0" sz="1800" spc="-10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z="1800" spc="45">
                <a:solidFill>
                  <a:srgbClr val="585D60"/>
                </a:solidFill>
                <a:latin typeface="Arial"/>
                <a:cs typeface="Arial"/>
              </a:rPr>
              <a:t>to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40">
                <a:solidFill>
                  <a:srgbClr val="585D60"/>
                </a:solidFill>
                <a:latin typeface="Arial"/>
                <a:cs typeface="Arial"/>
              </a:rPr>
              <a:t>test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50">
                <a:solidFill>
                  <a:srgbClr val="585D60"/>
                </a:solidFill>
                <a:latin typeface="Arial"/>
                <a:cs typeface="Arial"/>
              </a:rPr>
              <a:t>for</a:t>
            </a:r>
            <a:r>
              <a:rPr dirty="0" sz="1800" spc="-55">
                <a:solidFill>
                  <a:srgbClr val="585D60"/>
                </a:solidFill>
                <a:latin typeface="Arial"/>
                <a:cs typeface="Arial"/>
              </a:rPr>
              <a:t> </a:t>
            </a:r>
            <a:r>
              <a:rPr dirty="0" sz="1800" spc="10">
                <a:solidFill>
                  <a:srgbClr val="585D60"/>
                </a:solidFill>
                <a:latin typeface="Arial"/>
                <a:cs typeface="Arial"/>
              </a:rPr>
              <a:t>stationarity.</a:t>
            </a:r>
            <a:endParaRPr sz="1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1270" rIns="0" bIns="0" rtlCol="0" vert="horz">
            <a:spAutoFit/>
          </a:bodyPr>
          <a:lstStyle/>
          <a:p>
            <a:pPr marL="38100">
              <a:lnSpc>
                <a:spcPct val="100000"/>
              </a:lnSpc>
              <a:spcBef>
                <a:spcPts val="10"/>
              </a:spcBef>
            </a:pPr>
            <a:fld id="{81D60167-4931-47E6-BA6A-407CBD079E47}" type="slidenum">
              <a:rPr dirty="0" spc="5"/>
              <a:t>32</a:t>
            </a:fld>
            <a:r>
              <a:rPr dirty="0" spc="5"/>
              <a:t> </a:t>
            </a:r>
            <a:r>
              <a:rPr dirty="0" spc="160"/>
              <a:t>/</a:t>
            </a:r>
            <a:r>
              <a:rPr dirty="0" spc="-165"/>
              <a:t> </a:t>
            </a:r>
            <a:r>
              <a:rPr dirty="0" spc="5"/>
              <a:t>33</a:t>
            </a:r>
          </a:p>
        </p:txBody>
      </p: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01700" y="530225"/>
            <a:ext cx="5445760" cy="539750"/>
          </a:xfrm>
          <a:prstGeom prst="rect"/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3350" spc="2120">
                <a:solidFill>
                  <a:srgbClr val="C2132D"/>
                </a:solidFill>
                <a:latin typeface="Arial"/>
                <a:cs typeface="Arial"/>
              </a:rPr>
              <a:t>📝</a:t>
            </a:r>
            <a:r>
              <a:rPr dirty="0" sz="3350" spc="-280">
                <a:solidFill>
                  <a:srgbClr val="C2132D"/>
                </a:solidFill>
                <a:latin typeface="Arial"/>
                <a:cs typeface="Arial"/>
              </a:rPr>
              <a:t> </a:t>
            </a:r>
            <a:r>
              <a:rPr dirty="0" sz="3350" spc="-229">
                <a:solidFill>
                  <a:srgbClr val="C2132D"/>
                </a:solidFill>
              </a:rPr>
              <a:t>Review </a:t>
            </a:r>
            <a:r>
              <a:rPr dirty="0" sz="3350" spc="-180">
                <a:solidFill>
                  <a:srgbClr val="C2132D"/>
                </a:solidFill>
              </a:rPr>
              <a:t>and </a:t>
            </a:r>
            <a:r>
              <a:rPr dirty="0" sz="3350" spc="-195">
                <a:solidFill>
                  <a:srgbClr val="C2132D"/>
                </a:solidFill>
              </a:rPr>
              <a:t>Clarification </a:t>
            </a:r>
            <a:r>
              <a:rPr dirty="0" sz="3350" spc="2120">
                <a:solidFill>
                  <a:srgbClr val="C2132D"/>
                </a:solidFill>
                <a:latin typeface="Arial"/>
                <a:cs typeface="Arial"/>
              </a:rPr>
              <a:t>📝</a:t>
            </a:r>
            <a:endParaRPr sz="3350">
              <a:latin typeface="Arial"/>
              <a:cs typeface="Arial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/>
        </p:spPr>
        <p:txBody>
          <a:bodyPr wrap="square" lIns="0" tIns="12700" rIns="0" bIns="0" rtlCol="0" vert="horz">
            <a:spAutoFit/>
          </a:bodyPr>
          <a:lstStyle/>
          <a:p>
            <a:pPr marL="325120" indent="-133985">
              <a:lnSpc>
                <a:spcPct val="100000"/>
              </a:lnSpc>
              <a:spcBef>
                <a:spcPts val="100"/>
              </a:spcBef>
              <a:buFont typeface="Trebuchet MS"/>
              <a:buChar char="•"/>
              <a:tabLst>
                <a:tab pos="325755" algn="l"/>
              </a:tabLst>
            </a:pPr>
            <a:r>
              <a:rPr dirty="0" spc="65" b="1">
                <a:solidFill>
                  <a:srgbClr val="C2132D"/>
                </a:solidFill>
                <a:latin typeface="Trebuchet MS"/>
                <a:cs typeface="Trebuchet MS"/>
              </a:rPr>
              <a:t>Class</a:t>
            </a:r>
            <a:r>
              <a:rPr dirty="0" spc="-95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pc="-5" b="1">
                <a:solidFill>
                  <a:srgbClr val="C2132D"/>
                </a:solidFill>
                <a:latin typeface="Trebuchet MS"/>
                <a:cs typeface="Trebuchet MS"/>
              </a:rPr>
              <a:t>Notes</a:t>
            </a:r>
            <a:r>
              <a:rPr dirty="0" spc="-5"/>
              <a:t>:</a:t>
            </a:r>
            <a:r>
              <a:rPr dirty="0" spc="-85"/>
              <a:t> </a:t>
            </a:r>
            <a:r>
              <a:rPr dirty="0" spc="-55"/>
              <a:t>Take </a:t>
            </a:r>
            <a:r>
              <a:rPr dirty="0" spc="20"/>
              <a:t>some</a:t>
            </a:r>
            <a:r>
              <a:rPr dirty="0" spc="-50"/>
              <a:t> </a:t>
            </a:r>
            <a:r>
              <a:rPr dirty="0" spc="35"/>
              <a:t>time</a:t>
            </a:r>
            <a:r>
              <a:rPr dirty="0" spc="-50"/>
              <a:t> </a:t>
            </a:r>
            <a:r>
              <a:rPr dirty="0" spc="45"/>
              <a:t>to</a:t>
            </a:r>
            <a:r>
              <a:rPr dirty="0" spc="-55"/>
              <a:t> </a:t>
            </a:r>
            <a:r>
              <a:rPr dirty="0" spc="10"/>
              <a:t>revisit</a:t>
            </a:r>
            <a:r>
              <a:rPr dirty="0" spc="-50"/>
              <a:t> </a:t>
            </a:r>
            <a:r>
              <a:rPr dirty="0" spc="-10"/>
              <a:t>your</a:t>
            </a:r>
            <a:r>
              <a:rPr dirty="0" spc="-55"/>
              <a:t> </a:t>
            </a:r>
            <a:r>
              <a:rPr dirty="0" spc="20"/>
              <a:t>class</a:t>
            </a:r>
            <a:r>
              <a:rPr dirty="0" spc="-50"/>
              <a:t> </a:t>
            </a:r>
            <a:r>
              <a:rPr dirty="0" spc="15"/>
              <a:t>notes</a:t>
            </a:r>
            <a:r>
              <a:rPr dirty="0" spc="-50"/>
              <a:t> </a:t>
            </a:r>
            <a:r>
              <a:rPr dirty="0" spc="50"/>
              <a:t>for</a:t>
            </a:r>
            <a:r>
              <a:rPr dirty="0" spc="-55"/>
              <a:t> </a:t>
            </a:r>
            <a:r>
              <a:rPr dirty="0" spc="-40"/>
              <a:t>key</a:t>
            </a:r>
            <a:r>
              <a:rPr dirty="0" spc="-50"/>
              <a:t> </a:t>
            </a:r>
            <a:r>
              <a:rPr dirty="0" spc="25"/>
              <a:t>insights</a:t>
            </a:r>
            <a:r>
              <a:rPr dirty="0" spc="-55"/>
              <a:t> </a:t>
            </a:r>
            <a:r>
              <a:rPr dirty="0" spc="-5"/>
              <a:t>and</a:t>
            </a:r>
            <a:r>
              <a:rPr dirty="0" spc="-50"/>
              <a:t> </a:t>
            </a:r>
            <a:r>
              <a:rPr dirty="0" spc="15"/>
              <a:t>concepts.</a:t>
            </a:r>
          </a:p>
          <a:p>
            <a:pPr marL="325120" marR="1016635" indent="-133985">
              <a:lnSpc>
                <a:spcPct val="118100"/>
              </a:lnSpc>
              <a:spcBef>
                <a:spcPts val="900"/>
              </a:spcBef>
              <a:buFont typeface="Trebuchet MS"/>
              <a:buChar char="•"/>
              <a:tabLst>
                <a:tab pos="325755" algn="l"/>
              </a:tabLst>
            </a:pPr>
            <a:r>
              <a:rPr dirty="0" spc="15" b="1">
                <a:solidFill>
                  <a:srgbClr val="C2132D"/>
                </a:solidFill>
                <a:latin typeface="Trebuchet MS"/>
                <a:cs typeface="Trebuchet MS"/>
              </a:rPr>
              <a:t>Zoom</a:t>
            </a:r>
            <a:r>
              <a:rPr dirty="0" spc="-90" b="1">
                <a:solidFill>
                  <a:srgbClr val="C2132D"/>
                </a:solidFill>
                <a:latin typeface="Trebuchet MS"/>
                <a:cs typeface="Trebuchet MS"/>
              </a:rPr>
              <a:t> </a:t>
            </a:r>
            <a:r>
              <a:rPr dirty="0" spc="-25" b="1">
                <a:solidFill>
                  <a:srgbClr val="C2132D"/>
                </a:solidFill>
                <a:latin typeface="Trebuchet MS"/>
                <a:cs typeface="Trebuchet MS"/>
              </a:rPr>
              <a:t>Recording</a:t>
            </a:r>
            <a:r>
              <a:rPr dirty="0" spc="-25"/>
              <a:t>:</a:t>
            </a:r>
            <a:r>
              <a:rPr dirty="0" spc="-80"/>
              <a:t> </a:t>
            </a:r>
            <a:r>
              <a:rPr dirty="0" spc="-30"/>
              <a:t>The</a:t>
            </a:r>
            <a:r>
              <a:rPr dirty="0" spc="-50"/>
              <a:t> </a:t>
            </a:r>
            <a:r>
              <a:rPr dirty="0" spc="5"/>
              <a:t>recording</a:t>
            </a:r>
            <a:r>
              <a:rPr dirty="0" spc="-45"/>
              <a:t> </a:t>
            </a:r>
            <a:r>
              <a:rPr dirty="0" spc="75"/>
              <a:t>of</a:t>
            </a:r>
            <a:r>
              <a:rPr dirty="0" spc="-45"/>
              <a:t> </a:t>
            </a:r>
            <a:r>
              <a:rPr dirty="0" spc="-10"/>
              <a:t>today's</a:t>
            </a:r>
            <a:r>
              <a:rPr dirty="0" spc="-50"/>
              <a:t> </a:t>
            </a:r>
            <a:r>
              <a:rPr dirty="0" spc="20"/>
              <a:t>class</a:t>
            </a:r>
            <a:r>
              <a:rPr dirty="0" spc="-45"/>
              <a:t> </a:t>
            </a:r>
            <a:r>
              <a:rPr dirty="0" spc="40"/>
              <a:t>will</a:t>
            </a:r>
            <a:r>
              <a:rPr dirty="0" spc="-50"/>
              <a:t> </a:t>
            </a:r>
            <a:r>
              <a:rPr dirty="0" spc="-20"/>
              <a:t>be</a:t>
            </a:r>
            <a:r>
              <a:rPr dirty="0" spc="-45"/>
              <a:t> </a:t>
            </a:r>
            <a:r>
              <a:rPr dirty="0" spc="5"/>
              <a:t>made</a:t>
            </a:r>
            <a:r>
              <a:rPr dirty="0" spc="-45"/>
              <a:t> </a:t>
            </a:r>
            <a:r>
              <a:rPr dirty="0" spc="-10"/>
              <a:t>available</a:t>
            </a:r>
            <a:r>
              <a:rPr dirty="0" spc="-50"/>
              <a:t> </a:t>
            </a:r>
            <a:r>
              <a:rPr dirty="0" spc="5"/>
              <a:t>on</a:t>
            </a:r>
            <a:r>
              <a:rPr dirty="0" spc="-45"/>
              <a:t> </a:t>
            </a:r>
            <a:r>
              <a:rPr dirty="0" spc="-35"/>
              <a:t>Canvas  </a:t>
            </a:r>
            <a:r>
              <a:rPr dirty="0" spc="5"/>
              <a:t>approximately </a:t>
            </a:r>
            <a:r>
              <a:rPr dirty="0" spc="-30"/>
              <a:t>3-4 </a:t>
            </a:r>
            <a:r>
              <a:rPr dirty="0" spc="5"/>
              <a:t>hours </a:t>
            </a:r>
            <a:r>
              <a:rPr dirty="0" spc="30"/>
              <a:t>after </a:t>
            </a:r>
            <a:r>
              <a:rPr dirty="0" spc="10"/>
              <a:t>the session</a:t>
            </a:r>
            <a:r>
              <a:rPr dirty="0" spc="-350"/>
              <a:t> </a:t>
            </a:r>
            <a:r>
              <a:rPr dirty="0" spc="-10"/>
              <a:t>ends.</a:t>
            </a:r>
          </a:p>
          <a:p>
            <a:pPr marL="325120" marR="5080" indent="-133985">
              <a:lnSpc>
                <a:spcPct val="118100"/>
              </a:lnSpc>
              <a:spcBef>
                <a:spcPts val="819"/>
              </a:spcBef>
              <a:buFont typeface="Trebuchet MS"/>
              <a:buChar char="•"/>
              <a:tabLst>
                <a:tab pos="325755" algn="l"/>
              </a:tabLst>
            </a:pPr>
            <a:r>
              <a:rPr dirty="0" spc="-15" b="1">
                <a:solidFill>
                  <a:srgbClr val="C2132D"/>
                </a:solidFill>
                <a:latin typeface="Trebuchet MS"/>
                <a:cs typeface="Trebuchet MS"/>
              </a:rPr>
              <a:t>Questions</a:t>
            </a:r>
            <a:r>
              <a:rPr dirty="0" spc="-15"/>
              <a:t>:</a:t>
            </a:r>
            <a:r>
              <a:rPr dirty="0" spc="-50"/>
              <a:t> </a:t>
            </a:r>
            <a:r>
              <a:rPr dirty="0" spc="-20"/>
              <a:t>Please</a:t>
            </a:r>
            <a:r>
              <a:rPr dirty="0" spc="-50"/>
              <a:t> </a:t>
            </a:r>
            <a:r>
              <a:rPr dirty="0" spc="-5"/>
              <a:t>don't</a:t>
            </a:r>
            <a:r>
              <a:rPr dirty="0" spc="-50"/>
              <a:t> </a:t>
            </a:r>
            <a:r>
              <a:rPr dirty="0" spc="10"/>
              <a:t>hesitate</a:t>
            </a:r>
            <a:r>
              <a:rPr dirty="0" spc="-50"/>
              <a:t> </a:t>
            </a:r>
            <a:r>
              <a:rPr dirty="0" spc="45"/>
              <a:t>to</a:t>
            </a:r>
            <a:r>
              <a:rPr dirty="0" spc="-50"/>
              <a:t> </a:t>
            </a:r>
            <a:r>
              <a:rPr dirty="0" spc="5"/>
              <a:t>ask</a:t>
            </a:r>
            <a:r>
              <a:rPr dirty="0" spc="-50"/>
              <a:t> </a:t>
            </a:r>
            <a:r>
              <a:rPr dirty="0" spc="50"/>
              <a:t>for</a:t>
            </a:r>
            <a:r>
              <a:rPr dirty="0" spc="-50"/>
              <a:t> </a:t>
            </a:r>
            <a:r>
              <a:rPr dirty="0" spc="25"/>
              <a:t>clarification</a:t>
            </a:r>
            <a:r>
              <a:rPr dirty="0" spc="-50"/>
              <a:t> </a:t>
            </a:r>
            <a:r>
              <a:rPr dirty="0" spc="5"/>
              <a:t>on</a:t>
            </a:r>
            <a:r>
              <a:rPr dirty="0" spc="-50"/>
              <a:t> </a:t>
            </a:r>
            <a:r>
              <a:rPr dirty="0" spc="-30"/>
              <a:t>any</a:t>
            </a:r>
            <a:r>
              <a:rPr dirty="0" spc="-50"/>
              <a:t> </a:t>
            </a:r>
            <a:r>
              <a:rPr dirty="0" spc="35"/>
              <a:t>topics</a:t>
            </a:r>
            <a:r>
              <a:rPr dirty="0" spc="-50"/>
              <a:t> </a:t>
            </a:r>
            <a:r>
              <a:rPr dirty="0" spc="15"/>
              <a:t>discussed</a:t>
            </a:r>
            <a:r>
              <a:rPr dirty="0" spc="-45"/>
              <a:t> </a:t>
            </a:r>
            <a:r>
              <a:rPr dirty="0" spc="15"/>
              <a:t>in</a:t>
            </a:r>
            <a:r>
              <a:rPr dirty="0" spc="-50"/>
              <a:t> </a:t>
            </a:r>
            <a:r>
              <a:rPr dirty="0" spc="15"/>
              <a:t>class.</a:t>
            </a:r>
            <a:r>
              <a:rPr dirty="0" spc="-50"/>
              <a:t> </a:t>
            </a:r>
            <a:r>
              <a:rPr dirty="0"/>
              <a:t>It's  </a:t>
            </a:r>
            <a:r>
              <a:rPr dirty="0" spc="20"/>
              <a:t>crucial</a:t>
            </a:r>
            <a:r>
              <a:rPr dirty="0" spc="-60"/>
              <a:t> </a:t>
            </a:r>
            <a:r>
              <a:rPr dirty="0" spc="35"/>
              <a:t>not</a:t>
            </a:r>
            <a:r>
              <a:rPr dirty="0" spc="-55"/>
              <a:t> </a:t>
            </a:r>
            <a:r>
              <a:rPr dirty="0" spc="45"/>
              <a:t>to</a:t>
            </a:r>
            <a:r>
              <a:rPr dirty="0" spc="-55"/>
              <a:t> </a:t>
            </a:r>
            <a:r>
              <a:rPr dirty="0" spc="25"/>
              <a:t>let</a:t>
            </a:r>
            <a:r>
              <a:rPr dirty="0" spc="-55"/>
              <a:t> </a:t>
            </a:r>
            <a:r>
              <a:rPr dirty="0" spc="15"/>
              <a:t>questions</a:t>
            </a:r>
            <a:r>
              <a:rPr dirty="0" spc="-55"/>
              <a:t> </a:t>
            </a:r>
            <a:r>
              <a:rPr dirty="0" spc="10"/>
              <a:t>accumulate.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83D5D3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Microsoft Office PowerPoint</Application>
  <PresentationFormat>On-screen Show (4:3)</PresentationFormat>
  <ScaleCrop>false</ScaleCrop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ISA 444: Business Forecasting</dc:title>
  <dcterms:created xsi:type="dcterms:W3CDTF">2025-03-18T12:40:53Z</dcterms:created>
  <dcterms:modified xsi:type="dcterms:W3CDTF">2025-03-18T12:40:53Z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2025-03-18T00:00:00Z</vt:filetime>
  </property>
  <property fmtid="{D5CDD505-2E9C-101B-9397-08002B2CF9AE}" pid="3" name="Creator">
    <vt:lpwstr>Mozilla/5.0 (Windows NT 10.0; Win64; x64) AppleWebKit/537.36 (KHTML, like Gecko) Chrome/134.0.0.0 Safari/537.36</vt:lpwstr>
  </property>
  <property fmtid="{D5CDD505-2E9C-101B-9397-08002B2CF9AE}" pid="4" name="LastSaved">
    <vt:filetime>2025-03-18T00:00:00Z</vt:filetime>
  </property>
</Properties>
</file>