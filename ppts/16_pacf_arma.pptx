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Default Extension="jpg" ContentType="image/jpg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x="11531600" cy="6489700"/>
  <p:notesSz cx="11531600" cy="64897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952500" y="2255519"/>
            <a:ext cx="4123943" cy="358139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7" name="bk object 17"/>
          <p:cNvSpPr/>
          <p:nvPr/>
        </p:nvSpPr>
        <p:spPr>
          <a:xfrm>
            <a:off x="5905499" y="2255519"/>
            <a:ext cx="4123943" cy="358139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01700" y="530225"/>
            <a:ext cx="9728200" cy="539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29740" y="3634232"/>
            <a:ext cx="8072120" cy="16224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Trebuchet MS"/>
                <a:cs typeface="Trebuchet MS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#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585D60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Trebuchet MS"/>
                <a:cs typeface="Trebuchet MS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#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1001166" y="1677130"/>
            <a:ext cx="4586605" cy="41262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333333"/>
                </a:solidFill>
                <a:latin typeface="Courier New"/>
                <a:cs typeface="Courier New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938774" y="1492631"/>
            <a:ext cx="5016246" cy="42832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Trebuchet MS"/>
                <a:cs typeface="Trebuchet MS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#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11525250" cy="6486525"/>
          </a:xfrm>
          <a:custGeom>
            <a:avLst/>
            <a:gdLst/>
            <a:ahLst/>
            <a:cxnLst/>
            <a:rect l="l" t="t" r="r" b="b"/>
            <a:pathLst>
              <a:path w="11525250" h="6486525">
                <a:moveTo>
                  <a:pt x="0" y="0"/>
                </a:moveTo>
                <a:lnTo>
                  <a:pt x="11525249" y="0"/>
                </a:lnTo>
                <a:lnTo>
                  <a:pt x="11525249" y="6486524"/>
                </a:lnTo>
                <a:lnTo>
                  <a:pt x="0" y="6486524"/>
                </a:lnTo>
                <a:lnTo>
                  <a:pt x="0" y="0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Trebuchet MS"/>
                <a:cs typeface="Trebuchet MS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#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Trebuchet MS"/>
                <a:cs typeface="Trebuchet MS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#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32594" y="2625725"/>
            <a:ext cx="8266410" cy="11779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01700" y="1376044"/>
            <a:ext cx="9728200" cy="14255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585D60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920744" y="6035421"/>
            <a:ext cx="3690112" cy="3244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76580" y="6035421"/>
            <a:ext cx="2652268" cy="3244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0853587" y="6218137"/>
            <a:ext cx="532129" cy="2044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585D60"/>
                </a:solidFill>
                <a:latin typeface="Trebuchet MS"/>
                <a:cs typeface="Trebuchet MS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#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twitter.com/FadelMegahed" TargetMode="External"/><Relationship Id="rId3" Type="http://schemas.openxmlformats.org/officeDocument/2006/relationships/hyperlink" Target="https://github.com/fmegahed/" TargetMode="External"/><Relationship Id="rId4" Type="http://schemas.openxmlformats.org/officeDocument/2006/relationships/hyperlink" Target="mailto:fmegahed@miamioh.edu" TargetMode="External"/><Relationship Id="rId5" Type="http://schemas.openxmlformats.org/officeDocument/2006/relationships/hyperlink" Target="https://calendly.com/fmegahed" TargetMode="External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nixtlaverse.nixtla.io/statsforecast/docs/models/arima.html" TargetMode="External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statsmodels.org/stable/_modules/statsmodels/tsa/stattools.html#pacf" TargetMode="External"/><Relationship Id="rId3" Type="http://schemas.openxmlformats.org/officeDocument/2006/relationships/hyperlink" Target="https://numpy.org/doc/stable/glossary.html#term-array_like" TargetMode="External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taff.uz.zgora.pl/lbalbus/Zdalne%20EDiF%2010.11.2020.pdf" TargetMode="External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
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/Relationships>
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
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/Relationships>
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
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
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
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
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raw.githubusercontent.com/fmegahed/isa444/refs/heads/main/data/viscosity.csv" TargetMode="External"/></Relationships>
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nixtlaverse.nixtla.io/statsforecast/docs/models/arima.html" TargetMode="External"/></Relationships>
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525250" cy="6486525"/>
          </a:xfrm>
          <a:custGeom>
            <a:avLst/>
            <a:gdLst/>
            <a:ahLst/>
            <a:cxnLst/>
            <a:rect l="l" t="t" r="r" b="b"/>
            <a:pathLst>
              <a:path w="11525250" h="6486525">
                <a:moveTo>
                  <a:pt x="0" y="0"/>
                </a:moveTo>
                <a:lnTo>
                  <a:pt x="11525249" y="0"/>
                </a:lnTo>
                <a:lnTo>
                  <a:pt x="11525249" y="6486524"/>
                </a:lnTo>
                <a:lnTo>
                  <a:pt x="0" y="6486524"/>
                </a:lnTo>
                <a:lnTo>
                  <a:pt x="0" y="0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1198165"/>
            <a:ext cx="8555355" cy="1139190"/>
          </a:xfrm>
          <a:prstGeom prst="rect"/>
        </p:spPr>
        <p:txBody>
          <a:bodyPr wrap="square" lIns="0" tIns="908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15"/>
              </a:spcBef>
            </a:pPr>
            <a:r>
              <a:rPr dirty="0" sz="3350" spc="5"/>
              <a:t>ISA </a:t>
            </a:r>
            <a:r>
              <a:rPr dirty="0" sz="3350" spc="-180"/>
              <a:t>444: </a:t>
            </a:r>
            <a:r>
              <a:rPr dirty="0" sz="3350" spc="-45"/>
              <a:t>Business</a:t>
            </a:r>
            <a:r>
              <a:rPr dirty="0" sz="3350" spc="-535"/>
              <a:t> </a:t>
            </a:r>
            <a:r>
              <a:rPr dirty="0" sz="3350" spc="-150"/>
              <a:t>Forecasting</a:t>
            </a:r>
            <a:endParaRPr sz="3350"/>
          </a:p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3000">
                <a:latin typeface="Times New Roman"/>
                <a:cs typeface="Times New Roman"/>
              </a:rPr>
              <a:t>16: </a:t>
            </a:r>
            <a:r>
              <a:rPr dirty="0" sz="3000" spc="-70">
                <a:latin typeface="Times New Roman"/>
                <a:cs typeface="Times New Roman"/>
              </a:rPr>
              <a:t>PACF </a:t>
            </a:r>
            <a:r>
              <a:rPr dirty="0" sz="3000">
                <a:latin typeface="Times New Roman"/>
                <a:cs typeface="Times New Roman"/>
              </a:rPr>
              <a:t>and AutoRegressive Moving </a:t>
            </a:r>
            <a:r>
              <a:rPr dirty="0" sz="3000" spc="-35">
                <a:latin typeface="Times New Roman"/>
                <a:cs typeface="Times New Roman"/>
              </a:rPr>
              <a:t>Average</a:t>
            </a:r>
            <a:r>
              <a:rPr dirty="0" sz="3000" spc="-350">
                <a:latin typeface="Times New Roman"/>
                <a:cs typeface="Times New Roman"/>
              </a:rPr>
              <a:t> </a:t>
            </a:r>
            <a:r>
              <a:rPr dirty="0" sz="3000">
                <a:latin typeface="Times New Roman"/>
                <a:cs typeface="Times New Roman"/>
              </a:rPr>
              <a:t>Models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1700" y="2873375"/>
            <a:ext cx="4276725" cy="33115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Fadel M. Megahed,</a:t>
            </a:r>
            <a:r>
              <a:rPr dirty="0" sz="18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5">
                <a:solidFill>
                  <a:srgbClr val="FFFFFF"/>
                </a:solidFill>
                <a:latin typeface="Arial"/>
                <a:cs typeface="Arial"/>
              </a:rPr>
              <a:t>PhD</a:t>
            </a:r>
            <a:endParaRPr sz="18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650">
              <a:latin typeface="Arial"/>
              <a:cs typeface="Arial"/>
            </a:endParaRPr>
          </a:p>
          <a:p>
            <a:pPr marL="12700">
              <a:lnSpc>
                <a:spcPts val="2160"/>
              </a:lnSpc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Professor</a:t>
            </a:r>
            <a:endParaRPr sz="1850">
              <a:latin typeface="Arial"/>
              <a:cs typeface="Arial"/>
            </a:endParaRPr>
          </a:p>
          <a:p>
            <a:pPr marL="12700" marR="1397000">
              <a:lnSpc>
                <a:spcPts val="2030"/>
              </a:lnSpc>
              <a:spcBef>
                <a:spcPts val="165"/>
              </a:spcBef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Farmer School of</a:t>
            </a:r>
            <a:r>
              <a:rPr dirty="0" sz="185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Business  Miami</a:t>
            </a:r>
            <a:r>
              <a:rPr dirty="0" sz="18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University</a:t>
            </a:r>
            <a:endParaRPr sz="18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750">
              <a:latin typeface="Arial"/>
              <a:cs typeface="Arial"/>
            </a:endParaRPr>
          </a:p>
          <a:p>
            <a:pPr marL="309245" marR="1287145" indent="6985">
              <a:lnSpc>
                <a:spcPct val="103000"/>
              </a:lnSpc>
            </a:pP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2"/>
              </a:rPr>
              <a:t>@FadelMegahed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3"/>
              </a:rPr>
              <a:t>fmegahed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4"/>
              </a:rPr>
              <a:t>fmegahed@miamioh.edu</a:t>
            </a:r>
            <a:endParaRPr sz="1850">
              <a:latin typeface="Arial"/>
              <a:cs typeface="Arial"/>
            </a:endParaRPr>
          </a:p>
          <a:p>
            <a:pPr marL="243840">
              <a:lnSpc>
                <a:spcPct val="100000"/>
              </a:lnSpc>
              <a:spcBef>
                <a:spcPts val="105"/>
              </a:spcBef>
            </a:pP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5"/>
              </a:rPr>
              <a:t>Automated Scheduler </a:t>
            </a:r>
            <a:r>
              <a:rPr dirty="0" sz="1850" spc="5">
                <a:solidFill>
                  <a:srgbClr val="83D5D3"/>
                </a:solidFill>
                <a:latin typeface="Arial"/>
                <a:cs typeface="Arial"/>
                <a:hlinkClick r:id="rId5"/>
              </a:rPr>
              <a:t>for Office</a:t>
            </a:r>
            <a:r>
              <a:rPr dirty="0" sz="1850" spc="-20">
                <a:solidFill>
                  <a:srgbClr val="83D5D3"/>
                </a:solidFill>
                <a:latin typeface="Arial"/>
                <a:cs typeface="Arial"/>
                <a:hlinkClick r:id="rId5"/>
              </a:rPr>
              <a:t>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5"/>
              </a:rPr>
              <a:t>Hours</a:t>
            </a:r>
            <a:endParaRPr sz="18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6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Spring</a:t>
            </a:r>
            <a:r>
              <a:rPr dirty="0" sz="18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2025</a:t>
            </a:r>
            <a:endParaRPr sz="185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4400" y="4537212"/>
            <a:ext cx="238124" cy="19340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914400" y="4804320"/>
            <a:ext cx="230683" cy="2258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914429" y="5095881"/>
            <a:ext cx="237909" cy="237821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924888" y="5381624"/>
            <a:ext cx="165083" cy="238125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01904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80">
                <a:solidFill>
                  <a:srgbClr val="C2132D"/>
                </a:solidFill>
              </a:rPr>
              <a:t>Quick </a:t>
            </a:r>
            <a:r>
              <a:rPr dirty="0" sz="3350" spc="-185">
                <a:solidFill>
                  <a:srgbClr val="C2132D"/>
                </a:solidFill>
              </a:rPr>
              <a:t>Refresher </a:t>
            </a:r>
            <a:r>
              <a:rPr dirty="0" sz="3350" spc="-140">
                <a:solidFill>
                  <a:srgbClr val="C2132D"/>
                </a:solidFill>
              </a:rPr>
              <a:t>of </a:t>
            </a:r>
            <a:r>
              <a:rPr dirty="0" sz="3350" spc="-100">
                <a:solidFill>
                  <a:srgbClr val="C2132D"/>
                </a:solidFill>
              </a:rPr>
              <a:t>Last</a:t>
            </a:r>
            <a:r>
              <a:rPr dirty="0" sz="3350" spc="-475">
                <a:solidFill>
                  <a:srgbClr val="C2132D"/>
                </a:solidFill>
              </a:rPr>
              <a:t> </a:t>
            </a:r>
            <a:r>
              <a:rPr dirty="0" sz="3350" spc="-20">
                <a:solidFill>
                  <a:srgbClr val="C2132D"/>
                </a:solidFill>
              </a:rPr>
              <a:t>Class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9034145" cy="19284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65">
                <a:solidFill>
                  <a:srgbClr val="585D60"/>
                </a:solidFill>
                <a:latin typeface="Segoe UI Emoji"/>
                <a:cs typeface="Segoe UI Emoji"/>
              </a:rPr>
              <a:t>✅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Define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3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dirty="0" sz="1750" spc="65">
                <a:solidFill>
                  <a:srgbClr val="585D60"/>
                </a:solidFill>
                <a:latin typeface="Segoe UI Emoji"/>
                <a:cs typeface="Segoe UI Emoji"/>
              </a:rPr>
              <a:t>✅</a:t>
            </a:r>
            <a:r>
              <a:rPr dirty="0" sz="1750" spc="-35">
                <a:solidFill>
                  <a:srgbClr val="585D60"/>
                </a:solidFill>
                <a:latin typeface="Segoe UI Emoji"/>
                <a:cs typeface="Segoe UI Emoji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Understand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plotting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techniques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can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help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identify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non-stationarity.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dirty="0" sz="1750" spc="65">
                <a:solidFill>
                  <a:srgbClr val="585D60"/>
                </a:solidFill>
                <a:latin typeface="Segoe UI Emoji"/>
                <a:cs typeface="Segoe UI Emoji"/>
              </a:rPr>
              <a:t>✅</a:t>
            </a:r>
            <a:r>
              <a:rPr dirty="0" sz="1750" spc="-25">
                <a:solidFill>
                  <a:srgbClr val="585D60"/>
                </a:solidFill>
                <a:latin typeface="Segoe UI Emoji"/>
                <a:cs typeface="Segoe UI Emoji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Understand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we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can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stabilize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a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non-stationary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to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achieve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stationarity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(differencing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stabilize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mean,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log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transformation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stabilize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variance).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dirty="0" sz="1750" spc="65">
                <a:solidFill>
                  <a:srgbClr val="585D60"/>
                </a:solidFill>
                <a:latin typeface="Segoe UI Emoji"/>
                <a:cs typeface="Segoe UI Emoji"/>
              </a:rPr>
              <a:t>✅</a:t>
            </a:r>
            <a:r>
              <a:rPr dirty="0" sz="1750" spc="-35">
                <a:solidFill>
                  <a:srgbClr val="585D60"/>
                </a:solidFill>
                <a:latin typeface="Segoe UI Emoji"/>
                <a:cs typeface="Segoe UI Emoji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Understand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use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unit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root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tests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test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stationarity.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32904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70">
                <a:solidFill>
                  <a:srgbClr val="C2132D"/>
                </a:solidFill>
              </a:rPr>
              <a:t>Learning </a:t>
            </a:r>
            <a:r>
              <a:rPr dirty="0" sz="3350" spc="-204">
                <a:solidFill>
                  <a:srgbClr val="C2132D"/>
                </a:solidFill>
              </a:rPr>
              <a:t>Objectives </a:t>
            </a:r>
            <a:r>
              <a:rPr dirty="0" sz="3350" spc="-185">
                <a:solidFill>
                  <a:srgbClr val="C2132D"/>
                </a:solidFill>
              </a:rPr>
              <a:t>for </a:t>
            </a:r>
            <a:r>
              <a:rPr dirty="0" sz="3350" spc="-135">
                <a:solidFill>
                  <a:srgbClr val="C2132D"/>
                </a:solidFill>
              </a:rPr>
              <a:t>Today's</a:t>
            </a:r>
            <a:r>
              <a:rPr dirty="0" sz="3350" spc="-495">
                <a:solidFill>
                  <a:srgbClr val="C2132D"/>
                </a:solidFill>
              </a:rPr>
              <a:t> </a:t>
            </a:r>
            <a:r>
              <a:rPr dirty="0" sz="3350" spc="-20">
                <a:solidFill>
                  <a:srgbClr val="C2132D"/>
                </a:solidFill>
              </a:rPr>
              <a:t>Class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148754" y="1425575"/>
            <a:ext cx="9396730" cy="30048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Explain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Partial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Autocorrelation Function</a:t>
            </a:r>
            <a:r>
              <a:rPr dirty="0" sz="1800" spc="-34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(PACF)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marL="146050" marR="5080" indent="-133985">
              <a:lnSpc>
                <a:spcPct val="118100"/>
              </a:lnSpc>
              <a:spcBef>
                <a:spcPts val="9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Explain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Autoregressive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5" b="1">
                <a:solidFill>
                  <a:srgbClr val="C2132D"/>
                </a:solidFill>
                <a:latin typeface="Trebuchet MS"/>
                <a:cs typeface="Trebuchet MS"/>
              </a:rPr>
              <a:t>(AR)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model</a:t>
            </a:r>
            <a:r>
              <a:rPr dirty="0" sz="1800" spc="-75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identify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order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AR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model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 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PACF.</a:t>
            </a:r>
            <a:endParaRPr sz="1800">
              <a:latin typeface="Trebuchet MS"/>
              <a:cs typeface="Trebuchet MS"/>
            </a:endParaRPr>
          </a:p>
          <a:p>
            <a:pPr marL="146050" marR="395605" indent="-133985">
              <a:lnSpc>
                <a:spcPct val="118100"/>
              </a:lnSpc>
              <a:spcBef>
                <a:spcPts val="819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Explain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 b="1">
                <a:solidFill>
                  <a:srgbClr val="C2132D"/>
                </a:solidFill>
                <a:latin typeface="Trebuchet MS"/>
                <a:cs typeface="Trebuchet MS"/>
              </a:rPr>
              <a:t>Moving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Average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60" b="1">
                <a:solidFill>
                  <a:srgbClr val="C2132D"/>
                </a:solidFill>
                <a:latin typeface="Trebuchet MS"/>
                <a:cs typeface="Trebuchet MS"/>
              </a:rPr>
              <a:t>(MA)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model</a:t>
            </a:r>
            <a:r>
              <a:rPr dirty="0" sz="1800" spc="-75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identify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order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10">
                <a:solidFill>
                  <a:srgbClr val="585D60"/>
                </a:solidFill>
                <a:latin typeface="Trebuchet MS"/>
                <a:cs typeface="Trebuchet MS"/>
              </a:rPr>
              <a:t>MA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model 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254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ACF.</a:t>
            </a:r>
            <a:endParaRPr sz="1800">
              <a:latin typeface="Trebuchet MS"/>
              <a:cs typeface="Trebuchet MS"/>
            </a:endParaRPr>
          </a:p>
          <a:p>
            <a:pPr marL="14605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Explain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Autoregressive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0" b="1">
                <a:solidFill>
                  <a:srgbClr val="C2132D"/>
                </a:solidFill>
                <a:latin typeface="Trebuchet MS"/>
                <a:cs typeface="Trebuchet MS"/>
              </a:rPr>
              <a:t>Moving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Average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60" b="1">
                <a:solidFill>
                  <a:srgbClr val="C2132D"/>
                </a:solidFill>
                <a:latin typeface="Trebuchet MS"/>
                <a:cs typeface="Trebuchet MS"/>
              </a:rPr>
              <a:t>(ARMA)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model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marL="146050" marR="558165" indent="-133985">
              <a:lnSpc>
                <a:spcPct val="118100"/>
              </a:lnSpc>
              <a:spcBef>
                <a:spcPts val="9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Understand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fit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AR,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MA,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45">
                <a:solidFill>
                  <a:srgbClr val="585D60"/>
                </a:solidFill>
                <a:latin typeface="Trebuchet MS"/>
                <a:cs typeface="Trebuchet MS"/>
              </a:rPr>
              <a:t>ARMA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models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ARIMA()</a:t>
            </a:r>
            <a:r>
              <a:rPr dirty="0" sz="1700" spc="-57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method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from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 </a:t>
            </a:r>
            <a:r>
              <a:rPr dirty="0" sz="1800" spc="-50">
                <a:solidFill>
                  <a:srgbClr val="83D5D3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statsforecast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Python</a:t>
            </a:r>
            <a:r>
              <a:rPr dirty="0" sz="1800" spc="-22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package.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1832" y="2206752"/>
            <a:ext cx="9646920" cy="2124710"/>
          </a:xfrm>
          <a:prstGeom prst="rect"/>
          <a:solidFill>
            <a:srgbClr val="333333"/>
          </a:solidFill>
        </p:spPr>
        <p:txBody>
          <a:bodyPr wrap="square" lIns="0" tIns="269875" rIns="0" bIns="0" rtlCol="0" vert="horz">
            <a:spAutoFit/>
          </a:bodyPr>
          <a:lstStyle/>
          <a:p>
            <a:pPr algn="ctr" marL="227329" marR="225425">
              <a:lnSpc>
                <a:spcPts val="4120"/>
              </a:lnSpc>
              <a:spcBef>
                <a:spcPts val="2125"/>
              </a:spcBef>
            </a:pPr>
            <a:r>
              <a:rPr dirty="0" spc="-1015">
                <a:solidFill>
                  <a:srgbClr val="000000"/>
                </a:solidFill>
              </a:rPr>
              <a:t>R</a:t>
            </a:r>
            <a:r>
              <a:rPr dirty="0" spc="-1015"/>
              <a:t>R</a:t>
            </a:r>
            <a:r>
              <a:rPr dirty="0" spc="-1015">
                <a:solidFill>
                  <a:srgbClr val="000000"/>
                </a:solidFill>
              </a:rPr>
              <a:t>e</a:t>
            </a:r>
            <a:r>
              <a:rPr dirty="0" spc="-1015"/>
              <a:t>e</a:t>
            </a:r>
            <a:r>
              <a:rPr dirty="0" spc="-1015">
                <a:solidFill>
                  <a:srgbClr val="000000"/>
                </a:solidFill>
              </a:rPr>
              <a:t>v</a:t>
            </a:r>
            <a:r>
              <a:rPr dirty="0" spc="-1015"/>
              <a:t>v</a:t>
            </a:r>
            <a:r>
              <a:rPr dirty="0" spc="-1015">
                <a:solidFill>
                  <a:srgbClr val="000000"/>
                </a:solidFill>
              </a:rPr>
              <a:t>i</a:t>
            </a:r>
            <a:r>
              <a:rPr dirty="0" spc="-1015"/>
              <a:t>i</a:t>
            </a:r>
            <a:r>
              <a:rPr dirty="0" spc="-1015">
                <a:solidFill>
                  <a:srgbClr val="000000"/>
                </a:solidFill>
              </a:rPr>
              <a:t>s</a:t>
            </a:r>
            <a:r>
              <a:rPr dirty="0" spc="-1015"/>
              <a:t>s</a:t>
            </a:r>
            <a:r>
              <a:rPr dirty="0" spc="-1015">
                <a:solidFill>
                  <a:srgbClr val="000000"/>
                </a:solidFill>
              </a:rPr>
              <a:t>t</a:t>
            </a:r>
            <a:r>
              <a:rPr dirty="0" spc="-1015"/>
              <a:t>t</a:t>
            </a:r>
            <a:r>
              <a:rPr dirty="0" spc="-1015">
                <a:solidFill>
                  <a:srgbClr val="000000"/>
                </a:solidFill>
              </a:rPr>
              <a:t>i</a:t>
            </a:r>
            <a:r>
              <a:rPr dirty="0" spc="-1015"/>
              <a:t>i</a:t>
            </a:r>
            <a:r>
              <a:rPr dirty="0" spc="-1015">
                <a:solidFill>
                  <a:srgbClr val="000000"/>
                </a:solidFill>
              </a:rPr>
              <a:t>n</a:t>
            </a:r>
            <a:r>
              <a:rPr dirty="0" spc="-1015"/>
              <a:t>n</a:t>
            </a:r>
            <a:r>
              <a:rPr dirty="0" spc="-1015">
                <a:solidFill>
                  <a:srgbClr val="000000"/>
                </a:solidFill>
              </a:rPr>
              <a:t>g</a:t>
            </a:r>
            <a:r>
              <a:rPr dirty="0" spc="-1015"/>
              <a:t>g </a:t>
            </a:r>
            <a:r>
              <a:rPr dirty="0" spc="-1180">
                <a:solidFill>
                  <a:srgbClr val="000000"/>
                </a:solidFill>
              </a:rPr>
              <a:t>t</a:t>
            </a:r>
            <a:r>
              <a:rPr dirty="0" spc="-1180"/>
              <a:t>t</a:t>
            </a:r>
            <a:r>
              <a:rPr dirty="0" spc="-1180">
                <a:solidFill>
                  <a:srgbClr val="000000"/>
                </a:solidFill>
              </a:rPr>
              <a:t>h</a:t>
            </a:r>
            <a:r>
              <a:rPr dirty="0" spc="-1180"/>
              <a:t>h</a:t>
            </a:r>
            <a:r>
              <a:rPr dirty="0" spc="-1180">
                <a:solidFill>
                  <a:srgbClr val="000000"/>
                </a:solidFill>
              </a:rPr>
              <a:t>e</a:t>
            </a:r>
            <a:r>
              <a:rPr dirty="0" spc="-1180"/>
              <a:t>e </a:t>
            </a:r>
            <a:r>
              <a:rPr dirty="0" spc="-1080">
                <a:solidFill>
                  <a:srgbClr val="000000"/>
                </a:solidFill>
              </a:rPr>
              <a:t>A</a:t>
            </a:r>
            <a:r>
              <a:rPr dirty="0" spc="-1080"/>
              <a:t>A</a:t>
            </a:r>
            <a:r>
              <a:rPr dirty="0" spc="-1080">
                <a:solidFill>
                  <a:srgbClr val="000000"/>
                </a:solidFill>
              </a:rPr>
              <a:t>u</a:t>
            </a:r>
            <a:r>
              <a:rPr dirty="0" spc="-1080"/>
              <a:t>u</a:t>
            </a:r>
            <a:r>
              <a:rPr dirty="0" spc="-1080">
                <a:solidFill>
                  <a:srgbClr val="000000"/>
                </a:solidFill>
              </a:rPr>
              <a:t>t</a:t>
            </a:r>
            <a:r>
              <a:rPr dirty="0" spc="-1080"/>
              <a:t>t</a:t>
            </a:r>
            <a:r>
              <a:rPr dirty="0" spc="-1080">
                <a:solidFill>
                  <a:srgbClr val="000000"/>
                </a:solidFill>
              </a:rPr>
              <a:t>o</a:t>
            </a:r>
            <a:r>
              <a:rPr dirty="0" spc="-1080"/>
              <a:t>o</a:t>
            </a:r>
            <a:r>
              <a:rPr dirty="0" spc="-1080">
                <a:solidFill>
                  <a:srgbClr val="000000"/>
                </a:solidFill>
              </a:rPr>
              <a:t>c</a:t>
            </a:r>
            <a:r>
              <a:rPr dirty="0" spc="-1080"/>
              <a:t>c</a:t>
            </a:r>
            <a:r>
              <a:rPr dirty="0" spc="-1080">
                <a:solidFill>
                  <a:srgbClr val="000000"/>
                </a:solidFill>
              </a:rPr>
              <a:t>o</a:t>
            </a:r>
            <a:r>
              <a:rPr dirty="0" spc="-1080"/>
              <a:t>o</a:t>
            </a:r>
            <a:r>
              <a:rPr dirty="0" spc="-1080">
                <a:solidFill>
                  <a:srgbClr val="000000"/>
                </a:solidFill>
              </a:rPr>
              <a:t>r</a:t>
            </a:r>
            <a:r>
              <a:rPr dirty="0" spc="-1080"/>
              <a:t>r</a:t>
            </a:r>
            <a:r>
              <a:rPr dirty="0" spc="-1080">
                <a:solidFill>
                  <a:srgbClr val="000000"/>
                </a:solidFill>
              </a:rPr>
              <a:t>r</a:t>
            </a:r>
            <a:r>
              <a:rPr dirty="0" spc="-1080"/>
              <a:t>r</a:t>
            </a:r>
            <a:r>
              <a:rPr dirty="0" spc="-1080">
                <a:solidFill>
                  <a:srgbClr val="000000"/>
                </a:solidFill>
              </a:rPr>
              <a:t>e</a:t>
            </a:r>
            <a:r>
              <a:rPr dirty="0" spc="-1080"/>
              <a:t>e</a:t>
            </a:r>
            <a:r>
              <a:rPr dirty="0" spc="-1080">
                <a:solidFill>
                  <a:srgbClr val="000000"/>
                </a:solidFill>
              </a:rPr>
              <a:t>l</a:t>
            </a:r>
            <a:r>
              <a:rPr dirty="0" spc="-1080"/>
              <a:t>l</a:t>
            </a:r>
            <a:r>
              <a:rPr dirty="0" spc="-1080">
                <a:solidFill>
                  <a:srgbClr val="000000"/>
                </a:solidFill>
              </a:rPr>
              <a:t>a</a:t>
            </a:r>
            <a:r>
              <a:rPr dirty="0" spc="-1080"/>
              <a:t>a</a:t>
            </a:r>
            <a:r>
              <a:rPr dirty="0" spc="-1080">
                <a:solidFill>
                  <a:srgbClr val="000000"/>
                </a:solidFill>
              </a:rPr>
              <a:t>t</a:t>
            </a:r>
            <a:r>
              <a:rPr dirty="0" spc="-1080"/>
              <a:t>t</a:t>
            </a:r>
            <a:r>
              <a:rPr dirty="0" spc="-1080">
                <a:solidFill>
                  <a:srgbClr val="000000"/>
                </a:solidFill>
              </a:rPr>
              <a:t>i</a:t>
            </a:r>
            <a:r>
              <a:rPr dirty="0" spc="-1080"/>
              <a:t>i</a:t>
            </a:r>
            <a:r>
              <a:rPr dirty="0" spc="-1080">
                <a:solidFill>
                  <a:srgbClr val="000000"/>
                </a:solidFill>
              </a:rPr>
              <a:t>o</a:t>
            </a:r>
            <a:r>
              <a:rPr dirty="0" spc="-1080"/>
              <a:t>o</a:t>
            </a:r>
            <a:r>
              <a:rPr dirty="0" spc="-1080">
                <a:solidFill>
                  <a:srgbClr val="000000"/>
                </a:solidFill>
              </a:rPr>
              <a:t>n</a:t>
            </a:r>
            <a:r>
              <a:rPr dirty="0" spc="-1080"/>
              <a:t>n </a:t>
            </a:r>
            <a:r>
              <a:rPr dirty="0" spc="-1110">
                <a:solidFill>
                  <a:srgbClr val="000000"/>
                </a:solidFill>
              </a:rPr>
              <a:t>F</a:t>
            </a:r>
            <a:r>
              <a:rPr dirty="0" spc="-1110"/>
              <a:t>F</a:t>
            </a:r>
            <a:r>
              <a:rPr dirty="0" spc="-1110">
                <a:solidFill>
                  <a:srgbClr val="000000"/>
                </a:solidFill>
              </a:rPr>
              <a:t>u</a:t>
            </a:r>
            <a:r>
              <a:rPr dirty="0" spc="-1110"/>
              <a:t>u</a:t>
            </a:r>
            <a:r>
              <a:rPr dirty="0" spc="-1110">
                <a:solidFill>
                  <a:srgbClr val="000000"/>
                </a:solidFill>
              </a:rPr>
              <a:t>n</a:t>
            </a:r>
            <a:r>
              <a:rPr dirty="0" spc="-1110"/>
              <a:t>n</a:t>
            </a:r>
            <a:r>
              <a:rPr dirty="0" spc="-1110">
                <a:solidFill>
                  <a:srgbClr val="000000"/>
                </a:solidFill>
              </a:rPr>
              <a:t>c</a:t>
            </a:r>
            <a:r>
              <a:rPr dirty="0" spc="-1110"/>
              <a:t>c</a:t>
            </a:r>
            <a:r>
              <a:rPr dirty="0" spc="-1110">
                <a:solidFill>
                  <a:srgbClr val="000000"/>
                </a:solidFill>
              </a:rPr>
              <a:t>t</a:t>
            </a:r>
            <a:r>
              <a:rPr dirty="0" spc="-1110"/>
              <a:t>t</a:t>
            </a:r>
            <a:r>
              <a:rPr dirty="0" spc="-1110">
                <a:solidFill>
                  <a:srgbClr val="000000"/>
                </a:solidFill>
              </a:rPr>
              <a:t>i</a:t>
            </a:r>
            <a:r>
              <a:rPr dirty="0" spc="-1110"/>
              <a:t>i</a:t>
            </a:r>
            <a:r>
              <a:rPr dirty="0" spc="-1110">
                <a:solidFill>
                  <a:srgbClr val="000000"/>
                </a:solidFill>
              </a:rPr>
              <a:t>o</a:t>
            </a:r>
            <a:r>
              <a:rPr dirty="0" spc="-1110"/>
              <a:t>o</a:t>
            </a:r>
            <a:r>
              <a:rPr dirty="0" spc="-1110">
                <a:solidFill>
                  <a:srgbClr val="000000"/>
                </a:solidFill>
              </a:rPr>
              <a:t>n</a:t>
            </a:r>
            <a:r>
              <a:rPr dirty="0" spc="-1110"/>
              <a:t>n </a:t>
            </a:r>
            <a:r>
              <a:rPr dirty="0" spc="-1080">
                <a:solidFill>
                  <a:srgbClr val="000000"/>
                </a:solidFill>
              </a:rPr>
              <a:t>(</a:t>
            </a:r>
            <a:r>
              <a:rPr dirty="0" spc="-1080"/>
              <a:t>(</a:t>
            </a:r>
            <a:r>
              <a:rPr dirty="0" spc="-1080">
                <a:solidFill>
                  <a:srgbClr val="000000"/>
                </a:solidFill>
              </a:rPr>
              <a:t>A</a:t>
            </a:r>
            <a:r>
              <a:rPr dirty="0" spc="-1080"/>
              <a:t>A</a:t>
            </a:r>
            <a:r>
              <a:rPr dirty="0" spc="-1080">
                <a:solidFill>
                  <a:srgbClr val="000000"/>
                </a:solidFill>
              </a:rPr>
              <a:t>C</a:t>
            </a:r>
            <a:r>
              <a:rPr dirty="0" spc="-1080"/>
              <a:t>C</a:t>
            </a:r>
            <a:r>
              <a:rPr dirty="0" spc="-1080">
                <a:solidFill>
                  <a:srgbClr val="000000"/>
                </a:solidFill>
              </a:rPr>
              <a:t>F</a:t>
            </a:r>
            <a:r>
              <a:rPr dirty="0" spc="-1080"/>
              <a:t>F</a:t>
            </a:r>
            <a:r>
              <a:rPr dirty="0" spc="-1080">
                <a:solidFill>
                  <a:srgbClr val="000000"/>
                </a:solidFill>
              </a:rPr>
              <a:t>)</a:t>
            </a:r>
            <a:r>
              <a:rPr dirty="0" spc="-1080"/>
              <a:t>)  </a:t>
            </a:r>
            <a:r>
              <a:rPr dirty="0" spc="-1225">
                <a:solidFill>
                  <a:srgbClr val="000000"/>
                </a:solidFill>
              </a:rPr>
              <a:t>a</a:t>
            </a:r>
            <a:r>
              <a:rPr dirty="0" spc="-1225"/>
              <a:t>a</a:t>
            </a:r>
            <a:r>
              <a:rPr dirty="0" spc="-1225">
                <a:solidFill>
                  <a:srgbClr val="000000"/>
                </a:solidFill>
              </a:rPr>
              <a:t>n</a:t>
            </a:r>
            <a:r>
              <a:rPr dirty="0" spc="-1225"/>
              <a:t>n</a:t>
            </a:r>
            <a:r>
              <a:rPr dirty="0" spc="-1225">
                <a:solidFill>
                  <a:srgbClr val="000000"/>
                </a:solidFill>
              </a:rPr>
              <a:t>d</a:t>
            </a:r>
            <a:r>
              <a:rPr dirty="0" spc="-1225"/>
              <a:t>d </a:t>
            </a:r>
            <a:r>
              <a:rPr dirty="0" spc="-1145">
                <a:solidFill>
                  <a:srgbClr val="000000"/>
                </a:solidFill>
              </a:rPr>
              <a:t>E</a:t>
            </a:r>
            <a:r>
              <a:rPr dirty="0" spc="-1145"/>
              <a:t>E</a:t>
            </a:r>
            <a:r>
              <a:rPr dirty="0" spc="-1145">
                <a:solidFill>
                  <a:srgbClr val="000000"/>
                </a:solidFill>
              </a:rPr>
              <a:t>x</a:t>
            </a:r>
            <a:r>
              <a:rPr dirty="0" spc="-1145"/>
              <a:t>x</a:t>
            </a:r>
            <a:r>
              <a:rPr dirty="0" spc="-1145">
                <a:solidFill>
                  <a:srgbClr val="000000"/>
                </a:solidFill>
              </a:rPr>
              <a:t>a</a:t>
            </a:r>
            <a:r>
              <a:rPr dirty="0" spc="-1145"/>
              <a:t>a</a:t>
            </a:r>
            <a:r>
              <a:rPr dirty="0" spc="-1145">
                <a:solidFill>
                  <a:srgbClr val="000000"/>
                </a:solidFill>
              </a:rPr>
              <a:t>m</a:t>
            </a:r>
            <a:r>
              <a:rPr dirty="0" spc="-1145"/>
              <a:t>m</a:t>
            </a:r>
            <a:r>
              <a:rPr dirty="0" spc="-1145">
                <a:solidFill>
                  <a:srgbClr val="000000"/>
                </a:solidFill>
              </a:rPr>
              <a:t>i</a:t>
            </a:r>
            <a:r>
              <a:rPr dirty="0" spc="-1145"/>
              <a:t>i</a:t>
            </a:r>
            <a:r>
              <a:rPr dirty="0" spc="-1145">
                <a:solidFill>
                  <a:srgbClr val="000000"/>
                </a:solidFill>
              </a:rPr>
              <a:t>n</a:t>
            </a:r>
            <a:r>
              <a:rPr dirty="0" spc="-1145"/>
              <a:t>n</a:t>
            </a:r>
            <a:r>
              <a:rPr dirty="0" spc="-1145">
                <a:solidFill>
                  <a:srgbClr val="000000"/>
                </a:solidFill>
              </a:rPr>
              <a:t>i</a:t>
            </a:r>
            <a:r>
              <a:rPr dirty="0" spc="-1145"/>
              <a:t>i</a:t>
            </a:r>
            <a:r>
              <a:rPr dirty="0" spc="-1145">
                <a:solidFill>
                  <a:srgbClr val="000000"/>
                </a:solidFill>
              </a:rPr>
              <a:t>n</a:t>
            </a:r>
            <a:r>
              <a:rPr dirty="0" spc="-1145"/>
              <a:t>n</a:t>
            </a:r>
            <a:r>
              <a:rPr dirty="0" spc="-1145">
                <a:solidFill>
                  <a:srgbClr val="000000"/>
                </a:solidFill>
              </a:rPr>
              <a:t>g</a:t>
            </a:r>
            <a:r>
              <a:rPr dirty="0" spc="-1145"/>
              <a:t>g </a:t>
            </a:r>
            <a:r>
              <a:rPr dirty="0" spc="-1180">
                <a:solidFill>
                  <a:srgbClr val="000000"/>
                </a:solidFill>
              </a:rPr>
              <a:t>t</a:t>
            </a:r>
            <a:r>
              <a:rPr dirty="0" spc="-1180"/>
              <a:t>t</a:t>
            </a:r>
            <a:r>
              <a:rPr dirty="0" spc="-1180">
                <a:solidFill>
                  <a:srgbClr val="000000"/>
                </a:solidFill>
              </a:rPr>
              <a:t>h</a:t>
            </a:r>
            <a:r>
              <a:rPr dirty="0" spc="-1180"/>
              <a:t>h</a:t>
            </a:r>
            <a:r>
              <a:rPr dirty="0" spc="-1180">
                <a:solidFill>
                  <a:srgbClr val="000000"/>
                </a:solidFill>
              </a:rPr>
              <a:t>e</a:t>
            </a:r>
            <a:r>
              <a:rPr dirty="0" spc="-1180"/>
              <a:t>e </a:t>
            </a:r>
            <a:r>
              <a:rPr dirty="0" spc="-985">
                <a:solidFill>
                  <a:srgbClr val="000000"/>
                </a:solidFill>
              </a:rPr>
              <a:t>P</a:t>
            </a:r>
            <a:r>
              <a:rPr dirty="0" spc="-985"/>
              <a:t>P</a:t>
            </a:r>
            <a:r>
              <a:rPr dirty="0" spc="-985">
                <a:solidFill>
                  <a:srgbClr val="000000"/>
                </a:solidFill>
              </a:rPr>
              <a:t>a</a:t>
            </a:r>
            <a:r>
              <a:rPr dirty="0" spc="-985"/>
              <a:t>a</a:t>
            </a:r>
            <a:r>
              <a:rPr dirty="0" spc="-985">
                <a:solidFill>
                  <a:srgbClr val="000000"/>
                </a:solidFill>
              </a:rPr>
              <a:t>r</a:t>
            </a:r>
            <a:r>
              <a:rPr dirty="0" spc="-985"/>
              <a:t>r</a:t>
            </a:r>
            <a:r>
              <a:rPr dirty="0" spc="-985">
                <a:solidFill>
                  <a:srgbClr val="000000"/>
                </a:solidFill>
              </a:rPr>
              <a:t>t</a:t>
            </a:r>
            <a:r>
              <a:rPr dirty="0" spc="-985"/>
              <a:t>t</a:t>
            </a:r>
            <a:r>
              <a:rPr dirty="0" spc="-985">
                <a:solidFill>
                  <a:srgbClr val="000000"/>
                </a:solidFill>
              </a:rPr>
              <a:t>i</a:t>
            </a:r>
            <a:r>
              <a:rPr dirty="0" spc="-985"/>
              <a:t>i</a:t>
            </a:r>
            <a:r>
              <a:rPr dirty="0" spc="-985">
                <a:solidFill>
                  <a:srgbClr val="000000"/>
                </a:solidFill>
              </a:rPr>
              <a:t>a</a:t>
            </a:r>
            <a:r>
              <a:rPr dirty="0" spc="-985"/>
              <a:t>a</a:t>
            </a:r>
            <a:r>
              <a:rPr dirty="0" spc="-985">
                <a:solidFill>
                  <a:srgbClr val="000000"/>
                </a:solidFill>
              </a:rPr>
              <a:t>l</a:t>
            </a:r>
            <a:r>
              <a:rPr dirty="0" spc="-985"/>
              <a:t>l </a:t>
            </a:r>
            <a:r>
              <a:rPr dirty="0" spc="-1080">
                <a:solidFill>
                  <a:srgbClr val="000000"/>
                </a:solidFill>
              </a:rPr>
              <a:t>A</a:t>
            </a:r>
            <a:r>
              <a:rPr dirty="0" spc="-1080"/>
              <a:t>A</a:t>
            </a:r>
            <a:r>
              <a:rPr dirty="0" spc="-1080">
                <a:solidFill>
                  <a:srgbClr val="000000"/>
                </a:solidFill>
              </a:rPr>
              <a:t>u</a:t>
            </a:r>
            <a:r>
              <a:rPr dirty="0" spc="-1080"/>
              <a:t>u</a:t>
            </a:r>
            <a:r>
              <a:rPr dirty="0" spc="-1080">
                <a:solidFill>
                  <a:srgbClr val="000000"/>
                </a:solidFill>
              </a:rPr>
              <a:t>t</a:t>
            </a:r>
            <a:r>
              <a:rPr dirty="0" spc="-1080"/>
              <a:t>t</a:t>
            </a:r>
            <a:r>
              <a:rPr dirty="0" spc="-1080">
                <a:solidFill>
                  <a:srgbClr val="000000"/>
                </a:solidFill>
              </a:rPr>
              <a:t>o</a:t>
            </a:r>
            <a:r>
              <a:rPr dirty="0" spc="-1080"/>
              <a:t>o</a:t>
            </a:r>
            <a:r>
              <a:rPr dirty="0" spc="-1080">
                <a:solidFill>
                  <a:srgbClr val="000000"/>
                </a:solidFill>
              </a:rPr>
              <a:t>c</a:t>
            </a:r>
            <a:r>
              <a:rPr dirty="0" spc="-1080"/>
              <a:t>c</a:t>
            </a:r>
            <a:r>
              <a:rPr dirty="0" spc="-1080">
                <a:solidFill>
                  <a:srgbClr val="000000"/>
                </a:solidFill>
              </a:rPr>
              <a:t>o</a:t>
            </a:r>
            <a:r>
              <a:rPr dirty="0" spc="-1080"/>
              <a:t>o</a:t>
            </a:r>
            <a:r>
              <a:rPr dirty="0" spc="-1080">
                <a:solidFill>
                  <a:srgbClr val="000000"/>
                </a:solidFill>
              </a:rPr>
              <a:t>r</a:t>
            </a:r>
            <a:r>
              <a:rPr dirty="0" spc="-1080"/>
              <a:t>r</a:t>
            </a:r>
            <a:r>
              <a:rPr dirty="0" spc="-1080">
                <a:solidFill>
                  <a:srgbClr val="000000"/>
                </a:solidFill>
              </a:rPr>
              <a:t>r</a:t>
            </a:r>
            <a:r>
              <a:rPr dirty="0" spc="-1080"/>
              <a:t>r</a:t>
            </a:r>
            <a:r>
              <a:rPr dirty="0" spc="-1080">
                <a:solidFill>
                  <a:srgbClr val="000000"/>
                </a:solidFill>
              </a:rPr>
              <a:t>e</a:t>
            </a:r>
            <a:r>
              <a:rPr dirty="0" spc="-1080"/>
              <a:t>e</a:t>
            </a:r>
            <a:r>
              <a:rPr dirty="0" spc="-1080">
                <a:solidFill>
                  <a:srgbClr val="000000"/>
                </a:solidFill>
              </a:rPr>
              <a:t>l</a:t>
            </a:r>
            <a:r>
              <a:rPr dirty="0" spc="-1080"/>
              <a:t>l</a:t>
            </a:r>
            <a:r>
              <a:rPr dirty="0" spc="-1080">
                <a:solidFill>
                  <a:srgbClr val="000000"/>
                </a:solidFill>
              </a:rPr>
              <a:t>a</a:t>
            </a:r>
            <a:r>
              <a:rPr dirty="0" spc="-1080"/>
              <a:t>a</a:t>
            </a:r>
            <a:r>
              <a:rPr dirty="0" spc="-1080">
                <a:solidFill>
                  <a:srgbClr val="000000"/>
                </a:solidFill>
              </a:rPr>
              <a:t>t</a:t>
            </a:r>
            <a:r>
              <a:rPr dirty="0" spc="-1080"/>
              <a:t>t</a:t>
            </a:r>
            <a:r>
              <a:rPr dirty="0" spc="-1080">
                <a:solidFill>
                  <a:srgbClr val="000000"/>
                </a:solidFill>
              </a:rPr>
              <a:t>i</a:t>
            </a:r>
            <a:r>
              <a:rPr dirty="0" spc="-1080"/>
              <a:t>i</a:t>
            </a:r>
            <a:r>
              <a:rPr dirty="0" spc="-1080">
                <a:solidFill>
                  <a:srgbClr val="000000"/>
                </a:solidFill>
              </a:rPr>
              <a:t>o</a:t>
            </a:r>
            <a:r>
              <a:rPr dirty="0" spc="-1080"/>
              <a:t>o</a:t>
            </a:r>
            <a:r>
              <a:rPr dirty="0" spc="-1080">
                <a:solidFill>
                  <a:srgbClr val="000000"/>
                </a:solidFill>
              </a:rPr>
              <a:t>n</a:t>
            </a:r>
            <a:r>
              <a:rPr dirty="0" spc="-1080"/>
              <a:t>n  </a:t>
            </a:r>
            <a:r>
              <a:rPr dirty="0" spc="-1110">
                <a:solidFill>
                  <a:srgbClr val="000000"/>
                </a:solidFill>
              </a:rPr>
              <a:t>F</a:t>
            </a:r>
            <a:r>
              <a:rPr dirty="0" spc="-1110"/>
              <a:t>F</a:t>
            </a:r>
            <a:r>
              <a:rPr dirty="0" spc="-1110">
                <a:solidFill>
                  <a:srgbClr val="000000"/>
                </a:solidFill>
              </a:rPr>
              <a:t>u</a:t>
            </a:r>
            <a:r>
              <a:rPr dirty="0" spc="-1110"/>
              <a:t>u</a:t>
            </a:r>
            <a:r>
              <a:rPr dirty="0" spc="-1110">
                <a:solidFill>
                  <a:srgbClr val="000000"/>
                </a:solidFill>
              </a:rPr>
              <a:t>n</a:t>
            </a:r>
            <a:r>
              <a:rPr dirty="0" spc="-1110"/>
              <a:t>n</a:t>
            </a:r>
            <a:r>
              <a:rPr dirty="0" spc="-1110">
                <a:solidFill>
                  <a:srgbClr val="000000"/>
                </a:solidFill>
              </a:rPr>
              <a:t>c</a:t>
            </a:r>
            <a:r>
              <a:rPr dirty="0" spc="-1110"/>
              <a:t>c</a:t>
            </a:r>
            <a:r>
              <a:rPr dirty="0" spc="-1110">
                <a:solidFill>
                  <a:srgbClr val="000000"/>
                </a:solidFill>
              </a:rPr>
              <a:t>t</a:t>
            </a:r>
            <a:r>
              <a:rPr dirty="0" spc="-1110"/>
              <a:t>t</a:t>
            </a:r>
            <a:r>
              <a:rPr dirty="0" spc="-1110">
                <a:solidFill>
                  <a:srgbClr val="000000"/>
                </a:solidFill>
              </a:rPr>
              <a:t>i</a:t>
            </a:r>
            <a:r>
              <a:rPr dirty="0" spc="-1110"/>
              <a:t>i</a:t>
            </a:r>
            <a:r>
              <a:rPr dirty="0" spc="-1110">
                <a:solidFill>
                  <a:srgbClr val="000000"/>
                </a:solidFill>
              </a:rPr>
              <a:t>o</a:t>
            </a:r>
            <a:r>
              <a:rPr dirty="0" spc="-1110"/>
              <a:t>o</a:t>
            </a:r>
            <a:r>
              <a:rPr dirty="0" spc="-1110">
                <a:solidFill>
                  <a:srgbClr val="000000"/>
                </a:solidFill>
              </a:rPr>
              <a:t>n</a:t>
            </a:r>
            <a:r>
              <a:rPr dirty="0" spc="-1110"/>
              <a:t>n</a:t>
            </a:r>
            <a:r>
              <a:rPr dirty="0" spc="-1045"/>
              <a:t> </a:t>
            </a:r>
            <a:r>
              <a:rPr dirty="0" spc="-1115">
                <a:solidFill>
                  <a:srgbClr val="000000"/>
                </a:solidFill>
              </a:rPr>
              <a:t>(</a:t>
            </a:r>
            <a:r>
              <a:rPr dirty="0" spc="-1115"/>
              <a:t>(</a:t>
            </a:r>
            <a:r>
              <a:rPr dirty="0" spc="-1115">
                <a:solidFill>
                  <a:srgbClr val="000000"/>
                </a:solidFill>
              </a:rPr>
              <a:t>P</a:t>
            </a:r>
            <a:r>
              <a:rPr dirty="0" spc="-1115"/>
              <a:t>P</a:t>
            </a:r>
            <a:r>
              <a:rPr dirty="0" spc="-1115">
                <a:solidFill>
                  <a:srgbClr val="000000"/>
                </a:solidFill>
              </a:rPr>
              <a:t>A</a:t>
            </a:r>
            <a:r>
              <a:rPr dirty="0" spc="-1115"/>
              <a:t>A</a:t>
            </a:r>
            <a:r>
              <a:rPr dirty="0" spc="-1115">
                <a:solidFill>
                  <a:srgbClr val="000000"/>
                </a:solidFill>
              </a:rPr>
              <a:t>C</a:t>
            </a:r>
            <a:r>
              <a:rPr dirty="0" spc="-1115"/>
              <a:t>C</a:t>
            </a:r>
            <a:r>
              <a:rPr dirty="0" spc="-1115">
                <a:solidFill>
                  <a:srgbClr val="000000"/>
                </a:solidFill>
              </a:rPr>
              <a:t>F</a:t>
            </a:r>
            <a:r>
              <a:rPr dirty="0" spc="-1115"/>
              <a:t>F</a:t>
            </a:r>
            <a:r>
              <a:rPr dirty="0" spc="-1115">
                <a:solidFill>
                  <a:srgbClr val="000000"/>
                </a:solidFill>
              </a:rPr>
              <a:t>)</a:t>
            </a:r>
            <a:r>
              <a:rPr dirty="0" spc="-1115"/>
              <a:t>)</a:t>
            </a:r>
          </a:p>
        </p:txBody>
      </p:sp>
      <p:sp>
        <p:nvSpPr>
          <p:cNvPr id="3" name="object 3"/>
          <p:cNvSpPr/>
          <p:nvPr/>
        </p:nvSpPr>
        <p:spPr>
          <a:xfrm>
            <a:off x="10713719" y="5995415"/>
            <a:ext cx="811530" cy="491490"/>
          </a:xfrm>
          <a:custGeom>
            <a:avLst/>
            <a:gdLst/>
            <a:ahLst/>
            <a:cxnLst/>
            <a:rect l="l" t="t" r="r" b="b"/>
            <a:pathLst>
              <a:path w="811529" h="491489">
                <a:moveTo>
                  <a:pt x="0" y="0"/>
                </a:moveTo>
                <a:lnTo>
                  <a:pt x="811529" y="0"/>
                </a:lnTo>
                <a:lnTo>
                  <a:pt x="811529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964712" y="6218137"/>
            <a:ext cx="421005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 spc="-295">
                <a:latin typeface="Trebuchet MS"/>
                <a:cs typeface="Trebuchet MS"/>
              </a:rPr>
              <a:t>4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4</a:t>
            </a:r>
            <a:r>
              <a:rPr dirty="0" sz="1200" spc="-23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385">
                <a:latin typeface="Trebuchet MS"/>
                <a:cs typeface="Trebuchet MS"/>
              </a:rPr>
              <a:t>/</a:t>
            </a:r>
            <a:r>
              <a:rPr dirty="0" sz="1200" spc="-385">
                <a:solidFill>
                  <a:srgbClr val="FFFFFF"/>
                </a:solidFill>
                <a:latin typeface="Trebuchet MS"/>
                <a:cs typeface="Trebuchet MS"/>
              </a:rPr>
              <a:t>/</a:t>
            </a:r>
            <a:r>
              <a:rPr dirty="0" sz="1200" spc="-9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5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5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31158" y="4493202"/>
            <a:ext cx="4201794" cy="18218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26288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95">
                <a:solidFill>
                  <a:srgbClr val="C2132D"/>
                </a:solidFill>
              </a:rPr>
              <a:t>Autocorrelation </a:t>
            </a:r>
            <a:r>
              <a:rPr dirty="0" sz="3350" spc="-185">
                <a:solidFill>
                  <a:srgbClr val="C2132D"/>
                </a:solidFill>
              </a:rPr>
              <a:t>Function</a:t>
            </a:r>
            <a:r>
              <a:rPr dirty="0" sz="3350" spc="-360">
                <a:solidFill>
                  <a:srgbClr val="C2132D"/>
                </a:solidFill>
              </a:rPr>
              <a:t> </a:t>
            </a:r>
            <a:r>
              <a:rPr dirty="0" sz="3350" spc="-120">
                <a:solidFill>
                  <a:srgbClr val="C2132D"/>
                </a:solidFill>
              </a:rPr>
              <a:t>(ACF)</a:t>
            </a:r>
            <a:endParaRPr sz="3350"/>
          </a:p>
        </p:txBody>
      </p:sp>
      <p:sp>
        <p:nvSpPr>
          <p:cNvPr id="4" name="object 4"/>
          <p:cNvSpPr txBox="1"/>
          <p:nvPr/>
        </p:nvSpPr>
        <p:spPr>
          <a:xfrm>
            <a:off x="1148754" y="1425575"/>
            <a:ext cx="9224010" cy="1061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autocorrelation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correlation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between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time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series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lagged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version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itself.</a:t>
            </a:r>
            <a:endParaRPr sz="1800">
              <a:latin typeface="Trebuchet MS"/>
              <a:cs typeface="Trebuchet MS"/>
            </a:endParaRPr>
          </a:p>
          <a:p>
            <a:pPr marL="146050" marR="97790" indent="-133985">
              <a:lnSpc>
                <a:spcPct val="118100"/>
              </a:lnSpc>
              <a:spcBef>
                <a:spcPts val="9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ACF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function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that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captures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autocorrelation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a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at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different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lags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, 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which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can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latin typeface="Trebuchet MS"/>
                <a:cs typeface="Trebuchet MS"/>
              </a:rPr>
              <a:t>help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60" b="1">
                <a:latin typeface="Trebuchet MS"/>
                <a:cs typeface="Trebuchet MS"/>
              </a:rPr>
              <a:t>in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40" b="1">
                <a:latin typeface="Trebuchet MS"/>
                <a:cs typeface="Trebuchet MS"/>
              </a:rPr>
              <a:t>detecting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45" b="1">
                <a:latin typeface="Trebuchet MS"/>
                <a:cs typeface="Trebuchet MS"/>
              </a:rPr>
              <a:t>stationarity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30" b="1">
                <a:latin typeface="Trebuchet MS"/>
                <a:cs typeface="Trebuchet MS"/>
              </a:rPr>
              <a:t>and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25" b="1">
                <a:latin typeface="Trebuchet MS"/>
                <a:cs typeface="Trebuchet MS"/>
              </a:rPr>
              <a:t>seasonality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63417" y="2823845"/>
            <a:ext cx="44069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300" spc="40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baseline="-15432" sz="1350" spc="60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baseline="-15432" sz="1350" spc="24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450" spc="-3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endParaRPr sz="1450">
              <a:latin typeface="Lucida Sans Unicode"/>
              <a:cs typeface="Lucida Sans Unicode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15706" y="2700020"/>
            <a:ext cx="110871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300" spc="50" i="1">
                <a:solidFill>
                  <a:srgbClr val="585D60"/>
                </a:solidFill>
                <a:latin typeface="Arial"/>
                <a:cs typeface="Arial"/>
              </a:rPr>
              <a:t>Cov</a:t>
            </a:r>
            <a:r>
              <a:rPr dirty="0" sz="1450" spc="50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3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9259" sz="1350" spc="7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450" spc="5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450" spc="-25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300" spc="6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5432" sz="1350" spc="89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888" sz="1500" spc="89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baseline="-15432" sz="1350" spc="89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450" spc="60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endParaRPr sz="1450">
              <a:latin typeface="Lucida Sans Unicode"/>
              <a:cs typeface="Lucida Sans Unicode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619601" y="2957195"/>
            <a:ext cx="70104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300" spc="-30" i="1">
                <a:solidFill>
                  <a:srgbClr val="585D60"/>
                </a:solidFill>
                <a:latin typeface="Arial"/>
                <a:cs typeface="Arial"/>
              </a:rPr>
              <a:t>V</a:t>
            </a:r>
            <a:r>
              <a:rPr dirty="0" sz="1300" spc="-135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300" spc="95" i="1">
                <a:solidFill>
                  <a:srgbClr val="585D60"/>
                </a:solidFill>
                <a:latin typeface="Arial"/>
                <a:cs typeface="Arial"/>
              </a:rPr>
              <a:t>ar</a:t>
            </a:r>
            <a:r>
              <a:rPr dirty="0" sz="1450" spc="95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300" spc="9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5432" sz="1350" spc="14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450" spc="95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endParaRPr sz="145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438774" y="2976562"/>
            <a:ext cx="1066800" cy="0"/>
          </a:xfrm>
          <a:custGeom>
            <a:avLst/>
            <a:gdLst/>
            <a:ahLst/>
            <a:cxnLst/>
            <a:rect l="l" t="t" r="r" b="b"/>
            <a:pathLst>
              <a:path w="1066800" h="0">
                <a:moveTo>
                  <a:pt x="0" y="0"/>
                </a:moveTo>
                <a:lnTo>
                  <a:pt x="1066799" y="0"/>
                </a:lnTo>
              </a:path>
            </a:pathLst>
          </a:custGeom>
          <a:ln w="9524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5762624" y="3581400"/>
            <a:ext cx="4848225" cy="647700"/>
          </a:xfrm>
          <a:custGeom>
            <a:avLst/>
            <a:gdLst/>
            <a:ahLst/>
            <a:cxnLst/>
            <a:rect l="l" t="t" r="r" b="b"/>
            <a:pathLst>
              <a:path w="4848225" h="647700">
                <a:moveTo>
                  <a:pt x="0" y="0"/>
                </a:moveTo>
                <a:lnTo>
                  <a:pt x="4848224" y="0"/>
                </a:lnTo>
                <a:lnTo>
                  <a:pt x="4848224" y="647699"/>
                </a:lnTo>
                <a:lnTo>
                  <a:pt x="0" y="647699"/>
                </a:lnTo>
                <a:lnTo>
                  <a:pt x="0" y="0"/>
                </a:lnTo>
                <a:close/>
              </a:path>
            </a:pathLst>
          </a:custGeom>
          <a:solidFill>
            <a:srgbClr val="F7F7F7"/>
          </a:solidFill>
        </p:spPr>
        <p:txBody>
          <a:bodyPr wrap="square" lIns="0" tIns="0" rIns="0" bIns="0" rtlCol="0"/>
          <a:lstStyle/>
          <a:p/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920216" y="3581400"/>
          <a:ext cx="9690735" cy="2819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52010"/>
                <a:gridCol w="190500"/>
                <a:gridCol w="295275"/>
                <a:gridCol w="292100"/>
                <a:gridCol w="334010"/>
                <a:gridCol w="3928110"/>
              </a:tblGrid>
              <a:tr h="391988">
                <a:tc>
                  <a:txBody>
                    <a:bodyPr/>
                    <a:lstStyle/>
                    <a:p>
                      <a:pPr marL="63500">
                        <a:lnSpc>
                          <a:spcPts val="1260"/>
                        </a:lnSpc>
                        <a:spcBef>
                          <a:spcPts val="550"/>
                        </a:spcBef>
                      </a:pPr>
                      <a:r>
                        <a:rPr dirty="0" sz="1100" spc="-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import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matplotlib.pyplot </a:t>
                      </a:r>
                      <a:r>
                        <a:rPr dirty="0" sz="1100" spc="-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as</a:t>
                      </a:r>
                      <a:r>
                        <a:rPr dirty="0" sz="1100" spc="-1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plt</a:t>
                      </a:r>
                      <a:endParaRPr sz="1100">
                        <a:latin typeface="Courier New"/>
                        <a:cs typeface="Courier New"/>
                      </a:endParaRPr>
                    </a:p>
                    <a:p>
                      <a:pPr marL="63500">
                        <a:lnSpc>
                          <a:spcPts val="1175"/>
                        </a:lnSpc>
                      </a:pPr>
                      <a:r>
                        <a:rPr dirty="0" sz="1100" spc="-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import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pandas </a:t>
                      </a:r>
                      <a:r>
                        <a:rPr dirty="0" sz="1100" spc="-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as</a:t>
                      </a:r>
                      <a:r>
                        <a:rPr dirty="0" sz="1100" spc="-1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pd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698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86360" marR="33655">
                        <a:lnSpc>
                          <a:spcPts val="1200"/>
                        </a:lnSpc>
                        <a:spcBef>
                          <a:spcPts val="69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 </a:t>
                      </a: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 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8763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L="41275">
                        <a:lnSpc>
                          <a:spcPts val="123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3175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75565">
                        <a:lnSpc>
                          <a:spcPts val="1260"/>
                        </a:lnSpc>
                        <a:spcBef>
                          <a:spcPts val="55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lag</a:t>
                      </a:r>
                      <a:endParaRPr sz="1100">
                        <a:latin typeface="Courier New"/>
                        <a:cs typeface="Courier New"/>
                      </a:endParaRPr>
                    </a:p>
                    <a:p>
                      <a:pPr algn="r" marR="7556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698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83185" marR="3252470" indent="333375">
                        <a:lnSpc>
                          <a:spcPts val="1200"/>
                        </a:lnSpc>
                        <a:spcBef>
                          <a:spcPts val="69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acf </a:t>
                      </a: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 0.68361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87630">
                    <a:solidFill>
                      <a:srgbClr val="F7F7F7"/>
                    </a:solidFill>
                  </a:tcPr>
                </a:tc>
              </a:tr>
              <a:tr h="391603">
                <a:tc>
                  <a:txBody>
                    <a:bodyPr/>
                    <a:lstStyle/>
                    <a:p>
                      <a:pPr marL="63500">
                        <a:lnSpc>
                          <a:spcPts val="1235"/>
                        </a:lnSpc>
                      </a:pPr>
                      <a:r>
                        <a:rPr dirty="0" sz="1100" spc="-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from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statsmodels.tsa.stattools </a:t>
                      </a:r>
                      <a:r>
                        <a:rPr dirty="0" sz="1100" spc="-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import</a:t>
                      </a:r>
                      <a:r>
                        <a:rPr dirty="0" sz="1100" spc="-1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acf</a:t>
                      </a:r>
                      <a:endParaRPr sz="1100">
                        <a:latin typeface="Courier New"/>
                        <a:cs typeface="Courier New"/>
                      </a:endParaRPr>
                    </a:p>
                    <a:p>
                      <a:pPr marL="63500">
                        <a:lnSpc>
                          <a:spcPts val="1295"/>
                        </a:lnSpc>
                      </a:pPr>
                      <a:r>
                        <a:rPr dirty="0" sz="1100" spc="-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from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statsmodels.graphics.tsaplots </a:t>
                      </a:r>
                      <a:r>
                        <a:rPr dirty="0" sz="1100" spc="-5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import</a:t>
                      </a:r>
                      <a:r>
                        <a:rPr dirty="0" sz="1100" spc="-20" b="1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plot_acf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86360">
                        <a:lnSpc>
                          <a:spcPts val="126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26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166370">
                        <a:lnSpc>
                          <a:spcPts val="126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83185">
                        <a:lnSpc>
                          <a:spcPts val="126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0.93997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</a:tr>
              <a:tr h="300037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df =</a:t>
                      </a:r>
                      <a:r>
                        <a:rPr dirty="0" sz="1100" spc="-1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pd.read_csv(</a:t>
                      </a:r>
                      <a:r>
                        <a:rPr dirty="0" sz="1100" spc="-5">
                          <a:solidFill>
                            <a:srgbClr val="DD1144"/>
                          </a:solidFill>
                          <a:latin typeface="Courier New"/>
                          <a:cs typeface="Courier New"/>
                        </a:rPr>
                        <a:t>'../../data/aus_beer.csv'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)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571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</a:tr>
              <a:tr h="239742">
                <a:tc>
                  <a:txBody>
                    <a:bodyPr/>
                    <a:lstStyle/>
                    <a:p>
                      <a:pPr marL="63500">
                        <a:lnSpc>
                          <a:spcPts val="1300"/>
                        </a:lnSpc>
                        <a:spcBef>
                          <a:spcPts val="489"/>
                        </a:spcBef>
                      </a:pP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acf_df =</a:t>
                      </a:r>
                      <a:r>
                        <a:rPr dirty="0" sz="1100" spc="-10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pd.DataFrame({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62229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</a:tr>
              <a:tr h="1495586">
                <a:tc>
                  <a:txBody>
                    <a:bodyPr/>
                    <a:lstStyle/>
                    <a:p>
                      <a:pPr marL="396875">
                        <a:lnSpc>
                          <a:spcPts val="1135"/>
                        </a:lnSpc>
                      </a:pPr>
                      <a:r>
                        <a:rPr dirty="0" sz="1100" spc="-5">
                          <a:solidFill>
                            <a:srgbClr val="DD1144"/>
                          </a:solidFill>
                          <a:latin typeface="Courier New"/>
                          <a:cs typeface="Courier New"/>
                        </a:rPr>
                        <a:t>'lag'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: range(</a:t>
                      </a:r>
                      <a:r>
                        <a:rPr dirty="0" sz="1100" spc="-5">
                          <a:solidFill>
                            <a:srgbClr val="008080"/>
                          </a:solidFill>
                          <a:latin typeface="Courier New"/>
                          <a:cs typeface="Courier New"/>
                        </a:rPr>
                        <a:t>0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,</a:t>
                      </a:r>
                      <a:r>
                        <a:rPr dirty="0" sz="1100" spc="-10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100" spc="-5">
                          <a:solidFill>
                            <a:srgbClr val="008080"/>
                          </a:solidFill>
                          <a:latin typeface="Courier New"/>
                          <a:cs typeface="Courier New"/>
                        </a:rPr>
                        <a:t>13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),</a:t>
                      </a:r>
                      <a:endParaRPr sz="1100">
                        <a:latin typeface="Courier New"/>
                        <a:cs typeface="Courier New"/>
                      </a:endParaRPr>
                    </a:p>
                    <a:p>
                      <a:pPr marL="396875">
                        <a:lnSpc>
                          <a:spcPts val="1240"/>
                        </a:lnSpc>
                      </a:pPr>
                      <a:r>
                        <a:rPr dirty="0" sz="1100" spc="-5">
                          <a:solidFill>
                            <a:srgbClr val="DD1144"/>
                          </a:solidFill>
                          <a:latin typeface="Courier New"/>
                          <a:cs typeface="Courier New"/>
                        </a:rPr>
                        <a:t>'acf'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: acf(df[</a:t>
                      </a:r>
                      <a:r>
                        <a:rPr dirty="0" sz="1100" spc="-5">
                          <a:solidFill>
                            <a:srgbClr val="DD1144"/>
                          </a:solidFill>
                          <a:latin typeface="Courier New"/>
                          <a:cs typeface="Courier New"/>
                        </a:rPr>
                        <a:t>'beer'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],</a:t>
                      </a:r>
                      <a:r>
                        <a:rPr dirty="0" sz="1100" spc="-1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nlags=</a:t>
                      </a:r>
                      <a:r>
                        <a:rPr dirty="0" sz="1100" spc="-5">
                          <a:solidFill>
                            <a:srgbClr val="008080"/>
                          </a:solidFill>
                          <a:latin typeface="Courier New"/>
                          <a:cs typeface="Courier New"/>
                        </a:rPr>
                        <a:t>12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)</a:t>
                      </a:r>
                      <a:endParaRPr sz="1100">
                        <a:latin typeface="Courier New"/>
                        <a:cs typeface="Courier New"/>
                      </a:endParaRPr>
                    </a:p>
                    <a:p>
                      <a:pPr marL="229870">
                        <a:lnSpc>
                          <a:spcPts val="1275"/>
                        </a:lnSpc>
                      </a:pP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})</a:t>
                      </a:r>
                      <a:endParaRPr sz="1100">
                        <a:latin typeface="Courier New"/>
                        <a:cs typeface="Courier New"/>
                      </a:endParaRPr>
                    </a:p>
                    <a:p>
                      <a:pPr marL="63500">
                        <a:lnSpc>
                          <a:spcPts val="1300"/>
                        </a:lnSpc>
                      </a:pP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acf_df.iloc[[</a:t>
                      </a:r>
                      <a:r>
                        <a:rPr dirty="0" sz="1100" spc="-5">
                          <a:solidFill>
                            <a:srgbClr val="008080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,</a:t>
                      </a:r>
                      <a:r>
                        <a:rPr dirty="0" sz="1100" spc="-5">
                          <a:solidFill>
                            <a:srgbClr val="008080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], : ] </a:t>
                      </a: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 subsetting lag 1 and</a:t>
                      </a:r>
                      <a:r>
                        <a:rPr dirty="0" sz="1100" spc="-3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  <a:p>
                      <a:pPr marL="63500" marR="894080">
                        <a:lnSpc>
                          <a:spcPts val="1280"/>
                        </a:lnSpc>
                        <a:spcBef>
                          <a:spcPts val="1080"/>
                        </a:spcBef>
                      </a:pP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plot_acf(df[</a:t>
                      </a:r>
                      <a:r>
                        <a:rPr dirty="0" sz="1100" spc="-5">
                          <a:solidFill>
                            <a:srgbClr val="DD1144"/>
                          </a:solidFill>
                          <a:latin typeface="Courier New"/>
                          <a:cs typeface="Courier New"/>
                        </a:rPr>
                        <a:t>'beer'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], lags=</a:t>
                      </a:r>
                      <a:r>
                        <a:rPr dirty="0" sz="1100" spc="-5">
                          <a:solidFill>
                            <a:srgbClr val="008080"/>
                          </a:solidFill>
                          <a:latin typeface="Courier New"/>
                          <a:cs typeface="Courier New"/>
                        </a:rPr>
                        <a:t>12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)  plt.title(</a:t>
                      </a:r>
                      <a:r>
                        <a:rPr dirty="0" sz="1100" spc="-5">
                          <a:solidFill>
                            <a:srgbClr val="DD1144"/>
                          </a:solidFill>
                          <a:latin typeface="Courier New"/>
                          <a:cs typeface="Courier New"/>
                        </a:rPr>
                        <a:t>'ACF: Australian Beer Production'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)  plt.xlabel(</a:t>
                      </a:r>
                      <a:r>
                        <a:rPr dirty="0" sz="1100" spc="-5">
                          <a:solidFill>
                            <a:srgbClr val="DD1144"/>
                          </a:solidFill>
                          <a:latin typeface="Courier New"/>
                          <a:cs typeface="Courier New"/>
                        </a:rPr>
                        <a:t>'Lag (Quarter)'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)  plt.ylabel(</a:t>
                      </a:r>
                      <a:r>
                        <a:rPr dirty="0" sz="1100" spc="-5">
                          <a:solidFill>
                            <a:srgbClr val="DD1144"/>
                          </a:solidFill>
                          <a:latin typeface="Courier New"/>
                          <a:cs typeface="Courier New"/>
                        </a:rPr>
                        <a:t>'Autocorrelation'</a:t>
                      </a:r>
                      <a:r>
                        <a:rPr dirty="0" sz="1100" spc="-5">
                          <a:solidFill>
                            <a:srgbClr val="333333"/>
                          </a:solidFill>
                          <a:latin typeface="Courier New"/>
                          <a:cs typeface="Courier New"/>
                        </a:rPr>
                        <a:t>)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 gridSpan="5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</a:tbl>
          </a:graphicData>
        </a:graphic>
      </p:graphicFrame>
      <p:sp>
        <p:nvSpPr>
          <p:cNvPr id="11" name="object 11"/>
          <p:cNvSpPr txBox="1"/>
          <p:nvPr/>
        </p:nvSpPr>
        <p:spPr>
          <a:xfrm>
            <a:off x="10964712" y="6207124"/>
            <a:ext cx="421005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45">
                <a:solidFill>
                  <a:srgbClr val="585D60"/>
                </a:solidFill>
                <a:latin typeface="Trebuchet MS"/>
                <a:cs typeface="Trebuchet MS"/>
              </a:rPr>
              <a:t>5 </a:t>
            </a:r>
            <a:r>
              <a:rPr dirty="0" sz="1200" spc="-135">
                <a:solidFill>
                  <a:srgbClr val="585D60"/>
                </a:solidFill>
                <a:latin typeface="Trebuchet MS"/>
                <a:cs typeface="Trebuchet MS"/>
              </a:rPr>
              <a:t>/</a:t>
            </a:r>
            <a:r>
              <a:rPr dirty="0" sz="1200" spc="-26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200" spc="45">
                <a:solidFill>
                  <a:srgbClr val="585D60"/>
                </a:solidFill>
                <a:latin typeface="Trebuchet MS"/>
                <a:cs typeface="Trebuchet MS"/>
              </a:rPr>
              <a:t>35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31158" y="4064577"/>
            <a:ext cx="4201794" cy="18218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68020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75">
                <a:solidFill>
                  <a:srgbClr val="C2132D"/>
                </a:solidFill>
              </a:rPr>
              <a:t>Partial </a:t>
            </a:r>
            <a:r>
              <a:rPr dirty="0" sz="3350" spc="-195">
                <a:solidFill>
                  <a:srgbClr val="C2132D"/>
                </a:solidFill>
              </a:rPr>
              <a:t>Autocorrelation </a:t>
            </a:r>
            <a:r>
              <a:rPr dirty="0" sz="3350" spc="-185">
                <a:solidFill>
                  <a:srgbClr val="C2132D"/>
                </a:solidFill>
              </a:rPr>
              <a:t>Function</a:t>
            </a:r>
            <a:r>
              <a:rPr dirty="0" sz="3350" spc="-405">
                <a:solidFill>
                  <a:srgbClr val="C2132D"/>
                </a:solidFill>
              </a:rPr>
              <a:t> </a:t>
            </a:r>
            <a:r>
              <a:rPr dirty="0" sz="3350" spc="-140">
                <a:solidFill>
                  <a:srgbClr val="C2132D"/>
                </a:solidFill>
              </a:rPr>
              <a:t>(PACF)</a:t>
            </a:r>
            <a:endParaRPr sz="3350"/>
          </a:p>
        </p:txBody>
      </p:sp>
      <p:sp>
        <p:nvSpPr>
          <p:cNvPr id="4" name="object 4"/>
          <p:cNvSpPr txBox="1"/>
          <p:nvPr/>
        </p:nvSpPr>
        <p:spPr>
          <a:xfrm>
            <a:off x="1148754" y="1376044"/>
            <a:ext cx="9384665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5080" indent="-133985">
              <a:lnSpc>
                <a:spcPct val="1181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Partial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Autocorrelation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Function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(PACF)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function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that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captures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autocorrelation 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a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at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different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lags,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while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excluding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effect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intermediate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lags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63603" y="2414270"/>
            <a:ext cx="55880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baseline="8547" sz="1950" spc="97" i="1">
                <a:solidFill>
                  <a:srgbClr val="585D60"/>
                </a:solidFill>
                <a:latin typeface="Arial"/>
                <a:cs typeface="Arial"/>
              </a:rPr>
              <a:t>ϕ</a:t>
            </a:r>
            <a:r>
              <a:rPr dirty="0" sz="900" spc="65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000" spc="65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900" spc="65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900" spc="16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baseline="7662" sz="2175" spc="-52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endParaRPr baseline="7662" sz="2175">
              <a:latin typeface="Lucida Sans Unicode"/>
              <a:cs typeface="Lucida Sans Unicode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629447" y="2261870"/>
            <a:ext cx="279908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300" spc="50" i="1">
                <a:solidFill>
                  <a:srgbClr val="585D60"/>
                </a:solidFill>
                <a:latin typeface="Arial"/>
                <a:cs typeface="Arial"/>
              </a:rPr>
              <a:t>Cov</a:t>
            </a:r>
            <a:r>
              <a:rPr dirty="0" sz="1450" spc="50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3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5432" sz="1350" spc="7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450" spc="5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450" spc="-22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300" spc="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5432" sz="1350" spc="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888" sz="1500" spc="7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baseline="-15432" sz="1350" spc="7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450" spc="5">
                <a:solidFill>
                  <a:srgbClr val="585D60"/>
                </a:solidFill>
                <a:latin typeface="Lucida Sans Unicode"/>
                <a:cs typeface="Lucida Sans Unicode"/>
              </a:rPr>
              <a:t>|</a:t>
            </a:r>
            <a:r>
              <a:rPr dirty="0" sz="1300" spc="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5432" sz="1350" spc="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888" sz="1500" spc="7">
                <a:solidFill>
                  <a:srgbClr val="585D60"/>
                </a:solidFill>
                <a:latin typeface="Lucida Sans Unicode"/>
                <a:cs typeface="Lucida Sans Unicode"/>
              </a:rPr>
              <a:t>−1</a:t>
            </a:r>
            <a:r>
              <a:rPr dirty="0" sz="1450" spc="5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450" spc="-22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300" spc="-1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5432" sz="1350" spc="-1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888" sz="1500" spc="-15">
                <a:solidFill>
                  <a:srgbClr val="585D60"/>
                </a:solidFill>
                <a:latin typeface="Lucida Sans Unicode"/>
                <a:cs typeface="Lucida Sans Unicode"/>
              </a:rPr>
              <a:t>−2</a:t>
            </a:r>
            <a:r>
              <a:rPr dirty="0" sz="1450" spc="-1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450" spc="-22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450" spc="235">
                <a:solidFill>
                  <a:srgbClr val="585D60"/>
                </a:solidFill>
                <a:latin typeface="Lucida Sans Unicode"/>
                <a:cs typeface="Lucida Sans Unicode"/>
              </a:rPr>
              <a:t>…</a:t>
            </a:r>
            <a:r>
              <a:rPr dirty="0" sz="1450" spc="-22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450" spc="-6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450" spc="-22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300" spc="2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5432" sz="1350" spc="3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888" sz="1500" spc="37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baseline="-15432" sz="1350" spc="37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baseline="-13888" sz="1500" spc="37">
                <a:solidFill>
                  <a:srgbClr val="585D60"/>
                </a:solidFill>
                <a:latin typeface="Lucida Sans Unicode"/>
                <a:cs typeface="Lucida Sans Unicode"/>
              </a:rPr>
              <a:t>+1</a:t>
            </a:r>
            <a:r>
              <a:rPr dirty="0" sz="1450" spc="25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endParaRPr sz="1450">
              <a:latin typeface="Lucida Sans Unicode"/>
              <a:cs typeface="Lucida Sans Unicode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678537" y="2528570"/>
            <a:ext cx="70104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300" spc="-30" i="1">
                <a:solidFill>
                  <a:srgbClr val="585D60"/>
                </a:solidFill>
                <a:latin typeface="Arial"/>
                <a:cs typeface="Arial"/>
              </a:rPr>
              <a:t>V</a:t>
            </a:r>
            <a:r>
              <a:rPr dirty="0" sz="1300" spc="-135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300" spc="95" i="1">
                <a:solidFill>
                  <a:srgbClr val="585D60"/>
                </a:solidFill>
                <a:latin typeface="Arial"/>
                <a:cs typeface="Arial"/>
              </a:rPr>
              <a:t>ar</a:t>
            </a:r>
            <a:r>
              <a:rPr dirty="0" sz="1450" spc="95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300" spc="9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5432" sz="1350" spc="14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450" spc="95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endParaRPr sz="145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657725" y="2538412"/>
            <a:ext cx="2743200" cy="0"/>
          </a:xfrm>
          <a:custGeom>
            <a:avLst/>
            <a:gdLst/>
            <a:ahLst/>
            <a:cxnLst/>
            <a:rect l="l" t="t" r="r" b="b"/>
            <a:pathLst>
              <a:path w="2743200" h="0">
                <a:moveTo>
                  <a:pt x="0" y="0"/>
                </a:moveTo>
                <a:lnTo>
                  <a:pt x="2743199" y="0"/>
                </a:lnTo>
              </a:path>
            </a:pathLst>
          </a:custGeom>
          <a:ln w="9524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914400" y="3143249"/>
            <a:ext cx="4657725" cy="2828925"/>
          </a:xfrm>
          <a:prstGeom prst="rect">
            <a:avLst/>
          </a:prstGeom>
          <a:solidFill>
            <a:srgbClr val="F7F7F7"/>
          </a:solidFill>
        </p:spPr>
        <p:txBody>
          <a:bodyPr wrap="square" lIns="0" tIns="69850" rIns="0" bIns="0" rtlCol="0" vert="horz">
            <a:spAutoFit/>
          </a:bodyPr>
          <a:lstStyle/>
          <a:p>
            <a:pPr marL="86360">
              <a:lnSpc>
                <a:spcPts val="1295"/>
              </a:lnSpc>
              <a:spcBef>
                <a:spcPts val="550"/>
              </a:spcBef>
            </a:pP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import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matplotlib.pyplot </a:t>
            </a: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as</a:t>
            </a:r>
            <a:r>
              <a:rPr dirty="0" sz="1100" spc="-15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plt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75"/>
              </a:lnSpc>
            </a:pP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import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pandas </a:t>
            </a: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as</a:t>
            </a:r>
            <a:r>
              <a:rPr dirty="0" sz="1100" spc="-15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pd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40"/>
              </a:lnSpc>
            </a:pP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from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statsmodels.tsa.stattools </a:t>
            </a: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import</a:t>
            </a:r>
            <a:r>
              <a:rPr dirty="0" sz="1100" spc="-15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pacf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60"/>
              </a:lnSpc>
            </a:pP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from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statsmodels.graphics.tsaplots </a:t>
            </a: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import</a:t>
            </a:r>
            <a:r>
              <a:rPr dirty="0" sz="1100" spc="-20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plot_pacf</a:t>
            </a:r>
            <a:endParaRPr sz="1100">
              <a:latin typeface="Courier New"/>
              <a:cs typeface="Courier New"/>
            </a:endParaRPr>
          </a:p>
          <a:p>
            <a:pPr marL="86360" marR="977265">
              <a:lnSpc>
                <a:spcPct val="176100"/>
              </a:lnSpc>
              <a:spcBef>
                <a:spcPts val="75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df =</a:t>
            </a:r>
            <a:r>
              <a:rPr dirty="0" sz="1100" spc="-5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pd.read_csv(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'../../data/aus_beer.csv'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  pacf_df =</a:t>
            </a:r>
            <a:r>
              <a:rPr dirty="0" sz="1100" spc="-1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pd.DataFrame({</a:t>
            </a:r>
            <a:endParaRPr sz="1100">
              <a:latin typeface="Courier New"/>
              <a:cs typeface="Courier New"/>
            </a:endParaRPr>
          </a:p>
          <a:p>
            <a:pPr marL="420370">
              <a:lnSpc>
                <a:spcPts val="1255"/>
              </a:lnSpc>
            </a:pP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'lag'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: range(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0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100" spc="-8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13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),</a:t>
            </a:r>
            <a:endParaRPr sz="1100">
              <a:latin typeface="Courier New"/>
              <a:cs typeface="Courier New"/>
            </a:endParaRPr>
          </a:p>
          <a:p>
            <a:pPr marL="420370">
              <a:lnSpc>
                <a:spcPts val="1240"/>
              </a:lnSpc>
            </a:pP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'pacf'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: pacf(df[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'beer'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],</a:t>
            </a:r>
            <a:r>
              <a:rPr dirty="0" sz="1100" spc="-1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nlags=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12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  <a:p>
            <a:pPr marL="253365">
              <a:lnSpc>
                <a:spcPts val="1240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})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300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pacf_df.iloc[[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4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], : ]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# subsetting lag 1 and</a:t>
            </a:r>
            <a:r>
              <a:rPr dirty="0" sz="1100" spc="-30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4</a:t>
            </a:r>
            <a:endParaRPr sz="1100">
              <a:latin typeface="Courier New"/>
              <a:cs typeface="Courier New"/>
            </a:endParaRPr>
          </a:p>
          <a:p>
            <a:pPr marL="86360" marR="810895">
              <a:lnSpc>
                <a:spcPct val="94700"/>
              </a:lnSpc>
              <a:spcBef>
                <a:spcPts val="1150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plot_pacf(df[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'beer'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], lags=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12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  plt.title(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'PACF: Australian Beer</a:t>
            </a:r>
            <a:r>
              <a:rPr dirty="0" sz="1100" spc="-45">
                <a:solidFill>
                  <a:srgbClr val="DD1144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Production'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  plt.xlabel(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'Lag (Quarter)'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  plt.ylabel(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'Partial</a:t>
            </a:r>
            <a:r>
              <a:rPr dirty="0" sz="1100" spc="-15">
                <a:solidFill>
                  <a:srgbClr val="DD1144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Autocorrelation'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10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5762624" y="3143249"/>
            <a:ext cx="4848225" cy="657225"/>
          </a:xfrm>
          <a:prstGeom prst="rect">
            <a:avLst/>
          </a:prstGeom>
          <a:solidFill>
            <a:srgbClr val="F7F7F7"/>
          </a:solidFill>
        </p:spPr>
        <p:txBody>
          <a:bodyPr wrap="square" lIns="0" tIns="79375" rIns="0" bIns="0" rtlCol="0" vert="horz">
            <a:spAutoFit/>
          </a:bodyPr>
          <a:lstStyle/>
          <a:p>
            <a:pPr marL="86360" marR="3169285">
              <a:lnSpc>
                <a:spcPts val="1280"/>
              </a:lnSpc>
              <a:spcBef>
                <a:spcPts val="625"/>
              </a:spcBef>
              <a:tabLst>
                <a:tab pos="586740" algn="l"/>
                <a:tab pos="753745" algn="l"/>
                <a:tab pos="1003300" algn="l"/>
                <a:tab pos="1337310" algn="l"/>
              </a:tabLst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##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	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lag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		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pacf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 ##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1</a:t>
            </a:r>
            <a:r>
              <a:rPr dirty="0" sz="1100" i="1">
                <a:solidFill>
                  <a:srgbClr val="999987"/>
                </a:solidFill>
                <a:latin typeface="Courier New"/>
                <a:cs typeface="Courier New"/>
              </a:rPr>
              <a:t>		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1</a:t>
            </a:r>
            <a:r>
              <a:rPr dirty="0" sz="1100" i="1">
                <a:solidFill>
                  <a:srgbClr val="999987"/>
                </a:solidFill>
                <a:latin typeface="Courier New"/>
                <a:cs typeface="Courier New"/>
              </a:rPr>
              <a:t>	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0.686760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35"/>
              </a:lnSpc>
              <a:tabLst>
                <a:tab pos="753745" algn="l"/>
                <a:tab pos="1003300" algn="l"/>
              </a:tabLst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## 4	4	0.877843</a:t>
            </a:r>
            <a:endParaRPr sz="11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948372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60">
                <a:solidFill>
                  <a:srgbClr val="C2132D"/>
                </a:solidFill>
              </a:rPr>
              <a:t>Comments </a:t>
            </a:r>
            <a:r>
              <a:rPr dirty="0" sz="3350" spc="-150">
                <a:solidFill>
                  <a:srgbClr val="C2132D"/>
                </a:solidFill>
              </a:rPr>
              <a:t>on </a:t>
            </a:r>
            <a:r>
              <a:rPr dirty="0" sz="3350" spc="-260">
                <a:solidFill>
                  <a:srgbClr val="C2132D"/>
                </a:solidFill>
              </a:rPr>
              <a:t>the </a:t>
            </a:r>
            <a:r>
              <a:rPr dirty="0" sz="3350" spc="-130">
                <a:solidFill>
                  <a:srgbClr val="C2132D"/>
                </a:solidFill>
              </a:rPr>
              <a:t>PACF </a:t>
            </a:r>
            <a:r>
              <a:rPr dirty="0" sz="3350" spc="-195">
                <a:solidFill>
                  <a:srgbClr val="C2132D"/>
                </a:solidFill>
              </a:rPr>
              <a:t>Computation </a:t>
            </a:r>
            <a:r>
              <a:rPr dirty="0" sz="3350" spc="-190">
                <a:solidFill>
                  <a:srgbClr val="C2132D"/>
                </a:solidFill>
              </a:rPr>
              <a:t>in</a:t>
            </a:r>
            <a:r>
              <a:rPr dirty="0" sz="3350" spc="-505">
                <a:solidFill>
                  <a:srgbClr val="C2132D"/>
                </a:solidFill>
              </a:rPr>
              <a:t> </a:t>
            </a:r>
            <a:r>
              <a:rPr dirty="0" sz="3200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endParaRPr sz="320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425575"/>
            <a:ext cx="913828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SzPct val="105882"/>
              <a:buFont typeface="Trebuchet MS"/>
              <a:buChar char="•"/>
              <a:tabLst>
                <a:tab pos="146685" algn="l"/>
              </a:tabLst>
            </a:pP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r>
              <a:rPr dirty="0" sz="1700" spc="-57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95">
                <a:solidFill>
                  <a:srgbClr val="585D60"/>
                </a:solidFill>
                <a:latin typeface="Trebuchet MS"/>
                <a:cs typeface="Trebuchet MS"/>
              </a:rPr>
              <a:t>uses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Yule-Walker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equations,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with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sample-size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adjustment,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by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default.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14400" y="1990725"/>
            <a:ext cx="9734550" cy="0"/>
          </a:xfrm>
          <a:custGeom>
            <a:avLst/>
            <a:gdLst/>
            <a:ahLst/>
            <a:cxnLst/>
            <a:rect l="l" t="t" r="r" b="b"/>
            <a:pathLst>
              <a:path w="9734550" h="0">
                <a:moveTo>
                  <a:pt x="0" y="0"/>
                </a:moveTo>
                <a:lnTo>
                  <a:pt x="9734549" y="0"/>
                </a:lnTo>
              </a:path>
            </a:pathLst>
          </a:custGeom>
          <a:ln w="19049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914400" y="6296024"/>
            <a:ext cx="9734550" cy="0"/>
          </a:xfrm>
          <a:custGeom>
            <a:avLst/>
            <a:gdLst/>
            <a:ahLst/>
            <a:cxnLst/>
            <a:rect l="l" t="t" r="r" b="b"/>
            <a:pathLst>
              <a:path w="9734550" h="0">
                <a:moveTo>
                  <a:pt x="0" y="0"/>
                </a:moveTo>
                <a:lnTo>
                  <a:pt x="9734549" y="0"/>
                </a:lnTo>
              </a:path>
            </a:pathLst>
          </a:custGeom>
          <a:ln w="19049">
            <a:solidFill>
              <a:srgbClr val="EDEDE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10639424" y="1981200"/>
            <a:ext cx="0" cy="4324350"/>
          </a:xfrm>
          <a:custGeom>
            <a:avLst/>
            <a:gdLst/>
            <a:ahLst/>
            <a:cxnLst/>
            <a:rect l="l" t="t" r="r" b="b"/>
            <a:pathLst>
              <a:path w="0" h="4324350">
                <a:moveTo>
                  <a:pt x="0" y="0"/>
                </a:moveTo>
                <a:lnTo>
                  <a:pt x="0" y="4324349"/>
                </a:lnTo>
              </a:path>
            </a:pathLst>
          </a:custGeom>
          <a:ln w="19049">
            <a:solidFill>
              <a:srgbClr val="EDEDE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923925" y="1981200"/>
            <a:ext cx="0" cy="4324350"/>
          </a:xfrm>
          <a:custGeom>
            <a:avLst/>
            <a:gdLst/>
            <a:ahLst/>
            <a:cxnLst/>
            <a:rect l="l" t="t" r="r" b="b"/>
            <a:pathLst>
              <a:path w="0" h="4324350">
                <a:moveTo>
                  <a:pt x="0" y="0"/>
                </a:moveTo>
                <a:lnTo>
                  <a:pt x="0" y="4324349"/>
                </a:lnTo>
              </a:path>
            </a:pathLst>
          </a:custGeom>
          <a:ln w="19049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1085850" y="3133724"/>
            <a:ext cx="9248775" cy="1514475"/>
          </a:xfrm>
          <a:custGeom>
            <a:avLst/>
            <a:gdLst/>
            <a:ahLst/>
            <a:cxnLst/>
            <a:rect l="l" t="t" r="r" b="b"/>
            <a:pathLst>
              <a:path w="9248775" h="1514475">
                <a:moveTo>
                  <a:pt x="0" y="0"/>
                </a:moveTo>
                <a:lnTo>
                  <a:pt x="9248774" y="0"/>
                </a:lnTo>
                <a:lnTo>
                  <a:pt x="9248774" y="1514474"/>
                </a:lnTo>
                <a:lnTo>
                  <a:pt x="0" y="1514474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9577238" y="4368800"/>
            <a:ext cx="699135" cy="1968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1100" spc="15">
                <a:solidFill>
                  <a:srgbClr val="4050B4"/>
                </a:solidFill>
                <a:latin typeface="Courier New"/>
                <a:cs typeface="Courier New"/>
                <a:hlinkClick r:id="rId2"/>
              </a:rPr>
              <a:t>[source]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73150" y="2461895"/>
            <a:ext cx="3396615" cy="336550"/>
          </a:xfrm>
          <a:prstGeom prst="rect">
            <a:avLst/>
          </a:prstGeom>
        </p:spPr>
        <p:txBody>
          <a:bodyPr wrap="square" lIns="0" tIns="1778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dirty="0" sz="2000" spc="5">
                <a:latin typeface="Arial"/>
                <a:cs typeface="Arial"/>
              </a:rPr>
              <a:t>statsmodels.tsa.stattools.pacf</a:t>
            </a:r>
            <a:endParaRPr sz="20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019300" y="3686175"/>
            <a:ext cx="342900" cy="190500"/>
          </a:xfrm>
          <a:custGeom>
            <a:avLst/>
            <a:gdLst/>
            <a:ahLst/>
            <a:cxnLst/>
            <a:rect l="l" t="t" r="r" b="b"/>
            <a:pathLst>
              <a:path w="342900" h="190500">
                <a:moveTo>
                  <a:pt x="0" y="0"/>
                </a:moveTo>
                <a:lnTo>
                  <a:pt x="342899" y="0"/>
                </a:lnTo>
                <a:lnTo>
                  <a:pt x="342899" y="190499"/>
                </a:lnTo>
                <a:lnTo>
                  <a:pt x="0" y="190499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2105025" y="3914775"/>
            <a:ext cx="1028700" cy="190500"/>
          </a:xfrm>
          <a:custGeom>
            <a:avLst/>
            <a:gdLst/>
            <a:ahLst/>
            <a:cxnLst/>
            <a:rect l="l" t="t" r="r" b="b"/>
            <a:pathLst>
              <a:path w="1028700" h="190500">
                <a:moveTo>
                  <a:pt x="0" y="0"/>
                </a:moveTo>
                <a:lnTo>
                  <a:pt x="1028699" y="0"/>
                </a:lnTo>
                <a:lnTo>
                  <a:pt x="1028699" y="190499"/>
                </a:lnTo>
                <a:lnTo>
                  <a:pt x="0" y="190499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2019300" y="4143375"/>
            <a:ext cx="342900" cy="190500"/>
          </a:xfrm>
          <a:custGeom>
            <a:avLst/>
            <a:gdLst/>
            <a:ahLst/>
            <a:cxnLst/>
            <a:rect l="l" t="t" r="r" b="b"/>
            <a:pathLst>
              <a:path w="342900" h="190500">
                <a:moveTo>
                  <a:pt x="0" y="0"/>
                </a:moveTo>
                <a:lnTo>
                  <a:pt x="342899" y="0"/>
                </a:lnTo>
                <a:lnTo>
                  <a:pt x="342899" y="190499"/>
                </a:lnTo>
                <a:lnTo>
                  <a:pt x="0" y="190499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/>
          <p:nvPr/>
        </p:nvSpPr>
        <p:spPr>
          <a:xfrm>
            <a:off x="1157287" y="3168649"/>
            <a:ext cx="2658110" cy="11684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342900" indent="-343535">
              <a:lnSpc>
                <a:spcPct val="136400"/>
              </a:lnSpc>
              <a:spcBef>
                <a:spcPts val="95"/>
              </a:spcBef>
            </a:pPr>
            <a:r>
              <a:rPr dirty="0" sz="1100" spc="15">
                <a:solidFill>
                  <a:srgbClr val="36454E"/>
                </a:solidFill>
                <a:latin typeface="Courier New"/>
                <a:cs typeface="Courier New"/>
              </a:rPr>
              <a:t>statsmodels.tsa.stattools.</a:t>
            </a:r>
            <a:r>
              <a:rPr dirty="0" sz="1100" spc="15" b="1">
                <a:solidFill>
                  <a:srgbClr val="36454E"/>
                </a:solidFill>
                <a:latin typeface="Courier New"/>
                <a:cs typeface="Courier New"/>
              </a:rPr>
              <a:t>pacf</a:t>
            </a:r>
            <a:r>
              <a:rPr dirty="0" sz="1100" spc="15">
                <a:latin typeface="Courier New"/>
                <a:cs typeface="Courier New"/>
              </a:rPr>
              <a:t>(  </a:t>
            </a:r>
            <a:r>
              <a:rPr dirty="0" sz="1100" spc="15">
                <a:solidFill>
                  <a:srgbClr val="4050B4"/>
                </a:solidFill>
                <a:latin typeface="Courier New"/>
                <a:cs typeface="Courier New"/>
              </a:rPr>
              <a:t>x</a:t>
            </a:r>
            <a:r>
              <a:rPr dirty="0" sz="1100" spc="15">
                <a:latin typeface="Courier New"/>
                <a:cs typeface="Courier New"/>
              </a:rPr>
              <a:t>,</a:t>
            </a:r>
            <a:endParaRPr sz="1100">
              <a:latin typeface="Courier New"/>
              <a:cs typeface="Courier New"/>
            </a:endParaRPr>
          </a:p>
          <a:p>
            <a:pPr marL="342900" marR="591820">
              <a:lnSpc>
                <a:spcPct val="136400"/>
              </a:lnSpc>
            </a:pPr>
            <a:r>
              <a:rPr dirty="0" sz="1100" spc="15">
                <a:solidFill>
                  <a:srgbClr val="4050B4"/>
                </a:solidFill>
                <a:latin typeface="Courier New"/>
                <a:cs typeface="Courier New"/>
              </a:rPr>
              <a:t>nlags</a:t>
            </a:r>
            <a:r>
              <a:rPr dirty="0" sz="1100" spc="15">
                <a:latin typeface="Courier New"/>
                <a:cs typeface="Courier New"/>
              </a:rPr>
              <a:t>=</a:t>
            </a:r>
            <a:r>
              <a:rPr dirty="0" sz="1100" spc="15">
                <a:solidFill>
                  <a:srgbClr val="6E58D9"/>
                </a:solidFill>
                <a:latin typeface="Courier New"/>
                <a:cs typeface="Courier New"/>
              </a:rPr>
              <a:t>None</a:t>
            </a:r>
            <a:r>
              <a:rPr dirty="0" sz="1100" spc="15">
                <a:latin typeface="Courier New"/>
                <a:cs typeface="Courier New"/>
              </a:rPr>
              <a:t>,  </a:t>
            </a:r>
            <a:r>
              <a:rPr dirty="0" sz="1100" spc="15">
                <a:solidFill>
                  <a:srgbClr val="4050B4"/>
                </a:solidFill>
                <a:latin typeface="Courier New"/>
                <a:cs typeface="Courier New"/>
              </a:rPr>
              <a:t>method</a:t>
            </a:r>
            <a:r>
              <a:rPr dirty="0" sz="1100" spc="15">
                <a:latin typeface="Courier New"/>
                <a:cs typeface="Courier New"/>
              </a:rPr>
              <a:t>=</a:t>
            </a:r>
            <a:r>
              <a:rPr dirty="0" sz="1100" spc="15">
                <a:solidFill>
                  <a:srgbClr val="1B7D4D"/>
                </a:solidFill>
                <a:latin typeface="Courier New"/>
                <a:cs typeface="Courier New"/>
              </a:rPr>
              <a:t>'ywadjusted'</a:t>
            </a:r>
            <a:r>
              <a:rPr dirty="0" sz="1100" spc="15">
                <a:latin typeface="Courier New"/>
                <a:cs typeface="Courier New"/>
              </a:rPr>
              <a:t>,  </a:t>
            </a:r>
            <a:r>
              <a:rPr dirty="0" sz="1100" spc="15">
                <a:solidFill>
                  <a:srgbClr val="4050B4"/>
                </a:solidFill>
                <a:latin typeface="Courier New"/>
                <a:cs typeface="Courier New"/>
              </a:rPr>
              <a:t>alpha</a:t>
            </a:r>
            <a:r>
              <a:rPr dirty="0" sz="1100" spc="15">
                <a:latin typeface="Courier New"/>
                <a:cs typeface="Courier New"/>
              </a:rPr>
              <a:t>=</a:t>
            </a:r>
            <a:r>
              <a:rPr dirty="0" sz="1100" spc="15">
                <a:solidFill>
                  <a:srgbClr val="6E58D9"/>
                </a:solidFill>
                <a:latin typeface="Courier New"/>
                <a:cs typeface="Courier New"/>
              </a:rPr>
              <a:t>None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157287" y="4368800"/>
            <a:ext cx="86360" cy="1968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1100" spc="15"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16037" y="4782184"/>
            <a:ext cx="3734435" cy="119062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000" spc="-10">
                <a:latin typeface="Trebuchet MS"/>
                <a:cs typeface="Trebuchet MS"/>
              </a:rPr>
              <a:t>Partial </a:t>
            </a:r>
            <a:r>
              <a:rPr dirty="0" sz="1000" spc="-5">
                <a:latin typeface="Trebuchet MS"/>
                <a:cs typeface="Trebuchet MS"/>
              </a:rPr>
              <a:t>autocorrelation</a:t>
            </a:r>
            <a:r>
              <a:rPr dirty="0" sz="1000" spc="-95">
                <a:latin typeface="Trebuchet MS"/>
                <a:cs typeface="Trebuchet MS"/>
              </a:rPr>
              <a:t> </a:t>
            </a:r>
            <a:r>
              <a:rPr dirty="0" sz="1000" spc="-10">
                <a:latin typeface="Trebuchet MS"/>
                <a:cs typeface="Trebuchet MS"/>
              </a:rPr>
              <a:t>estimate.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dirty="0" sz="1000" spc="-5" b="1">
                <a:latin typeface="Trebuchet MS"/>
                <a:cs typeface="Trebuchet MS"/>
              </a:rPr>
              <a:t>Parameters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250">
              <a:latin typeface="Trebuchet MS"/>
              <a:cs typeface="Trebuchet MS"/>
            </a:endParaRPr>
          </a:p>
          <a:p>
            <a:pPr marL="255270">
              <a:lnSpc>
                <a:spcPct val="100000"/>
              </a:lnSpc>
            </a:pPr>
            <a:r>
              <a:rPr dirty="0" sz="1000" spc="-35" b="1">
                <a:latin typeface="Trebuchet MS"/>
                <a:cs typeface="Trebuchet MS"/>
              </a:rPr>
              <a:t>x </a:t>
            </a:r>
            <a:r>
              <a:rPr dirty="0" sz="1000" spc="-125">
                <a:latin typeface="Trebuchet MS"/>
                <a:cs typeface="Trebuchet MS"/>
              </a:rPr>
              <a:t>:</a:t>
            </a:r>
            <a:r>
              <a:rPr dirty="0" sz="1000">
                <a:latin typeface="Trebuchet MS"/>
                <a:cs typeface="Trebuchet MS"/>
              </a:rPr>
              <a:t> </a:t>
            </a:r>
            <a:r>
              <a:rPr dirty="0" sz="1000" spc="-25">
                <a:solidFill>
                  <a:srgbClr val="4050B4"/>
                </a:solidFill>
                <a:latin typeface="Trebuchet MS"/>
                <a:cs typeface="Trebuchet MS"/>
                <a:hlinkClick r:id="rId3"/>
              </a:rPr>
              <a:t>array_like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Trebuchet MS"/>
              <a:cs typeface="Trebuchet MS"/>
            </a:endParaRPr>
          </a:p>
          <a:p>
            <a:pPr marL="497840">
              <a:lnSpc>
                <a:spcPct val="100000"/>
              </a:lnSpc>
            </a:pPr>
            <a:r>
              <a:rPr dirty="0" sz="1000" spc="15">
                <a:latin typeface="Trebuchet MS"/>
                <a:cs typeface="Trebuchet MS"/>
              </a:rPr>
              <a:t>Observations</a:t>
            </a:r>
            <a:r>
              <a:rPr dirty="0" sz="1000" spc="-50">
                <a:latin typeface="Trebuchet MS"/>
                <a:cs typeface="Trebuchet MS"/>
              </a:rPr>
              <a:t> </a:t>
            </a:r>
            <a:r>
              <a:rPr dirty="0" sz="1000" spc="10">
                <a:latin typeface="Trebuchet MS"/>
                <a:cs typeface="Trebuchet MS"/>
              </a:rPr>
              <a:t>of</a:t>
            </a:r>
            <a:r>
              <a:rPr dirty="0" sz="1000" spc="-50">
                <a:latin typeface="Trebuchet MS"/>
                <a:cs typeface="Trebuchet MS"/>
              </a:rPr>
              <a:t> </a:t>
            </a:r>
            <a:r>
              <a:rPr dirty="0" sz="1000" spc="-15">
                <a:latin typeface="Trebuchet MS"/>
                <a:cs typeface="Trebuchet MS"/>
              </a:rPr>
              <a:t>time</a:t>
            </a:r>
            <a:r>
              <a:rPr dirty="0" sz="1000" spc="-50">
                <a:latin typeface="Trebuchet MS"/>
                <a:cs typeface="Trebuchet MS"/>
              </a:rPr>
              <a:t> </a:t>
            </a:r>
            <a:r>
              <a:rPr dirty="0" sz="1000" spc="25">
                <a:latin typeface="Trebuchet MS"/>
                <a:cs typeface="Trebuchet MS"/>
              </a:rPr>
              <a:t>series</a:t>
            </a:r>
            <a:r>
              <a:rPr dirty="0" sz="1000" spc="-50">
                <a:latin typeface="Trebuchet MS"/>
                <a:cs typeface="Trebuchet MS"/>
              </a:rPr>
              <a:t> </a:t>
            </a:r>
            <a:r>
              <a:rPr dirty="0" sz="1000" spc="-5">
                <a:latin typeface="Trebuchet MS"/>
                <a:cs typeface="Trebuchet MS"/>
              </a:rPr>
              <a:t>for</a:t>
            </a:r>
            <a:r>
              <a:rPr dirty="0" sz="1000" spc="-45">
                <a:latin typeface="Trebuchet MS"/>
                <a:cs typeface="Trebuchet MS"/>
              </a:rPr>
              <a:t> </a:t>
            </a:r>
            <a:r>
              <a:rPr dirty="0" sz="1000" spc="10">
                <a:latin typeface="Trebuchet MS"/>
                <a:cs typeface="Trebuchet MS"/>
              </a:rPr>
              <a:t>which</a:t>
            </a:r>
            <a:r>
              <a:rPr dirty="0" sz="1000" spc="-50">
                <a:latin typeface="Trebuchet MS"/>
                <a:cs typeface="Trebuchet MS"/>
              </a:rPr>
              <a:t> </a:t>
            </a:r>
            <a:r>
              <a:rPr dirty="0" sz="1000" spc="15">
                <a:latin typeface="Trebuchet MS"/>
                <a:cs typeface="Trebuchet MS"/>
              </a:rPr>
              <a:t>pacf</a:t>
            </a:r>
            <a:r>
              <a:rPr dirty="0" sz="1000" spc="-50">
                <a:latin typeface="Trebuchet MS"/>
                <a:cs typeface="Trebuchet MS"/>
              </a:rPr>
              <a:t> </a:t>
            </a:r>
            <a:r>
              <a:rPr dirty="0" sz="1000" spc="40">
                <a:latin typeface="Trebuchet MS"/>
                <a:cs typeface="Trebuchet MS"/>
              </a:rPr>
              <a:t>is</a:t>
            </a:r>
            <a:r>
              <a:rPr dirty="0" sz="1000" spc="-50">
                <a:latin typeface="Trebuchet MS"/>
                <a:cs typeface="Trebuchet MS"/>
              </a:rPr>
              <a:t> </a:t>
            </a:r>
            <a:r>
              <a:rPr dirty="0" sz="1000" spc="-10">
                <a:latin typeface="Trebuchet MS"/>
                <a:cs typeface="Trebuchet MS"/>
              </a:rPr>
              <a:t>calculated.</a:t>
            </a:r>
            <a:endParaRPr sz="1000">
              <a:latin typeface="Trebuchet MS"/>
              <a:cs typeface="Trebuchet M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2047874" y="6219824"/>
            <a:ext cx="266700" cy="66675"/>
          </a:xfrm>
          <a:custGeom>
            <a:avLst/>
            <a:gdLst/>
            <a:ahLst/>
            <a:cxnLst/>
            <a:rect l="l" t="t" r="r" b="b"/>
            <a:pathLst>
              <a:path w="266700" h="66675">
                <a:moveTo>
                  <a:pt x="266700" y="66674"/>
                </a:moveTo>
                <a:lnTo>
                  <a:pt x="0" y="66674"/>
                </a:lnTo>
                <a:lnTo>
                  <a:pt x="0" y="16523"/>
                </a:lnTo>
                <a:lnTo>
                  <a:pt x="16523" y="0"/>
                </a:lnTo>
                <a:lnTo>
                  <a:pt x="250176" y="0"/>
                </a:lnTo>
                <a:lnTo>
                  <a:pt x="266700" y="66674"/>
                </a:lnTo>
                <a:close/>
              </a:path>
            </a:pathLst>
          </a:custGeom>
          <a:solidFill>
            <a:srgbClr val="F5F5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2371724" y="6219824"/>
            <a:ext cx="590550" cy="66675"/>
          </a:xfrm>
          <a:custGeom>
            <a:avLst/>
            <a:gdLst/>
            <a:ahLst/>
            <a:cxnLst/>
            <a:rect l="l" t="t" r="r" b="b"/>
            <a:pathLst>
              <a:path w="590550" h="66675">
                <a:moveTo>
                  <a:pt x="590550" y="66674"/>
                </a:moveTo>
                <a:lnTo>
                  <a:pt x="0" y="66674"/>
                </a:lnTo>
                <a:lnTo>
                  <a:pt x="0" y="16523"/>
                </a:lnTo>
                <a:lnTo>
                  <a:pt x="16523" y="0"/>
                </a:lnTo>
                <a:lnTo>
                  <a:pt x="574026" y="0"/>
                </a:lnTo>
                <a:lnTo>
                  <a:pt x="590550" y="66674"/>
                </a:lnTo>
                <a:close/>
              </a:path>
            </a:pathLst>
          </a:custGeom>
          <a:solidFill>
            <a:srgbClr val="F5F5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10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948372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60">
                <a:solidFill>
                  <a:srgbClr val="C2132D"/>
                </a:solidFill>
              </a:rPr>
              <a:t>Comments </a:t>
            </a:r>
            <a:r>
              <a:rPr dirty="0" sz="3350" spc="-150">
                <a:solidFill>
                  <a:srgbClr val="C2132D"/>
                </a:solidFill>
              </a:rPr>
              <a:t>on </a:t>
            </a:r>
            <a:r>
              <a:rPr dirty="0" sz="3350" spc="-260">
                <a:solidFill>
                  <a:srgbClr val="C2132D"/>
                </a:solidFill>
              </a:rPr>
              <a:t>the </a:t>
            </a:r>
            <a:r>
              <a:rPr dirty="0" sz="3350" spc="-130">
                <a:solidFill>
                  <a:srgbClr val="C2132D"/>
                </a:solidFill>
              </a:rPr>
              <a:t>PACF </a:t>
            </a:r>
            <a:r>
              <a:rPr dirty="0" sz="3350" spc="-195">
                <a:solidFill>
                  <a:srgbClr val="C2132D"/>
                </a:solidFill>
              </a:rPr>
              <a:t>Computation </a:t>
            </a:r>
            <a:r>
              <a:rPr dirty="0" sz="3350" spc="-190">
                <a:solidFill>
                  <a:srgbClr val="C2132D"/>
                </a:solidFill>
              </a:rPr>
              <a:t>in</a:t>
            </a:r>
            <a:r>
              <a:rPr dirty="0" sz="3350" spc="-505">
                <a:solidFill>
                  <a:srgbClr val="C2132D"/>
                </a:solidFill>
              </a:rPr>
              <a:t> </a:t>
            </a:r>
            <a:r>
              <a:rPr dirty="0" sz="3200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endParaRPr sz="320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376044"/>
            <a:ext cx="9409430" cy="45783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645795" indent="-133985">
              <a:lnSpc>
                <a:spcPct val="1181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use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Yule-Walker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(</a:t>
            </a:r>
            <a:r>
              <a:rPr dirty="0" sz="1700" spc="-20">
                <a:solidFill>
                  <a:srgbClr val="C2132D"/>
                </a:solidFill>
                <a:latin typeface="Courier New"/>
                <a:cs typeface="Courier New"/>
              </a:rPr>
              <a:t>yw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)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equations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r>
              <a:rPr dirty="0" sz="1700" spc="-57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Trebuchet MS"/>
                <a:cs typeface="Trebuchet MS"/>
              </a:rPr>
              <a:t>common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approach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 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computing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21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PACF.</a:t>
            </a:r>
            <a:endParaRPr sz="1800">
              <a:latin typeface="Trebuchet MS"/>
              <a:cs typeface="Trebuchet MS"/>
            </a:endParaRPr>
          </a:p>
          <a:p>
            <a:pPr marL="146050" marR="137160" indent="-133985">
              <a:lnSpc>
                <a:spcPct val="118100"/>
              </a:lnSpc>
              <a:spcBef>
                <a:spcPts val="894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sample-size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adjustment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r>
              <a:rPr dirty="0" sz="1700" spc="-57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Trebuchet MS"/>
                <a:cs typeface="Trebuchet MS"/>
              </a:rPr>
              <a:t>used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correct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for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0" b="1">
                <a:solidFill>
                  <a:srgbClr val="C2132D"/>
                </a:solidFill>
                <a:latin typeface="Trebuchet MS"/>
                <a:cs typeface="Trebuchet MS"/>
              </a:rPr>
              <a:t>bias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sample 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autocorrelation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function</a:t>
            </a:r>
            <a:r>
              <a:rPr dirty="0" sz="1800" spc="-1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estimates.</a:t>
            </a:r>
            <a:endParaRPr sz="1800">
              <a:latin typeface="Trebuchet MS"/>
              <a:cs typeface="Trebuchet MS"/>
            </a:endParaRPr>
          </a:p>
          <a:p>
            <a:pPr marL="146050" marR="5080" indent="-133985">
              <a:lnSpc>
                <a:spcPct val="118100"/>
              </a:lnSpc>
              <a:spcBef>
                <a:spcPts val="825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default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r>
              <a:rPr dirty="0" sz="1700" spc="-56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use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sample-size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adjustment</a:t>
            </a:r>
            <a:r>
              <a:rPr dirty="0" sz="1800" spc="-70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hence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yw</a:t>
            </a:r>
            <a:r>
              <a:rPr dirty="0" sz="1700" spc="-56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sample-size 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adjusted.</a:t>
            </a:r>
            <a:endParaRPr sz="1800">
              <a:latin typeface="Trebuchet MS"/>
              <a:cs typeface="Trebuchet MS"/>
            </a:endParaRPr>
          </a:p>
          <a:p>
            <a:pPr marL="146050" marR="338455" indent="-133985">
              <a:lnSpc>
                <a:spcPct val="118100"/>
              </a:lnSpc>
              <a:spcBef>
                <a:spcPts val="9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Levinson-Durbin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(</a:t>
            </a:r>
            <a:r>
              <a:rPr dirty="0" sz="1700" spc="-20">
                <a:solidFill>
                  <a:srgbClr val="C2132D"/>
                </a:solidFill>
                <a:latin typeface="Courier New"/>
                <a:cs typeface="Courier New"/>
              </a:rPr>
              <a:t>ld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)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Trebuchet MS"/>
                <a:cs typeface="Trebuchet MS"/>
              </a:rPr>
              <a:t>showed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that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Yule-Walker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equations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can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be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rewritten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14">
                <a:solidFill>
                  <a:srgbClr val="585D60"/>
                </a:solidFill>
                <a:latin typeface="Trebuchet MS"/>
                <a:cs typeface="Trebuchet MS"/>
              </a:rPr>
              <a:t>as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set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 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linear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equations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that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can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be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solved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recursive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algorithm.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Hence,</a:t>
            </a:r>
            <a:endParaRPr sz="1800">
              <a:latin typeface="Trebuchet MS"/>
              <a:cs typeface="Trebuchet MS"/>
            </a:endParaRPr>
          </a:p>
          <a:p>
            <a:pPr lvl="1" marL="527050" indent="-134620">
              <a:lnSpc>
                <a:spcPct val="100000"/>
              </a:lnSpc>
              <a:spcBef>
                <a:spcPts val="1215"/>
              </a:spcBef>
              <a:buSzPct val="105882"/>
              <a:buFont typeface="Trebuchet MS"/>
              <a:buChar char="•"/>
              <a:tabLst>
                <a:tab pos="527685" algn="l"/>
              </a:tabLst>
            </a:pP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ld</a:t>
            </a:r>
            <a:r>
              <a:rPr dirty="0" sz="1700" spc="-57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latin typeface="Trebuchet MS"/>
                <a:cs typeface="Trebuchet MS"/>
              </a:rPr>
              <a:t>computationally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60" b="1">
                <a:latin typeface="Trebuchet MS"/>
                <a:cs typeface="Trebuchet MS"/>
              </a:rPr>
              <a:t>efficient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45" b="1">
                <a:latin typeface="Trebuchet MS"/>
                <a:cs typeface="Trebuchet MS"/>
              </a:rPr>
              <a:t>implementation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-100">
                <a:solidFill>
                  <a:srgbClr val="C2132D"/>
                </a:solidFill>
                <a:latin typeface="Courier New"/>
                <a:cs typeface="Courier New"/>
              </a:rPr>
              <a:t>yw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,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endParaRPr sz="1800">
              <a:latin typeface="Trebuchet MS"/>
              <a:cs typeface="Trebuchet MS"/>
            </a:endParaRPr>
          </a:p>
          <a:p>
            <a:pPr lvl="1" marL="527050" indent="-134620">
              <a:lnSpc>
                <a:spcPct val="100000"/>
              </a:lnSpc>
              <a:spcBef>
                <a:spcPts val="1290"/>
              </a:spcBef>
              <a:buSzPct val="105882"/>
              <a:buFont typeface="Trebuchet MS"/>
              <a:buChar char="•"/>
              <a:tabLst>
                <a:tab pos="527685" algn="l"/>
              </a:tabLst>
            </a:pP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ldb</a:t>
            </a:r>
            <a:r>
              <a:rPr dirty="0" sz="1700" spc="-58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latin typeface="Trebuchet MS"/>
                <a:cs typeface="Trebuchet MS"/>
              </a:rPr>
              <a:t>computationally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60" b="1">
                <a:latin typeface="Trebuchet MS"/>
                <a:cs typeface="Trebuchet MS"/>
              </a:rPr>
              <a:t>efficient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45" b="1">
                <a:latin typeface="Trebuchet MS"/>
                <a:cs typeface="Trebuchet MS"/>
              </a:rPr>
              <a:t>implementation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-45">
                <a:solidFill>
                  <a:srgbClr val="C2132D"/>
                </a:solidFill>
                <a:latin typeface="Courier New"/>
                <a:cs typeface="Courier New"/>
              </a:rPr>
              <a:t>ywm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marL="146050" marR="112395" indent="-133985">
              <a:lnSpc>
                <a:spcPct val="118100"/>
              </a:lnSpc>
              <a:spcBef>
                <a:spcPts val="900"/>
              </a:spcBef>
              <a:buFont typeface="Trebuchet MS"/>
              <a:buChar char="•"/>
              <a:tabLst>
                <a:tab pos="146685" algn="l"/>
                <a:tab pos="3535679" algn="l"/>
                <a:tab pos="3852545" algn="l"/>
              </a:tabLst>
            </a:pP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On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other 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hand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,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7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pacf()</a:t>
            </a:r>
            <a:r>
              <a:rPr dirty="0" sz="1700" spc="-56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		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(</a:t>
            </a:r>
            <a:r>
              <a:rPr dirty="0" sz="1700" spc="-5">
                <a:solidFill>
                  <a:srgbClr val="C2132D"/>
                </a:solidFill>
                <a:latin typeface="Courier New"/>
                <a:cs typeface="Courier New"/>
              </a:rPr>
              <a:t>stats</a:t>
            </a:r>
            <a:r>
              <a:rPr dirty="0" sz="1700" spc="-58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package)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95">
                <a:solidFill>
                  <a:srgbClr val="585D60"/>
                </a:solidFill>
                <a:latin typeface="Trebuchet MS"/>
                <a:cs typeface="Trebuchet MS"/>
              </a:rPr>
              <a:t>uses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biased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implementation</a:t>
            </a:r>
            <a:r>
              <a:rPr dirty="0" sz="1800" spc="-10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 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Yule-Walker </a:t>
            </a:r>
            <a:r>
              <a:rPr dirty="0" sz="1800" spc="114">
                <a:solidFill>
                  <a:srgbClr val="585D60"/>
                </a:solidFill>
                <a:latin typeface="Trebuchet MS"/>
                <a:cs typeface="Trebuchet MS"/>
              </a:rPr>
              <a:t>as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its</a:t>
            </a:r>
            <a:r>
              <a:rPr dirty="0" sz="1800" spc="-35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default</a:t>
            </a:r>
            <a:r>
              <a:rPr dirty="0" sz="1800" spc="-80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60">
                <a:solidFill>
                  <a:srgbClr val="585D60"/>
                </a:solidFill>
                <a:latin typeface="Trebuchet MS"/>
                <a:cs typeface="Trebuchet MS"/>
              </a:rPr>
              <a:t>i.e.,	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equivalent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ywm</a:t>
            </a:r>
            <a:r>
              <a:rPr dirty="0" sz="1700" spc="-57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or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ldb</a:t>
            </a:r>
            <a:r>
              <a:rPr dirty="0" sz="1700" spc="-57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-15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686300" y="5386845"/>
            <a:ext cx="258445" cy="199390"/>
          </a:xfrm>
          <a:custGeom>
            <a:avLst/>
            <a:gdLst/>
            <a:ahLst/>
            <a:cxnLst/>
            <a:rect l="l" t="t" r="r" b="b"/>
            <a:pathLst>
              <a:path w="258445" h="199389">
                <a:moveTo>
                  <a:pt x="150441" y="199106"/>
                </a:moveTo>
                <a:lnTo>
                  <a:pt x="106397" y="199106"/>
                </a:lnTo>
                <a:lnTo>
                  <a:pt x="106397" y="171596"/>
                </a:lnTo>
                <a:lnTo>
                  <a:pt x="64254" y="161266"/>
                </a:lnTo>
                <a:lnTo>
                  <a:pt x="30516" y="142324"/>
                </a:lnTo>
                <a:lnTo>
                  <a:pt x="8118" y="116741"/>
                </a:lnTo>
                <a:lnTo>
                  <a:pt x="0" y="86487"/>
                </a:lnTo>
                <a:lnTo>
                  <a:pt x="10148" y="52817"/>
                </a:lnTo>
                <a:lnTo>
                  <a:pt x="37821" y="25327"/>
                </a:lnTo>
                <a:lnTo>
                  <a:pt x="78860" y="6794"/>
                </a:lnTo>
                <a:lnTo>
                  <a:pt x="129108" y="0"/>
                </a:lnTo>
                <a:lnTo>
                  <a:pt x="179355" y="6794"/>
                </a:lnTo>
                <a:lnTo>
                  <a:pt x="220395" y="25327"/>
                </a:lnTo>
                <a:lnTo>
                  <a:pt x="228946" y="33821"/>
                </a:lnTo>
                <a:lnTo>
                  <a:pt x="148885" y="33821"/>
                </a:lnTo>
                <a:lnTo>
                  <a:pt x="110696" y="38463"/>
                </a:lnTo>
                <a:lnTo>
                  <a:pt x="79503" y="51126"/>
                </a:lnTo>
                <a:lnTo>
                  <a:pt x="58468" y="69914"/>
                </a:lnTo>
                <a:lnTo>
                  <a:pt x="50754" y="92931"/>
                </a:lnTo>
                <a:lnTo>
                  <a:pt x="54801" y="109747"/>
                </a:lnTo>
                <a:lnTo>
                  <a:pt x="54923" y="109953"/>
                </a:lnTo>
                <a:lnTo>
                  <a:pt x="66226" y="124791"/>
                </a:lnTo>
                <a:lnTo>
                  <a:pt x="83810" y="137161"/>
                </a:lnTo>
                <a:lnTo>
                  <a:pt x="106397" y="146219"/>
                </a:lnTo>
                <a:lnTo>
                  <a:pt x="150396" y="146219"/>
                </a:lnTo>
                <a:lnTo>
                  <a:pt x="150396" y="151996"/>
                </a:lnTo>
                <a:lnTo>
                  <a:pt x="220957" y="151996"/>
                </a:lnTo>
                <a:lnTo>
                  <a:pt x="229019" y="165596"/>
                </a:lnTo>
                <a:lnTo>
                  <a:pt x="181285" y="165596"/>
                </a:lnTo>
                <a:lnTo>
                  <a:pt x="173897" y="167611"/>
                </a:lnTo>
                <a:lnTo>
                  <a:pt x="166279" y="169318"/>
                </a:lnTo>
                <a:lnTo>
                  <a:pt x="158454" y="170708"/>
                </a:lnTo>
                <a:lnTo>
                  <a:pt x="150441" y="171774"/>
                </a:lnTo>
                <a:lnTo>
                  <a:pt x="150441" y="199106"/>
                </a:lnTo>
                <a:close/>
              </a:path>
              <a:path w="258445" h="199389">
                <a:moveTo>
                  <a:pt x="229512" y="140219"/>
                </a:moveTo>
                <a:lnTo>
                  <a:pt x="211817" y="140219"/>
                </a:lnTo>
                <a:lnTo>
                  <a:pt x="224911" y="131949"/>
                </a:lnTo>
                <a:lnTo>
                  <a:pt x="234739" y="121358"/>
                </a:lnTo>
                <a:lnTo>
                  <a:pt x="240917" y="108376"/>
                </a:lnTo>
                <a:lnTo>
                  <a:pt x="243061" y="92931"/>
                </a:lnTo>
                <a:lnTo>
                  <a:pt x="235965" y="66389"/>
                </a:lnTo>
                <a:lnTo>
                  <a:pt x="216289" y="47993"/>
                </a:lnTo>
                <a:lnTo>
                  <a:pt x="186456" y="37288"/>
                </a:lnTo>
                <a:lnTo>
                  <a:pt x="148885" y="33821"/>
                </a:lnTo>
                <a:lnTo>
                  <a:pt x="228946" y="33821"/>
                </a:lnTo>
                <a:lnTo>
                  <a:pt x="248068" y="52817"/>
                </a:lnTo>
                <a:lnTo>
                  <a:pt x="258216" y="86487"/>
                </a:lnTo>
                <a:lnTo>
                  <a:pt x="255484" y="104250"/>
                </a:lnTo>
                <a:lnTo>
                  <a:pt x="247655" y="120764"/>
                </a:lnTo>
                <a:lnTo>
                  <a:pt x="235285" y="135661"/>
                </a:lnTo>
                <a:lnTo>
                  <a:pt x="229512" y="140219"/>
                </a:lnTo>
                <a:close/>
              </a:path>
              <a:path w="258445" h="199389">
                <a:moveTo>
                  <a:pt x="150396" y="146219"/>
                </a:moveTo>
                <a:lnTo>
                  <a:pt x="106397" y="146219"/>
                </a:lnTo>
                <a:lnTo>
                  <a:pt x="106397" y="53643"/>
                </a:lnTo>
                <a:lnTo>
                  <a:pt x="194840" y="53643"/>
                </a:lnTo>
                <a:lnTo>
                  <a:pt x="201131" y="54353"/>
                </a:lnTo>
                <a:lnTo>
                  <a:pt x="214973" y="58793"/>
                </a:lnTo>
                <a:lnTo>
                  <a:pt x="228814" y="70424"/>
                </a:lnTo>
                <a:lnTo>
                  <a:pt x="232931" y="85007"/>
                </a:lnTo>
                <a:lnTo>
                  <a:pt x="167731" y="85007"/>
                </a:lnTo>
                <a:lnTo>
                  <a:pt x="150796" y="85242"/>
                </a:lnTo>
                <a:lnTo>
                  <a:pt x="150796" y="109953"/>
                </a:lnTo>
                <a:lnTo>
                  <a:pt x="166193" y="110269"/>
                </a:lnTo>
                <a:lnTo>
                  <a:pt x="230437" y="110269"/>
                </a:lnTo>
                <a:lnTo>
                  <a:pt x="229092" y="115327"/>
                </a:lnTo>
                <a:lnTo>
                  <a:pt x="215862" y="127691"/>
                </a:lnTo>
                <a:lnTo>
                  <a:pt x="202631" y="132864"/>
                </a:lnTo>
                <a:lnTo>
                  <a:pt x="196618" y="133908"/>
                </a:lnTo>
                <a:lnTo>
                  <a:pt x="204440" y="136263"/>
                </a:lnTo>
                <a:lnTo>
                  <a:pt x="208973" y="138574"/>
                </a:lnTo>
                <a:lnTo>
                  <a:pt x="209728" y="138930"/>
                </a:lnTo>
                <a:lnTo>
                  <a:pt x="210751" y="139508"/>
                </a:lnTo>
                <a:lnTo>
                  <a:pt x="211817" y="140219"/>
                </a:lnTo>
                <a:lnTo>
                  <a:pt x="229512" y="140219"/>
                </a:lnTo>
                <a:lnTo>
                  <a:pt x="227035" y="142174"/>
                </a:lnTo>
                <a:lnTo>
                  <a:pt x="150396" y="142174"/>
                </a:lnTo>
                <a:lnTo>
                  <a:pt x="150396" y="146219"/>
                </a:lnTo>
                <a:close/>
              </a:path>
              <a:path w="258445" h="199389">
                <a:moveTo>
                  <a:pt x="230437" y="110269"/>
                </a:moveTo>
                <a:lnTo>
                  <a:pt x="166193" y="110269"/>
                </a:lnTo>
                <a:lnTo>
                  <a:pt x="178574" y="109747"/>
                </a:lnTo>
                <a:lnTo>
                  <a:pt x="186821" y="106184"/>
                </a:lnTo>
                <a:lnTo>
                  <a:pt x="189818" y="97375"/>
                </a:lnTo>
                <a:lnTo>
                  <a:pt x="187333" y="89086"/>
                </a:lnTo>
                <a:lnTo>
                  <a:pt x="179940" y="85625"/>
                </a:lnTo>
                <a:lnTo>
                  <a:pt x="167731" y="85007"/>
                </a:lnTo>
                <a:lnTo>
                  <a:pt x="232931" y="85007"/>
                </a:lnTo>
                <a:lnTo>
                  <a:pt x="235106" y="92709"/>
                </a:lnTo>
                <a:lnTo>
                  <a:pt x="230437" y="110269"/>
                </a:lnTo>
                <a:close/>
              </a:path>
              <a:path w="258445" h="199389">
                <a:moveTo>
                  <a:pt x="220957" y="151996"/>
                </a:moveTo>
                <a:lnTo>
                  <a:pt x="150396" y="151996"/>
                </a:lnTo>
                <a:lnTo>
                  <a:pt x="158218" y="151952"/>
                </a:lnTo>
                <a:lnTo>
                  <a:pt x="165729" y="151552"/>
                </a:lnTo>
                <a:lnTo>
                  <a:pt x="172885" y="150707"/>
                </a:lnTo>
                <a:lnTo>
                  <a:pt x="170618" y="147374"/>
                </a:lnTo>
                <a:lnTo>
                  <a:pt x="167018" y="142174"/>
                </a:lnTo>
                <a:lnTo>
                  <a:pt x="227035" y="142174"/>
                </a:lnTo>
                <a:lnTo>
                  <a:pt x="218928" y="148574"/>
                </a:lnTo>
                <a:lnTo>
                  <a:pt x="220957" y="151996"/>
                </a:lnTo>
                <a:close/>
              </a:path>
              <a:path w="258445" h="199389">
                <a:moveTo>
                  <a:pt x="248883" y="199106"/>
                </a:moveTo>
                <a:lnTo>
                  <a:pt x="199106" y="199106"/>
                </a:lnTo>
                <a:lnTo>
                  <a:pt x="181285" y="165596"/>
                </a:lnTo>
                <a:lnTo>
                  <a:pt x="229019" y="165596"/>
                </a:lnTo>
                <a:lnTo>
                  <a:pt x="248883" y="199106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4371975" y="5710695"/>
            <a:ext cx="258445" cy="199390"/>
          </a:xfrm>
          <a:custGeom>
            <a:avLst/>
            <a:gdLst/>
            <a:ahLst/>
            <a:cxnLst/>
            <a:rect l="l" t="t" r="r" b="b"/>
            <a:pathLst>
              <a:path w="258445" h="199389">
                <a:moveTo>
                  <a:pt x="150441" y="199106"/>
                </a:moveTo>
                <a:lnTo>
                  <a:pt x="106397" y="199106"/>
                </a:lnTo>
                <a:lnTo>
                  <a:pt x="106397" y="171596"/>
                </a:lnTo>
                <a:lnTo>
                  <a:pt x="64254" y="161266"/>
                </a:lnTo>
                <a:lnTo>
                  <a:pt x="30516" y="142324"/>
                </a:lnTo>
                <a:lnTo>
                  <a:pt x="8118" y="116741"/>
                </a:lnTo>
                <a:lnTo>
                  <a:pt x="0" y="86487"/>
                </a:lnTo>
                <a:lnTo>
                  <a:pt x="10148" y="52817"/>
                </a:lnTo>
                <a:lnTo>
                  <a:pt x="37821" y="25327"/>
                </a:lnTo>
                <a:lnTo>
                  <a:pt x="78860" y="6794"/>
                </a:lnTo>
                <a:lnTo>
                  <a:pt x="129108" y="0"/>
                </a:lnTo>
                <a:lnTo>
                  <a:pt x="179355" y="6794"/>
                </a:lnTo>
                <a:lnTo>
                  <a:pt x="220395" y="25327"/>
                </a:lnTo>
                <a:lnTo>
                  <a:pt x="228946" y="33821"/>
                </a:lnTo>
                <a:lnTo>
                  <a:pt x="148885" y="33821"/>
                </a:lnTo>
                <a:lnTo>
                  <a:pt x="110696" y="38463"/>
                </a:lnTo>
                <a:lnTo>
                  <a:pt x="79503" y="51126"/>
                </a:lnTo>
                <a:lnTo>
                  <a:pt x="58468" y="69914"/>
                </a:lnTo>
                <a:lnTo>
                  <a:pt x="50754" y="92931"/>
                </a:lnTo>
                <a:lnTo>
                  <a:pt x="54801" y="109747"/>
                </a:lnTo>
                <a:lnTo>
                  <a:pt x="54923" y="109953"/>
                </a:lnTo>
                <a:lnTo>
                  <a:pt x="66226" y="124791"/>
                </a:lnTo>
                <a:lnTo>
                  <a:pt x="83810" y="137161"/>
                </a:lnTo>
                <a:lnTo>
                  <a:pt x="106397" y="146219"/>
                </a:lnTo>
                <a:lnTo>
                  <a:pt x="150396" y="146219"/>
                </a:lnTo>
                <a:lnTo>
                  <a:pt x="150396" y="151996"/>
                </a:lnTo>
                <a:lnTo>
                  <a:pt x="220957" y="151996"/>
                </a:lnTo>
                <a:lnTo>
                  <a:pt x="229019" y="165596"/>
                </a:lnTo>
                <a:lnTo>
                  <a:pt x="181285" y="165596"/>
                </a:lnTo>
                <a:lnTo>
                  <a:pt x="173897" y="167611"/>
                </a:lnTo>
                <a:lnTo>
                  <a:pt x="166279" y="169318"/>
                </a:lnTo>
                <a:lnTo>
                  <a:pt x="158454" y="170708"/>
                </a:lnTo>
                <a:lnTo>
                  <a:pt x="150441" y="171774"/>
                </a:lnTo>
                <a:lnTo>
                  <a:pt x="150441" y="199106"/>
                </a:lnTo>
                <a:close/>
              </a:path>
              <a:path w="258445" h="199389">
                <a:moveTo>
                  <a:pt x="229512" y="140219"/>
                </a:moveTo>
                <a:lnTo>
                  <a:pt x="211817" y="140219"/>
                </a:lnTo>
                <a:lnTo>
                  <a:pt x="224911" y="131949"/>
                </a:lnTo>
                <a:lnTo>
                  <a:pt x="234739" y="121358"/>
                </a:lnTo>
                <a:lnTo>
                  <a:pt x="240917" y="108376"/>
                </a:lnTo>
                <a:lnTo>
                  <a:pt x="243061" y="92931"/>
                </a:lnTo>
                <a:lnTo>
                  <a:pt x="235965" y="66389"/>
                </a:lnTo>
                <a:lnTo>
                  <a:pt x="216289" y="47993"/>
                </a:lnTo>
                <a:lnTo>
                  <a:pt x="186456" y="37288"/>
                </a:lnTo>
                <a:lnTo>
                  <a:pt x="148885" y="33821"/>
                </a:lnTo>
                <a:lnTo>
                  <a:pt x="228946" y="33821"/>
                </a:lnTo>
                <a:lnTo>
                  <a:pt x="248068" y="52817"/>
                </a:lnTo>
                <a:lnTo>
                  <a:pt x="258216" y="86487"/>
                </a:lnTo>
                <a:lnTo>
                  <a:pt x="255484" y="104250"/>
                </a:lnTo>
                <a:lnTo>
                  <a:pt x="247655" y="120764"/>
                </a:lnTo>
                <a:lnTo>
                  <a:pt x="235285" y="135661"/>
                </a:lnTo>
                <a:lnTo>
                  <a:pt x="229512" y="140219"/>
                </a:lnTo>
                <a:close/>
              </a:path>
              <a:path w="258445" h="199389">
                <a:moveTo>
                  <a:pt x="150396" y="146219"/>
                </a:moveTo>
                <a:lnTo>
                  <a:pt x="106397" y="146219"/>
                </a:lnTo>
                <a:lnTo>
                  <a:pt x="106397" y="53643"/>
                </a:lnTo>
                <a:lnTo>
                  <a:pt x="194840" y="53643"/>
                </a:lnTo>
                <a:lnTo>
                  <a:pt x="201131" y="54353"/>
                </a:lnTo>
                <a:lnTo>
                  <a:pt x="214973" y="58793"/>
                </a:lnTo>
                <a:lnTo>
                  <a:pt x="228814" y="70424"/>
                </a:lnTo>
                <a:lnTo>
                  <a:pt x="232931" y="85007"/>
                </a:lnTo>
                <a:lnTo>
                  <a:pt x="167731" y="85007"/>
                </a:lnTo>
                <a:lnTo>
                  <a:pt x="150796" y="85242"/>
                </a:lnTo>
                <a:lnTo>
                  <a:pt x="150796" y="109953"/>
                </a:lnTo>
                <a:lnTo>
                  <a:pt x="166193" y="110269"/>
                </a:lnTo>
                <a:lnTo>
                  <a:pt x="230437" y="110269"/>
                </a:lnTo>
                <a:lnTo>
                  <a:pt x="229092" y="115327"/>
                </a:lnTo>
                <a:lnTo>
                  <a:pt x="215862" y="127691"/>
                </a:lnTo>
                <a:lnTo>
                  <a:pt x="202631" y="132864"/>
                </a:lnTo>
                <a:lnTo>
                  <a:pt x="196618" y="133908"/>
                </a:lnTo>
                <a:lnTo>
                  <a:pt x="204440" y="136263"/>
                </a:lnTo>
                <a:lnTo>
                  <a:pt x="208973" y="138574"/>
                </a:lnTo>
                <a:lnTo>
                  <a:pt x="209728" y="138930"/>
                </a:lnTo>
                <a:lnTo>
                  <a:pt x="210751" y="139508"/>
                </a:lnTo>
                <a:lnTo>
                  <a:pt x="211817" y="140219"/>
                </a:lnTo>
                <a:lnTo>
                  <a:pt x="229512" y="140219"/>
                </a:lnTo>
                <a:lnTo>
                  <a:pt x="227035" y="142174"/>
                </a:lnTo>
                <a:lnTo>
                  <a:pt x="150396" y="142174"/>
                </a:lnTo>
                <a:lnTo>
                  <a:pt x="150396" y="146219"/>
                </a:lnTo>
                <a:close/>
              </a:path>
              <a:path w="258445" h="199389">
                <a:moveTo>
                  <a:pt x="230437" y="110269"/>
                </a:moveTo>
                <a:lnTo>
                  <a:pt x="166193" y="110269"/>
                </a:lnTo>
                <a:lnTo>
                  <a:pt x="178574" y="109747"/>
                </a:lnTo>
                <a:lnTo>
                  <a:pt x="186821" y="106184"/>
                </a:lnTo>
                <a:lnTo>
                  <a:pt x="189818" y="97375"/>
                </a:lnTo>
                <a:lnTo>
                  <a:pt x="187333" y="89086"/>
                </a:lnTo>
                <a:lnTo>
                  <a:pt x="179940" y="85625"/>
                </a:lnTo>
                <a:lnTo>
                  <a:pt x="167731" y="85007"/>
                </a:lnTo>
                <a:lnTo>
                  <a:pt x="232931" y="85007"/>
                </a:lnTo>
                <a:lnTo>
                  <a:pt x="235106" y="92709"/>
                </a:lnTo>
                <a:lnTo>
                  <a:pt x="230437" y="110269"/>
                </a:lnTo>
                <a:close/>
              </a:path>
              <a:path w="258445" h="199389">
                <a:moveTo>
                  <a:pt x="220957" y="151996"/>
                </a:moveTo>
                <a:lnTo>
                  <a:pt x="150396" y="151996"/>
                </a:lnTo>
                <a:lnTo>
                  <a:pt x="158218" y="151952"/>
                </a:lnTo>
                <a:lnTo>
                  <a:pt x="165729" y="151552"/>
                </a:lnTo>
                <a:lnTo>
                  <a:pt x="172885" y="150707"/>
                </a:lnTo>
                <a:lnTo>
                  <a:pt x="170618" y="147374"/>
                </a:lnTo>
                <a:lnTo>
                  <a:pt x="167018" y="142174"/>
                </a:lnTo>
                <a:lnTo>
                  <a:pt x="227035" y="142174"/>
                </a:lnTo>
                <a:lnTo>
                  <a:pt x="218928" y="148574"/>
                </a:lnTo>
                <a:lnTo>
                  <a:pt x="220957" y="151996"/>
                </a:lnTo>
                <a:close/>
              </a:path>
              <a:path w="258445" h="199389">
                <a:moveTo>
                  <a:pt x="248883" y="199106"/>
                </a:moveTo>
                <a:lnTo>
                  <a:pt x="199106" y="199106"/>
                </a:lnTo>
                <a:lnTo>
                  <a:pt x="181285" y="165596"/>
                </a:lnTo>
                <a:lnTo>
                  <a:pt x="229019" y="165596"/>
                </a:lnTo>
                <a:lnTo>
                  <a:pt x="248883" y="199106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10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51408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85">
                <a:solidFill>
                  <a:srgbClr val="C2132D"/>
                </a:solidFill>
              </a:rPr>
              <a:t>Verifying </a:t>
            </a:r>
            <a:r>
              <a:rPr dirty="0" sz="3350" spc="-130">
                <a:solidFill>
                  <a:srgbClr val="C2132D"/>
                </a:solidFill>
              </a:rPr>
              <a:t>PACF </a:t>
            </a:r>
            <a:r>
              <a:rPr dirty="0" sz="3350" spc="-165">
                <a:solidFill>
                  <a:srgbClr val="C2132D"/>
                </a:solidFill>
              </a:rPr>
              <a:t>Computations </a:t>
            </a:r>
            <a:r>
              <a:rPr dirty="0" sz="3350" spc="-190">
                <a:solidFill>
                  <a:srgbClr val="C2132D"/>
                </a:solidFill>
              </a:rPr>
              <a:t>in </a:t>
            </a:r>
            <a:r>
              <a:rPr dirty="0" sz="3200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r>
              <a:rPr dirty="0" sz="3200" spc="-141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3350" spc="-530">
                <a:solidFill>
                  <a:srgbClr val="C2132D"/>
                </a:solidFill>
              </a:rPr>
              <a:t>&amp;</a:t>
            </a:r>
            <a:endParaRPr sz="3350">
              <a:latin typeface="Courier New"/>
              <a:cs typeface="Courier Ne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9505949" y="627674"/>
            <a:ext cx="484505" cy="374015"/>
          </a:xfrm>
          <a:custGeom>
            <a:avLst/>
            <a:gdLst/>
            <a:ahLst/>
            <a:cxnLst/>
            <a:rect l="l" t="t" r="r" b="b"/>
            <a:pathLst>
              <a:path w="484504" h="374015">
                <a:moveTo>
                  <a:pt x="282153" y="373425"/>
                </a:moveTo>
                <a:lnTo>
                  <a:pt x="199549" y="373425"/>
                </a:lnTo>
                <a:lnTo>
                  <a:pt x="199549" y="321829"/>
                </a:lnTo>
                <a:lnTo>
                  <a:pt x="145377" y="310891"/>
                </a:lnTo>
                <a:lnTo>
                  <a:pt x="97394" y="292226"/>
                </a:lnTo>
                <a:lnTo>
                  <a:pt x="57232" y="266930"/>
                </a:lnTo>
                <a:lnTo>
                  <a:pt x="26525" y="236098"/>
                </a:lnTo>
                <a:lnTo>
                  <a:pt x="6903" y="200825"/>
                </a:lnTo>
                <a:lnTo>
                  <a:pt x="0" y="162206"/>
                </a:lnTo>
                <a:lnTo>
                  <a:pt x="6396" y="125007"/>
                </a:lnTo>
                <a:lnTo>
                  <a:pt x="24617" y="90863"/>
                </a:lnTo>
                <a:lnTo>
                  <a:pt x="53206" y="60745"/>
                </a:lnTo>
                <a:lnTo>
                  <a:pt x="90708" y="35628"/>
                </a:lnTo>
                <a:lnTo>
                  <a:pt x="135668" y="16483"/>
                </a:lnTo>
                <a:lnTo>
                  <a:pt x="186632" y="4282"/>
                </a:lnTo>
                <a:lnTo>
                  <a:pt x="242143" y="0"/>
                </a:lnTo>
                <a:lnTo>
                  <a:pt x="297654" y="4282"/>
                </a:lnTo>
                <a:lnTo>
                  <a:pt x="348617" y="16483"/>
                </a:lnTo>
                <a:lnTo>
                  <a:pt x="393578" y="35628"/>
                </a:lnTo>
                <a:lnTo>
                  <a:pt x="431080" y="60745"/>
                </a:lnTo>
                <a:lnTo>
                  <a:pt x="433630" y="63432"/>
                </a:lnTo>
                <a:lnTo>
                  <a:pt x="279235" y="63432"/>
                </a:lnTo>
                <a:lnTo>
                  <a:pt x="221077" y="69080"/>
                </a:lnTo>
                <a:lnTo>
                  <a:pt x="170556" y="84811"/>
                </a:lnTo>
                <a:lnTo>
                  <a:pt x="130711" y="108803"/>
                </a:lnTo>
                <a:lnTo>
                  <a:pt x="104576" y="139237"/>
                </a:lnTo>
                <a:lnTo>
                  <a:pt x="95190" y="174293"/>
                </a:lnTo>
                <a:lnTo>
                  <a:pt x="102810" y="205955"/>
                </a:lnTo>
                <a:lnTo>
                  <a:pt x="124207" y="234047"/>
                </a:lnTo>
                <a:lnTo>
                  <a:pt x="157186" y="257247"/>
                </a:lnTo>
                <a:lnTo>
                  <a:pt x="199549" y="274234"/>
                </a:lnTo>
                <a:lnTo>
                  <a:pt x="282069" y="274234"/>
                </a:lnTo>
                <a:lnTo>
                  <a:pt x="282069" y="285070"/>
                </a:lnTo>
                <a:lnTo>
                  <a:pt x="414406" y="285070"/>
                </a:lnTo>
                <a:lnTo>
                  <a:pt x="429526" y="310576"/>
                </a:lnTo>
                <a:lnTo>
                  <a:pt x="340000" y="310576"/>
                </a:lnTo>
                <a:lnTo>
                  <a:pt x="326144" y="314356"/>
                </a:lnTo>
                <a:lnTo>
                  <a:pt x="311858" y="317557"/>
                </a:lnTo>
                <a:lnTo>
                  <a:pt x="297181" y="320165"/>
                </a:lnTo>
                <a:lnTo>
                  <a:pt x="282153" y="322163"/>
                </a:lnTo>
                <a:lnTo>
                  <a:pt x="282153" y="373425"/>
                </a:lnTo>
                <a:close/>
              </a:path>
              <a:path w="484504" h="374015">
                <a:moveTo>
                  <a:pt x="430451" y="262981"/>
                </a:moveTo>
                <a:lnTo>
                  <a:pt x="397265" y="262981"/>
                </a:lnTo>
                <a:lnTo>
                  <a:pt x="421823" y="247471"/>
                </a:lnTo>
                <a:lnTo>
                  <a:pt x="440254" y="227608"/>
                </a:lnTo>
                <a:lnTo>
                  <a:pt x="451841" y="203260"/>
                </a:lnTo>
                <a:lnTo>
                  <a:pt x="455862" y="174293"/>
                </a:lnTo>
                <a:lnTo>
                  <a:pt x="447248" y="133220"/>
                </a:lnTo>
                <a:lnTo>
                  <a:pt x="422953" y="102033"/>
                </a:lnTo>
                <a:lnTo>
                  <a:pt x="385303" y="80297"/>
                </a:lnTo>
                <a:lnTo>
                  <a:pt x="336622" y="67576"/>
                </a:lnTo>
                <a:lnTo>
                  <a:pt x="279235" y="63432"/>
                </a:lnTo>
                <a:lnTo>
                  <a:pt x="433630" y="63432"/>
                </a:lnTo>
                <a:lnTo>
                  <a:pt x="459669" y="90863"/>
                </a:lnTo>
                <a:lnTo>
                  <a:pt x="477889" y="125007"/>
                </a:lnTo>
                <a:lnTo>
                  <a:pt x="484286" y="162206"/>
                </a:lnTo>
                <a:lnTo>
                  <a:pt x="479161" y="195522"/>
                </a:lnTo>
                <a:lnTo>
                  <a:pt x="464479" y="226493"/>
                </a:lnTo>
                <a:lnTo>
                  <a:pt x="441279" y="254432"/>
                </a:lnTo>
                <a:lnTo>
                  <a:pt x="430451" y="262981"/>
                </a:lnTo>
                <a:close/>
              </a:path>
              <a:path w="484504" h="374015">
                <a:moveTo>
                  <a:pt x="282069" y="274234"/>
                </a:moveTo>
                <a:lnTo>
                  <a:pt x="199549" y="274234"/>
                </a:lnTo>
                <a:lnTo>
                  <a:pt x="199549" y="100608"/>
                </a:lnTo>
                <a:lnTo>
                  <a:pt x="365423" y="100608"/>
                </a:lnTo>
                <a:lnTo>
                  <a:pt x="377223" y="101940"/>
                </a:lnTo>
                <a:lnTo>
                  <a:pt x="403183" y="110266"/>
                </a:lnTo>
                <a:lnTo>
                  <a:pt x="429142" y="132080"/>
                </a:lnTo>
                <a:lnTo>
                  <a:pt x="436864" y="159431"/>
                </a:lnTo>
                <a:lnTo>
                  <a:pt x="314580" y="159431"/>
                </a:lnTo>
                <a:lnTo>
                  <a:pt x="282820" y="159872"/>
                </a:lnTo>
                <a:lnTo>
                  <a:pt x="282820" y="206217"/>
                </a:lnTo>
                <a:lnTo>
                  <a:pt x="311697" y="206810"/>
                </a:lnTo>
                <a:lnTo>
                  <a:pt x="432186" y="206810"/>
                </a:lnTo>
                <a:lnTo>
                  <a:pt x="429663" y="216297"/>
                </a:lnTo>
                <a:lnTo>
                  <a:pt x="404850" y="239486"/>
                </a:lnTo>
                <a:lnTo>
                  <a:pt x="380036" y="249188"/>
                </a:lnTo>
                <a:lnTo>
                  <a:pt x="368758" y="251145"/>
                </a:lnTo>
                <a:lnTo>
                  <a:pt x="383428" y="255563"/>
                </a:lnTo>
                <a:lnTo>
                  <a:pt x="391930" y="259897"/>
                </a:lnTo>
                <a:lnTo>
                  <a:pt x="393347" y="260564"/>
                </a:lnTo>
                <a:lnTo>
                  <a:pt x="395264" y="261648"/>
                </a:lnTo>
                <a:lnTo>
                  <a:pt x="397265" y="262981"/>
                </a:lnTo>
                <a:lnTo>
                  <a:pt x="430451" y="262981"/>
                </a:lnTo>
                <a:lnTo>
                  <a:pt x="425805" y="266649"/>
                </a:lnTo>
                <a:lnTo>
                  <a:pt x="282069" y="266649"/>
                </a:lnTo>
                <a:lnTo>
                  <a:pt x="282069" y="274234"/>
                </a:lnTo>
                <a:close/>
              </a:path>
              <a:path w="484504" h="374015">
                <a:moveTo>
                  <a:pt x="432186" y="206810"/>
                </a:moveTo>
                <a:lnTo>
                  <a:pt x="311697" y="206810"/>
                </a:lnTo>
                <a:lnTo>
                  <a:pt x="334916" y="205832"/>
                </a:lnTo>
                <a:lnTo>
                  <a:pt x="350383" y="199149"/>
                </a:lnTo>
                <a:lnTo>
                  <a:pt x="356004" y="182628"/>
                </a:lnTo>
                <a:lnTo>
                  <a:pt x="351344" y="167081"/>
                </a:lnTo>
                <a:lnTo>
                  <a:pt x="337479" y="160591"/>
                </a:lnTo>
                <a:lnTo>
                  <a:pt x="314580" y="159431"/>
                </a:lnTo>
                <a:lnTo>
                  <a:pt x="436864" y="159431"/>
                </a:lnTo>
                <a:lnTo>
                  <a:pt x="440942" y="173876"/>
                </a:lnTo>
                <a:lnTo>
                  <a:pt x="432186" y="206810"/>
                </a:lnTo>
                <a:close/>
              </a:path>
              <a:path w="484504" h="374015">
                <a:moveTo>
                  <a:pt x="414406" y="285070"/>
                </a:moveTo>
                <a:lnTo>
                  <a:pt x="282069" y="285070"/>
                </a:lnTo>
                <a:lnTo>
                  <a:pt x="292961" y="284880"/>
                </a:lnTo>
                <a:lnTo>
                  <a:pt x="303627" y="284424"/>
                </a:lnTo>
                <a:lnTo>
                  <a:pt x="314058" y="283687"/>
                </a:lnTo>
                <a:lnTo>
                  <a:pt x="324247" y="282653"/>
                </a:lnTo>
                <a:lnTo>
                  <a:pt x="320593" y="277515"/>
                </a:lnTo>
                <a:lnTo>
                  <a:pt x="316026" y="272307"/>
                </a:lnTo>
                <a:lnTo>
                  <a:pt x="310567" y="268270"/>
                </a:lnTo>
                <a:lnTo>
                  <a:pt x="304242" y="266649"/>
                </a:lnTo>
                <a:lnTo>
                  <a:pt x="425805" y="266649"/>
                </a:lnTo>
                <a:lnTo>
                  <a:pt x="410601" y="278652"/>
                </a:lnTo>
                <a:lnTo>
                  <a:pt x="414406" y="285070"/>
                </a:lnTo>
                <a:close/>
              </a:path>
              <a:path w="484504" h="374015">
                <a:moveTo>
                  <a:pt x="466782" y="373425"/>
                </a:moveTo>
                <a:lnTo>
                  <a:pt x="373425" y="373425"/>
                </a:lnTo>
                <a:lnTo>
                  <a:pt x="340000" y="310576"/>
                </a:lnTo>
                <a:lnTo>
                  <a:pt x="429526" y="310576"/>
                </a:lnTo>
                <a:lnTo>
                  <a:pt x="466782" y="373425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914400" y="1619250"/>
            <a:ext cx="4657725" cy="4381500"/>
          </a:xfrm>
          <a:prstGeom prst="rect">
            <a:avLst/>
          </a:prstGeom>
          <a:solidFill>
            <a:srgbClr val="F7F7F7"/>
          </a:solidFill>
        </p:spPr>
        <p:txBody>
          <a:bodyPr wrap="square" lIns="0" tIns="69850" rIns="0" bIns="0" rtlCol="0" vert="horz">
            <a:spAutoFit/>
          </a:bodyPr>
          <a:lstStyle/>
          <a:p>
            <a:pPr marL="86360">
              <a:lnSpc>
                <a:spcPts val="1300"/>
              </a:lnSpc>
              <a:spcBef>
                <a:spcPts val="550"/>
              </a:spcBef>
            </a:pP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import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numpy </a:t>
            </a: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as</a:t>
            </a:r>
            <a:r>
              <a:rPr dirty="0" sz="1100" spc="-15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np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40"/>
              </a:lnSpc>
            </a:pP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import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pandas </a:t>
            </a: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as</a:t>
            </a:r>
            <a:r>
              <a:rPr dirty="0" sz="1100" spc="-15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pd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60"/>
              </a:lnSpc>
            </a:pP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from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statsmodels.tsa.stattools </a:t>
            </a: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import</a:t>
            </a:r>
            <a:r>
              <a:rPr dirty="0" sz="1100" spc="-15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pacf</a:t>
            </a:r>
            <a:endParaRPr sz="1100">
              <a:latin typeface="Courier New"/>
              <a:cs typeface="Courier New"/>
            </a:endParaRPr>
          </a:p>
          <a:p>
            <a:pPr marL="253365" indent="-167640">
              <a:lnSpc>
                <a:spcPts val="1260"/>
              </a:lnSpc>
              <a:spcBef>
                <a:spcPts val="1080"/>
              </a:spcBef>
              <a:buChar char="❖"/>
              <a:tabLst>
                <a:tab pos="254000" algn="l"/>
              </a:tabLst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generate a random time</a:t>
            </a:r>
            <a:r>
              <a:rPr dirty="0" sz="1100" spc="-15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series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40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np.random.seed(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2025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95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ts = np.random.normal(size=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100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 loc=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50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100" spc="-2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scale=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10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  <a:p>
            <a:pPr marL="253365" indent="-167640">
              <a:lnSpc>
                <a:spcPts val="1260"/>
              </a:lnSpc>
              <a:spcBef>
                <a:spcPts val="1080"/>
              </a:spcBef>
              <a:buChar char="❖"/>
              <a:tabLst>
                <a:tab pos="254000" algn="l"/>
              </a:tabLst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computing the PACF using different</a:t>
            </a:r>
            <a:r>
              <a:rPr dirty="0" sz="1100" spc="-20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methods</a:t>
            </a:r>
            <a:endParaRPr sz="1100">
              <a:latin typeface="Courier New"/>
              <a:cs typeface="Courier New"/>
            </a:endParaRPr>
          </a:p>
          <a:p>
            <a:pPr marL="420370" marR="2561590" indent="-334010">
              <a:lnSpc>
                <a:spcPts val="1270"/>
              </a:lnSpc>
              <a:spcBef>
                <a:spcPts val="25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pacf_df =</a:t>
            </a:r>
            <a:r>
              <a:rPr dirty="0" sz="1100" spc="-7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pd.DataFrame({ 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'lag'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:</a:t>
            </a:r>
            <a:r>
              <a:rPr dirty="0" sz="1100" spc="-2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range(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13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),</a:t>
            </a:r>
            <a:endParaRPr sz="1100">
              <a:latin typeface="Courier New"/>
              <a:cs typeface="Courier New"/>
            </a:endParaRPr>
          </a:p>
          <a:p>
            <a:pPr marL="420370" marR="893444">
              <a:lnSpc>
                <a:spcPct val="93800"/>
              </a:lnSpc>
              <a:spcBef>
                <a:spcPts val="5"/>
              </a:spcBef>
            </a:pP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'yw'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: pacf(ts, nlags=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12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 method=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'yw'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), 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'ld'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: pacf(ts, nlags=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12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 method=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'ld'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), 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'ywm'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: pacf(ts, nlags=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12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100" spc="-5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method=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'ywm'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),</a:t>
            </a:r>
            <a:endParaRPr sz="1100">
              <a:latin typeface="Courier New"/>
              <a:cs typeface="Courier New"/>
            </a:endParaRPr>
          </a:p>
          <a:p>
            <a:pPr marL="420370">
              <a:lnSpc>
                <a:spcPts val="1255"/>
              </a:lnSpc>
            </a:pP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'ldb'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: pacf(ts, nlags=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12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100" spc="-1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method=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'ldb'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95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})</a:t>
            </a:r>
            <a:endParaRPr sz="1100">
              <a:latin typeface="Courier New"/>
              <a:cs typeface="Courier New"/>
            </a:endParaRPr>
          </a:p>
          <a:p>
            <a:pPr marL="253365" indent="-167640">
              <a:lnSpc>
                <a:spcPts val="1295"/>
              </a:lnSpc>
              <a:spcBef>
                <a:spcPts val="1005"/>
              </a:spcBef>
              <a:buChar char="❖"/>
              <a:tabLst>
                <a:tab pos="254000" algn="l"/>
              </a:tabLst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print the</a:t>
            </a:r>
            <a:r>
              <a:rPr dirty="0" sz="1100" spc="-10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results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95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pacf_df</a:t>
            </a:r>
            <a:endParaRPr sz="1100">
              <a:latin typeface="Courier New"/>
              <a:cs typeface="Courier New"/>
            </a:endParaRPr>
          </a:p>
          <a:p>
            <a:pPr marL="253365" indent="-167640">
              <a:lnSpc>
                <a:spcPts val="1260"/>
              </a:lnSpc>
              <a:spcBef>
                <a:spcPts val="1080"/>
              </a:spcBef>
              <a:buChar char="❖"/>
              <a:tabLst>
                <a:tab pos="254000" algn="l"/>
              </a:tabLst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save the original ts to reuse in</a:t>
            </a:r>
            <a:r>
              <a:rPr dirty="0" sz="1100" spc="-70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R</a:t>
            </a:r>
            <a:endParaRPr sz="1100">
              <a:latin typeface="Courier New"/>
              <a:cs typeface="Courier New"/>
            </a:endParaRPr>
          </a:p>
          <a:p>
            <a:pPr marL="253365" marR="1310640" indent="-167005">
              <a:lnSpc>
                <a:spcPts val="1280"/>
              </a:lnSpc>
              <a:spcBef>
                <a:spcPts val="15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pd.DataFrame({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'ts'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: ts}).to_csv( 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'../../data/sim_ts.csv'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100" spc="-5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index=</a:t>
            </a: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False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  <a:p>
            <a:pPr marL="253365" indent="-167640">
              <a:lnSpc>
                <a:spcPts val="1295"/>
              </a:lnSpc>
              <a:spcBef>
                <a:spcPts val="965"/>
              </a:spcBef>
              <a:buChar char="❖"/>
              <a:tabLst>
                <a:tab pos="254000" algn="l"/>
              </a:tabLst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save the PACF results to reuse in</a:t>
            </a:r>
            <a:r>
              <a:rPr dirty="0" sz="1100" spc="-25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R</a:t>
            </a:r>
            <a:endParaRPr sz="1100">
              <a:latin typeface="Courier New"/>
              <a:cs typeface="Courier New"/>
            </a:endParaRPr>
          </a:p>
          <a:p>
            <a:pPr marL="253365" marR="810260" indent="-167005">
              <a:lnSpc>
                <a:spcPts val="1280"/>
              </a:lnSpc>
              <a:spcBef>
                <a:spcPts val="55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pacf_df.to_csv( 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'../../data/pacf_results.csv'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100" spc="-4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index=</a:t>
            </a: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False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762624" y="1619250"/>
            <a:ext cx="4848225" cy="2409825"/>
          </a:xfrm>
          <a:custGeom>
            <a:avLst/>
            <a:gdLst/>
            <a:ahLst/>
            <a:cxnLst/>
            <a:rect l="l" t="t" r="r" b="b"/>
            <a:pathLst>
              <a:path w="4848225" h="2409825">
                <a:moveTo>
                  <a:pt x="0" y="0"/>
                </a:moveTo>
                <a:lnTo>
                  <a:pt x="4848224" y="0"/>
                </a:lnTo>
                <a:lnTo>
                  <a:pt x="4848224" y="2409824"/>
                </a:lnTo>
                <a:lnTo>
                  <a:pt x="0" y="2409824"/>
                </a:lnTo>
                <a:lnTo>
                  <a:pt x="0" y="0"/>
                </a:lnTo>
                <a:close/>
              </a:path>
            </a:pathLst>
          </a:custGeom>
          <a:solidFill>
            <a:srgbClr val="F7F7F7"/>
          </a:solidFill>
        </p:spPr>
        <p:txBody>
          <a:bodyPr wrap="square" lIns="0" tIns="0" rIns="0" bIns="0" rtlCol="0"/>
          <a:lstStyle/>
          <a:p/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5817641" y="1687845"/>
          <a:ext cx="4232910" cy="22567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029"/>
                <a:gridCol w="291464"/>
                <a:gridCol w="374650"/>
                <a:gridCol w="833119"/>
                <a:gridCol w="833119"/>
                <a:gridCol w="833119"/>
                <a:gridCol w="822960"/>
              </a:tblGrid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ts val="1165"/>
                        </a:lnSpc>
                        <a:spcBef>
                          <a:spcPts val="10"/>
                        </a:spcBef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374650">
                        <a:lnSpc>
                          <a:spcPts val="1165"/>
                        </a:lnSpc>
                        <a:spcBef>
                          <a:spcPts val="10"/>
                        </a:spcBef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lag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65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yw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65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ld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65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ywm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65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ldb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</a:tr>
              <a:tr h="166230">
                <a:tc>
                  <a:txBody>
                    <a:bodyPr/>
                    <a:lstStyle/>
                    <a:p>
                      <a:pPr marL="31750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1.000000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1.000000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1.000000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1.000000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</a:tr>
              <a:tr h="157162">
                <a:tc>
                  <a:txBody>
                    <a:bodyPr/>
                    <a:lstStyle/>
                    <a:p>
                      <a:pPr marL="31750">
                        <a:lnSpc>
                          <a:spcPts val="114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-0.117735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-0.117735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-0.116558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-0.116558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0.026043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0.026043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0.025514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0.025514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0.106935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0.106935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0.103698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0.103698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57162">
                <a:tc>
                  <a:txBody>
                    <a:bodyPr/>
                    <a:lstStyle/>
                    <a:p>
                      <a:pPr marL="31750">
                        <a:lnSpc>
                          <a:spcPts val="114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-0.058773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-0.058773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-0.056358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-0.056358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57162">
                <a:tc>
                  <a:txBody>
                    <a:bodyPr/>
                    <a:lstStyle/>
                    <a:p>
                      <a:pPr marL="31750">
                        <a:lnSpc>
                          <a:spcPts val="114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5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5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0.026731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0.026731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0.025363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0.025363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6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6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-0.056340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-0.056340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-0.052902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-0.052902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61924">
                <a:tc>
                  <a:txBody>
                    <a:bodyPr/>
                    <a:lstStyle/>
                    <a:p>
                      <a:pPr marL="31750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-0.043437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-0.043437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-0.040357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-0.040357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61924">
                <a:tc>
                  <a:txBody>
                    <a:bodyPr/>
                    <a:lstStyle/>
                    <a:p>
                      <a:pPr marL="31750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0.103929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0.103929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0.095361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0.095361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57162">
                <a:tc>
                  <a:txBody>
                    <a:bodyPr/>
                    <a:lstStyle/>
                    <a:p>
                      <a:pPr marL="31750">
                        <a:lnSpc>
                          <a:spcPts val="114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9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9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-0.032238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-0.032238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-0.029049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-0.029049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57162">
                <a:tc>
                  <a:txBody>
                    <a:bodyPr/>
                    <a:lstStyle/>
                    <a:p>
                      <a:pPr marL="31750">
                        <a:lnSpc>
                          <a:spcPts val="114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4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-0.137204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-0.137204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-0.123049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-0.123049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0.114837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0.114837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0.100998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0.100998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70993">
                <a:tc>
                  <a:txBody>
                    <a:bodyPr/>
                    <a:lstStyle/>
                    <a:p>
                      <a:pPr marL="31750">
                        <a:lnSpc>
                          <a:spcPts val="124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24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24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24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0.052926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24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0.052926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24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0.046414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24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0.046414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10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51408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85">
                <a:solidFill>
                  <a:srgbClr val="C2132D"/>
                </a:solidFill>
              </a:rPr>
              <a:t>Verifying </a:t>
            </a:r>
            <a:r>
              <a:rPr dirty="0" sz="3350" spc="-130">
                <a:solidFill>
                  <a:srgbClr val="C2132D"/>
                </a:solidFill>
              </a:rPr>
              <a:t>PACF </a:t>
            </a:r>
            <a:r>
              <a:rPr dirty="0" sz="3350" spc="-165">
                <a:solidFill>
                  <a:srgbClr val="C2132D"/>
                </a:solidFill>
              </a:rPr>
              <a:t>Computations </a:t>
            </a:r>
            <a:r>
              <a:rPr dirty="0" sz="3350" spc="-190">
                <a:solidFill>
                  <a:srgbClr val="C2132D"/>
                </a:solidFill>
              </a:rPr>
              <a:t>in </a:t>
            </a:r>
            <a:r>
              <a:rPr dirty="0" sz="3200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r>
              <a:rPr dirty="0" sz="3200" spc="-141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3350" spc="-530">
                <a:solidFill>
                  <a:srgbClr val="C2132D"/>
                </a:solidFill>
              </a:rPr>
              <a:t>&amp;</a:t>
            </a:r>
            <a:endParaRPr sz="335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354890" y="1387475"/>
            <a:ext cx="4974590" cy="4254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600" spc="-125">
                <a:solidFill>
                  <a:srgbClr val="C2132D"/>
                </a:solidFill>
                <a:latin typeface="Trebuchet MS"/>
                <a:cs typeface="Trebuchet MS"/>
              </a:rPr>
              <a:t>Computations </a:t>
            </a:r>
            <a:r>
              <a:rPr dirty="0" sz="2600" spc="-135">
                <a:solidFill>
                  <a:srgbClr val="C2132D"/>
                </a:solidFill>
                <a:latin typeface="Trebuchet MS"/>
                <a:cs typeface="Trebuchet MS"/>
              </a:rPr>
              <a:t>and </a:t>
            </a:r>
            <a:r>
              <a:rPr dirty="0" sz="2600" spc="-120">
                <a:solidFill>
                  <a:srgbClr val="C2132D"/>
                </a:solidFill>
                <a:latin typeface="Trebuchet MS"/>
                <a:cs typeface="Trebuchet MS"/>
              </a:rPr>
              <a:t>Combining</a:t>
            </a:r>
            <a:r>
              <a:rPr dirty="0" sz="2600" spc="-345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2600" spc="-85">
                <a:solidFill>
                  <a:srgbClr val="C2132D"/>
                </a:solidFill>
                <a:latin typeface="Trebuchet MS"/>
                <a:cs typeface="Trebuchet MS"/>
              </a:rPr>
              <a:t>Results</a:t>
            </a:r>
            <a:endParaRPr sz="26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1700" y="4206875"/>
            <a:ext cx="6403340" cy="4254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600" spc="-165">
                <a:solidFill>
                  <a:srgbClr val="C2132D"/>
                </a:solidFill>
                <a:latin typeface="Trebuchet MS"/>
                <a:cs typeface="Trebuchet MS"/>
              </a:rPr>
              <a:t>The </a:t>
            </a:r>
            <a:r>
              <a:rPr dirty="0" sz="2600" spc="-140">
                <a:solidFill>
                  <a:srgbClr val="C2132D"/>
                </a:solidFill>
                <a:latin typeface="Trebuchet MS"/>
                <a:cs typeface="Trebuchet MS"/>
              </a:rPr>
              <a:t>Combined </a:t>
            </a:r>
            <a:r>
              <a:rPr dirty="0" sz="2600" spc="-85">
                <a:solidFill>
                  <a:srgbClr val="C2132D"/>
                </a:solidFill>
                <a:latin typeface="Trebuchet MS"/>
                <a:cs typeface="Trebuchet MS"/>
              </a:rPr>
              <a:t>Results </a:t>
            </a:r>
            <a:r>
              <a:rPr dirty="0" sz="2600" spc="-160">
                <a:solidFill>
                  <a:srgbClr val="C2132D"/>
                </a:solidFill>
                <a:latin typeface="Trebuchet MS"/>
                <a:cs typeface="Trebuchet MS"/>
              </a:rPr>
              <a:t>from </a:t>
            </a:r>
            <a:r>
              <a:rPr dirty="0" sz="2500" spc="-5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r>
              <a:rPr dirty="0" sz="2500" spc="-113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2600" spc="-135">
                <a:solidFill>
                  <a:srgbClr val="C2132D"/>
                </a:solidFill>
                <a:latin typeface="Trebuchet MS"/>
                <a:cs typeface="Trebuchet MS"/>
              </a:rPr>
              <a:t>and</a:t>
            </a:r>
            <a:endParaRPr sz="2600">
              <a:latin typeface="Trebuchet MS"/>
              <a:cs typeface="Trebuchet M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505949" y="627674"/>
            <a:ext cx="484505" cy="374015"/>
          </a:xfrm>
          <a:custGeom>
            <a:avLst/>
            <a:gdLst/>
            <a:ahLst/>
            <a:cxnLst/>
            <a:rect l="l" t="t" r="r" b="b"/>
            <a:pathLst>
              <a:path w="484504" h="374015">
                <a:moveTo>
                  <a:pt x="282153" y="373425"/>
                </a:moveTo>
                <a:lnTo>
                  <a:pt x="199549" y="373425"/>
                </a:lnTo>
                <a:lnTo>
                  <a:pt x="199549" y="321829"/>
                </a:lnTo>
                <a:lnTo>
                  <a:pt x="145377" y="310891"/>
                </a:lnTo>
                <a:lnTo>
                  <a:pt x="97394" y="292226"/>
                </a:lnTo>
                <a:lnTo>
                  <a:pt x="57232" y="266930"/>
                </a:lnTo>
                <a:lnTo>
                  <a:pt x="26525" y="236098"/>
                </a:lnTo>
                <a:lnTo>
                  <a:pt x="6903" y="200825"/>
                </a:lnTo>
                <a:lnTo>
                  <a:pt x="0" y="162206"/>
                </a:lnTo>
                <a:lnTo>
                  <a:pt x="6396" y="125007"/>
                </a:lnTo>
                <a:lnTo>
                  <a:pt x="24617" y="90863"/>
                </a:lnTo>
                <a:lnTo>
                  <a:pt x="53206" y="60745"/>
                </a:lnTo>
                <a:lnTo>
                  <a:pt x="90708" y="35628"/>
                </a:lnTo>
                <a:lnTo>
                  <a:pt x="135668" y="16483"/>
                </a:lnTo>
                <a:lnTo>
                  <a:pt x="186632" y="4282"/>
                </a:lnTo>
                <a:lnTo>
                  <a:pt x="242143" y="0"/>
                </a:lnTo>
                <a:lnTo>
                  <a:pt x="297654" y="4282"/>
                </a:lnTo>
                <a:lnTo>
                  <a:pt x="348617" y="16483"/>
                </a:lnTo>
                <a:lnTo>
                  <a:pt x="393578" y="35628"/>
                </a:lnTo>
                <a:lnTo>
                  <a:pt x="431080" y="60745"/>
                </a:lnTo>
                <a:lnTo>
                  <a:pt x="433630" y="63432"/>
                </a:lnTo>
                <a:lnTo>
                  <a:pt x="279235" y="63432"/>
                </a:lnTo>
                <a:lnTo>
                  <a:pt x="221077" y="69080"/>
                </a:lnTo>
                <a:lnTo>
                  <a:pt x="170556" y="84811"/>
                </a:lnTo>
                <a:lnTo>
                  <a:pt x="130711" y="108803"/>
                </a:lnTo>
                <a:lnTo>
                  <a:pt x="104576" y="139237"/>
                </a:lnTo>
                <a:lnTo>
                  <a:pt x="95190" y="174293"/>
                </a:lnTo>
                <a:lnTo>
                  <a:pt x="102810" y="205955"/>
                </a:lnTo>
                <a:lnTo>
                  <a:pt x="124207" y="234047"/>
                </a:lnTo>
                <a:lnTo>
                  <a:pt x="157186" y="257247"/>
                </a:lnTo>
                <a:lnTo>
                  <a:pt x="199549" y="274234"/>
                </a:lnTo>
                <a:lnTo>
                  <a:pt x="282069" y="274234"/>
                </a:lnTo>
                <a:lnTo>
                  <a:pt x="282069" y="285070"/>
                </a:lnTo>
                <a:lnTo>
                  <a:pt x="414406" y="285070"/>
                </a:lnTo>
                <a:lnTo>
                  <a:pt x="429526" y="310576"/>
                </a:lnTo>
                <a:lnTo>
                  <a:pt x="340000" y="310576"/>
                </a:lnTo>
                <a:lnTo>
                  <a:pt x="326144" y="314356"/>
                </a:lnTo>
                <a:lnTo>
                  <a:pt x="311858" y="317557"/>
                </a:lnTo>
                <a:lnTo>
                  <a:pt x="297181" y="320165"/>
                </a:lnTo>
                <a:lnTo>
                  <a:pt x="282153" y="322163"/>
                </a:lnTo>
                <a:lnTo>
                  <a:pt x="282153" y="373425"/>
                </a:lnTo>
                <a:close/>
              </a:path>
              <a:path w="484504" h="374015">
                <a:moveTo>
                  <a:pt x="430451" y="262981"/>
                </a:moveTo>
                <a:lnTo>
                  <a:pt x="397265" y="262981"/>
                </a:lnTo>
                <a:lnTo>
                  <a:pt x="421823" y="247471"/>
                </a:lnTo>
                <a:lnTo>
                  <a:pt x="440254" y="227608"/>
                </a:lnTo>
                <a:lnTo>
                  <a:pt x="451841" y="203260"/>
                </a:lnTo>
                <a:lnTo>
                  <a:pt x="455862" y="174293"/>
                </a:lnTo>
                <a:lnTo>
                  <a:pt x="447248" y="133220"/>
                </a:lnTo>
                <a:lnTo>
                  <a:pt x="422953" y="102033"/>
                </a:lnTo>
                <a:lnTo>
                  <a:pt x="385303" y="80297"/>
                </a:lnTo>
                <a:lnTo>
                  <a:pt x="336622" y="67576"/>
                </a:lnTo>
                <a:lnTo>
                  <a:pt x="279235" y="63432"/>
                </a:lnTo>
                <a:lnTo>
                  <a:pt x="433630" y="63432"/>
                </a:lnTo>
                <a:lnTo>
                  <a:pt x="459669" y="90863"/>
                </a:lnTo>
                <a:lnTo>
                  <a:pt x="477889" y="125007"/>
                </a:lnTo>
                <a:lnTo>
                  <a:pt x="484286" y="162206"/>
                </a:lnTo>
                <a:lnTo>
                  <a:pt x="479161" y="195522"/>
                </a:lnTo>
                <a:lnTo>
                  <a:pt x="464479" y="226493"/>
                </a:lnTo>
                <a:lnTo>
                  <a:pt x="441279" y="254432"/>
                </a:lnTo>
                <a:lnTo>
                  <a:pt x="430451" y="262981"/>
                </a:lnTo>
                <a:close/>
              </a:path>
              <a:path w="484504" h="374015">
                <a:moveTo>
                  <a:pt x="282069" y="274234"/>
                </a:moveTo>
                <a:lnTo>
                  <a:pt x="199549" y="274234"/>
                </a:lnTo>
                <a:lnTo>
                  <a:pt x="199549" y="100608"/>
                </a:lnTo>
                <a:lnTo>
                  <a:pt x="365423" y="100608"/>
                </a:lnTo>
                <a:lnTo>
                  <a:pt x="377223" y="101940"/>
                </a:lnTo>
                <a:lnTo>
                  <a:pt x="403183" y="110266"/>
                </a:lnTo>
                <a:lnTo>
                  <a:pt x="429142" y="132080"/>
                </a:lnTo>
                <a:lnTo>
                  <a:pt x="436864" y="159431"/>
                </a:lnTo>
                <a:lnTo>
                  <a:pt x="314580" y="159431"/>
                </a:lnTo>
                <a:lnTo>
                  <a:pt x="282820" y="159872"/>
                </a:lnTo>
                <a:lnTo>
                  <a:pt x="282820" y="206217"/>
                </a:lnTo>
                <a:lnTo>
                  <a:pt x="311697" y="206810"/>
                </a:lnTo>
                <a:lnTo>
                  <a:pt x="432186" y="206810"/>
                </a:lnTo>
                <a:lnTo>
                  <a:pt x="429663" y="216297"/>
                </a:lnTo>
                <a:lnTo>
                  <a:pt x="404850" y="239486"/>
                </a:lnTo>
                <a:lnTo>
                  <a:pt x="380036" y="249188"/>
                </a:lnTo>
                <a:lnTo>
                  <a:pt x="368758" y="251145"/>
                </a:lnTo>
                <a:lnTo>
                  <a:pt x="383428" y="255563"/>
                </a:lnTo>
                <a:lnTo>
                  <a:pt x="391930" y="259897"/>
                </a:lnTo>
                <a:lnTo>
                  <a:pt x="393347" y="260564"/>
                </a:lnTo>
                <a:lnTo>
                  <a:pt x="395264" y="261648"/>
                </a:lnTo>
                <a:lnTo>
                  <a:pt x="397265" y="262981"/>
                </a:lnTo>
                <a:lnTo>
                  <a:pt x="430451" y="262981"/>
                </a:lnTo>
                <a:lnTo>
                  <a:pt x="425805" y="266649"/>
                </a:lnTo>
                <a:lnTo>
                  <a:pt x="282069" y="266649"/>
                </a:lnTo>
                <a:lnTo>
                  <a:pt x="282069" y="274234"/>
                </a:lnTo>
                <a:close/>
              </a:path>
              <a:path w="484504" h="374015">
                <a:moveTo>
                  <a:pt x="432186" y="206810"/>
                </a:moveTo>
                <a:lnTo>
                  <a:pt x="311697" y="206810"/>
                </a:lnTo>
                <a:lnTo>
                  <a:pt x="334916" y="205832"/>
                </a:lnTo>
                <a:lnTo>
                  <a:pt x="350383" y="199149"/>
                </a:lnTo>
                <a:lnTo>
                  <a:pt x="356004" y="182628"/>
                </a:lnTo>
                <a:lnTo>
                  <a:pt x="351344" y="167081"/>
                </a:lnTo>
                <a:lnTo>
                  <a:pt x="337479" y="160591"/>
                </a:lnTo>
                <a:lnTo>
                  <a:pt x="314580" y="159431"/>
                </a:lnTo>
                <a:lnTo>
                  <a:pt x="436864" y="159431"/>
                </a:lnTo>
                <a:lnTo>
                  <a:pt x="440942" y="173876"/>
                </a:lnTo>
                <a:lnTo>
                  <a:pt x="432186" y="206810"/>
                </a:lnTo>
                <a:close/>
              </a:path>
              <a:path w="484504" h="374015">
                <a:moveTo>
                  <a:pt x="414406" y="285070"/>
                </a:moveTo>
                <a:lnTo>
                  <a:pt x="282069" y="285070"/>
                </a:lnTo>
                <a:lnTo>
                  <a:pt x="292961" y="284880"/>
                </a:lnTo>
                <a:lnTo>
                  <a:pt x="303627" y="284424"/>
                </a:lnTo>
                <a:lnTo>
                  <a:pt x="314058" y="283687"/>
                </a:lnTo>
                <a:lnTo>
                  <a:pt x="324247" y="282653"/>
                </a:lnTo>
                <a:lnTo>
                  <a:pt x="320593" y="277515"/>
                </a:lnTo>
                <a:lnTo>
                  <a:pt x="316026" y="272307"/>
                </a:lnTo>
                <a:lnTo>
                  <a:pt x="310567" y="268270"/>
                </a:lnTo>
                <a:lnTo>
                  <a:pt x="304242" y="266649"/>
                </a:lnTo>
                <a:lnTo>
                  <a:pt x="425805" y="266649"/>
                </a:lnTo>
                <a:lnTo>
                  <a:pt x="410601" y="278652"/>
                </a:lnTo>
                <a:lnTo>
                  <a:pt x="414406" y="285070"/>
                </a:lnTo>
                <a:close/>
              </a:path>
              <a:path w="484504" h="374015">
                <a:moveTo>
                  <a:pt x="466782" y="373425"/>
                </a:moveTo>
                <a:lnTo>
                  <a:pt x="373425" y="373425"/>
                </a:lnTo>
                <a:lnTo>
                  <a:pt x="340000" y="310576"/>
                </a:lnTo>
                <a:lnTo>
                  <a:pt x="429526" y="310576"/>
                </a:lnTo>
                <a:lnTo>
                  <a:pt x="466782" y="373425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914400" y="1469259"/>
            <a:ext cx="377190" cy="290830"/>
          </a:xfrm>
          <a:custGeom>
            <a:avLst/>
            <a:gdLst/>
            <a:ahLst/>
            <a:cxnLst/>
            <a:rect l="l" t="t" r="r" b="b"/>
            <a:pathLst>
              <a:path w="377190" h="290830">
                <a:moveTo>
                  <a:pt x="219462" y="290455"/>
                </a:moveTo>
                <a:lnTo>
                  <a:pt x="155211" y="290455"/>
                </a:lnTo>
                <a:lnTo>
                  <a:pt x="155211" y="250323"/>
                </a:lnTo>
                <a:lnTo>
                  <a:pt x="105186" y="239365"/>
                </a:lnTo>
                <a:lnTo>
                  <a:pt x="62458" y="219998"/>
                </a:lnTo>
                <a:lnTo>
                  <a:pt x="29221" y="193695"/>
                </a:lnTo>
                <a:lnTo>
                  <a:pt x="7671" y="161927"/>
                </a:lnTo>
                <a:lnTo>
                  <a:pt x="0" y="126166"/>
                </a:lnTo>
                <a:lnTo>
                  <a:pt x="9604" y="86281"/>
                </a:lnTo>
                <a:lnTo>
                  <a:pt x="36346" y="51647"/>
                </a:lnTo>
                <a:lnTo>
                  <a:pt x="77120" y="24338"/>
                </a:lnTo>
                <a:lnTo>
                  <a:pt x="128820" y="6430"/>
                </a:lnTo>
                <a:lnTo>
                  <a:pt x="188341" y="0"/>
                </a:lnTo>
                <a:lnTo>
                  <a:pt x="247862" y="6430"/>
                </a:lnTo>
                <a:lnTo>
                  <a:pt x="299563" y="24338"/>
                </a:lnTo>
                <a:lnTo>
                  <a:pt x="336890" y="49338"/>
                </a:lnTo>
                <a:lnTo>
                  <a:pt x="217192" y="49338"/>
                </a:lnTo>
                <a:lnTo>
                  <a:pt x="161483" y="56110"/>
                </a:lnTo>
                <a:lnTo>
                  <a:pt x="115979" y="74583"/>
                </a:lnTo>
                <a:lnTo>
                  <a:pt x="85293" y="101990"/>
                </a:lnTo>
                <a:lnTo>
                  <a:pt x="74040" y="135567"/>
                </a:lnTo>
                <a:lnTo>
                  <a:pt x="79967" y="160195"/>
                </a:lnTo>
                <a:lnTo>
                  <a:pt x="96610" y="182045"/>
                </a:lnTo>
                <a:lnTo>
                  <a:pt x="122261" y="200090"/>
                </a:lnTo>
                <a:lnTo>
                  <a:pt x="155211" y="213302"/>
                </a:lnTo>
                <a:lnTo>
                  <a:pt x="219397" y="213302"/>
                </a:lnTo>
                <a:lnTo>
                  <a:pt x="219397" y="221731"/>
                </a:lnTo>
                <a:lnTo>
                  <a:pt x="322330" y="221731"/>
                </a:lnTo>
                <a:lnTo>
                  <a:pt x="334090" y="241570"/>
                </a:lnTo>
                <a:lnTo>
                  <a:pt x="264456" y="241570"/>
                </a:lnTo>
                <a:lnTo>
                  <a:pt x="253679" y="244510"/>
                </a:lnTo>
                <a:lnTo>
                  <a:pt x="242567" y="247000"/>
                </a:lnTo>
                <a:lnTo>
                  <a:pt x="231151" y="249028"/>
                </a:lnTo>
                <a:lnTo>
                  <a:pt x="219462" y="250582"/>
                </a:lnTo>
                <a:lnTo>
                  <a:pt x="219462" y="290455"/>
                </a:lnTo>
                <a:close/>
              </a:path>
              <a:path w="377190" h="290830">
                <a:moveTo>
                  <a:pt x="334810" y="204550"/>
                </a:moveTo>
                <a:lnTo>
                  <a:pt x="308997" y="204550"/>
                </a:lnTo>
                <a:lnTo>
                  <a:pt x="328099" y="192486"/>
                </a:lnTo>
                <a:lnTo>
                  <a:pt x="342435" y="177036"/>
                </a:lnTo>
                <a:lnTo>
                  <a:pt x="351447" y="158098"/>
                </a:lnTo>
                <a:lnTo>
                  <a:pt x="354575" y="135567"/>
                </a:lnTo>
                <a:lnTo>
                  <a:pt x="344223" y="96848"/>
                </a:lnTo>
                <a:lnTo>
                  <a:pt x="315521" y="70012"/>
                </a:lnTo>
                <a:lnTo>
                  <a:pt x="272000" y="54396"/>
                </a:lnTo>
                <a:lnTo>
                  <a:pt x="217192" y="49338"/>
                </a:lnTo>
                <a:lnTo>
                  <a:pt x="336890" y="49338"/>
                </a:lnTo>
                <a:lnTo>
                  <a:pt x="340337" y="51647"/>
                </a:lnTo>
                <a:lnTo>
                  <a:pt x="367079" y="86281"/>
                </a:lnTo>
                <a:lnTo>
                  <a:pt x="376683" y="126166"/>
                </a:lnTo>
                <a:lnTo>
                  <a:pt x="372697" y="152079"/>
                </a:lnTo>
                <a:lnTo>
                  <a:pt x="361277" y="176169"/>
                </a:lnTo>
                <a:lnTo>
                  <a:pt x="343232" y="197900"/>
                </a:lnTo>
                <a:lnTo>
                  <a:pt x="334810" y="204550"/>
                </a:lnTo>
                <a:close/>
              </a:path>
              <a:path w="377190" h="290830">
                <a:moveTo>
                  <a:pt x="219397" y="213302"/>
                </a:moveTo>
                <a:lnTo>
                  <a:pt x="155211" y="213302"/>
                </a:lnTo>
                <a:lnTo>
                  <a:pt x="155211" y="78254"/>
                </a:lnTo>
                <a:lnTo>
                  <a:pt x="284231" y="78254"/>
                </a:lnTo>
                <a:lnTo>
                  <a:pt x="293409" y="79290"/>
                </a:lnTo>
                <a:lnTo>
                  <a:pt x="313600" y="85766"/>
                </a:lnTo>
                <a:lnTo>
                  <a:pt x="333792" y="102734"/>
                </a:lnTo>
                <a:lnTo>
                  <a:pt x="339798" y="124007"/>
                </a:lnTo>
                <a:lnTo>
                  <a:pt x="244684" y="124007"/>
                </a:lnTo>
                <a:lnTo>
                  <a:pt x="219980" y="124351"/>
                </a:lnTo>
                <a:lnTo>
                  <a:pt x="219980" y="160398"/>
                </a:lnTo>
                <a:lnTo>
                  <a:pt x="242441" y="160859"/>
                </a:lnTo>
                <a:lnTo>
                  <a:pt x="336159" y="160859"/>
                </a:lnTo>
                <a:lnTo>
                  <a:pt x="334197" y="168238"/>
                </a:lnTo>
                <a:lnTo>
                  <a:pt x="314897" y="186275"/>
                </a:lnTo>
                <a:lnTo>
                  <a:pt x="295597" y="193821"/>
                </a:lnTo>
                <a:lnTo>
                  <a:pt x="286824" y="195344"/>
                </a:lnTo>
                <a:lnTo>
                  <a:pt x="298235" y="198780"/>
                </a:lnTo>
                <a:lnTo>
                  <a:pt x="304848" y="202151"/>
                </a:lnTo>
                <a:lnTo>
                  <a:pt x="305950" y="202670"/>
                </a:lnTo>
                <a:lnTo>
                  <a:pt x="307441" y="203513"/>
                </a:lnTo>
                <a:lnTo>
                  <a:pt x="308997" y="204550"/>
                </a:lnTo>
                <a:lnTo>
                  <a:pt x="334810" y="204550"/>
                </a:lnTo>
                <a:lnTo>
                  <a:pt x="331196" y="207403"/>
                </a:lnTo>
                <a:lnTo>
                  <a:pt x="219397" y="207403"/>
                </a:lnTo>
                <a:lnTo>
                  <a:pt x="219397" y="213302"/>
                </a:lnTo>
                <a:close/>
              </a:path>
              <a:path w="377190" h="290830">
                <a:moveTo>
                  <a:pt x="336159" y="160859"/>
                </a:moveTo>
                <a:lnTo>
                  <a:pt x="242441" y="160859"/>
                </a:lnTo>
                <a:lnTo>
                  <a:pt x="260501" y="160098"/>
                </a:lnTo>
                <a:lnTo>
                  <a:pt x="272532" y="154900"/>
                </a:lnTo>
                <a:lnTo>
                  <a:pt x="276904" y="142050"/>
                </a:lnTo>
                <a:lnTo>
                  <a:pt x="273280" y="129958"/>
                </a:lnTo>
                <a:lnTo>
                  <a:pt x="262495" y="124910"/>
                </a:lnTo>
                <a:lnTo>
                  <a:pt x="244684" y="124007"/>
                </a:lnTo>
                <a:lnTo>
                  <a:pt x="339798" y="124007"/>
                </a:lnTo>
                <a:lnTo>
                  <a:pt x="342970" y="135243"/>
                </a:lnTo>
                <a:lnTo>
                  <a:pt x="336159" y="160859"/>
                </a:lnTo>
                <a:close/>
              </a:path>
              <a:path w="377190" h="290830">
                <a:moveTo>
                  <a:pt x="322330" y="221731"/>
                </a:moveTo>
                <a:lnTo>
                  <a:pt x="219397" y="221731"/>
                </a:lnTo>
                <a:lnTo>
                  <a:pt x="227869" y="221583"/>
                </a:lnTo>
                <a:lnTo>
                  <a:pt x="236164" y="221228"/>
                </a:lnTo>
                <a:lnTo>
                  <a:pt x="244278" y="220655"/>
                </a:lnTo>
                <a:lnTo>
                  <a:pt x="252203" y="219851"/>
                </a:lnTo>
                <a:lnTo>
                  <a:pt x="248896" y="214988"/>
                </a:lnTo>
                <a:lnTo>
                  <a:pt x="243645" y="207403"/>
                </a:lnTo>
                <a:lnTo>
                  <a:pt x="331196" y="207403"/>
                </a:lnTo>
                <a:lnTo>
                  <a:pt x="319370" y="216739"/>
                </a:lnTo>
                <a:lnTo>
                  <a:pt x="322330" y="221731"/>
                </a:lnTo>
                <a:close/>
              </a:path>
              <a:path w="377190" h="290830">
                <a:moveTo>
                  <a:pt x="363068" y="290455"/>
                </a:moveTo>
                <a:lnTo>
                  <a:pt x="290455" y="290455"/>
                </a:lnTo>
                <a:lnTo>
                  <a:pt x="264456" y="241570"/>
                </a:lnTo>
                <a:lnTo>
                  <a:pt x="334090" y="241570"/>
                </a:lnTo>
                <a:lnTo>
                  <a:pt x="363068" y="290455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914400" y="2152650"/>
            <a:ext cx="9696450" cy="1762125"/>
          </a:xfrm>
          <a:prstGeom prst="rect">
            <a:avLst/>
          </a:prstGeom>
          <a:solidFill>
            <a:srgbClr val="F7F7F7"/>
          </a:solidFill>
        </p:spPr>
        <p:txBody>
          <a:bodyPr wrap="square" lIns="0" tIns="85725" rIns="0" bIns="0" rtlCol="0" vert="horz">
            <a:spAutoFit/>
          </a:bodyPr>
          <a:lstStyle/>
          <a:p>
            <a:pPr marL="107950">
              <a:lnSpc>
                <a:spcPts val="1600"/>
              </a:lnSpc>
              <a:spcBef>
                <a:spcPts val="675"/>
              </a:spcBef>
            </a:pP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ts =</a:t>
            </a:r>
            <a:r>
              <a:rPr dirty="0" sz="1350" spc="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read.csv(</a:t>
            </a:r>
            <a:r>
              <a:rPr dirty="0" sz="1350" spc="10">
                <a:solidFill>
                  <a:srgbClr val="DD1144"/>
                </a:solidFill>
                <a:latin typeface="Courier New"/>
                <a:cs typeface="Courier New"/>
              </a:rPr>
              <a:t>'../../data/sim_ts.csv'</a:t>
            </a: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350">
              <a:latin typeface="Courier New"/>
              <a:cs typeface="Courier New"/>
            </a:endParaRPr>
          </a:p>
          <a:p>
            <a:pPr marL="107950">
              <a:lnSpc>
                <a:spcPts val="1595"/>
              </a:lnSpc>
            </a:pP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pacf_results =</a:t>
            </a:r>
            <a:r>
              <a:rPr dirty="0" sz="1350" spc="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read.csv(</a:t>
            </a:r>
            <a:r>
              <a:rPr dirty="0" sz="1350" spc="10">
                <a:solidFill>
                  <a:srgbClr val="DD1144"/>
                </a:solidFill>
                <a:latin typeface="Courier New"/>
                <a:cs typeface="Courier New"/>
              </a:rPr>
              <a:t>'../../data/pacf_results.csv'</a:t>
            </a: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350">
              <a:latin typeface="Courier New"/>
              <a:cs typeface="Courier New"/>
            </a:endParaRPr>
          </a:p>
          <a:p>
            <a:pPr marL="316865" indent="-209550">
              <a:lnSpc>
                <a:spcPts val="1650"/>
              </a:lnSpc>
              <a:spcBef>
                <a:spcPts val="1255"/>
              </a:spcBef>
              <a:buChar char="❖"/>
              <a:tabLst>
                <a:tab pos="317500" algn="l"/>
              </a:tabLst>
            </a:pPr>
            <a:r>
              <a:rPr dirty="0" sz="1400" spc="-20" i="1">
                <a:solidFill>
                  <a:srgbClr val="999987"/>
                </a:solidFill>
                <a:latin typeface="Courier New"/>
                <a:cs typeface="Courier New"/>
              </a:rPr>
              <a:t>r uses biased implementation of Yule-Walker and does not include lag</a:t>
            </a:r>
            <a:r>
              <a:rPr dirty="0" sz="1400" spc="-45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400" spc="-20" i="1">
                <a:solidFill>
                  <a:srgbClr val="999987"/>
                </a:solidFill>
                <a:latin typeface="Courier New"/>
                <a:cs typeface="Courier New"/>
              </a:rPr>
              <a:t>0</a:t>
            </a:r>
            <a:endParaRPr sz="1400">
              <a:latin typeface="Courier New"/>
              <a:cs typeface="Courier New"/>
            </a:endParaRPr>
          </a:p>
          <a:p>
            <a:pPr marL="107950" marR="4159250">
              <a:lnSpc>
                <a:spcPts val="1570"/>
              </a:lnSpc>
              <a:spcBef>
                <a:spcPts val="65"/>
              </a:spcBef>
            </a:pP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pacf_r = pacf(ts$ts, lag.max=</a:t>
            </a:r>
            <a:r>
              <a:rPr dirty="0" sz="1350" spc="10">
                <a:solidFill>
                  <a:srgbClr val="008080"/>
                </a:solidFill>
                <a:latin typeface="Courier New"/>
                <a:cs typeface="Courier New"/>
              </a:rPr>
              <a:t>12</a:t>
            </a: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, plot=</a:t>
            </a:r>
            <a:r>
              <a:rPr dirty="0" sz="1350" spc="10">
                <a:solidFill>
                  <a:srgbClr val="008080"/>
                </a:solidFill>
                <a:latin typeface="Courier New"/>
                <a:cs typeface="Courier New"/>
              </a:rPr>
              <a:t>FALSE</a:t>
            </a: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)  pacf_results$r = c(</a:t>
            </a:r>
            <a:r>
              <a:rPr dirty="0" sz="1350" spc="10">
                <a:solidFill>
                  <a:srgbClr val="008080"/>
                </a:solidFill>
                <a:latin typeface="Courier New"/>
                <a:cs typeface="Courier New"/>
              </a:rPr>
              <a:t>0</a:t>
            </a: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, pacf_r[[</a:t>
            </a:r>
            <a:r>
              <a:rPr dirty="0" sz="1350" spc="10">
                <a:solidFill>
                  <a:srgbClr val="008080"/>
                </a:solidFill>
                <a:latin typeface="Courier New"/>
                <a:cs typeface="Courier New"/>
              </a:rPr>
              <a:t>1</a:t>
            </a: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]]) </a:t>
            </a:r>
            <a:r>
              <a:rPr dirty="0" sz="1400" spc="-20" i="1">
                <a:solidFill>
                  <a:srgbClr val="999987"/>
                </a:solidFill>
                <a:latin typeface="Courier New"/>
                <a:cs typeface="Courier New"/>
              </a:rPr>
              <a:t># prefix w/ lag</a:t>
            </a:r>
            <a:r>
              <a:rPr dirty="0" sz="1400" spc="-95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400" spc="-20" i="1">
                <a:solidFill>
                  <a:srgbClr val="999987"/>
                </a:solidFill>
                <a:latin typeface="Courier New"/>
                <a:cs typeface="Courier New"/>
              </a:rPr>
              <a:t>0</a:t>
            </a:r>
            <a:endParaRPr sz="1400">
              <a:latin typeface="Courier New"/>
              <a:cs typeface="Courier New"/>
            </a:endParaRPr>
          </a:p>
          <a:p>
            <a:pPr marL="107950">
              <a:lnSpc>
                <a:spcPct val="100000"/>
              </a:lnSpc>
              <a:spcBef>
                <a:spcPts val="1265"/>
              </a:spcBef>
            </a:pP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pacf_results[</a:t>
            </a:r>
            <a:r>
              <a:rPr dirty="0" sz="1350" spc="10">
                <a:solidFill>
                  <a:srgbClr val="008080"/>
                </a:solidFill>
                <a:latin typeface="Courier New"/>
                <a:cs typeface="Courier New"/>
              </a:rPr>
              <a:t>2</a:t>
            </a: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:</a:t>
            </a:r>
            <a:r>
              <a:rPr dirty="0" sz="1350" spc="10">
                <a:solidFill>
                  <a:srgbClr val="008080"/>
                </a:solidFill>
                <a:latin typeface="Courier New"/>
                <a:cs typeface="Courier New"/>
              </a:rPr>
              <a:t>6</a:t>
            </a:r>
            <a:r>
              <a:rPr dirty="0" sz="1350" spc="10">
                <a:solidFill>
                  <a:srgbClr val="333333"/>
                </a:solidFill>
                <a:latin typeface="Courier New"/>
                <a:cs typeface="Courier New"/>
              </a:rPr>
              <a:t>,]</a:t>
            </a:r>
            <a:endParaRPr sz="1350">
              <a:latin typeface="Courier New"/>
              <a:cs typeface="Courier New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372350" y="4279134"/>
            <a:ext cx="377190" cy="290830"/>
          </a:xfrm>
          <a:custGeom>
            <a:avLst/>
            <a:gdLst/>
            <a:ahLst/>
            <a:cxnLst/>
            <a:rect l="l" t="t" r="r" b="b"/>
            <a:pathLst>
              <a:path w="377190" h="290829">
                <a:moveTo>
                  <a:pt x="219462" y="290455"/>
                </a:moveTo>
                <a:lnTo>
                  <a:pt x="155211" y="290455"/>
                </a:lnTo>
                <a:lnTo>
                  <a:pt x="155211" y="250323"/>
                </a:lnTo>
                <a:lnTo>
                  <a:pt x="105186" y="239365"/>
                </a:lnTo>
                <a:lnTo>
                  <a:pt x="62458" y="219998"/>
                </a:lnTo>
                <a:lnTo>
                  <a:pt x="29221" y="193695"/>
                </a:lnTo>
                <a:lnTo>
                  <a:pt x="7671" y="161927"/>
                </a:lnTo>
                <a:lnTo>
                  <a:pt x="0" y="126166"/>
                </a:lnTo>
                <a:lnTo>
                  <a:pt x="9604" y="86281"/>
                </a:lnTo>
                <a:lnTo>
                  <a:pt x="36346" y="51647"/>
                </a:lnTo>
                <a:lnTo>
                  <a:pt x="77120" y="24338"/>
                </a:lnTo>
                <a:lnTo>
                  <a:pt x="128820" y="6430"/>
                </a:lnTo>
                <a:lnTo>
                  <a:pt x="188341" y="0"/>
                </a:lnTo>
                <a:lnTo>
                  <a:pt x="247862" y="6430"/>
                </a:lnTo>
                <a:lnTo>
                  <a:pt x="299563" y="24338"/>
                </a:lnTo>
                <a:lnTo>
                  <a:pt x="336890" y="49338"/>
                </a:lnTo>
                <a:lnTo>
                  <a:pt x="217192" y="49338"/>
                </a:lnTo>
                <a:lnTo>
                  <a:pt x="161483" y="56110"/>
                </a:lnTo>
                <a:lnTo>
                  <a:pt x="115979" y="74583"/>
                </a:lnTo>
                <a:lnTo>
                  <a:pt x="85293" y="101990"/>
                </a:lnTo>
                <a:lnTo>
                  <a:pt x="74040" y="135567"/>
                </a:lnTo>
                <a:lnTo>
                  <a:pt x="79967" y="160195"/>
                </a:lnTo>
                <a:lnTo>
                  <a:pt x="96610" y="182045"/>
                </a:lnTo>
                <a:lnTo>
                  <a:pt x="122261" y="200090"/>
                </a:lnTo>
                <a:lnTo>
                  <a:pt x="155211" y="213302"/>
                </a:lnTo>
                <a:lnTo>
                  <a:pt x="219397" y="213302"/>
                </a:lnTo>
                <a:lnTo>
                  <a:pt x="219397" y="221731"/>
                </a:lnTo>
                <a:lnTo>
                  <a:pt x="322330" y="221731"/>
                </a:lnTo>
                <a:lnTo>
                  <a:pt x="334090" y="241570"/>
                </a:lnTo>
                <a:lnTo>
                  <a:pt x="264456" y="241570"/>
                </a:lnTo>
                <a:lnTo>
                  <a:pt x="253679" y="244510"/>
                </a:lnTo>
                <a:lnTo>
                  <a:pt x="242567" y="247000"/>
                </a:lnTo>
                <a:lnTo>
                  <a:pt x="231151" y="249028"/>
                </a:lnTo>
                <a:lnTo>
                  <a:pt x="219462" y="250582"/>
                </a:lnTo>
                <a:lnTo>
                  <a:pt x="219462" y="290455"/>
                </a:lnTo>
                <a:close/>
              </a:path>
              <a:path w="377190" h="290829">
                <a:moveTo>
                  <a:pt x="334810" y="204550"/>
                </a:moveTo>
                <a:lnTo>
                  <a:pt x="308997" y="204550"/>
                </a:lnTo>
                <a:lnTo>
                  <a:pt x="328099" y="192486"/>
                </a:lnTo>
                <a:lnTo>
                  <a:pt x="342435" y="177036"/>
                </a:lnTo>
                <a:lnTo>
                  <a:pt x="351447" y="158098"/>
                </a:lnTo>
                <a:lnTo>
                  <a:pt x="354575" y="135567"/>
                </a:lnTo>
                <a:lnTo>
                  <a:pt x="344223" y="96848"/>
                </a:lnTo>
                <a:lnTo>
                  <a:pt x="315521" y="70012"/>
                </a:lnTo>
                <a:lnTo>
                  <a:pt x="272000" y="54396"/>
                </a:lnTo>
                <a:lnTo>
                  <a:pt x="217192" y="49338"/>
                </a:lnTo>
                <a:lnTo>
                  <a:pt x="336890" y="49338"/>
                </a:lnTo>
                <a:lnTo>
                  <a:pt x="340337" y="51647"/>
                </a:lnTo>
                <a:lnTo>
                  <a:pt x="367079" y="86281"/>
                </a:lnTo>
                <a:lnTo>
                  <a:pt x="376683" y="126166"/>
                </a:lnTo>
                <a:lnTo>
                  <a:pt x="372697" y="152079"/>
                </a:lnTo>
                <a:lnTo>
                  <a:pt x="361277" y="176169"/>
                </a:lnTo>
                <a:lnTo>
                  <a:pt x="343232" y="197900"/>
                </a:lnTo>
                <a:lnTo>
                  <a:pt x="334810" y="204550"/>
                </a:lnTo>
                <a:close/>
              </a:path>
              <a:path w="377190" h="290829">
                <a:moveTo>
                  <a:pt x="219397" y="213302"/>
                </a:moveTo>
                <a:lnTo>
                  <a:pt x="155211" y="213302"/>
                </a:lnTo>
                <a:lnTo>
                  <a:pt x="155211" y="78254"/>
                </a:lnTo>
                <a:lnTo>
                  <a:pt x="284231" y="78254"/>
                </a:lnTo>
                <a:lnTo>
                  <a:pt x="293409" y="79290"/>
                </a:lnTo>
                <a:lnTo>
                  <a:pt x="313600" y="85766"/>
                </a:lnTo>
                <a:lnTo>
                  <a:pt x="333792" y="102734"/>
                </a:lnTo>
                <a:lnTo>
                  <a:pt x="339798" y="124007"/>
                </a:lnTo>
                <a:lnTo>
                  <a:pt x="244684" y="124007"/>
                </a:lnTo>
                <a:lnTo>
                  <a:pt x="219980" y="124351"/>
                </a:lnTo>
                <a:lnTo>
                  <a:pt x="219980" y="160398"/>
                </a:lnTo>
                <a:lnTo>
                  <a:pt x="242441" y="160859"/>
                </a:lnTo>
                <a:lnTo>
                  <a:pt x="336159" y="160859"/>
                </a:lnTo>
                <a:lnTo>
                  <a:pt x="334197" y="168238"/>
                </a:lnTo>
                <a:lnTo>
                  <a:pt x="314897" y="186275"/>
                </a:lnTo>
                <a:lnTo>
                  <a:pt x="295597" y="193821"/>
                </a:lnTo>
                <a:lnTo>
                  <a:pt x="286824" y="195344"/>
                </a:lnTo>
                <a:lnTo>
                  <a:pt x="298235" y="198780"/>
                </a:lnTo>
                <a:lnTo>
                  <a:pt x="304848" y="202151"/>
                </a:lnTo>
                <a:lnTo>
                  <a:pt x="305950" y="202670"/>
                </a:lnTo>
                <a:lnTo>
                  <a:pt x="307441" y="203513"/>
                </a:lnTo>
                <a:lnTo>
                  <a:pt x="308997" y="204550"/>
                </a:lnTo>
                <a:lnTo>
                  <a:pt x="334810" y="204550"/>
                </a:lnTo>
                <a:lnTo>
                  <a:pt x="331196" y="207403"/>
                </a:lnTo>
                <a:lnTo>
                  <a:pt x="219397" y="207403"/>
                </a:lnTo>
                <a:lnTo>
                  <a:pt x="219397" y="213302"/>
                </a:lnTo>
                <a:close/>
              </a:path>
              <a:path w="377190" h="290829">
                <a:moveTo>
                  <a:pt x="336159" y="160859"/>
                </a:moveTo>
                <a:lnTo>
                  <a:pt x="242441" y="160859"/>
                </a:lnTo>
                <a:lnTo>
                  <a:pt x="260501" y="160098"/>
                </a:lnTo>
                <a:lnTo>
                  <a:pt x="272532" y="154900"/>
                </a:lnTo>
                <a:lnTo>
                  <a:pt x="276904" y="142050"/>
                </a:lnTo>
                <a:lnTo>
                  <a:pt x="273280" y="129958"/>
                </a:lnTo>
                <a:lnTo>
                  <a:pt x="262495" y="124910"/>
                </a:lnTo>
                <a:lnTo>
                  <a:pt x="244684" y="124007"/>
                </a:lnTo>
                <a:lnTo>
                  <a:pt x="339798" y="124007"/>
                </a:lnTo>
                <a:lnTo>
                  <a:pt x="342970" y="135243"/>
                </a:lnTo>
                <a:lnTo>
                  <a:pt x="336159" y="160859"/>
                </a:lnTo>
                <a:close/>
              </a:path>
              <a:path w="377190" h="290829">
                <a:moveTo>
                  <a:pt x="322330" y="221731"/>
                </a:moveTo>
                <a:lnTo>
                  <a:pt x="219397" y="221731"/>
                </a:lnTo>
                <a:lnTo>
                  <a:pt x="227869" y="221583"/>
                </a:lnTo>
                <a:lnTo>
                  <a:pt x="236164" y="221228"/>
                </a:lnTo>
                <a:lnTo>
                  <a:pt x="244278" y="220655"/>
                </a:lnTo>
                <a:lnTo>
                  <a:pt x="252203" y="219851"/>
                </a:lnTo>
                <a:lnTo>
                  <a:pt x="248896" y="214988"/>
                </a:lnTo>
                <a:lnTo>
                  <a:pt x="243645" y="207403"/>
                </a:lnTo>
                <a:lnTo>
                  <a:pt x="331196" y="207403"/>
                </a:lnTo>
                <a:lnTo>
                  <a:pt x="319370" y="216739"/>
                </a:lnTo>
                <a:lnTo>
                  <a:pt x="322330" y="221731"/>
                </a:lnTo>
                <a:close/>
              </a:path>
              <a:path w="377190" h="290829">
                <a:moveTo>
                  <a:pt x="363068" y="290455"/>
                </a:moveTo>
                <a:lnTo>
                  <a:pt x="290455" y="290455"/>
                </a:lnTo>
                <a:lnTo>
                  <a:pt x="264456" y="241570"/>
                </a:lnTo>
                <a:lnTo>
                  <a:pt x="334090" y="241570"/>
                </a:lnTo>
                <a:lnTo>
                  <a:pt x="363068" y="290455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914400" y="4962525"/>
            <a:ext cx="9696450" cy="1419225"/>
          </a:xfrm>
          <a:custGeom>
            <a:avLst/>
            <a:gdLst/>
            <a:ahLst/>
            <a:cxnLst/>
            <a:rect l="l" t="t" r="r" b="b"/>
            <a:pathLst>
              <a:path w="9696450" h="1419225">
                <a:moveTo>
                  <a:pt x="0" y="0"/>
                </a:moveTo>
                <a:lnTo>
                  <a:pt x="9696449" y="0"/>
                </a:lnTo>
                <a:lnTo>
                  <a:pt x="9696449" y="1419224"/>
                </a:lnTo>
                <a:lnTo>
                  <a:pt x="0" y="1419224"/>
                </a:lnTo>
                <a:lnTo>
                  <a:pt x="0" y="0"/>
                </a:lnTo>
                <a:close/>
              </a:path>
            </a:pathLst>
          </a:custGeom>
          <a:solidFill>
            <a:srgbClr val="F7F7F7"/>
          </a:solidFill>
        </p:spPr>
        <p:txBody>
          <a:bodyPr wrap="square" lIns="0" tIns="0" rIns="0" bIns="0" rtlCol="0"/>
          <a:lstStyle/>
          <a:p/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991145" y="5043482"/>
          <a:ext cx="7047865" cy="12255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4170"/>
                <a:gridCol w="468630"/>
                <a:gridCol w="1250314"/>
                <a:gridCol w="1250314"/>
                <a:gridCol w="1250314"/>
                <a:gridCol w="1250314"/>
                <a:gridCol w="1229995"/>
              </a:tblGrid>
              <a:tr h="212566">
                <a:tc>
                  <a:txBody>
                    <a:bodyPr/>
                    <a:lstStyle/>
                    <a:p>
                      <a:pPr marL="31750">
                        <a:lnSpc>
                          <a:spcPts val="1575"/>
                        </a:lnSpc>
                      </a:pPr>
                      <a:r>
                        <a:rPr dirty="0" sz="1400" spc="-2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5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lag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5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yw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5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5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ywm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5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ldb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5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r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marL="31750">
                        <a:lnSpc>
                          <a:spcPts val="1475"/>
                        </a:lnSpc>
                      </a:pPr>
                      <a:r>
                        <a:rPr dirty="0" sz="1400" spc="-2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-0.11773516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-0.11773516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-0.11655781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-0.11655781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-0.11655781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200024">
                <a:tc>
                  <a:txBody>
                    <a:bodyPr/>
                    <a:lstStyle/>
                    <a:p>
                      <a:pPr marL="31750">
                        <a:lnSpc>
                          <a:spcPts val="1475"/>
                        </a:lnSpc>
                      </a:pPr>
                      <a:r>
                        <a:rPr dirty="0" sz="1400" spc="-2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2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0.02604330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0.02604330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0.02551390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0.02551390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0.02551390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200024">
                <a:tc>
                  <a:txBody>
                    <a:bodyPr/>
                    <a:lstStyle/>
                    <a:p>
                      <a:pPr marL="31750">
                        <a:lnSpc>
                          <a:spcPts val="1475"/>
                        </a:lnSpc>
                      </a:pPr>
                      <a:r>
                        <a:rPr dirty="0" sz="1400" spc="-2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3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0.10693456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0.10693456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0.10369764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0.10369764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0.10369764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marL="31750">
                        <a:lnSpc>
                          <a:spcPts val="1475"/>
                        </a:lnSpc>
                      </a:pPr>
                      <a:r>
                        <a:rPr dirty="0" sz="1400" spc="-2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-0.05877317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-0.05877317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-0.05635773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-0.05635773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475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-0.05635773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212566">
                <a:tc>
                  <a:txBody>
                    <a:bodyPr/>
                    <a:lstStyle/>
                    <a:p>
                      <a:pPr marL="31750">
                        <a:lnSpc>
                          <a:spcPts val="1570"/>
                        </a:lnSpc>
                      </a:pPr>
                      <a:r>
                        <a:rPr dirty="0" sz="1400" spc="-2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570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5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570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0.02673134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570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0.02673134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570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0.02536253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4450">
                        <a:lnSpc>
                          <a:spcPts val="1570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0.02536253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570"/>
                        </a:lnSpc>
                      </a:pPr>
                      <a:r>
                        <a:rPr dirty="0" sz="14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0.02536253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10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18058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85">
                <a:solidFill>
                  <a:srgbClr val="C2132D"/>
                </a:solidFill>
              </a:rPr>
              <a:t>Assumptions </a:t>
            </a:r>
            <a:r>
              <a:rPr dirty="0" sz="3350" spc="-140">
                <a:solidFill>
                  <a:srgbClr val="C2132D"/>
                </a:solidFill>
              </a:rPr>
              <a:t>of </a:t>
            </a:r>
            <a:r>
              <a:rPr dirty="0" sz="3350" spc="-260">
                <a:solidFill>
                  <a:srgbClr val="C2132D"/>
                </a:solidFill>
              </a:rPr>
              <a:t>the </a:t>
            </a:r>
            <a:r>
              <a:rPr dirty="0" sz="3350" spc="-245">
                <a:solidFill>
                  <a:srgbClr val="C2132D"/>
                </a:solidFill>
              </a:rPr>
              <a:t>Yule-Walker</a:t>
            </a:r>
            <a:r>
              <a:rPr dirty="0" sz="3350" spc="-509">
                <a:solidFill>
                  <a:srgbClr val="C2132D"/>
                </a:solidFill>
              </a:rPr>
              <a:t> </a:t>
            </a:r>
            <a:r>
              <a:rPr dirty="0" sz="3350" spc="-145">
                <a:solidFill>
                  <a:srgbClr val="C2132D"/>
                </a:solidFill>
              </a:rPr>
              <a:t>Equations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889000" y="1425575"/>
            <a:ext cx="9716135" cy="27952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Yule-Walker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equations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compute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PACF,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following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5">
                <a:solidFill>
                  <a:srgbClr val="585D60"/>
                </a:solidFill>
                <a:latin typeface="Trebuchet MS"/>
                <a:cs typeface="Trebuchet MS"/>
              </a:rPr>
              <a:t>assumptions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are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made:</a:t>
            </a:r>
            <a:endParaRPr sz="18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850">
              <a:latin typeface="Trebuchet MS"/>
              <a:cs typeface="Trebuchet MS"/>
            </a:endParaRPr>
          </a:p>
          <a:p>
            <a:pPr marL="406400" indent="-133985">
              <a:lnSpc>
                <a:spcPct val="100000"/>
              </a:lnSpc>
              <a:buClr>
                <a:srgbClr val="C2132D"/>
              </a:buClr>
              <a:buChar char="•"/>
              <a:tabLst>
                <a:tab pos="406400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time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series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3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marL="4064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406400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time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series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type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AR(p)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>
                <a:solidFill>
                  <a:srgbClr val="585D60"/>
                </a:solidFill>
                <a:latin typeface="Trebuchet MS"/>
                <a:cs typeface="Trebuchet MS"/>
              </a:rPr>
              <a:t>form,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but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order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p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40" b="1">
                <a:solidFill>
                  <a:srgbClr val="C2132D"/>
                </a:solidFill>
                <a:latin typeface="Trebuchet MS"/>
                <a:cs typeface="Trebuchet MS"/>
              </a:rPr>
              <a:t>is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unknown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marL="405765" marR="388620" indent="-133985">
              <a:lnSpc>
                <a:spcPct val="118100"/>
              </a:lnSpc>
              <a:spcBef>
                <a:spcPts val="825"/>
              </a:spcBef>
              <a:buClr>
                <a:srgbClr val="C2132D"/>
              </a:buClr>
              <a:buChar char="•"/>
              <a:tabLst>
                <a:tab pos="406400" algn="l"/>
              </a:tabLst>
            </a:pP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Having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prediction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-160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sz="1800" spc="-160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we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use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appropriate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AR(p)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model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estimate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coefficients  </a:t>
            </a:r>
            <a:r>
              <a:rPr dirty="0" sz="1800" spc="-140">
                <a:solidFill>
                  <a:srgbClr val="585D60"/>
                </a:solidFill>
                <a:latin typeface="Trebuchet MS"/>
                <a:cs typeface="Trebuchet MS"/>
              </a:rPr>
              <a:t>(i.e.,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obtained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correlation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coefficients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are</a:t>
            </a:r>
            <a:r>
              <a:rPr dirty="0" sz="1800" spc="-34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preliminary).</a:t>
            </a:r>
            <a:endParaRPr sz="1800">
              <a:latin typeface="Trebuchet MS"/>
              <a:cs typeface="Trebuchet MS"/>
            </a:endParaRPr>
          </a:p>
          <a:p>
            <a:pPr marL="405765" marR="128270" indent="-133985">
              <a:lnSpc>
                <a:spcPct val="118100"/>
              </a:lnSpc>
              <a:spcBef>
                <a:spcPts val="825"/>
              </a:spcBef>
              <a:buClr>
                <a:srgbClr val="C2132D"/>
              </a:buClr>
              <a:buChar char="•"/>
              <a:tabLst>
                <a:tab pos="406400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We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will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find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estimators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5" i="1">
                <a:solidFill>
                  <a:srgbClr val="585D60"/>
                </a:solidFill>
                <a:latin typeface="Arial"/>
                <a:cs typeface="Arial"/>
              </a:rPr>
              <a:t>ϕ</a:t>
            </a:r>
            <a:r>
              <a:rPr dirty="0" baseline="-13333" sz="1875" spc="7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800" spc="5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800" spc="-26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5" i="1">
                <a:solidFill>
                  <a:srgbClr val="585D60"/>
                </a:solidFill>
                <a:latin typeface="Arial"/>
                <a:cs typeface="Arial"/>
              </a:rPr>
              <a:t>ϕ</a:t>
            </a:r>
            <a:r>
              <a:rPr dirty="0" baseline="-13333" sz="1875" spc="7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r>
              <a:rPr dirty="0" sz="1800" spc="5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800" spc="-2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305">
                <a:solidFill>
                  <a:srgbClr val="585D60"/>
                </a:solidFill>
                <a:latin typeface="Lucida Sans Unicode"/>
                <a:cs typeface="Lucida Sans Unicode"/>
              </a:rPr>
              <a:t>…</a:t>
            </a:r>
            <a:r>
              <a:rPr dirty="0" sz="1800" spc="-2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800" spc="-2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75" i="1">
                <a:solidFill>
                  <a:srgbClr val="585D60"/>
                </a:solidFill>
                <a:latin typeface="Arial"/>
                <a:cs typeface="Arial"/>
              </a:rPr>
              <a:t>ϕ</a:t>
            </a:r>
            <a:r>
              <a:rPr dirty="0" baseline="-14492" sz="1725" spc="112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baseline="-14492" sz="1725" spc="33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later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maximum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likelihood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method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via  </a:t>
            </a:r>
            <a:r>
              <a:rPr dirty="0" sz="1800" spc="-60">
                <a:solidFill>
                  <a:srgbClr val="585D60"/>
                </a:solidFill>
                <a:latin typeface="Trebuchet MS"/>
                <a:cs typeface="Trebuchet MS"/>
              </a:rPr>
              <a:t>fitting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AR(p)</a:t>
            </a:r>
            <a:r>
              <a:rPr dirty="0" sz="1800" spc="-1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model.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14400" y="6024562"/>
            <a:ext cx="9334500" cy="0"/>
          </a:xfrm>
          <a:custGeom>
            <a:avLst/>
            <a:gdLst/>
            <a:ahLst/>
            <a:cxnLst/>
            <a:rect l="l" t="t" r="r" b="b"/>
            <a:pathLst>
              <a:path w="9334500" h="0">
                <a:moveTo>
                  <a:pt x="0" y="0"/>
                </a:moveTo>
                <a:lnTo>
                  <a:pt x="9334499" y="0"/>
                </a:lnTo>
              </a:path>
            </a:pathLst>
          </a:custGeom>
          <a:ln w="9524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914400" y="6034087"/>
            <a:ext cx="9334500" cy="0"/>
          </a:xfrm>
          <a:custGeom>
            <a:avLst/>
            <a:gdLst/>
            <a:ahLst/>
            <a:cxnLst/>
            <a:rect l="l" t="t" r="r" b="b"/>
            <a:pathLst>
              <a:path w="9334500" h="0">
                <a:moveTo>
                  <a:pt x="0" y="0"/>
                </a:moveTo>
                <a:lnTo>
                  <a:pt x="9334499" y="0"/>
                </a:lnTo>
              </a:path>
            </a:pathLst>
          </a:custGeom>
          <a:ln w="9524">
            <a:solidFill>
              <a:srgbClr val="EDEDE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10239374" y="6019799"/>
            <a:ext cx="9525" cy="19050"/>
          </a:xfrm>
          <a:custGeom>
            <a:avLst/>
            <a:gdLst/>
            <a:ahLst/>
            <a:cxnLst/>
            <a:rect l="l" t="t" r="r" b="b"/>
            <a:pathLst>
              <a:path w="9525" h="19050">
                <a:moveTo>
                  <a:pt x="9524" y="19049"/>
                </a:moveTo>
                <a:lnTo>
                  <a:pt x="0" y="19049"/>
                </a:lnTo>
                <a:lnTo>
                  <a:pt x="0" y="9524"/>
                </a:lnTo>
                <a:lnTo>
                  <a:pt x="9524" y="0"/>
                </a:lnTo>
                <a:lnTo>
                  <a:pt x="9524" y="19049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914400" y="6019799"/>
            <a:ext cx="9525" cy="19050"/>
          </a:xfrm>
          <a:custGeom>
            <a:avLst/>
            <a:gdLst/>
            <a:ahLst/>
            <a:cxnLst/>
            <a:rect l="l" t="t" r="r" b="b"/>
            <a:pathLst>
              <a:path w="9525" h="19050">
                <a:moveTo>
                  <a:pt x="0" y="19049"/>
                </a:moveTo>
                <a:lnTo>
                  <a:pt x="0" y="0"/>
                </a:lnTo>
                <a:lnTo>
                  <a:pt x="9524" y="0"/>
                </a:lnTo>
                <a:lnTo>
                  <a:pt x="9524" y="9524"/>
                </a:lnTo>
                <a:lnTo>
                  <a:pt x="0" y="19049"/>
                </a:lnTo>
                <a:close/>
              </a:path>
            </a:pathLst>
          </a:custGeom>
          <a:solidFill>
            <a:srgbClr val="999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901700" y="6077108"/>
            <a:ext cx="6211570" cy="3492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90"/>
              </a:spcBef>
            </a:pPr>
            <a:r>
              <a:rPr dirty="0" sz="850" b="1">
                <a:solidFill>
                  <a:srgbClr val="C2132D"/>
                </a:solidFill>
                <a:latin typeface="Trebuchet MS"/>
                <a:cs typeface="Trebuchet MS"/>
              </a:rPr>
              <a:t>Source:</a:t>
            </a:r>
            <a:r>
              <a:rPr dirty="0" sz="850" spc="-3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850" spc="35">
                <a:solidFill>
                  <a:srgbClr val="585D60"/>
                </a:solidFill>
                <a:latin typeface="Arial"/>
                <a:cs typeface="Arial"/>
              </a:rPr>
              <a:t>Ł</a:t>
            </a:r>
            <a:r>
              <a:rPr dirty="0" sz="850" spc="35">
                <a:solidFill>
                  <a:srgbClr val="585D60"/>
                </a:solidFill>
                <a:latin typeface="Trebuchet MS"/>
                <a:cs typeface="Trebuchet MS"/>
              </a:rPr>
              <a:t>ukasz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35">
                <a:solidFill>
                  <a:srgbClr val="585D60"/>
                </a:solidFill>
                <a:latin typeface="Trebuchet MS"/>
                <a:cs typeface="Trebuchet MS"/>
              </a:rPr>
              <a:t>Balbus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10">
                <a:solidFill>
                  <a:srgbClr val="585D60"/>
                </a:solidFill>
                <a:latin typeface="Trebuchet MS"/>
                <a:cs typeface="Trebuchet MS"/>
              </a:rPr>
              <a:t>(2020).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585D60"/>
                </a:solidFill>
                <a:latin typeface="Trebuchet MS"/>
                <a:cs typeface="Trebuchet MS"/>
              </a:rPr>
              <a:t>Lecture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35">
                <a:solidFill>
                  <a:srgbClr val="585D60"/>
                </a:solidFill>
                <a:latin typeface="Trebuchet MS"/>
                <a:cs typeface="Trebuchet MS"/>
              </a:rPr>
              <a:t>Notes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30">
                <a:solidFill>
                  <a:srgbClr val="585D60"/>
                </a:solidFill>
                <a:latin typeface="Trebuchet MS"/>
                <a:cs typeface="Trebuchet MS"/>
              </a:rPr>
              <a:t>on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15">
                <a:solidFill>
                  <a:srgbClr val="585D60"/>
                </a:solidFill>
                <a:latin typeface="Trebuchet MS"/>
                <a:cs typeface="Trebuchet MS"/>
              </a:rPr>
              <a:t>Econometrics.</a:t>
            </a:r>
            <a:r>
              <a:rPr dirty="0" sz="850" spc="-3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585D60"/>
                </a:solidFill>
                <a:latin typeface="Trebuchet MS"/>
                <a:cs typeface="Trebuchet MS"/>
              </a:rPr>
              <a:t>University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15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10">
                <a:solidFill>
                  <a:srgbClr val="585D60"/>
                </a:solidFill>
                <a:latin typeface="Trebuchet MS"/>
                <a:cs typeface="Trebuchet MS"/>
              </a:rPr>
              <a:t>Zielona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585D60"/>
                </a:solidFill>
                <a:latin typeface="Trebuchet MS"/>
                <a:cs typeface="Trebuchet MS"/>
              </a:rPr>
              <a:t>Góra,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10">
                <a:solidFill>
                  <a:srgbClr val="585D60"/>
                </a:solidFill>
                <a:latin typeface="Trebuchet MS"/>
                <a:cs typeface="Trebuchet MS"/>
              </a:rPr>
              <a:t>Zielona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585D60"/>
                </a:solidFill>
                <a:latin typeface="Trebuchet MS"/>
                <a:cs typeface="Trebuchet MS"/>
              </a:rPr>
              <a:t>Góra,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10">
                <a:solidFill>
                  <a:srgbClr val="585D60"/>
                </a:solidFill>
                <a:latin typeface="Trebuchet MS"/>
                <a:cs typeface="Trebuchet MS"/>
              </a:rPr>
              <a:t>Poland.</a:t>
            </a:r>
            <a:r>
              <a:rPr dirty="0" sz="850" spc="-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585D60"/>
                </a:solidFill>
                <a:latin typeface="Trebuchet MS"/>
                <a:cs typeface="Trebuchet MS"/>
              </a:rPr>
              <a:t>Available</a:t>
            </a:r>
            <a:r>
              <a:rPr dirty="0" sz="850" spc="-3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585D60"/>
                </a:solidFill>
                <a:latin typeface="Trebuchet MS"/>
                <a:cs typeface="Trebuchet MS"/>
              </a:rPr>
              <a:t>at:  </a:t>
            </a:r>
            <a:r>
              <a:rPr dirty="0" sz="850" spc="5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https://staff.uz.zgora.pl/lbalbus/Zdalne%20EDiF%2010.11.2020.pdf</a:t>
            </a:r>
            <a:r>
              <a:rPr dirty="0" sz="850" spc="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850">
              <a:latin typeface="Trebuchet MS"/>
              <a:cs typeface="Trebuchet M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878987" y="6207124"/>
            <a:ext cx="5067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45">
                <a:solidFill>
                  <a:srgbClr val="585D60"/>
                </a:solidFill>
                <a:latin typeface="Trebuchet MS"/>
                <a:cs typeface="Trebuchet MS"/>
              </a:rPr>
              <a:t>11 </a:t>
            </a:r>
            <a:r>
              <a:rPr dirty="0" sz="1200" spc="-135">
                <a:solidFill>
                  <a:srgbClr val="585D60"/>
                </a:solidFill>
                <a:latin typeface="Trebuchet MS"/>
                <a:cs typeface="Trebuchet MS"/>
              </a:rPr>
              <a:t>/</a:t>
            </a:r>
            <a:r>
              <a:rPr dirty="0" sz="1200" spc="-26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200" spc="45">
                <a:solidFill>
                  <a:srgbClr val="585D60"/>
                </a:solidFill>
                <a:latin typeface="Trebuchet MS"/>
                <a:cs typeface="Trebuchet MS"/>
              </a:rPr>
              <a:t>35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37159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95">
                <a:solidFill>
                  <a:srgbClr val="C2132D"/>
                </a:solidFill>
              </a:rPr>
              <a:t>ACF </a:t>
            </a:r>
            <a:r>
              <a:rPr dirty="0" sz="3350" spc="-170">
                <a:solidFill>
                  <a:srgbClr val="C2132D"/>
                </a:solidFill>
              </a:rPr>
              <a:t>Patterns </a:t>
            </a:r>
            <a:r>
              <a:rPr dirty="0" sz="3350" spc="-235">
                <a:solidFill>
                  <a:srgbClr val="C2132D"/>
                </a:solidFill>
              </a:rPr>
              <a:t>to </a:t>
            </a:r>
            <a:r>
              <a:rPr dirty="0" sz="3350" spc="-120">
                <a:solidFill>
                  <a:srgbClr val="C2132D"/>
                </a:solidFill>
              </a:rPr>
              <a:t>Look </a:t>
            </a:r>
            <a:r>
              <a:rPr dirty="0" sz="3350" spc="-250">
                <a:solidFill>
                  <a:srgbClr val="C2132D"/>
                </a:solidFill>
              </a:rPr>
              <a:t>for: </a:t>
            </a:r>
            <a:r>
              <a:rPr dirty="0" sz="3350" spc="-155">
                <a:solidFill>
                  <a:srgbClr val="C2132D"/>
                </a:solidFill>
              </a:rPr>
              <a:t>Dying</a:t>
            </a:r>
            <a:r>
              <a:rPr dirty="0" sz="3350" spc="-580">
                <a:solidFill>
                  <a:srgbClr val="C2132D"/>
                </a:solidFill>
              </a:rPr>
              <a:t> </a:t>
            </a:r>
            <a:r>
              <a:rPr dirty="0" sz="3350" spc="-185">
                <a:solidFill>
                  <a:srgbClr val="C2132D"/>
                </a:solidFill>
              </a:rPr>
              <a:t>Down</a:t>
            </a:r>
            <a:endParaRPr sz="3350"/>
          </a:p>
        </p:txBody>
      </p:sp>
      <p:sp>
        <p:nvSpPr>
          <p:cNvPr id="3" name="object 3"/>
          <p:cNvSpPr/>
          <p:nvPr/>
        </p:nvSpPr>
        <p:spPr>
          <a:xfrm>
            <a:off x="1675256" y="2551937"/>
            <a:ext cx="7754111" cy="340461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148754" y="1376044"/>
            <a:ext cx="9409430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5080" indent="-133985">
              <a:lnSpc>
                <a:spcPct val="118100"/>
              </a:lnSpc>
              <a:spcBef>
                <a:spcPts val="10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Dying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Down</a:t>
            </a:r>
            <a:r>
              <a:rPr dirty="0" sz="1800" spc="-75">
                <a:solidFill>
                  <a:srgbClr val="585D60"/>
                </a:solidFill>
                <a:latin typeface="Trebuchet MS"/>
                <a:cs typeface="Trebuchet MS"/>
              </a:rPr>
              <a:t>:</a:t>
            </a:r>
            <a:r>
              <a:rPr dirty="0" sz="1800" spc="-13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will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exponentially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decay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to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zero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relatively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quickly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40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sign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 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possible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 b="1">
                <a:solidFill>
                  <a:srgbClr val="C2132D"/>
                </a:solidFill>
                <a:latin typeface="Trebuchet MS"/>
                <a:cs typeface="Trebuchet MS"/>
              </a:rPr>
              <a:t>AR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Data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Generating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0">
                <a:solidFill>
                  <a:srgbClr val="585D60"/>
                </a:solidFill>
                <a:latin typeface="Trebuchet MS"/>
                <a:cs typeface="Trebuchet MS"/>
              </a:rPr>
              <a:t>Process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(DGP).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12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29500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95">
                <a:solidFill>
                  <a:srgbClr val="C2132D"/>
                </a:solidFill>
              </a:rPr>
              <a:t>ACF </a:t>
            </a:r>
            <a:r>
              <a:rPr dirty="0" sz="3350" spc="-170">
                <a:solidFill>
                  <a:srgbClr val="C2132D"/>
                </a:solidFill>
              </a:rPr>
              <a:t>Patterns </a:t>
            </a:r>
            <a:r>
              <a:rPr dirty="0" sz="3350" spc="-235">
                <a:solidFill>
                  <a:srgbClr val="C2132D"/>
                </a:solidFill>
              </a:rPr>
              <a:t>to </a:t>
            </a:r>
            <a:r>
              <a:rPr dirty="0" sz="3350" spc="-120">
                <a:solidFill>
                  <a:srgbClr val="C2132D"/>
                </a:solidFill>
              </a:rPr>
              <a:t>Look </a:t>
            </a:r>
            <a:r>
              <a:rPr dirty="0" sz="3350" spc="-250">
                <a:solidFill>
                  <a:srgbClr val="C2132D"/>
                </a:solidFill>
              </a:rPr>
              <a:t>for: </a:t>
            </a:r>
            <a:r>
              <a:rPr dirty="0" sz="3350" spc="-155">
                <a:solidFill>
                  <a:srgbClr val="C2132D"/>
                </a:solidFill>
              </a:rPr>
              <a:t>Dying </a:t>
            </a:r>
            <a:r>
              <a:rPr dirty="0" sz="3350" spc="-185">
                <a:solidFill>
                  <a:srgbClr val="C2132D"/>
                </a:solidFill>
              </a:rPr>
              <a:t>Down</a:t>
            </a:r>
            <a:r>
              <a:rPr dirty="0" sz="3350" spc="-605">
                <a:solidFill>
                  <a:srgbClr val="C2132D"/>
                </a:solidFill>
              </a:rPr>
              <a:t> </a:t>
            </a:r>
            <a:r>
              <a:rPr dirty="0" sz="3350" spc="-114">
                <a:solidFill>
                  <a:srgbClr val="C2132D"/>
                </a:solidFill>
              </a:rPr>
              <a:t>(Sinsoidal)</a:t>
            </a:r>
            <a:endParaRPr sz="3350"/>
          </a:p>
        </p:txBody>
      </p:sp>
      <p:sp>
        <p:nvSpPr>
          <p:cNvPr id="3" name="object 3"/>
          <p:cNvSpPr/>
          <p:nvPr/>
        </p:nvSpPr>
        <p:spPr>
          <a:xfrm>
            <a:off x="1675256" y="2551937"/>
            <a:ext cx="7754111" cy="340461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148754" y="1376044"/>
            <a:ext cx="9116060" cy="673100"/>
          </a:xfrm>
          <a:prstGeom prst="rect">
            <a:avLst/>
          </a:prstGeom>
        </p:spPr>
        <p:txBody>
          <a:bodyPr wrap="square" lIns="0" tIns="6223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49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Dying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Down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(Sinsoidal)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:</a:t>
            </a:r>
            <a:r>
              <a:rPr dirty="0" sz="1800" spc="-1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will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exponentially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decay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to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zero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with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some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oscillations</a:t>
            </a:r>
            <a:endParaRPr sz="1800">
              <a:latin typeface="Trebuchet MS"/>
              <a:cs typeface="Trebuchet MS"/>
            </a:endParaRPr>
          </a:p>
          <a:p>
            <a:pPr marL="146050">
              <a:lnSpc>
                <a:spcPct val="100000"/>
              </a:lnSpc>
              <a:spcBef>
                <a:spcPts val="390"/>
              </a:spcBef>
            </a:pP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35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possible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 b="1">
                <a:solidFill>
                  <a:srgbClr val="C2132D"/>
                </a:solidFill>
                <a:latin typeface="Trebuchet MS"/>
                <a:cs typeface="Trebuchet MS"/>
              </a:rPr>
              <a:t>AR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DGP,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with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at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least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one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negative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correlation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coefficient.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12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23506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95">
                <a:solidFill>
                  <a:srgbClr val="C2132D"/>
                </a:solidFill>
              </a:rPr>
              <a:t>ACF </a:t>
            </a:r>
            <a:r>
              <a:rPr dirty="0" sz="3350" spc="-170">
                <a:solidFill>
                  <a:srgbClr val="C2132D"/>
                </a:solidFill>
              </a:rPr>
              <a:t>Patterns </a:t>
            </a:r>
            <a:r>
              <a:rPr dirty="0" sz="3350" spc="-235">
                <a:solidFill>
                  <a:srgbClr val="C2132D"/>
                </a:solidFill>
              </a:rPr>
              <a:t>to </a:t>
            </a:r>
            <a:r>
              <a:rPr dirty="0" sz="3350" spc="-120">
                <a:solidFill>
                  <a:srgbClr val="C2132D"/>
                </a:solidFill>
              </a:rPr>
              <a:t>Look </a:t>
            </a:r>
            <a:r>
              <a:rPr dirty="0" sz="3350" spc="-250">
                <a:solidFill>
                  <a:srgbClr val="C2132D"/>
                </a:solidFill>
              </a:rPr>
              <a:t>for: </a:t>
            </a:r>
            <a:r>
              <a:rPr dirty="0" sz="3350" spc="-195">
                <a:solidFill>
                  <a:srgbClr val="C2132D"/>
                </a:solidFill>
              </a:rPr>
              <a:t>Cutting</a:t>
            </a:r>
            <a:r>
              <a:rPr dirty="0" sz="3350" spc="-575">
                <a:solidFill>
                  <a:srgbClr val="C2132D"/>
                </a:solidFill>
              </a:rPr>
              <a:t> </a:t>
            </a:r>
            <a:r>
              <a:rPr dirty="0" sz="3350" spc="-190">
                <a:solidFill>
                  <a:srgbClr val="C2132D"/>
                </a:solidFill>
              </a:rPr>
              <a:t>Off</a:t>
            </a:r>
            <a:endParaRPr sz="3350"/>
          </a:p>
        </p:txBody>
      </p:sp>
      <p:sp>
        <p:nvSpPr>
          <p:cNvPr id="3" name="object 3"/>
          <p:cNvSpPr/>
          <p:nvPr/>
        </p:nvSpPr>
        <p:spPr>
          <a:xfrm>
            <a:off x="1675256" y="2228087"/>
            <a:ext cx="7754111" cy="340461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148754" y="1425575"/>
            <a:ext cx="772604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Cutting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Off</a:t>
            </a:r>
            <a:r>
              <a:rPr dirty="0" sz="1800" spc="-75">
                <a:solidFill>
                  <a:srgbClr val="585D60"/>
                </a:solidFill>
                <a:latin typeface="Trebuchet MS"/>
                <a:cs typeface="Trebuchet MS"/>
              </a:rPr>
              <a:t>:</a:t>
            </a:r>
            <a:r>
              <a:rPr dirty="0" sz="1800" spc="-13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will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cut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off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after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a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certain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lag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35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possible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5" b="1">
                <a:solidFill>
                  <a:srgbClr val="C2132D"/>
                </a:solidFill>
                <a:latin typeface="Trebuchet MS"/>
                <a:cs typeface="Trebuchet MS"/>
              </a:rPr>
              <a:t>MA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DGP.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12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8754" y="2092325"/>
            <a:ext cx="411416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White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Noise: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37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will </a:t>
            </a:r>
            <a:r>
              <a:rPr dirty="0" sz="1800" spc="-5" b="1">
                <a:latin typeface="Trebuchet MS"/>
                <a:cs typeface="Trebuchet MS"/>
              </a:rPr>
              <a:t>show </a:t>
            </a:r>
            <a:r>
              <a:rPr dirty="0" sz="1800" spc="-30" b="1">
                <a:latin typeface="Trebuchet MS"/>
                <a:cs typeface="Trebuchet MS"/>
              </a:rPr>
              <a:t>no </a:t>
            </a:r>
            <a:r>
              <a:rPr dirty="0" sz="1800" spc="-80" b="1">
                <a:latin typeface="Trebuchet MS"/>
                <a:cs typeface="Trebuchet MS"/>
              </a:rPr>
              <a:t>pattern.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3825875"/>
            <a:ext cx="393065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Trebuchet MS"/>
                <a:cs typeface="Trebuchet MS"/>
              </a:rPr>
              <a:t>Random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Walk: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3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will </a:t>
            </a:r>
            <a:r>
              <a:rPr dirty="0" sz="1800" spc="-20" b="1">
                <a:latin typeface="Trebuchet MS"/>
                <a:cs typeface="Trebuchet MS"/>
              </a:rPr>
              <a:t>slowly </a:t>
            </a:r>
            <a:r>
              <a:rPr dirty="0" sz="1800" spc="-70" b="1">
                <a:latin typeface="Trebuchet MS"/>
                <a:cs typeface="Trebuchet MS"/>
              </a:rPr>
              <a:t>decay.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48754" y="5195569"/>
            <a:ext cx="3754120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5080" indent="-133985">
              <a:lnSpc>
                <a:spcPct val="118100"/>
              </a:lnSpc>
              <a:spcBef>
                <a:spcPts val="10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Seasonal</a:t>
            </a:r>
            <a:r>
              <a:rPr dirty="0" sz="1800" spc="-10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Patterns:</a:t>
            </a:r>
            <a:r>
              <a:rPr dirty="0" sz="1800" spc="-10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will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 b="1">
                <a:latin typeface="Trebuchet MS"/>
                <a:cs typeface="Trebuchet MS"/>
              </a:rPr>
              <a:t>show</a:t>
            </a:r>
            <a:r>
              <a:rPr dirty="0" sz="1800" spc="-100" b="1">
                <a:latin typeface="Trebuchet MS"/>
                <a:cs typeface="Trebuchet MS"/>
              </a:rPr>
              <a:t> </a:t>
            </a:r>
            <a:r>
              <a:rPr dirty="0" sz="1800" b="1">
                <a:latin typeface="Trebuchet MS"/>
                <a:cs typeface="Trebuchet MS"/>
              </a:rPr>
              <a:t>a  </a:t>
            </a:r>
            <a:r>
              <a:rPr dirty="0" sz="1800" spc="-70" b="1">
                <a:latin typeface="Trebuchet MS"/>
                <a:cs typeface="Trebuchet MS"/>
              </a:rPr>
              <a:t>pattern </a:t>
            </a:r>
            <a:r>
              <a:rPr dirty="0" sz="1800" spc="-55" b="1">
                <a:latin typeface="Trebuchet MS"/>
                <a:cs typeface="Trebuchet MS"/>
              </a:rPr>
              <a:t>at </a:t>
            </a:r>
            <a:r>
              <a:rPr dirty="0" sz="1800" spc="-45" b="1">
                <a:latin typeface="Trebuchet MS"/>
                <a:cs typeface="Trebuchet MS"/>
              </a:rPr>
              <a:t>regular</a:t>
            </a:r>
            <a:r>
              <a:rPr dirty="0" sz="1800" spc="-165" b="1">
                <a:latin typeface="Trebuchet MS"/>
                <a:cs typeface="Trebuchet MS"/>
              </a:rPr>
              <a:t> </a:t>
            </a:r>
            <a:r>
              <a:rPr dirty="0" sz="1800" spc="-50" b="1">
                <a:latin typeface="Trebuchet MS"/>
                <a:cs typeface="Trebuchet MS"/>
              </a:rPr>
              <a:t>intervals.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908071" y="1701425"/>
            <a:ext cx="4567027" cy="451531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64794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95">
                <a:solidFill>
                  <a:srgbClr val="C2132D"/>
                </a:solidFill>
              </a:rPr>
              <a:t>ACF </a:t>
            </a:r>
            <a:r>
              <a:rPr dirty="0" sz="3350" spc="-170">
                <a:solidFill>
                  <a:srgbClr val="C2132D"/>
                </a:solidFill>
              </a:rPr>
              <a:t>Patterns </a:t>
            </a:r>
            <a:r>
              <a:rPr dirty="0" sz="3350" spc="-180">
                <a:solidFill>
                  <a:srgbClr val="C2132D"/>
                </a:solidFill>
              </a:rPr>
              <a:t>and </a:t>
            </a:r>
            <a:r>
              <a:rPr dirty="0" sz="3350" spc="-190">
                <a:solidFill>
                  <a:srgbClr val="C2132D"/>
                </a:solidFill>
              </a:rPr>
              <a:t>Data </a:t>
            </a:r>
            <a:r>
              <a:rPr dirty="0" sz="3350" spc="-220">
                <a:solidFill>
                  <a:srgbClr val="C2132D"/>
                </a:solidFill>
              </a:rPr>
              <a:t>Generating</a:t>
            </a:r>
            <a:r>
              <a:rPr dirty="0" sz="3350" spc="-565">
                <a:solidFill>
                  <a:srgbClr val="C2132D"/>
                </a:solidFill>
              </a:rPr>
              <a:t> </a:t>
            </a:r>
            <a:r>
              <a:rPr dirty="0" sz="3350" spc="-50">
                <a:solidFill>
                  <a:srgbClr val="C2132D"/>
                </a:solidFill>
              </a:rPr>
              <a:t>Processes</a:t>
            </a:r>
            <a:endParaRPr sz="3350"/>
          </a:p>
        </p:txBody>
      </p: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12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51002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30">
                <a:solidFill>
                  <a:srgbClr val="C2132D"/>
                </a:solidFill>
              </a:rPr>
              <a:t>PACF </a:t>
            </a:r>
            <a:r>
              <a:rPr dirty="0" sz="3350" spc="-170">
                <a:solidFill>
                  <a:srgbClr val="C2132D"/>
                </a:solidFill>
              </a:rPr>
              <a:t>Patterns </a:t>
            </a:r>
            <a:r>
              <a:rPr dirty="0" sz="3350" spc="-235">
                <a:solidFill>
                  <a:srgbClr val="C2132D"/>
                </a:solidFill>
              </a:rPr>
              <a:t>to </a:t>
            </a:r>
            <a:r>
              <a:rPr dirty="0" sz="3350" spc="-120">
                <a:solidFill>
                  <a:srgbClr val="C2132D"/>
                </a:solidFill>
              </a:rPr>
              <a:t>Look </a:t>
            </a:r>
            <a:r>
              <a:rPr dirty="0" sz="3350" spc="-250">
                <a:solidFill>
                  <a:srgbClr val="C2132D"/>
                </a:solidFill>
              </a:rPr>
              <a:t>For: </a:t>
            </a:r>
            <a:r>
              <a:rPr dirty="0" sz="3350" spc="-195">
                <a:solidFill>
                  <a:srgbClr val="C2132D"/>
                </a:solidFill>
              </a:rPr>
              <a:t>Cutting</a:t>
            </a:r>
            <a:r>
              <a:rPr dirty="0" sz="3350" spc="-535">
                <a:solidFill>
                  <a:srgbClr val="C2132D"/>
                </a:solidFill>
              </a:rPr>
              <a:t> </a:t>
            </a:r>
            <a:r>
              <a:rPr dirty="0" sz="3350" spc="-190">
                <a:solidFill>
                  <a:srgbClr val="C2132D"/>
                </a:solidFill>
              </a:rPr>
              <a:t>Off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148754" y="1376044"/>
            <a:ext cx="9055735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5080" indent="-133985">
              <a:lnSpc>
                <a:spcPct val="1181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If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PACF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cuts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off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after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ACF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0" b="1">
                <a:solidFill>
                  <a:srgbClr val="C2132D"/>
                </a:solidFill>
                <a:latin typeface="Trebuchet MS"/>
                <a:cs typeface="Trebuchet MS"/>
              </a:rPr>
              <a:t>has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decayed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down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this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indicates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that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 b="1">
                <a:latin typeface="Trebuchet MS"/>
                <a:cs typeface="Trebuchet MS"/>
              </a:rPr>
              <a:t>AR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45" b="1">
                <a:latin typeface="Trebuchet MS"/>
                <a:cs typeface="Trebuchet MS"/>
              </a:rPr>
              <a:t>DGP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40" b="1">
                <a:latin typeface="Trebuchet MS"/>
                <a:cs typeface="Trebuchet MS"/>
              </a:rPr>
              <a:t>is  </a:t>
            </a:r>
            <a:r>
              <a:rPr dirty="0" sz="1800" spc="-45" b="1">
                <a:latin typeface="Trebuchet MS"/>
                <a:cs typeface="Trebuchet MS"/>
              </a:rPr>
              <a:t>suitable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Let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0">
                <a:solidFill>
                  <a:srgbClr val="585D60"/>
                </a:solidFill>
                <a:latin typeface="Trebuchet MS"/>
                <a:cs typeface="Trebuchet MS"/>
              </a:rPr>
              <a:t>us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consider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PACF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Kroger's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stock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price.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675256" y="2551937"/>
            <a:ext cx="7754111" cy="340461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12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24327" y="2731008"/>
            <a:ext cx="6263640" cy="1076325"/>
          </a:xfrm>
          <a:prstGeom prst="rect"/>
          <a:solidFill>
            <a:srgbClr val="333333"/>
          </a:solidFill>
        </p:spPr>
        <p:txBody>
          <a:bodyPr wrap="square" lIns="0" tIns="167640" rIns="0" bIns="0" rtlCol="0" vert="horz">
            <a:spAutoFit/>
          </a:bodyPr>
          <a:lstStyle/>
          <a:p>
            <a:pPr marL="255904">
              <a:lnSpc>
                <a:spcPct val="100000"/>
              </a:lnSpc>
              <a:spcBef>
                <a:spcPts val="1320"/>
              </a:spcBef>
            </a:pPr>
            <a:r>
              <a:rPr dirty="0" spc="-1060">
                <a:solidFill>
                  <a:srgbClr val="000000"/>
                </a:solidFill>
              </a:rPr>
              <a:t>A</a:t>
            </a:r>
            <a:r>
              <a:rPr dirty="0" spc="-1060"/>
              <a:t>A</a:t>
            </a:r>
            <a:r>
              <a:rPr dirty="0" spc="-1060">
                <a:solidFill>
                  <a:srgbClr val="000000"/>
                </a:solidFill>
              </a:rPr>
              <a:t>u</a:t>
            </a:r>
            <a:r>
              <a:rPr dirty="0" spc="-1060"/>
              <a:t>u</a:t>
            </a:r>
            <a:r>
              <a:rPr dirty="0" spc="-1060">
                <a:solidFill>
                  <a:srgbClr val="000000"/>
                </a:solidFill>
              </a:rPr>
              <a:t>t</a:t>
            </a:r>
            <a:r>
              <a:rPr dirty="0" spc="-1060"/>
              <a:t>t</a:t>
            </a:r>
            <a:r>
              <a:rPr dirty="0" spc="-1060">
                <a:solidFill>
                  <a:srgbClr val="000000"/>
                </a:solidFill>
              </a:rPr>
              <a:t>o</a:t>
            </a:r>
            <a:r>
              <a:rPr dirty="0" spc="-1060"/>
              <a:t>o</a:t>
            </a:r>
            <a:r>
              <a:rPr dirty="0" spc="-1060">
                <a:solidFill>
                  <a:srgbClr val="000000"/>
                </a:solidFill>
              </a:rPr>
              <a:t>r</a:t>
            </a:r>
            <a:r>
              <a:rPr dirty="0" spc="-1060"/>
              <a:t>r</a:t>
            </a:r>
            <a:r>
              <a:rPr dirty="0" spc="-1060">
                <a:solidFill>
                  <a:srgbClr val="000000"/>
                </a:solidFill>
              </a:rPr>
              <a:t>e</a:t>
            </a:r>
            <a:r>
              <a:rPr dirty="0" spc="-1060"/>
              <a:t>e</a:t>
            </a:r>
            <a:r>
              <a:rPr dirty="0" spc="-1060">
                <a:solidFill>
                  <a:srgbClr val="000000"/>
                </a:solidFill>
              </a:rPr>
              <a:t>g</a:t>
            </a:r>
            <a:r>
              <a:rPr dirty="0" spc="-1060"/>
              <a:t>g</a:t>
            </a:r>
            <a:r>
              <a:rPr dirty="0" spc="-1060">
                <a:solidFill>
                  <a:srgbClr val="000000"/>
                </a:solidFill>
              </a:rPr>
              <a:t>r</a:t>
            </a:r>
            <a:r>
              <a:rPr dirty="0" spc="-1060"/>
              <a:t>r</a:t>
            </a:r>
            <a:r>
              <a:rPr dirty="0" spc="-1060">
                <a:solidFill>
                  <a:srgbClr val="000000"/>
                </a:solidFill>
              </a:rPr>
              <a:t>e</a:t>
            </a:r>
            <a:r>
              <a:rPr dirty="0" spc="-1060"/>
              <a:t>e</a:t>
            </a:r>
            <a:r>
              <a:rPr dirty="0" spc="-1060">
                <a:solidFill>
                  <a:srgbClr val="000000"/>
                </a:solidFill>
              </a:rPr>
              <a:t>s</a:t>
            </a:r>
            <a:r>
              <a:rPr dirty="0" spc="-1060"/>
              <a:t>s</a:t>
            </a:r>
            <a:r>
              <a:rPr dirty="0" spc="-1060">
                <a:solidFill>
                  <a:srgbClr val="000000"/>
                </a:solidFill>
              </a:rPr>
              <a:t>s</a:t>
            </a:r>
            <a:r>
              <a:rPr dirty="0" spc="-1060"/>
              <a:t>s</a:t>
            </a:r>
            <a:r>
              <a:rPr dirty="0" spc="-1060">
                <a:solidFill>
                  <a:srgbClr val="000000"/>
                </a:solidFill>
              </a:rPr>
              <a:t>i</a:t>
            </a:r>
            <a:r>
              <a:rPr dirty="0" spc="-1060"/>
              <a:t>i</a:t>
            </a:r>
            <a:r>
              <a:rPr dirty="0" spc="-1060">
                <a:solidFill>
                  <a:srgbClr val="000000"/>
                </a:solidFill>
              </a:rPr>
              <a:t>v</a:t>
            </a:r>
            <a:r>
              <a:rPr dirty="0" spc="-1060"/>
              <a:t>v</a:t>
            </a:r>
            <a:r>
              <a:rPr dirty="0" spc="-1060">
                <a:solidFill>
                  <a:srgbClr val="000000"/>
                </a:solidFill>
              </a:rPr>
              <a:t>e</a:t>
            </a:r>
            <a:r>
              <a:rPr dirty="0" spc="-1060"/>
              <a:t>e </a:t>
            </a:r>
            <a:r>
              <a:rPr dirty="0" spc="-1060">
                <a:solidFill>
                  <a:srgbClr val="000000"/>
                </a:solidFill>
              </a:rPr>
              <a:t>(</a:t>
            </a:r>
            <a:r>
              <a:rPr dirty="0" spc="-1060"/>
              <a:t>(</a:t>
            </a:r>
            <a:r>
              <a:rPr dirty="0" spc="-1060">
                <a:solidFill>
                  <a:srgbClr val="000000"/>
                </a:solidFill>
              </a:rPr>
              <a:t>A</a:t>
            </a:r>
            <a:r>
              <a:rPr dirty="0" spc="-1060"/>
              <a:t>A</a:t>
            </a:r>
            <a:r>
              <a:rPr dirty="0" spc="-1060">
                <a:solidFill>
                  <a:srgbClr val="000000"/>
                </a:solidFill>
              </a:rPr>
              <a:t>R</a:t>
            </a:r>
            <a:r>
              <a:rPr dirty="0" spc="-1060"/>
              <a:t>R</a:t>
            </a:r>
            <a:r>
              <a:rPr dirty="0" spc="-1060">
                <a:solidFill>
                  <a:srgbClr val="000000"/>
                </a:solidFill>
              </a:rPr>
              <a:t>)</a:t>
            </a:r>
            <a:r>
              <a:rPr dirty="0" spc="-1060"/>
              <a:t>)</a:t>
            </a:r>
            <a:r>
              <a:rPr dirty="0" spc="-1040"/>
              <a:t> </a:t>
            </a:r>
            <a:r>
              <a:rPr dirty="0" spc="-1090">
                <a:solidFill>
                  <a:srgbClr val="000000"/>
                </a:solidFill>
              </a:rPr>
              <a:t>M</a:t>
            </a:r>
            <a:r>
              <a:rPr dirty="0" spc="-1090"/>
              <a:t>M</a:t>
            </a:r>
            <a:r>
              <a:rPr dirty="0" spc="-1090">
                <a:solidFill>
                  <a:srgbClr val="000000"/>
                </a:solidFill>
              </a:rPr>
              <a:t>o</a:t>
            </a:r>
            <a:r>
              <a:rPr dirty="0" spc="-1090"/>
              <a:t>o</a:t>
            </a:r>
            <a:r>
              <a:rPr dirty="0" spc="-1090">
                <a:solidFill>
                  <a:srgbClr val="000000"/>
                </a:solidFill>
              </a:rPr>
              <a:t>d</a:t>
            </a:r>
            <a:r>
              <a:rPr dirty="0" spc="-1090"/>
              <a:t>d</a:t>
            </a:r>
            <a:r>
              <a:rPr dirty="0" spc="-1090">
                <a:solidFill>
                  <a:srgbClr val="000000"/>
                </a:solidFill>
              </a:rPr>
              <a:t>e</a:t>
            </a:r>
            <a:r>
              <a:rPr dirty="0" spc="-1090"/>
              <a:t>e</a:t>
            </a:r>
            <a:r>
              <a:rPr dirty="0" spc="-1090">
                <a:solidFill>
                  <a:srgbClr val="000000"/>
                </a:solidFill>
              </a:rPr>
              <a:t>l</a:t>
            </a:r>
            <a:r>
              <a:rPr dirty="0" spc="-1090"/>
              <a:t>l</a:t>
            </a:r>
            <a:r>
              <a:rPr dirty="0" spc="-1090">
                <a:solidFill>
                  <a:srgbClr val="000000"/>
                </a:solidFill>
              </a:rPr>
              <a:t>s</a:t>
            </a:r>
            <a:r>
              <a:rPr dirty="0" spc="-1090"/>
              <a:t>s</a:t>
            </a:r>
          </a:p>
        </p:txBody>
      </p:sp>
      <p:sp>
        <p:nvSpPr>
          <p:cNvPr id="3" name="object 3"/>
          <p:cNvSpPr/>
          <p:nvPr/>
        </p:nvSpPr>
        <p:spPr>
          <a:xfrm>
            <a:off x="10637519" y="5995415"/>
            <a:ext cx="887730" cy="491490"/>
          </a:xfrm>
          <a:custGeom>
            <a:avLst/>
            <a:gdLst/>
            <a:ahLst/>
            <a:cxnLst/>
            <a:rect l="l" t="t" r="r" b="b"/>
            <a:pathLst>
              <a:path w="887729" h="491489">
                <a:moveTo>
                  <a:pt x="0" y="0"/>
                </a:moveTo>
                <a:lnTo>
                  <a:pt x="887729" y="0"/>
                </a:lnTo>
                <a:lnTo>
                  <a:pt x="887729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 spc="-295">
                <a:latin typeface="Trebuchet MS"/>
                <a:cs typeface="Trebuchet MS"/>
              </a:rPr>
              <a:t>1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  <a:r>
              <a:rPr dirty="0" sz="1200" spc="-295">
                <a:latin typeface="Trebuchet MS"/>
                <a:cs typeface="Trebuchet MS"/>
              </a:rPr>
              <a:t>7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7 </a:t>
            </a:r>
            <a:r>
              <a:rPr dirty="0" sz="1200" spc="-385">
                <a:latin typeface="Trebuchet MS"/>
                <a:cs typeface="Trebuchet MS"/>
              </a:rPr>
              <a:t>/</a:t>
            </a:r>
            <a:r>
              <a:rPr dirty="0" sz="1200" spc="-385">
                <a:solidFill>
                  <a:srgbClr val="FFFFFF"/>
                </a:solidFill>
                <a:latin typeface="Trebuchet MS"/>
                <a:cs typeface="Trebuchet MS"/>
              </a:rPr>
              <a:t>/</a:t>
            </a:r>
            <a:r>
              <a:rPr dirty="0" sz="1200" spc="-9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5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5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23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164973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95">
                <a:solidFill>
                  <a:srgbClr val="C2132D"/>
                </a:solidFill>
              </a:rPr>
              <a:t>AR</a:t>
            </a:r>
            <a:r>
              <a:rPr dirty="0" sz="3350" spc="-310">
                <a:solidFill>
                  <a:srgbClr val="C2132D"/>
                </a:solidFill>
              </a:rPr>
              <a:t> </a:t>
            </a:r>
            <a:r>
              <a:rPr dirty="0" sz="3350" spc="-120">
                <a:solidFill>
                  <a:srgbClr val="C2132D"/>
                </a:solidFill>
              </a:rPr>
              <a:t>Model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850900" y="1376044"/>
            <a:ext cx="9478010" cy="439737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63500" marR="43180">
              <a:lnSpc>
                <a:spcPct val="116900"/>
              </a:lnSpc>
              <a:spcBef>
                <a:spcPts val="125"/>
              </a:spcBef>
            </a:pP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autoregressive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model,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we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forecast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variable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interest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linear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combination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 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past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values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 variable.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term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autoregressive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indicates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that 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it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regression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 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variable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against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itself.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Thus,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autoregressive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model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order </a:t>
            </a:r>
            <a:r>
              <a:rPr dirty="0" sz="1650" spc="-160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sz="1800" spc="-160">
                <a:solidFill>
                  <a:srgbClr val="585D60"/>
                </a:solidFill>
                <a:latin typeface="Trebuchet MS"/>
                <a:cs typeface="Trebuchet MS"/>
              </a:rPr>
              <a:t>,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denoted </a:t>
            </a:r>
            <a:r>
              <a:rPr dirty="0" sz="1800" spc="114">
                <a:solidFill>
                  <a:srgbClr val="585D60"/>
                </a:solidFill>
                <a:latin typeface="Trebuchet MS"/>
                <a:cs typeface="Trebuchet MS"/>
              </a:rPr>
              <a:t>as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AR(p),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can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be  </a:t>
            </a:r>
            <a:r>
              <a:rPr dirty="0" sz="1800" spc="-60">
                <a:solidFill>
                  <a:srgbClr val="585D60"/>
                </a:solidFill>
                <a:latin typeface="Trebuchet MS"/>
                <a:cs typeface="Trebuchet MS"/>
              </a:rPr>
              <a:t>written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as:</a:t>
            </a:r>
            <a:endParaRPr sz="1800">
              <a:latin typeface="Trebuchet MS"/>
              <a:cs typeface="Trebuchet MS"/>
            </a:endParaRPr>
          </a:p>
          <a:p>
            <a:pPr algn="ctr" marL="345440">
              <a:lnSpc>
                <a:spcPct val="100000"/>
              </a:lnSpc>
              <a:spcBef>
                <a:spcPts val="1665"/>
              </a:spcBef>
            </a:pPr>
            <a:r>
              <a:rPr dirty="0" sz="1650" spc="9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14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2077" sz="1725" spc="397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50" i="1">
                <a:solidFill>
                  <a:srgbClr val="585D60"/>
                </a:solidFill>
                <a:latin typeface="Arial"/>
                <a:cs typeface="Arial"/>
              </a:rPr>
              <a:t>c</a:t>
            </a:r>
            <a:r>
              <a:rPr dirty="0" sz="1650" spc="-6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20" i="1">
                <a:solidFill>
                  <a:srgbClr val="585D60"/>
                </a:solidFill>
                <a:latin typeface="Arial"/>
                <a:cs typeface="Arial"/>
              </a:rPr>
              <a:t>ϕ</a:t>
            </a:r>
            <a:r>
              <a:rPr dirty="0" baseline="-11111" sz="1875" spc="3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650" spc="2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3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1111" sz="1875" spc="30">
                <a:solidFill>
                  <a:srgbClr val="585D60"/>
                </a:solidFill>
                <a:latin typeface="Lucida Sans Unicode"/>
                <a:cs typeface="Lucida Sans Unicode"/>
              </a:rPr>
              <a:t>−1</a:t>
            </a:r>
            <a:r>
              <a:rPr dirty="0" baseline="-11111" sz="1875" spc="13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20" i="1">
                <a:solidFill>
                  <a:srgbClr val="585D60"/>
                </a:solidFill>
                <a:latin typeface="Arial"/>
                <a:cs typeface="Arial"/>
              </a:rPr>
              <a:t>ϕ</a:t>
            </a:r>
            <a:r>
              <a:rPr dirty="0" baseline="-11111" sz="1875" spc="30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r>
              <a:rPr dirty="0" sz="1650" spc="2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3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1111" sz="1875" spc="30">
                <a:solidFill>
                  <a:srgbClr val="585D60"/>
                </a:solidFill>
                <a:latin typeface="Lucida Sans Unicode"/>
                <a:cs typeface="Lucida Sans Unicode"/>
              </a:rPr>
              <a:t>−2</a:t>
            </a:r>
            <a:r>
              <a:rPr dirty="0" baseline="-11111" sz="1875" spc="13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675">
                <a:solidFill>
                  <a:srgbClr val="585D60"/>
                </a:solidFill>
                <a:latin typeface="Lucida Sans Unicode"/>
                <a:cs typeface="Lucida Sans Unicode"/>
              </a:rPr>
              <a:t>⋯</a:t>
            </a:r>
            <a:r>
              <a:rPr dirty="0" sz="1800" spc="-17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ϕ</a:t>
            </a:r>
            <a:r>
              <a:rPr dirty="0" baseline="-12077" sz="1725" spc="104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104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1111" sz="1875" spc="104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baseline="-12077" sz="1725" spc="104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baseline="-12077" sz="1725" spc="247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5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2077" sz="1725" spc="7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800" spc="5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endParaRPr sz="1800">
              <a:latin typeface="Lucida Sans Unicode"/>
              <a:cs typeface="Lucida Sans Unicode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350">
              <a:latin typeface="Lucida Sans Unicode"/>
              <a:cs typeface="Lucida Sans Unicode"/>
            </a:endParaRPr>
          </a:p>
          <a:p>
            <a:pPr marL="63500">
              <a:lnSpc>
                <a:spcPct val="100000"/>
              </a:lnSpc>
            </a:pP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where </a:t>
            </a: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104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white</a:t>
            </a:r>
            <a:r>
              <a:rPr dirty="0" sz="1800" spc="-1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noise.</a:t>
            </a:r>
            <a:endParaRPr sz="1800">
              <a:latin typeface="Trebuchet MS"/>
              <a:cs typeface="Trebuchet MS"/>
            </a:endParaRPr>
          </a:p>
          <a:p>
            <a:pPr marL="63500" marR="126364">
              <a:lnSpc>
                <a:spcPct val="116300"/>
              </a:lnSpc>
              <a:spcBef>
                <a:spcPts val="935"/>
              </a:spcBef>
            </a:pP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Note: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AR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model </a:t>
            </a:r>
            <a:r>
              <a:rPr dirty="0" sz="1800" spc="10" b="1">
                <a:solidFill>
                  <a:srgbClr val="C2132D"/>
                </a:solidFill>
                <a:latin typeface="Trebuchet MS"/>
                <a:cs typeface="Trebuchet MS"/>
              </a:rPr>
              <a:t>looks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similar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linear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regression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model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that </a:t>
            </a:r>
            <a:r>
              <a:rPr dirty="0" sz="1800" spc="95">
                <a:solidFill>
                  <a:srgbClr val="585D60"/>
                </a:solidFill>
                <a:latin typeface="Trebuchet MS"/>
                <a:cs typeface="Trebuchet MS"/>
              </a:rPr>
              <a:t>uses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dependent  relationship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between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observation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its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lagged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observations.</a:t>
            </a:r>
            <a:r>
              <a:rPr dirty="0" sz="1800" spc="-12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difference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latin typeface="Trebuchet MS"/>
                <a:cs typeface="Trebuchet MS"/>
              </a:rPr>
              <a:t>lies</a:t>
            </a:r>
            <a:r>
              <a:rPr dirty="0" sz="1800" spc="-80" b="1">
                <a:latin typeface="Trebuchet MS"/>
                <a:cs typeface="Trebuchet MS"/>
              </a:rPr>
              <a:t> </a:t>
            </a:r>
            <a:r>
              <a:rPr dirty="0" sz="1800" spc="-60" b="1">
                <a:latin typeface="Trebuchet MS"/>
                <a:cs typeface="Trebuchet MS"/>
              </a:rPr>
              <a:t>in</a:t>
            </a:r>
            <a:r>
              <a:rPr dirty="0" sz="1800" spc="-80" b="1">
                <a:latin typeface="Trebuchet MS"/>
                <a:cs typeface="Trebuchet MS"/>
              </a:rPr>
              <a:t> </a:t>
            </a:r>
            <a:r>
              <a:rPr dirty="0" sz="1800" spc="-55" b="1">
                <a:latin typeface="Trebuchet MS"/>
                <a:cs typeface="Trebuchet MS"/>
              </a:rPr>
              <a:t>how  </a:t>
            </a:r>
            <a:r>
              <a:rPr dirty="0" sz="1800" spc="-80" b="1">
                <a:latin typeface="Trebuchet MS"/>
                <a:cs typeface="Trebuchet MS"/>
              </a:rPr>
              <a:t>their </a:t>
            </a:r>
            <a:r>
              <a:rPr dirty="0" sz="1800" spc="-30" b="1">
                <a:latin typeface="Trebuchet MS"/>
                <a:cs typeface="Trebuchet MS"/>
              </a:rPr>
              <a:t>coefficients </a:t>
            </a:r>
            <a:r>
              <a:rPr dirty="0" sz="1800" spc="-65" b="1">
                <a:latin typeface="Trebuchet MS"/>
                <a:cs typeface="Trebuchet MS"/>
              </a:rPr>
              <a:t>are </a:t>
            </a:r>
            <a:r>
              <a:rPr dirty="0" sz="1800" spc="-30" b="1">
                <a:latin typeface="Trebuchet MS"/>
                <a:cs typeface="Trebuchet MS"/>
              </a:rPr>
              <a:t>estimated </a:t>
            </a:r>
            <a:r>
              <a:rPr dirty="0" sz="1800" spc="-60" b="1">
                <a:latin typeface="Trebuchet MS"/>
                <a:cs typeface="Trebuchet MS"/>
              </a:rPr>
              <a:t>in</a:t>
            </a:r>
            <a:r>
              <a:rPr dirty="0" sz="1800" spc="-275" b="1">
                <a:latin typeface="Trebuchet MS"/>
                <a:cs typeface="Trebuchet MS"/>
              </a:rPr>
              <a:t> </a:t>
            </a:r>
            <a:r>
              <a:rPr dirty="0" sz="1800" spc="-60" b="1">
                <a:latin typeface="Trebuchet MS"/>
                <a:cs typeface="Trebuchet MS"/>
              </a:rPr>
              <a:t>practice.</a:t>
            </a:r>
            <a:endParaRPr sz="18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800">
              <a:latin typeface="Trebuchet MS"/>
              <a:cs typeface="Trebuchet MS"/>
            </a:endParaRPr>
          </a:p>
          <a:p>
            <a:pPr marL="444500" indent="-133985">
              <a:lnSpc>
                <a:spcPct val="100000"/>
              </a:lnSpc>
              <a:buClr>
                <a:srgbClr val="C2132D"/>
              </a:buClr>
              <a:buChar char="•"/>
              <a:tabLst>
                <a:tab pos="444500" algn="l"/>
              </a:tabLst>
            </a:pP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AR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models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35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-50" b="1">
                <a:latin typeface="Trebuchet MS"/>
                <a:cs typeface="Trebuchet MS"/>
              </a:rPr>
              <a:t>often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utilize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35">
                <a:solidFill>
                  <a:srgbClr val="585D60"/>
                </a:solidFill>
                <a:latin typeface="Trebuchet MS"/>
                <a:cs typeface="Trebuchet MS"/>
              </a:rPr>
              <a:t>MLE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while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taking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into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account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time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series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structure.</a:t>
            </a:r>
            <a:endParaRPr sz="1800">
              <a:latin typeface="Trebuchet MS"/>
              <a:cs typeface="Trebuchet MS"/>
            </a:endParaRPr>
          </a:p>
          <a:p>
            <a:pPr marL="4445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444500" algn="l"/>
              </a:tabLst>
            </a:pP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Linear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regression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35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95">
                <a:solidFill>
                  <a:srgbClr val="585D60"/>
                </a:solidFill>
                <a:latin typeface="Trebuchet MS"/>
                <a:cs typeface="Trebuchet MS"/>
              </a:rPr>
              <a:t>uses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ordinary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least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Trebuchet MS"/>
                <a:cs typeface="Trebuchet MS"/>
              </a:rPr>
              <a:t>squares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(OLS).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820803" y="3060763"/>
            <a:ext cx="4386027" cy="233819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37730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95">
                <a:solidFill>
                  <a:srgbClr val="C2132D"/>
                </a:solidFill>
              </a:rPr>
              <a:t>AR </a:t>
            </a:r>
            <a:r>
              <a:rPr dirty="0" sz="3350" spc="-75">
                <a:solidFill>
                  <a:srgbClr val="C2132D"/>
                </a:solidFill>
              </a:rPr>
              <a:t>(MLE) </a:t>
            </a:r>
            <a:r>
              <a:rPr dirty="0" sz="3350" spc="-120">
                <a:solidFill>
                  <a:srgbClr val="C2132D"/>
                </a:solidFill>
              </a:rPr>
              <a:t>vs. </a:t>
            </a:r>
            <a:r>
              <a:rPr dirty="0" sz="3350" spc="-190">
                <a:solidFill>
                  <a:srgbClr val="C2132D"/>
                </a:solidFill>
              </a:rPr>
              <a:t>Linear </a:t>
            </a:r>
            <a:r>
              <a:rPr dirty="0" sz="3350" spc="-110">
                <a:solidFill>
                  <a:srgbClr val="C2132D"/>
                </a:solidFill>
              </a:rPr>
              <a:t>Regression</a:t>
            </a:r>
            <a:r>
              <a:rPr dirty="0" sz="3350" spc="-730">
                <a:solidFill>
                  <a:srgbClr val="C2132D"/>
                </a:solidFill>
              </a:rPr>
              <a:t> </a:t>
            </a:r>
            <a:r>
              <a:rPr dirty="0" sz="3350" spc="-105">
                <a:solidFill>
                  <a:srgbClr val="C2132D"/>
                </a:solidFill>
              </a:rPr>
              <a:t>(OLS)</a:t>
            </a:r>
            <a:endParaRPr sz="3350"/>
          </a:p>
        </p:txBody>
      </p:sp>
      <p:sp>
        <p:nvSpPr>
          <p:cNvPr id="4" name="object 4"/>
          <p:cNvSpPr/>
          <p:nvPr/>
        </p:nvSpPr>
        <p:spPr>
          <a:xfrm>
            <a:off x="2495549" y="1481596"/>
            <a:ext cx="258445" cy="199390"/>
          </a:xfrm>
          <a:custGeom>
            <a:avLst/>
            <a:gdLst/>
            <a:ahLst/>
            <a:cxnLst/>
            <a:rect l="l" t="t" r="r" b="b"/>
            <a:pathLst>
              <a:path w="258444" h="199389">
                <a:moveTo>
                  <a:pt x="150441" y="199106"/>
                </a:moveTo>
                <a:lnTo>
                  <a:pt x="106397" y="199106"/>
                </a:lnTo>
                <a:lnTo>
                  <a:pt x="106397" y="171596"/>
                </a:lnTo>
                <a:lnTo>
                  <a:pt x="64254" y="161266"/>
                </a:lnTo>
                <a:lnTo>
                  <a:pt x="30516" y="142324"/>
                </a:lnTo>
                <a:lnTo>
                  <a:pt x="8118" y="116741"/>
                </a:lnTo>
                <a:lnTo>
                  <a:pt x="0" y="86487"/>
                </a:lnTo>
                <a:lnTo>
                  <a:pt x="10148" y="52817"/>
                </a:lnTo>
                <a:lnTo>
                  <a:pt x="37821" y="25327"/>
                </a:lnTo>
                <a:lnTo>
                  <a:pt x="78860" y="6794"/>
                </a:lnTo>
                <a:lnTo>
                  <a:pt x="129108" y="0"/>
                </a:lnTo>
                <a:lnTo>
                  <a:pt x="179355" y="6794"/>
                </a:lnTo>
                <a:lnTo>
                  <a:pt x="220395" y="25327"/>
                </a:lnTo>
                <a:lnTo>
                  <a:pt x="228946" y="33821"/>
                </a:lnTo>
                <a:lnTo>
                  <a:pt x="148885" y="33821"/>
                </a:lnTo>
                <a:lnTo>
                  <a:pt x="110696" y="38463"/>
                </a:lnTo>
                <a:lnTo>
                  <a:pt x="79503" y="51126"/>
                </a:lnTo>
                <a:lnTo>
                  <a:pt x="58468" y="69914"/>
                </a:lnTo>
                <a:lnTo>
                  <a:pt x="50754" y="92931"/>
                </a:lnTo>
                <a:lnTo>
                  <a:pt x="54801" y="109747"/>
                </a:lnTo>
                <a:lnTo>
                  <a:pt x="54923" y="109953"/>
                </a:lnTo>
                <a:lnTo>
                  <a:pt x="66226" y="124791"/>
                </a:lnTo>
                <a:lnTo>
                  <a:pt x="83810" y="137161"/>
                </a:lnTo>
                <a:lnTo>
                  <a:pt x="106397" y="146219"/>
                </a:lnTo>
                <a:lnTo>
                  <a:pt x="150396" y="146219"/>
                </a:lnTo>
                <a:lnTo>
                  <a:pt x="150396" y="151996"/>
                </a:lnTo>
                <a:lnTo>
                  <a:pt x="220957" y="151996"/>
                </a:lnTo>
                <a:lnTo>
                  <a:pt x="229019" y="165596"/>
                </a:lnTo>
                <a:lnTo>
                  <a:pt x="181285" y="165596"/>
                </a:lnTo>
                <a:lnTo>
                  <a:pt x="173897" y="167611"/>
                </a:lnTo>
                <a:lnTo>
                  <a:pt x="166279" y="169318"/>
                </a:lnTo>
                <a:lnTo>
                  <a:pt x="158454" y="170708"/>
                </a:lnTo>
                <a:lnTo>
                  <a:pt x="150441" y="171774"/>
                </a:lnTo>
                <a:lnTo>
                  <a:pt x="150441" y="199106"/>
                </a:lnTo>
                <a:close/>
              </a:path>
              <a:path w="258444" h="199389">
                <a:moveTo>
                  <a:pt x="229512" y="140219"/>
                </a:moveTo>
                <a:lnTo>
                  <a:pt x="211817" y="140219"/>
                </a:lnTo>
                <a:lnTo>
                  <a:pt x="224911" y="131949"/>
                </a:lnTo>
                <a:lnTo>
                  <a:pt x="234739" y="121358"/>
                </a:lnTo>
                <a:lnTo>
                  <a:pt x="240917" y="108376"/>
                </a:lnTo>
                <a:lnTo>
                  <a:pt x="243061" y="92931"/>
                </a:lnTo>
                <a:lnTo>
                  <a:pt x="235965" y="66389"/>
                </a:lnTo>
                <a:lnTo>
                  <a:pt x="216289" y="47993"/>
                </a:lnTo>
                <a:lnTo>
                  <a:pt x="186456" y="37288"/>
                </a:lnTo>
                <a:lnTo>
                  <a:pt x="148885" y="33821"/>
                </a:lnTo>
                <a:lnTo>
                  <a:pt x="228946" y="33821"/>
                </a:lnTo>
                <a:lnTo>
                  <a:pt x="248068" y="52817"/>
                </a:lnTo>
                <a:lnTo>
                  <a:pt x="258216" y="86487"/>
                </a:lnTo>
                <a:lnTo>
                  <a:pt x="255484" y="104250"/>
                </a:lnTo>
                <a:lnTo>
                  <a:pt x="247655" y="120764"/>
                </a:lnTo>
                <a:lnTo>
                  <a:pt x="235285" y="135661"/>
                </a:lnTo>
                <a:lnTo>
                  <a:pt x="229512" y="140219"/>
                </a:lnTo>
                <a:close/>
              </a:path>
              <a:path w="258444" h="199389">
                <a:moveTo>
                  <a:pt x="150396" y="146219"/>
                </a:moveTo>
                <a:lnTo>
                  <a:pt x="106397" y="146219"/>
                </a:lnTo>
                <a:lnTo>
                  <a:pt x="106397" y="53643"/>
                </a:lnTo>
                <a:lnTo>
                  <a:pt x="194840" y="53643"/>
                </a:lnTo>
                <a:lnTo>
                  <a:pt x="201131" y="54353"/>
                </a:lnTo>
                <a:lnTo>
                  <a:pt x="214973" y="58793"/>
                </a:lnTo>
                <a:lnTo>
                  <a:pt x="228814" y="70424"/>
                </a:lnTo>
                <a:lnTo>
                  <a:pt x="232931" y="85007"/>
                </a:lnTo>
                <a:lnTo>
                  <a:pt x="167731" y="85007"/>
                </a:lnTo>
                <a:lnTo>
                  <a:pt x="150796" y="85242"/>
                </a:lnTo>
                <a:lnTo>
                  <a:pt x="150796" y="109953"/>
                </a:lnTo>
                <a:lnTo>
                  <a:pt x="166193" y="110269"/>
                </a:lnTo>
                <a:lnTo>
                  <a:pt x="230437" y="110269"/>
                </a:lnTo>
                <a:lnTo>
                  <a:pt x="229092" y="115327"/>
                </a:lnTo>
                <a:lnTo>
                  <a:pt x="215862" y="127691"/>
                </a:lnTo>
                <a:lnTo>
                  <a:pt x="202631" y="132864"/>
                </a:lnTo>
                <a:lnTo>
                  <a:pt x="196618" y="133908"/>
                </a:lnTo>
                <a:lnTo>
                  <a:pt x="204440" y="136263"/>
                </a:lnTo>
                <a:lnTo>
                  <a:pt x="208973" y="138574"/>
                </a:lnTo>
                <a:lnTo>
                  <a:pt x="209728" y="138930"/>
                </a:lnTo>
                <a:lnTo>
                  <a:pt x="210751" y="139508"/>
                </a:lnTo>
                <a:lnTo>
                  <a:pt x="211817" y="140219"/>
                </a:lnTo>
                <a:lnTo>
                  <a:pt x="229512" y="140219"/>
                </a:lnTo>
                <a:lnTo>
                  <a:pt x="227035" y="142174"/>
                </a:lnTo>
                <a:lnTo>
                  <a:pt x="150396" y="142174"/>
                </a:lnTo>
                <a:lnTo>
                  <a:pt x="150396" y="146219"/>
                </a:lnTo>
                <a:close/>
              </a:path>
              <a:path w="258444" h="199389">
                <a:moveTo>
                  <a:pt x="230437" y="110269"/>
                </a:moveTo>
                <a:lnTo>
                  <a:pt x="166193" y="110269"/>
                </a:lnTo>
                <a:lnTo>
                  <a:pt x="178574" y="109747"/>
                </a:lnTo>
                <a:lnTo>
                  <a:pt x="186821" y="106184"/>
                </a:lnTo>
                <a:lnTo>
                  <a:pt x="189818" y="97375"/>
                </a:lnTo>
                <a:lnTo>
                  <a:pt x="187333" y="89086"/>
                </a:lnTo>
                <a:lnTo>
                  <a:pt x="179940" y="85625"/>
                </a:lnTo>
                <a:lnTo>
                  <a:pt x="167731" y="85007"/>
                </a:lnTo>
                <a:lnTo>
                  <a:pt x="232931" y="85007"/>
                </a:lnTo>
                <a:lnTo>
                  <a:pt x="235106" y="92709"/>
                </a:lnTo>
                <a:lnTo>
                  <a:pt x="230437" y="110269"/>
                </a:lnTo>
                <a:close/>
              </a:path>
              <a:path w="258444" h="199389">
                <a:moveTo>
                  <a:pt x="220957" y="151996"/>
                </a:moveTo>
                <a:lnTo>
                  <a:pt x="150396" y="151996"/>
                </a:lnTo>
                <a:lnTo>
                  <a:pt x="158218" y="151952"/>
                </a:lnTo>
                <a:lnTo>
                  <a:pt x="165729" y="151552"/>
                </a:lnTo>
                <a:lnTo>
                  <a:pt x="172885" y="150707"/>
                </a:lnTo>
                <a:lnTo>
                  <a:pt x="170618" y="147374"/>
                </a:lnTo>
                <a:lnTo>
                  <a:pt x="167018" y="142174"/>
                </a:lnTo>
                <a:lnTo>
                  <a:pt x="227035" y="142174"/>
                </a:lnTo>
                <a:lnTo>
                  <a:pt x="218928" y="148574"/>
                </a:lnTo>
                <a:lnTo>
                  <a:pt x="220957" y="151996"/>
                </a:lnTo>
                <a:close/>
              </a:path>
              <a:path w="258444" h="199389">
                <a:moveTo>
                  <a:pt x="248883" y="199106"/>
                </a:moveTo>
                <a:lnTo>
                  <a:pt x="199106" y="199106"/>
                </a:lnTo>
                <a:lnTo>
                  <a:pt x="181285" y="165596"/>
                </a:lnTo>
                <a:lnTo>
                  <a:pt x="229019" y="165596"/>
                </a:lnTo>
                <a:lnTo>
                  <a:pt x="248883" y="199106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3200399" y="1805446"/>
            <a:ext cx="258445" cy="199390"/>
          </a:xfrm>
          <a:custGeom>
            <a:avLst/>
            <a:gdLst/>
            <a:ahLst/>
            <a:cxnLst/>
            <a:rect l="l" t="t" r="r" b="b"/>
            <a:pathLst>
              <a:path w="258445" h="199389">
                <a:moveTo>
                  <a:pt x="150441" y="199106"/>
                </a:moveTo>
                <a:lnTo>
                  <a:pt x="106397" y="199106"/>
                </a:lnTo>
                <a:lnTo>
                  <a:pt x="106397" y="171596"/>
                </a:lnTo>
                <a:lnTo>
                  <a:pt x="64254" y="161266"/>
                </a:lnTo>
                <a:lnTo>
                  <a:pt x="30516" y="142324"/>
                </a:lnTo>
                <a:lnTo>
                  <a:pt x="8118" y="116741"/>
                </a:lnTo>
                <a:lnTo>
                  <a:pt x="0" y="86487"/>
                </a:lnTo>
                <a:lnTo>
                  <a:pt x="10148" y="52817"/>
                </a:lnTo>
                <a:lnTo>
                  <a:pt x="37821" y="25327"/>
                </a:lnTo>
                <a:lnTo>
                  <a:pt x="78860" y="6794"/>
                </a:lnTo>
                <a:lnTo>
                  <a:pt x="129108" y="0"/>
                </a:lnTo>
                <a:lnTo>
                  <a:pt x="179355" y="6794"/>
                </a:lnTo>
                <a:lnTo>
                  <a:pt x="220395" y="25327"/>
                </a:lnTo>
                <a:lnTo>
                  <a:pt x="228946" y="33821"/>
                </a:lnTo>
                <a:lnTo>
                  <a:pt x="148885" y="33821"/>
                </a:lnTo>
                <a:lnTo>
                  <a:pt x="110696" y="38463"/>
                </a:lnTo>
                <a:lnTo>
                  <a:pt x="79503" y="51126"/>
                </a:lnTo>
                <a:lnTo>
                  <a:pt x="58468" y="69914"/>
                </a:lnTo>
                <a:lnTo>
                  <a:pt x="50754" y="92931"/>
                </a:lnTo>
                <a:lnTo>
                  <a:pt x="54801" y="109747"/>
                </a:lnTo>
                <a:lnTo>
                  <a:pt x="54923" y="109953"/>
                </a:lnTo>
                <a:lnTo>
                  <a:pt x="66226" y="124791"/>
                </a:lnTo>
                <a:lnTo>
                  <a:pt x="83810" y="137161"/>
                </a:lnTo>
                <a:lnTo>
                  <a:pt x="106397" y="146219"/>
                </a:lnTo>
                <a:lnTo>
                  <a:pt x="150396" y="146219"/>
                </a:lnTo>
                <a:lnTo>
                  <a:pt x="150396" y="151996"/>
                </a:lnTo>
                <a:lnTo>
                  <a:pt x="220957" y="151996"/>
                </a:lnTo>
                <a:lnTo>
                  <a:pt x="229019" y="165596"/>
                </a:lnTo>
                <a:lnTo>
                  <a:pt x="181285" y="165596"/>
                </a:lnTo>
                <a:lnTo>
                  <a:pt x="173897" y="167611"/>
                </a:lnTo>
                <a:lnTo>
                  <a:pt x="166279" y="169318"/>
                </a:lnTo>
                <a:lnTo>
                  <a:pt x="158454" y="170708"/>
                </a:lnTo>
                <a:lnTo>
                  <a:pt x="150441" y="171774"/>
                </a:lnTo>
                <a:lnTo>
                  <a:pt x="150441" y="199106"/>
                </a:lnTo>
                <a:close/>
              </a:path>
              <a:path w="258445" h="199389">
                <a:moveTo>
                  <a:pt x="229512" y="140219"/>
                </a:moveTo>
                <a:lnTo>
                  <a:pt x="211817" y="140219"/>
                </a:lnTo>
                <a:lnTo>
                  <a:pt x="224911" y="131949"/>
                </a:lnTo>
                <a:lnTo>
                  <a:pt x="234739" y="121358"/>
                </a:lnTo>
                <a:lnTo>
                  <a:pt x="240917" y="108376"/>
                </a:lnTo>
                <a:lnTo>
                  <a:pt x="243061" y="92931"/>
                </a:lnTo>
                <a:lnTo>
                  <a:pt x="235965" y="66389"/>
                </a:lnTo>
                <a:lnTo>
                  <a:pt x="216289" y="47993"/>
                </a:lnTo>
                <a:lnTo>
                  <a:pt x="186456" y="37288"/>
                </a:lnTo>
                <a:lnTo>
                  <a:pt x="148885" y="33821"/>
                </a:lnTo>
                <a:lnTo>
                  <a:pt x="228946" y="33821"/>
                </a:lnTo>
                <a:lnTo>
                  <a:pt x="248068" y="52817"/>
                </a:lnTo>
                <a:lnTo>
                  <a:pt x="258216" y="86487"/>
                </a:lnTo>
                <a:lnTo>
                  <a:pt x="255484" y="104250"/>
                </a:lnTo>
                <a:lnTo>
                  <a:pt x="247655" y="120764"/>
                </a:lnTo>
                <a:lnTo>
                  <a:pt x="235285" y="135661"/>
                </a:lnTo>
                <a:lnTo>
                  <a:pt x="229512" y="140219"/>
                </a:lnTo>
                <a:close/>
              </a:path>
              <a:path w="258445" h="199389">
                <a:moveTo>
                  <a:pt x="150396" y="146219"/>
                </a:moveTo>
                <a:lnTo>
                  <a:pt x="106397" y="146219"/>
                </a:lnTo>
                <a:lnTo>
                  <a:pt x="106397" y="53643"/>
                </a:lnTo>
                <a:lnTo>
                  <a:pt x="194840" y="53643"/>
                </a:lnTo>
                <a:lnTo>
                  <a:pt x="201131" y="54353"/>
                </a:lnTo>
                <a:lnTo>
                  <a:pt x="214973" y="58793"/>
                </a:lnTo>
                <a:lnTo>
                  <a:pt x="228814" y="70424"/>
                </a:lnTo>
                <a:lnTo>
                  <a:pt x="232931" y="85007"/>
                </a:lnTo>
                <a:lnTo>
                  <a:pt x="167731" y="85007"/>
                </a:lnTo>
                <a:lnTo>
                  <a:pt x="150796" y="85242"/>
                </a:lnTo>
                <a:lnTo>
                  <a:pt x="150796" y="109953"/>
                </a:lnTo>
                <a:lnTo>
                  <a:pt x="166193" y="110269"/>
                </a:lnTo>
                <a:lnTo>
                  <a:pt x="230437" y="110269"/>
                </a:lnTo>
                <a:lnTo>
                  <a:pt x="229092" y="115327"/>
                </a:lnTo>
                <a:lnTo>
                  <a:pt x="215862" y="127691"/>
                </a:lnTo>
                <a:lnTo>
                  <a:pt x="202631" y="132864"/>
                </a:lnTo>
                <a:lnTo>
                  <a:pt x="196618" y="133908"/>
                </a:lnTo>
                <a:lnTo>
                  <a:pt x="204440" y="136263"/>
                </a:lnTo>
                <a:lnTo>
                  <a:pt x="208973" y="138574"/>
                </a:lnTo>
                <a:lnTo>
                  <a:pt x="209728" y="138930"/>
                </a:lnTo>
                <a:lnTo>
                  <a:pt x="210751" y="139508"/>
                </a:lnTo>
                <a:lnTo>
                  <a:pt x="211817" y="140219"/>
                </a:lnTo>
                <a:lnTo>
                  <a:pt x="229512" y="140219"/>
                </a:lnTo>
                <a:lnTo>
                  <a:pt x="227035" y="142174"/>
                </a:lnTo>
                <a:lnTo>
                  <a:pt x="150396" y="142174"/>
                </a:lnTo>
                <a:lnTo>
                  <a:pt x="150396" y="146219"/>
                </a:lnTo>
                <a:close/>
              </a:path>
              <a:path w="258445" h="199389">
                <a:moveTo>
                  <a:pt x="230437" y="110269"/>
                </a:moveTo>
                <a:lnTo>
                  <a:pt x="166193" y="110269"/>
                </a:lnTo>
                <a:lnTo>
                  <a:pt x="178574" y="109747"/>
                </a:lnTo>
                <a:lnTo>
                  <a:pt x="186821" y="106184"/>
                </a:lnTo>
                <a:lnTo>
                  <a:pt x="189818" y="97375"/>
                </a:lnTo>
                <a:lnTo>
                  <a:pt x="187333" y="89086"/>
                </a:lnTo>
                <a:lnTo>
                  <a:pt x="179940" y="85625"/>
                </a:lnTo>
                <a:lnTo>
                  <a:pt x="167731" y="85007"/>
                </a:lnTo>
                <a:lnTo>
                  <a:pt x="232931" y="85007"/>
                </a:lnTo>
                <a:lnTo>
                  <a:pt x="235106" y="92709"/>
                </a:lnTo>
                <a:lnTo>
                  <a:pt x="230437" y="110269"/>
                </a:lnTo>
                <a:close/>
              </a:path>
              <a:path w="258445" h="199389">
                <a:moveTo>
                  <a:pt x="220957" y="151996"/>
                </a:moveTo>
                <a:lnTo>
                  <a:pt x="150396" y="151996"/>
                </a:lnTo>
                <a:lnTo>
                  <a:pt x="158218" y="151952"/>
                </a:lnTo>
                <a:lnTo>
                  <a:pt x="165729" y="151552"/>
                </a:lnTo>
                <a:lnTo>
                  <a:pt x="172885" y="150707"/>
                </a:lnTo>
                <a:lnTo>
                  <a:pt x="170618" y="147374"/>
                </a:lnTo>
                <a:lnTo>
                  <a:pt x="167018" y="142174"/>
                </a:lnTo>
                <a:lnTo>
                  <a:pt x="227035" y="142174"/>
                </a:lnTo>
                <a:lnTo>
                  <a:pt x="218928" y="148574"/>
                </a:lnTo>
                <a:lnTo>
                  <a:pt x="220957" y="151996"/>
                </a:lnTo>
                <a:close/>
              </a:path>
              <a:path w="258445" h="199389">
                <a:moveTo>
                  <a:pt x="248883" y="199106"/>
                </a:moveTo>
                <a:lnTo>
                  <a:pt x="199106" y="199106"/>
                </a:lnTo>
                <a:lnTo>
                  <a:pt x="181285" y="165596"/>
                </a:lnTo>
                <a:lnTo>
                  <a:pt x="229019" y="165596"/>
                </a:lnTo>
                <a:lnTo>
                  <a:pt x="248883" y="199106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889000" y="1376044"/>
            <a:ext cx="9321165" cy="11112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5400" marR="17780">
              <a:lnSpc>
                <a:spcPct val="118100"/>
              </a:lnSpc>
              <a:spcBef>
                <a:spcPts val="100"/>
              </a:spcBef>
              <a:tabLst>
                <a:tab pos="1925320" algn="l"/>
                <a:tab pos="2569210" algn="l"/>
              </a:tabLst>
            </a:pP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Since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you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Trebuchet MS"/>
                <a:cs typeface="Trebuchet MS"/>
              </a:rPr>
              <a:t>used	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linear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regression,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let's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illustrate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differences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between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AR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linear 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regression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base	</a:t>
            </a:r>
            <a:r>
              <a:rPr dirty="0" sz="1800" spc="-190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marL="25400">
              <a:lnSpc>
                <a:spcPct val="100000"/>
              </a:lnSpc>
              <a:spcBef>
                <a:spcPts val="1290"/>
              </a:spcBef>
            </a:pP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Let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0">
                <a:solidFill>
                  <a:srgbClr val="585D60"/>
                </a:solidFill>
                <a:latin typeface="Trebuchet MS"/>
                <a:cs typeface="Trebuchet MS"/>
              </a:rPr>
              <a:t>us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simulate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following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AR(1)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process: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9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14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2077" sz="1725" spc="412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800" spc="-6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145">
                <a:solidFill>
                  <a:srgbClr val="585D60"/>
                </a:solidFill>
                <a:latin typeface="Lucida Sans Unicode"/>
                <a:cs typeface="Lucida Sans Unicode"/>
              </a:rPr>
              <a:t>−0.2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6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75">
                <a:solidFill>
                  <a:srgbClr val="585D60"/>
                </a:solidFill>
                <a:latin typeface="Lucida Sans Unicode"/>
                <a:cs typeface="Lucida Sans Unicode"/>
              </a:rPr>
              <a:t>0.7</a:t>
            </a:r>
            <a:r>
              <a:rPr dirty="0" sz="1650" spc="-7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-11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1111" sz="1875" spc="-112">
                <a:solidFill>
                  <a:srgbClr val="585D60"/>
                </a:solidFill>
                <a:latin typeface="Lucida Sans Unicode"/>
                <a:cs typeface="Lucida Sans Unicode"/>
              </a:rPr>
              <a:t>−1</a:t>
            </a:r>
            <a:r>
              <a:rPr dirty="0" baseline="-11111" sz="1875" spc="142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6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25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2077" sz="1725" spc="-3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where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2077" sz="1725" spc="104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2077" sz="1725" spc="412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∼</a:t>
            </a:r>
            <a:r>
              <a:rPr dirty="0" sz="1800" spc="-6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50" i="1">
                <a:solidFill>
                  <a:srgbClr val="585D60"/>
                </a:solidFill>
                <a:latin typeface="Arial"/>
                <a:cs typeface="Arial"/>
              </a:rPr>
              <a:t>N</a:t>
            </a:r>
            <a:r>
              <a:rPr dirty="0" sz="1800" spc="50">
                <a:solidFill>
                  <a:srgbClr val="585D60"/>
                </a:solidFill>
                <a:latin typeface="Lucida Sans Unicode"/>
                <a:cs typeface="Lucida Sans Unicode"/>
              </a:rPr>
              <a:t>(0,</a:t>
            </a:r>
            <a:r>
              <a:rPr dirty="0" sz="1800" spc="-26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105">
                <a:solidFill>
                  <a:srgbClr val="585D60"/>
                </a:solidFill>
                <a:latin typeface="Lucida Sans Unicode"/>
                <a:cs typeface="Lucida Sans Unicode"/>
              </a:rPr>
              <a:t>1)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23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914400" y="2800350"/>
            <a:ext cx="4657725" cy="3448050"/>
          </a:xfrm>
          <a:prstGeom prst="rect">
            <a:avLst/>
          </a:prstGeom>
          <a:solidFill>
            <a:srgbClr val="F7F7F7"/>
          </a:solidFill>
        </p:spPr>
        <p:txBody>
          <a:bodyPr wrap="square" lIns="0" tIns="79375" rIns="0" bIns="0" rtlCol="0" vert="horz">
            <a:spAutoFit/>
          </a:bodyPr>
          <a:lstStyle/>
          <a:p>
            <a:pPr marL="86360">
              <a:lnSpc>
                <a:spcPct val="100000"/>
              </a:lnSpc>
              <a:spcBef>
                <a:spcPts val="625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set.seed(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2025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  <a:p>
            <a:pPr marL="253365" indent="-167640">
              <a:lnSpc>
                <a:spcPts val="1295"/>
              </a:lnSpc>
              <a:spcBef>
                <a:spcPts val="1005"/>
              </a:spcBef>
              <a:buChar char="❖"/>
              <a:tabLst>
                <a:tab pos="254000" algn="l"/>
              </a:tabLst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Simulate y[t] = -0.2 + 0.7 * y[t-1] +</a:t>
            </a:r>
            <a:r>
              <a:rPr dirty="0" sz="1100" spc="-30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error,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40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n =</a:t>
            </a:r>
            <a:r>
              <a:rPr dirty="0" sz="1100" spc="-1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200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40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y =</a:t>
            </a:r>
            <a:r>
              <a:rPr dirty="0" sz="1100" spc="-1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0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75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phi =</a:t>
            </a:r>
            <a:r>
              <a:rPr dirty="0" sz="1100" spc="-1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0.7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75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intercept =</a:t>
            </a:r>
            <a:r>
              <a:rPr dirty="0" sz="1100" spc="-1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-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0.2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95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errors = rnorm(n, mean = 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0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 sd =</a:t>
            </a:r>
            <a:r>
              <a:rPr dirty="0" sz="1100" spc="-2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95"/>
              </a:lnSpc>
              <a:spcBef>
                <a:spcPts val="1005"/>
              </a:spcBef>
            </a:pP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for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(t </a:t>
            </a:r>
            <a:r>
              <a:rPr dirty="0" sz="1100" spc="-5" b="1">
                <a:solidFill>
                  <a:srgbClr val="333333"/>
                </a:solidFill>
                <a:latin typeface="Courier New"/>
                <a:cs typeface="Courier New"/>
              </a:rPr>
              <a:t>in 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2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:n)</a:t>
            </a:r>
            <a:r>
              <a:rPr dirty="0" sz="1100" spc="-1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{</a:t>
            </a:r>
            <a:endParaRPr sz="1100">
              <a:latin typeface="Courier New"/>
              <a:cs typeface="Courier New"/>
            </a:endParaRPr>
          </a:p>
          <a:p>
            <a:pPr marL="253365">
              <a:lnSpc>
                <a:spcPts val="1275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y[t] = intercept + phi*y[t - 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] +</a:t>
            </a:r>
            <a:r>
              <a:rPr dirty="0" sz="1100" spc="-3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errors[t]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95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}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295"/>
              </a:lnSpc>
              <a:spcBef>
                <a:spcPts val="1005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plot(</a:t>
            </a:r>
            <a:endParaRPr sz="1100">
              <a:latin typeface="Courier New"/>
              <a:cs typeface="Courier New"/>
            </a:endParaRPr>
          </a:p>
          <a:p>
            <a:pPr marL="253365" marR="1060450">
              <a:lnSpc>
                <a:spcPts val="1280"/>
              </a:lnSpc>
              <a:spcBef>
                <a:spcPts val="50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y, type =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"l"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 lwd = 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2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 xlab =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"Time"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  ylab =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"y[t]"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, main =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"AR(1)</a:t>
            </a:r>
            <a:r>
              <a:rPr dirty="0" sz="1100" spc="-60">
                <a:solidFill>
                  <a:srgbClr val="DD1144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Simulation"</a:t>
            </a:r>
            <a:endParaRPr sz="1100">
              <a:latin typeface="Courier New"/>
              <a:cs typeface="Courier New"/>
            </a:endParaRPr>
          </a:p>
          <a:p>
            <a:pPr marL="253365">
              <a:lnSpc>
                <a:spcPts val="1160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300"/>
              </a:lnSpc>
              <a:spcBef>
                <a:spcPts val="1080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write.csv(</a:t>
            </a:r>
            <a:endParaRPr sz="1100">
              <a:latin typeface="Courier New"/>
              <a:cs typeface="Courier New"/>
            </a:endParaRPr>
          </a:p>
          <a:p>
            <a:pPr marL="253365">
              <a:lnSpc>
                <a:spcPts val="1240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data.frame(y),</a:t>
            </a:r>
            <a:r>
              <a:rPr dirty="0" sz="1100" spc="-1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'../../data/ar1_simulation.csv'</a:t>
            </a:r>
            <a:endParaRPr sz="1100">
              <a:latin typeface="Courier New"/>
              <a:cs typeface="Courier New"/>
            </a:endParaRPr>
          </a:p>
          <a:p>
            <a:pPr marL="253365">
              <a:lnSpc>
                <a:spcPts val="1260"/>
              </a:lnSpc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530225"/>
            <a:ext cx="6929120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90">
                <a:solidFill>
                  <a:srgbClr val="C2132D"/>
                </a:solidFill>
                <a:latin typeface="Trebuchet MS"/>
                <a:cs typeface="Trebuchet MS"/>
              </a:rPr>
              <a:t>Simulation: </a:t>
            </a:r>
            <a:r>
              <a:rPr dirty="0" sz="3350" spc="-165">
                <a:solidFill>
                  <a:srgbClr val="C2132D"/>
                </a:solidFill>
                <a:latin typeface="Trebuchet MS"/>
                <a:cs typeface="Trebuchet MS"/>
              </a:rPr>
              <a:t>Examining </a:t>
            </a:r>
            <a:r>
              <a:rPr dirty="0" sz="3350" spc="-260">
                <a:solidFill>
                  <a:srgbClr val="C2132D"/>
                </a:solidFill>
                <a:latin typeface="Trebuchet MS"/>
                <a:cs typeface="Trebuchet MS"/>
              </a:rPr>
              <a:t>the </a:t>
            </a:r>
            <a:r>
              <a:rPr dirty="0" sz="3350" spc="-95">
                <a:solidFill>
                  <a:srgbClr val="C2132D"/>
                </a:solidFill>
                <a:latin typeface="Trebuchet MS"/>
                <a:cs typeface="Trebuchet MS"/>
              </a:rPr>
              <a:t>ACF </a:t>
            </a:r>
            <a:r>
              <a:rPr dirty="0" sz="3350" spc="-180">
                <a:solidFill>
                  <a:srgbClr val="C2132D"/>
                </a:solidFill>
                <a:latin typeface="Trebuchet MS"/>
                <a:cs typeface="Trebuchet MS"/>
              </a:rPr>
              <a:t>and</a:t>
            </a:r>
            <a:r>
              <a:rPr dirty="0" sz="3350" spc="-505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3350" spc="-130">
                <a:solidFill>
                  <a:srgbClr val="C2132D"/>
                </a:solidFill>
                <a:latin typeface="Trebuchet MS"/>
                <a:cs typeface="Trebuchet MS"/>
              </a:rPr>
              <a:t>PACF</a:t>
            </a:r>
            <a:endParaRPr sz="33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23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575627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Let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0">
                <a:solidFill>
                  <a:srgbClr val="585D60"/>
                </a:solidFill>
                <a:latin typeface="Trebuchet MS"/>
                <a:cs typeface="Trebuchet MS"/>
              </a:rPr>
              <a:t>us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examine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PACF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our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simulated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data.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88923" y="2985849"/>
            <a:ext cx="4508677" cy="319158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6276974" y="1433512"/>
            <a:ext cx="3819525" cy="0"/>
          </a:xfrm>
          <a:custGeom>
            <a:avLst/>
            <a:gdLst/>
            <a:ahLst/>
            <a:cxnLst/>
            <a:rect l="l" t="t" r="r" b="b"/>
            <a:pathLst>
              <a:path w="3819525" h="0">
                <a:moveTo>
                  <a:pt x="0" y="0"/>
                </a:moveTo>
                <a:lnTo>
                  <a:pt x="3819524" y="0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276974" y="6205537"/>
            <a:ext cx="3819525" cy="0"/>
          </a:xfrm>
          <a:custGeom>
            <a:avLst/>
            <a:gdLst/>
            <a:ahLst/>
            <a:cxnLst/>
            <a:rect l="l" t="t" r="r" b="b"/>
            <a:pathLst>
              <a:path w="3819525" h="0">
                <a:moveTo>
                  <a:pt x="0" y="0"/>
                </a:moveTo>
                <a:lnTo>
                  <a:pt x="3819524" y="0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6296024" y="1557337"/>
            <a:ext cx="3781425" cy="0"/>
          </a:xfrm>
          <a:custGeom>
            <a:avLst/>
            <a:gdLst/>
            <a:ahLst/>
            <a:cxnLst/>
            <a:rect l="l" t="t" r="r" b="b"/>
            <a:pathLst>
              <a:path w="3781425" h="0">
                <a:moveTo>
                  <a:pt x="0" y="0"/>
                </a:moveTo>
                <a:lnTo>
                  <a:pt x="3781424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296024" y="1581150"/>
          <a:ext cx="3781425" cy="455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/>
                <a:gridCol w="2181225"/>
              </a:tblGrid>
              <a:tr h="3143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dirty="0" sz="1450" spc="-15" i="1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Dependent</a:t>
                      </a:r>
                      <a:r>
                        <a:rPr dirty="0" sz="1450" spc="-90" i="1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-60" i="1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variable: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25400">
                    <a:solidFill>
                      <a:srgbClr val="EDEDED"/>
                    </a:solidFill>
                  </a:tcPr>
                </a:tc>
              </a:tr>
              <a:tr h="11906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3286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dirty="0" sz="145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y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8895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EDEDED"/>
                    </a:solidFill>
                  </a:tcPr>
                </a:tc>
              </a:tr>
              <a:tr h="11906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328612"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dirty="0" sz="1450" spc="1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lag1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8895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dirty="0" sz="1450" spc="3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0.733</a:t>
                      </a:r>
                      <a:r>
                        <a:rPr dirty="0" baseline="31746" sz="1575" spc="52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***</a:t>
                      </a:r>
                      <a:endParaRPr baseline="31746" sz="1575">
                        <a:latin typeface="Trebuchet MS"/>
                        <a:cs typeface="Trebuchet MS"/>
                      </a:endParaRPr>
                    </a:p>
                  </a:txBody>
                  <a:tcPr marL="0" marR="0" marB="0" marT="48895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EDEDED"/>
                    </a:solidFill>
                  </a:tcPr>
                </a:tc>
              </a:tr>
              <a:tr h="34289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dirty="0" sz="1450" spc="-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(0.049)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4450"/>
                </a:tc>
              </a:tr>
              <a:tr h="9524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EDEDED"/>
                    </a:solidFill>
                  </a:tcPr>
                </a:tc>
              </a:tr>
              <a:tr h="342899"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dirty="0" sz="1450" spc="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Constant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4450"/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dirty="0" sz="1450" spc="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-0.178</a:t>
                      </a:r>
                      <a:r>
                        <a:rPr dirty="0" baseline="26455" sz="1575" spc="7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**</a:t>
                      </a:r>
                      <a:endParaRPr baseline="26455" sz="1575">
                        <a:latin typeface="Trebuchet MS"/>
                        <a:cs typeface="Trebuchet MS"/>
                      </a:endParaRPr>
                    </a:p>
                  </a:txBody>
                  <a:tcPr marL="0" marR="0" marB="0" marT="44450"/>
                </a:tc>
              </a:tr>
              <a:tr h="30479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dirty="0" sz="1450" spc="-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(0.078)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25400">
                    <a:solidFill>
                      <a:srgbClr val="EDEDED"/>
                    </a:solidFill>
                  </a:tcPr>
                </a:tc>
              </a:tr>
              <a:tr h="133349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100012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347662"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dirty="0" sz="1450" spc="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Observations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8895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dirty="0" sz="1450" spc="4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199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8895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</a:tr>
              <a:tr h="304799">
                <a:tc>
                  <a:txBody>
                    <a:bodyPr/>
                    <a:lstStyle/>
                    <a:p>
                      <a:pPr marL="45085">
                        <a:lnSpc>
                          <a:spcPts val="1415"/>
                        </a:lnSpc>
                      </a:pPr>
                      <a:r>
                        <a:rPr dirty="0" baseline="-21072" sz="2175" spc="67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R</a:t>
                      </a:r>
                      <a:r>
                        <a:rPr dirty="0" sz="1050" spc="4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2</a:t>
                      </a:r>
                      <a:endParaRPr sz="1050">
                        <a:latin typeface="Trebuchet MS"/>
                        <a:cs typeface="Trebuchet MS"/>
                      </a:endParaRPr>
                    </a:p>
                  </a:txBody>
                  <a:tcPr marL="0" marR="0" marB="0" marT="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dirty="0" sz="1450" spc="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0.535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25400">
                    <a:solidFill>
                      <a:srgbClr val="EDEDED"/>
                    </a:solidFill>
                  </a:tcPr>
                </a:tc>
              </a:tr>
              <a:tr h="342899"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dirty="0" sz="1450" spc="-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Adjusted</a:t>
                      </a:r>
                      <a:r>
                        <a:rPr dirty="0" sz="1450" spc="-9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4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R</a:t>
                      </a:r>
                      <a:r>
                        <a:rPr dirty="0" baseline="26455" sz="1575" spc="67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2</a:t>
                      </a:r>
                      <a:endParaRPr baseline="26455" sz="1575">
                        <a:latin typeface="Trebuchet MS"/>
                        <a:cs typeface="Trebuchet MS"/>
                      </a:endParaRPr>
                    </a:p>
                  </a:txBody>
                  <a:tcPr marL="0" marR="0" marB="0" marT="44450"/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dirty="0" sz="1450" spc="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0.532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4450"/>
                </a:tc>
              </a:tr>
              <a:tr h="304799"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dirty="0" sz="1450" spc="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Residual </a:t>
                      </a:r>
                      <a:r>
                        <a:rPr dirty="0" sz="1450" spc="-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Std.</a:t>
                      </a:r>
                      <a:r>
                        <a:rPr dirty="0" sz="1450" spc="-204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-3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Error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2540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dirty="0" sz="1450" spc="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0.993 </a:t>
                      </a:r>
                      <a:r>
                        <a:rPr dirty="0" sz="1450" spc="-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(df </a:t>
                      </a:r>
                      <a:r>
                        <a:rPr dirty="0" sz="1450" spc="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=</a:t>
                      </a:r>
                      <a:r>
                        <a:rPr dirty="0" sz="1450" spc="-23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197)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25400">
                    <a:solidFill>
                      <a:srgbClr val="EDEDED"/>
                    </a:solidFill>
                  </a:tcPr>
                </a:tc>
              </a:tr>
              <a:tr h="342899"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dirty="0" sz="1450" spc="3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F</a:t>
                      </a:r>
                      <a:r>
                        <a:rPr dirty="0" sz="1450" spc="-8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-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Statistic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4450"/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dirty="0" sz="1450" spc="3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226.325</a:t>
                      </a:r>
                      <a:r>
                        <a:rPr dirty="0" baseline="26455" sz="1575" spc="52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*** </a:t>
                      </a:r>
                      <a:r>
                        <a:rPr dirty="0" sz="1450" spc="-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(df </a:t>
                      </a:r>
                      <a:r>
                        <a:rPr dirty="0" sz="1450" spc="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= </a:t>
                      </a:r>
                      <a:r>
                        <a:rPr dirty="0" sz="1450" spc="-9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1;</a:t>
                      </a:r>
                      <a:r>
                        <a:rPr dirty="0" sz="1450" spc="-26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197)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4450"/>
                </a:tc>
              </a:tr>
              <a:tr h="100012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279385">
                <a:tc>
                  <a:txBody>
                    <a:bodyPr/>
                    <a:lstStyle/>
                    <a:p>
                      <a:pPr marL="45085">
                        <a:lnSpc>
                          <a:spcPts val="1710"/>
                        </a:lnSpc>
                        <a:spcBef>
                          <a:spcPts val="385"/>
                        </a:spcBef>
                      </a:pPr>
                      <a:r>
                        <a:rPr dirty="0" sz="1450" spc="-40" i="1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Note: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8895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ts val="1710"/>
                        </a:lnSpc>
                        <a:spcBef>
                          <a:spcPts val="385"/>
                        </a:spcBef>
                      </a:pPr>
                      <a:r>
                        <a:rPr dirty="0" baseline="26455" sz="1575" spc="-52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*</a:t>
                      </a:r>
                      <a:r>
                        <a:rPr dirty="0" sz="1450" spc="-3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p&lt;0.1; </a:t>
                      </a:r>
                      <a:r>
                        <a:rPr dirty="0" baseline="26455" sz="1575" spc="-22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**</a:t>
                      </a:r>
                      <a:r>
                        <a:rPr dirty="0" sz="1450" spc="-1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p&lt;0.05;</a:t>
                      </a:r>
                      <a:r>
                        <a:rPr dirty="0" sz="1450" spc="-14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baseline="26455" sz="1575" spc="3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***</a:t>
                      </a:r>
                      <a:r>
                        <a:rPr dirty="0" sz="1450" spc="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p&lt;0.01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8895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</a:tr>
            </a:tbl>
          </a:graphicData>
        </a:graphic>
      </p:graphicFrame>
      <p:sp>
        <p:nvSpPr>
          <p:cNvPr id="9" name="object 9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23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916686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90">
                <a:solidFill>
                  <a:srgbClr val="C2132D"/>
                </a:solidFill>
              </a:rPr>
              <a:t>Simulation: </a:t>
            </a:r>
            <a:r>
              <a:rPr dirty="0" sz="3350" spc="-215">
                <a:solidFill>
                  <a:srgbClr val="C2132D"/>
                </a:solidFill>
              </a:rPr>
              <a:t>The </a:t>
            </a:r>
            <a:r>
              <a:rPr dirty="0" sz="3350" spc="-190">
                <a:solidFill>
                  <a:srgbClr val="C2132D"/>
                </a:solidFill>
              </a:rPr>
              <a:t>Linear </a:t>
            </a:r>
            <a:r>
              <a:rPr dirty="0" sz="3350" spc="-110">
                <a:solidFill>
                  <a:srgbClr val="C2132D"/>
                </a:solidFill>
              </a:rPr>
              <a:t>Regression </a:t>
            </a:r>
            <a:r>
              <a:rPr dirty="0" sz="3350" spc="-120">
                <a:solidFill>
                  <a:srgbClr val="C2132D"/>
                </a:solidFill>
              </a:rPr>
              <a:t>Model </a:t>
            </a:r>
            <a:r>
              <a:rPr dirty="0" sz="3350" spc="-180">
                <a:solidFill>
                  <a:srgbClr val="C2132D"/>
                </a:solidFill>
              </a:rPr>
              <a:t>(Per</a:t>
            </a:r>
            <a:r>
              <a:rPr dirty="0" sz="3350" spc="-680">
                <a:solidFill>
                  <a:srgbClr val="C2132D"/>
                </a:solidFill>
              </a:rPr>
              <a:t> </a:t>
            </a:r>
            <a:r>
              <a:rPr dirty="0" sz="3350" spc="-60">
                <a:solidFill>
                  <a:srgbClr val="C2132D"/>
                </a:solidFill>
              </a:rPr>
              <a:t>ISA291)</a:t>
            </a:r>
            <a:endParaRPr sz="3350"/>
          </a:p>
        </p:txBody>
      </p:sp>
      <p:sp>
        <p:nvSpPr>
          <p:cNvPr id="8" name="object 8"/>
          <p:cNvSpPr txBox="1"/>
          <p:nvPr/>
        </p:nvSpPr>
        <p:spPr>
          <a:xfrm>
            <a:off x="914400" y="1619250"/>
            <a:ext cx="4657725" cy="1104900"/>
          </a:xfrm>
          <a:prstGeom prst="rect">
            <a:avLst/>
          </a:prstGeom>
          <a:solidFill>
            <a:srgbClr val="F7F7F7"/>
          </a:solidFill>
        </p:spPr>
        <p:txBody>
          <a:bodyPr wrap="square" lIns="0" tIns="80010" rIns="0" bIns="0" rtlCol="0" vert="horz">
            <a:spAutoFit/>
          </a:bodyPr>
          <a:lstStyle/>
          <a:p>
            <a:pPr marL="86360" marR="2145030">
              <a:lnSpc>
                <a:spcPct val="93800"/>
              </a:lnSpc>
              <a:spcBef>
                <a:spcPts val="630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df = data.frame(y = y)  df$lag1 = dplyr::lag(df$y,</a:t>
            </a:r>
            <a:r>
              <a:rPr dirty="0" sz="1100" spc="-7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008080"/>
                </a:solidFill>
                <a:latin typeface="Courier New"/>
                <a:cs typeface="Courier New"/>
              </a:rPr>
              <a:t>1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  df_reg =</a:t>
            </a:r>
            <a:r>
              <a:rPr dirty="0" sz="1100" spc="-2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na.omit(df)</a:t>
            </a:r>
            <a:endParaRPr sz="1100">
              <a:latin typeface="Courier New"/>
              <a:cs typeface="Courier New"/>
            </a:endParaRPr>
          </a:p>
          <a:p>
            <a:pPr marL="86360" marR="810895">
              <a:lnSpc>
                <a:spcPts val="1200"/>
              </a:lnSpc>
              <a:spcBef>
                <a:spcPts val="1220"/>
              </a:spcBef>
            </a:pP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lm_model = lm(y ~ lag1, data = df_reg)  stargazer::stargazer(lm_model, type =</a:t>
            </a:r>
            <a:r>
              <a:rPr dirty="0" sz="1100" spc="-4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100" spc="-5">
                <a:solidFill>
                  <a:srgbClr val="DD1144"/>
                </a:solidFill>
                <a:latin typeface="Courier New"/>
                <a:cs typeface="Courier New"/>
              </a:rPr>
              <a:t>'html'</a:t>
            </a:r>
            <a:r>
              <a:rPr dirty="0" sz="1100" spc="-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1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52318" y="3271900"/>
            <a:ext cx="4669155" cy="777875"/>
          </a:xfrm>
          <a:prstGeom prst="rect">
            <a:avLst/>
          </a:prstGeom>
        </p:spPr>
        <p:txBody>
          <a:bodyPr wrap="square" lIns="0" tIns="8255" rIns="0" bIns="0" rtlCol="0" vert="horz">
            <a:spAutoFit/>
          </a:bodyPr>
          <a:lstStyle/>
          <a:p>
            <a:pPr algn="ctr" marL="12065" marR="5080">
              <a:lnSpc>
                <a:spcPct val="114199"/>
              </a:lnSpc>
              <a:spcBef>
                <a:spcPts val="65"/>
              </a:spcBef>
            </a:pPr>
            <a:r>
              <a:rPr dirty="0" sz="1450" spc="-35" b="1">
                <a:latin typeface="Trebuchet MS"/>
                <a:cs typeface="Trebuchet MS"/>
              </a:rPr>
              <a:t>The </a:t>
            </a:r>
            <a:r>
              <a:rPr dirty="0" sz="1450" b="1">
                <a:latin typeface="Trebuchet MS"/>
                <a:cs typeface="Trebuchet MS"/>
              </a:rPr>
              <a:t>AR(1) </a:t>
            </a:r>
            <a:r>
              <a:rPr dirty="0" sz="1450" spc="-30" b="1">
                <a:latin typeface="Trebuchet MS"/>
                <a:cs typeface="Trebuchet MS"/>
              </a:rPr>
              <a:t>and </a:t>
            </a:r>
            <a:r>
              <a:rPr dirty="0" sz="1450" spc="-70" b="1">
                <a:latin typeface="Trebuchet MS"/>
                <a:cs typeface="Trebuchet MS"/>
              </a:rPr>
              <a:t>the </a:t>
            </a:r>
            <a:r>
              <a:rPr dirty="0" sz="1450" spc="-50" b="1">
                <a:latin typeface="Trebuchet MS"/>
                <a:cs typeface="Trebuchet MS"/>
              </a:rPr>
              <a:t>linear </a:t>
            </a:r>
            <a:r>
              <a:rPr dirty="0" sz="1450" spc="-15" b="1">
                <a:latin typeface="Trebuchet MS"/>
                <a:cs typeface="Trebuchet MS"/>
              </a:rPr>
              <a:t>regression </a:t>
            </a:r>
            <a:r>
              <a:rPr dirty="0" sz="1450" spc="-30" b="1">
                <a:latin typeface="Trebuchet MS"/>
                <a:cs typeface="Trebuchet MS"/>
              </a:rPr>
              <a:t>model </a:t>
            </a:r>
            <a:r>
              <a:rPr dirty="0" sz="1450" spc="-55" b="1">
                <a:latin typeface="Trebuchet MS"/>
                <a:cs typeface="Trebuchet MS"/>
              </a:rPr>
              <a:t>are </a:t>
            </a:r>
            <a:r>
              <a:rPr dirty="0" sz="1450" spc="-60" b="1">
                <a:latin typeface="Trebuchet MS"/>
                <a:cs typeface="Trebuchet MS"/>
              </a:rPr>
              <a:t>quite  </a:t>
            </a:r>
            <a:r>
              <a:rPr dirty="0" sz="1450" spc="-55" b="1">
                <a:latin typeface="Trebuchet MS"/>
                <a:cs typeface="Trebuchet MS"/>
              </a:rPr>
              <a:t>similar,</a:t>
            </a:r>
            <a:r>
              <a:rPr dirty="0" sz="1450" spc="-80" b="1">
                <a:latin typeface="Trebuchet MS"/>
                <a:cs typeface="Trebuchet MS"/>
              </a:rPr>
              <a:t> </a:t>
            </a:r>
            <a:r>
              <a:rPr dirty="0" sz="1450" spc="-60" b="1">
                <a:latin typeface="Trebuchet MS"/>
                <a:cs typeface="Trebuchet MS"/>
              </a:rPr>
              <a:t>but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55" b="1">
                <a:latin typeface="Trebuchet MS"/>
                <a:cs typeface="Trebuchet MS"/>
              </a:rPr>
              <a:t>are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50" b="1">
                <a:latin typeface="Trebuchet MS"/>
                <a:cs typeface="Trebuchet MS"/>
              </a:rPr>
              <a:t>not</a:t>
            </a:r>
            <a:r>
              <a:rPr dirty="0" sz="1450" spc="-80" b="1">
                <a:latin typeface="Trebuchet MS"/>
                <a:cs typeface="Trebuchet MS"/>
              </a:rPr>
              <a:t> </a:t>
            </a:r>
            <a:r>
              <a:rPr dirty="0" sz="1450" spc="-45" b="1">
                <a:latin typeface="Trebuchet MS"/>
                <a:cs typeface="Trebuchet MS"/>
              </a:rPr>
              <a:t>identical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55" b="1">
                <a:latin typeface="Trebuchet MS"/>
                <a:cs typeface="Trebuchet MS"/>
              </a:rPr>
              <a:t>in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20" b="1">
                <a:latin typeface="Trebuchet MS"/>
                <a:cs typeface="Trebuchet MS"/>
              </a:rPr>
              <a:t>this</a:t>
            </a:r>
            <a:r>
              <a:rPr dirty="0" sz="1450" spc="-80" b="1">
                <a:latin typeface="Trebuchet MS"/>
                <a:cs typeface="Trebuchet MS"/>
              </a:rPr>
              <a:t> </a:t>
            </a:r>
            <a:r>
              <a:rPr dirty="0" sz="1450" spc="-10" b="1">
                <a:latin typeface="Trebuchet MS"/>
                <a:cs typeface="Trebuchet MS"/>
              </a:rPr>
              <a:t>case.</a:t>
            </a:r>
            <a:r>
              <a:rPr dirty="0" sz="1450" spc="-114" b="1">
                <a:latin typeface="Trebuchet MS"/>
                <a:cs typeface="Trebuchet MS"/>
              </a:rPr>
              <a:t> </a:t>
            </a:r>
            <a:r>
              <a:rPr dirty="0" sz="1450" spc="-35" b="1">
                <a:latin typeface="Trebuchet MS"/>
                <a:cs typeface="Trebuchet MS"/>
              </a:rPr>
              <a:t>The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35" b="1">
                <a:latin typeface="Trebuchet MS"/>
                <a:cs typeface="Trebuchet MS"/>
              </a:rPr>
              <a:t>differences  </a:t>
            </a:r>
            <a:r>
              <a:rPr dirty="0" sz="1450" spc="-20" b="1">
                <a:latin typeface="Trebuchet MS"/>
                <a:cs typeface="Trebuchet MS"/>
              </a:rPr>
              <a:t>arise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40" b="1">
                <a:latin typeface="Trebuchet MS"/>
                <a:cs typeface="Trebuchet MS"/>
              </a:rPr>
              <a:t>from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70" b="1">
                <a:latin typeface="Trebuchet MS"/>
                <a:cs typeface="Trebuchet MS"/>
              </a:rPr>
              <a:t>the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30" b="1">
                <a:latin typeface="Trebuchet MS"/>
                <a:cs typeface="Trebuchet MS"/>
              </a:rPr>
              <a:t>estimation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20" b="1">
                <a:latin typeface="Trebuchet MS"/>
                <a:cs typeface="Trebuchet MS"/>
              </a:rPr>
              <a:t>methods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10" b="1">
                <a:latin typeface="Trebuchet MS"/>
                <a:cs typeface="Trebuchet MS"/>
              </a:rPr>
              <a:t>used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55" b="1">
                <a:latin typeface="Trebuchet MS"/>
                <a:cs typeface="Trebuchet MS"/>
              </a:rPr>
              <a:t>in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30" b="1">
                <a:latin typeface="Trebuchet MS"/>
                <a:cs typeface="Trebuchet MS"/>
              </a:rPr>
              <a:t>each</a:t>
            </a:r>
            <a:r>
              <a:rPr dirty="0" sz="1450" spc="-75" b="1">
                <a:latin typeface="Trebuchet MS"/>
                <a:cs typeface="Trebuchet MS"/>
              </a:rPr>
              <a:t> </a:t>
            </a:r>
            <a:r>
              <a:rPr dirty="0" sz="1450" spc="-45" b="1">
                <a:latin typeface="Trebuchet MS"/>
                <a:cs typeface="Trebuchet MS"/>
              </a:rPr>
              <a:t>model.</a:t>
            </a:r>
            <a:endParaRPr sz="145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20395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90">
                <a:solidFill>
                  <a:srgbClr val="C2132D"/>
                </a:solidFill>
              </a:rPr>
              <a:t>Simulation: </a:t>
            </a:r>
            <a:r>
              <a:rPr dirty="0" sz="3350" spc="-215">
                <a:solidFill>
                  <a:srgbClr val="C2132D"/>
                </a:solidFill>
              </a:rPr>
              <a:t>The </a:t>
            </a:r>
            <a:r>
              <a:rPr dirty="0" sz="3350" spc="-125">
                <a:solidFill>
                  <a:srgbClr val="C2132D"/>
                </a:solidFill>
              </a:rPr>
              <a:t>AR(1) </a:t>
            </a:r>
            <a:r>
              <a:rPr dirty="0" sz="3350" spc="-120">
                <a:solidFill>
                  <a:srgbClr val="C2132D"/>
                </a:solidFill>
              </a:rPr>
              <a:t>Model</a:t>
            </a:r>
            <a:r>
              <a:rPr dirty="0" sz="3350" spc="-505">
                <a:solidFill>
                  <a:srgbClr val="C2132D"/>
                </a:solidFill>
              </a:rPr>
              <a:t> </a:t>
            </a:r>
            <a:r>
              <a:rPr dirty="0" sz="3350" spc="-114">
                <a:solidFill>
                  <a:srgbClr val="C2132D"/>
                </a:solidFill>
              </a:rPr>
              <a:t>Results</a:t>
            </a:r>
            <a:endParaRPr sz="3350"/>
          </a:p>
        </p:txBody>
      </p:sp>
      <p:sp>
        <p:nvSpPr>
          <p:cNvPr id="4" name="object 4"/>
          <p:cNvSpPr/>
          <p:nvPr/>
        </p:nvSpPr>
        <p:spPr>
          <a:xfrm>
            <a:off x="914400" y="5886449"/>
            <a:ext cx="171450" cy="142875"/>
          </a:xfrm>
          <a:custGeom>
            <a:avLst/>
            <a:gdLst/>
            <a:ahLst/>
            <a:cxnLst/>
            <a:rect l="l" t="t" r="r" b="b"/>
            <a:pathLst>
              <a:path w="171450" h="142875">
                <a:moveTo>
                  <a:pt x="0" y="0"/>
                </a:moveTo>
                <a:lnTo>
                  <a:pt x="171449" y="0"/>
                </a:lnTo>
                <a:lnTo>
                  <a:pt x="171449" y="142874"/>
                </a:lnTo>
                <a:lnTo>
                  <a:pt x="0" y="142874"/>
                </a:lnTo>
                <a:lnTo>
                  <a:pt x="0" y="0"/>
                </a:lnTo>
                <a:close/>
              </a:path>
            </a:pathLst>
          </a:custGeom>
          <a:solidFill>
            <a:srgbClr val="FBFB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947737" y="5902324"/>
            <a:ext cx="98425" cy="1282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650" spc="25">
                <a:solidFill>
                  <a:srgbClr val="8B8B8B"/>
                </a:solidFill>
                <a:latin typeface="Segoe Fluent Icons"/>
                <a:cs typeface="Segoe Fluent Icons"/>
              </a:rPr>
              <a:t></a:t>
            </a:r>
            <a:endParaRPr sz="650">
              <a:latin typeface="Segoe Fluent Icons"/>
              <a:cs typeface="Segoe Fluent Icon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400674" y="5886449"/>
            <a:ext cx="171450" cy="142875"/>
          </a:xfrm>
          <a:custGeom>
            <a:avLst/>
            <a:gdLst/>
            <a:ahLst/>
            <a:cxnLst/>
            <a:rect l="l" t="t" r="r" b="b"/>
            <a:pathLst>
              <a:path w="171450" h="142875">
                <a:moveTo>
                  <a:pt x="0" y="0"/>
                </a:moveTo>
                <a:lnTo>
                  <a:pt x="171449" y="0"/>
                </a:lnTo>
                <a:lnTo>
                  <a:pt x="171449" y="142874"/>
                </a:lnTo>
                <a:lnTo>
                  <a:pt x="0" y="142874"/>
                </a:lnTo>
                <a:lnTo>
                  <a:pt x="0" y="0"/>
                </a:lnTo>
                <a:close/>
              </a:path>
            </a:pathLst>
          </a:custGeom>
          <a:solidFill>
            <a:srgbClr val="FBFB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5453062" y="5902324"/>
            <a:ext cx="98425" cy="1282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650" spc="25">
                <a:solidFill>
                  <a:srgbClr val="8B8B8B"/>
                </a:solidFill>
                <a:latin typeface="Segoe Fluent Icons"/>
                <a:cs typeface="Segoe Fluent Icons"/>
              </a:rPr>
              <a:t></a:t>
            </a:r>
            <a:endParaRPr sz="650">
              <a:latin typeface="Segoe Fluent Icons"/>
              <a:cs typeface="Segoe Fluent Icon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085850" y="5886449"/>
            <a:ext cx="4314825" cy="142875"/>
          </a:xfrm>
          <a:custGeom>
            <a:avLst/>
            <a:gdLst/>
            <a:ahLst/>
            <a:cxnLst/>
            <a:rect l="l" t="t" r="r" b="b"/>
            <a:pathLst>
              <a:path w="4314825" h="142875">
                <a:moveTo>
                  <a:pt x="0" y="0"/>
                </a:moveTo>
                <a:lnTo>
                  <a:pt x="4314824" y="0"/>
                </a:lnTo>
                <a:lnTo>
                  <a:pt x="4314824" y="142874"/>
                </a:lnTo>
                <a:lnTo>
                  <a:pt x="0" y="142874"/>
                </a:lnTo>
                <a:lnTo>
                  <a:pt x="0" y="0"/>
                </a:lnTo>
                <a:close/>
              </a:path>
            </a:pathLst>
          </a:custGeom>
          <a:solidFill>
            <a:srgbClr val="FBFB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1085849" y="5915024"/>
            <a:ext cx="3648075" cy="85725"/>
          </a:xfrm>
          <a:custGeom>
            <a:avLst/>
            <a:gdLst/>
            <a:ahLst/>
            <a:cxnLst/>
            <a:rect l="l" t="t" r="r" b="b"/>
            <a:pathLst>
              <a:path w="3648075" h="85725">
                <a:moveTo>
                  <a:pt x="3610896" y="85724"/>
                </a:moveTo>
                <a:lnTo>
                  <a:pt x="37178" y="85724"/>
                </a:lnTo>
                <a:lnTo>
                  <a:pt x="31710" y="84636"/>
                </a:lnTo>
                <a:lnTo>
                  <a:pt x="1087" y="54013"/>
                </a:lnTo>
                <a:lnTo>
                  <a:pt x="0" y="48546"/>
                </a:lnTo>
                <a:lnTo>
                  <a:pt x="0" y="37178"/>
                </a:lnTo>
                <a:lnTo>
                  <a:pt x="21208" y="5437"/>
                </a:lnTo>
                <a:lnTo>
                  <a:pt x="37178" y="0"/>
                </a:lnTo>
                <a:lnTo>
                  <a:pt x="3610896" y="0"/>
                </a:lnTo>
                <a:lnTo>
                  <a:pt x="3642636" y="21207"/>
                </a:lnTo>
                <a:lnTo>
                  <a:pt x="3648074" y="37178"/>
                </a:lnTo>
                <a:lnTo>
                  <a:pt x="3648074" y="48546"/>
                </a:lnTo>
                <a:lnTo>
                  <a:pt x="3626865" y="80286"/>
                </a:lnTo>
                <a:lnTo>
                  <a:pt x="3610896" y="85724"/>
                </a:lnTo>
                <a:close/>
              </a:path>
            </a:pathLst>
          </a:custGeom>
          <a:solidFill>
            <a:srgbClr val="8B8B8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914400" y="1619249"/>
            <a:ext cx="4657725" cy="4267200"/>
          </a:xfrm>
          <a:custGeom>
            <a:avLst/>
            <a:gdLst/>
            <a:ahLst/>
            <a:cxnLst/>
            <a:rect l="l" t="t" r="r" b="b"/>
            <a:pathLst>
              <a:path w="4657725" h="4267200">
                <a:moveTo>
                  <a:pt x="0" y="0"/>
                </a:moveTo>
                <a:lnTo>
                  <a:pt x="4657724" y="0"/>
                </a:lnTo>
                <a:lnTo>
                  <a:pt x="4657724" y="4267199"/>
                </a:lnTo>
                <a:lnTo>
                  <a:pt x="0" y="4267199"/>
                </a:lnTo>
                <a:lnTo>
                  <a:pt x="0" y="0"/>
                </a:lnTo>
                <a:close/>
              </a:path>
            </a:pathLst>
          </a:custGeom>
          <a:solidFill>
            <a:srgbClr val="F7F7F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>
            <a:spLocks noGrp="1"/>
          </p:cNvSpPr>
          <p:nvPr>
            <p:ph idx="2" sz="half"/>
          </p:nvPr>
        </p:nvSpPr>
        <p:spPr>
          <a:prstGeom prst="rect"/>
        </p:spPr>
        <p:txBody>
          <a:bodyPr wrap="square" lIns="0" tIns="22225" rIns="0" bIns="0" rtlCol="0" vert="horz">
            <a:spAutoFit/>
          </a:bodyPr>
          <a:lstStyle/>
          <a:p>
            <a:pPr marR="1326515">
              <a:lnSpc>
                <a:spcPct val="93800"/>
              </a:lnSpc>
              <a:spcBef>
                <a:spcPts val="175"/>
              </a:spcBef>
            </a:pPr>
            <a:r>
              <a:rPr dirty="0" spc="-5" b="1">
                <a:latin typeface="Courier New"/>
                <a:cs typeface="Courier New"/>
              </a:rPr>
              <a:t>from </a:t>
            </a:r>
            <a:r>
              <a:rPr dirty="0" spc="-5"/>
              <a:t>statsforecast.models </a:t>
            </a:r>
            <a:r>
              <a:rPr dirty="0" spc="-5" b="1">
                <a:latin typeface="Courier New"/>
                <a:cs typeface="Courier New"/>
              </a:rPr>
              <a:t>import </a:t>
            </a:r>
            <a:r>
              <a:rPr dirty="0" spc="-5"/>
              <a:t>ARIMA  </a:t>
            </a:r>
            <a:r>
              <a:rPr dirty="0" spc="-5" b="1">
                <a:latin typeface="Courier New"/>
                <a:cs typeface="Courier New"/>
              </a:rPr>
              <a:t>from </a:t>
            </a:r>
            <a:r>
              <a:rPr dirty="0" spc="-5"/>
              <a:t>statsforecast </a:t>
            </a:r>
            <a:r>
              <a:rPr dirty="0" spc="-5" b="1">
                <a:latin typeface="Courier New"/>
                <a:cs typeface="Courier New"/>
              </a:rPr>
              <a:t>import</a:t>
            </a:r>
            <a:r>
              <a:rPr dirty="0" spc="-55" b="1">
                <a:latin typeface="Courier New"/>
                <a:cs typeface="Courier New"/>
              </a:rPr>
              <a:t> </a:t>
            </a:r>
            <a:r>
              <a:rPr dirty="0" spc="-5"/>
              <a:t>StatsForecast  df =</a:t>
            </a:r>
            <a:r>
              <a:rPr dirty="0" spc="-15"/>
              <a:t> </a:t>
            </a:r>
            <a:r>
              <a:rPr dirty="0" spc="-5"/>
              <a:t>(</a:t>
            </a:r>
          </a:p>
          <a:p>
            <a:pPr marL="166370">
              <a:lnSpc>
                <a:spcPts val="1255"/>
              </a:lnSpc>
            </a:pPr>
            <a:r>
              <a:rPr dirty="0" spc="-5"/>
              <a:t>pd.read_csv(</a:t>
            </a:r>
            <a:r>
              <a:rPr dirty="0" spc="-5">
                <a:solidFill>
                  <a:srgbClr val="DD1144"/>
                </a:solidFill>
              </a:rPr>
              <a:t>'../../data/ar1_simulation.csv'</a:t>
            </a:r>
            <a:r>
              <a:rPr dirty="0" spc="-5"/>
              <a:t>)</a:t>
            </a:r>
          </a:p>
          <a:p>
            <a:pPr marL="166370">
              <a:lnSpc>
                <a:spcPts val="1275"/>
              </a:lnSpc>
            </a:pPr>
            <a:r>
              <a:rPr dirty="0" spc="-5"/>
              <a:t>.assign(</a:t>
            </a:r>
          </a:p>
          <a:p>
            <a:pPr marL="333375">
              <a:lnSpc>
                <a:spcPts val="1240"/>
              </a:lnSpc>
            </a:pPr>
            <a:r>
              <a:rPr dirty="0" spc="-5"/>
              <a:t>unique_id =</a:t>
            </a:r>
            <a:r>
              <a:rPr dirty="0" spc="-15"/>
              <a:t> </a:t>
            </a:r>
            <a:r>
              <a:rPr dirty="0" spc="-5">
                <a:solidFill>
                  <a:srgbClr val="DD1144"/>
                </a:solidFill>
              </a:rPr>
              <a:t>'simulated_data'</a:t>
            </a:r>
            <a:r>
              <a:rPr dirty="0" spc="-5"/>
              <a:t>,</a:t>
            </a:r>
          </a:p>
          <a:p>
            <a:pPr marL="333375">
              <a:lnSpc>
                <a:spcPts val="1240"/>
              </a:lnSpc>
            </a:pPr>
            <a:r>
              <a:rPr dirty="0" spc="-5"/>
              <a:t>ds = pd.date_range(start=</a:t>
            </a:r>
            <a:r>
              <a:rPr dirty="0" spc="-5">
                <a:solidFill>
                  <a:srgbClr val="DD1144"/>
                </a:solidFill>
              </a:rPr>
              <a:t>'2024-01-01'</a:t>
            </a:r>
            <a:r>
              <a:rPr dirty="0" spc="-5"/>
              <a:t>,</a:t>
            </a:r>
            <a:r>
              <a:rPr dirty="0" spc="-40"/>
              <a:t> </a:t>
            </a:r>
            <a:r>
              <a:rPr dirty="0" spc="-5"/>
              <a:t>periods=</a:t>
            </a:r>
            <a:r>
              <a:rPr dirty="0" spc="-5">
                <a:solidFill>
                  <a:srgbClr val="008080"/>
                </a:solidFill>
              </a:rPr>
              <a:t>200</a:t>
            </a:r>
            <a:r>
              <a:rPr dirty="0" spc="-5"/>
              <a:t>,</a:t>
            </a:r>
          </a:p>
          <a:p>
            <a:pPr marL="166370">
              <a:lnSpc>
                <a:spcPts val="1275"/>
              </a:lnSpc>
            </a:pPr>
            <a:r>
              <a:rPr dirty="0" spc="-5"/>
              <a:t>)</a:t>
            </a:r>
          </a:p>
          <a:p>
            <a:pPr>
              <a:lnSpc>
                <a:spcPts val="1295"/>
              </a:lnSpc>
            </a:pPr>
            <a:r>
              <a:rPr dirty="0" spc="-5"/>
              <a:t>)</a:t>
            </a:r>
          </a:p>
          <a:p>
            <a:pPr marL="166370" indent="-167005">
              <a:lnSpc>
                <a:spcPts val="1295"/>
              </a:lnSpc>
              <a:spcBef>
                <a:spcPts val="1005"/>
              </a:spcBef>
              <a:buChar char="❖"/>
              <a:tabLst>
                <a:tab pos="167005" algn="l"/>
              </a:tabLst>
            </a:pPr>
            <a:r>
              <a:rPr dirty="0" spc="-5" i="1">
                <a:solidFill>
                  <a:srgbClr val="999987"/>
                </a:solidFill>
                <a:latin typeface="Courier New"/>
                <a:cs typeface="Courier New"/>
              </a:rPr>
              <a:t>typical statforecast</a:t>
            </a:r>
            <a:r>
              <a:rPr dirty="0" spc="-70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pc="-5" i="1">
                <a:solidFill>
                  <a:srgbClr val="999987"/>
                </a:solidFill>
                <a:latin typeface="Courier New"/>
                <a:cs typeface="Courier New"/>
              </a:rPr>
              <a:t>workflow</a:t>
            </a:r>
          </a:p>
          <a:p>
            <a:pPr>
              <a:lnSpc>
                <a:spcPts val="1275"/>
              </a:lnSpc>
            </a:pPr>
            <a:r>
              <a:rPr dirty="0" spc="-5"/>
              <a:t>models =</a:t>
            </a:r>
            <a:r>
              <a:rPr dirty="0" spc="-65"/>
              <a:t> </a:t>
            </a:r>
            <a:r>
              <a:rPr dirty="0" spc="-5"/>
              <a:t>[ARIMA(order=(</a:t>
            </a:r>
            <a:r>
              <a:rPr dirty="0" spc="-5">
                <a:solidFill>
                  <a:srgbClr val="008080"/>
                </a:solidFill>
              </a:rPr>
              <a:t>1</a:t>
            </a:r>
            <a:r>
              <a:rPr dirty="0" spc="-5"/>
              <a:t>,</a:t>
            </a:r>
            <a:r>
              <a:rPr dirty="0" spc="-5">
                <a:solidFill>
                  <a:srgbClr val="008080"/>
                </a:solidFill>
              </a:rPr>
              <a:t>0</a:t>
            </a:r>
            <a:r>
              <a:rPr dirty="0" spc="-5"/>
              <a:t>,</a:t>
            </a:r>
            <a:r>
              <a:rPr dirty="0" spc="-5">
                <a:solidFill>
                  <a:srgbClr val="008080"/>
                </a:solidFill>
              </a:rPr>
              <a:t>0</a:t>
            </a:r>
            <a:r>
              <a:rPr dirty="0" spc="-5"/>
              <a:t>))]</a:t>
            </a:r>
          </a:p>
          <a:p>
            <a:pPr marR="993140">
              <a:lnSpc>
                <a:spcPts val="1280"/>
              </a:lnSpc>
              <a:spcBef>
                <a:spcPts val="55"/>
              </a:spcBef>
            </a:pPr>
            <a:r>
              <a:rPr dirty="0" spc="-5"/>
              <a:t>sf = StatsForecast(models=models,</a:t>
            </a:r>
            <a:r>
              <a:rPr dirty="0" spc="-50"/>
              <a:t> </a:t>
            </a:r>
            <a:r>
              <a:rPr dirty="0" spc="-5"/>
              <a:t>freq=</a:t>
            </a:r>
            <a:r>
              <a:rPr dirty="0" spc="-5">
                <a:solidFill>
                  <a:srgbClr val="DD1144"/>
                </a:solidFill>
              </a:rPr>
              <a:t>'D'</a:t>
            </a:r>
            <a:r>
              <a:rPr dirty="0" spc="-5"/>
              <a:t>)  sf.fit(df)</a:t>
            </a:r>
          </a:p>
          <a:p>
            <a:pPr marL="166370" indent="-167005">
              <a:lnSpc>
                <a:spcPts val="1295"/>
              </a:lnSpc>
              <a:spcBef>
                <a:spcPts val="960"/>
              </a:spcBef>
              <a:buChar char="❖"/>
              <a:tabLst>
                <a:tab pos="167005" algn="l"/>
              </a:tabLst>
            </a:pPr>
            <a:r>
              <a:rPr dirty="0" spc="-5" i="1">
                <a:solidFill>
                  <a:srgbClr val="999987"/>
                </a:solidFill>
                <a:latin typeface="Courier New"/>
                <a:cs typeface="Courier New"/>
              </a:rPr>
              <a:t>getting the model</a:t>
            </a:r>
            <a:r>
              <a:rPr dirty="0" spc="-15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pc="-5" i="1">
                <a:solidFill>
                  <a:srgbClr val="999987"/>
                </a:solidFill>
                <a:latin typeface="Courier New"/>
                <a:cs typeface="Courier New"/>
              </a:rPr>
              <a:t>coefficients</a:t>
            </a:r>
          </a:p>
          <a:p>
            <a:pPr marR="492125">
              <a:lnSpc>
                <a:spcPct val="93800"/>
              </a:lnSpc>
              <a:spcBef>
                <a:spcPts val="60"/>
              </a:spcBef>
              <a:buChar char="❖"/>
              <a:tabLst>
                <a:tab pos="167005" algn="l"/>
              </a:tabLst>
            </a:pPr>
            <a:r>
              <a:rPr dirty="0" spc="-5" i="1">
                <a:solidFill>
                  <a:srgbClr val="999987"/>
                </a:solidFill>
                <a:latin typeface="Courier New"/>
                <a:cs typeface="Courier New"/>
              </a:rPr>
              <a:t>first 0 is for unique_id (only 1 unique_id) </a:t>
            </a:r>
            <a:r>
              <a:rPr dirty="0" spc="-160" i="1">
                <a:solidFill>
                  <a:srgbClr val="999987"/>
                </a:solidFill>
                <a:latin typeface="Courier New"/>
                <a:cs typeface="Courier New"/>
              </a:rPr>
              <a:t>and  </a:t>
            </a:r>
            <a:r>
              <a:rPr dirty="0" spc="-5" i="1">
                <a:solidFill>
                  <a:srgbClr val="999987"/>
                </a:solidFill>
                <a:latin typeface="Courier New"/>
                <a:cs typeface="Courier New"/>
              </a:rPr>
              <a:t># second 0 is for the ARIMA model (only 1 model) </a:t>
            </a:r>
            <a:r>
              <a:rPr dirty="0" spc="-5" i="1">
                <a:latin typeface="Courier New"/>
                <a:cs typeface="Courier New"/>
              </a:rPr>
              <a:t> </a:t>
            </a:r>
            <a:r>
              <a:rPr dirty="0" spc="-5"/>
              <a:t>phi1 =</a:t>
            </a:r>
            <a:r>
              <a:rPr dirty="0" spc="-40"/>
              <a:t> </a:t>
            </a:r>
            <a:r>
              <a:rPr dirty="0" spc="-5"/>
              <a:t>sf.fitted_[</a:t>
            </a:r>
            <a:r>
              <a:rPr dirty="0" spc="-5">
                <a:solidFill>
                  <a:srgbClr val="008080"/>
                </a:solidFill>
              </a:rPr>
              <a:t>0</a:t>
            </a:r>
            <a:r>
              <a:rPr dirty="0" spc="-5"/>
              <a:t>][</a:t>
            </a:r>
            <a:r>
              <a:rPr dirty="0" spc="-5">
                <a:solidFill>
                  <a:srgbClr val="008080"/>
                </a:solidFill>
              </a:rPr>
              <a:t>0</a:t>
            </a:r>
            <a:r>
              <a:rPr dirty="0" spc="-5"/>
              <a:t>].model_.get(</a:t>
            </a:r>
            <a:r>
              <a:rPr dirty="0" spc="-5">
                <a:solidFill>
                  <a:srgbClr val="DD1144"/>
                </a:solidFill>
              </a:rPr>
              <a:t>'coef'</a:t>
            </a:r>
            <a:r>
              <a:rPr dirty="0" spc="-5"/>
              <a:t>)[</a:t>
            </a:r>
            <a:r>
              <a:rPr dirty="0" spc="-5">
                <a:solidFill>
                  <a:srgbClr val="DD1144"/>
                </a:solidFill>
              </a:rPr>
              <a:t>'ar1'</a:t>
            </a:r>
            <a:r>
              <a:rPr dirty="0" spc="-5"/>
              <a:t>]</a:t>
            </a:r>
          </a:p>
          <a:p>
            <a:pPr>
              <a:lnSpc>
                <a:spcPts val="1275"/>
              </a:lnSpc>
            </a:pPr>
            <a:r>
              <a:rPr dirty="0" spc="-5"/>
              <a:t>intercept =</a:t>
            </a:r>
            <a:r>
              <a:rPr dirty="0" spc="-30"/>
              <a:t> </a:t>
            </a:r>
            <a:r>
              <a:rPr dirty="0" spc="-5"/>
              <a:t>sf.fitted_[</a:t>
            </a:r>
            <a:r>
              <a:rPr dirty="0" spc="-5">
                <a:solidFill>
                  <a:srgbClr val="008080"/>
                </a:solidFill>
              </a:rPr>
              <a:t>0</a:t>
            </a:r>
            <a:r>
              <a:rPr dirty="0" spc="-5"/>
              <a:t>][</a:t>
            </a:r>
            <a:r>
              <a:rPr dirty="0" spc="-5">
                <a:solidFill>
                  <a:srgbClr val="008080"/>
                </a:solidFill>
              </a:rPr>
              <a:t>0</a:t>
            </a:r>
            <a:r>
              <a:rPr dirty="0" spc="-5"/>
              <a:t>].model_.get(</a:t>
            </a:r>
            <a:r>
              <a:rPr dirty="0" spc="-5">
                <a:solidFill>
                  <a:srgbClr val="DD1144"/>
                </a:solidFill>
              </a:rPr>
              <a:t>'coef'</a:t>
            </a:r>
            <a:r>
              <a:rPr dirty="0" spc="-5"/>
              <a:t>)[</a:t>
            </a:r>
            <a:r>
              <a:rPr dirty="0" spc="-5">
                <a:solidFill>
                  <a:srgbClr val="DD1144"/>
                </a:solidFill>
              </a:rPr>
              <a:t>'interc</a:t>
            </a:r>
          </a:p>
          <a:p>
            <a:pPr>
              <a:lnSpc>
                <a:spcPts val="1260"/>
              </a:lnSpc>
              <a:spcBef>
                <a:spcPts val="1080"/>
              </a:spcBef>
            </a:pPr>
            <a:r>
              <a:rPr dirty="0" spc="-5"/>
              <a:t>print(</a:t>
            </a:r>
          </a:p>
          <a:p>
            <a:pPr marL="166370">
              <a:lnSpc>
                <a:spcPts val="1240"/>
              </a:lnSpc>
            </a:pPr>
            <a:r>
              <a:rPr dirty="0" spc="-5">
                <a:solidFill>
                  <a:srgbClr val="DD1144"/>
                </a:solidFill>
              </a:rPr>
              <a:t>'The AR(1) model equation</a:t>
            </a:r>
            <a:r>
              <a:rPr dirty="0" spc="-15">
                <a:solidFill>
                  <a:srgbClr val="DD1144"/>
                </a:solidFill>
              </a:rPr>
              <a:t> </a:t>
            </a:r>
            <a:r>
              <a:rPr dirty="0" spc="-5">
                <a:solidFill>
                  <a:srgbClr val="DD1144"/>
                </a:solidFill>
              </a:rPr>
              <a:t>is:\n'</a:t>
            </a:r>
            <a:r>
              <a:rPr dirty="0" spc="-5"/>
              <a:t>,</a:t>
            </a:r>
          </a:p>
          <a:p>
            <a:pPr marL="166370">
              <a:lnSpc>
                <a:spcPts val="1275"/>
              </a:lnSpc>
            </a:pPr>
            <a:r>
              <a:rPr dirty="0" spc="-5">
                <a:solidFill>
                  <a:srgbClr val="DD1144"/>
                </a:solidFill>
              </a:rPr>
              <a:t>'y[t] = {:.3f} + {:.3f} * y[t-1] +</a:t>
            </a:r>
            <a:r>
              <a:rPr dirty="0" spc="-30">
                <a:solidFill>
                  <a:srgbClr val="DD1144"/>
                </a:solidFill>
              </a:rPr>
              <a:t> </a:t>
            </a:r>
            <a:r>
              <a:rPr dirty="0" spc="-5">
                <a:solidFill>
                  <a:srgbClr val="DD1144"/>
                </a:solidFill>
              </a:rPr>
              <a:t>e[t]'</a:t>
            </a:r>
          </a:p>
          <a:p>
            <a:pPr marL="166370">
              <a:lnSpc>
                <a:spcPts val="1275"/>
              </a:lnSpc>
            </a:pPr>
            <a:r>
              <a:rPr dirty="0" spc="-5"/>
              <a:t>.format(intercept,</a:t>
            </a:r>
            <a:r>
              <a:rPr dirty="0" spc="-10"/>
              <a:t> </a:t>
            </a:r>
            <a:r>
              <a:rPr dirty="0" spc="-5"/>
              <a:t>phi1)</a:t>
            </a:r>
          </a:p>
          <a:p>
            <a:pPr marL="166370">
              <a:lnSpc>
                <a:spcPts val="1295"/>
              </a:lnSpc>
            </a:pPr>
            <a:r>
              <a:rPr dirty="0" spc="-5"/>
              <a:t>)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23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5762624" y="1619250"/>
            <a:ext cx="4848225" cy="647700"/>
          </a:xfrm>
          <a:prstGeom prst="rect">
            <a:avLst/>
          </a:prstGeom>
          <a:solidFill>
            <a:srgbClr val="F7F7F7"/>
          </a:solidFill>
        </p:spPr>
        <p:txBody>
          <a:bodyPr wrap="square" lIns="0" tIns="79375" rIns="0" bIns="0" rtlCol="0" vert="horz">
            <a:spAutoFit/>
          </a:bodyPr>
          <a:lstStyle/>
          <a:p>
            <a:pPr marL="86360" marR="2085339">
              <a:lnSpc>
                <a:spcPts val="1280"/>
              </a:lnSpc>
              <a:spcBef>
                <a:spcPts val="625"/>
              </a:spcBef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##</a:t>
            </a:r>
            <a:r>
              <a:rPr dirty="0" sz="1100" spc="-60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StatsForecast(models=[ARIMA]) 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## The AR(1) model equation</a:t>
            </a:r>
            <a:r>
              <a:rPr dirty="0" sz="1100" spc="-60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is:</a:t>
            </a:r>
            <a:endParaRPr sz="1100">
              <a:latin typeface="Courier New"/>
              <a:cs typeface="Courier New"/>
            </a:endParaRPr>
          </a:p>
          <a:p>
            <a:pPr marL="86360">
              <a:lnSpc>
                <a:spcPts val="1160"/>
              </a:lnSpc>
              <a:tabLst>
                <a:tab pos="419734" algn="l"/>
              </a:tabLst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##	y[t] = -0.758 + 0.730 * y[t-1] +</a:t>
            </a:r>
            <a:r>
              <a:rPr dirty="0" sz="1100" spc="-25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e[t]</a:t>
            </a:r>
            <a:endParaRPr sz="11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23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53986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04">
                <a:solidFill>
                  <a:srgbClr val="C2132D"/>
                </a:solidFill>
              </a:rPr>
              <a:t>Determining </a:t>
            </a:r>
            <a:r>
              <a:rPr dirty="0" sz="3350" spc="-260">
                <a:solidFill>
                  <a:srgbClr val="C2132D"/>
                </a:solidFill>
              </a:rPr>
              <a:t>the </a:t>
            </a:r>
            <a:r>
              <a:rPr dirty="0" sz="3350" spc="-250">
                <a:solidFill>
                  <a:srgbClr val="C2132D"/>
                </a:solidFill>
              </a:rPr>
              <a:t>Order </a:t>
            </a:r>
            <a:r>
              <a:rPr dirty="0" sz="3350" spc="-140">
                <a:solidFill>
                  <a:srgbClr val="C2132D"/>
                </a:solidFill>
              </a:rPr>
              <a:t>of </a:t>
            </a:r>
            <a:r>
              <a:rPr dirty="0" sz="3350" spc="-260">
                <a:solidFill>
                  <a:srgbClr val="C2132D"/>
                </a:solidFill>
              </a:rPr>
              <a:t>the </a:t>
            </a:r>
            <a:r>
              <a:rPr dirty="0" sz="3350" spc="-95">
                <a:solidFill>
                  <a:srgbClr val="C2132D"/>
                </a:solidFill>
              </a:rPr>
              <a:t>AR</a:t>
            </a:r>
            <a:r>
              <a:rPr dirty="0" sz="3350" spc="-335">
                <a:solidFill>
                  <a:srgbClr val="C2132D"/>
                </a:solidFill>
              </a:rPr>
              <a:t> </a:t>
            </a:r>
            <a:r>
              <a:rPr dirty="0" sz="3350" spc="-120">
                <a:solidFill>
                  <a:srgbClr val="C2132D"/>
                </a:solidFill>
              </a:rPr>
              <a:t>Model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148754" y="1376044"/>
            <a:ext cx="9431020" cy="26162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5080" indent="-133985">
              <a:lnSpc>
                <a:spcPct val="1181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We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can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usually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tell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from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that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0">
                <a:solidFill>
                  <a:srgbClr val="585D60"/>
                </a:solidFill>
                <a:latin typeface="Trebuchet MS"/>
                <a:cs typeface="Trebuchet MS"/>
              </a:rPr>
              <a:t>there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autoregressive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(AR)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component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data 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because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plot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tends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geometrically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decrease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magnitude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40">
                <a:solidFill>
                  <a:srgbClr val="585D60"/>
                </a:solidFill>
                <a:latin typeface="Trebuchet MS"/>
                <a:cs typeface="Trebuchet MS"/>
              </a:rPr>
              <a:t>(i.e.,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"die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down").</a:t>
            </a:r>
            <a:endParaRPr sz="1800">
              <a:latin typeface="Trebuchet MS"/>
              <a:cs typeface="Trebuchet MS"/>
            </a:endParaRPr>
          </a:p>
          <a:p>
            <a:pPr marL="146050" marR="615315" indent="-133985">
              <a:lnSpc>
                <a:spcPct val="114599"/>
              </a:lnSpc>
              <a:spcBef>
                <a:spcPts val="969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order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AR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0">
                <a:solidFill>
                  <a:srgbClr val="585D60"/>
                </a:solidFill>
                <a:latin typeface="Trebuchet MS"/>
                <a:cs typeface="Trebuchet MS"/>
              </a:rPr>
              <a:t>Process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refers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many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lags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you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include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autoregressive 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model.</a:t>
            </a:r>
            <a:endParaRPr sz="1800">
              <a:latin typeface="Trebuchet MS"/>
              <a:cs typeface="Trebuchet MS"/>
            </a:endParaRPr>
          </a:p>
          <a:p>
            <a:pPr marL="146050" marR="359410" indent="-133985">
              <a:lnSpc>
                <a:spcPct val="114599"/>
              </a:lnSpc>
              <a:spcBef>
                <a:spcPts val="975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 spc="45">
                <a:solidFill>
                  <a:srgbClr val="585D60"/>
                </a:solidFill>
                <a:latin typeface="Trebuchet MS"/>
                <a:cs typeface="Trebuchet MS"/>
              </a:rPr>
              <a:t>Because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AR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model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70">
                <a:solidFill>
                  <a:srgbClr val="585D60"/>
                </a:solidFill>
                <a:latin typeface="Trebuchet MS"/>
                <a:cs typeface="Trebuchet MS"/>
              </a:rPr>
              <a:t>mixture,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ACF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40" b="1">
                <a:solidFill>
                  <a:srgbClr val="C2132D"/>
                </a:solidFill>
                <a:latin typeface="Trebuchet MS"/>
                <a:cs typeface="Trebuchet MS"/>
              </a:rPr>
              <a:t>is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not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useful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for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determining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 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order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 </a:t>
            </a:r>
            <a:r>
              <a:rPr dirty="0" sz="1800" spc="60" b="1">
                <a:solidFill>
                  <a:srgbClr val="C2132D"/>
                </a:solidFill>
                <a:latin typeface="Trebuchet MS"/>
                <a:cs typeface="Trebuchet MS"/>
              </a:rPr>
              <a:t>AR</a:t>
            </a:r>
            <a:r>
              <a:rPr dirty="0" sz="1800" spc="-22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process.</a:t>
            </a:r>
            <a:endParaRPr sz="1800">
              <a:latin typeface="Trebuchet MS"/>
              <a:cs typeface="Trebuchet MS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Thus,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 b="1">
                <a:latin typeface="Trebuchet MS"/>
                <a:cs typeface="Trebuchet MS"/>
              </a:rPr>
              <a:t>ACF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15" b="1">
                <a:latin typeface="Trebuchet MS"/>
                <a:cs typeface="Trebuchet MS"/>
              </a:rPr>
              <a:t>helps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45" b="1">
                <a:latin typeface="Trebuchet MS"/>
                <a:cs typeface="Trebuchet MS"/>
              </a:rPr>
              <a:t>us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-70" b="1">
                <a:latin typeface="Trebuchet MS"/>
                <a:cs typeface="Trebuchet MS"/>
              </a:rPr>
              <a:t>to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45" b="1">
                <a:latin typeface="Trebuchet MS"/>
                <a:cs typeface="Trebuchet MS"/>
              </a:rPr>
              <a:t>know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-70" b="1">
                <a:latin typeface="Trebuchet MS"/>
                <a:cs typeface="Trebuchet MS"/>
              </a:rPr>
              <a:t>that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-80" b="1">
                <a:latin typeface="Trebuchet MS"/>
                <a:cs typeface="Trebuchet MS"/>
              </a:rPr>
              <a:t>we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50" b="1">
                <a:latin typeface="Trebuchet MS"/>
                <a:cs typeface="Trebuchet MS"/>
              </a:rPr>
              <a:t>have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-25" b="1">
                <a:latin typeface="Trebuchet MS"/>
                <a:cs typeface="Trebuchet MS"/>
              </a:rPr>
              <a:t>an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60" b="1">
                <a:latin typeface="Trebuchet MS"/>
                <a:cs typeface="Trebuchet MS"/>
              </a:rPr>
              <a:t>AR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60" b="1">
                <a:latin typeface="Trebuchet MS"/>
                <a:cs typeface="Trebuchet MS"/>
              </a:rPr>
              <a:t>model,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-65" b="1">
                <a:latin typeface="Trebuchet MS"/>
                <a:cs typeface="Trebuchet MS"/>
              </a:rPr>
              <a:t>but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-55" b="1">
                <a:latin typeface="Trebuchet MS"/>
                <a:cs typeface="Trebuchet MS"/>
              </a:rPr>
              <a:t>not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55" b="1">
                <a:latin typeface="Trebuchet MS"/>
                <a:cs typeface="Trebuchet MS"/>
              </a:rPr>
              <a:t>which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60" b="1">
                <a:latin typeface="Trebuchet MS"/>
                <a:cs typeface="Trebuchet MS"/>
              </a:rPr>
              <a:t>AR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30" b="1">
                <a:latin typeface="Trebuchet MS"/>
                <a:cs typeface="Trebuchet MS"/>
              </a:rPr>
              <a:t>model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-70" b="1">
                <a:latin typeface="Trebuchet MS"/>
                <a:cs typeface="Trebuchet MS"/>
              </a:rPr>
              <a:t>to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-100" b="1">
                <a:latin typeface="Trebuchet MS"/>
                <a:cs typeface="Trebuchet MS"/>
              </a:rPr>
              <a:t>fit!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23354" y="4738369"/>
            <a:ext cx="8792210" cy="15398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71450" marR="30480" indent="-133985">
              <a:lnSpc>
                <a:spcPct val="1181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720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Partial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Autocorrelation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Function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(PACF)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Trebuchet MS"/>
                <a:cs typeface="Trebuchet MS"/>
              </a:rPr>
              <a:t>used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determine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order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AR 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model.</a:t>
            </a:r>
            <a:endParaRPr sz="1800">
              <a:latin typeface="Trebuchet MS"/>
              <a:cs typeface="Trebuchet MS"/>
            </a:endParaRPr>
          </a:p>
          <a:p>
            <a:pPr lvl="1" marL="552450" indent="-134620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5530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AR(p)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model,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PACF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between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9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14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4492" sz="1725" spc="315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104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333" sz="1875" spc="104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baseline="-14492" sz="1725" spc="104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baseline="-14492" sz="1725" spc="322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should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be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5">
                <a:solidFill>
                  <a:srgbClr val="585D60"/>
                </a:solidFill>
                <a:latin typeface="Trebuchet MS"/>
                <a:cs typeface="Trebuchet MS"/>
              </a:rPr>
              <a:t>0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95">
                <a:solidFill>
                  <a:srgbClr val="585D60"/>
                </a:solidFill>
                <a:latin typeface="Lucida Sans Unicode"/>
                <a:cs typeface="Lucida Sans Unicode"/>
              </a:rPr>
              <a:t>∀</a:t>
            </a:r>
            <a:r>
              <a:rPr dirty="0" sz="1800" spc="-12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110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650" spc="4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&gt;</a:t>
            </a: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100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lvl="1" marL="5524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5530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PACF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will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cut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off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after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lag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-100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490216" y="2731008"/>
            <a:ext cx="6559550" cy="1076325"/>
          </a:xfrm>
          <a:prstGeom prst="rect"/>
          <a:solidFill>
            <a:srgbClr val="333333"/>
          </a:solidFill>
        </p:spPr>
        <p:txBody>
          <a:bodyPr wrap="square" lIns="0" tIns="167640" rIns="0" bIns="0" rtlCol="0" vert="horz">
            <a:spAutoFit/>
          </a:bodyPr>
          <a:lstStyle/>
          <a:p>
            <a:pPr marL="227329">
              <a:lnSpc>
                <a:spcPct val="100000"/>
              </a:lnSpc>
              <a:spcBef>
                <a:spcPts val="1320"/>
              </a:spcBef>
            </a:pPr>
            <a:r>
              <a:rPr dirty="0" spc="-1110">
                <a:solidFill>
                  <a:srgbClr val="000000"/>
                </a:solidFill>
              </a:rPr>
              <a:t>M</a:t>
            </a:r>
            <a:r>
              <a:rPr dirty="0" spc="-1110"/>
              <a:t>M</a:t>
            </a:r>
            <a:r>
              <a:rPr dirty="0" spc="-1110">
                <a:solidFill>
                  <a:srgbClr val="000000"/>
                </a:solidFill>
              </a:rPr>
              <a:t>o</a:t>
            </a:r>
            <a:r>
              <a:rPr dirty="0" spc="-1110"/>
              <a:t>o</a:t>
            </a:r>
            <a:r>
              <a:rPr dirty="0" spc="-1110">
                <a:solidFill>
                  <a:srgbClr val="000000"/>
                </a:solidFill>
              </a:rPr>
              <a:t>v</a:t>
            </a:r>
            <a:r>
              <a:rPr dirty="0" spc="-1110"/>
              <a:t>v</a:t>
            </a:r>
            <a:r>
              <a:rPr dirty="0" spc="-1110">
                <a:solidFill>
                  <a:srgbClr val="000000"/>
                </a:solidFill>
              </a:rPr>
              <a:t>i</a:t>
            </a:r>
            <a:r>
              <a:rPr dirty="0" spc="-1110"/>
              <a:t>i</a:t>
            </a:r>
            <a:r>
              <a:rPr dirty="0" spc="-1110">
                <a:solidFill>
                  <a:srgbClr val="000000"/>
                </a:solidFill>
              </a:rPr>
              <a:t>n</a:t>
            </a:r>
            <a:r>
              <a:rPr dirty="0" spc="-1110"/>
              <a:t>n</a:t>
            </a:r>
            <a:r>
              <a:rPr dirty="0" spc="-1110">
                <a:solidFill>
                  <a:srgbClr val="000000"/>
                </a:solidFill>
              </a:rPr>
              <a:t>g</a:t>
            </a:r>
            <a:r>
              <a:rPr dirty="0" spc="-1110"/>
              <a:t>g </a:t>
            </a:r>
            <a:r>
              <a:rPr dirty="0" spc="-1170">
                <a:solidFill>
                  <a:srgbClr val="000000"/>
                </a:solidFill>
              </a:rPr>
              <a:t>A</a:t>
            </a:r>
            <a:r>
              <a:rPr dirty="0" spc="-1170"/>
              <a:t>A</a:t>
            </a:r>
            <a:r>
              <a:rPr dirty="0" spc="-1170">
                <a:solidFill>
                  <a:srgbClr val="000000"/>
                </a:solidFill>
              </a:rPr>
              <a:t>v</a:t>
            </a:r>
            <a:r>
              <a:rPr dirty="0" spc="-1170"/>
              <a:t>v</a:t>
            </a:r>
            <a:r>
              <a:rPr dirty="0" spc="-1170">
                <a:solidFill>
                  <a:srgbClr val="000000"/>
                </a:solidFill>
              </a:rPr>
              <a:t>e</a:t>
            </a:r>
            <a:r>
              <a:rPr dirty="0" spc="-1170"/>
              <a:t>e</a:t>
            </a:r>
            <a:r>
              <a:rPr dirty="0" spc="-1170">
                <a:solidFill>
                  <a:srgbClr val="000000"/>
                </a:solidFill>
              </a:rPr>
              <a:t>r</a:t>
            </a:r>
            <a:r>
              <a:rPr dirty="0" spc="-1170"/>
              <a:t>r</a:t>
            </a:r>
            <a:r>
              <a:rPr dirty="0" spc="-1170">
                <a:solidFill>
                  <a:srgbClr val="000000"/>
                </a:solidFill>
              </a:rPr>
              <a:t>a</a:t>
            </a:r>
            <a:r>
              <a:rPr dirty="0" spc="-1170"/>
              <a:t>a</a:t>
            </a:r>
            <a:r>
              <a:rPr dirty="0" spc="-1170">
                <a:solidFill>
                  <a:srgbClr val="000000"/>
                </a:solidFill>
              </a:rPr>
              <a:t>g</a:t>
            </a:r>
            <a:r>
              <a:rPr dirty="0" spc="-1170"/>
              <a:t>g</a:t>
            </a:r>
            <a:r>
              <a:rPr dirty="0" spc="-1170">
                <a:solidFill>
                  <a:srgbClr val="000000"/>
                </a:solidFill>
              </a:rPr>
              <a:t>e</a:t>
            </a:r>
            <a:r>
              <a:rPr dirty="0" spc="-1170"/>
              <a:t>e </a:t>
            </a:r>
            <a:r>
              <a:rPr dirty="0" spc="-1070">
                <a:solidFill>
                  <a:srgbClr val="000000"/>
                </a:solidFill>
              </a:rPr>
              <a:t>(</a:t>
            </a:r>
            <a:r>
              <a:rPr dirty="0" spc="-1070"/>
              <a:t>(</a:t>
            </a:r>
            <a:r>
              <a:rPr dirty="0" spc="-1070">
                <a:solidFill>
                  <a:srgbClr val="000000"/>
                </a:solidFill>
              </a:rPr>
              <a:t>M</a:t>
            </a:r>
            <a:r>
              <a:rPr dirty="0" spc="-1070"/>
              <a:t>M</a:t>
            </a:r>
            <a:r>
              <a:rPr dirty="0" spc="-1070">
                <a:solidFill>
                  <a:srgbClr val="000000"/>
                </a:solidFill>
              </a:rPr>
              <a:t>A</a:t>
            </a:r>
            <a:r>
              <a:rPr dirty="0" spc="-1070"/>
              <a:t>A</a:t>
            </a:r>
            <a:r>
              <a:rPr dirty="0" spc="-1070">
                <a:solidFill>
                  <a:srgbClr val="000000"/>
                </a:solidFill>
              </a:rPr>
              <a:t>)</a:t>
            </a:r>
            <a:r>
              <a:rPr dirty="0" spc="-1070"/>
              <a:t>)</a:t>
            </a:r>
            <a:r>
              <a:rPr dirty="0" spc="-994"/>
              <a:t> </a:t>
            </a:r>
            <a:r>
              <a:rPr dirty="0" spc="-1090">
                <a:solidFill>
                  <a:srgbClr val="000000"/>
                </a:solidFill>
              </a:rPr>
              <a:t>M</a:t>
            </a:r>
            <a:r>
              <a:rPr dirty="0" spc="-1090"/>
              <a:t>M</a:t>
            </a:r>
            <a:r>
              <a:rPr dirty="0" spc="-1090">
                <a:solidFill>
                  <a:srgbClr val="000000"/>
                </a:solidFill>
              </a:rPr>
              <a:t>o</a:t>
            </a:r>
            <a:r>
              <a:rPr dirty="0" spc="-1090"/>
              <a:t>o</a:t>
            </a:r>
            <a:r>
              <a:rPr dirty="0" spc="-1090">
                <a:solidFill>
                  <a:srgbClr val="000000"/>
                </a:solidFill>
              </a:rPr>
              <a:t>d</a:t>
            </a:r>
            <a:r>
              <a:rPr dirty="0" spc="-1090"/>
              <a:t>d</a:t>
            </a:r>
            <a:r>
              <a:rPr dirty="0" spc="-1090">
                <a:solidFill>
                  <a:srgbClr val="000000"/>
                </a:solidFill>
              </a:rPr>
              <a:t>e</a:t>
            </a:r>
            <a:r>
              <a:rPr dirty="0" spc="-1090"/>
              <a:t>e</a:t>
            </a:r>
            <a:r>
              <a:rPr dirty="0" spc="-1090">
                <a:solidFill>
                  <a:srgbClr val="000000"/>
                </a:solidFill>
              </a:rPr>
              <a:t>l</a:t>
            </a:r>
            <a:r>
              <a:rPr dirty="0" spc="-1090"/>
              <a:t>l</a:t>
            </a:r>
            <a:r>
              <a:rPr dirty="0" spc="-1090">
                <a:solidFill>
                  <a:srgbClr val="000000"/>
                </a:solidFill>
              </a:rPr>
              <a:t>s</a:t>
            </a:r>
            <a:r>
              <a:rPr dirty="0" spc="-1090"/>
              <a:t>s</a:t>
            </a:r>
          </a:p>
        </p:txBody>
      </p:sp>
      <p:sp>
        <p:nvSpPr>
          <p:cNvPr id="3" name="object 3"/>
          <p:cNvSpPr/>
          <p:nvPr/>
        </p:nvSpPr>
        <p:spPr>
          <a:xfrm>
            <a:off x="10631423" y="5995415"/>
            <a:ext cx="894080" cy="491490"/>
          </a:xfrm>
          <a:custGeom>
            <a:avLst/>
            <a:gdLst/>
            <a:ahLst/>
            <a:cxnLst/>
            <a:rect l="l" t="t" r="r" b="b"/>
            <a:pathLst>
              <a:path w="894079" h="491489">
                <a:moveTo>
                  <a:pt x="0" y="0"/>
                </a:moveTo>
                <a:lnTo>
                  <a:pt x="893825" y="0"/>
                </a:lnTo>
                <a:lnTo>
                  <a:pt x="893825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07124"/>
            <a:ext cx="5067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295">
                <a:latin typeface="Trebuchet MS"/>
                <a:cs typeface="Trebuchet MS"/>
              </a:rPr>
              <a:t>2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  <a:r>
              <a:rPr dirty="0" sz="1200" spc="-295">
                <a:latin typeface="Trebuchet MS"/>
                <a:cs typeface="Trebuchet MS"/>
              </a:rPr>
              <a:t>4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4 </a:t>
            </a:r>
            <a:r>
              <a:rPr dirty="0" sz="1200" spc="-385">
                <a:latin typeface="Trebuchet MS"/>
                <a:cs typeface="Trebuchet MS"/>
              </a:rPr>
              <a:t>/</a:t>
            </a:r>
            <a:r>
              <a:rPr dirty="0" sz="1200" spc="-385">
                <a:solidFill>
                  <a:srgbClr val="FFFFFF"/>
                </a:solidFill>
                <a:latin typeface="Trebuchet MS"/>
                <a:cs typeface="Trebuchet MS"/>
              </a:rPr>
              <a:t>/</a:t>
            </a:r>
            <a:r>
              <a:rPr dirty="0" sz="1200" spc="-9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5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5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25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54164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15">
                <a:solidFill>
                  <a:srgbClr val="C2132D"/>
                </a:solidFill>
              </a:rPr>
              <a:t>The </a:t>
            </a:r>
            <a:r>
              <a:rPr dirty="0" sz="3350" spc="-95">
                <a:solidFill>
                  <a:srgbClr val="C2132D"/>
                </a:solidFill>
              </a:rPr>
              <a:t>Moving </a:t>
            </a:r>
            <a:r>
              <a:rPr dirty="0" sz="3350" spc="-195">
                <a:solidFill>
                  <a:srgbClr val="C2132D"/>
                </a:solidFill>
              </a:rPr>
              <a:t>Average </a:t>
            </a:r>
            <a:r>
              <a:rPr dirty="0" sz="3350" spc="-40">
                <a:solidFill>
                  <a:srgbClr val="C2132D"/>
                </a:solidFill>
              </a:rPr>
              <a:t>(MA)</a:t>
            </a:r>
            <a:r>
              <a:rPr dirty="0" sz="3350" spc="-445">
                <a:solidFill>
                  <a:srgbClr val="C2132D"/>
                </a:solidFill>
              </a:rPr>
              <a:t> </a:t>
            </a:r>
            <a:r>
              <a:rPr dirty="0" sz="3350" spc="-120">
                <a:solidFill>
                  <a:srgbClr val="C2132D"/>
                </a:solidFill>
              </a:rPr>
              <a:t>Model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863600" y="1376044"/>
            <a:ext cx="9625330" cy="31305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50800" marR="43180">
              <a:lnSpc>
                <a:spcPct val="118100"/>
              </a:lnSpc>
              <a:spcBef>
                <a:spcPts val="100"/>
              </a:spcBef>
            </a:pP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Rather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than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past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values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forecast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variable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regression,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moving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average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model  </a:t>
            </a:r>
            <a:r>
              <a:rPr dirty="0" sz="1800" spc="95">
                <a:solidFill>
                  <a:srgbClr val="585D60"/>
                </a:solidFill>
                <a:latin typeface="Trebuchet MS"/>
                <a:cs typeface="Trebuchet MS"/>
              </a:rPr>
              <a:t>uses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past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forecast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errors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in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a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regression-like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model</a:t>
            </a:r>
            <a:r>
              <a:rPr dirty="0" sz="1800" spc="-75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endParaRPr sz="1800">
              <a:latin typeface="Trebuchet MS"/>
              <a:cs typeface="Trebuchet MS"/>
            </a:endParaRPr>
          </a:p>
          <a:p>
            <a:pPr algn="ctr" marL="172720">
              <a:lnSpc>
                <a:spcPct val="100000"/>
              </a:lnSpc>
              <a:spcBef>
                <a:spcPts val="1665"/>
              </a:spcBef>
            </a:pPr>
            <a:r>
              <a:rPr dirty="0" sz="1650" spc="9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14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4492" sz="1725" spc="397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50" i="1">
                <a:solidFill>
                  <a:srgbClr val="585D60"/>
                </a:solidFill>
                <a:latin typeface="Arial"/>
                <a:cs typeface="Arial"/>
              </a:rPr>
              <a:t>c</a:t>
            </a:r>
            <a:r>
              <a:rPr dirty="0" sz="1650" spc="-6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104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4492" sz="1725" spc="247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2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3333" sz="1875" spc="-37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650" spc="-25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-3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333" sz="1875" spc="-37">
                <a:solidFill>
                  <a:srgbClr val="585D60"/>
                </a:solidFill>
                <a:latin typeface="Lucida Sans Unicode"/>
                <a:cs typeface="Lucida Sans Unicode"/>
              </a:rPr>
              <a:t>−1</a:t>
            </a:r>
            <a:r>
              <a:rPr dirty="0" baseline="-13333" sz="1875" spc="13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2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3333" sz="1875" spc="-37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r>
              <a:rPr dirty="0" sz="1650" spc="-25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-3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333" sz="1875" spc="-37">
                <a:solidFill>
                  <a:srgbClr val="585D60"/>
                </a:solidFill>
                <a:latin typeface="Lucida Sans Unicode"/>
                <a:cs typeface="Lucida Sans Unicode"/>
              </a:rPr>
              <a:t>−2</a:t>
            </a:r>
            <a:r>
              <a:rPr dirty="0" baseline="-13333" sz="1875" spc="13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675">
                <a:solidFill>
                  <a:srgbClr val="585D60"/>
                </a:solidFill>
                <a:latin typeface="Lucida Sans Unicode"/>
                <a:cs typeface="Lucida Sans Unicode"/>
              </a:rPr>
              <a:t>⋯</a:t>
            </a:r>
            <a:r>
              <a:rPr dirty="0" sz="1800" spc="-17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4492" sz="1725" spc="7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r>
              <a:rPr dirty="0" sz="1650" spc="5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333" sz="1875" spc="7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baseline="-14492" sz="1725" spc="7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r>
              <a:rPr dirty="0" baseline="-14492" sz="1725" spc="-322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endParaRPr sz="1800">
              <a:latin typeface="Lucida Sans Unicode"/>
              <a:cs typeface="Lucida Sans Unicode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400">
              <a:latin typeface="Lucida Sans Unicode"/>
              <a:cs typeface="Lucida Sans Unicode"/>
            </a:endParaRPr>
          </a:p>
          <a:p>
            <a:pPr marL="50800">
              <a:lnSpc>
                <a:spcPct val="100000"/>
              </a:lnSpc>
            </a:pP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where:</a:t>
            </a:r>
            <a:endParaRPr sz="18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800">
              <a:latin typeface="Trebuchet MS"/>
              <a:cs typeface="Trebuchet MS"/>
            </a:endParaRPr>
          </a:p>
          <a:p>
            <a:pPr marL="431800" indent="-133985">
              <a:lnSpc>
                <a:spcPct val="100000"/>
              </a:lnSpc>
              <a:buClr>
                <a:srgbClr val="C2132D"/>
              </a:buClr>
              <a:buSzPct val="109090"/>
              <a:buFont typeface="Trebuchet MS"/>
              <a:buChar char="•"/>
              <a:tabLst>
                <a:tab pos="431800" algn="l"/>
              </a:tabLst>
            </a:pP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104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white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noise; </a:t>
            </a: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104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∼ </a:t>
            </a:r>
            <a:r>
              <a:rPr dirty="0" sz="1500" spc="225">
                <a:solidFill>
                  <a:srgbClr val="585D60"/>
                </a:solidFill>
                <a:latin typeface="Arial Black"/>
                <a:cs typeface="Arial Black"/>
              </a:rPr>
              <a:t>N</a:t>
            </a:r>
            <a:r>
              <a:rPr dirty="0" sz="1500" spc="-409">
                <a:solidFill>
                  <a:srgbClr val="585D60"/>
                </a:solidFill>
                <a:latin typeface="Arial Black"/>
                <a:cs typeface="Arial Black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Lucida Sans Unicode"/>
                <a:cs typeface="Lucida Sans Unicode"/>
              </a:rPr>
              <a:t>(0, </a:t>
            </a:r>
            <a:r>
              <a:rPr dirty="0" sz="1650" spc="-5" i="1">
                <a:solidFill>
                  <a:srgbClr val="585D60"/>
                </a:solidFill>
                <a:latin typeface="Arial"/>
                <a:cs typeface="Arial"/>
              </a:rPr>
              <a:t>σ</a:t>
            </a:r>
            <a:r>
              <a:rPr dirty="0" baseline="26666" sz="1875" spc="-7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r>
              <a:rPr dirty="0" sz="1800" spc="-5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marL="4318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431800" algn="l"/>
              </a:tabLst>
            </a:pP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Unlike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AR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models,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past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values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120" i="1">
                <a:solidFill>
                  <a:srgbClr val="C2132D"/>
                </a:solidFill>
                <a:latin typeface="Calibri"/>
                <a:cs typeface="Calibri"/>
              </a:rPr>
              <a:t>y</a:t>
            </a:r>
            <a:r>
              <a:rPr dirty="0" baseline="-14492" sz="1725" spc="179" i="1">
                <a:solidFill>
                  <a:srgbClr val="C2132D"/>
                </a:solidFill>
                <a:latin typeface="Calibri"/>
                <a:cs typeface="Calibri"/>
              </a:rPr>
              <a:t>t</a:t>
            </a:r>
            <a:r>
              <a:rPr dirty="0" baseline="-14492" sz="1725" spc="412" i="1">
                <a:solidFill>
                  <a:srgbClr val="C2132D"/>
                </a:solidFill>
                <a:latin typeface="Calibri"/>
                <a:cs typeface="Calibri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do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not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appear</a:t>
            </a:r>
            <a:r>
              <a:rPr dirty="0" sz="1800" spc="-75">
                <a:solidFill>
                  <a:srgbClr val="585D60"/>
                </a:solidFill>
                <a:latin typeface="Trebuchet MS"/>
                <a:cs typeface="Trebuchet MS"/>
              </a:rPr>
              <a:t>;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instead,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9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14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4492" sz="1725" spc="322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depends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on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past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errors.</a:t>
            </a:r>
            <a:endParaRPr sz="1800">
              <a:latin typeface="Trebuchet MS"/>
              <a:cs typeface="Trebuchet MS"/>
            </a:endParaRPr>
          </a:p>
          <a:p>
            <a:pPr marL="4318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431800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errors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2077" sz="1725" spc="104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2077" sz="1725" spc="322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are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unobservable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meaning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they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must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be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inferred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from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data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25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89000" y="530225"/>
            <a:ext cx="720915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25400">
              <a:lnSpc>
                <a:spcPct val="100000"/>
              </a:lnSpc>
              <a:spcBef>
                <a:spcPts val="125"/>
              </a:spcBef>
            </a:pPr>
            <a:r>
              <a:rPr dirty="0" sz="3350" spc="-170">
                <a:solidFill>
                  <a:srgbClr val="C2132D"/>
                </a:solidFill>
              </a:rPr>
              <a:t>How </a:t>
            </a:r>
            <a:r>
              <a:rPr dirty="0" sz="3350" spc="-150">
                <a:solidFill>
                  <a:srgbClr val="C2132D"/>
                </a:solidFill>
              </a:rPr>
              <a:t>do </a:t>
            </a:r>
            <a:r>
              <a:rPr dirty="0" sz="3350" spc="-275">
                <a:solidFill>
                  <a:srgbClr val="C2132D"/>
                </a:solidFill>
              </a:rPr>
              <a:t>we </a:t>
            </a:r>
            <a:r>
              <a:rPr dirty="0" sz="3350" spc="-180">
                <a:solidFill>
                  <a:srgbClr val="C2132D"/>
                </a:solidFill>
              </a:rPr>
              <a:t>Estimate </a:t>
            </a:r>
            <a:r>
              <a:rPr dirty="0" sz="3050" spc="-125" i="1">
                <a:solidFill>
                  <a:srgbClr val="C2132D"/>
                </a:solidFill>
                <a:latin typeface="Calibri"/>
                <a:cs typeface="Calibri"/>
              </a:rPr>
              <a:t>θ </a:t>
            </a:r>
            <a:r>
              <a:rPr dirty="0" sz="3350" spc="-180">
                <a:solidFill>
                  <a:srgbClr val="C2132D"/>
                </a:solidFill>
              </a:rPr>
              <a:t>if </a:t>
            </a:r>
            <a:r>
              <a:rPr dirty="0" sz="3050" spc="95" i="1">
                <a:solidFill>
                  <a:srgbClr val="C2132D"/>
                </a:solidFill>
                <a:latin typeface="Calibri"/>
                <a:cs typeface="Calibri"/>
              </a:rPr>
              <a:t>ϵ</a:t>
            </a:r>
            <a:r>
              <a:rPr dirty="0" baseline="-14211" sz="3225" spc="142" i="1">
                <a:solidFill>
                  <a:srgbClr val="C2132D"/>
                </a:solidFill>
                <a:latin typeface="Calibri"/>
                <a:cs typeface="Calibri"/>
              </a:rPr>
              <a:t>t </a:t>
            </a:r>
            <a:r>
              <a:rPr dirty="0" sz="3350">
                <a:solidFill>
                  <a:srgbClr val="C2132D"/>
                </a:solidFill>
              </a:rPr>
              <a:t>is</a:t>
            </a:r>
            <a:r>
              <a:rPr dirty="0" sz="3350" spc="-450">
                <a:solidFill>
                  <a:srgbClr val="C2132D"/>
                </a:solidFill>
              </a:rPr>
              <a:t> </a:t>
            </a:r>
            <a:r>
              <a:rPr dirty="0" sz="3350" spc="-145">
                <a:solidFill>
                  <a:srgbClr val="C2132D"/>
                </a:solidFill>
              </a:rPr>
              <a:t>Unobserved?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50900" y="1425575"/>
            <a:ext cx="9688830" cy="46431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39725" indent="-276860">
              <a:lnSpc>
                <a:spcPct val="100000"/>
              </a:lnSpc>
              <a:spcBef>
                <a:spcPts val="100"/>
              </a:spcBef>
              <a:buAutoNum type="alphaUcPeriod"/>
              <a:tabLst>
                <a:tab pos="340360" algn="l"/>
              </a:tabLst>
            </a:pP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Maximum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Likelihood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Estimation</a:t>
            </a:r>
            <a:r>
              <a:rPr dirty="0" sz="1800" spc="-254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25" b="1">
                <a:solidFill>
                  <a:srgbClr val="C2132D"/>
                </a:solidFill>
                <a:latin typeface="Trebuchet MS"/>
                <a:cs typeface="Trebuchet MS"/>
              </a:rPr>
              <a:t>(MLE)</a:t>
            </a:r>
            <a:endParaRPr sz="1800">
              <a:latin typeface="Trebuchet MS"/>
              <a:cs typeface="Trebuchet MS"/>
            </a:endParaRPr>
          </a:p>
          <a:p>
            <a:pPr marL="63500">
              <a:lnSpc>
                <a:spcPct val="100000"/>
              </a:lnSpc>
              <a:spcBef>
                <a:spcPts val="1290"/>
              </a:spcBef>
            </a:pPr>
            <a:r>
              <a:rPr dirty="0" sz="1800" spc="135">
                <a:solidFill>
                  <a:srgbClr val="585D60"/>
                </a:solidFill>
                <a:latin typeface="Trebuchet MS"/>
                <a:cs typeface="Trebuchet MS"/>
              </a:rPr>
              <a:t>MLE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estimates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parameters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by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maximizing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likelihood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function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0">
                <a:solidFill>
                  <a:srgbClr val="585D60"/>
                </a:solidFill>
                <a:latin typeface="Trebuchet MS"/>
                <a:cs typeface="Trebuchet MS"/>
              </a:rPr>
              <a:t>assuming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residuals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104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baseline="-14492" sz="1725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390"/>
              </a:spcBef>
            </a:pP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follow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normal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distribution.</a:t>
            </a:r>
            <a:r>
              <a:rPr dirty="0" sz="1800" spc="-13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process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is:</a:t>
            </a:r>
            <a:endParaRPr sz="18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800">
              <a:latin typeface="Trebuchet MS"/>
              <a:cs typeface="Trebuchet MS"/>
            </a:endParaRPr>
          </a:p>
          <a:p>
            <a:pPr lvl="1" marL="444500" indent="-133985">
              <a:lnSpc>
                <a:spcPct val="100000"/>
              </a:lnSpc>
              <a:buClr>
                <a:srgbClr val="C2132D"/>
              </a:buClr>
              <a:buChar char="•"/>
              <a:tabLst>
                <a:tab pos="444500" algn="l"/>
              </a:tabLst>
            </a:pPr>
            <a:r>
              <a:rPr dirty="0" sz="1800" spc="95">
                <a:solidFill>
                  <a:srgbClr val="585D60"/>
                </a:solidFill>
                <a:latin typeface="Trebuchet MS"/>
                <a:cs typeface="Trebuchet MS"/>
              </a:rPr>
              <a:t>Assume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0">
                <a:solidFill>
                  <a:srgbClr val="585D60"/>
                </a:solidFill>
                <a:latin typeface="Trebuchet MS"/>
                <a:cs typeface="Trebuchet MS"/>
              </a:rPr>
              <a:t>initial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set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10">
                <a:solidFill>
                  <a:srgbClr val="585D60"/>
                </a:solidFill>
                <a:latin typeface="Trebuchet MS"/>
                <a:cs typeface="Trebuchet MS"/>
              </a:rPr>
              <a:t>MA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parameters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-6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3333" sz="1875" spc="-97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800" spc="-65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800" spc="-2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6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3333" sz="1875" spc="-97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r>
              <a:rPr dirty="0" sz="1800" spc="-65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800" spc="-2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305">
                <a:solidFill>
                  <a:srgbClr val="585D60"/>
                </a:solidFill>
                <a:latin typeface="Lucida Sans Unicode"/>
                <a:cs typeface="Lucida Sans Unicode"/>
              </a:rPr>
              <a:t>…</a:t>
            </a:r>
            <a:r>
              <a:rPr dirty="0" sz="1800" spc="-2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800" spc="-2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6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4492" sz="1725" spc="-97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r>
              <a:rPr dirty="0" baseline="-14492" sz="1725" spc="-322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90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lvl="1" marL="443865" marR="915035" indent="-133985">
              <a:lnSpc>
                <a:spcPct val="114599"/>
              </a:lnSpc>
              <a:spcBef>
                <a:spcPts val="975"/>
              </a:spcBef>
              <a:buClr>
                <a:srgbClr val="C2132D"/>
              </a:buClr>
              <a:buChar char="•"/>
              <a:tabLst>
                <a:tab pos="444500" algn="l"/>
              </a:tabLst>
            </a:pPr>
            <a:r>
              <a:rPr dirty="0" sz="1800" spc="55">
                <a:solidFill>
                  <a:srgbClr val="585D60"/>
                </a:solidFill>
                <a:latin typeface="Trebuchet MS"/>
                <a:cs typeface="Trebuchet MS"/>
              </a:rPr>
              <a:t>Use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interative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algorithm*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(e.g.,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Expectation-Maximization,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Kalman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Filtering,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or 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numerical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optimization)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estimate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5">
                <a:solidFill>
                  <a:srgbClr val="585D60"/>
                </a:solidFill>
                <a:latin typeface="Trebuchet MS"/>
                <a:cs typeface="Trebuchet MS"/>
              </a:rPr>
              <a:t>most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0">
                <a:solidFill>
                  <a:srgbClr val="585D60"/>
                </a:solidFill>
                <a:latin typeface="Trebuchet MS"/>
                <a:cs typeface="Trebuchet MS"/>
              </a:rPr>
              <a:t>likely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error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terms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15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2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lvl="1" marL="4445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444500" algn="l"/>
              </a:tabLst>
            </a:pP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Maximize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likelihood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observed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data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given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those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estimated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errors.</a:t>
            </a:r>
            <a:endParaRPr sz="1800">
              <a:latin typeface="Trebuchet MS"/>
              <a:cs typeface="Trebuchet MS"/>
            </a:endParaRPr>
          </a:p>
          <a:p>
            <a:pPr lvl="1">
              <a:lnSpc>
                <a:spcPct val="100000"/>
              </a:lnSpc>
              <a:spcBef>
                <a:spcPts val="40"/>
              </a:spcBef>
              <a:buClr>
                <a:srgbClr val="C2132D"/>
              </a:buClr>
              <a:buFont typeface="Trebuchet MS"/>
              <a:buChar char="•"/>
            </a:pPr>
            <a:endParaRPr sz="1850">
              <a:latin typeface="Trebuchet MS"/>
              <a:cs typeface="Trebuchet MS"/>
            </a:endParaRPr>
          </a:p>
          <a:p>
            <a:pPr marL="332105" indent="-269240">
              <a:lnSpc>
                <a:spcPct val="100000"/>
              </a:lnSpc>
              <a:buAutoNum type="alphaUcPeriod" startAt="2"/>
              <a:tabLst>
                <a:tab pos="332740" algn="l"/>
              </a:tabLst>
            </a:pP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Nonlinear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Least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Squares</a:t>
            </a:r>
            <a:r>
              <a:rPr dirty="0" sz="1800" spc="-24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5" b="1">
                <a:solidFill>
                  <a:srgbClr val="C2132D"/>
                </a:solidFill>
                <a:latin typeface="Trebuchet MS"/>
                <a:cs typeface="Trebuchet MS"/>
              </a:rPr>
              <a:t>(NLS)</a:t>
            </a:r>
            <a:endParaRPr sz="1800">
              <a:latin typeface="Trebuchet MS"/>
              <a:cs typeface="Trebuchet MS"/>
            </a:endParaRPr>
          </a:p>
          <a:p>
            <a:pPr lvl="1" marL="443865" marR="381635" indent="-133985">
              <a:lnSpc>
                <a:spcPct val="118100"/>
              </a:lnSpc>
              <a:spcBef>
                <a:spcPts val="1725"/>
              </a:spcBef>
              <a:buClr>
                <a:srgbClr val="C2132D"/>
              </a:buClr>
              <a:buChar char="•"/>
              <a:tabLst>
                <a:tab pos="444500" algn="l"/>
              </a:tabLst>
            </a:pP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Instead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directly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computing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errors,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we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minimize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5" b="1">
                <a:solidFill>
                  <a:srgbClr val="C2132D"/>
                </a:solidFill>
                <a:latin typeface="Trebuchet MS"/>
                <a:cs typeface="Trebuchet MS"/>
              </a:rPr>
              <a:t>sum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squared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residuals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using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a 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nonlinear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function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</a:t>
            </a:r>
            <a:r>
              <a:rPr dirty="0" sz="1800" spc="-1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parameters.</a:t>
            </a:r>
            <a:endParaRPr sz="1800">
              <a:latin typeface="Trebuchet MS"/>
              <a:cs typeface="Trebuchet MS"/>
            </a:endParaRPr>
          </a:p>
          <a:p>
            <a:pPr lvl="1" marL="4445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444500" algn="l"/>
              </a:tabLst>
            </a:pPr>
            <a:r>
              <a:rPr dirty="0" sz="1800" spc="40">
                <a:solidFill>
                  <a:srgbClr val="585D60"/>
                </a:solidFill>
                <a:latin typeface="Trebuchet MS"/>
                <a:cs typeface="Trebuchet MS"/>
              </a:rPr>
              <a:t>This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requires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iterative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numerical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techniques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10">
                <a:solidFill>
                  <a:srgbClr val="585D60"/>
                </a:solidFill>
                <a:latin typeface="Trebuchet MS"/>
                <a:cs typeface="Trebuchet MS"/>
              </a:rPr>
              <a:t>(e.g.,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gradient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descent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or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Newton-Raphson).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25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89000" y="530225"/>
            <a:ext cx="808609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25400">
              <a:lnSpc>
                <a:spcPct val="100000"/>
              </a:lnSpc>
              <a:spcBef>
                <a:spcPts val="125"/>
              </a:spcBef>
            </a:pPr>
            <a:r>
              <a:rPr dirty="0" sz="3350" spc="-150">
                <a:solidFill>
                  <a:srgbClr val="C2132D"/>
                </a:solidFill>
              </a:rPr>
              <a:t>Forecasting </a:t>
            </a:r>
            <a:r>
              <a:rPr dirty="0" sz="3350" spc="-254">
                <a:solidFill>
                  <a:srgbClr val="C2132D"/>
                </a:solidFill>
              </a:rPr>
              <a:t>with </a:t>
            </a:r>
            <a:r>
              <a:rPr dirty="0" sz="3350" spc="80">
                <a:solidFill>
                  <a:srgbClr val="C2132D"/>
                </a:solidFill>
              </a:rPr>
              <a:t>MA </a:t>
            </a:r>
            <a:r>
              <a:rPr dirty="0" sz="3350" spc="-120">
                <a:solidFill>
                  <a:srgbClr val="C2132D"/>
                </a:solidFill>
              </a:rPr>
              <a:t>Model </a:t>
            </a:r>
            <a:r>
              <a:rPr dirty="0" sz="3350" spc="-180">
                <a:solidFill>
                  <a:srgbClr val="C2132D"/>
                </a:solidFill>
              </a:rPr>
              <a:t>if </a:t>
            </a:r>
            <a:r>
              <a:rPr dirty="0" sz="3050" spc="95" i="1">
                <a:solidFill>
                  <a:srgbClr val="C2132D"/>
                </a:solidFill>
                <a:latin typeface="Calibri"/>
                <a:cs typeface="Calibri"/>
              </a:rPr>
              <a:t>ϵ</a:t>
            </a:r>
            <a:r>
              <a:rPr dirty="0" baseline="-14211" sz="3225" spc="142" i="1">
                <a:solidFill>
                  <a:srgbClr val="C2132D"/>
                </a:solidFill>
                <a:latin typeface="Calibri"/>
                <a:cs typeface="Calibri"/>
              </a:rPr>
              <a:t>t </a:t>
            </a:r>
            <a:r>
              <a:rPr dirty="0" sz="3350" spc="45">
                <a:solidFill>
                  <a:srgbClr val="C2132D"/>
                </a:solidFill>
              </a:rPr>
              <a:t>Is</a:t>
            </a:r>
            <a:r>
              <a:rPr dirty="0" sz="3350" spc="-395">
                <a:solidFill>
                  <a:srgbClr val="C2132D"/>
                </a:solidFill>
              </a:rPr>
              <a:t> </a:t>
            </a:r>
            <a:r>
              <a:rPr dirty="0" sz="3350" spc="-145">
                <a:solidFill>
                  <a:srgbClr val="C2132D"/>
                </a:solidFill>
              </a:rPr>
              <a:t>Unobserved?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63600" y="1387475"/>
            <a:ext cx="9465310" cy="417639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379730" indent="-329565">
              <a:lnSpc>
                <a:spcPct val="100000"/>
              </a:lnSpc>
              <a:spcBef>
                <a:spcPts val="125"/>
              </a:spcBef>
              <a:buAutoNum type="arabicPeriod"/>
              <a:tabLst>
                <a:tab pos="380365" algn="l"/>
              </a:tabLst>
            </a:pPr>
            <a:r>
              <a:rPr dirty="0" sz="2600" spc="-160">
                <a:solidFill>
                  <a:srgbClr val="C2132D"/>
                </a:solidFill>
                <a:latin typeface="Trebuchet MS"/>
                <a:cs typeface="Trebuchet MS"/>
              </a:rPr>
              <a:t>One-Step-Ahead </a:t>
            </a:r>
            <a:r>
              <a:rPr dirty="0" sz="2600" spc="-120">
                <a:solidFill>
                  <a:srgbClr val="C2132D"/>
                </a:solidFill>
                <a:latin typeface="Trebuchet MS"/>
                <a:cs typeface="Trebuchet MS"/>
              </a:rPr>
              <a:t>Forecast</a:t>
            </a:r>
            <a:r>
              <a:rPr dirty="0" sz="2600" spc="-215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2600" spc="-165">
                <a:solidFill>
                  <a:srgbClr val="C2132D"/>
                </a:solidFill>
                <a:latin typeface="Trebuchet MS"/>
                <a:cs typeface="Trebuchet MS"/>
              </a:rPr>
              <a:t>(t+1):</a:t>
            </a:r>
            <a:endParaRPr sz="26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0"/>
              </a:spcBef>
              <a:buClr>
                <a:srgbClr val="C2132D"/>
              </a:buClr>
              <a:buFont typeface="Trebuchet MS"/>
              <a:buAutoNum type="arabicPeriod"/>
            </a:pPr>
            <a:endParaRPr sz="2450">
              <a:latin typeface="Trebuchet MS"/>
              <a:cs typeface="Trebuchet MS"/>
            </a:endParaRPr>
          </a:p>
          <a:p>
            <a:pPr lvl="1" marL="431800" indent="-133985">
              <a:lnSpc>
                <a:spcPct val="100000"/>
              </a:lnSpc>
              <a:buClr>
                <a:srgbClr val="C2132D"/>
              </a:buClr>
              <a:buChar char="•"/>
              <a:tabLst>
                <a:tab pos="431800" algn="l"/>
              </a:tabLst>
            </a:pP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Since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7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2077" sz="1725" spc="104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2077" sz="1725" spc="315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unknown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future,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we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assume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200" spc="75">
                <a:solidFill>
                  <a:srgbClr val="585D60"/>
                </a:solidFill>
                <a:latin typeface="Arial"/>
                <a:cs typeface="Arial"/>
              </a:rPr>
              <a:t>E</a:t>
            </a:r>
            <a:r>
              <a:rPr dirty="0" sz="1800" spc="75">
                <a:solidFill>
                  <a:srgbClr val="585D60"/>
                </a:solidFill>
                <a:latin typeface="Lucida Sans Unicode"/>
                <a:cs typeface="Lucida Sans Unicode"/>
              </a:rPr>
              <a:t>[</a:t>
            </a:r>
            <a:r>
              <a:rPr dirty="0" sz="1650" spc="75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2077" sz="1725" spc="11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1111" sz="1875" spc="112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baseline="-12077" sz="1725" spc="112" i="1">
                <a:solidFill>
                  <a:srgbClr val="585D60"/>
                </a:solidFill>
                <a:latin typeface="Arial"/>
                <a:cs typeface="Arial"/>
              </a:rPr>
              <a:t>h</a:t>
            </a:r>
            <a:r>
              <a:rPr dirty="0" sz="1800" spc="75">
                <a:solidFill>
                  <a:srgbClr val="585D60"/>
                </a:solidFill>
                <a:latin typeface="Lucida Sans Unicode"/>
                <a:cs typeface="Lucida Sans Unicode"/>
              </a:rPr>
              <a:t>]</a:t>
            </a: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215">
                <a:solidFill>
                  <a:srgbClr val="585D60"/>
                </a:solidFill>
                <a:latin typeface="Lucida Sans Unicode"/>
                <a:cs typeface="Lucida Sans Unicode"/>
              </a:rPr>
              <a:t>0</a:t>
            </a:r>
            <a:r>
              <a:rPr dirty="0" sz="1800" spc="-21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lvl="1" marL="4318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431800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forecast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equation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95">
                <a:solidFill>
                  <a:srgbClr val="585D60"/>
                </a:solidFill>
                <a:latin typeface="Trebuchet MS"/>
                <a:cs typeface="Trebuchet MS"/>
              </a:rPr>
              <a:t>uses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5">
                <a:solidFill>
                  <a:srgbClr val="585D60"/>
                </a:solidFill>
                <a:latin typeface="Trebuchet MS"/>
                <a:cs typeface="Trebuchet MS"/>
              </a:rPr>
              <a:t>most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recent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residuals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5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7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800" spc="5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800" spc="-27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333" sz="1875">
                <a:solidFill>
                  <a:srgbClr val="585D60"/>
                </a:solidFill>
                <a:latin typeface="Lucida Sans Unicode"/>
                <a:cs typeface="Lucida Sans Unicode"/>
              </a:rPr>
              <a:t>−1</a:t>
            </a:r>
            <a:r>
              <a:rPr dirty="0" sz="180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800" spc="-27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Lucida Sans Unicode"/>
                <a:cs typeface="Lucida Sans Unicode"/>
              </a:rPr>
              <a:t>…</a:t>
            </a:r>
            <a:r>
              <a:rPr dirty="0" sz="1800" spc="40">
                <a:solidFill>
                  <a:srgbClr val="585D60"/>
                </a:solidFill>
                <a:latin typeface="Trebuchet MS"/>
                <a:cs typeface="Trebuchet MS"/>
              </a:rPr>
              <a:t>:</a:t>
            </a:r>
            <a:endParaRPr sz="1800">
              <a:latin typeface="Trebuchet MS"/>
              <a:cs typeface="Trebuchet MS"/>
            </a:endParaRPr>
          </a:p>
          <a:p>
            <a:pPr lvl="1">
              <a:lnSpc>
                <a:spcPct val="100000"/>
              </a:lnSpc>
              <a:spcBef>
                <a:spcPts val="40"/>
              </a:spcBef>
              <a:buClr>
                <a:srgbClr val="C2132D"/>
              </a:buClr>
              <a:buFont typeface="Trebuchet MS"/>
              <a:buChar char="•"/>
            </a:pPr>
            <a:endParaRPr sz="1850">
              <a:latin typeface="Trebuchet MS"/>
              <a:cs typeface="Trebuchet MS"/>
            </a:endParaRPr>
          </a:p>
          <a:p>
            <a:pPr algn="ctr" marL="236854">
              <a:lnSpc>
                <a:spcPts val="1505"/>
              </a:lnSpc>
              <a:tabLst>
                <a:tab pos="2682240" algn="l"/>
              </a:tabLst>
            </a:pPr>
            <a:r>
              <a:rPr dirty="0" sz="1650" spc="-19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800" spc="-190">
                <a:solidFill>
                  <a:srgbClr val="585D60"/>
                </a:solidFill>
                <a:latin typeface="Lucida Sans Unicode"/>
                <a:cs typeface="Lucida Sans Unicode"/>
              </a:rPr>
              <a:t>^</a:t>
            </a:r>
            <a:r>
              <a:rPr dirty="0" baseline="-26570" sz="1725" spc="-284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24444" sz="1875" spc="-284">
                <a:solidFill>
                  <a:srgbClr val="585D60"/>
                </a:solidFill>
                <a:latin typeface="Lucida Sans Unicode"/>
                <a:cs typeface="Lucida Sans Unicode"/>
              </a:rPr>
              <a:t>+1  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650" spc="-50" i="1">
                <a:solidFill>
                  <a:srgbClr val="585D60"/>
                </a:solidFill>
                <a:latin typeface="Arial"/>
                <a:cs typeface="Arial"/>
              </a:rPr>
              <a:t>c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 </a:t>
            </a:r>
            <a:r>
              <a:rPr dirty="0" sz="1650" spc="-509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15432" sz="2700" spc="-765">
                <a:solidFill>
                  <a:srgbClr val="585D60"/>
                </a:solidFill>
                <a:latin typeface="Lucida Sans Unicode"/>
                <a:cs typeface="Lucida Sans Unicode"/>
              </a:rPr>
              <a:t>^            </a:t>
            </a:r>
            <a:r>
              <a:rPr dirty="0" sz="1650" spc="-48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sz="1800" spc="-480">
                <a:solidFill>
                  <a:srgbClr val="585D60"/>
                </a:solidFill>
                <a:latin typeface="Lucida Sans Unicode"/>
                <a:cs typeface="Lucida Sans Unicode"/>
              </a:rPr>
              <a:t>^          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37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509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15432" sz="2700" spc="-765">
                <a:solidFill>
                  <a:srgbClr val="585D60"/>
                </a:solidFill>
                <a:latin typeface="Lucida Sans Unicode"/>
                <a:cs typeface="Lucida Sans Unicode"/>
              </a:rPr>
              <a:t>^           </a:t>
            </a:r>
            <a:r>
              <a:rPr dirty="0" baseline="15432" sz="2700" spc="-742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48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sz="1800" spc="-480">
                <a:solidFill>
                  <a:srgbClr val="585D60"/>
                </a:solidFill>
                <a:latin typeface="Lucida Sans Unicode"/>
                <a:cs typeface="Lucida Sans Unicode"/>
              </a:rPr>
              <a:t>^	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 </a:t>
            </a:r>
            <a:r>
              <a:rPr dirty="0" sz="1800" spc="675">
                <a:solidFill>
                  <a:srgbClr val="585D60"/>
                </a:solidFill>
                <a:latin typeface="Lucida Sans Unicode"/>
                <a:cs typeface="Lucida Sans Unicode"/>
              </a:rPr>
              <a:t>⋯</a:t>
            </a:r>
            <a:r>
              <a:rPr dirty="0" sz="1800" spc="-43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 </a:t>
            </a:r>
            <a:r>
              <a:rPr dirty="0" sz="1650" spc="-509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15432" sz="2700" spc="-765">
                <a:solidFill>
                  <a:srgbClr val="585D60"/>
                </a:solidFill>
                <a:latin typeface="Lucida Sans Unicode"/>
                <a:cs typeface="Lucida Sans Unicode"/>
              </a:rPr>
              <a:t>^           </a:t>
            </a:r>
            <a:r>
              <a:rPr dirty="0" sz="1650" spc="-480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sz="1800" spc="-480">
                <a:solidFill>
                  <a:srgbClr val="585D60"/>
                </a:solidFill>
                <a:latin typeface="Lucida Sans Unicode"/>
                <a:cs typeface="Lucida Sans Unicode"/>
              </a:rPr>
              <a:t>^</a:t>
            </a:r>
            <a:endParaRPr sz="1800">
              <a:latin typeface="Lucida Sans Unicode"/>
              <a:cs typeface="Lucida Sans Unicode"/>
            </a:endParaRPr>
          </a:p>
          <a:p>
            <a:pPr marL="4297045">
              <a:lnSpc>
                <a:spcPts val="844"/>
              </a:lnSpc>
              <a:tabLst>
                <a:tab pos="4505325" algn="l"/>
                <a:tab pos="4984115" algn="l"/>
                <a:tab pos="5193030" algn="l"/>
                <a:tab pos="6425565" algn="l"/>
                <a:tab pos="6627495" algn="l"/>
              </a:tabLst>
            </a:pPr>
            <a:r>
              <a:rPr dirty="0" sz="1250" spc="-155">
                <a:solidFill>
                  <a:srgbClr val="585D60"/>
                </a:solidFill>
                <a:latin typeface="Lucida Sans Unicode"/>
                <a:cs typeface="Lucida Sans Unicode"/>
              </a:rPr>
              <a:t>1	</a:t>
            </a: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	</a:t>
            </a:r>
            <a:r>
              <a:rPr dirty="0" sz="1250" spc="-155">
                <a:solidFill>
                  <a:srgbClr val="585D60"/>
                </a:solidFill>
                <a:latin typeface="Lucida Sans Unicode"/>
                <a:cs typeface="Lucida Sans Unicode"/>
              </a:rPr>
              <a:t>2	</a:t>
            </a:r>
            <a:r>
              <a:rPr dirty="0" sz="1150" spc="-1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250" spc="-10">
                <a:solidFill>
                  <a:srgbClr val="585D60"/>
                </a:solidFill>
                <a:latin typeface="Lucida Sans Unicode"/>
                <a:cs typeface="Lucida Sans Unicode"/>
              </a:rPr>
              <a:t>−1	</a:t>
            </a:r>
            <a:r>
              <a:rPr dirty="0" sz="1150" spc="-75" i="1">
                <a:solidFill>
                  <a:srgbClr val="585D60"/>
                </a:solidFill>
                <a:latin typeface="Arial"/>
                <a:cs typeface="Arial"/>
              </a:rPr>
              <a:t>q	</a:t>
            </a:r>
            <a:r>
              <a:rPr dirty="0" sz="1150" spc="-2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250" spc="-20">
                <a:solidFill>
                  <a:srgbClr val="585D60"/>
                </a:solidFill>
                <a:latin typeface="Lucida Sans Unicode"/>
                <a:cs typeface="Lucida Sans Unicode"/>
              </a:rPr>
              <a:t>+1−</a:t>
            </a:r>
            <a:r>
              <a:rPr dirty="0" sz="1150" spc="-20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endParaRPr sz="11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050">
              <a:latin typeface="Arial"/>
              <a:cs typeface="Arial"/>
            </a:endParaRPr>
          </a:p>
          <a:p>
            <a:pPr marL="379730" indent="-329565">
              <a:lnSpc>
                <a:spcPct val="100000"/>
              </a:lnSpc>
              <a:spcBef>
                <a:spcPts val="5"/>
              </a:spcBef>
              <a:buAutoNum type="arabicPeriod" startAt="2"/>
              <a:tabLst>
                <a:tab pos="380365" algn="l"/>
              </a:tabLst>
            </a:pPr>
            <a:r>
              <a:rPr dirty="0" sz="2600" spc="-135">
                <a:solidFill>
                  <a:srgbClr val="C2132D"/>
                </a:solidFill>
                <a:latin typeface="Trebuchet MS"/>
                <a:cs typeface="Trebuchet MS"/>
              </a:rPr>
              <a:t>Multi-step </a:t>
            </a:r>
            <a:r>
              <a:rPr dirty="0" sz="2600" spc="-90">
                <a:solidFill>
                  <a:srgbClr val="C2132D"/>
                </a:solidFill>
                <a:latin typeface="Trebuchet MS"/>
                <a:cs typeface="Trebuchet MS"/>
              </a:rPr>
              <a:t>Forecasts</a:t>
            </a:r>
            <a:r>
              <a:rPr dirty="0" sz="2600" spc="-240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2600" spc="-145">
                <a:solidFill>
                  <a:srgbClr val="C2132D"/>
                </a:solidFill>
                <a:latin typeface="Trebuchet MS"/>
                <a:cs typeface="Trebuchet MS"/>
              </a:rPr>
              <a:t>(t+h)</a:t>
            </a:r>
            <a:endParaRPr sz="2600">
              <a:latin typeface="Trebuchet MS"/>
              <a:cs typeface="Trebuchet MS"/>
            </a:endParaRPr>
          </a:p>
          <a:p>
            <a:pPr lvl="1" marL="431800" indent="-133985">
              <a:lnSpc>
                <a:spcPct val="100000"/>
              </a:lnSpc>
              <a:spcBef>
                <a:spcPts val="2780"/>
              </a:spcBef>
              <a:buClr>
                <a:srgbClr val="C2132D"/>
              </a:buClr>
              <a:buChar char="•"/>
              <a:tabLst>
                <a:tab pos="431800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longer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horizons</a:t>
            </a:r>
            <a:r>
              <a:rPr dirty="0" sz="1800" spc="-60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all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future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errors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are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0">
                <a:solidFill>
                  <a:srgbClr val="585D60"/>
                </a:solidFill>
                <a:latin typeface="Trebuchet MS"/>
                <a:cs typeface="Trebuchet MS"/>
              </a:rPr>
              <a:t>assumed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be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zero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40">
                <a:solidFill>
                  <a:srgbClr val="585D60"/>
                </a:solidFill>
                <a:latin typeface="Trebuchet MS"/>
                <a:cs typeface="Trebuchet MS"/>
              </a:rPr>
              <a:t>(i.e.,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200" spc="75">
                <a:solidFill>
                  <a:srgbClr val="585D60"/>
                </a:solidFill>
                <a:latin typeface="Arial"/>
                <a:cs typeface="Arial"/>
              </a:rPr>
              <a:t>E</a:t>
            </a:r>
            <a:r>
              <a:rPr dirty="0" sz="1800" spc="75">
                <a:solidFill>
                  <a:srgbClr val="585D60"/>
                </a:solidFill>
                <a:latin typeface="Lucida Sans Unicode"/>
                <a:cs typeface="Lucida Sans Unicode"/>
              </a:rPr>
              <a:t>[</a:t>
            </a:r>
            <a:r>
              <a:rPr dirty="0" sz="1650" spc="75" i="1">
                <a:solidFill>
                  <a:srgbClr val="585D60"/>
                </a:solidFill>
                <a:latin typeface="Arial"/>
                <a:cs typeface="Arial"/>
              </a:rPr>
              <a:t>ϵ</a:t>
            </a:r>
            <a:r>
              <a:rPr dirty="0" baseline="-14492" sz="1725" spc="11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3333" sz="1875" spc="112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baseline="-14492" sz="1725" spc="112" i="1">
                <a:solidFill>
                  <a:srgbClr val="585D60"/>
                </a:solidFill>
                <a:latin typeface="Arial"/>
                <a:cs typeface="Arial"/>
              </a:rPr>
              <a:t>h</a:t>
            </a:r>
            <a:r>
              <a:rPr dirty="0" sz="1800" spc="75">
                <a:solidFill>
                  <a:srgbClr val="585D60"/>
                </a:solidFill>
                <a:latin typeface="Lucida Sans Unicode"/>
                <a:cs typeface="Lucida Sans Unicode"/>
              </a:rPr>
              <a:t>]</a:t>
            </a:r>
            <a:r>
              <a:rPr dirty="0" sz="1800" spc="-6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800" spc="-6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240">
                <a:solidFill>
                  <a:srgbClr val="585D60"/>
                </a:solidFill>
                <a:latin typeface="Lucida Sans Unicode"/>
                <a:cs typeface="Lucida Sans Unicode"/>
              </a:rPr>
              <a:t>0</a:t>
            </a:r>
            <a:r>
              <a:rPr dirty="0" sz="1800" spc="-12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114" i="1">
                <a:solidFill>
                  <a:srgbClr val="585D60"/>
                </a:solidFill>
                <a:latin typeface="Arial"/>
                <a:cs typeface="Arial"/>
              </a:rPr>
              <a:t>h</a:t>
            </a:r>
            <a:r>
              <a:rPr dirty="0" sz="1650" spc="45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≥</a:t>
            </a:r>
            <a:r>
              <a:rPr dirty="0" sz="1800" spc="-6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155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800" spc="-155">
                <a:solidFill>
                  <a:srgbClr val="585D60"/>
                </a:solidFill>
                <a:latin typeface="Trebuchet MS"/>
                <a:cs typeface="Trebuchet MS"/>
              </a:rPr>
              <a:t>).</a:t>
            </a:r>
            <a:endParaRPr sz="1800">
              <a:latin typeface="Trebuchet MS"/>
              <a:cs typeface="Trebuchet MS"/>
            </a:endParaRPr>
          </a:p>
          <a:p>
            <a:pPr lvl="1" marL="431165" marR="43180" indent="-133985">
              <a:lnSpc>
                <a:spcPct val="114599"/>
              </a:lnSpc>
              <a:spcBef>
                <a:spcPts val="975"/>
              </a:spcBef>
              <a:buClr>
                <a:srgbClr val="C2132D"/>
              </a:buClr>
              <a:buChar char="•"/>
              <a:tabLst>
                <a:tab pos="431800" algn="l"/>
              </a:tabLst>
            </a:pPr>
            <a:r>
              <a:rPr dirty="0" sz="1800" spc="40">
                <a:solidFill>
                  <a:srgbClr val="585D60"/>
                </a:solidFill>
                <a:latin typeface="Trebuchet MS"/>
                <a:cs typeface="Trebuchet MS"/>
              </a:rPr>
              <a:t>This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Trebuchet MS"/>
                <a:cs typeface="Trebuchet MS"/>
              </a:rPr>
              <a:t>causes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forecast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revert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to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mean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(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c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)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over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time,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14">
                <a:solidFill>
                  <a:srgbClr val="585D60"/>
                </a:solidFill>
                <a:latin typeface="Trebuchet MS"/>
                <a:cs typeface="Trebuchet MS"/>
              </a:rPr>
              <a:t>as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past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shocks/errors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fade 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out.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64019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04">
                <a:solidFill>
                  <a:srgbClr val="C2132D"/>
                </a:solidFill>
              </a:rPr>
              <a:t>Determining </a:t>
            </a:r>
            <a:r>
              <a:rPr dirty="0" sz="3350" spc="-260">
                <a:solidFill>
                  <a:srgbClr val="C2132D"/>
                </a:solidFill>
              </a:rPr>
              <a:t>the </a:t>
            </a:r>
            <a:r>
              <a:rPr dirty="0" sz="3350" spc="-250">
                <a:solidFill>
                  <a:srgbClr val="C2132D"/>
                </a:solidFill>
              </a:rPr>
              <a:t>Order </a:t>
            </a:r>
            <a:r>
              <a:rPr dirty="0" sz="3350" spc="-140">
                <a:solidFill>
                  <a:srgbClr val="C2132D"/>
                </a:solidFill>
              </a:rPr>
              <a:t>of </a:t>
            </a:r>
            <a:r>
              <a:rPr dirty="0" sz="3350" spc="-260">
                <a:solidFill>
                  <a:srgbClr val="C2132D"/>
                </a:solidFill>
              </a:rPr>
              <a:t>the </a:t>
            </a:r>
            <a:r>
              <a:rPr dirty="0" sz="3350" spc="80">
                <a:solidFill>
                  <a:srgbClr val="C2132D"/>
                </a:solidFill>
              </a:rPr>
              <a:t>MA</a:t>
            </a:r>
            <a:r>
              <a:rPr dirty="0" sz="3350" spc="-330">
                <a:solidFill>
                  <a:srgbClr val="C2132D"/>
                </a:solidFill>
              </a:rPr>
              <a:t> </a:t>
            </a:r>
            <a:r>
              <a:rPr dirty="0" sz="3350" spc="-120">
                <a:solidFill>
                  <a:srgbClr val="C2132D"/>
                </a:solidFill>
              </a:rPr>
              <a:t>Model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148754" y="1376044"/>
            <a:ext cx="9448800" cy="18637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462280" indent="-133985">
              <a:lnSpc>
                <a:spcPct val="1181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order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10">
                <a:solidFill>
                  <a:srgbClr val="585D60"/>
                </a:solidFill>
                <a:latin typeface="Trebuchet MS"/>
                <a:cs typeface="Trebuchet MS"/>
              </a:rPr>
              <a:t>MA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0">
                <a:solidFill>
                  <a:srgbClr val="585D60"/>
                </a:solidFill>
                <a:latin typeface="Trebuchet MS"/>
                <a:cs typeface="Trebuchet MS"/>
              </a:rPr>
              <a:t>Process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refers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many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lags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you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include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moving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average 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model.</a:t>
            </a:r>
            <a:endParaRPr sz="1800">
              <a:latin typeface="Trebuchet MS"/>
              <a:cs typeface="Trebuchet MS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ACF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10">
                <a:solidFill>
                  <a:srgbClr val="585D60"/>
                </a:solidFill>
                <a:latin typeface="Trebuchet MS"/>
                <a:cs typeface="Trebuchet MS"/>
              </a:rPr>
              <a:t>MA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process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will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0">
                <a:solidFill>
                  <a:srgbClr val="585D60"/>
                </a:solidFill>
                <a:latin typeface="Trebuchet MS"/>
                <a:cs typeface="Trebuchet MS"/>
              </a:rPr>
              <a:t>show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sharp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cut-off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after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lag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-114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r>
              <a:rPr dirty="0" sz="1650" spc="15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(the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order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10">
                <a:solidFill>
                  <a:srgbClr val="585D60"/>
                </a:solidFill>
                <a:latin typeface="Trebuchet MS"/>
                <a:cs typeface="Trebuchet MS"/>
              </a:rPr>
              <a:t>MA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model).</a:t>
            </a:r>
            <a:endParaRPr sz="1800">
              <a:latin typeface="Trebuchet MS"/>
              <a:cs typeface="Trebuchet MS"/>
            </a:endParaRPr>
          </a:p>
          <a:p>
            <a:pPr marL="146050" marR="495934" indent="-133985">
              <a:lnSpc>
                <a:spcPct val="118100"/>
              </a:lnSpc>
              <a:spcBef>
                <a:spcPts val="819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 spc="40">
                <a:solidFill>
                  <a:srgbClr val="585D60"/>
                </a:solidFill>
                <a:latin typeface="Trebuchet MS"/>
                <a:cs typeface="Trebuchet MS"/>
              </a:rPr>
              <a:t>This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cutting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off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theoretically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related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population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autocorrelation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function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  </a:t>
            </a:r>
            <a:r>
              <a:rPr dirty="0" sz="1800" spc="70">
                <a:solidFill>
                  <a:srgbClr val="585D60"/>
                </a:solidFill>
                <a:latin typeface="Trebuchet MS"/>
                <a:cs typeface="Trebuchet MS"/>
              </a:rPr>
              <a:t>MA(q)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process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at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lag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-60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800" spc="-60">
                <a:solidFill>
                  <a:srgbClr val="585D60"/>
                </a:solidFill>
                <a:latin typeface="Trebuchet MS"/>
                <a:cs typeface="Trebuchet MS"/>
              </a:rPr>
              <a:t>: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44130" y="3216503"/>
            <a:ext cx="93027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650" spc="80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sz="1800" spc="80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650" spc="80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800" spc="80">
                <a:solidFill>
                  <a:srgbClr val="585D60"/>
                </a:solidFill>
                <a:latin typeface="Lucida Sans Unicode"/>
                <a:cs typeface="Lucida Sans Unicode"/>
              </a:rPr>
              <a:t>)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800" spc="-30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5400" spc="-355">
                <a:solidFill>
                  <a:srgbClr val="585D60"/>
                </a:solidFill>
                <a:latin typeface="Arial"/>
                <a:cs typeface="Arial"/>
              </a:rPr>
              <a:t>{</a:t>
            </a:r>
            <a:endParaRPr sz="5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87254" y="3911599"/>
            <a:ext cx="20383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240">
                <a:solidFill>
                  <a:srgbClr val="585D60"/>
                </a:solidFill>
                <a:latin typeface="Lucida Sans Unicode"/>
                <a:cs typeface="Lucida Sans Unicode"/>
              </a:rPr>
              <a:t>0</a:t>
            </a: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endParaRPr sz="1800">
              <a:latin typeface="Lucida Sans Unicode"/>
              <a:cs typeface="Lucida Sans Unicode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42570" y="3404869"/>
            <a:ext cx="1468120" cy="8064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42400"/>
              </a:lnSpc>
              <a:spcBef>
                <a:spcPts val="100"/>
              </a:spcBef>
            </a:pPr>
            <a:r>
              <a:rPr dirty="0" sz="1650" spc="110" i="1">
                <a:solidFill>
                  <a:srgbClr val="585D60"/>
                </a:solidFill>
                <a:latin typeface="Arial"/>
                <a:cs typeface="Arial"/>
              </a:rPr>
              <a:t>k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800" spc="-155">
                <a:solidFill>
                  <a:srgbClr val="585D60"/>
                </a:solidFill>
                <a:latin typeface="Lucida Sans Unicode"/>
                <a:cs typeface="Lucida Sans Unicode"/>
              </a:rPr>
              <a:t>1, 2, </a:t>
            </a:r>
            <a:r>
              <a:rPr dirty="0" sz="1800" spc="305">
                <a:solidFill>
                  <a:srgbClr val="585D60"/>
                </a:solidFill>
                <a:latin typeface="Lucida Sans Unicode"/>
                <a:cs typeface="Lucida Sans Unicode"/>
              </a:rPr>
              <a:t>…</a:t>
            </a:r>
            <a:r>
              <a:rPr dirty="0" sz="1800" spc="-29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, </a:t>
            </a:r>
            <a:r>
              <a:rPr dirty="0" sz="1650" spc="-114" i="1">
                <a:solidFill>
                  <a:srgbClr val="585D60"/>
                </a:solidFill>
                <a:latin typeface="Arial"/>
                <a:cs typeface="Arial"/>
              </a:rPr>
              <a:t>q  </a:t>
            </a:r>
            <a:r>
              <a:rPr dirty="0" sz="1650" spc="110" i="1">
                <a:solidFill>
                  <a:srgbClr val="585D60"/>
                </a:solidFill>
                <a:latin typeface="Arial"/>
                <a:cs typeface="Arial"/>
              </a:rPr>
              <a:t>k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&gt;</a:t>
            </a:r>
            <a:r>
              <a:rPr dirty="0" sz="1800" spc="-15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114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endParaRPr sz="16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92020" y="3673474"/>
            <a:ext cx="8953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70">
                <a:solidFill>
                  <a:srgbClr val="585D60"/>
                </a:solidFill>
                <a:latin typeface="Lucida Sans Unicode"/>
                <a:cs typeface="Lucida Sans Unicode"/>
              </a:rPr>
              <a:t>.</a:t>
            </a:r>
            <a:endParaRPr sz="1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399061" y="3378199"/>
            <a:ext cx="186563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dirty="0" sz="1250" spc="25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150" spc="2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7361" sz="1200" spc="37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250" spc="2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150" spc="2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5432" sz="1350" spc="37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150" spc="2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7361" sz="1200" spc="37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baseline="-15432" sz="1350" spc="37">
                <a:solidFill>
                  <a:srgbClr val="585D60"/>
                </a:solidFill>
                <a:latin typeface="Lucida Sans Unicode"/>
                <a:cs typeface="Lucida Sans Unicode"/>
              </a:rPr>
              <a:t>+1</a:t>
            </a:r>
            <a:r>
              <a:rPr dirty="0" sz="1250" spc="25">
                <a:solidFill>
                  <a:srgbClr val="585D60"/>
                </a:solidFill>
                <a:latin typeface="Lucida Sans Unicode"/>
                <a:cs typeface="Lucida Sans Unicode"/>
              </a:rPr>
              <a:t>+⋯+</a:t>
            </a:r>
            <a:r>
              <a:rPr dirty="0" sz="1150" spc="2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7361" sz="1200" spc="37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r>
              <a:rPr dirty="0" baseline="-15432" sz="1350" spc="37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baseline="-17361" sz="1200" spc="37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150" spc="25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-17361" sz="1200" spc="37" i="1">
                <a:solidFill>
                  <a:srgbClr val="585D60"/>
                </a:solidFill>
                <a:latin typeface="Arial"/>
                <a:cs typeface="Arial"/>
              </a:rPr>
              <a:t>q </a:t>
            </a:r>
            <a:r>
              <a:rPr dirty="0" sz="1250" spc="85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r>
              <a:rPr dirty="0" sz="1250" spc="-29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baseline="-35493" sz="2700" spc="-104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endParaRPr baseline="-35493" sz="27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86300" y="3797394"/>
            <a:ext cx="8255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2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9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778424" y="3702430"/>
            <a:ext cx="998219" cy="21971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dirty="0" sz="1250" spc="10">
                <a:solidFill>
                  <a:srgbClr val="585D60"/>
                </a:solidFill>
                <a:latin typeface="Lucida Sans Unicode"/>
                <a:cs typeface="Lucida Sans Unicode"/>
              </a:rPr>
              <a:t>1+</a:t>
            </a:r>
            <a:r>
              <a:rPr dirty="0" sz="1150" spc="10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30864" sz="1350" spc="15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r>
              <a:rPr dirty="0" sz="1250" spc="10">
                <a:solidFill>
                  <a:srgbClr val="585D60"/>
                </a:solidFill>
                <a:latin typeface="Lucida Sans Unicode"/>
                <a:cs typeface="Lucida Sans Unicode"/>
              </a:rPr>
              <a:t>+⋯+</a:t>
            </a:r>
            <a:r>
              <a:rPr dirty="0" sz="1150" spc="10" i="1">
                <a:solidFill>
                  <a:srgbClr val="585D60"/>
                </a:solidFill>
                <a:latin typeface="Arial"/>
                <a:cs typeface="Arial"/>
              </a:rPr>
              <a:t>θ</a:t>
            </a:r>
            <a:r>
              <a:rPr dirty="0" baseline="30864" sz="1350" spc="15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endParaRPr baseline="30864" sz="135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668366" y="3777842"/>
            <a:ext cx="76835" cy="15176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45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endParaRPr sz="800">
              <a:latin typeface="Arial"/>
              <a:cs typeface="Arial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429125" y="3700462"/>
            <a:ext cx="1704975" cy="0"/>
          </a:xfrm>
          <a:custGeom>
            <a:avLst/>
            <a:gdLst/>
            <a:ahLst/>
            <a:cxnLst/>
            <a:rect l="l" t="t" r="r" b="b"/>
            <a:pathLst>
              <a:path w="1704975" h="0">
                <a:moveTo>
                  <a:pt x="0" y="0"/>
                </a:moveTo>
                <a:lnTo>
                  <a:pt x="1704974" y="0"/>
                </a:lnTo>
              </a:path>
            </a:pathLst>
          </a:custGeom>
          <a:ln w="9524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1148754" y="4404994"/>
            <a:ext cx="9280525" cy="654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5080" indent="-133985">
              <a:lnSpc>
                <a:spcPct val="114599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While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equation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Trebuchet MS"/>
                <a:cs typeface="Trebuchet MS"/>
              </a:rPr>
              <a:t>looks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quite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complex,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key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takeaway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that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not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significant  </a:t>
            </a:r>
            <a:r>
              <a:rPr dirty="0" sz="1800" spc="-60">
                <a:solidFill>
                  <a:srgbClr val="585D60"/>
                </a:solidFill>
                <a:latin typeface="Trebuchet MS"/>
                <a:cs typeface="Trebuchet MS"/>
              </a:rPr>
              <a:t>(will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cut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off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after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lag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50" spc="-65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)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0">
                <a:solidFill>
                  <a:srgbClr val="585D60"/>
                </a:solidFill>
                <a:latin typeface="Trebuchet MS"/>
                <a:cs typeface="Trebuchet MS"/>
              </a:rPr>
              <a:t>MA(q)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process.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25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386840" y="2474976"/>
            <a:ext cx="8726805" cy="1076325"/>
          </a:xfrm>
          <a:custGeom>
            <a:avLst/>
            <a:gdLst/>
            <a:ahLst/>
            <a:cxnLst/>
            <a:rect l="l" t="t" r="r" b="b"/>
            <a:pathLst>
              <a:path w="8726805" h="1076325">
                <a:moveTo>
                  <a:pt x="0" y="0"/>
                </a:moveTo>
                <a:lnTo>
                  <a:pt x="8726424" y="0"/>
                </a:lnTo>
                <a:lnTo>
                  <a:pt x="8726424" y="1075944"/>
                </a:lnTo>
                <a:lnTo>
                  <a:pt x="0" y="107594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4773168" y="3023616"/>
            <a:ext cx="1993900" cy="935990"/>
          </a:xfrm>
          <a:custGeom>
            <a:avLst/>
            <a:gdLst/>
            <a:ahLst/>
            <a:cxnLst/>
            <a:rect l="l" t="t" r="r" b="b"/>
            <a:pathLst>
              <a:path w="1993900" h="935989">
                <a:moveTo>
                  <a:pt x="0" y="0"/>
                </a:moveTo>
                <a:lnTo>
                  <a:pt x="1993392" y="0"/>
                </a:lnTo>
                <a:lnTo>
                  <a:pt x="1993392" y="935736"/>
                </a:lnTo>
                <a:lnTo>
                  <a:pt x="0" y="93573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17475" rIns="0" bIns="0" rtlCol="0" vert="horz">
            <a:spAutoFit/>
          </a:bodyPr>
          <a:lstStyle/>
          <a:p>
            <a:pPr marL="3368040" marR="5080" indent="-3355975">
              <a:lnSpc>
                <a:spcPts val="4120"/>
              </a:lnSpc>
              <a:spcBef>
                <a:spcPts val="925"/>
              </a:spcBef>
            </a:pPr>
            <a:r>
              <a:rPr dirty="0" spc="-1060">
                <a:solidFill>
                  <a:srgbClr val="000000"/>
                </a:solidFill>
              </a:rPr>
              <a:t>A</a:t>
            </a:r>
            <a:r>
              <a:rPr dirty="0" spc="-1060"/>
              <a:t>A</a:t>
            </a:r>
            <a:r>
              <a:rPr dirty="0" spc="-1060">
                <a:solidFill>
                  <a:srgbClr val="000000"/>
                </a:solidFill>
              </a:rPr>
              <a:t>u</a:t>
            </a:r>
            <a:r>
              <a:rPr dirty="0" spc="-1060"/>
              <a:t>u</a:t>
            </a:r>
            <a:r>
              <a:rPr dirty="0" spc="-1060">
                <a:solidFill>
                  <a:srgbClr val="000000"/>
                </a:solidFill>
              </a:rPr>
              <a:t>t</a:t>
            </a:r>
            <a:r>
              <a:rPr dirty="0" spc="-1060"/>
              <a:t>t</a:t>
            </a:r>
            <a:r>
              <a:rPr dirty="0" spc="-1060">
                <a:solidFill>
                  <a:srgbClr val="000000"/>
                </a:solidFill>
              </a:rPr>
              <a:t>o</a:t>
            </a:r>
            <a:r>
              <a:rPr dirty="0" spc="-1060"/>
              <a:t>o</a:t>
            </a:r>
            <a:r>
              <a:rPr dirty="0" spc="-1060">
                <a:solidFill>
                  <a:srgbClr val="000000"/>
                </a:solidFill>
              </a:rPr>
              <a:t>r</a:t>
            </a:r>
            <a:r>
              <a:rPr dirty="0" spc="-1060"/>
              <a:t>r</a:t>
            </a:r>
            <a:r>
              <a:rPr dirty="0" spc="-1060">
                <a:solidFill>
                  <a:srgbClr val="000000"/>
                </a:solidFill>
              </a:rPr>
              <a:t>e</a:t>
            </a:r>
            <a:r>
              <a:rPr dirty="0" spc="-1060"/>
              <a:t>e</a:t>
            </a:r>
            <a:r>
              <a:rPr dirty="0" spc="-1060">
                <a:solidFill>
                  <a:srgbClr val="000000"/>
                </a:solidFill>
              </a:rPr>
              <a:t>g</a:t>
            </a:r>
            <a:r>
              <a:rPr dirty="0" spc="-1060"/>
              <a:t>g</a:t>
            </a:r>
            <a:r>
              <a:rPr dirty="0" spc="-1060">
                <a:solidFill>
                  <a:srgbClr val="000000"/>
                </a:solidFill>
              </a:rPr>
              <a:t>r</a:t>
            </a:r>
            <a:r>
              <a:rPr dirty="0" spc="-1060"/>
              <a:t>r</a:t>
            </a:r>
            <a:r>
              <a:rPr dirty="0" spc="-1060">
                <a:solidFill>
                  <a:srgbClr val="000000"/>
                </a:solidFill>
              </a:rPr>
              <a:t>e</a:t>
            </a:r>
            <a:r>
              <a:rPr dirty="0" spc="-1060"/>
              <a:t>e</a:t>
            </a:r>
            <a:r>
              <a:rPr dirty="0" spc="-1060">
                <a:solidFill>
                  <a:srgbClr val="000000"/>
                </a:solidFill>
              </a:rPr>
              <a:t>s</a:t>
            </a:r>
            <a:r>
              <a:rPr dirty="0" spc="-1060"/>
              <a:t>s</a:t>
            </a:r>
            <a:r>
              <a:rPr dirty="0" spc="-1060">
                <a:solidFill>
                  <a:srgbClr val="000000"/>
                </a:solidFill>
              </a:rPr>
              <a:t>s</a:t>
            </a:r>
            <a:r>
              <a:rPr dirty="0" spc="-1060"/>
              <a:t>s</a:t>
            </a:r>
            <a:r>
              <a:rPr dirty="0" spc="-1060">
                <a:solidFill>
                  <a:srgbClr val="000000"/>
                </a:solidFill>
              </a:rPr>
              <a:t>i</a:t>
            </a:r>
            <a:r>
              <a:rPr dirty="0" spc="-1060"/>
              <a:t>i</a:t>
            </a:r>
            <a:r>
              <a:rPr dirty="0" spc="-1060">
                <a:solidFill>
                  <a:srgbClr val="000000"/>
                </a:solidFill>
              </a:rPr>
              <a:t>v</a:t>
            </a:r>
            <a:r>
              <a:rPr dirty="0" spc="-1060"/>
              <a:t>v</a:t>
            </a:r>
            <a:r>
              <a:rPr dirty="0" spc="-1060">
                <a:solidFill>
                  <a:srgbClr val="000000"/>
                </a:solidFill>
              </a:rPr>
              <a:t>e</a:t>
            </a:r>
            <a:r>
              <a:rPr dirty="0" spc="-1060"/>
              <a:t>e </a:t>
            </a:r>
            <a:r>
              <a:rPr dirty="0" spc="-1110">
                <a:solidFill>
                  <a:srgbClr val="000000"/>
                </a:solidFill>
              </a:rPr>
              <a:t>M</a:t>
            </a:r>
            <a:r>
              <a:rPr dirty="0" spc="-1110"/>
              <a:t>M</a:t>
            </a:r>
            <a:r>
              <a:rPr dirty="0" spc="-1110">
                <a:solidFill>
                  <a:srgbClr val="000000"/>
                </a:solidFill>
              </a:rPr>
              <a:t>o</a:t>
            </a:r>
            <a:r>
              <a:rPr dirty="0" spc="-1110"/>
              <a:t>o</a:t>
            </a:r>
            <a:r>
              <a:rPr dirty="0" spc="-1110">
                <a:solidFill>
                  <a:srgbClr val="000000"/>
                </a:solidFill>
              </a:rPr>
              <a:t>v</a:t>
            </a:r>
            <a:r>
              <a:rPr dirty="0" spc="-1110"/>
              <a:t>v</a:t>
            </a:r>
            <a:r>
              <a:rPr dirty="0" spc="-1110">
                <a:solidFill>
                  <a:srgbClr val="000000"/>
                </a:solidFill>
              </a:rPr>
              <a:t>i</a:t>
            </a:r>
            <a:r>
              <a:rPr dirty="0" spc="-1110"/>
              <a:t>i</a:t>
            </a:r>
            <a:r>
              <a:rPr dirty="0" spc="-1110">
                <a:solidFill>
                  <a:srgbClr val="000000"/>
                </a:solidFill>
              </a:rPr>
              <a:t>n</a:t>
            </a:r>
            <a:r>
              <a:rPr dirty="0" spc="-1110"/>
              <a:t>n</a:t>
            </a:r>
            <a:r>
              <a:rPr dirty="0" spc="-1110">
                <a:solidFill>
                  <a:srgbClr val="000000"/>
                </a:solidFill>
              </a:rPr>
              <a:t>g</a:t>
            </a:r>
            <a:r>
              <a:rPr dirty="0" spc="-1110"/>
              <a:t>g </a:t>
            </a:r>
            <a:r>
              <a:rPr dirty="0" spc="-1170">
                <a:solidFill>
                  <a:srgbClr val="000000"/>
                </a:solidFill>
              </a:rPr>
              <a:t>A</a:t>
            </a:r>
            <a:r>
              <a:rPr dirty="0" spc="-1170"/>
              <a:t>A</a:t>
            </a:r>
            <a:r>
              <a:rPr dirty="0" spc="-1170">
                <a:solidFill>
                  <a:srgbClr val="000000"/>
                </a:solidFill>
              </a:rPr>
              <a:t>v</a:t>
            </a:r>
            <a:r>
              <a:rPr dirty="0" spc="-1170"/>
              <a:t>v</a:t>
            </a:r>
            <a:r>
              <a:rPr dirty="0" spc="-1170">
                <a:solidFill>
                  <a:srgbClr val="000000"/>
                </a:solidFill>
              </a:rPr>
              <a:t>e</a:t>
            </a:r>
            <a:r>
              <a:rPr dirty="0" spc="-1170"/>
              <a:t>e</a:t>
            </a:r>
            <a:r>
              <a:rPr dirty="0" spc="-1170">
                <a:solidFill>
                  <a:srgbClr val="000000"/>
                </a:solidFill>
              </a:rPr>
              <a:t>r</a:t>
            </a:r>
            <a:r>
              <a:rPr dirty="0" spc="-1170"/>
              <a:t>r</a:t>
            </a:r>
            <a:r>
              <a:rPr dirty="0" spc="-1170">
                <a:solidFill>
                  <a:srgbClr val="000000"/>
                </a:solidFill>
              </a:rPr>
              <a:t>a</a:t>
            </a:r>
            <a:r>
              <a:rPr dirty="0" spc="-1170"/>
              <a:t>a</a:t>
            </a:r>
            <a:r>
              <a:rPr dirty="0" spc="-1170">
                <a:solidFill>
                  <a:srgbClr val="000000"/>
                </a:solidFill>
              </a:rPr>
              <a:t>g</a:t>
            </a:r>
            <a:r>
              <a:rPr dirty="0" spc="-1170"/>
              <a:t>g</a:t>
            </a:r>
            <a:r>
              <a:rPr dirty="0" spc="-1170">
                <a:solidFill>
                  <a:srgbClr val="000000"/>
                </a:solidFill>
              </a:rPr>
              <a:t>e</a:t>
            </a:r>
            <a:r>
              <a:rPr dirty="0" spc="-1170"/>
              <a:t>e </a:t>
            </a:r>
            <a:r>
              <a:rPr dirty="0" spc="-1135">
                <a:solidFill>
                  <a:srgbClr val="000000"/>
                </a:solidFill>
              </a:rPr>
              <a:t>(</a:t>
            </a:r>
            <a:r>
              <a:rPr dirty="0" spc="-1135"/>
              <a:t>(</a:t>
            </a:r>
            <a:r>
              <a:rPr dirty="0" spc="-1135">
                <a:solidFill>
                  <a:srgbClr val="000000"/>
                </a:solidFill>
              </a:rPr>
              <a:t>A</a:t>
            </a:r>
            <a:r>
              <a:rPr dirty="0" spc="-1135"/>
              <a:t>A</a:t>
            </a:r>
            <a:r>
              <a:rPr dirty="0" spc="-1135">
                <a:solidFill>
                  <a:srgbClr val="000000"/>
                </a:solidFill>
              </a:rPr>
              <a:t>R</a:t>
            </a:r>
            <a:r>
              <a:rPr dirty="0" spc="-1135"/>
              <a:t>R</a:t>
            </a:r>
            <a:r>
              <a:rPr dirty="0" spc="-1135">
                <a:solidFill>
                  <a:srgbClr val="000000"/>
                </a:solidFill>
              </a:rPr>
              <a:t>M</a:t>
            </a:r>
            <a:r>
              <a:rPr dirty="0" spc="-1135"/>
              <a:t>M</a:t>
            </a:r>
            <a:r>
              <a:rPr dirty="0" spc="-1135">
                <a:solidFill>
                  <a:srgbClr val="000000"/>
                </a:solidFill>
              </a:rPr>
              <a:t>A</a:t>
            </a:r>
            <a:r>
              <a:rPr dirty="0" spc="-1135"/>
              <a:t>A</a:t>
            </a:r>
            <a:r>
              <a:rPr dirty="0" spc="-1135">
                <a:solidFill>
                  <a:srgbClr val="000000"/>
                </a:solidFill>
              </a:rPr>
              <a:t>)</a:t>
            </a:r>
            <a:r>
              <a:rPr dirty="0" spc="-1135"/>
              <a:t>)  </a:t>
            </a:r>
            <a:r>
              <a:rPr dirty="0" spc="-1245"/>
              <a:t>M</a:t>
            </a:r>
            <a:r>
              <a:rPr dirty="0" spc="-1245">
                <a:solidFill>
                  <a:srgbClr val="000000"/>
                </a:solidFill>
              </a:rPr>
              <a:t>Mo</a:t>
            </a:r>
            <a:r>
              <a:rPr dirty="0" spc="-1245"/>
              <a:t>o</a:t>
            </a:r>
            <a:r>
              <a:rPr dirty="0" spc="-1245">
                <a:solidFill>
                  <a:srgbClr val="000000"/>
                </a:solidFill>
              </a:rPr>
              <a:t>d</a:t>
            </a:r>
            <a:r>
              <a:rPr dirty="0" spc="-1245"/>
              <a:t>d</a:t>
            </a:r>
            <a:r>
              <a:rPr dirty="0" spc="-1245">
                <a:solidFill>
                  <a:srgbClr val="000000"/>
                </a:solidFill>
              </a:rPr>
              <a:t>e</a:t>
            </a:r>
            <a:r>
              <a:rPr dirty="0" spc="-1245"/>
              <a:t>e</a:t>
            </a:r>
            <a:r>
              <a:rPr dirty="0" spc="-1245">
                <a:solidFill>
                  <a:srgbClr val="000000"/>
                </a:solidFill>
              </a:rPr>
              <a:t>l</a:t>
            </a:r>
            <a:r>
              <a:rPr dirty="0" spc="-1245"/>
              <a:t>ls</a:t>
            </a:r>
            <a:r>
              <a:rPr dirty="0" spc="-1245">
                <a:solidFill>
                  <a:srgbClr val="000000"/>
                </a:solidFill>
              </a:rPr>
              <a:t>s</a:t>
            </a:r>
          </a:p>
        </p:txBody>
      </p:sp>
      <p:sp>
        <p:nvSpPr>
          <p:cNvPr id="5" name="object 5"/>
          <p:cNvSpPr/>
          <p:nvPr/>
        </p:nvSpPr>
        <p:spPr>
          <a:xfrm>
            <a:off x="10631423" y="5995415"/>
            <a:ext cx="894080" cy="491490"/>
          </a:xfrm>
          <a:custGeom>
            <a:avLst/>
            <a:gdLst/>
            <a:ahLst/>
            <a:cxnLst/>
            <a:rect l="l" t="t" r="r" b="b"/>
            <a:pathLst>
              <a:path w="894079" h="491489">
                <a:moveTo>
                  <a:pt x="0" y="0"/>
                </a:moveTo>
                <a:lnTo>
                  <a:pt x="893825" y="0"/>
                </a:lnTo>
                <a:lnTo>
                  <a:pt x="893825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 spc="-295">
                <a:latin typeface="Trebuchet MS"/>
                <a:cs typeface="Trebuchet MS"/>
              </a:rPr>
              <a:t>2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  <a:r>
              <a:rPr dirty="0" sz="1200" spc="-295">
                <a:latin typeface="Trebuchet MS"/>
                <a:cs typeface="Trebuchet MS"/>
              </a:rPr>
              <a:t>9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9 </a:t>
            </a:r>
            <a:r>
              <a:rPr dirty="0" sz="1200" spc="-385">
                <a:latin typeface="Trebuchet MS"/>
                <a:cs typeface="Trebuchet MS"/>
              </a:rPr>
              <a:t>/</a:t>
            </a:r>
            <a:r>
              <a:rPr dirty="0" sz="1200" spc="-385">
                <a:solidFill>
                  <a:srgbClr val="FFFFFF"/>
                </a:solidFill>
                <a:latin typeface="Trebuchet MS"/>
                <a:cs typeface="Trebuchet MS"/>
              </a:rPr>
              <a:t>/</a:t>
            </a:r>
            <a:r>
              <a:rPr dirty="0" sz="1200" spc="-9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5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5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962274" y="6415087"/>
            <a:ext cx="5600700" cy="0"/>
          </a:xfrm>
          <a:custGeom>
            <a:avLst/>
            <a:gdLst/>
            <a:ahLst/>
            <a:cxnLst/>
            <a:rect l="l" t="t" r="r" b="b"/>
            <a:pathLst>
              <a:path w="5600700" h="0">
                <a:moveTo>
                  <a:pt x="0" y="0"/>
                </a:moveTo>
                <a:lnTo>
                  <a:pt x="5600699" y="0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/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980729" y="4457700"/>
          <a:ext cx="5719445" cy="1933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50594"/>
                <a:gridCol w="2171065"/>
                <a:gridCol w="2597785"/>
              </a:tblGrid>
              <a:tr h="347662">
                <a:tc>
                  <a:txBody>
                    <a:bodyPr/>
                    <a:lstStyle/>
                    <a:p>
                      <a:pPr marL="45720" marR="130810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dirty="0" sz="1450" spc="5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Model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8895">
                    <a:lnT w="9525">
                      <a:solidFill>
                        <a:srgbClr val="666666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50825" marR="12065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dirty="0" sz="1450" spc="10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ACF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8895">
                    <a:lnT w="9525">
                      <a:solidFill>
                        <a:srgbClr val="666666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381635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dirty="0" sz="1450" spc="-5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PACF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8895">
                    <a:lnT w="9525">
                      <a:solidFill>
                        <a:srgbClr val="666666"/>
                      </a:solidFill>
                      <a:prstDash val="solid"/>
                    </a:lnT>
                  </a:tcPr>
                </a:tc>
              </a:tr>
              <a:tr h="514349">
                <a:tc>
                  <a:txBody>
                    <a:bodyPr/>
                    <a:lstStyle/>
                    <a:p>
                      <a:pPr marL="45085" marR="13081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dirty="0" sz="1450" spc="-5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AR(p)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13017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250825">
                        <a:lnSpc>
                          <a:spcPts val="1650"/>
                        </a:lnSpc>
                        <a:spcBef>
                          <a:spcPts val="330"/>
                        </a:spcBef>
                      </a:pPr>
                      <a:r>
                        <a:rPr dirty="0" sz="1450" spc="-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Exponentially </a:t>
                      </a:r>
                      <a:r>
                        <a:rPr dirty="0" sz="1450" spc="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decays</a:t>
                      </a:r>
                      <a:r>
                        <a:rPr dirty="0" sz="1450" spc="-16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-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or  </a:t>
                      </a:r>
                      <a:r>
                        <a:rPr dirty="0" sz="1450" spc="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damped </a:t>
                      </a:r>
                      <a:r>
                        <a:rPr dirty="0" sz="1450" spc="1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sinusoidal</a:t>
                      </a:r>
                      <a:r>
                        <a:rPr dirty="0" sz="1450" spc="-2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-5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patt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4191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762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dirty="0" baseline="-32567" sz="2175" spc="-52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ern </a:t>
                      </a:r>
                      <a:r>
                        <a:rPr dirty="0" sz="1450" spc="3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Cuts </a:t>
                      </a:r>
                      <a:r>
                        <a:rPr dirty="0" sz="1450" spc="-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off </a:t>
                      </a:r>
                      <a:r>
                        <a:rPr dirty="0" sz="1450" spc="-4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after </a:t>
                      </a:r>
                      <a:r>
                        <a:rPr dirty="0" sz="1450" spc="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lag</a:t>
                      </a:r>
                      <a:r>
                        <a:rPr dirty="0" sz="1450" spc="-2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p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130175">
                    <a:solidFill>
                      <a:srgbClr val="EDEDED"/>
                    </a:solidFill>
                  </a:tcPr>
                </a:tc>
              </a:tr>
              <a:tr h="552449">
                <a:tc>
                  <a:txBody>
                    <a:bodyPr/>
                    <a:lstStyle/>
                    <a:p>
                      <a:pPr marL="45085" marR="130810">
                        <a:lnSpc>
                          <a:spcPct val="100000"/>
                        </a:lnSpc>
                        <a:spcBef>
                          <a:spcPts val="1175"/>
                        </a:spcBef>
                      </a:pPr>
                      <a:r>
                        <a:rPr dirty="0" sz="1450" spc="25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MA(q)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  <a:p>
                      <a:pPr marR="13081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  <a:p>
                      <a:pPr marL="45085">
                        <a:lnSpc>
                          <a:spcPct val="100000"/>
                        </a:lnSpc>
                      </a:pPr>
                      <a:r>
                        <a:rPr dirty="0" sz="1450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A</a:t>
                      </a:r>
                      <a:r>
                        <a:rPr dirty="0" sz="1450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R</a:t>
                      </a:r>
                      <a:r>
                        <a:rPr dirty="0" sz="1450" spc="10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M</a:t>
                      </a:r>
                      <a:r>
                        <a:rPr dirty="0" sz="1450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A</a:t>
                      </a:r>
                      <a:r>
                        <a:rPr dirty="0" sz="1450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(</a:t>
                      </a:r>
                      <a:r>
                        <a:rPr dirty="0" sz="1450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p</a:t>
                      </a:r>
                      <a:r>
                        <a:rPr dirty="0" sz="1450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,</a:t>
                      </a:r>
                      <a:r>
                        <a:rPr dirty="0" sz="1450" b="1">
                          <a:solidFill>
                            <a:srgbClr val="C2132D"/>
                          </a:solidFill>
                          <a:latin typeface="Trebuchet MS"/>
                          <a:cs typeface="Trebuchet MS"/>
                        </a:rPr>
                        <a:t>q)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1492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250825" marR="12065">
                        <a:lnSpc>
                          <a:spcPct val="100000"/>
                        </a:lnSpc>
                        <a:spcBef>
                          <a:spcPts val="1175"/>
                        </a:spcBef>
                      </a:pPr>
                      <a:r>
                        <a:rPr dirty="0" sz="1450" spc="3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Cuts </a:t>
                      </a:r>
                      <a:r>
                        <a:rPr dirty="0" sz="1450" spc="-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off </a:t>
                      </a:r>
                      <a:r>
                        <a:rPr dirty="0" sz="1450" spc="-4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after </a:t>
                      </a:r>
                      <a:r>
                        <a:rPr dirty="0" sz="1450" spc="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lag</a:t>
                      </a:r>
                      <a:r>
                        <a:rPr dirty="0" sz="1450" spc="-3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q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  <a:p>
                      <a:pPr marR="12065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L="250825">
                        <a:lnSpc>
                          <a:spcPts val="1650"/>
                        </a:lnSpc>
                      </a:pPr>
                      <a:r>
                        <a:rPr dirty="0" sz="1450" spc="-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Exponentially </a:t>
                      </a:r>
                      <a:r>
                        <a:rPr dirty="0" sz="1450" spc="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decays</a:t>
                      </a:r>
                      <a:r>
                        <a:rPr dirty="0" sz="1450" spc="-16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-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or  </a:t>
                      </a:r>
                      <a:r>
                        <a:rPr dirty="0" sz="1450" spc="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damped </a:t>
                      </a:r>
                      <a:r>
                        <a:rPr dirty="0" sz="1450" spc="1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sinusoidal</a:t>
                      </a:r>
                      <a:r>
                        <a:rPr dirty="0" sz="1450" spc="-2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-5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patt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1492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381635" marR="38735">
                        <a:lnSpc>
                          <a:spcPts val="1650"/>
                        </a:lnSpc>
                        <a:spcBef>
                          <a:spcPts val="480"/>
                        </a:spcBef>
                      </a:pPr>
                      <a:r>
                        <a:rPr dirty="0" sz="1450" spc="-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Exponentially </a:t>
                      </a:r>
                      <a:r>
                        <a:rPr dirty="0" sz="1450" spc="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decays </a:t>
                      </a:r>
                      <a:r>
                        <a:rPr dirty="0" sz="1450" spc="-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or  </a:t>
                      </a:r>
                      <a:r>
                        <a:rPr dirty="0" sz="1450" spc="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damped </a:t>
                      </a:r>
                      <a:r>
                        <a:rPr dirty="0" sz="1450" spc="1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sinusoidal</a:t>
                      </a:r>
                      <a:r>
                        <a:rPr dirty="0" sz="1450" spc="-2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-4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pattern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  <a:p>
                      <a:pPr marL="7620" marR="38735" indent="374015">
                        <a:lnSpc>
                          <a:spcPts val="1650"/>
                        </a:lnSpc>
                        <a:spcBef>
                          <a:spcPts val="900"/>
                        </a:spcBef>
                      </a:pPr>
                      <a:r>
                        <a:rPr dirty="0" sz="1450" spc="-2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Exponentially </a:t>
                      </a:r>
                      <a:r>
                        <a:rPr dirty="0" sz="1450" spc="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decays </a:t>
                      </a:r>
                      <a:r>
                        <a:rPr dirty="0" sz="1450" spc="-2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or  </a:t>
                      </a:r>
                      <a:r>
                        <a:rPr dirty="0" sz="1450" spc="-3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ern  </a:t>
                      </a:r>
                      <a:r>
                        <a:rPr dirty="0" sz="1450" spc="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damped </a:t>
                      </a:r>
                      <a:r>
                        <a:rPr dirty="0" sz="1450" spc="1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sinusoidal</a:t>
                      </a:r>
                      <a:r>
                        <a:rPr dirty="0" sz="1450" spc="-110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1450" spc="-45">
                          <a:solidFill>
                            <a:srgbClr val="585D60"/>
                          </a:solidFill>
                          <a:latin typeface="Trebuchet MS"/>
                          <a:cs typeface="Trebuchet MS"/>
                        </a:rPr>
                        <a:t>pattern</a:t>
                      </a:r>
                      <a:endParaRPr sz="1450">
                        <a:latin typeface="Trebuchet MS"/>
                        <a:cs typeface="Trebuchet MS"/>
                      </a:endParaRPr>
                    </a:p>
                  </a:txBody>
                  <a:tcPr marL="0" marR="0" marB="0" marT="60960">
                    <a:solidFill>
                      <a:srgbClr val="EDEDED"/>
                    </a:solidFill>
                  </a:tcPr>
                </a:tc>
              </a:tr>
              <a:tr h="514349">
                <a:tc>
                  <a:txBody>
                    <a:bodyPr/>
                    <a:lstStyle/>
                    <a:p>
                      <a:pPr marR="130810"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30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10768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55">
                <a:solidFill>
                  <a:srgbClr val="C2132D"/>
                </a:solidFill>
              </a:rPr>
              <a:t>Autoregressive </a:t>
            </a:r>
            <a:r>
              <a:rPr dirty="0" sz="3350" spc="-95">
                <a:solidFill>
                  <a:srgbClr val="C2132D"/>
                </a:solidFill>
              </a:rPr>
              <a:t>Moving </a:t>
            </a:r>
            <a:r>
              <a:rPr dirty="0" sz="3350" spc="-195">
                <a:solidFill>
                  <a:srgbClr val="C2132D"/>
                </a:solidFill>
              </a:rPr>
              <a:t>Average </a:t>
            </a:r>
            <a:r>
              <a:rPr dirty="0" sz="3350" spc="-60">
                <a:solidFill>
                  <a:srgbClr val="C2132D"/>
                </a:solidFill>
              </a:rPr>
              <a:t>(ARMA)</a:t>
            </a:r>
            <a:r>
              <a:rPr dirty="0" sz="3350" spc="-459">
                <a:solidFill>
                  <a:srgbClr val="C2132D"/>
                </a:solidFill>
              </a:rPr>
              <a:t> </a:t>
            </a:r>
            <a:r>
              <a:rPr dirty="0" sz="3350" spc="-70">
                <a:solidFill>
                  <a:srgbClr val="C2132D"/>
                </a:solidFill>
              </a:rPr>
              <a:t>Models</a:t>
            </a:r>
            <a:endParaRPr sz="3350"/>
          </a:p>
        </p:txBody>
      </p:sp>
      <p:sp>
        <p:nvSpPr>
          <p:cNvPr id="5" name="object 5"/>
          <p:cNvSpPr txBox="1"/>
          <p:nvPr/>
        </p:nvSpPr>
        <p:spPr>
          <a:xfrm>
            <a:off x="901700" y="1376044"/>
            <a:ext cx="9500235" cy="11112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Sometimes,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0">
                <a:solidFill>
                  <a:srgbClr val="585D60"/>
                </a:solidFill>
                <a:latin typeface="Trebuchet MS"/>
                <a:cs typeface="Trebuchet MS"/>
              </a:rPr>
              <a:t>if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really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high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order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seems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needed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AR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process,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it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may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be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better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add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one 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or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more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10">
                <a:solidFill>
                  <a:srgbClr val="585D60"/>
                </a:solidFill>
                <a:latin typeface="Trebuchet MS"/>
                <a:cs typeface="Trebuchet MS"/>
              </a:rPr>
              <a:t>MA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70">
                <a:solidFill>
                  <a:srgbClr val="585D60"/>
                </a:solidFill>
                <a:latin typeface="Trebuchet MS"/>
                <a:cs typeface="Trebuchet MS"/>
              </a:rPr>
              <a:t>term.</a:t>
            </a:r>
            <a:r>
              <a:rPr dirty="0" sz="1800" spc="-13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Trebuchet MS"/>
                <a:cs typeface="Trebuchet MS"/>
              </a:rPr>
              <a:t>This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results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mixed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autoregressive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moving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average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(ARMA)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model.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In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general,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an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0" b="1">
                <a:solidFill>
                  <a:srgbClr val="C2132D"/>
                </a:solidFill>
                <a:latin typeface="Trebuchet MS"/>
                <a:cs typeface="Trebuchet MS"/>
              </a:rPr>
              <a:t>ARMA(p,q)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model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40" b="1">
                <a:solidFill>
                  <a:srgbClr val="C2132D"/>
                </a:solidFill>
                <a:latin typeface="Trebuchet MS"/>
                <a:cs typeface="Trebuchet MS"/>
              </a:rPr>
              <a:t>is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given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75" b="1">
                <a:solidFill>
                  <a:srgbClr val="C2132D"/>
                </a:solidFill>
                <a:latin typeface="Trebuchet MS"/>
                <a:cs typeface="Trebuchet MS"/>
              </a:rPr>
              <a:t>as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01700" y="3743197"/>
            <a:ext cx="9194165" cy="5969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7200"/>
              </a:lnSpc>
              <a:spcBef>
                <a:spcPts val="95"/>
              </a:spcBef>
            </a:pPr>
            <a:r>
              <a:rPr dirty="0" sz="1600" spc="1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7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30" b="1">
                <a:solidFill>
                  <a:srgbClr val="C2132D"/>
                </a:solidFill>
                <a:latin typeface="Trebuchet MS"/>
                <a:cs typeface="Trebuchet MS"/>
              </a:rPr>
              <a:t>ACF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15" b="1">
                <a:solidFill>
                  <a:srgbClr val="C2132D"/>
                </a:solidFill>
                <a:latin typeface="Trebuchet MS"/>
                <a:cs typeface="Trebuchet MS"/>
              </a:rPr>
              <a:t>and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15" b="1">
                <a:solidFill>
                  <a:srgbClr val="C2132D"/>
                </a:solidFill>
                <a:latin typeface="Trebuchet MS"/>
                <a:cs typeface="Trebuchet MS"/>
              </a:rPr>
              <a:t>PACF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5" b="1">
                <a:solidFill>
                  <a:srgbClr val="C2132D"/>
                </a:solidFill>
                <a:latin typeface="Trebuchet MS"/>
                <a:cs typeface="Trebuchet MS"/>
              </a:rPr>
              <a:t>of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6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15" b="1">
                <a:solidFill>
                  <a:srgbClr val="C2132D"/>
                </a:solidFill>
                <a:latin typeface="Trebuchet MS"/>
                <a:cs typeface="Trebuchet MS"/>
              </a:rPr>
              <a:t>ARMA(p,q)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15" b="1">
                <a:solidFill>
                  <a:srgbClr val="C2132D"/>
                </a:solidFill>
                <a:latin typeface="Trebuchet MS"/>
                <a:cs typeface="Trebuchet MS"/>
              </a:rPr>
              <a:t>process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50" b="1">
                <a:solidFill>
                  <a:srgbClr val="C2132D"/>
                </a:solidFill>
                <a:latin typeface="Trebuchet MS"/>
                <a:cs typeface="Trebuchet MS"/>
              </a:rPr>
              <a:t>exhibit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40" b="1">
                <a:solidFill>
                  <a:srgbClr val="C2132D"/>
                </a:solidFill>
                <a:latin typeface="Trebuchet MS"/>
                <a:cs typeface="Trebuchet MS"/>
              </a:rPr>
              <a:t>exponential</a:t>
            </a:r>
            <a:r>
              <a:rPr dirty="0" sz="1600" spc="-6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15" b="1">
                <a:solidFill>
                  <a:srgbClr val="C2132D"/>
                </a:solidFill>
                <a:latin typeface="Trebuchet MS"/>
                <a:cs typeface="Trebuchet MS"/>
              </a:rPr>
              <a:t>decay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40" b="1">
                <a:solidFill>
                  <a:srgbClr val="C2132D"/>
                </a:solidFill>
                <a:latin typeface="Trebuchet MS"/>
                <a:cs typeface="Trebuchet MS"/>
              </a:rPr>
              <a:t>exponential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20" b="1">
                <a:solidFill>
                  <a:srgbClr val="C2132D"/>
                </a:solidFill>
                <a:latin typeface="Trebuchet MS"/>
                <a:cs typeface="Trebuchet MS"/>
              </a:rPr>
              <a:t>decay/</a:t>
            </a:r>
            <a:r>
              <a:rPr dirty="0" sz="1600" spc="-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10" b="1">
                <a:solidFill>
                  <a:srgbClr val="C2132D"/>
                </a:solidFill>
                <a:latin typeface="Trebuchet MS"/>
                <a:cs typeface="Trebuchet MS"/>
              </a:rPr>
              <a:t>damped  </a:t>
            </a:r>
            <a:r>
              <a:rPr dirty="0" sz="1600" spc="5" b="1">
                <a:solidFill>
                  <a:srgbClr val="C2132D"/>
                </a:solidFill>
                <a:latin typeface="Trebuchet MS"/>
                <a:cs typeface="Trebuchet MS"/>
              </a:rPr>
              <a:t>sinusoidal</a:t>
            </a:r>
            <a:r>
              <a:rPr dirty="0" sz="16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45" b="1">
                <a:solidFill>
                  <a:srgbClr val="C2132D"/>
                </a:solidFill>
                <a:latin typeface="Trebuchet MS"/>
                <a:cs typeface="Trebuchet MS"/>
              </a:rPr>
              <a:t>patterns</a:t>
            </a:r>
            <a:r>
              <a:rPr dirty="0" sz="1600" spc="-4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r>
              <a:rPr dirty="0" sz="1600" spc="-114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45">
                <a:solidFill>
                  <a:srgbClr val="585D60"/>
                </a:solidFill>
                <a:latin typeface="Trebuchet MS"/>
                <a:cs typeface="Trebuchet MS"/>
              </a:rPr>
              <a:t>This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60">
                <a:solidFill>
                  <a:srgbClr val="585D60"/>
                </a:solidFill>
                <a:latin typeface="Trebuchet MS"/>
                <a:cs typeface="Trebuchet MS"/>
              </a:rPr>
              <a:t>makes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20">
                <a:solidFill>
                  <a:srgbClr val="585D60"/>
                </a:solidFill>
                <a:latin typeface="Trebuchet MS"/>
                <a:cs typeface="Trebuchet MS"/>
              </a:rPr>
              <a:t>identifying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20">
                <a:solidFill>
                  <a:srgbClr val="585D60"/>
                </a:solidFill>
                <a:latin typeface="Trebuchet MS"/>
                <a:cs typeface="Trebuchet MS"/>
              </a:rPr>
              <a:t>order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5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30">
                <a:solidFill>
                  <a:srgbClr val="585D60"/>
                </a:solidFill>
                <a:latin typeface="Trebuchet MS"/>
                <a:cs typeface="Trebuchet MS"/>
              </a:rPr>
              <a:t>ARMA(p,q)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60">
                <a:solidFill>
                  <a:srgbClr val="585D60"/>
                </a:solidFill>
                <a:latin typeface="Trebuchet MS"/>
                <a:cs typeface="Trebuchet MS"/>
              </a:rPr>
              <a:t>difficult.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981448" y="2378303"/>
            <a:ext cx="389890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515">
                <a:solidFill>
                  <a:srgbClr val="585D60"/>
                </a:solidFill>
                <a:latin typeface="Arial"/>
                <a:cs typeface="Arial"/>
              </a:rPr>
              <a:t></a:t>
            </a:r>
            <a:r>
              <a:rPr dirty="0" sz="5400" spc="-4320">
                <a:solidFill>
                  <a:srgbClr val="585D60"/>
                </a:solidFill>
                <a:latin typeface="Arial"/>
                <a:cs typeface="Arial"/>
              </a:rPr>
              <a:t></a:t>
            </a:r>
            <a:r>
              <a:rPr dirty="0" sz="5400" spc="-4500">
                <a:solidFill>
                  <a:srgbClr val="585D60"/>
                </a:solidFill>
                <a:latin typeface="Arial"/>
                <a:cs typeface="Arial"/>
              </a:rPr>
              <a:t></a:t>
            </a:r>
            <a:r>
              <a:rPr dirty="0" sz="5400" spc="-4320">
                <a:solidFill>
                  <a:srgbClr val="585D60"/>
                </a:solidFill>
                <a:latin typeface="Arial"/>
                <a:cs typeface="Arial"/>
              </a:rPr>
              <a:t></a:t>
            </a:r>
            <a:endParaRPr sz="54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832173" y="3111880"/>
            <a:ext cx="701675" cy="21971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250" spc="-40">
                <a:solidFill>
                  <a:srgbClr val="585D60"/>
                </a:solidFill>
                <a:latin typeface="Lucida Sans Unicode"/>
                <a:cs typeface="Lucida Sans Unicode"/>
              </a:rPr>
              <a:t>Predicted</a:t>
            </a:r>
            <a:endParaRPr sz="125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980555" y="3245230"/>
            <a:ext cx="404495" cy="21971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250" spc="-140">
                <a:solidFill>
                  <a:srgbClr val="585D60"/>
                </a:solidFill>
                <a:latin typeface="Lucida Sans Unicode"/>
                <a:cs typeface="Lucida Sans Unicode"/>
              </a:rPr>
              <a:t>s</a:t>
            </a:r>
            <a:r>
              <a:rPr dirty="0" sz="1250" spc="-135">
                <a:solidFill>
                  <a:srgbClr val="585D60"/>
                </a:solidFill>
                <a:latin typeface="Lucida Sans Unicode"/>
                <a:cs typeface="Lucida Sans Unicode"/>
              </a:rPr>
              <a:t>e</a:t>
            </a:r>
            <a:r>
              <a:rPr dirty="0" sz="1250" spc="-15">
                <a:solidFill>
                  <a:srgbClr val="585D60"/>
                </a:solidFill>
                <a:latin typeface="Lucida Sans Unicode"/>
                <a:cs typeface="Lucida Sans Unicode"/>
              </a:rPr>
              <a:t>r</a:t>
            </a:r>
            <a:r>
              <a:rPr dirty="0" sz="1250" spc="-10">
                <a:solidFill>
                  <a:srgbClr val="585D60"/>
                </a:solidFill>
                <a:latin typeface="Lucida Sans Unicode"/>
                <a:cs typeface="Lucida Sans Unicode"/>
              </a:rPr>
              <a:t>i</a:t>
            </a:r>
            <a:r>
              <a:rPr dirty="0" sz="1250" spc="-135">
                <a:solidFill>
                  <a:srgbClr val="585D60"/>
                </a:solidFill>
                <a:latin typeface="Lucida Sans Unicode"/>
                <a:cs typeface="Lucida Sans Unicode"/>
              </a:rPr>
              <a:t>e</a:t>
            </a:r>
            <a:r>
              <a:rPr dirty="0" sz="1250" spc="-140">
                <a:solidFill>
                  <a:srgbClr val="585D60"/>
                </a:solidFill>
                <a:latin typeface="Lucida Sans Unicode"/>
                <a:cs typeface="Lucida Sans Unicode"/>
              </a:rPr>
              <a:t>s</a:t>
            </a:r>
            <a:endParaRPr sz="125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61332" y="2845714"/>
            <a:ext cx="389890" cy="23050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350" spc="-465">
                <a:solidFill>
                  <a:srgbClr val="A8A8A8"/>
                </a:solidFill>
                <a:latin typeface="Arial"/>
                <a:cs typeface="Arial"/>
              </a:rPr>
              <a:t></a:t>
            </a:r>
            <a:r>
              <a:rPr dirty="0" sz="1350" spc="-270">
                <a:solidFill>
                  <a:srgbClr val="A8A8A8"/>
                </a:solidFill>
                <a:latin typeface="Arial"/>
                <a:cs typeface="Arial"/>
              </a:rPr>
              <a:t></a:t>
            </a:r>
            <a:r>
              <a:rPr dirty="0" sz="1350" spc="-450">
                <a:solidFill>
                  <a:srgbClr val="A8A8A8"/>
                </a:solidFill>
                <a:latin typeface="Arial"/>
                <a:cs typeface="Arial"/>
              </a:rPr>
              <a:t></a:t>
            </a:r>
            <a:r>
              <a:rPr dirty="0" sz="1350" spc="-270">
                <a:solidFill>
                  <a:srgbClr val="A8A8A8"/>
                </a:solidFill>
                <a:latin typeface="Arial"/>
                <a:cs typeface="Arial"/>
              </a:rPr>
              <a:t></a:t>
            </a:r>
            <a:endParaRPr sz="13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840186" y="3098670"/>
            <a:ext cx="646430" cy="16700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00" spc="135" i="1">
                <a:solidFill>
                  <a:srgbClr val="A8A8A8"/>
                </a:solidFill>
                <a:latin typeface="Trebuchet MS"/>
                <a:cs typeface="Trebuchet MS"/>
              </a:rPr>
              <a:t>c</a:t>
            </a:r>
            <a:r>
              <a:rPr dirty="0" sz="900" spc="130" i="1">
                <a:solidFill>
                  <a:srgbClr val="A8A8A8"/>
                </a:solidFill>
                <a:latin typeface="Trebuchet MS"/>
                <a:cs typeface="Trebuchet MS"/>
              </a:rPr>
              <a:t>o</a:t>
            </a:r>
            <a:r>
              <a:rPr dirty="0" sz="900" spc="270" i="1">
                <a:solidFill>
                  <a:srgbClr val="A8A8A8"/>
                </a:solidFill>
                <a:latin typeface="Trebuchet MS"/>
                <a:cs typeface="Trebuchet MS"/>
              </a:rPr>
              <a:t>n</a:t>
            </a:r>
            <a:r>
              <a:rPr dirty="0" sz="900" spc="229" i="1">
                <a:solidFill>
                  <a:srgbClr val="A8A8A8"/>
                </a:solidFill>
                <a:latin typeface="Trebuchet MS"/>
                <a:cs typeface="Trebuchet MS"/>
              </a:rPr>
              <a:t>s</a:t>
            </a:r>
            <a:r>
              <a:rPr dirty="0" sz="900" spc="80" i="1">
                <a:solidFill>
                  <a:srgbClr val="A8A8A8"/>
                </a:solidFill>
                <a:latin typeface="Trebuchet MS"/>
                <a:cs typeface="Trebuchet MS"/>
              </a:rPr>
              <a:t>t</a:t>
            </a:r>
            <a:r>
              <a:rPr dirty="0" sz="900" spc="200" i="1">
                <a:solidFill>
                  <a:srgbClr val="A8A8A8"/>
                </a:solidFill>
                <a:latin typeface="Trebuchet MS"/>
                <a:cs typeface="Trebuchet MS"/>
              </a:rPr>
              <a:t>a</a:t>
            </a:r>
            <a:r>
              <a:rPr dirty="0" sz="900" spc="270" i="1">
                <a:solidFill>
                  <a:srgbClr val="A8A8A8"/>
                </a:solidFill>
                <a:latin typeface="Trebuchet MS"/>
                <a:cs typeface="Trebuchet MS"/>
              </a:rPr>
              <a:t>n</a:t>
            </a:r>
            <a:r>
              <a:rPr dirty="0" sz="900" spc="80" i="1">
                <a:solidFill>
                  <a:srgbClr val="A8A8A8"/>
                </a:solidFill>
                <a:latin typeface="Trebuchet MS"/>
                <a:cs typeface="Trebuchet MS"/>
              </a:rPr>
              <a:t>t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745358" y="2879623"/>
            <a:ext cx="2961005" cy="639445"/>
          </a:xfrm>
          <a:prstGeom prst="rect">
            <a:avLst/>
          </a:prstGeom>
        </p:spPr>
        <p:txBody>
          <a:bodyPr wrap="square" lIns="0" tIns="4445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350"/>
              </a:spcBef>
            </a:pPr>
            <a:r>
              <a:rPr dirty="0" sz="1350" spc="-385">
                <a:solidFill>
                  <a:srgbClr val="C2132D"/>
                </a:solidFill>
                <a:latin typeface="Arial"/>
                <a:cs typeface="Arial"/>
              </a:rPr>
              <a:t></a:t>
            </a:r>
            <a:r>
              <a:rPr dirty="0" sz="1350" spc="-565">
                <a:solidFill>
                  <a:srgbClr val="C2132D"/>
                </a:solidFill>
                <a:latin typeface="Arial"/>
                <a:cs typeface="Arial"/>
              </a:rPr>
              <a:t></a:t>
            </a:r>
            <a:r>
              <a:rPr dirty="0" sz="1350" spc="-395">
                <a:solidFill>
                  <a:srgbClr val="C2132D"/>
                </a:solidFill>
                <a:latin typeface="Arial"/>
                <a:cs typeface="Arial"/>
              </a:rPr>
              <a:t></a:t>
            </a:r>
            <a:r>
              <a:rPr dirty="0" sz="1350" spc="-270">
                <a:solidFill>
                  <a:srgbClr val="C2132D"/>
                </a:solidFill>
                <a:latin typeface="Arial"/>
                <a:cs typeface="Arial"/>
              </a:rPr>
              <a:t></a:t>
            </a:r>
            <a:r>
              <a:rPr dirty="0" sz="1350" spc="-385">
                <a:solidFill>
                  <a:srgbClr val="C2132D"/>
                </a:solidFill>
                <a:latin typeface="Arial"/>
                <a:cs typeface="Arial"/>
              </a:rPr>
              <a:t></a:t>
            </a:r>
            <a:r>
              <a:rPr dirty="0" sz="1350" spc="-565">
                <a:solidFill>
                  <a:srgbClr val="C2132D"/>
                </a:solidFill>
                <a:latin typeface="Arial"/>
                <a:cs typeface="Arial"/>
              </a:rPr>
              <a:t></a:t>
            </a:r>
            <a:r>
              <a:rPr dirty="0" sz="1350" spc="-395">
                <a:solidFill>
                  <a:srgbClr val="C2132D"/>
                </a:solidFill>
                <a:latin typeface="Arial"/>
                <a:cs typeface="Arial"/>
              </a:rPr>
              <a:t></a:t>
            </a:r>
            <a:r>
              <a:rPr dirty="0" sz="1350" spc="-270">
                <a:solidFill>
                  <a:srgbClr val="C2132D"/>
                </a:solidFill>
                <a:latin typeface="Arial"/>
                <a:cs typeface="Arial"/>
              </a:rPr>
              <a:t></a:t>
            </a:r>
            <a:endParaRPr sz="1350">
              <a:latin typeface="Arial"/>
              <a:cs typeface="Arial"/>
            </a:endParaRPr>
          </a:p>
          <a:p>
            <a:pPr algn="ctr" marL="359410" marR="361315">
              <a:lnSpc>
                <a:spcPts val="1350"/>
              </a:lnSpc>
              <a:spcBef>
                <a:spcPts val="300"/>
              </a:spcBef>
            </a:pPr>
            <a:r>
              <a:rPr dirty="0" sz="1150" spc="20">
                <a:solidFill>
                  <a:srgbClr val="C2132D"/>
                </a:solidFill>
                <a:latin typeface="Lucida Sans Unicode"/>
                <a:cs typeface="Lucida Sans Unicode"/>
              </a:rPr>
              <a:t>Linear </a:t>
            </a:r>
            <a:r>
              <a:rPr dirty="0" sz="1150" spc="-10">
                <a:solidFill>
                  <a:srgbClr val="C2132D"/>
                </a:solidFill>
                <a:latin typeface="Lucida Sans Unicode"/>
                <a:cs typeface="Lucida Sans Unicode"/>
              </a:rPr>
              <a:t>combination </a:t>
            </a:r>
            <a:r>
              <a:rPr dirty="0" sz="1150" spc="-55">
                <a:solidFill>
                  <a:srgbClr val="C2132D"/>
                </a:solidFill>
                <a:latin typeface="Lucida Sans Unicode"/>
                <a:cs typeface="Lucida Sans Unicode"/>
              </a:rPr>
              <a:t>of </a:t>
            </a:r>
            <a:r>
              <a:rPr dirty="0" sz="1150">
                <a:solidFill>
                  <a:srgbClr val="C2132D"/>
                </a:solidFill>
                <a:latin typeface="Lucida Sans Unicode"/>
                <a:cs typeface="Lucida Sans Unicode"/>
              </a:rPr>
              <a:t>Lags </a:t>
            </a:r>
            <a:r>
              <a:rPr dirty="0" sz="1150" spc="-55">
                <a:solidFill>
                  <a:srgbClr val="C2132D"/>
                </a:solidFill>
                <a:latin typeface="Lucida Sans Unicode"/>
                <a:cs typeface="Lucida Sans Unicode"/>
              </a:rPr>
              <a:t>of</a:t>
            </a:r>
            <a:r>
              <a:rPr dirty="0" sz="1150" spc="-235">
                <a:solidFill>
                  <a:srgbClr val="C2132D"/>
                </a:solidFill>
                <a:latin typeface="Lucida Sans Unicode"/>
                <a:cs typeface="Lucida Sans Unicode"/>
              </a:rPr>
              <a:t> </a:t>
            </a:r>
            <a:r>
              <a:rPr dirty="0" sz="1150" spc="235">
                <a:solidFill>
                  <a:srgbClr val="C2132D"/>
                </a:solidFill>
                <a:latin typeface="Lucida Sans Unicode"/>
                <a:cs typeface="Lucida Sans Unicode"/>
              </a:rPr>
              <a:t>Y  </a:t>
            </a:r>
            <a:r>
              <a:rPr dirty="0" sz="1150" spc="-15">
                <a:solidFill>
                  <a:srgbClr val="C2132D"/>
                </a:solidFill>
                <a:latin typeface="Lucida Sans Unicode"/>
                <a:cs typeface="Lucida Sans Unicode"/>
              </a:rPr>
              <a:t>up </a:t>
            </a:r>
            <a:r>
              <a:rPr dirty="0" sz="1150" spc="-5">
                <a:solidFill>
                  <a:srgbClr val="C2132D"/>
                </a:solidFill>
                <a:latin typeface="Lucida Sans Unicode"/>
                <a:cs typeface="Lucida Sans Unicode"/>
              </a:rPr>
              <a:t>to </a:t>
            </a:r>
            <a:r>
              <a:rPr dirty="0" sz="1150" spc="45" i="1">
                <a:solidFill>
                  <a:srgbClr val="C2132D"/>
                </a:solidFill>
                <a:latin typeface="Calibri"/>
                <a:cs typeface="Calibri"/>
              </a:rPr>
              <a:t>p</a:t>
            </a:r>
            <a:r>
              <a:rPr dirty="0" sz="1150" spc="-35" i="1">
                <a:solidFill>
                  <a:srgbClr val="C2132D"/>
                </a:solidFill>
                <a:latin typeface="Calibri"/>
                <a:cs typeface="Calibri"/>
              </a:rPr>
              <a:t> </a:t>
            </a:r>
            <a:r>
              <a:rPr dirty="0" sz="1150" spc="-40">
                <a:solidFill>
                  <a:srgbClr val="C2132D"/>
                </a:solidFill>
                <a:latin typeface="Lucida Sans Unicode"/>
                <a:cs typeface="Lucida Sans Unicode"/>
              </a:rPr>
              <a:t>lags</a:t>
            </a:r>
            <a:endParaRPr sz="1150">
              <a:latin typeface="Lucida Sans Unicode"/>
              <a:cs typeface="Lucida Sans Unicode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42914" y="2673350"/>
            <a:ext cx="495998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568325" algn="l"/>
                <a:tab pos="1075055" algn="l"/>
                <a:tab pos="1480820" algn="l"/>
              </a:tabLst>
            </a:pPr>
            <a:r>
              <a:rPr dirty="0" sz="1650" spc="9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142" i="1">
                <a:solidFill>
                  <a:srgbClr val="585D60"/>
                </a:solidFill>
                <a:latin typeface="Arial"/>
                <a:cs typeface="Arial"/>
              </a:rPr>
              <a:t>t	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=	</a:t>
            </a:r>
            <a:r>
              <a:rPr dirty="0" sz="1300" spc="85" i="1">
                <a:solidFill>
                  <a:srgbClr val="A8A8A8"/>
                </a:solidFill>
                <a:latin typeface="Trebuchet MS"/>
                <a:cs typeface="Trebuchet MS"/>
              </a:rPr>
              <a:t>δ	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800" spc="-17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40" i="1">
                <a:solidFill>
                  <a:srgbClr val="C2132D"/>
                </a:solidFill>
                <a:latin typeface="Calibri"/>
                <a:cs typeface="Calibri"/>
              </a:rPr>
              <a:t>ϕ</a:t>
            </a:r>
            <a:r>
              <a:rPr dirty="0" baseline="-14492" sz="1725" spc="60">
                <a:solidFill>
                  <a:srgbClr val="C2132D"/>
                </a:solidFill>
                <a:latin typeface="Lucida Sans Unicode"/>
                <a:cs typeface="Lucida Sans Unicode"/>
              </a:rPr>
              <a:t>1</a:t>
            </a:r>
            <a:r>
              <a:rPr dirty="0" sz="1600" spc="40" i="1">
                <a:solidFill>
                  <a:srgbClr val="C2132D"/>
                </a:solidFill>
                <a:latin typeface="Calibri"/>
                <a:cs typeface="Calibri"/>
              </a:rPr>
              <a:t>y</a:t>
            </a:r>
            <a:r>
              <a:rPr dirty="0" baseline="-14492" sz="1725" spc="60" i="1">
                <a:solidFill>
                  <a:srgbClr val="C2132D"/>
                </a:solidFill>
                <a:latin typeface="Calibri"/>
                <a:cs typeface="Calibri"/>
              </a:rPr>
              <a:t>t</a:t>
            </a:r>
            <a:r>
              <a:rPr dirty="0" baseline="-14492" sz="1725" spc="60">
                <a:solidFill>
                  <a:srgbClr val="C2132D"/>
                </a:solidFill>
                <a:latin typeface="Lucida Sans Unicode"/>
                <a:cs typeface="Lucida Sans Unicode"/>
              </a:rPr>
              <a:t>−1</a:t>
            </a:r>
            <a:r>
              <a:rPr dirty="0" baseline="-14492" sz="1725" spc="179">
                <a:solidFill>
                  <a:srgbClr val="C2132D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125">
                <a:solidFill>
                  <a:srgbClr val="C2132D"/>
                </a:solidFill>
                <a:latin typeface="Lucida Sans Unicode"/>
                <a:cs typeface="Lucida Sans Unicode"/>
              </a:rPr>
              <a:t>+</a:t>
            </a:r>
            <a:r>
              <a:rPr dirty="0" sz="1600" spc="-110">
                <a:solidFill>
                  <a:srgbClr val="C2132D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40" i="1">
                <a:solidFill>
                  <a:srgbClr val="C2132D"/>
                </a:solidFill>
                <a:latin typeface="Calibri"/>
                <a:cs typeface="Calibri"/>
              </a:rPr>
              <a:t>ϕ</a:t>
            </a:r>
            <a:r>
              <a:rPr dirty="0" baseline="-14492" sz="1725" spc="60">
                <a:solidFill>
                  <a:srgbClr val="C2132D"/>
                </a:solidFill>
                <a:latin typeface="Lucida Sans Unicode"/>
                <a:cs typeface="Lucida Sans Unicode"/>
              </a:rPr>
              <a:t>2</a:t>
            </a:r>
            <a:r>
              <a:rPr dirty="0" sz="1600" spc="40" i="1">
                <a:solidFill>
                  <a:srgbClr val="C2132D"/>
                </a:solidFill>
                <a:latin typeface="Calibri"/>
                <a:cs typeface="Calibri"/>
              </a:rPr>
              <a:t>y</a:t>
            </a:r>
            <a:r>
              <a:rPr dirty="0" baseline="-14492" sz="1725" spc="60" i="1">
                <a:solidFill>
                  <a:srgbClr val="C2132D"/>
                </a:solidFill>
                <a:latin typeface="Calibri"/>
                <a:cs typeface="Calibri"/>
              </a:rPr>
              <a:t>t</a:t>
            </a:r>
            <a:r>
              <a:rPr dirty="0" baseline="-14492" sz="1725" spc="60">
                <a:solidFill>
                  <a:srgbClr val="C2132D"/>
                </a:solidFill>
                <a:latin typeface="Lucida Sans Unicode"/>
                <a:cs typeface="Lucida Sans Unicode"/>
              </a:rPr>
              <a:t>−2</a:t>
            </a:r>
            <a:r>
              <a:rPr dirty="0" baseline="-14492" sz="1725" spc="179">
                <a:solidFill>
                  <a:srgbClr val="C2132D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125">
                <a:solidFill>
                  <a:srgbClr val="C2132D"/>
                </a:solidFill>
                <a:latin typeface="Lucida Sans Unicode"/>
                <a:cs typeface="Lucida Sans Unicode"/>
              </a:rPr>
              <a:t>+</a:t>
            </a:r>
            <a:r>
              <a:rPr dirty="0" sz="1600" spc="-110">
                <a:solidFill>
                  <a:srgbClr val="C2132D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835">
                <a:solidFill>
                  <a:srgbClr val="C2132D"/>
                </a:solidFill>
                <a:latin typeface="Lucida Sans Unicode"/>
                <a:cs typeface="Lucida Sans Unicode"/>
              </a:rPr>
              <a:t>⋯</a:t>
            </a:r>
            <a:r>
              <a:rPr dirty="0" sz="1600" spc="-114">
                <a:solidFill>
                  <a:srgbClr val="C2132D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125">
                <a:solidFill>
                  <a:srgbClr val="C2132D"/>
                </a:solidFill>
                <a:latin typeface="Lucida Sans Unicode"/>
                <a:cs typeface="Lucida Sans Unicode"/>
              </a:rPr>
              <a:t>+</a:t>
            </a:r>
            <a:r>
              <a:rPr dirty="0" sz="1600" spc="-110">
                <a:solidFill>
                  <a:srgbClr val="C2132D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85" i="1">
                <a:solidFill>
                  <a:srgbClr val="C2132D"/>
                </a:solidFill>
                <a:latin typeface="Calibri"/>
                <a:cs typeface="Calibri"/>
              </a:rPr>
              <a:t>ϕ</a:t>
            </a:r>
            <a:r>
              <a:rPr dirty="0" baseline="-14492" sz="1725" spc="127" i="1">
                <a:solidFill>
                  <a:srgbClr val="C2132D"/>
                </a:solidFill>
                <a:latin typeface="Calibri"/>
                <a:cs typeface="Calibri"/>
              </a:rPr>
              <a:t>p</a:t>
            </a:r>
            <a:r>
              <a:rPr dirty="0" sz="1600" spc="85" i="1">
                <a:solidFill>
                  <a:srgbClr val="C2132D"/>
                </a:solidFill>
                <a:latin typeface="Calibri"/>
                <a:cs typeface="Calibri"/>
              </a:rPr>
              <a:t>y</a:t>
            </a:r>
            <a:r>
              <a:rPr dirty="0" baseline="-14492" sz="1725" spc="127" i="1">
                <a:solidFill>
                  <a:srgbClr val="C2132D"/>
                </a:solidFill>
                <a:latin typeface="Calibri"/>
                <a:cs typeface="Calibri"/>
              </a:rPr>
              <a:t>t</a:t>
            </a:r>
            <a:r>
              <a:rPr dirty="0" baseline="-14492" sz="1725" spc="127">
                <a:solidFill>
                  <a:srgbClr val="C2132D"/>
                </a:solidFill>
                <a:latin typeface="Lucida Sans Unicode"/>
                <a:cs typeface="Lucida Sans Unicode"/>
              </a:rPr>
              <a:t>−</a:t>
            </a:r>
            <a:r>
              <a:rPr dirty="0" baseline="-14492" sz="1725" spc="127" i="1">
                <a:solidFill>
                  <a:srgbClr val="C2132D"/>
                </a:solidFill>
                <a:latin typeface="Calibri"/>
                <a:cs typeface="Calibri"/>
              </a:rPr>
              <a:t>p</a:t>
            </a:r>
            <a:r>
              <a:rPr dirty="0" baseline="-14492" sz="1725" spc="330" i="1">
                <a:solidFill>
                  <a:srgbClr val="C2132D"/>
                </a:solidFill>
                <a:latin typeface="Calibri"/>
                <a:cs typeface="Calibri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endParaRPr sz="1800">
              <a:latin typeface="Lucida Sans Unicode"/>
              <a:cs typeface="Lucida Sans Unicode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978699" y="2693695"/>
            <a:ext cx="2739390" cy="825500"/>
          </a:xfrm>
          <a:prstGeom prst="rect">
            <a:avLst/>
          </a:prstGeom>
        </p:spPr>
        <p:txBody>
          <a:bodyPr wrap="square" lIns="0" tIns="17780" rIns="0" bIns="0" rtlCol="0" vert="horz">
            <a:spAutoFit/>
          </a:bodyPr>
          <a:lstStyle/>
          <a:p>
            <a:pPr algn="ctr" marL="3175">
              <a:lnSpc>
                <a:spcPts val="1800"/>
              </a:lnSpc>
              <a:spcBef>
                <a:spcPts val="140"/>
              </a:spcBef>
            </a:pPr>
            <a:r>
              <a:rPr dirty="0" sz="1600" spc="55" i="1">
                <a:solidFill>
                  <a:srgbClr val="FF8B00"/>
                </a:solidFill>
                <a:latin typeface="Calibri"/>
                <a:cs typeface="Calibri"/>
              </a:rPr>
              <a:t>ϵ</a:t>
            </a:r>
            <a:r>
              <a:rPr dirty="0" baseline="-14492" sz="1725" spc="82" i="1">
                <a:solidFill>
                  <a:srgbClr val="FF8B00"/>
                </a:solidFill>
                <a:latin typeface="Calibri"/>
                <a:cs typeface="Calibri"/>
              </a:rPr>
              <a:t>t</a:t>
            </a:r>
            <a:r>
              <a:rPr dirty="0" baseline="-14492" sz="1725" spc="322" i="1">
                <a:solidFill>
                  <a:srgbClr val="FF8B00"/>
                </a:solidFill>
                <a:latin typeface="Calibri"/>
                <a:cs typeface="Calibri"/>
              </a:rPr>
              <a:t> </a:t>
            </a:r>
            <a:r>
              <a:rPr dirty="0" sz="1600" spc="125">
                <a:solidFill>
                  <a:srgbClr val="FF8B00"/>
                </a:solidFill>
                <a:latin typeface="Lucida Sans Unicode"/>
                <a:cs typeface="Lucida Sans Unicode"/>
              </a:rPr>
              <a:t>+</a:t>
            </a:r>
            <a:r>
              <a:rPr dirty="0" sz="1600" spc="-114">
                <a:solidFill>
                  <a:srgbClr val="FF8B0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5" i="1">
                <a:solidFill>
                  <a:srgbClr val="FF8B00"/>
                </a:solidFill>
                <a:latin typeface="Calibri"/>
                <a:cs typeface="Calibri"/>
              </a:rPr>
              <a:t>θ</a:t>
            </a:r>
            <a:r>
              <a:rPr dirty="0" baseline="-14492" sz="1725" spc="7">
                <a:solidFill>
                  <a:srgbClr val="FF8B00"/>
                </a:solidFill>
                <a:latin typeface="Lucida Sans Unicode"/>
                <a:cs typeface="Lucida Sans Unicode"/>
              </a:rPr>
              <a:t>1</a:t>
            </a:r>
            <a:r>
              <a:rPr dirty="0" sz="1600" spc="5" i="1">
                <a:solidFill>
                  <a:srgbClr val="FF8B00"/>
                </a:solidFill>
                <a:latin typeface="Calibri"/>
                <a:cs typeface="Calibri"/>
              </a:rPr>
              <a:t>ϵ</a:t>
            </a:r>
            <a:r>
              <a:rPr dirty="0" baseline="-14492" sz="1725" spc="7" i="1">
                <a:solidFill>
                  <a:srgbClr val="FF8B00"/>
                </a:solidFill>
                <a:latin typeface="Calibri"/>
                <a:cs typeface="Calibri"/>
              </a:rPr>
              <a:t>t</a:t>
            </a:r>
            <a:r>
              <a:rPr dirty="0" baseline="-14492" sz="1725" spc="7">
                <a:solidFill>
                  <a:srgbClr val="FF8B00"/>
                </a:solidFill>
                <a:latin typeface="Lucida Sans Unicode"/>
                <a:cs typeface="Lucida Sans Unicode"/>
              </a:rPr>
              <a:t>−1</a:t>
            </a:r>
            <a:r>
              <a:rPr dirty="0" baseline="-14492" sz="1725" spc="179">
                <a:solidFill>
                  <a:srgbClr val="FF8B0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125">
                <a:solidFill>
                  <a:srgbClr val="FF8B00"/>
                </a:solidFill>
                <a:latin typeface="Lucida Sans Unicode"/>
                <a:cs typeface="Lucida Sans Unicode"/>
              </a:rPr>
              <a:t>+</a:t>
            </a:r>
            <a:r>
              <a:rPr dirty="0" sz="1600" spc="-114">
                <a:solidFill>
                  <a:srgbClr val="FF8B0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835">
                <a:solidFill>
                  <a:srgbClr val="FF8B00"/>
                </a:solidFill>
                <a:latin typeface="Lucida Sans Unicode"/>
                <a:cs typeface="Lucida Sans Unicode"/>
              </a:rPr>
              <a:t>⋯</a:t>
            </a:r>
            <a:r>
              <a:rPr dirty="0" sz="1600" spc="-114">
                <a:solidFill>
                  <a:srgbClr val="FF8B0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125">
                <a:solidFill>
                  <a:srgbClr val="FF8B00"/>
                </a:solidFill>
                <a:latin typeface="Lucida Sans Unicode"/>
                <a:cs typeface="Lucida Sans Unicode"/>
              </a:rPr>
              <a:t>+</a:t>
            </a:r>
            <a:r>
              <a:rPr dirty="0" sz="1600" spc="-114">
                <a:solidFill>
                  <a:srgbClr val="FF8B0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30" i="1">
                <a:solidFill>
                  <a:srgbClr val="FF8B00"/>
                </a:solidFill>
                <a:latin typeface="Calibri"/>
                <a:cs typeface="Calibri"/>
              </a:rPr>
              <a:t>θ</a:t>
            </a:r>
            <a:r>
              <a:rPr dirty="0" baseline="-14492" sz="1725" spc="44" i="1">
                <a:solidFill>
                  <a:srgbClr val="FF8B00"/>
                </a:solidFill>
                <a:latin typeface="Calibri"/>
                <a:cs typeface="Calibri"/>
              </a:rPr>
              <a:t>q</a:t>
            </a:r>
            <a:r>
              <a:rPr dirty="0" sz="1600" spc="30" i="1">
                <a:solidFill>
                  <a:srgbClr val="FF8B00"/>
                </a:solidFill>
                <a:latin typeface="Calibri"/>
                <a:cs typeface="Calibri"/>
              </a:rPr>
              <a:t>ϵ</a:t>
            </a:r>
            <a:r>
              <a:rPr dirty="0" baseline="-14492" sz="1725" spc="44" i="1">
                <a:solidFill>
                  <a:srgbClr val="FF8B00"/>
                </a:solidFill>
                <a:latin typeface="Calibri"/>
                <a:cs typeface="Calibri"/>
              </a:rPr>
              <a:t>t</a:t>
            </a:r>
            <a:r>
              <a:rPr dirty="0" baseline="-14492" sz="1725" spc="44">
                <a:solidFill>
                  <a:srgbClr val="FF8B00"/>
                </a:solidFill>
                <a:latin typeface="Lucida Sans Unicode"/>
                <a:cs typeface="Lucida Sans Unicode"/>
              </a:rPr>
              <a:t>−</a:t>
            </a:r>
            <a:r>
              <a:rPr dirty="0" baseline="-14492" sz="1725" spc="44" i="1">
                <a:solidFill>
                  <a:srgbClr val="FF8B00"/>
                </a:solidFill>
                <a:latin typeface="Calibri"/>
                <a:cs typeface="Calibri"/>
              </a:rPr>
              <a:t>q</a:t>
            </a:r>
            <a:endParaRPr baseline="-14492" sz="1725">
              <a:latin typeface="Calibri"/>
              <a:cs typeface="Calibri"/>
            </a:endParaRPr>
          </a:p>
          <a:p>
            <a:pPr algn="ctr" marL="5715">
              <a:lnSpc>
                <a:spcPts val="1495"/>
              </a:lnSpc>
            </a:pPr>
            <a:r>
              <a:rPr dirty="0" sz="1350" spc="-385">
                <a:solidFill>
                  <a:srgbClr val="FF8B00"/>
                </a:solidFill>
                <a:latin typeface="Arial"/>
                <a:cs typeface="Arial"/>
              </a:rPr>
              <a:t></a:t>
            </a:r>
            <a:r>
              <a:rPr dirty="0" sz="1350" spc="-565">
                <a:solidFill>
                  <a:srgbClr val="FF8B00"/>
                </a:solidFill>
                <a:latin typeface="Arial"/>
                <a:cs typeface="Arial"/>
              </a:rPr>
              <a:t></a:t>
            </a:r>
            <a:r>
              <a:rPr dirty="0" sz="1350" spc="-400">
                <a:solidFill>
                  <a:srgbClr val="FF8B00"/>
                </a:solidFill>
                <a:latin typeface="Arial"/>
                <a:cs typeface="Arial"/>
              </a:rPr>
              <a:t></a:t>
            </a:r>
            <a:r>
              <a:rPr dirty="0" sz="1350" spc="-270">
                <a:solidFill>
                  <a:srgbClr val="FF8B00"/>
                </a:solidFill>
                <a:latin typeface="Arial"/>
                <a:cs typeface="Arial"/>
              </a:rPr>
              <a:t></a:t>
            </a:r>
            <a:r>
              <a:rPr dirty="0" sz="1350" spc="-385">
                <a:solidFill>
                  <a:srgbClr val="FF8B00"/>
                </a:solidFill>
                <a:latin typeface="Arial"/>
                <a:cs typeface="Arial"/>
              </a:rPr>
              <a:t></a:t>
            </a:r>
            <a:r>
              <a:rPr dirty="0" sz="1350" spc="-565">
                <a:solidFill>
                  <a:srgbClr val="FF8B00"/>
                </a:solidFill>
                <a:latin typeface="Arial"/>
                <a:cs typeface="Arial"/>
              </a:rPr>
              <a:t></a:t>
            </a:r>
            <a:r>
              <a:rPr dirty="0" sz="1350" spc="-400">
                <a:solidFill>
                  <a:srgbClr val="FF8B00"/>
                </a:solidFill>
                <a:latin typeface="Arial"/>
                <a:cs typeface="Arial"/>
              </a:rPr>
              <a:t></a:t>
            </a:r>
            <a:r>
              <a:rPr dirty="0" sz="1350" spc="-270">
                <a:solidFill>
                  <a:srgbClr val="FF8B00"/>
                </a:solidFill>
                <a:latin typeface="Arial"/>
                <a:cs typeface="Arial"/>
              </a:rPr>
              <a:t></a:t>
            </a:r>
            <a:endParaRPr sz="1350">
              <a:latin typeface="Arial"/>
              <a:cs typeface="Arial"/>
            </a:endParaRPr>
          </a:p>
          <a:p>
            <a:pPr algn="ctr" marL="38100" marR="30480">
              <a:lnSpc>
                <a:spcPts val="1350"/>
              </a:lnSpc>
              <a:spcBef>
                <a:spcPts val="300"/>
              </a:spcBef>
            </a:pPr>
            <a:r>
              <a:rPr dirty="0" sz="1150" spc="20">
                <a:solidFill>
                  <a:srgbClr val="FF8B00"/>
                </a:solidFill>
                <a:latin typeface="Lucida Sans Unicode"/>
                <a:cs typeface="Lucida Sans Unicode"/>
              </a:rPr>
              <a:t>Linear </a:t>
            </a:r>
            <a:r>
              <a:rPr dirty="0" sz="1150" spc="-10">
                <a:solidFill>
                  <a:srgbClr val="FF8B00"/>
                </a:solidFill>
                <a:latin typeface="Lucida Sans Unicode"/>
                <a:cs typeface="Lucida Sans Unicode"/>
              </a:rPr>
              <a:t>combination </a:t>
            </a:r>
            <a:r>
              <a:rPr dirty="0" sz="1150" spc="-55">
                <a:solidFill>
                  <a:srgbClr val="FF8B00"/>
                </a:solidFill>
                <a:latin typeface="Lucida Sans Unicode"/>
                <a:cs typeface="Lucida Sans Unicode"/>
              </a:rPr>
              <a:t>of </a:t>
            </a:r>
            <a:r>
              <a:rPr dirty="0" sz="1150" spc="-15">
                <a:solidFill>
                  <a:srgbClr val="FF8B00"/>
                </a:solidFill>
                <a:latin typeface="Lucida Sans Unicode"/>
                <a:cs typeface="Lucida Sans Unicode"/>
              </a:rPr>
              <a:t>Lagged</a:t>
            </a:r>
            <a:r>
              <a:rPr dirty="0" sz="1150" spc="-190">
                <a:solidFill>
                  <a:srgbClr val="FF8B00"/>
                </a:solidFill>
                <a:latin typeface="Lucida Sans Unicode"/>
                <a:cs typeface="Lucida Sans Unicode"/>
              </a:rPr>
              <a:t> </a:t>
            </a:r>
            <a:r>
              <a:rPr dirty="0" sz="1150" spc="-25">
                <a:solidFill>
                  <a:srgbClr val="FF8B00"/>
                </a:solidFill>
                <a:latin typeface="Lucida Sans Unicode"/>
                <a:cs typeface="Lucida Sans Unicode"/>
              </a:rPr>
              <a:t>forecast  errors </a:t>
            </a:r>
            <a:r>
              <a:rPr dirty="0" sz="1150" spc="-15">
                <a:solidFill>
                  <a:srgbClr val="FF8B00"/>
                </a:solidFill>
                <a:latin typeface="Lucida Sans Unicode"/>
                <a:cs typeface="Lucida Sans Unicode"/>
              </a:rPr>
              <a:t>up </a:t>
            </a:r>
            <a:r>
              <a:rPr dirty="0" sz="1150" spc="-5">
                <a:solidFill>
                  <a:srgbClr val="FF8B00"/>
                </a:solidFill>
                <a:latin typeface="Lucida Sans Unicode"/>
                <a:cs typeface="Lucida Sans Unicode"/>
              </a:rPr>
              <a:t>to </a:t>
            </a:r>
            <a:r>
              <a:rPr dirty="0" sz="1150" spc="-25" i="1">
                <a:solidFill>
                  <a:srgbClr val="FF8B00"/>
                </a:solidFill>
                <a:latin typeface="Calibri"/>
                <a:cs typeface="Calibri"/>
              </a:rPr>
              <a:t>q</a:t>
            </a:r>
            <a:r>
              <a:rPr dirty="0" sz="1150" spc="-45" i="1">
                <a:solidFill>
                  <a:srgbClr val="FF8B00"/>
                </a:solidFill>
                <a:latin typeface="Calibri"/>
                <a:cs typeface="Calibri"/>
              </a:rPr>
              <a:t> </a:t>
            </a:r>
            <a:r>
              <a:rPr dirty="0" sz="1150" spc="-40">
                <a:solidFill>
                  <a:srgbClr val="FF8B00"/>
                </a:solidFill>
                <a:latin typeface="Lucida Sans Unicode"/>
                <a:cs typeface="Lucida Sans Unicode"/>
              </a:rPr>
              <a:t>lags</a:t>
            </a:r>
            <a:endParaRPr sz="115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30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73214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00">
                <a:solidFill>
                  <a:srgbClr val="C2132D"/>
                </a:solidFill>
              </a:rPr>
              <a:t>Fitting </a:t>
            </a:r>
            <a:r>
              <a:rPr dirty="0" sz="3350" spc="-254">
                <a:solidFill>
                  <a:srgbClr val="C2132D"/>
                </a:solidFill>
              </a:rPr>
              <a:t>AR, </a:t>
            </a:r>
            <a:r>
              <a:rPr dirty="0" sz="3350" spc="-135">
                <a:solidFill>
                  <a:srgbClr val="C2132D"/>
                </a:solidFill>
              </a:rPr>
              <a:t>MA, </a:t>
            </a:r>
            <a:r>
              <a:rPr dirty="0" sz="3350" spc="-180">
                <a:solidFill>
                  <a:srgbClr val="C2132D"/>
                </a:solidFill>
              </a:rPr>
              <a:t>and </a:t>
            </a:r>
            <a:r>
              <a:rPr dirty="0" sz="3350" spc="-10">
                <a:solidFill>
                  <a:srgbClr val="C2132D"/>
                </a:solidFill>
              </a:rPr>
              <a:t>ARMA</a:t>
            </a:r>
            <a:r>
              <a:rPr dirty="0" sz="3350" spc="-409">
                <a:solidFill>
                  <a:srgbClr val="C2132D"/>
                </a:solidFill>
              </a:rPr>
              <a:t> </a:t>
            </a:r>
            <a:r>
              <a:rPr dirty="0" sz="3350" spc="-70">
                <a:solidFill>
                  <a:srgbClr val="C2132D"/>
                </a:solidFill>
              </a:rPr>
              <a:t>Models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285747"/>
            <a:ext cx="9408160" cy="4721225"/>
          </a:xfrm>
          <a:prstGeom prst="rect">
            <a:avLst/>
          </a:prstGeom>
        </p:spPr>
        <p:txBody>
          <a:bodyPr wrap="square" lIns="0" tIns="158750" rIns="0" bIns="0" rtlCol="0" vert="horz">
            <a:spAutoFit/>
          </a:bodyPr>
          <a:lstStyle/>
          <a:p>
            <a:pPr marL="393700" indent="-120650">
              <a:lnSpc>
                <a:spcPct val="100000"/>
              </a:lnSpc>
              <a:spcBef>
                <a:spcPts val="1250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600">
                <a:solidFill>
                  <a:srgbClr val="585D60"/>
                </a:solidFill>
                <a:latin typeface="Trebuchet MS"/>
                <a:cs typeface="Trebuchet MS"/>
              </a:rPr>
              <a:t>Plot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 </a:t>
            </a:r>
            <a:r>
              <a:rPr dirty="0" sz="1600" spc="-5">
                <a:solidFill>
                  <a:srgbClr val="585D60"/>
                </a:solidFill>
                <a:latin typeface="Trebuchet MS"/>
                <a:cs typeface="Trebuchet MS"/>
              </a:rPr>
              <a:t>data </a:t>
            </a:r>
            <a:r>
              <a:rPr dirty="0" sz="1600" spc="-15">
                <a:solidFill>
                  <a:srgbClr val="585D60"/>
                </a:solidFill>
                <a:latin typeface="Trebuchet MS"/>
                <a:cs typeface="Trebuchet MS"/>
              </a:rPr>
              <a:t>over</a:t>
            </a:r>
            <a:r>
              <a:rPr dirty="0" sz="1600" spc="-3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50">
                <a:solidFill>
                  <a:srgbClr val="585D60"/>
                </a:solidFill>
                <a:latin typeface="Trebuchet MS"/>
                <a:cs typeface="Trebuchet MS"/>
              </a:rPr>
              <a:t>time.</a:t>
            </a:r>
            <a:endParaRPr sz="1600">
              <a:latin typeface="Trebuchet MS"/>
              <a:cs typeface="Trebuchet MS"/>
            </a:endParaRPr>
          </a:p>
          <a:p>
            <a:pPr marL="393700" indent="-120650">
              <a:lnSpc>
                <a:spcPct val="100000"/>
              </a:lnSpc>
              <a:spcBef>
                <a:spcPts val="115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600" spc="70">
                <a:solidFill>
                  <a:srgbClr val="585D60"/>
                </a:solidFill>
                <a:latin typeface="Trebuchet MS"/>
                <a:cs typeface="Trebuchet MS"/>
              </a:rPr>
              <a:t>Do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5">
                <a:solidFill>
                  <a:srgbClr val="585D60"/>
                </a:solidFill>
                <a:latin typeface="Trebuchet MS"/>
                <a:cs typeface="Trebuchet MS"/>
              </a:rPr>
              <a:t>data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60">
                <a:solidFill>
                  <a:srgbClr val="585D60"/>
                </a:solidFill>
                <a:latin typeface="Trebuchet MS"/>
                <a:cs typeface="Trebuchet MS"/>
              </a:rPr>
              <a:t>seem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5">
                <a:solidFill>
                  <a:srgbClr val="585D60"/>
                </a:solidFill>
                <a:latin typeface="Trebuchet MS"/>
                <a:cs typeface="Trebuchet MS"/>
              </a:rPr>
              <a:t>stationary?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20">
                <a:solidFill>
                  <a:srgbClr val="585D60"/>
                </a:solidFill>
                <a:latin typeface="Trebuchet MS"/>
                <a:cs typeface="Trebuchet MS"/>
              </a:rPr>
              <a:t>If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>
                <a:solidFill>
                  <a:srgbClr val="585D60"/>
                </a:solidFill>
                <a:latin typeface="Trebuchet MS"/>
                <a:cs typeface="Trebuchet MS"/>
              </a:rPr>
              <a:t>necessary,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5">
                <a:solidFill>
                  <a:srgbClr val="585D60"/>
                </a:solidFill>
                <a:latin typeface="Trebuchet MS"/>
                <a:cs typeface="Trebuchet MS"/>
              </a:rPr>
              <a:t>conduct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4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10">
                <a:solidFill>
                  <a:srgbClr val="585D60"/>
                </a:solidFill>
                <a:latin typeface="Trebuchet MS"/>
                <a:cs typeface="Trebuchet MS"/>
              </a:rPr>
              <a:t>test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15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stationarity.</a:t>
            </a:r>
            <a:endParaRPr sz="1600">
              <a:latin typeface="Trebuchet MS"/>
              <a:cs typeface="Trebuchet MS"/>
            </a:endParaRPr>
          </a:p>
          <a:p>
            <a:pPr marL="393700" indent="-120650">
              <a:lnSpc>
                <a:spcPct val="100000"/>
              </a:lnSpc>
              <a:spcBef>
                <a:spcPts val="115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600" spc="20">
                <a:solidFill>
                  <a:srgbClr val="585D60"/>
                </a:solidFill>
                <a:latin typeface="Trebuchet MS"/>
                <a:cs typeface="Trebuchet MS"/>
              </a:rPr>
              <a:t>Once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5">
                <a:solidFill>
                  <a:srgbClr val="585D60"/>
                </a:solidFill>
                <a:latin typeface="Trebuchet MS"/>
                <a:cs typeface="Trebuchet MS"/>
              </a:rPr>
              <a:t>you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35">
                <a:solidFill>
                  <a:srgbClr val="585D60"/>
                </a:solidFill>
                <a:latin typeface="Trebuchet MS"/>
                <a:cs typeface="Trebuchet MS"/>
              </a:rPr>
              <a:t>can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85">
                <a:solidFill>
                  <a:srgbClr val="585D60"/>
                </a:solidFill>
                <a:latin typeface="Trebuchet MS"/>
                <a:cs typeface="Trebuchet MS"/>
              </a:rPr>
              <a:t>assume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45">
                <a:solidFill>
                  <a:srgbClr val="585D60"/>
                </a:solidFill>
                <a:latin typeface="Trebuchet MS"/>
                <a:cs typeface="Trebuchet MS"/>
              </a:rPr>
              <a:t>stationarity,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0">
                <a:solidFill>
                  <a:srgbClr val="585D60"/>
                </a:solidFill>
                <a:latin typeface="Trebuchet MS"/>
                <a:cs typeface="Trebuchet MS"/>
              </a:rPr>
              <a:t>find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85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55">
                <a:solidFill>
                  <a:srgbClr val="585D60"/>
                </a:solidFill>
                <a:latin typeface="Trebuchet MS"/>
                <a:cs typeface="Trebuchet MS"/>
              </a:rPr>
              <a:t>plot.</a:t>
            </a:r>
            <a:endParaRPr sz="1600">
              <a:latin typeface="Trebuchet MS"/>
              <a:cs typeface="Trebuchet MS"/>
            </a:endParaRPr>
          </a:p>
          <a:p>
            <a:pPr lvl="1" marL="774700" indent="-120650">
              <a:lnSpc>
                <a:spcPct val="100000"/>
              </a:lnSpc>
              <a:spcBef>
                <a:spcPts val="1155"/>
              </a:spcBef>
              <a:buClr>
                <a:srgbClr val="C2132D"/>
              </a:buClr>
              <a:buChar char="•"/>
              <a:tabLst>
                <a:tab pos="774700" algn="l"/>
              </a:tabLst>
            </a:pPr>
            <a:r>
              <a:rPr dirty="0" sz="1600" spc="-20">
                <a:solidFill>
                  <a:srgbClr val="585D60"/>
                </a:solidFill>
                <a:latin typeface="Trebuchet MS"/>
                <a:cs typeface="Trebuchet MS"/>
              </a:rPr>
              <a:t>If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85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25">
                <a:solidFill>
                  <a:srgbClr val="585D60"/>
                </a:solidFill>
                <a:latin typeface="Trebuchet MS"/>
                <a:cs typeface="Trebuchet MS"/>
              </a:rPr>
              <a:t>plot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35">
                <a:solidFill>
                  <a:srgbClr val="585D60"/>
                </a:solidFill>
                <a:latin typeface="Trebuchet MS"/>
                <a:cs typeface="Trebuchet MS"/>
              </a:rPr>
              <a:t>cuts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65">
                <a:solidFill>
                  <a:srgbClr val="585D60"/>
                </a:solidFill>
                <a:latin typeface="Trebuchet MS"/>
                <a:cs typeface="Trebuchet MS"/>
              </a:rPr>
              <a:t>off,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fit </a:t>
            </a:r>
            <a:r>
              <a:rPr dirty="0" sz="1600" spc="3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5">
                <a:solidFill>
                  <a:srgbClr val="585D60"/>
                </a:solidFill>
                <a:latin typeface="Trebuchet MS"/>
                <a:cs typeface="Trebuchet MS"/>
              </a:rPr>
              <a:t>MA(q),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15">
                <a:solidFill>
                  <a:srgbClr val="585D60"/>
                </a:solidFill>
                <a:latin typeface="Trebuchet MS"/>
                <a:cs typeface="Trebuchet MS"/>
              </a:rPr>
              <a:t>where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500" spc="-114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r>
              <a:rPr dirty="0" sz="1500" spc="55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-1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600" spc="-10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10">
                <a:solidFill>
                  <a:srgbClr val="585D60"/>
                </a:solidFill>
                <a:latin typeface="Trebuchet MS"/>
                <a:cs typeface="Trebuchet MS"/>
              </a:rPr>
              <a:t>cutoff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40">
                <a:solidFill>
                  <a:srgbClr val="585D60"/>
                </a:solidFill>
                <a:latin typeface="Trebuchet MS"/>
                <a:cs typeface="Trebuchet MS"/>
              </a:rPr>
              <a:t>point.</a:t>
            </a:r>
            <a:endParaRPr sz="1600">
              <a:latin typeface="Trebuchet MS"/>
              <a:cs typeface="Trebuchet MS"/>
            </a:endParaRPr>
          </a:p>
          <a:p>
            <a:pPr lvl="1" marL="774700" indent="-120650">
              <a:lnSpc>
                <a:spcPct val="100000"/>
              </a:lnSpc>
              <a:spcBef>
                <a:spcPts val="1230"/>
              </a:spcBef>
              <a:buClr>
                <a:srgbClr val="C2132D"/>
              </a:buClr>
              <a:buChar char="•"/>
              <a:tabLst>
                <a:tab pos="774700" algn="l"/>
              </a:tabLst>
            </a:pPr>
            <a:r>
              <a:rPr dirty="0" sz="1600" spc="-20">
                <a:solidFill>
                  <a:srgbClr val="585D60"/>
                </a:solidFill>
                <a:latin typeface="Trebuchet MS"/>
                <a:cs typeface="Trebuchet MS"/>
              </a:rPr>
              <a:t>If</a:t>
            </a:r>
            <a:r>
              <a:rPr dirty="0" sz="16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85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25">
                <a:solidFill>
                  <a:srgbClr val="585D60"/>
                </a:solidFill>
                <a:latin typeface="Trebuchet MS"/>
                <a:cs typeface="Trebuchet MS"/>
              </a:rPr>
              <a:t>plot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30">
                <a:solidFill>
                  <a:srgbClr val="585D60"/>
                </a:solidFill>
                <a:latin typeface="Trebuchet MS"/>
                <a:cs typeface="Trebuchet MS"/>
              </a:rPr>
              <a:t>dies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0">
                <a:solidFill>
                  <a:srgbClr val="585D60"/>
                </a:solidFill>
                <a:latin typeface="Trebuchet MS"/>
                <a:cs typeface="Trebuchet MS"/>
              </a:rPr>
              <a:t>down,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0">
                <a:solidFill>
                  <a:srgbClr val="585D60"/>
                </a:solidFill>
                <a:latin typeface="Trebuchet MS"/>
                <a:cs typeface="Trebuchet MS"/>
              </a:rPr>
              <a:t>find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65">
                <a:solidFill>
                  <a:srgbClr val="585D60"/>
                </a:solidFill>
                <a:latin typeface="Trebuchet MS"/>
                <a:cs typeface="Trebuchet MS"/>
              </a:rPr>
              <a:t>PACF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55">
                <a:solidFill>
                  <a:srgbClr val="585D60"/>
                </a:solidFill>
                <a:latin typeface="Trebuchet MS"/>
                <a:cs typeface="Trebuchet MS"/>
              </a:rPr>
              <a:t>plot.</a:t>
            </a:r>
            <a:endParaRPr sz="1600">
              <a:latin typeface="Trebuchet MS"/>
              <a:cs typeface="Trebuchet MS"/>
            </a:endParaRPr>
          </a:p>
          <a:p>
            <a:pPr lvl="1" marL="774700" indent="-120650">
              <a:lnSpc>
                <a:spcPct val="100000"/>
              </a:lnSpc>
              <a:spcBef>
                <a:spcPts val="1155"/>
              </a:spcBef>
              <a:buClr>
                <a:srgbClr val="C2132D"/>
              </a:buClr>
              <a:buChar char="•"/>
              <a:tabLst>
                <a:tab pos="774700" algn="l"/>
              </a:tabLst>
            </a:pPr>
            <a:r>
              <a:rPr dirty="0" sz="1600" spc="-20">
                <a:solidFill>
                  <a:srgbClr val="585D60"/>
                </a:solidFill>
                <a:latin typeface="Trebuchet MS"/>
                <a:cs typeface="Trebuchet MS"/>
              </a:rPr>
              <a:t>If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65">
                <a:solidFill>
                  <a:srgbClr val="585D60"/>
                </a:solidFill>
                <a:latin typeface="Trebuchet MS"/>
                <a:cs typeface="Trebuchet MS"/>
              </a:rPr>
              <a:t>PACF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25">
                <a:solidFill>
                  <a:srgbClr val="585D60"/>
                </a:solidFill>
                <a:latin typeface="Trebuchet MS"/>
                <a:cs typeface="Trebuchet MS"/>
              </a:rPr>
              <a:t>plot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35">
                <a:solidFill>
                  <a:srgbClr val="585D60"/>
                </a:solidFill>
                <a:latin typeface="Trebuchet MS"/>
                <a:cs typeface="Trebuchet MS"/>
              </a:rPr>
              <a:t>cuts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65">
                <a:solidFill>
                  <a:srgbClr val="585D60"/>
                </a:solidFill>
                <a:latin typeface="Trebuchet MS"/>
                <a:cs typeface="Trebuchet MS"/>
              </a:rPr>
              <a:t>off,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fit </a:t>
            </a:r>
            <a:r>
              <a:rPr dirty="0" sz="1600" spc="3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5">
                <a:solidFill>
                  <a:srgbClr val="585D60"/>
                </a:solidFill>
                <a:latin typeface="Trebuchet MS"/>
                <a:cs typeface="Trebuchet MS"/>
              </a:rPr>
              <a:t>AR(p)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0">
                <a:solidFill>
                  <a:srgbClr val="585D60"/>
                </a:solidFill>
                <a:latin typeface="Trebuchet MS"/>
                <a:cs typeface="Trebuchet MS"/>
              </a:rPr>
              <a:t>model,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15">
                <a:solidFill>
                  <a:srgbClr val="585D60"/>
                </a:solidFill>
                <a:latin typeface="Trebuchet MS"/>
                <a:cs typeface="Trebuchet MS"/>
              </a:rPr>
              <a:t>where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500" spc="-20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sz="1500" spc="3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-1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600" spc="-10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10">
                <a:solidFill>
                  <a:srgbClr val="585D60"/>
                </a:solidFill>
                <a:latin typeface="Trebuchet MS"/>
                <a:cs typeface="Trebuchet MS"/>
              </a:rPr>
              <a:t>cutoff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40">
                <a:solidFill>
                  <a:srgbClr val="585D60"/>
                </a:solidFill>
                <a:latin typeface="Trebuchet MS"/>
                <a:cs typeface="Trebuchet MS"/>
              </a:rPr>
              <a:t>point.</a:t>
            </a:r>
            <a:endParaRPr sz="1600">
              <a:latin typeface="Trebuchet MS"/>
              <a:cs typeface="Trebuchet MS"/>
            </a:endParaRPr>
          </a:p>
          <a:p>
            <a:pPr lvl="1" marL="774700" indent="-120650">
              <a:lnSpc>
                <a:spcPct val="100000"/>
              </a:lnSpc>
              <a:spcBef>
                <a:spcPts val="1155"/>
              </a:spcBef>
              <a:buClr>
                <a:srgbClr val="C2132D"/>
              </a:buClr>
              <a:buChar char="•"/>
              <a:tabLst>
                <a:tab pos="774700" algn="l"/>
              </a:tabLst>
            </a:pPr>
            <a:r>
              <a:rPr dirty="0" sz="1600" spc="-20">
                <a:solidFill>
                  <a:srgbClr val="585D60"/>
                </a:solidFill>
                <a:latin typeface="Trebuchet MS"/>
                <a:cs typeface="Trebuchet MS"/>
              </a:rPr>
              <a:t>If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65">
                <a:solidFill>
                  <a:srgbClr val="585D60"/>
                </a:solidFill>
                <a:latin typeface="Trebuchet MS"/>
                <a:cs typeface="Trebuchet MS"/>
              </a:rPr>
              <a:t>PACF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25">
                <a:solidFill>
                  <a:srgbClr val="585D60"/>
                </a:solidFill>
                <a:latin typeface="Trebuchet MS"/>
                <a:cs typeface="Trebuchet MS"/>
              </a:rPr>
              <a:t>plot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30">
                <a:solidFill>
                  <a:srgbClr val="585D60"/>
                </a:solidFill>
                <a:latin typeface="Trebuchet MS"/>
                <a:cs typeface="Trebuchet MS"/>
              </a:rPr>
              <a:t>dies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0">
                <a:solidFill>
                  <a:srgbClr val="585D60"/>
                </a:solidFill>
                <a:latin typeface="Trebuchet MS"/>
                <a:cs typeface="Trebuchet MS"/>
              </a:rPr>
              <a:t>down,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fit </a:t>
            </a:r>
            <a:r>
              <a:rPr dirty="0" sz="1600" spc="30">
                <a:solidFill>
                  <a:srgbClr val="585D60"/>
                </a:solidFill>
                <a:latin typeface="Trebuchet MS"/>
                <a:cs typeface="Trebuchet MS"/>
              </a:rPr>
              <a:t>an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45">
                <a:solidFill>
                  <a:srgbClr val="585D60"/>
                </a:solidFill>
                <a:latin typeface="Trebuchet MS"/>
                <a:cs typeface="Trebuchet MS"/>
              </a:rPr>
              <a:t>ARMA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60">
                <a:solidFill>
                  <a:srgbClr val="585D60"/>
                </a:solidFill>
                <a:latin typeface="Trebuchet MS"/>
                <a:cs typeface="Trebuchet MS"/>
              </a:rPr>
              <a:t>(p,q)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15">
                <a:solidFill>
                  <a:srgbClr val="585D60"/>
                </a:solidFill>
                <a:latin typeface="Trebuchet MS"/>
                <a:cs typeface="Trebuchet MS"/>
              </a:rPr>
              <a:t>model.</a:t>
            </a:r>
            <a:endParaRPr sz="1600">
              <a:latin typeface="Trebuchet MS"/>
              <a:cs typeface="Trebuchet MS"/>
            </a:endParaRPr>
          </a:p>
          <a:p>
            <a:pPr lvl="2" marL="1155065" marR="5080" indent="-120650">
              <a:lnSpc>
                <a:spcPct val="117200"/>
              </a:lnSpc>
              <a:spcBef>
                <a:spcPts val="825"/>
              </a:spcBef>
              <a:buClr>
                <a:srgbClr val="C2132D"/>
              </a:buClr>
              <a:buChar char="•"/>
              <a:tabLst>
                <a:tab pos="1155700" algn="l"/>
              </a:tabLst>
            </a:pPr>
            <a:r>
              <a:rPr dirty="0" sz="1600" spc="25">
                <a:solidFill>
                  <a:srgbClr val="585D60"/>
                </a:solidFill>
                <a:latin typeface="Trebuchet MS"/>
                <a:cs typeface="Trebuchet MS"/>
              </a:rPr>
              <a:t>You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45">
                <a:solidFill>
                  <a:srgbClr val="585D60"/>
                </a:solidFill>
                <a:latin typeface="Trebuchet MS"/>
                <a:cs typeface="Trebuchet MS"/>
              </a:rPr>
              <a:t>must</a:t>
            </a:r>
            <a:r>
              <a:rPr dirty="0" sz="1600" spc="-7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55">
                <a:solidFill>
                  <a:srgbClr val="585D60"/>
                </a:solidFill>
                <a:latin typeface="Trebuchet MS"/>
                <a:cs typeface="Trebuchet MS"/>
              </a:rPr>
              <a:t>iterate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>
                <a:solidFill>
                  <a:srgbClr val="585D60"/>
                </a:solidFill>
                <a:latin typeface="Trebuchet MS"/>
                <a:cs typeface="Trebuchet MS"/>
              </a:rPr>
              <a:t>through</a:t>
            </a:r>
            <a:r>
              <a:rPr dirty="0" sz="1600" spc="-7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500" spc="-20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sz="1500" spc="-5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2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600" spc="-7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500" spc="-114" i="1">
                <a:solidFill>
                  <a:srgbClr val="585D60"/>
                </a:solidFill>
                <a:latin typeface="Arial"/>
                <a:cs typeface="Arial"/>
              </a:rPr>
              <a:t>q</a:t>
            </a:r>
            <a:r>
              <a:rPr dirty="0" sz="1500" spc="15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50">
                <a:solidFill>
                  <a:srgbClr val="585D60"/>
                </a:solidFill>
                <a:latin typeface="Trebuchet MS"/>
                <a:cs typeface="Trebuchet MS"/>
              </a:rPr>
              <a:t>using</a:t>
            </a:r>
            <a:r>
              <a:rPr dirty="0" sz="1600" spc="-7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40">
                <a:solidFill>
                  <a:srgbClr val="585D60"/>
                </a:solidFill>
                <a:latin typeface="Trebuchet MS"/>
                <a:cs typeface="Trebuchet MS"/>
              </a:rPr>
              <a:t>a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95">
                <a:solidFill>
                  <a:srgbClr val="585D60"/>
                </a:solidFill>
                <a:latin typeface="Trebuchet MS"/>
                <a:cs typeface="Trebuchet MS"/>
              </a:rPr>
              <a:t>guess</a:t>
            </a:r>
            <a:r>
              <a:rPr dirty="0" sz="1600" spc="-7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600" spc="-7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5">
                <a:solidFill>
                  <a:srgbClr val="585D60"/>
                </a:solidFill>
                <a:latin typeface="Trebuchet MS"/>
                <a:cs typeface="Trebuchet MS"/>
              </a:rPr>
              <a:t>check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0">
                <a:solidFill>
                  <a:srgbClr val="585D60"/>
                </a:solidFill>
                <a:latin typeface="Trebuchet MS"/>
                <a:cs typeface="Trebuchet MS"/>
              </a:rPr>
              <a:t>method</a:t>
            </a:r>
            <a:r>
              <a:rPr dirty="0" sz="1600" spc="-7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5">
                <a:solidFill>
                  <a:srgbClr val="585D60"/>
                </a:solidFill>
                <a:latin typeface="Trebuchet MS"/>
                <a:cs typeface="Trebuchet MS"/>
              </a:rPr>
              <a:t>starting</a:t>
            </a:r>
            <a:r>
              <a:rPr dirty="0" sz="1600" spc="-7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with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40">
                <a:solidFill>
                  <a:srgbClr val="585D60"/>
                </a:solidFill>
                <a:latin typeface="Trebuchet MS"/>
                <a:cs typeface="Trebuchet MS"/>
              </a:rPr>
              <a:t>ARMA(1,1)  </a:t>
            </a:r>
            <a:r>
              <a:rPr dirty="0" sz="1600" spc="45">
                <a:solidFill>
                  <a:srgbClr val="585D60"/>
                </a:solidFill>
                <a:latin typeface="Trebuchet MS"/>
                <a:cs typeface="Trebuchet MS"/>
              </a:rPr>
              <a:t>models </a:t>
            </a:r>
            <a:r>
              <a:rPr dirty="0" sz="1600" spc="-140">
                <a:solidFill>
                  <a:srgbClr val="585D60"/>
                </a:solidFill>
                <a:latin typeface="Trebuchet MS"/>
                <a:cs typeface="Trebuchet MS"/>
              </a:rPr>
              <a:t>-- </a:t>
            </a:r>
            <a:r>
              <a:rPr dirty="0" sz="1600" spc="-15">
                <a:solidFill>
                  <a:srgbClr val="585D60"/>
                </a:solidFill>
                <a:latin typeface="Trebuchet MS"/>
                <a:cs typeface="Trebuchet MS"/>
              </a:rPr>
              <a:t>increment </a:t>
            </a:r>
            <a:r>
              <a:rPr dirty="0" sz="1600" spc="25">
                <a:solidFill>
                  <a:srgbClr val="585D60"/>
                </a:solidFill>
                <a:latin typeface="Trebuchet MS"/>
                <a:cs typeface="Trebuchet MS"/>
              </a:rPr>
              <a:t>each </a:t>
            </a:r>
            <a:r>
              <a:rPr dirty="0" sz="1600" spc="-10">
                <a:solidFill>
                  <a:srgbClr val="585D60"/>
                </a:solidFill>
                <a:latin typeface="Trebuchet MS"/>
                <a:cs typeface="Trebuchet MS"/>
              </a:rPr>
              <a:t>by</a:t>
            </a:r>
            <a:r>
              <a:rPr dirty="0" sz="1600" spc="-34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45">
                <a:solidFill>
                  <a:srgbClr val="585D60"/>
                </a:solidFill>
                <a:latin typeface="Trebuchet MS"/>
                <a:cs typeface="Trebuchet MS"/>
              </a:rPr>
              <a:t>1.</a:t>
            </a:r>
            <a:endParaRPr sz="1600">
              <a:latin typeface="Trebuchet MS"/>
              <a:cs typeface="Trebuchet MS"/>
            </a:endParaRPr>
          </a:p>
          <a:p>
            <a:pPr marL="393700" indent="-120650">
              <a:lnSpc>
                <a:spcPct val="100000"/>
              </a:lnSpc>
              <a:spcBef>
                <a:spcPts val="115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600" spc="-10">
                <a:solidFill>
                  <a:srgbClr val="585D60"/>
                </a:solidFill>
                <a:latin typeface="Trebuchet MS"/>
                <a:cs typeface="Trebuchet MS"/>
              </a:rPr>
              <a:t>Evaluate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5">
                <a:solidFill>
                  <a:srgbClr val="585D60"/>
                </a:solidFill>
                <a:latin typeface="Trebuchet MS"/>
                <a:cs typeface="Trebuchet MS"/>
              </a:rPr>
              <a:t>model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0">
                <a:solidFill>
                  <a:srgbClr val="585D60"/>
                </a:solidFill>
                <a:latin typeface="Trebuchet MS"/>
                <a:cs typeface="Trebuchet MS"/>
              </a:rPr>
              <a:t>residuals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5">
                <a:solidFill>
                  <a:srgbClr val="585D60"/>
                </a:solidFill>
                <a:latin typeface="Trebuchet MS"/>
                <a:cs typeface="Trebuchet MS"/>
              </a:rPr>
              <a:t>consider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85">
                <a:solidFill>
                  <a:srgbClr val="585D60"/>
                </a:solidFill>
                <a:latin typeface="Trebuchet MS"/>
                <a:cs typeface="Trebuchet MS"/>
              </a:rPr>
              <a:t>ACF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65">
                <a:solidFill>
                  <a:srgbClr val="585D60"/>
                </a:solidFill>
                <a:latin typeface="Trebuchet MS"/>
                <a:cs typeface="Trebuchet MS"/>
              </a:rPr>
              <a:t>PACF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5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5">
                <a:solidFill>
                  <a:srgbClr val="585D60"/>
                </a:solidFill>
                <a:latin typeface="Trebuchet MS"/>
                <a:cs typeface="Trebuchet MS"/>
              </a:rPr>
              <a:t>residuals.</a:t>
            </a:r>
            <a:endParaRPr sz="1600">
              <a:latin typeface="Trebuchet MS"/>
              <a:cs typeface="Trebuchet MS"/>
            </a:endParaRPr>
          </a:p>
          <a:p>
            <a:pPr marL="393700" indent="-120650">
              <a:lnSpc>
                <a:spcPct val="100000"/>
              </a:lnSpc>
              <a:spcBef>
                <a:spcPts val="115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600" spc="-20">
                <a:solidFill>
                  <a:srgbClr val="585D60"/>
                </a:solidFill>
                <a:latin typeface="Trebuchet MS"/>
                <a:cs typeface="Trebuchet MS"/>
              </a:rPr>
              <a:t>If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5">
                <a:solidFill>
                  <a:srgbClr val="585D60"/>
                </a:solidFill>
                <a:latin typeface="Trebuchet MS"/>
                <a:cs typeface="Trebuchet MS"/>
              </a:rPr>
              <a:t>model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fit </a:t>
            </a:r>
            <a:r>
              <a:rPr dirty="0" sz="1600" spc="60">
                <a:solidFill>
                  <a:srgbClr val="585D60"/>
                </a:solidFill>
                <a:latin typeface="Trebuchet MS"/>
                <a:cs typeface="Trebuchet MS"/>
              </a:rPr>
              <a:t>is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5">
                <a:solidFill>
                  <a:srgbClr val="585D60"/>
                </a:solidFill>
                <a:latin typeface="Trebuchet MS"/>
                <a:cs typeface="Trebuchet MS"/>
              </a:rPr>
              <a:t>good,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0">
                <a:solidFill>
                  <a:srgbClr val="585D60"/>
                </a:solidFill>
                <a:latin typeface="Trebuchet MS"/>
                <a:cs typeface="Trebuchet MS"/>
              </a:rPr>
              <a:t>forecast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future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5">
                <a:solidFill>
                  <a:srgbClr val="585D60"/>
                </a:solidFill>
                <a:latin typeface="Trebuchet MS"/>
                <a:cs typeface="Trebuchet MS"/>
              </a:rPr>
              <a:t>values.</a:t>
            </a:r>
            <a:endParaRPr sz="16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7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dirty="0" sz="1600" spc="-40" b="1">
                <a:solidFill>
                  <a:srgbClr val="C2132D"/>
                </a:solidFill>
                <a:latin typeface="Trebuchet MS"/>
                <a:cs typeface="Trebuchet MS"/>
              </a:rPr>
              <a:t>Note:</a:t>
            </a:r>
            <a:r>
              <a:rPr dirty="0" sz="16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600" spc="-20">
                <a:solidFill>
                  <a:srgbClr val="585D60"/>
                </a:solidFill>
                <a:latin typeface="Trebuchet MS"/>
                <a:cs typeface="Trebuchet MS"/>
              </a:rPr>
              <a:t>Often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15">
                <a:solidFill>
                  <a:srgbClr val="585D60"/>
                </a:solidFill>
                <a:latin typeface="Trebuchet MS"/>
                <a:cs typeface="Trebuchet MS"/>
              </a:rPr>
              <a:t>you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50">
                <a:solidFill>
                  <a:srgbClr val="585D60"/>
                </a:solidFill>
                <a:latin typeface="Trebuchet MS"/>
                <a:cs typeface="Trebuchet MS"/>
              </a:rPr>
              <a:t>will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fit </a:t>
            </a:r>
            <a:r>
              <a:rPr dirty="0" sz="1600" spc="-30">
                <a:solidFill>
                  <a:srgbClr val="585D60"/>
                </a:solidFill>
                <a:latin typeface="Trebuchet MS"/>
                <a:cs typeface="Trebuchet MS"/>
              </a:rPr>
              <a:t>multiple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45">
                <a:solidFill>
                  <a:srgbClr val="585D60"/>
                </a:solidFill>
                <a:latin typeface="Trebuchet MS"/>
                <a:cs typeface="Trebuchet MS"/>
              </a:rPr>
              <a:t>models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2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0">
                <a:solidFill>
                  <a:srgbClr val="585D60"/>
                </a:solidFill>
                <a:latin typeface="Trebuchet MS"/>
                <a:cs typeface="Trebuchet MS"/>
              </a:rPr>
              <a:t>Step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70">
                <a:solidFill>
                  <a:srgbClr val="585D60"/>
                </a:solidFill>
                <a:latin typeface="Trebuchet MS"/>
                <a:cs typeface="Trebuchet MS"/>
              </a:rPr>
              <a:t>3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0">
                <a:solidFill>
                  <a:srgbClr val="585D60"/>
                </a:solidFill>
                <a:latin typeface="Trebuchet MS"/>
                <a:cs typeface="Trebuchet MS"/>
              </a:rPr>
              <a:t>compare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45">
                <a:solidFill>
                  <a:srgbClr val="585D60"/>
                </a:solidFill>
                <a:latin typeface="Trebuchet MS"/>
                <a:cs typeface="Trebuchet MS"/>
              </a:rPr>
              <a:t>models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2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0">
                <a:solidFill>
                  <a:srgbClr val="585D60"/>
                </a:solidFill>
                <a:latin typeface="Trebuchet MS"/>
                <a:cs typeface="Trebuchet MS"/>
              </a:rPr>
              <a:t>Step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70">
                <a:solidFill>
                  <a:srgbClr val="585D60"/>
                </a:solidFill>
                <a:latin typeface="Trebuchet MS"/>
                <a:cs typeface="Trebuchet MS"/>
              </a:rPr>
              <a:t>4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0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5">
                <a:solidFill>
                  <a:srgbClr val="585D60"/>
                </a:solidFill>
                <a:latin typeface="Trebuchet MS"/>
                <a:cs typeface="Trebuchet MS"/>
              </a:rPr>
              <a:t>select</a:t>
            </a:r>
            <a:r>
              <a:rPr dirty="0" sz="16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35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20">
                <a:solidFill>
                  <a:srgbClr val="585D60"/>
                </a:solidFill>
                <a:latin typeface="Trebuchet MS"/>
                <a:cs typeface="Trebuchet MS"/>
              </a:rPr>
              <a:t>best</a:t>
            </a:r>
            <a:r>
              <a:rPr dirty="0" sz="1600" spc="-8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600" spc="-105">
                <a:solidFill>
                  <a:srgbClr val="585D60"/>
                </a:solidFill>
                <a:latin typeface="Trebuchet MS"/>
                <a:cs typeface="Trebuchet MS"/>
              </a:rPr>
              <a:t>fit.</a:t>
            </a:r>
            <a:endParaRPr sz="16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30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411084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00">
                <a:solidFill>
                  <a:srgbClr val="C2132D"/>
                </a:solidFill>
              </a:rPr>
              <a:t>Fitting </a:t>
            </a:r>
            <a:r>
              <a:rPr dirty="0" sz="3350" spc="-254">
                <a:solidFill>
                  <a:srgbClr val="C2132D"/>
                </a:solidFill>
              </a:rPr>
              <a:t>AR, </a:t>
            </a:r>
            <a:r>
              <a:rPr dirty="0" sz="3350" spc="-135">
                <a:solidFill>
                  <a:srgbClr val="C2132D"/>
                </a:solidFill>
              </a:rPr>
              <a:t>MA, </a:t>
            </a:r>
            <a:r>
              <a:rPr dirty="0" sz="3350" spc="-180">
                <a:solidFill>
                  <a:srgbClr val="C2132D"/>
                </a:solidFill>
              </a:rPr>
              <a:t>and </a:t>
            </a:r>
            <a:r>
              <a:rPr dirty="0" sz="3350" spc="-10">
                <a:solidFill>
                  <a:srgbClr val="C2132D"/>
                </a:solidFill>
              </a:rPr>
              <a:t>ARMA </a:t>
            </a:r>
            <a:r>
              <a:rPr dirty="0" sz="3350" spc="-70">
                <a:solidFill>
                  <a:srgbClr val="C2132D"/>
                </a:solidFill>
              </a:rPr>
              <a:t>Models </a:t>
            </a:r>
            <a:r>
              <a:rPr dirty="0" sz="3350" spc="-190">
                <a:solidFill>
                  <a:srgbClr val="C2132D"/>
                </a:solidFill>
              </a:rPr>
              <a:t>in</a:t>
            </a:r>
            <a:r>
              <a:rPr dirty="0" sz="3350" spc="-770">
                <a:solidFill>
                  <a:srgbClr val="C2132D"/>
                </a:solidFill>
              </a:rPr>
              <a:t> </a:t>
            </a:r>
            <a:r>
              <a:rPr dirty="0" sz="3350" spc="-180">
                <a:solidFill>
                  <a:srgbClr val="C2132D"/>
                </a:solidFill>
              </a:rPr>
              <a:t>Python</a:t>
            </a:r>
            <a:endParaRPr sz="335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 marR="427355">
              <a:lnSpc>
                <a:spcPct val="118100"/>
              </a:lnSpc>
              <a:spcBef>
                <a:spcPts val="100"/>
              </a:spcBef>
            </a:pPr>
            <a:r>
              <a:rPr dirty="0" spc="-35"/>
              <a:t>Let</a:t>
            </a:r>
            <a:r>
              <a:rPr dirty="0" spc="-95"/>
              <a:t> </a:t>
            </a:r>
            <a:r>
              <a:rPr dirty="0" spc="100"/>
              <a:t>us</a:t>
            </a:r>
            <a:r>
              <a:rPr dirty="0" spc="-95"/>
              <a:t> </a:t>
            </a:r>
            <a:r>
              <a:rPr dirty="0" spc="-5"/>
              <a:t>examine</a:t>
            </a:r>
            <a:r>
              <a:rPr dirty="0" spc="-95"/>
              <a:t> </a:t>
            </a:r>
            <a:r>
              <a:rPr dirty="0" spc="-50"/>
              <a:t>the</a:t>
            </a:r>
            <a:r>
              <a:rPr dirty="0" spc="-95"/>
              <a:t> </a:t>
            </a:r>
            <a:r>
              <a:rPr dirty="0" spc="20">
                <a:solidFill>
                  <a:srgbClr val="83D5D3"/>
                </a:solidFill>
                <a:hlinkClick r:id="rId2"/>
              </a:rPr>
              <a:t>viscosity</a:t>
            </a:r>
            <a:r>
              <a:rPr dirty="0" spc="-95">
                <a:solidFill>
                  <a:srgbClr val="83D5D3"/>
                </a:solidFill>
                <a:hlinkClick r:id="rId2"/>
              </a:rPr>
              <a:t> </a:t>
            </a:r>
            <a:r>
              <a:rPr dirty="0" spc="-50">
                <a:solidFill>
                  <a:srgbClr val="83D5D3"/>
                </a:solidFill>
                <a:hlinkClick r:id="rId2"/>
              </a:rPr>
              <a:t>data</a:t>
            </a:r>
            <a:r>
              <a:rPr dirty="0" spc="-50"/>
              <a:t>.</a:t>
            </a:r>
            <a:r>
              <a:rPr dirty="0" spc="-95"/>
              <a:t> </a:t>
            </a:r>
            <a:r>
              <a:rPr dirty="0"/>
              <a:t>For</a:t>
            </a:r>
            <a:r>
              <a:rPr dirty="0" spc="-95"/>
              <a:t> </a:t>
            </a:r>
            <a:r>
              <a:rPr dirty="0"/>
              <a:t>this</a:t>
            </a:r>
            <a:r>
              <a:rPr dirty="0" spc="-95"/>
              <a:t> </a:t>
            </a:r>
            <a:r>
              <a:rPr dirty="0" spc="-40"/>
              <a:t>demo,</a:t>
            </a:r>
            <a:r>
              <a:rPr dirty="0" spc="-90"/>
              <a:t> </a:t>
            </a:r>
            <a:r>
              <a:rPr dirty="0" spc="-10"/>
              <a:t>we</a:t>
            </a:r>
            <a:r>
              <a:rPr dirty="0" spc="-95"/>
              <a:t> </a:t>
            </a:r>
            <a:r>
              <a:rPr dirty="0" spc="-65"/>
              <a:t>will</a:t>
            </a:r>
            <a:r>
              <a:rPr dirty="0" spc="-95"/>
              <a:t> </a:t>
            </a:r>
            <a:r>
              <a:rPr dirty="0" spc="-15"/>
              <a:t>only</a:t>
            </a:r>
            <a:r>
              <a:rPr dirty="0" spc="-95"/>
              <a:t> </a:t>
            </a:r>
            <a:r>
              <a:rPr dirty="0" spc="-105"/>
              <a:t>fit</a:t>
            </a:r>
            <a:r>
              <a:rPr dirty="0" spc="-95"/>
              <a:t> </a:t>
            </a:r>
            <a:r>
              <a:rPr dirty="0" spc="145"/>
              <a:t>ARMA</a:t>
            </a:r>
            <a:r>
              <a:rPr dirty="0" spc="-95"/>
              <a:t> </a:t>
            </a:r>
            <a:r>
              <a:rPr dirty="0" spc="35"/>
              <a:t>models</a:t>
            </a:r>
            <a:r>
              <a:rPr dirty="0" spc="-95"/>
              <a:t> </a:t>
            </a:r>
            <a:r>
              <a:rPr dirty="0" spc="35"/>
              <a:t>on</a:t>
            </a:r>
            <a:r>
              <a:rPr dirty="0" spc="-95"/>
              <a:t> </a:t>
            </a:r>
            <a:r>
              <a:rPr dirty="0" spc="-50"/>
              <a:t>the</a:t>
            </a:r>
            <a:r>
              <a:rPr dirty="0" spc="-90"/>
              <a:t> </a:t>
            </a:r>
            <a:r>
              <a:rPr dirty="0" spc="-80" b="1">
                <a:solidFill>
                  <a:srgbClr val="C2132D"/>
                </a:solidFill>
                <a:latin typeface="Trebuchet MS"/>
                <a:cs typeface="Trebuchet MS"/>
              </a:rPr>
              <a:t>entire  </a:t>
            </a:r>
            <a:r>
              <a:rPr dirty="0" spc="-45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pc="-45"/>
              <a:t>,</a:t>
            </a:r>
            <a:r>
              <a:rPr dirty="0" spc="-100"/>
              <a:t> </a:t>
            </a:r>
            <a:r>
              <a:rPr dirty="0" spc="15"/>
              <a:t>and</a:t>
            </a:r>
            <a:r>
              <a:rPr dirty="0" spc="-100"/>
              <a:t> </a:t>
            </a:r>
            <a:r>
              <a:rPr dirty="0" spc="-5"/>
              <a:t>examine</a:t>
            </a:r>
            <a:r>
              <a:rPr dirty="0" spc="-100"/>
              <a:t> </a:t>
            </a:r>
            <a:r>
              <a:rPr dirty="0" spc="-50"/>
              <a:t>the</a:t>
            </a:r>
            <a:r>
              <a:rPr dirty="0" spc="-100"/>
              <a:t> </a:t>
            </a:r>
            <a:r>
              <a:rPr dirty="0" spc="15"/>
              <a:t>residuals</a:t>
            </a:r>
            <a:r>
              <a:rPr dirty="0" spc="-100"/>
              <a:t> </a:t>
            </a:r>
            <a:r>
              <a:rPr dirty="0" spc="-45"/>
              <a:t>to</a:t>
            </a:r>
            <a:r>
              <a:rPr dirty="0" spc="-100"/>
              <a:t> </a:t>
            </a:r>
            <a:r>
              <a:rPr dirty="0" spc="45"/>
              <a:t>see</a:t>
            </a:r>
            <a:r>
              <a:rPr dirty="0" spc="-100"/>
              <a:t> </a:t>
            </a:r>
            <a:r>
              <a:rPr dirty="0" spc="-50"/>
              <a:t>the</a:t>
            </a:r>
            <a:r>
              <a:rPr dirty="0" spc="-100"/>
              <a:t> </a:t>
            </a:r>
            <a:r>
              <a:rPr dirty="0" spc="75"/>
              <a:t>goodness</a:t>
            </a:r>
            <a:r>
              <a:rPr dirty="0" spc="-100"/>
              <a:t> </a:t>
            </a:r>
            <a:r>
              <a:rPr dirty="0" spc="10"/>
              <a:t>of</a:t>
            </a:r>
            <a:r>
              <a:rPr dirty="0" spc="-100"/>
              <a:t> </a:t>
            </a:r>
            <a:r>
              <a:rPr dirty="0" spc="-125"/>
              <a:t>fit.</a:t>
            </a:r>
          </a:p>
          <a:p>
            <a:pPr marL="12700" marR="5080">
              <a:lnSpc>
                <a:spcPct val="114599"/>
              </a:lnSpc>
              <a:spcBef>
                <a:spcPts val="969"/>
              </a:spcBef>
            </a:pPr>
            <a:r>
              <a:rPr dirty="0" spc="-55"/>
              <a:t>However,</a:t>
            </a:r>
            <a:r>
              <a:rPr dirty="0" spc="-95"/>
              <a:t> </a:t>
            </a:r>
            <a:r>
              <a:rPr dirty="0" spc="-105"/>
              <a:t>it</a:t>
            </a:r>
            <a:r>
              <a:rPr dirty="0" spc="-90"/>
              <a:t> </a:t>
            </a:r>
            <a:r>
              <a:rPr dirty="0" spc="30"/>
              <a:t>should</a:t>
            </a:r>
            <a:r>
              <a:rPr dirty="0" spc="-95"/>
              <a:t> </a:t>
            </a:r>
            <a:r>
              <a:rPr dirty="0" spc="-10"/>
              <a:t>be</a:t>
            </a:r>
            <a:r>
              <a:rPr dirty="0" spc="-90"/>
              <a:t> </a:t>
            </a:r>
            <a:r>
              <a:rPr dirty="0" spc="-15"/>
              <a:t>noted</a:t>
            </a:r>
            <a:r>
              <a:rPr dirty="0" spc="-90"/>
              <a:t> </a:t>
            </a:r>
            <a:r>
              <a:rPr dirty="0" spc="-55"/>
              <a:t>that</a:t>
            </a:r>
            <a:r>
              <a:rPr dirty="0" spc="-90"/>
              <a:t> </a:t>
            </a:r>
            <a:r>
              <a:rPr dirty="0" spc="-45" b="1">
                <a:solidFill>
                  <a:srgbClr val="C2132D"/>
                </a:solidFill>
                <a:latin typeface="Trebuchet MS"/>
                <a:cs typeface="Trebuchet MS"/>
              </a:rPr>
              <a:t>you</a:t>
            </a:r>
            <a:r>
              <a:rPr dirty="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65" b="1">
                <a:solidFill>
                  <a:srgbClr val="C2132D"/>
                </a:solidFill>
                <a:latin typeface="Trebuchet MS"/>
                <a:cs typeface="Trebuchet MS"/>
              </a:rPr>
              <a:t>are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20" b="1">
                <a:solidFill>
                  <a:srgbClr val="C2132D"/>
                </a:solidFill>
                <a:latin typeface="Trebuchet MS"/>
                <a:cs typeface="Trebuchet MS"/>
              </a:rPr>
              <a:t>also</a:t>
            </a:r>
            <a:r>
              <a:rPr dirty="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55" b="1">
                <a:solidFill>
                  <a:srgbClr val="C2132D"/>
                </a:solidFill>
                <a:latin typeface="Trebuchet MS"/>
                <a:cs typeface="Trebuchet MS"/>
              </a:rPr>
              <a:t>expected</a:t>
            </a:r>
            <a:r>
              <a:rPr dirty="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70" b="1">
                <a:solidFill>
                  <a:srgbClr val="C2132D"/>
                </a:solidFill>
                <a:latin typeface="Trebuchet MS"/>
                <a:cs typeface="Trebuchet MS"/>
              </a:rPr>
              <a:t>to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65" b="1">
                <a:solidFill>
                  <a:srgbClr val="C2132D"/>
                </a:solidFill>
                <a:latin typeface="Trebuchet MS"/>
                <a:cs typeface="Trebuchet MS"/>
              </a:rPr>
              <a:t>utilize</a:t>
            </a:r>
            <a:r>
              <a:rPr dirty="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15" b="1">
                <a:solidFill>
                  <a:srgbClr val="C2132D"/>
                </a:solidFill>
                <a:latin typeface="Trebuchet MS"/>
                <a:cs typeface="Trebuchet MS"/>
              </a:rPr>
              <a:t>cross-validation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45" b="1">
                <a:solidFill>
                  <a:srgbClr val="C2132D"/>
                </a:solidFill>
                <a:latin typeface="Trebuchet MS"/>
                <a:cs typeface="Trebuchet MS"/>
              </a:rPr>
              <a:t>method</a:t>
            </a:r>
            <a:r>
              <a:rPr dirty="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70" b="1">
                <a:solidFill>
                  <a:srgbClr val="C2132D"/>
                </a:solidFill>
                <a:latin typeface="Trebuchet MS"/>
                <a:cs typeface="Trebuchet MS"/>
              </a:rPr>
              <a:t>to  </a:t>
            </a:r>
            <a:r>
              <a:rPr dirty="0" spc="-50" b="1">
                <a:solidFill>
                  <a:srgbClr val="C2132D"/>
                </a:solidFill>
                <a:latin typeface="Trebuchet MS"/>
                <a:cs typeface="Trebuchet MS"/>
              </a:rPr>
              <a:t>evaluate</a:t>
            </a:r>
            <a:r>
              <a:rPr dirty="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30" b="1">
                <a:solidFill>
                  <a:srgbClr val="C2132D"/>
                </a:solidFill>
                <a:latin typeface="Trebuchet MS"/>
                <a:cs typeface="Trebuchet MS"/>
              </a:rPr>
              <a:t>model's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60" b="1">
                <a:solidFill>
                  <a:srgbClr val="C2132D"/>
                </a:solidFill>
                <a:latin typeface="Trebuchet MS"/>
                <a:cs typeface="Trebuchet MS"/>
              </a:rPr>
              <a:t>predictive</a:t>
            </a:r>
            <a:r>
              <a:rPr dirty="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40" b="1">
                <a:solidFill>
                  <a:srgbClr val="C2132D"/>
                </a:solidFill>
                <a:latin typeface="Trebuchet MS"/>
                <a:cs typeface="Trebuchet MS"/>
              </a:rPr>
              <a:t>performance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50" b="1">
                <a:solidFill>
                  <a:srgbClr val="C2132D"/>
                </a:solidFill>
                <a:latin typeface="Trebuchet MS"/>
                <a:cs typeface="Trebuchet MS"/>
              </a:rPr>
              <a:t>(which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80" b="1">
                <a:solidFill>
                  <a:srgbClr val="C2132D"/>
                </a:solidFill>
                <a:latin typeface="Trebuchet MS"/>
                <a:cs typeface="Trebuchet MS"/>
              </a:rPr>
              <a:t>we</a:t>
            </a:r>
            <a:r>
              <a:rPr dirty="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20" b="1">
                <a:solidFill>
                  <a:srgbClr val="C2132D"/>
                </a:solidFill>
                <a:latin typeface="Trebuchet MS"/>
                <a:cs typeface="Trebuchet MS"/>
              </a:rPr>
              <a:t>do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55" b="1">
                <a:solidFill>
                  <a:srgbClr val="C2132D"/>
                </a:solidFill>
                <a:latin typeface="Trebuchet MS"/>
                <a:cs typeface="Trebuchet MS"/>
              </a:rPr>
              <a:t>not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20" b="1">
                <a:solidFill>
                  <a:srgbClr val="C2132D"/>
                </a:solidFill>
                <a:latin typeface="Trebuchet MS"/>
                <a:cs typeface="Trebuchet MS"/>
              </a:rPr>
              <a:t>do</a:t>
            </a:r>
            <a:r>
              <a:rPr dirty="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60" b="1">
                <a:solidFill>
                  <a:srgbClr val="C2132D"/>
                </a:solidFill>
                <a:latin typeface="Trebuchet MS"/>
                <a:cs typeface="Trebuchet MS"/>
              </a:rPr>
              <a:t>in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20" b="1">
                <a:solidFill>
                  <a:srgbClr val="C2132D"/>
                </a:solidFill>
                <a:latin typeface="Trebuchet MS"/>
                <a:cs typeface="Trebuchet MS"/>
              </a:rPr>
              <a:t>this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25" b="1">
                <a:solidFill>
                  <a:srgbClr val="C2132D"/>
                </a:solidFill>
                <a:latin typeface="Trebuchet MS"/>
                <a:cs typeface="Trebuchet MS"/>
              </a:rPr>
              <a:t>demo</a:t>
            </a:r>
            <a:r>
              <a:rPr dirty="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70" b="1">
                <a:solidFill>
                  <a:srgbClr val="C2132D"/>
                </a:solidFill>
                <a:latin typeface="Trebuchet MS"/>
                <a:cs typeface="Trebuchet MS"/>
              </a:rPr>
              <a:t>to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5" b="1">
                <a:solidFill>
                  <a:srgbClr val="C2132D"/>
                </a:solidFill>
                <a:latin typeface="Trebuchet MS"/>
                <a:cs typeface="Trebuchet MS"/>
              </a:rPr>
              <a:t>save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65" b="1">
                <a:solidFill>
                  <a:srgbClr val="C2132D"/>
                </a:solidFill>
                <a:latin typeface="Trebuchet MS"/>
                <a:cs typeface="Trebuchet MS"/>
              </a:rPr>
              <a:t>time).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98136" y="2779776"/>
            <a:ext cx="1746885" cy="1015365"/>
          </a:xfrm>
          <a:prstGeom prst="rect"/>
          <a:solidFill>
            <a:srgbClr val="333333"/>
          </a:solidFill>
        </p:spPr>
        <p:txBody>
          <a:bodyPr wrap="square" lIns="0" tIns="118745" rIns="0" bIns="0" rtlCol="0" vert="horz">
            <a:spAutoFit/>
          </a:bodyPr>
          <a:lstStyle/>
          <a:p>
            <a:pPr marL="226695">
              <a:lnSpc>
                <a:spcPct val="100000"/>
              </a:lnSpc>
              <a:spcBef>
                <a:spcPts val="935"/>
              </a:spcBef>
            </a:pPr>
            <a:r>
              <a:rPr dirty="0" spc="-1220">
                <a:solidFill>
                  <a:srgbClr val="000000"/>
                </a:solidFill>
              </a:rPr>
              <a:t>R</a:t>
            </a:r>
            <a:r>
              <a:rPr dirty="0" spc="-1220"/>
              <a:t>R</a:t>
            </a:r>
            <a:r>
              <a:rPr dirty="0" spc="-1220">
                <a:solidFill>
                  <a:srgbClr val="000000"/>
                </a:solidFill>
              </a:rPr>
              <a:t>e</a:t>
            </a:r>
            <a:r>
              <a:rPr dirty="0" spc="-1220"/>
              <a:t>e</a:t>
            </a:r>
            <a:r>
              <a:rPr dirty="0" spc="-1220">
                <a:solidFill>
                  <a:srgbClr val="000000"/>
                </a:solidFill>
              </a:rPr>
              <a:t>c</a:t>
            </a:r>
            <a:r>
              <a:rPr dirty="0" spc="-1220"/>
              <a:t>c</a:t>
            </a:r>
            <a:r>
              <a:rPr dirty="0" spc="-1220">
                <a:solidFill>
                  <a:srgbClr val="000000"/>
                </a:solidFill>
              </a:rPr>
              <a:t>a</a:t>
            </a:r>
            <a:r>
              <a:rPr dirty="0" spc="-1220"/>
              <a:t>a</a:t>
            </a:r>
            <a:r>
              <a:rPr dirty="0" spc="-1220">
                <a:solidFill>
                  <a:srgbClr val="000000"/>
                </a:solidFill>
              </a:rPr>
              <a:t>p</a:t>
            </a:r>
            <a:r>
              <a:rPr dirty="0" spc="-1220"/>
              <a:t>p</a:t>
            </a:r>
          </a:p>
        </p:txBody>
      </p:sp>
      <p:sp>
        <p:nvSpPr>
          <p:cNvPr id="3" name="object 3"/>
          <p:cNvSpPr/>
          <p:nvPr/>
        </p:nvSpPr>
        <p:spPr>
          <a:xfrm>
            <a:off x="10631423" y="5995415"/>
            <a:ext cx="894080" cy="491490"/>
          </a:xfrm>
          <a:custGeom>
            <a:avLst/>
            <a:gdLst/>
            <a:ahLst/>
            <a:cxnLst/>
            <a:rect l="l" t="t" r="r" b="b"/>
            <a:pathLst>
              <a:path w="894079" h="491489">
                <a:moveTo>
                  <a:pt x="0" y="0"/>
                </a:moveTo>
                <a:lnTo>
                  <a:pt x="893825" y="0"/>
                </a:lnTo>
                <a:lnTo>
                  <a:pt x="893825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 </a:t>
            </a:r>
            <a:r>
              <a:rPr dirty="0" sz="1200" spc="-385">
                <a:latin typeface="Trebuchet MS"/>
                <a:cs typeface="Trebuchet MS"/>
              </a:rPr>
              <a:t>/</a:t>
            </a:r>
            <a:r>
              <a:rPr dirty="0" sz="1200" spc="-385">
                <a:solidFill>
                  <a:srgbClr val="FFFFFF"/>
                </a:solidFill>
                <a:latin typeface="Trebuchet MS"/>
                <a:cs typeface="Trebuchet MS"/>
              </a:rPr>
              <a:t>/</a:t>
            </a:r>
            <a:r>
              <a:rPr dirty="0" sz="1200" spc="-9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5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5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34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417830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70">
                <a:solidFill>
                  <a:srgbClr val="C2132D"/>
                </a:solidFill>
              </a:rPr>
              <a:t>Summary </a:t>
            </a:r>
            <a:r>
              <a:rPr dirty="0" sz="3350" spc="-140">
                <a:solidFill>
                  <a:srgbClr val="C2132D"/>
                </a:solidFill>
              </a:rPr>
              <a:t>of </a:t>
            </a:r>
            <a:r>
              <a:rPr dirty="0" sz="3350" spc="-90">
                <a:solidFill>
                  <a:srgbClr val="C2132D"/>
                </a:solidFill>
              </a:rPr>
              <a:t>Main</a:t>
            </a:r>
            <a:r>
              <a:rPr dirty="0" sz="3350" spc="-455">
                <a:solidFill>
                  <a:srgbClr val="C2132D"/>
                </a:solidFill>
              </a:rPr>
              <a:t> </a:t>
            </a:r>
            <a:r>
              <a:rPr dirty="0" sz="3350" spc="-110">
                <a:solidFill>
                  <a:srgbClr val="C2132D"/>
                </a:solidFill>
              </a:rPr>
              <a:t>Points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9643745" cy="31191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By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now,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you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should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be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able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do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following:</a:t>
            </a:r>
            <a:endParaRPr sz="1800">
              <a:latin typeface="Trebuchet MS"/>
              <a:cs typeface="Trebuchet MS"/>
            </a:endParaRPr>
          </a:p>
          <a:p>
            <a:pPr marL="393065" marR="5080" indent="-133985">
              <a:lnSpc>
                <a:spcPct val="118100"/>
              </a:lnSpc>
              <a:spcBef>
                <a:spcPts val="1800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Explain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Autoregressive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5" b="1">
                <a:solidFill>
                  <a:srgbClr val="C2132D"/>
                </a:solidFill>
                <a:latin typeface="Trebuchet MS"/>
                <a:cs typeface="Trebuchet MS"/>
              </a:rPr>
              <a:t>(AR)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model</a:t>
            </a:r>
            <a:r>
              <a:rPr dirty="0" sz="1800" spc="-75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identify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order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5">
                <a:solidFill>
                  <a:srgbClr val="585D60"/>
                </a:solidFill>
                <a:latin typeface="Trebuchet MS"/>
                <a:cs typeface="Trebuchet MS"/>
              </a:rPr>
              <a:t>AR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model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 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PACF.</a:t>
            </a:r>
            <a:endParaRPr sz="1800">
              <a:latin typeface="Trebuchet MS"/>
              <a:cs typeface="Trebuchet MS"/>
            </a:endParaRPr>
          </a:p>
          <a:p>
            <a:pPr marL="393065" marR="395605" indent="-133985">
              <a:lnSpc>
                <a:spcPct val="118100"/>
              </a:lnSpc>
              <a:spcBef>
                <a:spcPts val="819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Explain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 b="1">
                <a:solidFill>
                  <a:srgbClr val="C2132D"/>
                </a:solidFill>
                <a:latin typeface="Trebuchet MS"/>
                <a:cs typeface="Trebuchet MS"/>
              </a:rPr>
              <a:t>Moving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Average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60" b="1">
                <a:solidFill>
                  <a:srgbClr val="C2132D"/>
                </a:solidFill>
                <a:latin typeface="Trebuchet MS"/>
                <a:cs typeface="Trebuchet MS"/>
              </a:rPr>
              <a:t>(MA)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model</a:t>
            </a:r>
            <a:r>
              <a:rPr dirty="0" sz="1800" spc="-75">
                <a:solidFill>
                  <a:srgbClr val="585D60"/>
                </a:solidFill>
                <a:latin typeface="Trebuchet MS"/>
                <a:cs typeface="Trebuchet MS"/>
              </a:rPr>
              <a:t>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identify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order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10">
                <a:solidFill>
                  <a:srgbClr val="585D60"/>
                </a:solidFill>
                <a:latin typeface="Trebuchet MS"/>
                <a:cs typeface="Trebuchet MS"/>
              </a:rPr>
              <a:t>MA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Trebuchet MS"/>
                <a:cs typeface="Trebuchet MS"/>
              </a:rPr>
              <a:t>model 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254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ACF.</a:t>
            </a:r>
            <a:endParaRPr sz="1800">
              <a:latin typeface="Trebuchet MS"/>
              <a:cs typeface="Trebuchet MS"/>
            </a:endParaRPr>
          </a:p>
          <a:p>
            <a:pPr marL="3937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Explain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Autoregressive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0" b="1">
                <a:solidFill>
                  <a:srgbClr val="C2132D"/>
                </a:solidFill>
                <a:latin typeface="Trebuchet MS"/>
                <a:cs typeface="Trebuchet MS"/>
              </a:rPr>
              <a:t>Moving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Average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60" b="1">
                <a:solidFill>
                  <a:srgbClr val="C2132D"/>
                </a:solidFill>
                <a:latin typeface="Trebuchet MS"/>
                <a:cs typeface="Trebuchet MS"/>
              </a:rPr>
              <a:t>(ARMA)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model</a:t>
            </a:r>
            <a:r>
              <a:rPr dirty="0" sz="1800" spc="-55">
                <a:solidFill>
                  <a:srgbClr val="585D60"/>
                </a:solidFill>
                <a:latin typeface="Trebuchet MS"/>
                <a:cs typeface="Trebuchet MS"/>
              </a:rPr>
              <a:t>.</a:t>
            </a:r>
            <a:endParaRPr sz="1800">
              <a:latin typeface="Trebuchet MS"/>
              <a:cs typeface="Trebuchet MS"/>
            </a:endParaRPr>
          </a:p>
          <a:p>
            <a:pPr marL="393065" marR="558165" indent="-133985">
              <a:lnSpc>
                <a:spcPct val="118100"/>
              </a:lnSpc>
              <a:spcBef>
                <a:spcPts val="900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Understand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how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5">
                <a:solidFill>
                  <a:srgbClr val="585D60"/>
                </a:solidFill>
                <a:latin typeface="Trebuchet MS"/>
                <a:cs typeface="Trebuchet MS"/>
              </a:rPr>
              <a:t>fit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AR,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MA,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45">
                <a:solidFill>
                  <a:srgbClr val="585D60"/>
                </a:solidFill>
                <a:latin typeface="Trebuchet MS"/>
                <a:cs typeface="Trebuchet MS"/>
              </a:rPr>
              <a:t>ARMA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models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Trebuchet MS"/>
                <a:cs typeface="Trebuchet MS"/>
              </a:rPr>
              <a:t>using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ARIMA()</a:t>
            </a:r>
            <a:r>
              <a:rPr dirty="0" sz="1700" spc="-57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method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Trebuchet MS"/>
                <a:cs typeface="Trebuchet MS"/>
              </a:rPr>
              <a:t>from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 </a:t>
            </a:r>
            <a:r>
              <a:rPr dirty="0" sz="1800" spc="-50">
                <a:solidFill>
                  <a:srgbClr val="83D5D3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statsforecast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Python</a:t>
            </a:r>
            <a:r>
              <a:rPr dirty="0" sz="1800" spc="-22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package.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45"/>
              <a:t>34</a:t>
            </a:fld>
            <a:r>
              <a:rPr dirty="0" spc="45"/>
              <a:t> </a:t>
            </a:r>
            <a:r>
              <a:rPr dirty="0" spc="-135"/>
              <a:t>/</a:t>
            </a:r>
            <a:r>
              <a:rPr dirty="0" spc="-260"/>
              <a:t> </a:t>
            </a:r>
            <a:r>
              <a:rPr dirty="0" spc="45"/>
              <a:t>35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44576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00" spc="2155">
                <a:solidFill>
                  <a:srgbClr val="C2132D"/>
                </a:solidFill>
                <a:latin typeface="Arial"/>
                <a:cs typeface="Arial"/>
              </a:rPr>
              <a:t>📝</a:t>
            </a:r>
            <a:r>
              <a:rPr dirty="0" sz="3300" spc="-260">
                <a:solidFill>
                  <a:srgbClr val="C2132D"/>
                </a:solidFill>
                <a:latin typeface="Arial"/>
                <a:cs typeface="Arial"/>
              </a:rPr>
              <a:t> </a:t>
            </a:r>
            <a:r>
              <a:rPr dirty="0" sz="3350" spc="-229">
                <a:solidFill>
                  <a:srgbClr val="C2132D"/>
                </a:solidFill>
              </a:rPr>
              <a:t>Review </a:t>
            </a:r>
            <a:r>
              <a:rPr dirty="0" sz="3350" spc="-180">
                <a:solidFill>
                  <a:srgbClr val="C2132D"/>
                </a:solidFill>
              </a:rPr>
              <a:t>and </a:t>
            </a:r>
            <a:r>
              <a:rPr dirty="0" sz="3350" spc="-195">
                <a:solidFill>
                  <a:srgbClr val="C2132D"/>
                </a:solidFill>
              </a:rPr>
              <a:t>Clarification </a:t>
            </a:r>
            <a:r>
              <a:rPr dirty="0" sz="3300" spc="2155">
                <a:solidFill>
                  <a:srgbClr val="C2132D"/>
                </a:solidFill>
                <a:latin typeface="Arial"/>
                <a:cs typeface="Arial"/>
              </a:rPr>
              <a:t>📝</a:t>
            </a:r>
            <a:endParaRPr sz="3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425575"/>
            <a:ext cx="9413240" cy="18141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65" b="1">
                <a:solidFill>
                  <a:srgbClr val="C2132D"/>
                </a:solidFill>
                <a:latin typeface="Trebuchet MS"/>
                <a:cs typeface="Trebuchet MS"/>
              </a:rPr>
              <a:t>Class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Notes</a:t>
            </a:r>
            <a:r>
              <a:rPr dirty="0" sz="1800" spc="-30">
                <a:solidFill>
                  <a:srgbClr val="585D60"/>
                </a:solidFill>
                <a:latin typeface="Trebuchet MS"/>
                <a:cs typeface="Trebuchet MS"/>
              </a:rPr>
              <a:t>:</a:t>
            </a:r>
            <a:r>
              <a:rPr dirty="0" sz="1800" spc="-13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Take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Trebuchet MS"/>
                <a:cs typeface="Trebuchet MS"/>
              </a:rPr>
              <a:t>some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time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revisit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your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Trebuchet MS"/>
                <a:cs typeface="Trebuchet MS"/>
              </a:rPr>
              <a:t>class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Trebuchet MS"/>
                <a:cs typeface="Trebuchet MS"/>
              </a:rPr>
              <a:t>notes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key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insights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and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concepts.</a:t>
            </a:r>
            <a:endParaRPr sz="1800">
              <a:latin typeface="Trebuchet MS"/>
              <a:cs typeface="Trebuchet MS"/>
            </a:endParaRPr>
          </a:p>
          <a:p>
            <a:pPr marL="146050" marR="1016635" indent="-133985">
              <a:lnSpc>
                <a:spcPct val="118100"/>
              </a:lnSpc>
              <a:spcBef>
                <a:spcPts val="90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15" b="1">
                <a:solidFill>
                  <a:srgbClr val="C2132D"/>
                </a:solidFill>
                <a:latin typeface="Trebuchet MS"/>
                <a:cs typeface="Trebuchet MS"/>
              </a:rPr>
              <a:t>Zoom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Recording</a:t>
            </a:r>
            <a:r>
              <a:rPr dirty="0" sz="1800" spc="-40">
                <a:solidFill>
                  <a:srgbClr val="585D60"/>
                </a:solidFill>
                <a:latin typeface="Trebuchet MS"/>
                <a:cs typeface="Trebuchet MS"/>
              </a:rPr>
              <a:t>:</a:t>
            </a:r>
            <a:r>
              <a:rPr dirty="0" sz="1800" spc="-13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recording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of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Trebuchet MS"/>
                <a:cs typeface="Trebuchet MS"/>
              </a:rPr>
              <a:t>today's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Trebuchet MS"/>
                <a:cs typeface="Trebuchet MS"/>
              </a:rPr>
              <a:t>class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585D60"/>
                </a:solidFill>
                <a:latin typeface="Trebuchet MS"/>
                <a:cs typeface="Trebuchet MS"/>
              </a:rPr>
              <a:t>will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be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Trebuchet MS"/>
                <a:cs typeface="Trebuchet MS"/>
              </a:rPr>
              <a:t>made</a:t>
            </a:r>
            <a:r>
              <a:rPr dirty="0" sz="1800" spc="-9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available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on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55">
                <a:solidFill>
                  <a:srgbClr val="585D60"/>
                </a:solidFill>
                <a:latin typeface="Trebuchet MS"/>
                <a:cs typeface="Trebuchet MS"/>
              </a:rPr>
              <a:t>Canvas 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approximately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Trebuchet MS"/>
                <a:cs typeface="Trebuchet MS"/>
              </a:rPr>
              <a:t>3-4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hours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after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50">
                <a:solidFill>
                  <a:srgbClr val="585D60"/>
                </a:solidFill>
                <a:latin typeface="Trebuchet MS"/>
                <a:cs typeface="Trebuchet MS"/>
              </a:rPr>
              <a:t>the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Trebuchet MS"/>
                <a:cs typeface="Trebuchet MS"/>
              </a:rPr>
              <a:t>session</a:t>
            </a:r>
            <a:r>
              <a:rPr dirty="0" sz="1800" spc="-10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ends.</a:t>
            </a:r>
            <a:endParaRPr sz="1800">
              <a:latin typeface="Trebuchet MS"/>
              <a:cs typeface="Trebuchet MS"/>
            </a:endParaRPr>
          </a:p>
          <a:p>
            <a:pPr marL="146050" marR="5080" indent="-133985">
              <a:lnSpc>
                <a:spcPct val="118100"/>
              </a:lnSpc>
              <a:spcBef>
                <a:spcPts val="819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Questions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: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Please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don't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hesitate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Trebuchet MS"/>
                <a:cs typeface="Trebuchet MS"/>
              </a:rPr>
              <a:t>ask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Trebuchet MS"/>
                <a:cs typeface="Trebuchet MS"/>
              </a:rPr>
              <a:t>for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clarification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Trebuchet MS"/>
                <a:cs typeface="Trebuchet MS"/>
              </a:rPr>
              <a:t>on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any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Trebuchet MS"/>
                <a:cs typeface="Trebuchet MS"/>
              </a:rPr>
              <a:t>topics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Trebuchet MS"/>
                <a:cs typeface="Trebuchet MS"/>
              </a:rPr>
              <a:t>discussed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Trebuchet MS"/>
                <a:cs typeface="Trebuchet MS"/>
              </a:rPr>
              <a:t>in</a:t>
            </a:r>
            <a:r>
              <a:rPr dirty="0" sz="1800" spc="-90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class.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Trebuchet MS"/>
                <a:cs typeface="Trebuchet MS"/>
              </a:rPr>
              <a:t>It's  </a:t>
            </a:r>
            <a:r>
              <a:rPr dirty="0" sz="1800" spc="-20">
                <a:solidFill>
                  <a:srgbClr val="585D60"/>
                </a:solidFill>
                <a:latin typeface="Trebuchet MS"/>
                <a:cs typeface="Trebuchet MS"/>
              </a:rPr>
              <a:t>crucial not </a:t>
            </a:r>
            <a:r>
              <a:rPr dirty="0" sz="1800" spc="-45">
                <a:solidFill>
                  <a:srgbClr val="585D60"/>
                </a:solidFill>
                <a:latin typeface="Trebuchet MS"/>
                <a:cs typeface="Trebuchet MS"/>
              </a:rPr>
              <a:t>to </a:t>
            </a:r>
            <a:r>
              <a:rPr dirty="0" sz="1800" spc="-85">
                <a:solidFill>
                  <a:srgbClr val="585D60"/>
                </a:solidFill>
                <a:latin typeface="Trebuchet MS"/>
                <a:cs typeface="Trebuchet MS"/>
              </a:rPr>
              <a:t>let </a:t>
            </a:r>
            <a:r>
              <a:rPr dirty="0" sz="1800" spc="30">
                <a:solidFill>
                  <a:srgbClr val="585D60"/>
                </a:solidFill>
                <a:latin typeface="Trebuchet MS"/>
                <a:cs typeface="Trebuchet MS"/>
              </a:rPr>
              <a:t>questions</a:t>
            </a:r>
            <a:r>
              <a:rPr dirty="0" sz="1800" spc="-335">
                <a:solidFill>
                  <a:srgbClr val="585D60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Trebuchet MS"/>
                <a:cs typeface="Trebuchet MS"/>
              </a:rPr>
              <a:t>accumulate.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ISA 444: Business Forecasting</dc:title>
  <dcterms:created xsi:type="dcterms:W3CDTF">2025-03-20T14:24:19Z</dcterms:created>
  <dcterms:modified xsi:type="dcterms:W3CDTF">2025-03-20T14:24:19Z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2025-03-20T00:00:00Z</vt:filetime>
  </property>
  <property fmtid="{D5CDD505-2E9C-101B-9397-08002B2CF9AE}" pid="3" name="Creator">
    <vt:lpwstr>Mozilla/5.0 (Windows NT 10.0; Win64; x64) AppleWebKit/537.36 (KHTML, like Gecko) Chrome/134.0.0.0 Safari/537.36</vt:lpwstr>
  </property>
  <property fmtid="{D5CDD505-2E9C-101B-9397-08002B2CF9AE}" pid="4" name="LastSaved">
    <vt:filetime>2025-03-20T00:00:00Z</vt:filetime>
  </property>
</Properties>
</file>