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jpg" ContentType="image/jpg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52500" y="2255519"/>
            <a:ext cx="4123943" cy="3581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5905499" y="2255519"/>
            <a:ext cx="4123943" cy="3581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530225"/>
            <a:ext cx="97282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1166" y="1677130"/>
            <a:ext cx="4586605" cy="412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333333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32594" y="2625725"/>
            <a:ext cx="8266410" cy="1177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1376044"/>
            <a:ext cx="9728200" cy="1425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docs/models/arima.html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tatsmodels.org/stable/_modules/statsmodels/tsa/stattools.html#pacf" TargetMode="External"/><Relationship Id="rId3" Type="http://schemas.openxmlformats.org/officeDocument/2006/relationships/hyperlink" Target="https://numpy.org/doc/stable/glossary.html#term-array_like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taff.uz.zgora.pl/lbalbus/Zdalne%20EDiF%2010.11.2020.pdf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aw.githubusercontent.com/fmegahed/isa444/refs/heads/main/data/viscosity.csv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docs/models/arima.html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855535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0"/>
              <a:t>ISA 444/544: Business</a:t>
            </a:r>
            <a:r>
              <a:rPr dirty="0" sz="3350" spc="-15"/>
              <a:t> </a:t>
            </a:r>
            <a:r>
              <a:rPr dirty="0" sz="3350" spc="5"/>
              <a:t>Forecasting</a:t>
            </a:r>
            <a:endParaRPr sz="3350"/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latin typeface="Times New Roman"/>
                <a:cs typeface="Times New Roman"/>
              </a:rPr>
              <a:t>16: </a:t>
            </a:r>
            <a:r>
              <a:rPr dirty="0" sz="3000" spc="-70">
                <a:latin typeface="Times New Roman"/>
                <a:cs typeface="Times New Roman"/>
              </a:rPr>
              <a:t>PACF </a:t>
            </a:r>
            <a:r>
              <a:rPr dirty="0" sz="3000">
                <a:latin typeface="Times New Roman"/>
                <a:cs typeface="Times New Roman"/>
              </a:rPr>
              <a:t>and AutoRegressive Moving </a:t>
            </a:r>
            <a:r>
              <a:rPr dirty="0" sz="3000" spc="-35">
                <a:latin typeface="Times New Roman"/>
                <a:cs typeface="Times New Roman"/>
              </a:rPr>
              <a:t>Average</a:t>
            </a:r>
            <a:r>
              <a:rPr dirty="0" sz="3000" spc="-3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Models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12700" marR="1304290">
              <a:lnSpc>
                <a:spcPct val="929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</a:t>
            </a:r>
            <a:r>
              <a:rPr dirty="0" sz="185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  Farmer School of 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19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Quick </a:t>
            </a:r>
            <a:r>
              <a:rPr dirty="0" sz="3350" spc="5">
                <a:solidFill>
                  <a:srgbClr val="C2132D"/>
                </a:solidFill>
              </a:rPr>
              <a:t>Refresher </a:t>
            </a:r>
            <a:r>
              <a:rPr dirty="0" sz="3350" spc="10">
                <a:solidFill>
                  <a:srgbClr val="C2132D"/>
                </a:solidFill>
              </a:rPr>
              <a:t>of Last</a:t>
            </a:r>
            <a:r>
              <a:rPr dirty="0" sz="3350" spc="-5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Class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034145" cy="192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Define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stationary time</a:t>
            </a:r>
            <a:r>
              <a:rPr dirty="0" sz="1800" spc="-10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how plotting techniques can help identify</a:t>
            </a:r>
            <a:r>
              <a:rPr dirty="0" sz="1800" spc="-1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non-stationarity.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how we can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stabilize 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non-stationary time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achieve</a:t>
            </a:r>
            <a:r>
              <a:rPr dirty="0" sz="1800" spc="-1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stationarity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(differencing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stabilize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mean, and log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transformation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stabilize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9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variance).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how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unit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root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tests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test for</a:t>
            </a:r>
            <a:r>
              <a:rPr dirty="0" sz="18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stationarity.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Learning </a:t>
            </a:r>
            <a:r>
              <a:rPr dirty="0" sz="3350" spc="5">
                <a:solidFill>
                  <a:srgbClr val="C2132D"/>
                </a:solidFill>
              </a:rPr>
              <a:t>Objectives for </a:t>
            </a:r>
            <a:r>
              <a:rPr dirty="0" sz="3350" spc="-35">
                <a:solidFill>
                  <a:srgbClr val="C2132D"/>
                </a:solidFill>
              </a:rPr>
              <a:t>Today's</a:t>
            </a:r>
            <a:r>
              <a:rPr dirty="0" sz="3350" spc="-6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Class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96730" cy="300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Partial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Autocorrelation Function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Roboto"/>
                <a:cs typeface="Roboto"/>
              </a:rPr>
              <a:t>(PACF)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Autoregressive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(AR) model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how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identify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AR model using  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PACF.</a:t>
            </a:r>
            <a:endParaRPr sz="1800">
              <a:latin typeface="Roboto"/>
              <a:cs typeface="Roboto"/>
            </a:endParaRPr>
          </a:p>
          <a:p>
            <a:pPr marL="146050" marR="395605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Moving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Average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(MA)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how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identify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 using 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Roboto"/>
                <a:cs typeface="Roboto"/>
              </a:rPr>
              <a:t>ACF.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Autoregressive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Moving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Average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(ARMA)</a:t>
            </a:r>
            <a:r>
              <a:rPr dirty="0" sz="1800" spc="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marR="558165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how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fit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AR,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ARMA models using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ARIMA()</a:t>
            </a:r>
            <a:r>
              <a:rPr dirty="0" sz="1700" spc="-58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method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statsforecast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Python package.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1832" y="2206752"/>
            <a:ext cx="9646920" cy="2124710"/>
          </a:xfrm>
          <a:prstGeom prst="rect"/>
          <a:solidFill>
            <a:srgbClr val="333333"/>
          </a:solidFill>
        </p:spPr>
        <p:txBody>
          <a:bodyPr wrap="square" lIns="0" tIns="269875" rIns="0" bIns="0" rtlCol="0" vert="horz">
            <a:spAutoFit/>
          </a:bodyPr>
          <a:lstStyle/>
          <a:p>
            <a:pPr algn="ctr" marL="227329" marR="225425">
              <a:lnSpc>
                <a:spcPts val="4120"/>
              </a:lnSpc>
              <a:spcBef>
                <a:spcPts val="2125"/>
              </a:spcBef>
            </a:pPr>
            <a:r>
              <a:rPr dirty="0" spc="-819">
                <a:solidFill>
                  <a:srgbClr val="000000"/>
                </a:solidFill>
              </a:rPr>
              <a:t>R</a:t>
            </a:r>
            <a:r>
              <a:rPr dirty="0" spc="-819"/>
              <a:t>R</a:t>
            </a:r>
            <a:r>
              <a:rPr dirty="0" spc="-819">
                <a:solidFill>
                  <a:srgbClr val="000000"/>
                </a:solidFill>
              </a:rPr>
              <a:t>e</a:t>
            </a:r>
            <a:r>
              <a:rPr dirty="0" spc="-819"/>
              <a:t>e</a:t>
            </a:r>
            <a:r>
              <a:rPr dirty="0" spc="-819">
                <a:solidFill>
                  <a:srgbClr val="000000"/>
                </a:solidFill>
              </a:rPr>
              <a:t>v</a:t>
            </a:r>
            <a:r>
              <a:rPr dirty="0" spc="-819"/>
              <a:t>v</a:t>
            </a:r>
            <a:r>
              <a:rPr dirty="0" spc="-819">
                <a:solidFill>
                  <a:srgbClr val="000000"/>
                </a:solidFill>
              </a:rPr>
              <a:t>i</a:t>
            </a:r>
            <a:r>
              <a:rPr dirty="0" spc="-819"/>
              <a:t>i</a:t>
            </a:r>
            <a:r>
              <a:rPr dirty="0" spc="-819">
                <a:solidFill>
                  <a:srgbClr val="000000"/>
                </a:solidFill>
              </a:rPr>
              <a:t>s</a:t>
            </a:r>
            <a:r>
              <a:rPr dirty="0" spc="-819"/>
              <a:t>s</a:t>
            </a:r>
            <a:r>
              <a:rPr dirty="0" spc="-819">
                <a:solidFill>
                  <a:srgbClr val="000000"/>
                </a:solidFill>
              </a:rPr>
              <a:t>t</a:t>
            </a:r>
            <a:r>
              <a:rPr dirty="0" spc="-819"/>
              <a:t>t</a:t>
            </a:r>
            <a:r>
              <a:rPr dirty="0" spc="-819">
                <a:solidFill>
                  <a:srgbClr val="000000"/>
                </a:solidFill>
              </a:rPr>
              <a:t>i</a:t>
            </a:r>
            <a:r>
              <a:rPr dirty="0" spc="-819"/>
              <a:t>i</a:t>
            </a:r>
            <a:r>
              <a:rPr dirty="0" spc="-819">
                <a:solidFill>
                  <a:srgbClr val="000000"/>
                </a:solidFill>
              </a:rPr>
              <a:t>n</a:t>
            </a:r>
            <a:r>
              <a:rPr dirty="0" spc="-819"/>
              <a:t>n</a:t>
            </a:r>
            <a:r>
              <a:rPr dirty="0" spc="-819">
                <a:solidFill>
                  <a:srgbClr val="000000"/>
                </a:solidFill>
              </a:rPr>
              <a:t>g</a:t>
            </a:r>
            <a:r>
              <a:rPr dirty="0" spc="-819"/>
              <a:t>g </a:t>
            </a:r>
            <a:r>
              <a:rPr dirty="0" spc="-850">
                <a:solidFill>
                  <a:srgbClr val="000000"/>
                </a:solidFill>
              </a:rPr>
              <a:t>t</a:t>
            </a:r>
            <a:r>
              <a:rPr dirty="0" spc="-850"/>
              <a:t>t</a:t>
            </a:r>
            <a:r>
              <a:rPr dirty="0" spc="-850">
                <a:solidFill>
                  <a:srgbClr val="000000"/>
                </a:solidFill>
              </a:rPr>
              <a:t>h</a:t>
            </a:r>
            <a:r>
              <a:rPr dirty="0" spc="-850"/>
              <a:t>h</a:t>
            </a:r>
            <a:r>
              <a:rPr dirty="0" spc="-850">
                <a:solidFill>
                  <a:srgbClr val="000000"/>
                </a:solidFill>
              </a:rPr>
              <a:t>e</a:t>
            </a:r>
            <a:r>
              <a:rPr dirty="0" spc="-850"/>
              <a:t>e </a:t>
            </a:r>
            <a:r>
              <a:rPr dirty="0" spc="-840">
                <a:solidFill>
                  <a:srgbClr val="000000"/>
                </a:solidFill>
              </a:rPr>
              <a:t>A</a:t>
            </a:r>
            <a:r>
              <a:rPr dirty="0" spc="-840"/>
              <a:t>A</a:t>
            </a:r>
            <a:r>
              <a:rPr dirty="0" spc="-840">
                <a:solidFill>
                  <a:srgbClr val="000000"/>
                </a:solidFill>
              </a:rPr>
              <a:t>u</a:t>
            </a:r>
            <a:r>
              <a:rPr dirty="0" spc="-840"/>
              <a:t>u</a:t>
            </a:r>
            <a:r>
              <a:rPr dirty="0" spc="-840">
                <a:solidFill>
                  <a:srgbClr val="000000"/>
                </a:solidFill>
              </a:rPr>
              <a:t>t</a:t>
            </a:r>
            <a:r>
              <a:rPr dirty="0" spc="-840"/>
              <a:t>t</a:t>
            </a:r>
            <a:r>
              <a:rPr dirty="0" spc="-840">
                <a:solidFill>
                  <a:srgbClr val="000000"/>
                </a:solidFill>
              </a:rPr>
              <a:t>o</a:t>
            </a:r>
            <a:r>
              <a:rPr dirty="0" spc="-840"/>
              <a:t>o</a:t>
            </a:r>
            <a:r>
              <a:rPr dirty="0" spc="-840">
                <a:solidFill>
                  <a:srgbClr val="000000"/>
                </a:solidFill>
              </a:rPr>
              <a:t>c</a:t>
            </a:r>
            <a:r>
              <a:rPr dirty="0" spc="-840"/>
              <a:t>c</a:t>
            </a:r>
            <a:r>
              <a:rPr dirty="0" spc="-840">
                <a:solidFill>
                  <a:srgbClr val="000000"/>
                </a:solidFill>
              </a:rPr>
              <a:t>o</a:t>
            </a:r>
            <a:r>
              <a:rPr dirty="0" spc="-840"/>
              <a:t>o</a:t>
            </a:r>
            <a:r>
              <a:rPr dirty="0" spc="-840">
                <a:solidFill>
                  <a:srgbClr val="000000"/>
                </a:solidFill>
              </a:rPr>
              <a:t>r</a:t>
            </a:r>
            <a:r>
              <a:rPr dirty="0" spc="-840"/>
              <a:t>r</a:t>
            </a:r>
            <a:r>
              <a:rPr dirty="0" spc="-840">
                <a:solidFill>
                  <a:srgbClr val="000000"/>
                </a:solidFill>
              </a:rPr>
              <a:t>r</a:t>
            </a:r>
            <a:r>
              <a:rPr dirty="0" spc="-840"/>
              <a:t>r</a:t>
            </a:r>
            <a:r>
              <a:rPr dirty="0" spc="-840">
                <a:solidFill>
                  <a:srgbClr val="000000"/>
                </a:solidFill>
              </a:rPr>
              <a:t>e</a:t>
            </a:r>
            <a:r>
              <a:rPr dirty="0" spc="-840"/>
              <a:t>e</a:t>
            </a:r>
            <a:r>
              <a:rPr dirty="0" spc="-840">
                <a:solidFill>
                  <a:srgbClr val="000000"/>
                </a:solidFill>
              </a:rPr>
              <a:t>l</a:t>
            </a:r>
            <a:r>
              <a:rPr dirty="0" spc="-840"/>
              <a:t>l</a:t>
            </a:r>
            <a:r>
              <a:rPr dirty="0" spc="-840">
                <a:solidFill>
                  <a:srgbClr val="000000"/>
                </a:solidFill>
              </a:rPr>
              <a:t>a</a:t>
            </a:r>
            <a:r>
              <a:rPr dirty="0" spc="-840"/>
              <a:t>a</a:t>
            </a:r>
            <a:r>
              <a:rPr dirty="0" spc="-840">
                <a:solidFill>
                  <a:srgbClr val="000000"/>
                </a:solidFill>
              </a:rPr>
              <a:t>t</a:t>
            </a:r>
            <a:r>
              <a:rPr dirty="0" spc="-840"/>
              <a:t>t</a:t>
            </a:r>
            <a:r>
              <a:rPr dirty="0" spc="-840">
                <a:solidFill>
                  <a:srgbClr val="000000"/>
                </a:solidFill>
              </a:rPr>
              <a:t>i</a:t>
            </a:r>
            <a:r>
              <a:rPr dirty="0" spc="-840"/>
              <a:t>i</a:t>
            </a:r>
            <a:r>
              <a:rPr dirty="0" spc="-840">
                <a:solidFill>
                  <a:srgbClr val="000000"/>
                </a:solidFill>
              </a:rPr>
              <a:t>o</a:t>
            </a:r>
            <a:r>
              <a:rPr dirty="0" spc="-840"/>
              <a:t>o</a:t>
            </a:r>
            <a:r>
              <a:rPr dirty="0" spc="-840">
                <a:solidFill>
                  <a:srgbClr val="000000"/>
                </a:solidFill>
              </a:rPr>
              <a:t>n</a:t>
            </a:r>
            <a:r>
              <a:rPr dirty="0" spc="-840"/>
              <a:t>n </a:t>
            </a:r>
            <a:r>
              <a:rPr dirty="0" spc="-875">
                <a:solidFill>
                  <a:srgbClr val="000000"/>
                </a:solidFill>
              </a:rPr>
              <a:t>F</a:t>
            </a:r>
            <a:r>
              <a:rPr dirty="0" spc="-875"/>
              <a:t>F</a:t>
            </a:r>
            <a:r>
              <a:rPr dirty="0" spc="-875">
                <a:solidFill>
                  <a:srgbClr val="000000"/>
                </a:solidFill>
              </a:rPr>
              <a:t>u</a:t>
            </a:r>
            <a:r>
              <a:rPr dirty="0" spc="-875"/>
              <a:t>u</a:t>
            </a:r>
            <a:r>
              <a:rPr dirty="0" spc="-875">
                <a:solidFill>
                  <a:srgbClr val="000000"/>
                </a:solidFill>
              </a:rPr>
              <a:t>n</a:t>
            </a:r>
            <a:r>
              <a:rPr dirty="0" spc="-875"/>
              <a:t>n</a:t>
            </a:r>
            <a:r>
              <a:rPr dirty="0" spc="-875">
                <a:solidFill>
                  <a:srgbClr val="000000"/>
                </a:solidFill>
              </a:rPr>
              <a:t>c</a:t>
            </a:r>
            <a:r>
              <a:rPr dirty="0" spc="-875"/>
              <a:t>c</a:t>
            </a:r>
            <a:r>
              <a:rPr dirty="0" spc="-875">
                <a:solidFill>
                  <a:srgbClr val="000000"/>
                </a:solidFill>
              </a:rPr>
              <a:t>t</a:t>
            </a:r>
            <a:r>
              <a:rPr dirty="0" spc="-875"/>
              <a:t>t</a:t>
            </a:r>
            <a:r>
              <a:rPr dirty="0" spc="-875">
                <a:solidFill>
                  <a:srgbClr val="000000"/>
                </a:solidFill>
              </a:rPr>
              <a:t>i</a:t>
            </a:r>
            <a:r>
              <a:rPr dirty="0" spc="-875"/>
              <a:t>i</a:t>
            </a:r>
            <a:r>
              <a:rPr dirty="0" spc="-875">
                <a:solidFill>
                  <a:srgbClr val="000000"/>
                </a:solidFill>
              </a:rPr>
              <a:t>o</a:t>
            </a:r>
            <a:r>
              <a:rPr dirty="0" spc="-875"/>
              <a:t>o</a:t>
            </a:r>
            <a:r>
              <a:rPr dirty="0" spc="-875">
                <a:solidFill>
                  <a:srgbClr val="000000"/>
                </a:solidFill>
              </a:rPr>
              <a:t>n</a:t>
            </a:r>
            <a:r>
              <a:rPr dirty="0" spc="-875"/>
              <a:t>n </a:t>
            </a:r>
            <a:r>
              <a:rPr dirty="0" spc="-925">
                <a:solidFill>
                  <a:srgbClr val="000000"/>
                </a:solidFill>
              </a:rPr>
              <a:t>(</a:t>
            </a:r>
            <a:r>
              <a:rPr dirty="0" spc="-925"/>
              <a:t>(</a:t>
            </a:r>
            <a:r>
              <a:rPr dirty="0" spc="-925">
                <a:solidFill>
                  <a:srgbClr val="000000"/>
                </a:solidFill>
              </a:rPr>
              <a:t>A</a:t>
            </a:r>
            <a:r>
              <a:rPr dirty="0" spc="-925"/>
              <a:t>A</a:t>
            </a:r>
            <a:r>
              <a:rPr dirty="0" spc="-925">
                <a:solidFill>
                  <a:srgbClr val="000000"/>
                </a:solidFill>
              </a:rPr>
              <a:t>C</a:t>
            </a:r>
            <a:r>
              <a:rPr dirty="0" spc="-925"/>
              <a:t>C</a:t>
            </a:r>
            <a:r>
              <a:rPr dirty="0" spc="-925">
                <a:solidFill>
                  <a:srgbClr val="000000"/>
                </a:solidFill>
              </a:rPr>
              <a:t>F</a:t>
            </a:r>
            <a:r>
              <a:rPr dirty="0" spc="-925"/>
              <a:t>F</a:t>
            </a:r>
            <a:r>
              <a:rPr dirty="0" spc="-925">
                <a:solidFill>
                  <a:srgbClr val="000000"/>
                </a:solidFill>
              </a:rPr>
              <a:t>)</a:t>
            </a:r>
            <a:r>
              <a:rPr dirty="0" spc="-925"/>
              <a:t>)  </a:t>
            </a:r>
            <a:r>
              <a:rPr dirty="0" spc="-994">
                <a:solidFill>
                  <a:srgbClr val="000000"/>
                </a:solidFill>
              </a:rPr>
              <a:t>a</a:t>
            </a:r>
            <a:r>
              <a:rPr dirty="0" spc="-994"/>
              <a:t>a</a:t>
            </a:r>
            <a:r>
              <a:rPr dirty="0" spc="-994">
                <a:solidFill>
                  <a:srgbClr val="000000"/>
                </a:solidFill>
              </a:rPr>
              <a:t>n</a:t>
            </a:r>
            <a:r>
              <a:rPr dirty="0" spc="-994"/>
              <a:t>n</a:t>
            </a:r>
            <a:r>
              <a:rPr dirty="0" spc="-994">
                <a:solidFill>
                  <a:srgbClr val="000000"/>
                </a:solidFill>
              </a:rPr>
              <a:t>d</a:t>
            </a:r>
            <a:r>
              <a:rPr dirty="0" spc="-994"/>
              <a:t>d</a:t>
            </a:r>
            <a:r>
              <a:rPr dirty="0" spc="45"/>
              <a:t> </a:t>
            </a:r>
            <a:r>
              <a:rPr dirty="0" spc="-930">
                <a:solidFill>
                  <a:srgbClr val="000000"/>
                </a:solidFill>
              </a:rPr>
              <a:t>E</a:t>
            </a:r>
            <a:r>
              <a:rPr dirty="0" spc="-930"/>
              <a:t>E</a:t>
            </a:r>
            <a:r>
              <a:rPr dirty="0" spc="-930">
                <a:solidFill>
                  <a:srgbClr val="000000"/>
                </a:solidFill>
              </a:rPr>
              <a:t>x</a:t>
            </a:r>
            <a:r>
              <a:rPr dirty="0" spc="-930"/>
              <a:t>x</a:t>
            </a:r>
            <a:r>
              <a:rPr dirty="0" spc="-930">
                <a:solidFill>
                  <a:srgbClr val="000000"/>
                </a:solidFill>
              </a:rPr>
              <a:t>a</a:t>
            </a:r>
            <a:r>
              <a:rPr dirty="0" spc="-930"/>
              <a:t>a</a:t>
            </a:r>
            <a:r>
              <a:rPr dirty="0" spc="-930">
                <a:solidFill>
                  <a:srgbClr val="000000"/>
                </a:solidFill>
              </a:rPr>
              <a:t>m</a:t>
            </a:r>
            <a:r>
              <a:rPr dirty="0" spc="-930"/>
              <a:t>m</a:t>
            </a:r>
            <a:r>
              <a:rPr dirty="0" spc="-930">
                <a:solidFill>
                  <a:srgbClr val="000000"/>
                </a:solidFill>
              </a:rPr>
              <a:t>i</a:t>
            </a:r>
            <a:r>
              <a:rPr dirty="0" spc="-930"/>
              <a:t>i</a:t>
            </a:r>
            <a:r>
              <a:rPr dirty="0" spc="-930">
                <a:solidFill>
                  <a:srgbClr val="000000"/>
                </a:solidFill>
              </a:rPr>
              <a:t>n</a:t>
            </a:r>
            <a:r>
              <a:rPr dirty="0" spc="-930"/>
              <a:t>n</a:t>
            </a:r>
            <a:r>
              <a:rPr dirty="0" spc="-930">
                <a:solidFill>
                  <a:srgbClr val="000000"/>
                </a:solidFill>
              </a:rPr>
              <a:t>i</a:t>
            </a:r>
            <a:r>
              <a:rPr dirty="0" spc="-930"/>
              <a:t>i</a:t>
            </a:r>
            <a:r>
              <a:rPr dirty="0" spc="-930">
                <a:solidFill>
                  <a:srgbClr val="000000"/>
                </a:solidFill>
              </a:rPr>
              <a:t>n</a:t>
            </a:r>
            <a:r>
              <a:rPr dirty="0" spc="-930"/>
              <a:t>n</a:t>
            </a:r>
            <a:r>
              <a:rPr dirty="0" spc="-930">
                <a:solidFill>
                  <a:srgbClr val="000000"/>
                </a:solidFill>
              </a:rPr>
              <a:t>g</a:t>
            </a:r>
            <a:r>
              <a:rPr dirty="0" spc="-930"/>
              <a:t>g </a:t>
            </a:r>
            <a:r>
              <a:rPr dirty="0" spc="-850">
                <a:solidFill>
                  <a:srgbClr val="000000"/>
                </a:solidFill>
              </a:rPr>
              <a:t>t</a:t>
            </a:r>
            <a:r>
              <a:rPr dirty="0" spc="-850"/>
              <a:t>t</a:t>
            </a:r>
            <a:r>
              <a:rPr dirty="0" spc="-850">
                <a:solidFill>
                  <a:srgbClr val="000000"/>
                </a:solidFill>
              </a:rPr>
              <a:t>h</a:t>
            </a:r>
            <a:r>
              <a:rPr dirty="0" spc="-850"/>
              <a:t>h</a:t>
            </a:r>
            <a:r>
              <a:rPr dirty="0" spc="-850">
                <a:solidFill>
                  <a:srgbClr val="000000"/>
                </a:solidFill>
              </a:rPr>
              <a:t>e</a:t>
            </a:r>
            <a:r>
              <a:rPr dirty="0" spc="-850"/>
              <a:t>e </a:t>
            </a:r>
            <a:r>
              <a:rPr dirty="0" spc="-745">
                <a:solidFill>
                  <a:srgbClr val="000000"/>
                </a:solidFill>
              </a:rPr>
              <a:t>P</a:t>
            </a:r>
            <a:r>
              <a:rPr dirty="0" spc="-745"/>
              <a:t>P</a:t>
            </a:r>
            <a:r>
              <a:rPr dirty="0" spc="-745">
                <a:solidFill>
                  <a:srgbClr val="000000"/>
                </a:solidFill>
              </a:rPr>
              <a:t>a</a:t>
            </a:r>
            <a:r>
              <a:rPr dirty="0" spc="-745"/>
              <a:t>a</a:t>
            </a:r>
            <a:r>
              <a:rPr dirty="0" spc="-745">
                <a:solidFill>
                  <a:srgbClr val="000000"/>
                </a:solidFill>
              </a:rPr>
              <a:t>r</a:t>
            </a:r>
            <a:r>
              <a:rPr dirty="0" spc="-745"/>
              <a:t>r</a:t>
            </a:r>
            <a:r>
              <a:rPr dirty="0" spc="-745">
                <a:solidFill>
                  <a:srgbClr val="000000"/>
                </a:solidFill>
              </a:rPr>
              <a:t>t</a:t>
            </a:r>
            <a:r>
              <a:rPr dirty="0" spc="-745"/>
              <a:t>t</a:t>
            </a:r>
            <a:r>
              <a:rPr dirty="0" spc="-745">
                <a:solidFill>
                  <a:srgbClr val="000000"/>
                </a:solidFill>
              </a:rPr>
              <a:t>i</a:t>
            </a:r>
            <a:r>
              <a:rPr dirty="0" spc="-745"/>
              <a:t>i</a:t>
            </a:r>
            <a:r>
              <a:rPr dirty="0" spc="-745">
                <a:solidFill>
                  <a:srgbClr val="000000"/>
                </a:solidFill>
              </a:rPr>
              <a:t>a</a:t>
            </a:r>
            <a:r>
              <a:rPr dirty="0" spc="-745"/>
              <a:t>a</a:t>
            </a:r>
            <a:r>
              <a:rPr dirty="0" spc="-745">
                <a:solidFill>
                  <a:srgbClr val="000000"/>
                </a:solidFill>
              </a:rPr>
              <a:t>l</a:t>
            </a:r>
            <a:r>
              <a:rPr dirty="0" spc="-745"/>
              <a:t>l </a:t>
            </a:r>
            <a:r>
              <a:rPr dirty="0" spc="-840">
                <a:solidFill>
                  <a:srgbClr val="000000"/>
                </a:solidFill>
              </a:rPr>
              <a:t>A</a:t>
            </a:r>
            <a:r>
              <a:rPr dirty="0" spc="-840"/>
              <a:t>A</a:t>
            </a:r>
            <a:r>
              <a:rPr dirty="0" spc="-840">
                <a:solidFill>
                  <a:srgbClr val="000000"/>
                </a:solidFill>
              </a:rPr>
              <a:t>u</a:t>
            </a:r>
            <a:r>
              <a:rPr dirty="0" spc="-840"/>
              <a:t>u</a:t>
            </a:r>
            <a:r>
              <a:rPr dirty="0" spc="-840">
                <a:solidFill>
                  <a:srgbClr val="000000"/>
                </a:solidFill>
              </a:rPr>
              <a:t>t</a:t>
            </a:r>
            <a:r>
              <a:rPr dirty="0" spc="-840"/>
              <a:t>t</a:t>
            </a:r>
            <a:r>
              <a:rPr dirty="0" spc="-840">
                <a:solidFill>
                  <a:srgbClr val="000000"/>
                </a:solidFill>
              </a:rPr>
              <a:t>o</a:t>
            </a:r>
            <a:r>
              <a:rPr dirty="0" spc="-840"/>
              <a:t>o</a:t>
            </a:r>
            <a:r>
              <a:rPr dirty="0" spc="-840">
                <a:solidFill>
                  <a:srgbClr val="000000"/>
                </a:solidFill>
              </a:rPr>
              <a:t>c</a:t>
            </a:r>
            <a:r>
              <a:rPr dirty="0" spc="-840"/>
              <a:t>c</a:t>
            </a:r>
            <a:r>
              <a:rPr dirty="0" spc="-840">
                <a:solidFill>
                  <a:srgbClr val="000000"/>
                </a:solidFill>
              </a:rPr>
              <a:t>o</a:t>
            </a:r>
            <a:r>
              <a:rPr dirty="0" spc="-840"/>
              <a:t>o</a:t>
            </a:r>
            <a:r>
              <a:rPr dirty="0" spc="-840">
                <a:solidFill>
                  <a:srgbClr val="000000"/>
                </a:solidFill>
              </a:rPr>
              <a:t>r</a:t>
            </a:r>
            <a:r>
              <a:rPr dirty="0" spc="-840"/>
              <a:t>r</a:t>
            </a:r>
            <a:r>
              <a:rPr dirty="0" spc="-840">
                <a:solidFill>
                  <a:srgbClr val="000000"/>
                </a:solidFill>
              </a:rPr>
              <a:t>r</a:t>
            </a:r>
            <a:r>
              <a:rPr dirty="0" spc="-840"/>
              <a:t>r</a:t>
            </a:r>
            <a:r>
              <a:rPr dirty="0" spc="-840">
                <a:solidFill>
                  <a:srgbClr val="000000"/>
                </a:solidFill>
              </a:rPr>
              <a:t>e</a:t>
            </a:r>
            <a:r>
              <a:rPr dirty="0" spc="-840"/>
              <a:t>e</a:t>
            </a:r>
            <a:r>
              <a:rPr dirty="0" spc="-840">
                <a:solidFill>
                  <a:srgbClr val="000000"/>
                </a:solidFill>
              </a:rPr>
              <a:t>l</a:t>
            </a:r>
            <a:r>
              <a:rPr dirty="0" spc="-840"/>
              <a:t>l</a:t>
            </a:r>
            <a:r>
              <a:rPr dirty="0" spc="-840">
                <a:solidFill>
                  <a:srgbClr val="000000"/>
                </a:solidFill>
              </a:rPr>
              <a:t>a</a:t>
            </a:r>
            <a:r>
              <a:rPr dirty="0" spc="-840"/>
              <a:t>a</a:t>
            </a:r>
            <a:r>
              <a:rPr dirty="0" spc="-840">
                <a:solidFill>
                  <a:srgbClr val="000000"/>
                </a:solidFill>
              </a:rPr>
              <a:t>t</a:t>
            </a:r>
            <a:r>
              <a:rPr dirty="0" spc="-840"/>
              <a:t>t</a:t>
            </a:r>
            <a:r>
              <a:rPr dirty="0" spc="-840">
                <a:solidFill>
                  <a:srgbClr val="000000"/>
                </a:solidFill>
              </a:rPr>
              <a:t>i</a:t>
            </a:r>
            <a:r>
              <a:rPr dirty="0" spc="-840"/>
              <a:t>i</a:t>
            </a:r>
            <a:r>
              <a:rPr dirty="0" spc="-840">
                <a:solidFill>
                  <a:srgbClr val="000000"/>
                </a:solidFill>
              </a:rPr>
              <a:t>o</a:t>
            </a:r>
            <a:r>
              <a:rPr dirty="0" spc="-840"/>
              <a:t>o</a:t>
            </a:r>
            <a:r>
              <a:rPr dirty="0" spc="-840">
                <a:solidFill>
                  <a:srgbClr val="000000"/>
                </a:solidFill>
              </a:rPr>
              <a:t>n</a:t>
            </a:r>
            <a:r>
              <a:rPr dirty="0" spc="-840"/>
              <a:t>n  </a:t>
            </a:r>
            <a:r>
              <a:rPr dirty="0" spc="-875">
                <a:solidFill>
                  <a:srgbClr val="000000"/>
                </a:solidFill>
              </a:rPr>
              <a:t>F</a:t>
            </a:r>
            <a:r>
              <a:rPr dirty="0" spc="-875"/>
              <a:t>F</a:t>
            </a:r>
            <a:r>
              <a:rPr dirty="0" spc="-875">
                <a:solidFill>
                  <a:srgbClr val="000000"/>
                </a:solidFill>
              </a:rPr>
              <a:t>u</a:t>
            </a:r>
            <a:r>
              <a:rPr dirty="0" spc="-875"/>
              <a:t>u</a:t>
            </a:r>
            <a:r>
              <a:rPr dirty="0" spc="-875">
                <a:solidFill>
                  <a:srgbClr val="000000"/>
                </a:solidFill>
              </a:rPr>
              <a:t>n</a:t>
            </a:r>
            <a:r>
              <a:rPr dirty="0" spc="-875"/>
              <a:t>n</a:t>
            </a:r>
            <a:r>
              <a:rPr dirty="0" spc="-875">
                <a:solidFill>
                  <a:srgbClr val="000000"/>
                </a:solidFill>
              </a:rPr>
              <a:t>c</a:t>
            </a:r>
            <a:r>
              <a:rPr dirty="0" spc="-875"/>
              <a:t>c</a:t>
            </a:r>
            <a:r>
              <a:rPr dirty="0" spc="-875">
                <a:solidFill>
                  <a:srgbClr val="000000"/>
                </a:solidFill>
              </a:rPr>
              <a:t>t</a:t>
            </a:r>
            <a:r>
              <a:rPr dirty="0" spc="-875"/>
              <a:t>t</a:t>
            </a:r>
            <a:r>
              <a:rPr dirty="0" spc="-875">
                <a:solidFill>
                  <a:srgbClr val="000000"/>
                </a:solidFill>
              </a:rPr>
              <a:t>i</a:t>
            </a:r>
            <a:r>
              <a:rPr dirty="0" spc="-875"/>
              <a:t>i</a:t>
            </a:r>
            <a:r>
              <a:rPr dirty="0" spc="-875">
                <a:solidFill>
                  <a:srgbClr val="000000"/>
                </a:solidFill>
              </a:rPr>
              <a:t>o</a:t>
            </a:r>
            <a:r>
              <a:rPr dirty="0" spc="-875"/>
              <a:t>o</a:t>
            </a:r>
            <a:r>
              <a:rPr dirty="0" spc="-875">
                <a:solidFill>
                  <a:srgbClr val="000000"/>
                </a:solidFill>
              </a:rPr>
              <a:t>n</a:t>
            </a:r>
            <a:r>
              <a:rPr dirty="0" spc="-875"/>
              <a:t>n</a:t>
            </a:r>
            <a:r>
              <a:rPr dirty="0" spc="-830"/>
              <a:t> </a:t>
            </a:r>
            <a:r>
              <a:rPr dirty="0" spc="-985">
                <a:solidFill>
                  <a:srgbClr val="000000"/>
                </a:solidFill>
              </a:rPr>
              <a:t>(</a:t>
            </a:r>
            <a:r>
              <a:rPr dirty="0" spc="-985"/>
              <a:t>(</a:t>
            </a:r>
            <a:r>
              <a:rPr dirty="0" spc="-985">
                <a:solidFill>
                  <a:srgbClr val="000000"/>
                </a:solidFill>
              </a:rPr>
              <a:t>P</a:t>
            </a:r>
            <a:r>
              <a:rPr dirty="0" spc="-985"/>
              <a:t>P</a:t>
            </a:r>
            <a:r>
              <a:rPr dirty="0" spc="-985">
                <a:solidFill>
                  <a:srgbClr val="000000"/>
                </a:solidFill>
              </a:rPr>
              <a:t>A</a:t>
            </a:r>
            <a:r>
              <a:rPr dirty="0" spc="-985"/>
              <a:t>A</a:t>
            </a:r>
            <a:r>
              <a:rPr dirty="0" spc="-985">
                <a:solidFill>
                  <a:srgbClr val="000000"/>
                </a:solidFill>
              </a:rPr>
              <a:t>C</a:t>
            </a:r>
            <a:r>
              <a:rPr dirty="0" spc="-985"/>
              <a:t>C</a:t>
            </a:r>
            <a:r>
              <a:rPr dirty="0" spc="-985">
                <a:solidFill>
                  <a:srgbClr val="000000"/>
                </a:solidFill>
              </a:rPr>
              <a:t>F</a:t>
            </a:r>
            <a:r>
              <a:rPr dirty="0" spc="-985"/>
              <a:t>F</a:t>
            </a:r>
            <a:r>
              <a:rPr dirty="0" spc="-985">
                <a:solidFill>
                  <a:srgbClr val="000000"/>
                </a:solidFill>
              </a:rPr>
              <a:t>)</a:t>
            </a:r>
            <a:r>
              <a:rPr dirty="0" spc="-985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31158" y="4493202"/>
            <a:ext cx="4201794" cy="1821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2628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Autocorrelation Function</a:t>
            </a:r>
            <a:r>
              <a:rPr dirty="0" sz="3350" spc="-60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(ACF)</a:t>
            </a:r>
            <a:endParaRPr sz="3350"/>
          </a:p>
        </p:txBody>
      </p:sp>
      <p:sp>
        <p:nvSpPr>
          <p:cNvPr id="4" name="object 4"/>
          <p:cNvSpPr txBox="1"/>
          <p:nvPr/>
        </p:nvSpPr>
        <p:spPr>
          <a:xfrm>
            <a:off x="1148754" y="1425575"/>
            <a:ext cx="9224010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autocorrelation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correlation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a time series and a lagged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version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</a:t>
            </a:r>
            <a:r>
              <a:rPr dirty="0" sz="1800" spc="5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itself.</a:t>
            </a:r>
            <a:endParaRPr sz="1800">
              <a:latin typeface="Roboto"/>
              <a:cs typeface="Roboto"/>
            </a:endParaRPr>
          </a:p>
          <a:p>
            <a:pPr marL="146050" marR="9779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function that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captures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autocorrelation of 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 at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different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lags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which can </a:t>
            </a:r>
            <a:r>
              <a:rPr dirty="0" sz="1800" spc="-5" b="1">
                <a:latin typeface="Roboto"/>
                <a:cs typeface="Roboto"/>
              </a:rPr>
              <a:t>help </a:t>
            </a:r>
            <a:r>
              <a:rPr dirty="0" sz="1800" b="1">
                <a:latin typeface="Roboto"/>
                <a:cs typeface="Roboto"/>
              </a:rPr>
              <a:t>in </a:t>
            </a:r>
            <a:r>
              <a:rPr dirty="0" sz="1800" spc="-5" b="1">
                <a:latin typeface="Roboto"/>
                <a:cs typeface="Roboto"/>
              </a:rPr>
              <a:t>detecting </a:t>
            </a:r>
            <a:r>
              <a:rPr dirty="0" sz="1800" b="1">
                <a:latin typeface="Roboto"/>
                <a:cs typeface="Roboto"/>
              </a:rPr>
              <a:t>stationarity </a:t>
            </a:r>
            <a:r>
              <a:rPr dirty="0" sz="1800" spc="-5" b="1">
                <a:latin typeface="Roboto"/>
                <a:cs typeface="Roboto"/>
              </a:rPr>
              <a:t>and</a:t>
            </a:r>
            <a:r>
              <a:rPr dirty="0" sz="1800" spc="-15" b="1">
                <a:latin typeface="Roboto"/>
                <a:cs typeface="Roboto"/>
              </a:rPr>
              <a:t> </a:t>
            </a:r>
            <a:r>
              <a:rPr dirty="0" sz="1800" spc="-5" b="1">
                <a:latin typeface="Roboto"/>
                <a:cs typeface="Roboto"/>
              </a:rPr>
              <a:t>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3417" y="2823845"/>
            <a:ext cx="44069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300" spc="40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baseline="-15432" sz="1350" spc="60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baseline="-15432" sz="1350" spc="24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5706" y="2700020"/>
            <a:ext cx="110871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300" spc="50" i="1">
                <a:solidFill>
                  <a:srgbClr val="585D60"/>
                </a:solidFill>
                <a:latin typeface="Arial"/>
                <a:cs typeface="Arial"/>
              </a:rPr>
              <a:t>Cov</a:t>
            </a:r>
            <a:r>
              <a:rPr dirty="0" sz="1450" spc="5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3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9259" sz="1350" spc="7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450" spc="5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450" spc="-2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5432" sz="1350" spc="89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888" sz="1500" spc="89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5432" sz="1350" spc="89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450" spc="6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9601" y="2957195"/>
            <a:ext cx="70104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300" spc="-30" i="1">
                <a:solidFill>
                  <a:srgbClr val="585D60"/>
                </a:solidFill>
                <a:latin typeface="Arial"/>
                <a:cs typeface="Arial"/>
              </a:rPr>
              <a:t>V</a:t>
            </a:r>
            <a:r>
              <a:rPr dirty="0" sz="1300" spc="-13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300" spc="95" i="1">
                <a:solidFill>
                  <a:srgbClr val="585D60"/>
                </a:solidFill>
                <a:latin typeface="Arial"/>
                <a:cs typeface="Arial"/>
              </a:rPr>
              <a:t>ar</a:t>
            </a:r>
            <a:r>
              <a:rPr dirty="0" sz="1450" spc="9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300" spc="9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5432" sz="1350" spc="14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450" spc="9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38774" y="2976562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 h="0">
                <a:moveTo>
                  <a:pt x="0" y="0"/>
                </a:moveTo>
                <a:lnTo>
                  <a:pt x="106679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62624" y="3581400"/>
            <a:ext cx="4848225" cy="647700"/>
          </a:xfrm>
          <a:custGeom>
            <a:avLst/>
            <a:gdLst/>
            <a:ahLst/>
            <a:cxnLst/>
            <a:rect l="l" t="t" r="r" b="b"/>
            <a:pathLst>
              <a:path w="4848225" h="647700">
                <a:moveTo>
                  <a:pt x="0" y="0"/>
                </a:moveTo>
                <a:lnTo>
                  <a:pt x="4848224" y="0"/>
                </a:lnTo>
                <a:lnTo>
                  <a:pt x="4848224" y="647699"/>
                </a:lnTo>
                <a:lnTo>
                  <a:pt x="0" y="64769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20216" y="3581400"/>
          <a:ext cx="9690735" cy="281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52010"/>
                <a:gridCol w="190500"/>
                <a:gridCol w="295275"/>
                <a:gridCol w="292100"/>
                <a:gridCol w="334010"/>
                <a:gridCol w="3928110"/>
              </a:tblGrid>
              <a:tr h="391988">
                <a:tc>
                  <a:txBody>
                    <a:bodyPr/>
                    <a:lstStyle/>
                    <a:p>
                      <a:pPr marL="63500">
                        <a:lnSpc>
                          <a:spcPts val="1260"/>
                        </a:lnSpc>
                        <a:spcBef>
                          <a:spcPts val="550"/>
                        </a:spcBef>
                      </a:pPr>
                      <a:r>
                        <a:rPr dirty="0" sz="1100" spc="-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import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matplotlib.pyplot </a:t>
                      </a:r>
                      <a:r>
                        <a:rPr dirty="0" sz="1100" spc="-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dirty="0" sz="1100" spc="-1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plt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00">
                        <a:lnSpc>
                          <a:spcPts val="1175"/>
                        </a:lnSpc>
                      </a:pPr>
                      <a:r>
                        <a:rPr dirty="0" sz="1100" spc="-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import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pandas </a:t>
                      </a:r>
                      <a:r>
                        <a:rPr dirty="0" sz="1100" spc="-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dirty="0" sz="1100" spc="-1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pd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698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360" marR="33655">
                        <a:lnSpc>
                          <a:spcPts val="1200"/>
                        </a:lnSpc>
                        <a:spcBef>
                          <a:spcPts val="69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 </a:t>
                      </a: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8763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ts val="123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3175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565">
                        <a:lnSpc>
                          <a:spcPts val="1260"/>
                        </a:lnSpc>
                        <a:spcBef>
                          <a:spcPts val="55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lag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algn="r" marR="7556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698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3252470" indent="333375">
                        <a:lnSpc>
                          <a:spcPts val="1200"/>
                        </a:lnSpc>
                        <a:spcBef>
                          <a:spcPts val="69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acf </a:t>
                      </a: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0.68361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87630">
                    <a:solidFill>
                      <a:srgbClr val="F7F7F7"/>
                    </a:solidFill>
                  </a:tcPr>
                </a:tc>
              </a:tr>
              <a:tr h="391603">
                <a:tc>
                  <a:txBody>
                    <a:bodyPr/>
                    <a:lstStyle/>
                    <a:p>
                      <a:pPr marL="63500">
                        <a:lnSpc>
                          <a:spcPts val="1235"/>
                        </a:lnSpc>
                      </a:pPr>
                      <a:r>
                        <a:rPr dirty="0" sz="1100" spc="-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from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statsmodels.tsa.stattools </a:t>
                      </a:r>
                      <a:r>
                        <a:rPr dirty="0" sz="1100" spc="-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1100" spc="-1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acf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00">
                        <a:lnSpc>
                          <a:spcPts val="1295"/>
                        </a:lnSpc>
                      </a:pPr>
                      <a:r>
                        <a:rPr dirty="0" sz="1100" spc="-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from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statsmodels.graphics.tsaplots </a:t>
                      </a:r>
                      <a:r>
                        <a:rPr dirty="0" sz="1100" spc="-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1100" spc="-20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plot_acf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26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6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126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26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0.93997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00037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df =</a:t>
                      </a:r>
                      <a:r>
                        <a:rPr dirty="0" sz="1100" spc="-1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pd.read_csv(</a:t>
                      </a:r>
                      <a:r>
                        <a:rPr dirty="0" sz="1100" spc="-5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'../../data/aus_beer.csv'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571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39742">
                <a:tc>
                  <a:txBody>
                    <a:bodyPr/>
                    <a:lstStyle/>
                    <a:p>
                      <a:pPr marL="63500">
                        <a:lnSpc>
                          <a:spcPts val="1300"/>
                        </a:lnSpc>
                        <a:spcBef>
                          <a:spcPts val="489"/>
                        </a:spcBef>
                      </a:pP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acf_df =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pd.DataFrame({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62229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95586">
                <a:tc>
                  <a:txBody>
                    <a:bodyPr/>
                    <a:lstStyle/>
                    <a:p>
                      <a:pPr marL="396875">
                        <a:lnSpc>
                          <a:spcPts val="1135"/>
                        </a:lnSpc>
                      </a:pPr>
                      <a:r>
                        <a:rPr dirty="0" sz="1100" spc="-5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'lag'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: range(</a:t>
                      </a:r>
                      <a:r>
                        <a:rPr dirty="0" sz="1100" spc="-5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396875">
                        <a:lnSpc>
                          <a:spcPts val="1240"/>
                        </a:lnSpc>
                      </a:pPr>
                      <a:r>
                        <a:rPr dirty="0" sz="1100" spc="-5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'acf'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: acf(df[</a:t>
                      </a:r>
                      <a:r>
                        <a:rPr dirty="0" sz="1100" spc="-5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'beer'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],</a:t>
                      </a:r>
                      <a:r>
                        <a:rPr dirty="0" sz="1100" spc="-1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nlags=</a:t>
                      </a:r>
                      <a:r>
                        <a:rPr dirty="0" sz="1100" spc="-5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229870">
                        <a:lnSpc>
                          <a:spcPts val="1275"/>
                        </a:lnSpc>
                      </a:pP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})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00">
                        <a:lnSpc>
                          <a:spcPts val="1300"/>
                        </a:lnSpc>
                      </a:pP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acf_df.iloc[[</a:t>
                      </a:r>
                      <a:r>
                        <a:rPr dirty="0" sz="1100" spc="-5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dirty="0" sz="1100" spc="-5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], : ] </a:t>
                      </a: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 subsetting lag 1 and</a:t>
                      </a:r>
                      <a:r>
                        <a:rPr dirty="0" sz="1100" spc="-3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00" marR="894080">
                        <a:lnSpc>
                          <a:spcPts val="1280"/>
                        </a:lnSpc>
                        <a:spcBef>
                          <a:spcPts val="1080"/>
                        </a:spcBef>
                      </a:pP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plot_acf(df[</a:t>
                      </a:r>
                      <a:r>
                        <a:rPr dirty="0" sz="1100" spc="-5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'beer'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], lags=</a:t>
                      </a:r>
                      <a:r>
                        <a:rPr dirty="0" sz="1100" spc="-5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  plt.title(</a:t>
                      </a:r>
                      <a:r>
                        <a:rPr dirty="0" sz="1100" spc="-5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'ACF: Australian Beer Production'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  plt.xlabel(</a:t>
                      </a:r>
                      <a:r>
                        <a:rPr dirty="0" sz="1100" spc="-5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'Lag (Quarter)'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  plt.ylabel(</a:t>
                      </a:r>
                      <a:r>
                        <a:rPr dirty="0" sz="1100" spc="-5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'Autocorrelation'</a:t>
                      </a:r>
                      <a:r>
                        <a:rPr dirty="0" sz="1100" spc="-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5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31158" y="4064577"/>
            <a:ext cx="4201794" cy="1821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6802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solidFill>
                  <a:srgbClr val="C2132D"/>
                </a:solidFill>
              </a:rPr>
              <a:t>Partial </a:t>
            </a:r>
            <a:r>
              <a:rPr dirty="0" sz="3350" spc="5">
                <a:solidFill>
                  <a:srgbClr val="C2132D"/>
                </a:solidFill>
              </a:rPr>
              <a:t>Autocorrelation Function</a:t>
            </a:r>
            <a:r>
              <a:rPr dirty="0" sz="3350" spc="-55">
                <a:solidFill>
                  <a:srgbClr val="C2132D"/>
                </a:solidFill>
              </a:rPr>
              <a:t> </a:t>
            </a:r>
            <a:r>
              <a:rPr dirty="0" sz="3350" spc="-30">
                <a:solidFill>
                  <a:srgbClr val="C2132D"/>
                </a:solidFill>
              </a:rPr>
              <a:t>(PACF)</a:t>
            </a:r>
            <a:endParaRPr sz="3350"/>
          </a:p>
        </p:txBody>
      </p:sp>
      <p:sp>
        <p:nvSpPr>
          <p:cNvPr id="4" name="object 4"/>
          <p:cNvSpPr txBox="1"/>
          <p:nvPr/>
        </p:nvSpPr>
        <p:spPr>
          <a:xfrm>
            <a:off x="1148754" y="1376044"/>
            <a:ext cx="938466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Partial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Autocorrelation Function </a:t>
            </a:r>
            <a:r>
              <a:rPr dirty="0" sz="1800" spc="-30" b="1">
                <a:solidFill>
                  <a:srgbClr val="C2132D"/>
                </a:solidFill>
                <a:latin typeface="Roboto"/>
                <a:cs typeface="Roboto"/>
              </a:rPr>
              <a:t>(PACF)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function that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captures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autocorrelation  of 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 at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different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lags,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while excluding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effect of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intermediate</a:t>
            </a:r>
            <a:r>
              <a:rPr dirty="0" sz="1800" spc="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lags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3603" y="2414270"/>
            <a:ext cx="55880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8547" sz="1950" spc="97" i="1">
                <a:solidFill>
                  <a:srgbClr val="585D60"/>
                </a:solidFill>
                <a:latin typeface="Arial"/>
                <a:cs typeface="Arial"/>
              </a:rPr>
              <a:t>ϕ</a:t>
            </a:r>
            <a:r>
              <a:rPr dirty="0" sz="900" spc="6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000" spc="6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900" spc="6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900" spc="16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7662" sz="2175" spc="-52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baseline="7662" sz="2175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9447" y="2261870"/>
            <a:ext cx="279908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300" spc="50" i="1">
                <a:solidFill>
                  <a:srgbClr val="585D60"/>
                </a:solidFill>
                <a:latin typeface="Arial"/>
                <a:cs typeface="Arial"/>
              </a:rPr>
              <a:t>Cov</a:t>
            </a:r>
            <a:r>
              <a:rPr dirty="0" sz="1450" spc="5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3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5432" sz="1350" spc="7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450" spc="5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450" spc="-2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5432" sz="1350" spc="7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888" sz="1500" spc="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5432" sz="1350" spc="7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450" spc="5">
                <a:solidFill>
                  <a:srgbClr val="585D60"/>
                </a:solidFill>
                <a:latin typeface="Lucida Sans Unicode"/>
                <a:cs typeface="Lucida Sans Unicode"/>
              </a:rPr>
              <a:t>|</a:t>
            </a:r>
            <a:r>
              <a:rPr dirty="0" sz="1300" spc="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5432" sz="1350" spc="7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888" sz="1500" spc="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450" spc="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450" spc="-2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1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5432" sz="1350" spc="-1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888" sz="1500" spc="-15">
                <a:solidFill>
                  <a:srgbClr val="585D60"/>
                </a:solidFill>
                <a:latin typeface="Lucida Sans Unicode"/>
                <a:cs typeface="Lucida Sans Unicode"/>
              </a:rPr>
              <a:t>−2</a:t>
            </a:r>
            <a:r>
              <a:rPr dirty="0" sz="1450" spc="-1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450" spc="-2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235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r>
              <a:rPr dirty="0" sz="1450" spc="-2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6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450" spc="-2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2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5432" sz="1350" spc="37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888" sz="1500" spc="3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5432" sz="1350" spc="37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baseline="-13888" sz="1500" spc="37">
                <a:solidFill>
                  <a:srgbClr val="585D60"/>
                </a:solidFill>
                <a:latin typeface="Lucida Sans Unicode"/>
                <a:cs typeface="Lucida Sans Unicode"/>
              </a:rPr>
              <a:t>+1</a:t>
            </a:r>
            <a:r>
              <a:rPr dirty="0" sz="1450" spc="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8537" y="2528570"/>
            <a:ext cx="70104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300" spc="-30" i="1">
                <a:solidFill>
                  <a:srgbClr val="585D60"/>
                </a:solidFill>
                <a:latin typeface="Arial"/>
                <a:cs typeface="Arial"/>
              </a:rPr>
              <a:t>V</a:t>
            </a:r>
            <a:r>
              <a:rPr dirty="0" sz="1300" spc="-13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300" spc="95" i="1">
                <a:solidFill>
                  <a:srgbClr val="585D60"/>
                </a:solidFill>
                <a:latin typeface="Arial"/>
                <a:cs typeface="Arial"/>
              </a:rPr>
              <a:t>ar</a:t>
            </a:r>
            <a:r>
              <a:rPr dirty="0" sz="1450" spc="9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300" spc="9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5432" sz="1350" spc="14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450" spc="9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57725" y="2538412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19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14400" y="3143249"/>
            <a:ext cx="4657725" cy="28289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69850" rIns="0" bIns="0" rtlCol="0" vert="horz">
            <a:spAutoFit/>
          </a:bodyPr>
          <a:lstStyle/>
          <a:p>
            <a:pPr marL="86360">
              <a:lnSpc>
                <a:spcPts val="1295"/>
              </a:lnSpc>
              <a:spcBef>
                <a:spcPts val="550"/>
              </a:spcBef>
            </a:pP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matplotlib.pyplot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100" spc="-1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plt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75"/>
              </a:lnSpc>
            </a:pP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100" spc="-1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40"/>
              </a:lnSpc>
            </a:pP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from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statsmodels.tsa.stattools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import</a:t>
            </a:r>
            <a:r>
              <a:rPr dirty="0" sz="1100" spc="-1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pacf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60"/>
              </a:lnSpc>
            </a:pP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from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statsmodels.graphics.tsaplots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import</a:t>
            </a:r>
            <a:r>
              <a:rPr dirty="0" sz="1100" spc="-2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plot_pacf</a:t>
            </a:r>
            <a:endParaRPr sz="1100">
              <a:latin typeface="Courier New"/>
              <a:cs typeface="Courier New"/>
            </a:endParaRPr>
          </a:p>
          <a:p>
            <a:pPr marL="86360" marR="977265">
              <a:lnSpc>
                <a:spcPct val="176100"/>
              </a:lnSpc>
              <a:spcBef>
                <a:spcPts val="7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df =</a:t>
            </a:r>
            <a:r>
              <a:rPr dirty="0" sz="1100" spc="-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pd.read_csv(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'../../data/aus_beer.csv'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  pacf_df =</a:t>
            </a:r>
            <a:r>
              <a:rPr dirty="0" sz="1100" spc="-1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pd.DataFrame({</a:t>
            </a:r>
            <a:endParaRPr sz="1100">
              <a:latin typeface="Courier New"/>
              <a:cs typeface="Courier New"/>
            </a:endParaRPr>
          </a:p>
          <a:p>
            <a:pPr marL="420370">
              <a:lnSpc>
                <a:spcPts val="1255"/>
              </a:lnSpc>
            </a:pP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'lag'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: range(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8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13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),</a:t>
            </a:r>
            <a:endParaRPr sz="1100">
              <a:latin typeface="Courier New"/>
              <a:cs typeface="Courier New"/>
            </a:endParaRPr>
          </a:p>
          <a:p>
            <a:pPr marL="420370">
              <a:lnSpc>
                <a:spcPts val="1240"/>
              </a:lnSpc>
            </a:pP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'pacf'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: pacf(df[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'beer'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],</a:t>
            </a:r>
            <a:r>
              <a:rPr dirty="0" sz="1100" spc="-1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nlags=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253365">
              <a:lnSpc>
                <a:spcPts val="1240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})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300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pacf_df.iloc[[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4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], : ]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 subsetting lag 1 and</a:t>
            </a:r>
            <a:r>
              <a:rPr dirty="0" sz="1100" spc="-3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4</a:t>
            </a:r>
            <a:endParaRPr sz="1100">
              <a:latin typeface="Courier New"/>
              <a:cs typeface="Courier New"/>
            </a:endParaRPr>
          </a:p>
          <a:p>
            <a:pPr marL="86360" marR="810895">
              <a:lnSpc>
                <a:spcPct val="94700"/>
              </a:lnSpc>
              <a:spcBef>
                <a:spcPts val="1150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plot_pacf(df[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'beer'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], lags=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  plt.title(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'PACF: Australian Beer</a:t>
            </a:r>
            <a:r>
              <a:rPr dirty="0" sz="1100" spc="-45">
                <a:solidFill>
                  <a:srgbClr val="DD1144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Production'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  plt.xlabel(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'Lag (Quarter)'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  plt.ylabel(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'Partial</a:t>
            </a:r>
            <a:r>
              <a:rPr dirty="0" sz="1100" spc="-15">
                <a:solidFill>
                  <a:srgbClr val="DD1144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Autocorrelation'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762624" y="3143249"/>
            <a:ext cx="4848225" cy="6572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79375" rIns="0" bIns="0" rtlCol="0" vert="horz">
            <a:spAutoFit/>
          </a:bodyPr>
          <a:lstStyle/>
          <a:p>
            <a:pPr marL="86360" marR="3169285">
              <a:lnSpc>
                <a:spcPts val="1280"/>
              </a:lnSpc>
              <a:spcBef>
                <a:spcPts val="625"/>
              </a:spcBef>
              <a:tabLst>
                <a:tab pos="586740" algn="l"/>
                <a:tab pos="753745" algn="l"/>
                <a:tab pos="1003300" algn="l"/>
                <a:tab pos="1337310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lag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		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pacf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 ##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1</a:t>
            </a:r>
            <a:r>
              <a:rPr dirty="0" sz="1100" i="1">
                <a:solidFill>
                  <a:srgbClr val="999987"/>
                </a:solidFill>
                <a:latin typeface="Courier New"/>
                <a:cs typeface="Courier New"/>
              </a:rPr>
              <a:t>		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1</a:t>
            </a:r>
            <a:r>
              <a:rPr dirty="0" sz="11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0.686760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35"/>
              </a:lnSpc>
              <a:tabLst>
                <a:tab pos="753745" algn="l"/>
                <a:tab pos="1003300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 4	4	0.877843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4837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Comments on the </a:t>
            </a:r>
            <a:r>
              <a:rPr dirty="0" sz="3350" spc="-50">
                <a:solidFill>
                  <a:srgbClr val="C2132D"/>
                </a:solidFill>
              </a:rPr>
              <a:t>PACF </a:t>
            </a:r>
            <a:r>
              <a:rPr dirty="0" sz="3350" spc="10">
                <a:solidFill>
                  <a:srgbClr val="C2132D"/>
                </a:solidFill>
              </a:rPr>
              <a:t>Computation in</a:t>
            </a:r>
            <a:r>
              <a:rPr dirty="0" sz="3350" spc="55">
                <a:solidFill>
                  <a:srgbClr val="C2132D"/>
                </a:solidFill>
              </a:rPr>
              <a:t>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138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SzPct val="105882"/>
              <a:buFont typeface="Roboto"/>
              <a:buChar char="•"/>
              <a:tabLst>
                <a:tab pos="146685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r>
              <a:rPr dirty="0" sz="1700" spc="-52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uses 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Yule-Walker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equations,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with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sample-size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adjustment,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default.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990725"/>
            <a:ext cx="9734550" cy="0"/>
          </a:xfrm>
          <a:custGeom>
            <a:avLst/>
            <a:gdLst/>
            <a:ahLst/>
            <a:cxnLst/>
            <a:rect l="l" t="t" r="r" b="b"/>
            <a:pathLst>
              <a:path w="9734550" h="0">
                <a:moveTo>
                  <a:pt x="0" y="0"/>
                </a:moveTo>
                <a:lnTo>
                  <a:pt x="9734549" y="0"/>
                </a:lnTo>
              </a:path>
            </a:pathLst>
          </a:custGeom>
          <a:ln w="19049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296024"/>
            <a:ext cx="9734550" cy="0"/>
          </a:xfrm>
          <a:custGeom>
            <a:avLst/>
            <a:gdLst/>
            <a:ahLst/>
            <a:cxnLst/>
            <a:rect l="l" t="t" r="r" b="b"/>
            <a:pathLst>
              <a:path w="9734550" h="0">
                <a:moveTo>
                  <a:pt x="0" y="0"/>
                </a:moveTo>
                <a:lnTo>
                  <a:pt x="9734549" y="0"/>
                </a:lnTo>
              </a:path>
            </a:pathLst>
          </a:custGeom>
          <a:ln w="19049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39424" y="1981200"/>
            <a:ext cx="0" cy="4324350"/>
          </a:xfrm>
          <a:custGeom>
            <a:avLst/>
            <a:gdLst/>
            <a:ahLst/>
            <a:cxnLst/>
            <a:rect l="l" t="t" r="r" b="b"/>
            <a:pathLst>
              <a:path w="0" h="4324350">
                <a:moveTo>
                  <a:pt x="0" y="0"/>
                </a:moveTo>
                <a:lnTo>
                  <a:pt x="0" y="4324349"/>
                </a:lnTo>
              </a:path>
            </a:pathLst>
          </a:custGeom>
          <a:ln w="19049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23925" y="1981200"/>
            <a:ext cx="0" cy="4324350"/>
          </a:xfrm>
          <a:custGeom>
            <a:avLst/>
            <a:gdLst/>
            <a:ahLst/>
            <a:cxnLst/>
            <a:rect l="l" t="t" r="r" b="b"/>
            <a:pathLst>
              <a:path w="0" h="4324350">
                <a:moveTo>
                  <a:pt x="0" y="0"/>
                </a:moveTo>
                <a:lnTo>
                  <a:pt x="0" y="4324349"/>
                </a:lnTo>
              </a:path>
            </a:pathLst>
          </a:custGeom>
          <a:ln w="19049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85850" y="3133724"/>
            <a:ext cx="9248775" cy="1514475"/>
          </a:xfrm>
          <a:custGeom>
            <a:avLst/>
            <a:gdLst/>
            <a:ahLst/>
            <a:cxnLst/>
            <a:rect l="l" t="t" r="r" b="b"/>
            <a:pathLst>
              <a:path w="9248775" h="1514475">
                <a:moveTo>
                  <a:pt x="0" y="0"/>
                </a:moveTo>
                <a:lnTo>
                  <a:pt x="9248774" y="0"/>
                </a:lnTo>
                <a:lnTo>
                  <a:pt x="9248774" y="1514474"/>
                </a:lnTo>
                <a:lnTo>
                  <a:pt x="0" y="1514474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577238" y="4368800"/>
            <a:ext cx="69913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  <a:hlinkClick r:id="rId2"/>
              </a:rPr>
              <a:t>[source]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3150" y="2461895"/>
            <a:ext cx="3396615" cy="3365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000" spc="-10" b="0">
                <a:latin typeface="Roboto Light"/>
                <a:cs typeface="Roboto Light"/>
              </a:rPr>
              <a:t>statsmodels.tsa.stattools.pacf</a:t>
            </a:r>
            <a:endParaRPr sz="2000">
              <a:latin typeface="Roboto Light"/>
              <a:cs typeface="Roboto Ligh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19300" y="3686175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0" y="0"/>
                </a:moveTo>
                <a:lnTo>
                  <a:pt x="342899" y="0"/>
                </a:lnTo>
                <a:lnTo>
                  <a:pt x="3428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05025" y="3914775"/>
            <a:ext cx="1028700" cy="190500"/>
          </a:xfrm>
          <a:custGeom>
            <a:avLst/>
            <a:gdLst/>
            <a:ahLst/>
            <a:cxnLst/>
            <a:rect l="l" t="t" r="r" b="b"/>
            <a:pathLst>
              <a:path w="1028700" h="190500">
                <a:moveTo>
                  <a:pt x="0" y="0"/>
                </a:moveTo>
                <a:lnTo>
                  <a:pt x="1028699" y="0"/>
                </a:lnTo>
                <a:lnTo>
                  <a:pt x="10286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19300" y="4143375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0" y="0"/>
                </a:moveTo>
                <a:lnTo>
                  <a:pt x="342899" y="0"/>
                </a:lnTo>
                <a:lnTo>
                  <a:pt x="3428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57287" y="3168649"/>
            <a:ext cx="2658110" cy="1168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2900" indent="-343535">
              <a:lnSpc>
                <a:spcPct val="136400"/>
              </a:lnSpc>
              <a:spcBef>
                <a:spcPts val="95"/>
              </a:spcBef>
            </a:pPr>
            <a:r>
              <a:rPr dirty="0" sz="1100" spc="15">
                <a:solidFill>
                  <a:srgbClr val="36454E"/>
                </a:solidFill>
                <a:latin typeface="Courier New"/>
                <a:cs typeface="Courier New"/>
              </a:rPr>
              <a:t>statsmodels.tsa.stattools.</a:t>
            </a:r>
            <a:r>
              <a:rPr dirty="0" sz="1100" spc="15" b="1">
                <a:solidFill>
                  <a:srgbClr val="36454E"/>
                </a:solidFill>
                <a:latin typeface="Courier New"/>
                <a:cs typeface="Courier New"/>
              </a:rPr>
              <a:t>pacf</a:t>
            </a:r>
            <a:r>
              <a:rPr dirty="0" sz="1100" spc="15">
                <a:latin typeface="Courier New"/>
                <a:cs typeface="Courier New"/>
              </a:rPr>
              <a:t>(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x</a:t>
            </a:r>
            <a:r>
              <a:rPr dirty="0" sz="1100" spc="15"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342900" marR="591820">
              <a:lnSpc>
                <a:spcPct val="136400"/>
              </a:lnSpc>
            </a:pP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nlags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6E58D9"/>
                </a:solidFill>
                <a:latin typeface="Courier New"/>
                <a:cs typeface="Courier New"/>
              </a:rPr>
              <a:t>None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method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1B7D4D"/>
                </a:solidFill>
                <a:latin typeface="Courier New"/>
                <a:cs typeface="Courier New"/>
              </a:rPr>
              <a:t>'ywadjusted'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alpha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6E58D9"/>
                </a:solidFill>
                <a:latin typeface="Courier New"/>
                <a:cs typeface="Courier New"/>
              </a:rPr>
              <a:t>None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57287" y="4368800"/>
            <a:ext cx="8636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5"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6037" y="4782184"/>
            <a:ext cx="3734435" cy="11906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Roboto"/>
                <a:cs typeface="Roboto"/>
              </a:rPr>
              <a:t>Partial autocorrelation estimate.</a:t>
            </a: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" b="1">
                <a:latin typeface="Roboto"/>
                <a:cs typeface="Roboto"/>
              </a:rPr>
              <a:t>Parameters</a:t>
            </a: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Roboto"/>
              <a:cs typeface="Roboto"/>
            </a:endParaRPr>
          </a:p>
          <a:p>
            <a:pPr marL="255270">
              <a:lnSpc>
                <a:spcPct val="100000"/>
              </a:lnSpc>
              <a:spcBef>
                <a:spcPts val="5"/>
              </a:spcBef>
            </a:pPr>
            <a:r>
              <a:rPr dirty="0" sz="1000" spc="10" b="1">
                <a:latin typeface="Roboto"/>
                <a:cs typeface="Roboto"/>
              </a:rPr>
              <a:t>x </a:t>
            </a:r>
            <a:r>
              <a:rPr dirty="0" sz="1000">
                <a:latin typeface="Roboto"/>
                <a:cs typeface="Roboto"/>
              </a:rPr>
              <a:t>:</a:t>
            </a:r>
            <a:r>
              <a:rPr dirty="0" sz="1000" spc="245">
                <a:latin typeface="Roboto"/>
                <a:cs typeface="Roboto"/>
              </a:rPr>
              <a:t> </a:t>
            </a:r>
            <a:r>
              <a:rPr dirty="0" sz="1000">
                <a:solidFill>
                  <a:srgbClr val="4050B4"/>
                </a:solidFill>
                <a:latin typeface="Roboto"/>
                <a:cs typeface="Roboto"/>
                <a:hlinkClick r:id="rId3"/>
              </a:rPr>
              <a:t>array_like</a:t>
            </a: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latin typeface="Roboto"/>
                <a:cs typeface="Roboto"/>
              </a:rPr>
              <a:t>Observations of time series for </a:t>
            </a:r>
            <a:r>
              <a:rPr dirty="0" sz="1000" spc="10">
                <a:latin typeface="Roboto"/>
                <a:cs typeface="Roboto"/>
              </a:rPr>
              <a:t>which </a:t>
            </a:r>
            <a:r>
              <a:rPr dirty="0" sz="1000" spc="5">
                <a:latin typeface="Roboto"/>
                <a:cs typeface="Roboto"/>
              </a:rPr>
              <a:t>pacf is</a:t>
            </a:r>
            <a:r>
              <a:rPr dirty="0" sz="1000" spc="70">
                <a:latin typeface="Roboto"/>
                <a:cs typeface="Roboto"/>
              </a:rPr>
              <a:t> </a:t>
            </a:r>
            <a:r>
              <a:rPr dirty="0" sz="1000" spc="5">
                <a:latin typeface="Roboto"/>
                <a:cs typeface="Roboto"/>
              </a:rPr>
              <a:t>calculated.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47874" y="6219824"/>
            <a:ext cx="266700" cy="66675"/>
          </a:xfrm>
          <a:custGeom>
            <a:avLst/>
            <a:gdLst/>
            <a:ahLst/>
            <a:cxnLst/>
            <a:rect l="l" t="t" r="r" b="b"/>
            <a:pathLst>
              <a:path w="266700" h="66675">
                <a:moveTo>
                  <a:pt x="266700" y="66674"/>
                </a:moveTo>
                <a:lnTo>
                  <a:pt x="0" y="66674"/>
                </a:lnTo>
                <a:lnTo>
                  <a:pt x="0" y="16523"/>
                </a:lnTo>
                <a:lnTo>
                  <a:pt x="16523" y="0"/>
                </a:lnTo>
                <a:lnTo>
                  <a:pt x="250176" y="0"/>
                </a:lnTo>
                <a:lnTo>
                  <a:pt x="266700" y="6667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71724" y="6219824"/>
            <a:ext cx="590550" cy="66675"/>
          </a:xfrm>
          <a:custGeom>
            <a:avLst/>
            <a:gdLst/>
            <a:ahLst/>
            <a:cxnLst/>
            <a:rect l="l" t="t" r="r" b="b"/>
            <a:pathLst>
              <a:path w="590550" h="66675">
                <a:moveTo>
                  <a:pt x="590550" y="66674"/>
                </a:moveTo>
                <a:lnTo>
                  <a:pt x="0" y="66674"/>
                </a:lnTo>
                <a:lnTo>
                  <a:pt x="0" y="16523"/>
                </a:lnTo>
                <a:lnTo>
                  <a:pt x="16523" y="0"/>
                </a:lnTo>
                <a:lnTo>
                  <a:pt x="574026" y="0"/>
                </a:lnTo>
                <a:lnTo>
                  <a:pt x="590550" y="6667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4837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Comments on the </a:t>
            </a:r>
            <a:r>
              <a:rPr dirty="0" sz="3350" spc="-50">
                <a:solidFill>
                  <a:srgbClr val="C2132D"/>
                </a:solidFill>
              </a:rPr>
              <a:t>PACF </a:t>
            </a:r>
            <a:r>
              <a:rPr dirty="0" sz="3350" spc="10">
                <a:solidFill>
                  <a:srgbClr val="C2132D"/>
                </a:solidFill>
              </a:rPr>
              <a:t>Computation in</a:t>
            </a:r>
            <a:r>
              <a:rPr dirty="0" sz="3350" spc="55">
                <a:solidFill>
                  <a:srgbClr val="C2132D"/>
                </a:solidFill>
              </a:rPr>
              <a:t>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409430" cy="457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645795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use of 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Yule-Walker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yw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 equations in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r>
              <a:rPr dirty="0" sz="1700" spc="-56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common approach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computing 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PACF.</a:t>
            </a:r>
            <a:endParaRPr sz="1800">
              <a:latin typeface="Roboto"/>
              <a:cs typeface="Roboto"/>
            </a:endParaRPr>
          </a:p>
          <a:p>
            <a:pPr marL="146050" marR="137160" indent="-133985">
              <a:lnSpc>
                <a:spcPct val="118100"/>
              </a:lnSpc>
              <a:spcBef>
                <a:spcPts val="894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sample-size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adjustment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r>
              <a:rPr dirty="0" sz="1700" spc="-5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used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correct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for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bias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 sample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autocorrelation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function estimates.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default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sample-size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adjustment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hence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yw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sample-size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adjusted.</a:t>
            </a:r>
            <a:endParaRPr sz="1800">
              <a:latin typeface="Roboto"/>
              <a:cs typeface="Roboto"/>
            </a:endParaRPr>
          </a:p>
          <a:p>
            <a:pPr marL="146050" marR="338455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Levinson-Durbin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ld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 showed that 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Yule-Walker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equations can be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rewritten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 a set of  linear equations that can be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solved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a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recursive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algorithm.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Hence,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SzPct val="105882"/>
              <a:buFont typeface="Roboto"/>
              <a:buChar char="•"/>
              <a:tabLst>
                <a:tab pos="527685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ld</a:t>
            </a:r>
            <a:r>
              <a:rPr dirty="0" sz="1700" spc="-55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</a:t>
            </a:r>
            <a:r>
              <a:rPr dirty="0" sz="1800" spc="-5" b="1">
                <a:latin typeface="Roboto"/>
                <a:cs typeface="Roboto"/>
              </a:rPr>
              <a:t>computationally </a:t>
            </a:r>
            <a:r>
              <a:rPr dirty="0" sz="1800" spc="-15" b="1">
                <a:latin typeface="Roboto"/>
                <a:cs typeface="Roboto"/>
              </a:rPr>
              <a:t>efficient </a:t>
            </a:r>
            <a:r>
              <a:rPr dirty="0" sz="1800" spc="-5" b="1">
                <a:latin typeface="Roboto"/>
                <a:cs typeface="Roboto"/>
              </a:rPr>
              <a:t>implementation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yw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and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527685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ldb</a:t>
            </a:r>
            <a:r>
              <a:rPr dirty="0" sz="1700" spc="-56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5" b="1">
                <a:latin typeface="Roboto"/>
                <a:cs typeface="Roboto"/>
              </a:rPr>
              <a:t>computationally </a:t>
            </a:r>
            <a:r>
              <a:rPr dirty="0" sz="1800" spc="-15" b="1">
                <a:latin typeface="Roboto"/>
                <a:cs typeface="Roboto"/>
              </a:rPr>
              <a:t>efficient </a:t>
            </a:r>
            <a:r>
              <a:rPr dirty="0" sz="1800" spc="-5" b="1">
                <a:latin typeface="Roboto"/>
                <a:cs typeface="Roboto"/>
              </a:rPr>
              <a:t>implementation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ywm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marR="112395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146685" algn="l"/>
                <a:tab pos="3535679" algn="l"/>
                <a:tab pos="385254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other hand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the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pacf()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		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stats</a:t>
            </a:r>
            <a:r>
              <a:rPr dirty="0" sz="1700" spc="-57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package) uses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biased implementation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Yule-Walker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 its</a:t>
            </a:r>
            <a:r>
              <a:rPr dirty="0" sz="1800" spc="5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default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i.e.,	is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equivalent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ywm</a:t>
            </a:r>
            <a:r>
              <a:rPr dirty="0" sz="1700" spc="-5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ldb</a:t>
            </a:r>
            <a:r>
              <a:rPr dirty="0" sz="1700" spc="-57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86300" y="5386845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71975" y="5710695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5140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solidFill>
                  <a:srgbClr val="C2132D"/>
                </a:solidFill>
              </a:rPr>
              <a:t>Verifying </a:t>
            </a:r>
            <a:r>
              <a:rPr dirty="0" sz="3350" spc="-50">
                <a:solidFill>
                  <a:srgbClr val="C2132D"/>
                </a:solidFill>
              </a:rPr>
              <a:t>PACF </a:t>
            </a:r>
            <a:r>
              <a:rPr dirty="0" sz="3350" spc="10">
                <a:solidFill>
                  <a:srgbClr val="C2132D"/>
                </a:solidFill>
              </a:rPr>
              <a:t>Computations in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r>
              <a:rPr dirty="0" sz="3200" spc="-110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3350" spc="15">
                <a:solidFill>
                  <a:srgbClr val="C2132D"/>
                </a:solidFill>
              </a:rPr>
              <a:t>&amp;</a:t>
            </a:r>
            <a:endParaRPr sz="335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05949" y="627674"/>
            <a:ext cx="484505" cy="374015"/>
          </a:xfrm>
          <a:custGeom>
            <a:avLst/>
            <a:gdLst/>
            <a:ahLst/>
            <a:cxnLst/>
            <a:rect l="l" t="t" r="r" b="b"/>
            <a:pathLst>
              <a:path w="484504" h="374015">
                <a:moveTo>
                  <a:pt x="282153" y="373425"/>
                </a:moveTo>
                <a:lnTo>
                  <a:pt x="199549" y="373425"/>
                </a:lnTo>
                <a:lnTo>
                  <a:pt x="199549" y="321829"/>
                </a:lnTo>
                <a:lnTo>
                  <a:pt x="145377" y="310891"/>
                </a:lnTo>
                <a:lnTo>
                  <a:pt x="97394" y="292226"/>
                </a:lnTo>
                <a:lnTo>
                  <a:pt x="57232" y="266930"/>
                </a:lnTo>
                <a:lnTo>
                  <a:pt x="26525" y="236098"/>
                </a:lnTo>
                <a:lnTo>
                  <a:pt x="6903" y="200825"/>
                </a:lnTo>
                <a:lnTo>
                  <a:pt x="0" y="162206"/>
                </a:lnTo>
                <a:lnTo>
                  <a:pt x="6396" y="125007"/>
                </a:lnTo>
                <a:lnTo>
                  <a:pt x="24617" y="90863"/>
                </a:lnTo>
                <a:lnTo>
                  <a:pt x="53206" y="60745"/>
                </a:lnTo>
                <a:lnTo>
                  <a:pt x="90708" y="35628"/>
                </a:lnTo>
                <a:lnTo>
                  <a:pt x="135668" y="16483"/>
                </a:lnTo>
                <a:lnTo>
                  <a:pt x="186632" y="4282"/>
                </a:lnTo>
                <a:lnTo>
                  <a:pt x="242143" y="0"/>
                </a:lnTo>
                <a:lnTo>
                  <a:pt x="297654" y="4282"/>
                </a:lnTo>
                <a:lnTo>
                  <a:pt x="348617" y="16483"/>
                </a:lnTo>
                <a:lnTo>
                  <a:pt x="393578" y="35628"/>
                </a:lnTo>
                <a:lnTo>
                  <a:pt x="431080" y="60745"/>
                </a:lnTo>
                <a:lnTo>
                  <a:pt x="433630" y="63432"/>
                </a:lnTo>
                <a:lnTo>
                  <a:pt x="279235" y="63432"/>
                </a:lnTo>
                <a:lnTo>
                  <a:pt x="221077" y="69080"/>
                </a:lnTo>
                <a:lnTo>
                  <a:pt x="170556" y="84811"/>
                </a:lnTo>
                <a:lnTo>
                  <a:pt x="130711" y="108803"/>
                </a:lnTo>
                <a:lnTo>
                  <a:pt x="104576" y="139237"/>
                </a:lnTo>
                <a:lnTo>
                  <a:pt x="95190" y="174293"/>
                </a:lnTo>
                <a:lnTo>
                  <a:pt x="102810" y="205955"/>
                </a:lnTo>
                <a:lnTo>
                  <a:pt x="124207" y="234047"/>
                </a:lnTo>
                <a:lnTo>
                  <a:pt x="157186" y="257247"/>
                </a:lnTo>
                <a:lnTo>
                  <a:pt x="199549" y="274234"/>
                </a:lnTo>
                <a:lnTo>
                  <a:pt x="282069" y="274234"/>
                </a:lnTo>
                <a:lnTo>
                  <a:pt x="282069" y="285070"/>
                </a:lnTo>
                <a:lnTo>
                  <a:pt x="414406" y="285070"/>
                </a:lnTo>
                <a:lnTo>
                  <a:pt x="429526" y="310576"/>
                </a:lnTo>
                <a:lnTo>
                  <a:pt x="340000" y="310576"/>
                </a:lnTo>
                <a:lnTo>
                  <a:pt x="326144" y="314356"/>
                </a:lnTo>
                <a:lnTo>
                  <a:pt x="311858" y="317557"/>
                </a:lnTo>
                <a:lnTo>
                  <a:pt x="297181" y="320165"/>
                </a:lnTo>
                <a:lnTo>
                  <a:pt x="282153" y="322163"/>
                </a:lnTo>
                <a:lnTo>
                  <a:pt x="282153" y="373425"/>
                </a:lnTo>
                <a:close/>
              </a:path>
              <a:path w="484504" h="374015">
                <a:moveTo>
                  <a:pt x="430451" y="262981"/>
                </a:moveTo>
                <a:lnTo>
                  <a:pt x="397265" y="262981"/>
                </a:lnTo>
                <a:lnTo>
                  <a:pt x="421823" y="247471"/>
                </a:lnTo>
                <a:lnTo>
                  <a:pt x="440254" y="227608"/>
                </a:lnTo>
                <a:lnTo>
                  <a:pt x="451841" y="203260"/>
                </a:lnTo>
                <a:lnTo>
                  <a:pt x="455862" y="174293"/>
                </a:lnTo>
                <a:lnTo>
                  <a:pt x="447248" y="133220"/>
                </a:lnTo>
                <a:lnTo>
                  <a:pt x="422953" y="102033"/>
                </a:lnTo>
                <a:lnTo>
                  <a:pt x="385303" y="80297"/>
                </a:lnTo>
                <a:lnTo>
                  <a:pt x="336622" y="67576"/>
                </a:lnTo>
                <a:lnTo>
                  <a:pt x="279235" y="63432"/>
                </a:lnTo>
                <a:lnTo>
                  <a:pt x="433630" y="63432"/>
                </a:lnTo>
                <a:lnTo>
                  <a:pt x="459669" y="90863"/>
                </a:lnTo>
                <a:lnTo>
                  <a:pt x="477889" y="125007"/>
                </a:lnTo>
                <a:lnTo>
                  <a:pt x="484286" y="162206"/>
                </a:lnTo>
                <a:lnTo>
                  <a:pt x="479161" y="195522"/>
                </a:lnTo>
                <a:lnTo>
                  <a:pt x="464479" y="226493"/>
                </a:lnTo>
                <a:lnTo>
                  <a:pt x="441279" y="254432"/>
                </a:lnTo>
                <a:lnTo>
                  <a:pt x="430451" y="262981"/>
                </a:lnTo>
                <a:close/>
              </a:path>
              <a:path w="484504" h="374015">
                <a:moveTo>
                  <a:pt x="282069" y="274234"/>
                </a:moveTo>
                <a:lnTo>
                  <a:pt x="199549" y="274234"/>
                </a:lnTo>
                <a:lnTo>
                  <a:pt x="199549" y="100608"/>
                </a:lnTo>
                <a:lnTo>
                  <a:pt x="365423" y="100608"/>
                </a:lnTo>
                <a:lnTo>
                  <a:pt x="377223" y="101940"/>
                </a:lnTo>
                <a:lnTo>
                  <a:pt x="403183" y="110266"/>
                </a:lnTo>
                <a:lnTo>
                  <a:pt x="429142" y="132080"/>
                </a:lnTo>
                <a:lnTo>
                  <a:pt x="436864" y="159431"/>
                </a:lnTo>
                <a:lnTo>
                  <a:pt x="314580" y="159431"/>
                </a:lnTo>
                <a:lnTo>
                  <a:pt x="282820" y="159872"/>
                </a:lnTo>
                <a:lnTo>
                  <a:pt x="282820" y="206217"/>
                </a:lnTo>
                <a:lnTo>
                  <a:pt x="311697" y="206810"/>
                </a:lnTo>
                <a:lnTo>
                  <a:pt x="432186" y="206810"/>
                </a:lnTo>
                <a:lnTo>
                  <a:pt x="429663" y="216297"/>
                </a:lnTo>
                <a:lnTo>
                  <a:pt x="404850" y="239486"/>
                </a:lnTo>
                <a:lnTo>
                  <a:pt x="380036" y="249188"/>
                </a:lnTo>
                <a:lnTo>
                  <a:pt x="368758" y="251145"/>
                </a:lnTo>
                <a:lnTo>
                  <a:pt x="383428" y="255563"/>
                </a:lnTo>
                <a:lnTo>
                  <a:pt x="391930" y="259897"/>
                </a:lnTo>
                <a:lnTo>
                  <a:pt x="393347" y="260564"/>
                </a:lnTo>
                <a:lnTo>
                  <a:pt x="395264" y="261648"/>
                </a:lnTo>
                <a:lnTo>
                  <a:pt x="397265" y="262981"/>
                </a:lnTo>
                <a:lnTo>
                  <a:pt x="430451" y="262981"/>
                </a:lnTo>
                <a:lnTo>
                  <a:pt x="425805" y="266649"/>
                </a:lnTo>
                <a:lnTo>
                  <a:pt x="282069" y="266649"/>
                </a:lnTo>
                <a:lnTo>
                  <a:pt x="282069" y="274234"/>
                </a:lnTo>
                <a:close/>
              </a:path>
              <a:path w="484504" h="374015">
                <a:moveTo>
                  <a:pt x="432186" y="206810"/>
                </a:moveTo>
                <a:lnTo>
                  <a:pt x="311697" y="206810"/>
                </a:lnTo>
                <a:lnTo>
                  <a:pt x="334916" y="205832"/>
                </a:lnTo>
                <a:lnTo>
                  <a:pt x="350383" y="199149"/>
                </a:lnTo>
                <a:lnTo>
                  <a:pt x="356004" y="182628"/>
                </a:lnTo>
                <a:lnTo>
                  <a:pt x="351344" y="167081"/>
                </a:lnTo>
                <a:lnTo>
                  <a:pt x="337479" y="160591"/>
                </a:lnTo>
                <a:lnTo>
                  <a:pt x="314580" y="159431"/>
                </a:lnTo>
                <a:lnTo>
                  <a:pt x="436864" y="159431"/>
                </a:lnTo>
                <a:lnTo>
                  <a:pt x="440942" y="173876"/>
                </a:lnTo>
                <a:lnTo>
                  <a:pt x="432186" y="206810"/>
                </a:lnTo>
                <a:close/>
              </a:path>
              <a:path w="484504" h="374015">
                <a:moveTo>
                  <a:pt x="414406" y="285070"/>
                </a:moveTo>
                <a:lnTo>
                  <a:pt x="282069" y="285070"/>
                </a:lnTo>
                <a:lnTo>
                  <a:pt x="292961" y="284880"/>
                </a:lnTo>
                <a:lnTo>
                  <a:pt x="303627" y="284424"/>
                </a:lnTo>
                <a:lnTo>
                  <a:pt x="314058" y="283687"/>
                </a:lnTo>
                <a:lnTo>
                  <a:pt x="324247" y="282653"/>
                </a:lnTo>
                <a:lnTo>
                  <a:pt x="320593" y="277515"/>
                </a:lnTo>
                <a:lnTo>
                  <a:pt x="316026" y="272307"/>
                </a:lnTo>
                <a:lnTo>
                  <a:pt x="310567" y="268270"/>
                </a:lnTo>
                <a:lnTo>
                  <a:pt x="304242" y="266649"/>
                </a:lnTo>
                <a:lnTo>
                  <a:pt x="425805" y="266649"/>
                </a:lnTo>
                <a:lnTo>
                  <a:pt x="410601" y="278652"/>
                </a:lnTo>
                <a:lnTo>
                  <a:pt x="414406" y="285070"/>
                </a:lnTo>
                <a:close/>
              </a:path>
              <a:path w="484504" h="374015">
                <a:moveTo>
                  <a:pt x="466782" y="373425"/>
                </a:moveTo>
                <a:lnTo>
                  <a:pt x="373425" y="373425"/>
                </a:lnTo>
                <a:lnTo>
                  <a:pt x="340000" y="310576"/>
                </a:lnTo>
                <a:lnTo>
                  <a:pt x="429526" y="310576"/>
                </a:lnTo>
                <a:lnTo>
                  <a:pt x="466782" y="373425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14400" y="1619250"/>
            <a:ext cx="4657725" cy="43815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69850" rIns="0" bIns="0" rtlCol="0" vert="horz">
            <a:spAutoFit/>
          </a:bodyPr>
          <a:lstStyle/>
          <a:p>
            <a:pPr marL="86360">
              <a:lnSpc>
                <a:spcPts val="1300"/>
              </a:lnSpc>
              <a:spcBef>
                <a:spcPts val="550"/>
              </a:spcBef>
            </a:pP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numpy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100" spc="-1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np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40"/>
              </a:lnSpc>
            </a:pP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100" spc="-1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60"/>
              </a:lnSpc>
            </a:pP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from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statsmodels.tsa.stattools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import</a:t>
            </a:r>
            <a:r>
              <a:rPr dirty="0" sz="1100" spc="-1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pacf</a:t>
            </a:r>
            <a:endParaRPr sz="1100">
              <a:latin typeface="Courier New"/>
              <a:cs typeface="Courier New"/>
            </a:endParaRPr>
          </a:p>
          <a:p>
            <a:pPr marL="253365" indent="-167640">
              <a:lnSpc>
                <a:spcPts val="1260"/>
              </a:lnSpc>
              <a:spcBef>
                <a:spcPts val="1080"/>
              </a:spcBef>
              <a:buChar char="❖"/>
              <a:tabLst>
                <a:tab pos="254000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generate a random time</a:t>
            </a:r>
            <a:r>
              <a:rPr dirty="0" sz="1100" spc="-1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series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40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np.random.seed(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2025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95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ts = np.random.normal(size=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100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 loc=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50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scale=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10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253365" indent="-167640">
              <a:lnSpc>
                <a:spcPts val="1260"/>
              </a:lnSpc>
              <a:spcBef>
                <a:spcPts val="1080"/>
              </a:spcBef>
              <a:buChar char="❖"/>
              <a:tabLst>
                <a:tab pos="254000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computing the PACF using different</a:t>
            </a:r>
            <a:r>
              <a:rPr dirty="0" sz="110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methods</a:t>
            </a:r>
            <a:endParaRPr sz="1100">
              <a:latin typeface="Courier New"/>
              <a:cs typeface="Courier New"/>
            </a:endParaRPr>
          </a:p>
          <a:p>
            <a:pPr marL="420370" marR="2561590" indent="-334010">
              <a:lnSpc>
                <a:spcPts val="1270"/>
              </a:lnSpc>
              <a:spcBef>
                <a:spcPts val="2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pacf_df =</a:t>
            </a:r>
            <a:r>
              <a:rPr dirty="0" sz="1100" spc="-7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pd.DataFrame({ 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'lag'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100" spc="-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range(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13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),</a:t>
            </a:r>
            <a:endParaRPr sz="1100">
              <a:latin typeface="Courier New"/>
              <a:cs typeface="Courier New"/>
            </a:endParaRPr>
          </a:p>
          <a:p>
            <a:pPr marL="420370" marR="893444">
              <a:lnSpc>
                <a:spcPct val="93800"/>
              </a:lnSpc>
              <a:spcBef>
                <a:spcPts val="5"/>
              </a:spcBef>
            </a:pP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'yw'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: pacf(ts, nlags=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 method=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'yw'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), 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'ld'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: pacf(ts, nlags=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 method=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'ld'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), 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'ywm'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: pacf(ts, nlags=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5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method=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'ywm'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),</a:t>
            </a:r>
            <a:endParaRPr sz="1100">
              <a:latin typeface="Courier New"/>
              <a:cs typeface="Courier New"/>
            </a:endParaRPr>
          </a:p>
          <a:p>
            <a:pPr marL="420370">
              <a:lnSpc>
                <a:spcPts val="1255"/>
              </a:lnSpc>
            </a:pP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'ldb'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: pacf(ts, nlags=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1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method=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'ldb'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95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})</a:t>
            </a:r>
            <a:endParaRPr sz="1100">
              <a:latin typeface="Courier New"/>
              <a:cs typeface="Courier New"/>
            </a:endParaRPr>
          </a:p>
          <a:p>
            <a:pPr marL="253365" indent="-167640">
              <a:lnSpc>
                <a:spcPts val="1295"/>
              </a:lnSpc>
              <a:spcBef>
                <a:spcPts val="1005"/>
              </a:spcBef>
              <a:buChar char="❖"/>
              <a:tabLst>
                <a:tab pos="254000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print the</a:t>
            </a:r>
            <a:r>
              <a:rPr dirty="0" sz="1100" spc="-1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results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95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pacf_df</a:t>
            </a:r>
            <a:endParaRPr sz="1100">
              <a:latin typeface="Courier New"/>
              <a:cs typeface="Courier New"/>
            </a:endParaRPr>
          </a:p>
          <a:p>
            <a:pPr marL="253365" indent="-167640">
              <a:lnSpc>
                <a:spcPts val="1260"/>
              </a:lnSpc>
              <a:spcBef>
                <a:spcPts val="1080"/>
              </a:spcBef>
              <a:buChar char="❖"/>
              <a:tabLst>
                <a:tab pos="254000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save the original ts to reuse in</a:t>
            </a:r>
            <a:r>
              <a:rPr dirty="0" sz="110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R</a:t>
            </a:r>
            <a:endParaRPr sz="1100">
              <a:latin typeface="Courier New"/>
              <a:cs typeface="Courier New"/>
            </a:endParaRPr>
          </a:p>
          <a:p>
            <a:pPr marL="253365" marR="1310640" indent="-167005">
              <a:lnSpc>
                <a:spcPts val="1280"/>
              </a:lnSpc>
              <a:spcBef>
                <a:spcPts val="1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pd.DataFrame({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'ts'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: ts}).to_csv( 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'../../data/sim_ts.csv'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5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index=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False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253365" indent="-167640">
              <a:lnSpc>
                <a:spcPts val="1295"/>
              </a:lnSpc>
              <a:spcBef>
                <a:spcPts val="965"/>
              </a:spcBef>
              <a:buChar char="❖"/>
              <a:tabLst>
                <a:tab pos="254000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save the PACF results to reuse in</a:t>
            </a:r>
            <a:r>
              <a:rPr dirty="0" sz="1100" spc="-2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R</a:t>
            </a:r>
            <a:endParaRPr sz="1100">
              <a:latin typeface="Courier New"/>
              <a:cs typeface="Courier New"/>
            </a:endParaRPr>
          </a:p>
          <a:p>
            <a:pPr marL="253365" marR="810260" indent="-167005">
              <a:lnSpc>
                <a:spcPts val="1280"/>
              </a:lnSpc>
              <a:spcBef>
                <a:spcPts val="5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pacf_df.to_csv( 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'../../data/pacf_results.csv'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4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index=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False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62624" y="1619250"/>
            <a:ext cx="4848225" cy="2409825"/>
          </a:xfrm>
          <a:custGeom>
            <a:avLst/>
            <a:gdLst/>
            <a:ahLst/>
            <a:cxnLst/>
            <a:rect l="l" t="t" r="r" b="b"/>
            <a:pathLst>
              <a:path w="4848225" h="2409825">
                <a:moveTo>
                  <a:pt x="0" y="0"/>
                </a:moveTo>
                <a:lnTo>
                  <a:pt x="4848224" y="0"/>
                </a:lnTo>
                <a:lnTo>
                  <a:pt x="4848224" y="2409824"/>
                </a:lnTo>
                <a:lnTo>
                  <a:pt x="0" y="240982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817641" y="1687845"/>
          <a:ext cx="4232910" cy="2256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029"/>
                <a:gridCol w="291464"/>
                <a:gridCol w="374650"/>
                <a:gridCol w="833119"/>
                <a:gridCol w="833119"/>
                <a:gridCol w="833119"/>
                <a:gridCol w="822960"/>
              </a:tblGrid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ts val="1165"/>
                        </a:lnSpc>
                        <a:spcBef>
                          <a:spcPts val="10"/>
                        </a:spcBef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74650">
                        <a:lnSpc>
                          <a:spcPts val="1165"/>
                        </a:lnSpc>
                        <a:spcBef>
                          <a:spcPts val="10"/>
                        </a:spcBef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lag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65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yw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65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ld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65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ywm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65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ldb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</a:tr>
              <a:tr h="166230">
                <a:tc>
                  <a:txBody>
                    <a:bodyPr/>
                    <a:lstStyle/>
                    <a:p>
                      <a:pPr marL="31750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</a:tr>
              <a:tr h="157162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-0.117735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-0.117735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0.026043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0.026043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0.025514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0.025514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0.106935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0.106935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0.103698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0.103698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57162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-0.058773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-0.058773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-0.056358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-0.056358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57162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0.026731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0.026731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0.025363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0.025363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-0.056340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-0.056340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-0.052902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-0.052902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61924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-0.043437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-0.043437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-0.040357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-0.040357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61924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0.103929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0.103929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0.095361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0.095361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57162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-0.032238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-0.032238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-0.029049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-0.029049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57162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4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-0.137204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-0.137204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-0.123049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-0.123049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0.114837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0.114837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0.100998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0.100998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70993">
                <a:tc>
                  <a:txBody>
                    <a:bodyPr/>
                    <a:lstStyle/>
                    <a:p>
                      <a:pPr marL="31750">
                        <a:lnSpc>
                          <a:spcPts val="124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24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24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0.052926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24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0.052926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24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0.046414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4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0.046414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5140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solidFill>
                  <a:srgbClr val="C2132D"/>
                </a:solidFill>
              </a:rPr>
              <a:t>Verifying </a:t>
            </a:r>
            <a:r>
              <a:rPr dirty="0" sz="3350" spc="-50">
                <a:solidFill>
                  <a:srgbClr val="C2132D"/>
                </a:solidFill>
              </a:rPr>
              <a:t>PACF </a:t>
            </a:r>
            <a:r>
              <a:rPr dirty="0" sz="3350" spc="10">
                <a:solidFill>
                  <a:srgbClr val="C2132D"/>
                </a:solidFill>
              </a:rPr>
              <a:t>Computations in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r>
              <a:rPr dirty="0" sz="3200" spc="-110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3350" spc="15">
                <a:solidFill>
                  <a:srgbClr val="C2132D"/>
                </a:solidFill>
              </a:rPr>
              <a:t>&amp;</a:t>
            </a:r>
            <a:endParaRPr sz="33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4890" y="1387475"/>
            <a:ext cx="497459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Computations and Combining</a:t>
            </a:r>
            <a:r>
              <a:rPr dirty="0" sz="2600" spc="-40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Results</a:t>
            </a:r>
            <a:endParaRPr sz="2600">
              <a:latin typeface="Roboto Condensed"/>
              <a:cs typeface="Roboto Condense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4206875"/>
            <a:ext cx="640334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The Combined Results </a:t>
            </a:r>
            <a:r>
              <a:rPr dirty="0" sz="2600">
                <a:solidFill>
                  <a:srgbClr val="C2132D"/>
                </a:solidFill>
                <a:latin typeface="Roboto Condensed"/>
                <a:cs typeface="Roboto Condensed"/>
              </a:rPr>
              <a:t>from </a:t>
            </a:r>
            <a:r>
              <a:rPr dirty="0" sz="2500" spc="-5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r>
              <a:rPr dirty="0" sz="2500" spc="-93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and</a:t>
            </a:r>
            <a:endParaRPr sz="2600">
              <a:latin typeface="Roboto Condensed"/>
              <a:cs typeface="Roboto Condense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5949" y="627674"/>
            <a:ext cx="484505" cy="374015"/>
          </a:xfrm>
          <a:custGeom>
            <a:avLst/>
            <a:gdLst/>
            <a:ahLst/>
            <a:cxnLst/>
            <a:rect l="l" t="t" r="r" b="b"/>
            <a:pathLst>
              <a:path w="484504" h="374015">
                <a:moveTo>
                  <a:pt x="282153" y="373425"/>
                </a:moveTo>
                <a:lnTo>
                  <a:pt x="199549" y="373425"/>
                </a:lnTo>
                <a:lnTo>
                  <a:pt x="199549" y="321829"/>
                </a:lnTo>
                <a:lnTo>
                  <a:pt x="145377" y="310891"/>
                </a:lnTo>
                <a:lnTo>
                  <a:pt x="97394" y="292226"/>
                </a:lnTo>
                <a:lnTo>
                  <a:pt x="57232" y="266930"/>
                </a:lnTo>
                <a:lnTo>
                  <a:pt x="26525" y="236098"/>
                </a:lnTo>
                <a:lnTo>
                  <a:pt x="6903" y="200825"/>
                </a:lnTo>
                <a:lnTo>
                  <a:pt x="0" y="162206"/>
                </a:lnTo>
                <a:lnTo>
                  <a:pt x="6396" y="125007"/>
                </a:lnTo>
                <a:lnTo>
                  <a:pt x="24617" y="90863"/>
                </a:lnTo>
                <a:lnTo>
                  <a:pt x="53206" y="60745"/>
                </a:lnTo>
                <a:lnTo>
                  <a:pt x="90708" y="35628"/>
                </a:lnTo>
                <a:lnTo>
                  <a:pt x="135668" y="16483"/>
                </a:lnTo>
                <a:lnTo>
                  <a:pt x="186632" y="4282"/>
                </a:lnTo>
                <a:lnTo>
                  <a:pt x="242143" y="0"/>
                </a:lnTo>
                <a:lnTo>
                  <a:pt x="297654" y="4282"/>
                </a:lnTo>
                <a:lnTo>
                  <a:pt x="348617" y="16483"/>
                </a:lnTo>
                <a:lnTo>
                  <a:pt x="393578" y="35628"/>
                </a:lnTo>
                <a:lnTo>
                  <a:pt x="431080" y="60745"/>
                </a:lnTo>
                <a:lnTo>
                  <a:pt x="433630" y="63432"/>
                </a:lnTo>
                <a:lnTo>
                  <a:pt x="279235" y="63432"/>
                </a:lnTo>
                <a:lnTo>
                  <a:pt x="221077" y="69080"/>
                </a:lnTo>
                <a:lnTo>
                  <a:pt x="170556" y="84811"/>
                </a:lnTo>
                <a:lnTo>
                  <a:pt x="130711" y="108803"/>
                </a:lnTo>
                <a:lnTo>
                  <a:pt x="104576" y="139237"/>
                </a:lnTo>
                <a:lnTo>
                  <a:pt x="95190" y="174293"/>
                </a:lnTo>
                <a:lnTo>
                  <a:pt x="102810" y="205955"/>
                </a:lnTo>
                <a:lnTo>
                  <a:pt x="124207" y="234047"/>
                </a:lnTo>
                <a:lnTo>
                  <a:pt x="157186" y="257247"/>
                </a:lnTo>
                <a:lnTo>
                  <a:pt x="199549" y="274234"/>
                </a:lnTo>
                <a:lnTo>
                  <a:pt x="282069" y="274234"/>
                </a:lnTo>
                <a:lnTo>
                  <a:pt x="282069" y="285070"/>
                </a:lnTo>
                <a:lnTo>
                  <a:pt x="414406" y="285070"/>
                </a:lnTo>
                <a:lnTo>
                  <a:pt x="429526" y="310576"/>
                </a:lnTo>
                <a:lnTo>
                  <a:pt x="340000" y="310576"/>
                </a:lnTo>
                <a:lnTo>
                  <a:pt x="326144" y="314356"/>
                </a:lnTo>
                <a:lnTo>
                  <a:pt x="311858" y="317557"/>
                </a:lnTo>
                <a:lnTo>
                  <a:pt x="297181" y="320165"/>
                </a:lnTo>
                <a:lnTo>
                  <a:pt x="282153" y="322163"/>
                </a:lnTo>
                <a:lnTo>
                  <a:pt x="282153" y="373425"/>
                </a:lnTo>
                <a:close/>
              </a:path>
              <a:path w="484504" h="374015">
                <a:moveTo>
                  <a:pt x="430451" y="262981"/>
                </a:moveTo>
                <a:lnTo>
                  <a:pt x="397265" y="262981"/>
                </a:lnTo>
                <a:lnTo>
                  <a:pt x="421823" y="247471"/>
                </a:lnTo>
                <a:lnTo>
                  <a:pt x="440254" y="227608"/>
                </a:lnTo>
                <a:lnTo>
                  <a:pt x="451841" y="203260"/>
                </a:lnTo>
                <a:lnTo>
                  <a:pt x="455862" y="174293"/>
                </a:lnTo>
                <a:lnTo>
                  <a:pt x="447248" y="133220"/>
                </a:lnTo>
                <a:lnTo>
                  <a:pt x="422953" y="102033"/>
                </a:lnTo>
                <a:lnTo>
                  <a:pt x="385303" y="80297"/>
                </a:lnTo>
                <a:lnTo>
                  <a:pt x="336622" y="67576"/>
                </a:lnTo>
                <a:lnTo>
                  <a:pt x="279235" y="63432"/>
                </a:lnTo>
                <a:lnTo>
                  <a:pt x="433630" y="63432"/>
                </a:lnTo>
                <a:lnTo>
                  <a:pt x="459669" y="90863"/>
                </a:lnTo>
                <a:lnTo>
                  <a:pt x="477889" y="125007"/>
                </a:lnTo>
                <a:lnTo>
                  <a:pt x="484286" y="162206"/>
                </a:lnTo>
                <a:lnTo>
                  <a:pt x="479161" y="195522"/>
                </a:lnTo>
                <a:lnTo>
                  <a:pt x="464479" y="226493"/>
                </a:lnTo>
                <a:lnTo>
                  <a:pt x="441279" y="254432"/>
                </a:lnTo>
                <a:lnTo>
                  <a:pt x="430451" y="262981"/>
                </a:lnTo>
                <a:close/>
              </a:path>
              <a:path w="484504" h="374015">
                <a:moveTo>
                  <a:pt x="282069" y="274234"/>
                </a:moveTo>
                <a:lnTo>
                  <a:pt x="199549" y="274234"/>
                </a:lnTo>
                <a:lnTo>
                  <a:pt x="199549" y="100608"/>
                </a:lnTo>
                <a:lnTo>
                  <a:pt x="365423" y="100608"/>
                </a:lnTo>
                <a:lnTo>
                  <a:pt x="377223" y="101940"/>
                </a:lnTo>
                <a:lnTo>
                  <a:pt x="403183" y="110266"/>
                </a:lnTo>
                <a:lnTo>
                  <a:pt x="429142" y="132080"/>
                </a:lnTo>
                <a:lnTo>
                  <a:pt x="436864" y="159431"/>
                </a:lnTo>
                <a:lnTo>
                  <a:pt x="314580" y="159431"/>
                </a:lnTo>
                <a:lnTo>
                  <a:pt x="282820" y="159872"/>
                </a:lnTo>
                <a:lnTo>
                  <a:pt x="282820" y="206217"/>
                </a:lnTo>
                <a:lnTo>
                  <a:pt x="311697" y="206810"/>
                </a:lnTo>
                <a:lnTo>
                  <a:pt x="432186" y="206810"/>
                </a:lnTo>
                <a:lnTo>
                  <a:pt x="429663" y="216297"/>
                </a:lnTo>
                <a:lnTo>
                  <a:pt x="404850" y="239486"/>
                </a:lnTo>
                <a:lnTo>
                  <a:pt x="380036" y="249188"/>
                </a:lnTo>
                <a:lnTo>
                  <a:pt x="368758" y="251145"/>
                </a:lnTo>
                <a:lnTo>
                  <a:pt x="383428" y="255563"/>
                </a:lnTo>
                <a:lnTo>
                  <a:pt x="391930" y="259897"/>
                </a:lnTo>
                <a:lnTo>
                  <a:pt x="393347" y="260564"/>
                </a:lnTo>
                <a:lnTo>
                  <a:pt x="395264" y="261648"/>
                </a:lnTo>
                <a:lnTo>
                  <a:pt x="397265" y="262981"/>
                </a:lnTo>
                <a:lnTo>
                  <a:pt x="430451" y="262981"/>
                </a:lnTo>
                <a:lnTo>
                  <a:pt x="425805" y="266649"/>
                </a:lnTo>
                <a:lnTo>
                  <a:pt x="282069" y="266649"/>
                </a:lnTo>
                <a:lnTo>
                  <a:pt x="282069" y="274234"/>
                </a:lnTo>
                <a:close/>
              </a:path>
              <a:path w="484504" h="374015">
                <a:moveTo>
                  <a:pt x="432186" y="206810"/>
                </a:moveTo>
                <a:lnTo>
                  <a:pt x="311697" y="206810"/>
                </a:lnTo>
                <a:lnTo>
                  <a:pt x="334916" y="205832"/>
                </a:lnTo>
                <a:lnTo>
                  <a:pt x="350383" y="199149"/>
                </a:lnTo>
                <a:lnTo>
                  <a:pt x="356004" y="182628"/>
                </a:lnTo>
                <a:lnTo>
                  <a:pt x="351344" y="167081"/>
                </a:lnTo>
                <a:lnTo>
                  <a:pt x="337479" y="160591"/>
                </a:lnTo>
                <a:lnTo>
                  <a:pt x="314580" y="159431"/>
                </a:lnTo>
                <a:lnTo>
                  <a:pt x="436864" y="159431"/>
                </a:lnTo>
                <a:lnTo>
                  <a:pt x="440942" y="173876"/>
                </a:lnTo>
                <a:lnTo>
                  <a:pt x="432186" y="206810"/>
                </a:lnTo>
                <a:close/>
              </a:path>
              <a:path w="484504" h="374015">
                <a:moveTo>
                  <a:pt x="414406" y="285070"/>
                </a:moveTo>
                <a:lnTo>
                  <a:pt x="282069" y="285070"/>
                </a:lnTo>
                <a:lnTo>
                  <a:pt x="292961" y="284880"/>
                </a:lnTo>
                <a:lnTo>
                  <a:pt x="303627" y="284424"/>
                </a:lnTo>
                <a:lnTo>
                  <a:pt x="314058" y="283687"/>
                </a:lnTo>
                <a:lnTo>
                  <a:pt x="324247" y="282653"/>
                </a:lnTo>
                <a:lnTo>
                  <a:pt x="320593" y="277515"/>
                </a:lnTo>
                <a:lnTo>
                  <a:pt x="316026" y="272307"/>
                </a:lnTo>
                <a:lnTo>
                  <a:pt x="310567" y="268270"/>
                </a:lnTo>
                <a:lnTo>
                  <a:pt x="304242" y="266649"/>
                </a:lnTo>
                <a:lnTo>
                  <a:pt x="425805" y="266649"/>
                </a:lnTo>
                <a:lnTo>
                  <a:pt x="410601" y="278652"/>
                </a:lnTo>
                <a:lnTo>
                  <a:pt x="414406" y="285070"/>
                </a:lnTo>
                <a:close/>
              </a:path>
              <a:path w="484504" h="374015">
                <a:moveTo>
                  <a:pt x="466782" y="373425"/>
                </a:moveTo>
                <a:lnTo>
                  <a:pt x="373425" y="373425"/>
                </a:lnTo>
                <a:lnTo>
                  <a:pt x="340000" y="310576"/>
                </a:lnTo>
                <a:lnTo>
                  <a:pt x="429526" y="310576"/>
                </a:lnTo>
                <a:lnTo>
                  <a:pt x="466782" y="373425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1469259"/>
            <a:ext cx="377190" cy="290830"/>
          </a:xfrm>
          <a:custGeom>
            <a:avLst/>
            <a:gdLst/>
            <a:ahLst/>
            <a:cxnLst/>
            <a:rect l="l" t="t" r="r" b="b"/>
            <a:pathLst>
              <a:path w="377190" h="290830">
                <a:moveTo>
                  <a:pt x="219462" y="290455"/>
                </a:moveTo>
                <a:lnTo>
                  <a:pt x="155211" y="290455"/>
                </a:lnTo>
                <a:lnTo>
                  <a:pt x="155211" y="250323"/>
                </a:lnTo>
                <a:lnTo>
                  <a:pt x="105186" y="239365"/>
                </a:lnTo>
                <a:lnTo>
                  <a:pt x="62458" y="219998"/>
                </a:lnTo>
                <a:lnTo>
                  <a:pt x="29221" y="193695"/>
                </a:lnTo>
                <a:lnTo>
                  <a:pt x="7671" y="161927"/>
                </a:lnTo>
                <a:lnTo>
                  <a:pt x="0" y="126166"/>
                </a:lnTo>
                <a:lnTo>
                  <a:pt x="9604" y="86281"/>
                </a:lnTo>
                <a:lnTo>
                  <a:pt x="36346" y="51647"/>
                </a:lnTo>
                <a:lnTo>
                  <a:pt x="77120" y="24338"/>
                </a:lnTo>
                <a:lnTo>
                  <a:pt x="128820" y="6430"/>
                </a:lnTo>
                <a:lnTo>
                  <a:pt x="188341" y="0"/>
                </a:lnTo>
                <a:lnTo>
                  <a:pt x="247862" y="6430"/>
                </a:lnTo>
                <a:lnTo>
                  <a:pt x="299563" y="24338"/>
                </a:lnTo>
                <a:lnTo>
                  <a:pt x="336890" y="49338"/>
                </a:lnTo>
                <a:lnTo>
                  <a:pt x="217192" y="49338"/>
                </a:lnTo>
                <a:lnTo>
                  <a:pt x="161483" y="56110"/>
                </a:lnTo>
                <a:lnTo>
                  <a:pt x="115979" y="74583"/>
                </a:lnTo>
                <a:lnTo>
                  <a:pt x="85293" y="101990"/>
                </a:lnTo>
                <a:lnTo>
                  <a:pt x="74040" y="135567"/>
                </a:lnTo>
                <a:lnTo>
                  <a:pt x="79967" y="160195"/>
                </a:lnTo>
                <a:lnTo>
                  <a:pt x="96610" y="182045"/>
                </a:lnTo>
                <a:lnTo>
                  <a:pt x="122261" y="200090"/>
                </a:lnTo>
                <a:lnTo>
                  <a:pt x="155211" y="213302"/>
                </a:lnTo>
                <a:lnTo>
                  <a:pt x="219397" y="213302"/>
                </a:lnTo>
                <a:lnTo>
                  <a:pt x="219397" y="221731"/>
                </a:lnTo>
                <a:lnTo>
                  <a:pt x="322330" y="221731"/>
                </a:lnTo>
                <a:lnTo>
                  <a:pt x="334090" y="241570"/>
                </a:lnTo>
                <a:lnTo>
                  <a:pt x="264456" y="241570"/>
                </a:lnTo>
                <a:lnTo>
                  <a:pt x="253679" y="244510"/>
                </a:lnTo>
                <a:lnTo>
                  <a:pt x="242567" y="247000"/>
                </a:lnTo>
                <a:lnTo>
                  <a:pt x="231151" y="249028"/>
                </a:lnTo>
                <a:lnTo>
                  <a:pt x="219462" y="250582"/>
                </a:lnTo>
                <a:lnTo>
                  <a:pt x="219462" y="290455"/>
                </a:lnTo>
                <a:close/>
              </a:path>
              <a:path w="377190" h="290830">
                <a:moveTo>
                  <a:pt x="334810" y="204550"/>
                </a:moveTo>
                <a:lnTo>
                  <a:pt x="308997" y="204550"/>
                </a:lnTo>
                <a:lnTo>
                  <a:pt x="328099" y="192486"/>
                </a:lnTo>
                <a:lnTo>
                  <a:pt x="342435" y="177036"/>
                </a:lnTo>
                <a:lnTo>
                  <a:pt x="351447" y="158098"/>
                </a:lnTo>
                <a:lnTo>
                  <a:pt x="354575" y="135567"/>
                </a:lnTo>
                <a:lnTo>
                  <a:pt x="344223" y="96848"/>
                </a:lnTo>
                <a:lnTo>
                  <a:pt x="315521" y="70012"/>
                </a:lnTo>
                <a:lnTo>
                  <a:pt x="272000" y="54396"/>
                </a:lnTo>
                <a:lnTo>
                  <a:pt x="217192" y="49338"/>
                </a:lnTo>
                <a:lnTo>
                  <a:pt x="336890" y="49338"/>
                </a:lnTo>
                <a:lnTo>
                  <a:pt x="340337" y="51647"/>
                </a:lnTo>
                <a:lnTo>
                  <a:pt x="367079" y="86281"/>
                </a:lnTo>
                <a:lnTo>
                  <a:pt x="376683" y="126166"/>
                </a:lnTo>
                <a:lnTo>
                  <a:pt x="372697" y="152079"/>
                </a:lnTo>
                <a:lnTo>
                  <a:pt x="361277" y="176169"/>
                </a:lnTo>
                <a:lnTo>
                  <a:pt x="343232" y="197900"/>
                </a:lnTo>
                <a:lnTo>
                  <a:pt x="334810" y="204550"/>
                </a:lnTo>
                <a:close/>
              </a:path>
              <a:path w="377190" h="290830">
                <a:moveTo>
                  <a:pt x="219397" y="213302"/>
                </a:moveTo>
                <a:lnTo>
                  <a:pt x="155211" y="213302"/>
                </a:lnTo>
                <a:lnTo>
                  <a:pt x="155211" y="78254"/>
                </a:lnTo>
                <a:lnTo>
                  <a:pt x="284231" y="78254"/>
                </a:lnTo>
                <a:lnTo>
                  <a:pt x="293409" y="79290"/>
                </a:lnTo>
                <a:lnTo>
                  <a:pt x="313600" y="85766"/>
                </a:lnTo>
                <a:lnTo>
                  <a:pt x="333792" y="102734"/>
                </a:lnTo>
                <a:lnTo>
                  <a:pt x="339798" y="124007"/>
                </a:lnTo>
                <a:lnTo>
                  <a:pt x="244684" y="124007"/>
                </a:lnTo>
                <a:lnTo>
                  <a:pt x="219980" y="124351"/>
                </a:lnTo>
                <a:lnTo>
                  <a:pt x="219980" y="160398"/>
                </a:lnTo>
                <a:lnTo>
                  <a:pt x="242441" y="160859"/>
                </a:lnTo>
                <a:lnTo>
                  <a:pt x="336159" y="160859"/>
                </a:lnTo>
                <a:lnTo>
                  <a:pt x="334197" y="168238"/>
                </a:lnTo>
                <a:lnTo>
                  <a:pt x="314897" y="186275"/>
                </a:lnTo>
                <a:lnTo>
                  <a:pt x="295597" y="193821"/>
                </a:lnTo>
                <a:lnTo>
                  <a:pt x="286824" y="195344"/>
                </a:lnTo>
                <a:lnTo>
                  <a:pt x="298235" y="198780"/>
                </a:lnTo>
                <a:lnTo>
                  <a:pt x="304848" y="202151"/>
                </a:lnTo>
                <a:lnTo>
                  <a:pt x="305950" y="202670"/>
                </a:lnTo>
                <a:lnTo>
                  <a:pt x="307441" y="203513"/>
                </a:lnTo>
                <a:lnTo>
                  <a:pt x="308997" y="204550"/>
                </a:lnTo>
                <a:lnTo>
                  <a:pt x="334810" y="204550"/>
                </a:lnTo>
                <a:lnTo>
                  <a:pt x="331196" y="207403"/>
                </a:lnTo>
                <a:lnTo>
                  <a:pt x="219397" y="207403"/>
                </a:lnTo>
                <a:lnTo>
                  <a:pt x="219397" y="213302"/>
                </a:lnTo>
                <a:close/>
              </a:path>
              <a:path w="377190" h="290830">
                <a:moveTo>
                  <a:pt x="336159" y="160859"/>
                </a:moveTo>
                <a:lnTo>
                  <a:pt x="242441" y="160859"/>
                </a:lnTo>
                <a:lnTo>
                  <a:pt x="260501" y="160098"/>
                </a:lnTo>
                <a:lnTo>
                  <a:pt x="272532" y="154900"/>
                </a:lnTo>
                <a:lnTo>
                  <a:pt x="276904" y="142050"/>
                </a:lnTo>
                <a:lnTo>
                  <a:pt x="273280" y="129958"/>
                </a:lnTo>
                <a:lnTo>
                  <a:pt x="262495" y="124910"/>
                </a:lnTo>
                <a:lnTo>
                  <a:pt x="244684" y="124007"/>
                </a:lnTo>
                <a:lnTo>
                  <a:pt x="339798" y="124007"/>
                </a:lnTo>
                <a:lnTo>
                  <a:pt x="342970" y="135243"/>
                </a:lnTo>
                <a:lnTo>
                  <a:pt x="336159" y="160859"/>
                </a:lnTo>
                <a:close/>
              </a:path>
              <a:path w="377190" h="290830">
                <a:moveTo>
                  <a:pt x="322330" y="221731"/>
                </a:moveTo>
                <a:lnTo>
                  <a:pt x="219397" y="221731"/>
                </a:lnTo>
                <a:lnTo>
                  <a:pt x="227869" y="221583"/>
                </a:lnTo>
                <a:lnTo>
                  <a:pt x="236164" y="221228"/>
                </a:lnTo>
                <a:lnTo>
                  <a:pt x="244278" y="220655"/>
                </a:lnTo>
                <a:lnTo>
                  <a:pt x="252203" y="219851"/>
                </a:lnTo>
                <a:lnTo>
                  <a:pt x="248896" y="214988"/>
                </a:lnTo>
                <a:lnTo>
                  <a:pt x="243645" y="207403"/>
                </a:lnTo>
                <a:lnTo>
                  <a:pt x="331196" y="207403"/>
                </a:lnTo>
                <a:lnTo>
                  <a:pt x="319370" y="216739"/>
                </a:lnTo>
                <a:lnTo>
                  <a:pt x="322330" y="221731"/>
                </a:lnTo>
                <a:close/>
              </a:path>
              <a:path w="377190" h="290830">
                <a:moveTo>
                  <a:pt x="363068" y="290455"/>
                </a:moveTo>
                <a:lnTo>
                  <a:pt x="290455" y="290455"/>
                </a:lnTo>
                <a:lnTo>
                  <a:pt x="264456" y="241570"/>
                </a:lnTo>
                <a:lnTo>
                  <a:pt x="334090" y="241570"/>
                </a:lnTo>
                <a:lnTo>
                  <a:pt x="363068" y="290455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14400" y="2152650"/>
            <a:ext cx="9696450" cy="17621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7950">
              <a:lnSpc>
                <a:spcPts val="1600"/>
              </a:lnSpc>
              <a:spcBef>
                <a:spcPts val="67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ts =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read.csv(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'../../data/sim_ts.csv'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5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pacf_results =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read.csv(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'../../data/pacf_results.csv'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316865" indent="-209550">
              <a:lnSpc>
                <a:spcPts val="1650"/>
              </a:lnSpc>
              <a:spcBef>
                <a:spcPts val="1255"/>
              </a:spcBef>
              <a:buChar char="❖"/>
              <a:tabLst>
                <a:tab pos="317500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r uses biased implementation of Yule-Walker and does not include lag</a:t>
            </a:r>
            <a:r>
              <a:rPr dirty="0" sz="1400" spc="-4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  <a:p>
            <a:pPr marL="107950" marR="4159250">
              <a:lnSpc>
                <a:spcPts val="1570"/>
              </a:lnSpc>
              <a:spcBef>
                <a:spcPts val="6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pacf_r = pacf(ts$ts, lag.max=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plot=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  pacf_results$r = c(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pacf_r[[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]])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 prefix w/ lag</a:t>
            </a:r>
            <a:r>
              <a:rPr dirty="0" sz="1400" spc="-9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  <a:p>
            <a:pPr marL="107950">
              <a:lnSpc>
                <a:spcPct val="100000"/>
              </a:lnSpc>
              <a:spcBef>
                <a:spcPts val="126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pacf_results[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6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,]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72350" y="4279134"/>
            <a:ext cx="377190" cy="290830"/>
          </a:xfrm>
          <a:custGeom>
            <a:avLst/>
            <a:gdLst/>
            <a:ahLst/>
            <a:cxnLst/>
            <a:rect l="l" t="t" r="r" b="b"/>
            <a:pathLst>
              <a:path w="377190" h="290829">
                <a:moveTo>
                  <a:pt x="219462" y="290455"/>
                </a:moveTo>
                <a:lnTo>
                  <a:pt x="155211" y="290455"/>
                </a:lnTo>
                <a:lnTo>
                  <a:pt x="155211" y="250323"/>
                </a:lnTo>
                <a:lnTo>
                  <a:pt x="105186" y="239365"/>
                </a:lnTo>
                <a:lnTo>
                  <a:pt x="62458" y="219998"/>
                </a:lnTo>
                <a:lnTo>
                  <a:pt x="29221" y="193695"/>
                </a:lnTo>
                <a:lnTo>
                  <a:pt x="7671" y="161927"/>
                </a:lnTo>
                <a:lnTo>
                  <a:pt x="0" y="126166"/>
                </a:lnTo>
                <a:lnTo>
                  <a:pt x="9604" y="86281"/>
                </a:lnTo>
                <a:lnTo>
                  <a:pt x="36346" y="51647"/>
                </a:lnTo>
                <a:lnTo>
                  <a:pt x="77120" y="24338"/>
                </a:lnTo>
                <a:lnTo>
                  <a:pt x="128820" y="6430"/>
                </a:lnTo>
                <a:lnTo>
                  <a:pt x="188341" y="0"/>
                </a:lnTo>
                <a:lnTo>
                  <a:pt x="247862" y="6430"/>
                </a:lnTo>
                <a:lnTo>
                  <a:pt x="299563" y="24338"/>
                </a:lnTo>
                <a:lnTo>
                  <a:pt x="336890" y="49338"/>
                </a:lnTo>
                <a:lnTo>
                  <a:pt x="217192" y="49338"/>
                </a:lnTo>
                <a:lnTo>
                  <a:pt x="161483" y="56110"/>
                </a:lnTo>
                <a:lnTo>
                  <a:pt x="115979" y="74583"/>
                </a:lnTo>
                <a:lnTo>
                  <a:pt x="85293" y="101990"/>
                </a:lnTo>
                <a:lnTo>
                  <a:pt x="74040" y="135567"/>
                </a:lnTo>
                <a:lnTo>
                  <a:pt x="79967" y="160195"/>
                </a:lnTo>
                <a:lnTo>
                  <a:pt x="96610" y="182045"/>
                </a:lnTo>
                <a:lnTo>
                  <a:pt x="122261" y="200090"/>
                </a:lnTo>
                <a:lnTo>
                  <a:pt x="155211" y="213302"/>
                </a:lnTo>
                <a:lnTo>
                  <a:pt x="219397" y="213302"/>
                </a:lnTo>
                <a:lnTo>
                  <a:pt x="219397" y="221731"/>
                </a:lnTo>
                <a:lnTo>
                  <a:pt x="322330" y="221731"/>
                </a:lnTo>
                <a:lnTo>
                  <a:pt x="334090" y="241570"/>
                </a:lnTo>
                <a:lnTo>
                  <a:pt x="264456" y="241570"/>
                </a:lnTo>
                <a:lnTo>
                  <a:pt x="253679" y="244510"/>
                </a:lnTo>
                <a:lnTo>
                  <a:pt x="242567" y="247000"/>
                </a:lnTo>
                <a:lnTo>
                  <a:pt x="231151" y="249028"/>
                </a:lnTo>
                <a:lnTo>
                  <a:pt x="219462" y="250582"/>
                </a:lnTo>
                <a:lnTo>
                  <a:pt x="219462" y="290455"/>
                </a:lnTo>
                <a:close/>
              </a:path>
              <a:path w="377190" h="290829">
                <a:moveTo>
                  <a:pt x="334810" y="204550"/>
                </a:moveTo>
                <a:lnTo>
                  <a:pt x="308997" y="204550"/>
                </a:lnTo>
                <a:lnTo>
                  <a:pt x="328099" y="192486"/>
                </a:lnTo>
                <a:lnTo>
                  <a:pt x="342435" y="177036"/>
                </a:lnTo>
                <a:lnTo>
                  <a:pt x="351447" y="158098"/>
                </a:lnTo>
                <a:lnTo>
                  <a:pt x="354575" y="135567"/>
                </a:lnTo>
                <a:lnTo>
                  <a:pt x="344223" y="96848"/>
                </a:lnTo>
                <a:lnTo>
                  <a:pt x="315521" y="70012"/>
                </a:lnTo>
                <a:lnTo>
                  <a:pt x="272000" y="54396"/>
                </a:lnTo>
                <a:lnTo>
                  <a:pt x="217192" y="49338"/>
                </a:lnTo>
                <a:lnTo>
                  <a:pt x="336890" y="49338"/>
                </a:lnTo>
                <a:lnTo>
                  <a:pt x="340337" y="51647"/>
                </a:lnTo>
                <a:lnTo>
                  <a:pt x="367079" y="86281"/>
                </a:lnTo>
                <a:lnTo>
                  <a:pt x="376683" y="126166"/>
                </a:lnTo>
                <a:lnTo>
                  <a:pt x="372697" y="152079"/>
                </a:lnTo>
                <a:lnTo>
                  <a:pt x="361277" y="176169"/>
                </a:lnTo>
                <a:lnTo>
                  <a:pt x="343232" y="197900"/>
                </a:lnTo>
                <a:lnTo>
                  <a:pt x="334810" y="204550"/>
                </a:lnTo>
                <a:close/>
              </a:path>
              <a:path w="377190" h="290829">
                <a:moveTo>
                  <a:pt x="219397" y="213302"/>
                </a:moveTo>
                <a:lnTo>
                  <a:pt x="155211" y="213302"/>
                </a:lnTo>
                <a:lnTo>
                  <a:pt x="155211" y="78254"/>
                </a:lnTo>
                <a:lnTo>
                  <a:pt x="284231" y="78254"/>
                </a:lnTo>
                <a:lnTo>
                  <a:pt x="293409" y="79290"/>
                </a:lnTo>
                <a:lnTo>
                  <a:pt x="313600" y="85766"/>
                </a:lnTo>
                <a:lnTo>
                  <a:pt x="333792" y="102734"/>
                </a:lnTo>
                <a:lnTo>
                  <a:pt x="339798" y="124007"/>
                </a:lnTo>
                <a:lnTo>
                  <a:pt x="244684" y="124007"/>
                </a:lnTo>
                <a:lnTo>
                  <a:pt x="219980" y="124351"/>
                </a:lnTo>
                <a:lnTo>
                  <a:pt x="219980" y="160398"/>
                </a:lnTo>
                <a:lnTo>
                  <a:pt x="242441" y="160859"/>
                </a:lnTo>
                <a:lnTo>
                  <a:pt x="336159" y="160859"/>
                </a:lnTo>
                <a:lnTo>
                  <a:pt x="334197" y="168238"/>
                </a:lnTo>
                <a:lnTo>
                  <a:pt x="314897" y="186275"/>
                </a:lnTo>
                <a:lnTo>
                  <a:pt x="295597" y="193821"/>
                </a:lnTo>
                <a:lnTo>
                  <a:pt x="286824" y="195344"/>
                </a:lnTo>
                <a:lnTo>
                  <a:pt x="298235" y="198780"/>
                </a:lnTo>
                <a:lnTo>
                  <a:pt x="304848" y="202151"/>
                </a:lnTo>
                <a:lnTo>
                  <a:pt x="305950" y="202670"/>
                </a:lnTo>
                <a:lnTo>
                  <a:pt x="307441" y="203513"/>
                </a:lnTo>
                <a:lnTo>
                  <a:pt x="308997" y="204550"/>
                </a:lnTo>
                <a:lnTo>
                  <a:pt x="334810" y="204550"/>
                </a:lnTo>
                <a:lnTo>
                  <a:pt x="331196" y="207403"/>
                </a:lnTo>
                <a:lnTo>
                  <a:pt x="219397" y="207403"/>
                </a:lnTo>
                <a:lnTo>
                  <a:pt x="219397" y="213302"/>
                </a:lnTo>
                <a:close/>
              </a:path>
              <a:path w="377190" h="290829">
                <a:moveTo>
                  <a:pt x="336159" y="160859"/>
                </a:moveTo>
                <a:lnTo>
                  <a:pt x="242441" y="160859"/>
                </a:lnTo>
                <a:lnTo>
                  <a:pt x="260501" y="160098"/>
                </a:lnTo>
                <a:lnTo>
                  <a:pt x="272532" y="154900"/>
                </a:lnTo>
                <a:lnTo>
                  <a:pt x="276904" y="142050"/>
                </a:lnTo>
                <a:lnTo>
                  <a:pt x="273280" y="129958"/>
                </a:lnTo>
                <a:lnTo>
                  <a:pt x="262495" y="124910"/>
                </a:lnTo>
                <a:lnTo>
                  <a:pt x="244684" y="124007"/>
                </a:lnTo>
                <a:lnTo>
                  <a:pt x="339798" y="124007"/>
                </a:lnTo>
                <a:lnTo>
                  <a:pt x="342970" y="135243"/>
                </a:lnTo>
                <a:lnTo>
                  <a:pt x="336159" y="160859"/>
                </a:lnTo>
                <a:close/>
              </a:path>
              <a:path w="377190" h="290829">
                <a:moveTo>
                  <a:pt x="322330" y="221731"/>
                </a:moveTo>
                <a:lnTo>
                  <a:pt x="219397" y="221731"/>
                </a:lnTo>
                <a:lnTo>
                  <a:pt x="227869" y="221583"/>
                </a:lnTo>
                <a:lnTo>
                  <a:pt x="236164" y="221228"/>
                </a:lnTo>
                <a:lnTo>
                  <a:pt x="244278" y="220655"/>
                </a:lnTo>
                <a:lnTo>
                  <a:pt x="252203" y="219851"/>
                </a:lnTo>
                <a:lnTo>
                  <a:pt x="248896" y="214988"/>
                </a:lnTo>
                <a:lnTo>
                  <a:pt x="243645" y="207403"/>
                </a:lnTo>
                <a:lnTo>
                  <a:pt x="331196" y="207403"/>
                </a:lnTo>
                <a:lnTo>
                  <a:pt x="319370" y="216739"/>
                </a:lnTo>
                <a:lnTo>
                  <a:pt x="322330" y="221731"/>
                </a:lnTo>
                <a:close/>
              </a:path>
              <a:path w="377190" h="290829">
                <a:moveTo>
                  <a:pt x="363068" y="290455"/>
                </a:moveTo>
                <a:lnTo>
                  <a:pt x="290455" y="290455"/>
                </a:lnTo>
                <a:lnTo>
                  <a:pt x="264456" y="241570"/>
                </a:lnTo>
                <a:lnTo>
                  <a:pt x="334090" y="241570"/>
                </a:lnTo>
                <a:lnTo>
                  <a:pt x="363068" y="290455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4962525"/>
            <a:ext cx="9696450" cy="1419225"/>
          </a:xfrm>
          <a:custGeom>
            <a:avLst/>
            <a:gdLst/>
            <a:ahLst/>
            <a:cxnLst/>
            <a:rect l="l" t="t" r="r" b="b"/>
            <a:pathLst>
              <a:path w="9696450" h="1419225">
                <a:moveTo>
                  <a:pt x="0" y="0"/>
                </a:moveTo>
                <a:lnTo>
                  <a:pt x="9696449" y="0"/>
                </a:lnTo>
                <a:lnTo>
                  <a:pt x="9696449" y="1419224"/>
                </a:lnTo>
                <a:lnTo>
                  <a:pt x="0" y="141922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91145" y="5043482"/>
          <a:ext cx="7047865" cy="1225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170"/>
                <a:gridCol w="468630"/>
                <a:gridCol w="1250314"/>
                <a:gridCol w="1250314"/>
                <a:gridCol w="1250314"/>
                <a:gridCol w="1250314"/>
                <a:gridCol w="1229995"/>
              </a:tblGrid>
              <a:tr h="212566">
                <a:tc>
                  <a:txBody>
                    <a:bodyPr/>
                    <a:lstStyle/>
                    <a:p>
                      <a:pPr marL="31750">
                        <a:lnSpc>
                          <a:spcPts val="15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lag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yw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ld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ywm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ldb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-0.11773516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-0.11773516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-0.11655781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-0.11655781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-0.11655781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0.02604330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0.02604330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0.02551390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0.02551390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0.02551390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0.10693456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0.10693456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0.10369764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0.10369764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0.10369764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-0.05877317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-0.05877317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-0.05635773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-0.05635773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-0.05635773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12566">
                <a:tc>
                  <a:txBody>
                    <a:bodyPr/>
                    <a:lstStyle/>
                    <a:p>
                      <a:pPr marL="31750">
                        <a:lnSpc>
                          <a:spcPts val="1570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0.02673134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0.02673134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0.02536253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0.02536253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0.02536253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1805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Assumptions of the </a:t>
            </a:r>
            <a:r>
              <a:rPr dirty="0" sz="3350" spc="-5">
                <a:solidFill>
                  <a:srgbClr val="C2132D"/>
                </a:solidFill>
              </a:rPr>
              <a:t>Yule-Walker</a:t>
            </a:r>
            <a:r>
              <a:rPr dirty="0" sz="3350" spc="-20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Equations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889000" y="1425575"/>
            <a:ext cx="9716135" cy="279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Yule-Walker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equations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compute the 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PACF,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following assumptions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</a:t>
            </a:r>
            <a:r>
              <a:rPr dirty="0" sz="1800" spc="9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made: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4064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4064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time series is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stationary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4064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4064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time series is in type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AR(p)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form, but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order p is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unknown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405765" marR="388620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Char char="•"/>
              <a:tabLst>
                <a:tab pos="4064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Having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prediction </a:t>
            </a:r>
            <a:r>
              <a:rPr dirty="0" sz="1650" spc="-10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 use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appropriate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AR(p)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estimate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coefficients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(i.e., the obtained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correlation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coefficients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preliminary).</a:t>
            </a:r>
            <a:endParaRPr sz="1800">
              <a:latin typeface="Roboto"/>
              <a:cs typeface="Roboto"/>
            </a:endParaRPr>
          </a:p>
          <a:p>
            <a:pPr marL="405765" marR="12827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406400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will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find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estimators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ϕ</a:t>
            </a:r>
            <a:r>
              <a:rPr dirty="0" baseline="-13333" sz="1875" spc="7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ϕ</a:t>
            </a:r>
            <a:r>
              <a:rPr dirty="0" baseline="-13333" sz="1875" spc="7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800" spc="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305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5" i="1">
                <a:solidFill>
                  <a:srgbClr val="585D60"/>
                </a:solidFill>
                <a:latin typeface="Arial"/>
                <a:cs typeface="Arial"/>
              </a:rPr>
              <a:t>ϕ</a:t>
            </a:r>
            <a:r>
              <a:rPr dirty="0" baseline="-14492" sz="1725" spc="112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baseline="-14492" sz="1725" spc="33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later using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maximum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likelihood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method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via 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fitting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AR(p)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077108"/>
            <a:ext cx="6211570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Ł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ukasz Balbus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(2020). Lecture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Notes 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Econometrics. University 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Zielona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Góra,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Zielona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Góra, Poland. Available at: 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https://staff.uz.zgora.pl/lbalbus/Zdalne%20EDiF%2010.11.2020.pdf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11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715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ACF Patterns </a:t>
            </a:r>
            <a:r>
              <a:rPr dirty="0" sz="3350" spc="-10">
                <a:solidFill>
                  <a:srgbClr val="C2132D"/>
                </a:solidFill>
              </a:rPr>
              <a:t>to </a:t>
            </a:r>
            <a:r>
              <a:rPr dirty="0" sz="3350" spc="10">
                <a:solidFill>
                  <a:srgbClr val="C2132D"/>
                </a:solidFill>
              </a:rPr>
              <a:t>Look </a:t>
            </a:r>
            <a:r>
              <a:rPr dirty="0" sz="3350" spc="5">
                <a:solidFill>
                  <a:srgbClr val="C2132D"/>
                </a:solidFill>
              </a:rPr>
              <a:t>for: </a:t>
            </a:r>
            <a:r>
              <a:rPr dirty="0" sz="3350" spc="10">
                <a:solidFill>
                  <a:srgbClr val="C2132D"/>
                </a:solidFill>
              </a:rPr>
              <a:t>Dying</a:t>
            </a:r>
            <a:r>
              <a:rPr dirty="0" sz="3350" spc="1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Down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675256" y="2551937"/>
            <a:ext cx="7754111" cy="3404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8754" y="1376044"/>
            <a:ext cx="940943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Dying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Down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exponentially decay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zero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relatively quickly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310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is a sign of  a possible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Generating Process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(DGP).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2950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ACF Patterns </a:t>
            </a:r>
            <a:r>
              <a:rPr dirty="0" sz="3350" spc="-10">
                <a:solidFill>
                  <a:srgbClr val="C2132D"/>
                </a:solidFill>
              </a:rPr>
              <a:t>to </a:t>
            </a:r>
            <a:r>
              <a:rPr dirty="0" sz="3350" spc="10">
                <a:solidFill>
                  <a:srgbClr val="C2132D"/>
                </a:solidFill>
              </a:rPr>
              <a:t>Look </a:t>
            </a:r>
            <a:r>
              <a:rPr dirty="0" sz="3350" spc="5">
                <a:solidFill>
                  <a:srgbClr val="C2132D"/>
                </a:solidFill>
              </a:rPr>
              <a:t>for: </a:t>
            </a:r>
            <a:r>
              <a:rPr dirty="0" sz="3350" spc="10">
                <a:solidFill>
                  <a:srgbClr val="C2132D"/>
                </a:solidFill>
              </a:rPr>
              <a:t>Dying Down</a:t>
            </a:r>
            <a:r>
              <a:rPr dirty="0" sz="3350" spc="1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(Sinsoidal)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675256" y="2551937"/>
            <a:ext cx="7754111" cy="3404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8754" y="1376044"/>
            <a:ext cx="9116060" cy="67310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4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Dying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Down (Sinsoidal)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exponentially decay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zero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with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some</a:t>
            </a:r>
            <a:r>
              <a:rPr dirty="0" sz="1800" spc="1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oscillations</a:t>
            </a:r>
            <a:endParaRPr sz="1800">
              <a:latin typeface="Roboto"/>
              <a:cs typeface="Roboto"/>
            </a:endParaRPr>
          </a:p>
          <a:p>
            <a:pPr marL="146050">
              <a:lnSpc>
                <a:spcPct val="100000"/>
              </a:lnSpc>
              <a:spcBef>
                <a:spcPts val="390"/>
              </a:spcBef>
            </a:pP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325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possible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AR </a:t>
            </a:r>
            <a:r>
              <a:rPr dirty="0" sz="1800" spc="-75">
                <a:solidFill>
                  <a:srgbClr val="585D60"/>
                </a:solidFill>
                <a:latin typeface="Roboto"/>
                <a:cs typeface="Roboto"/>
              </a:rPr>
              <a:t>DGP,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at least one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negative correlation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coefficient.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350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ACF Patterns </a:t>
            </a:r>
            <a:r>
              <a:rPr dirty="0" sz="3350" spc="-10">
                <a:solidFill>
                  <a:srgbClr val="C2132D"/>
                </a:solidFill>
              </a:rPr>
              <a:t>to </a:t>
            </a:r>
            <a:r>
              <a:rPr dirty="0" sz="3350" spc="10">
                <a:solidFill>
                  <a:srgbClr val="C2132D"/>
                </a:solidFill>
              </a:rPr>
              <a:t>Look </a:t>
            </a:r>
            <a:r>
              <a:rPr dirty="0" sz="3350" spc="5">
                <a:solidFill>
                  <a:srgbClr val="C2132D"/>
                </a:solidFill>
              </a:rPr>
              <a:t>for: </a:t>
            </a:r>
            <a:r>
              <a:rPr dirty="0" sz="3350" spc="10">
                <a:solidFill>
                  <a:srgbClr val="C2132D"/>
                </a:solidFill>
              </a:rPr>
              <a:t>Cutting</a:t>
            </a:r>
            <a:r>
              <a:rPr dirty="0" sz="3350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Off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675256" y="2228087"/>
            <a:ext cx="7754111" cy="3404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8754" y="1425575"/>
            <a:ext cx="772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Cutting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Off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cut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off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after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certain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lag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165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possible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MA </a:t>
            </a:r>
            <a:r>
              <a:rPr dirty="0" sz="1800" spc="-75">
                <a:solidFill>
                  <a:srgbClr val="585D60"/>
                </a:solidFill>
                <a:latin typeface="Roboto"/>
                <a:cs typeface="Roboto"/>
              </a:rPr>
              <a:t>DGP.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2092325"/>
            <a:ext cx="4114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White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Noise: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800" spc="-5" b="1">
                <a:latin typeface="Roboto"/>
                <a:cs typeface="Roboto"/>
              </a:rPr>
              <a:t>show no</a:t>
            </a:r>
            <a:r>
              <a:rPr dirty="0" sz="1800" spc="-45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pattern.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3825875"/>
            <a:ext cx="3930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Random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Walk: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800" spc="-5" b="1">
                <a:latin typeface="Roboto"/>
                <a:cs typeface="Roboto"/>
              </a:rPr>
              <a:t>slowly</a:t>
            </a:r>
            <a:r>
              <a:rPr dirty="0" sz="1800" spc="-20" b="1">
                <a:latin typeface="Roboto"/>
                <a:cs typeface="Roboto"/>
              </a:rPr>
              <a:t> </a:t>
            </a:r>
            <a:r>
              <a:rPr dirty="0" sz="1800" spc="-30" b="1">
                <a:latin typeface="Roboto"/>
                <a:cs typeface="Roboto"/>
              </a:rPr>
              <a:t>decay.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754" y="5195569"/>
            <a:ext cx="375412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 Patterns: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800" spc="-5" b="1">
                <a:latin typeface="Roboto"/>
                <a:cs typeface="Roboto"/>
              </a:rPr>
              <a:t>show a  </a:t>
            </a:r>
            <a:r>
              <a:rPr dirty="0" sz="1800" b="1">
                <a:latin typeface="Roboto"/>
                <a:cs typeface="Roboto"/>
              </a:rPr>
              <a:t>pattern </a:t>
            </a:r>
            <a:r>
              <a:rPr dirty="0" sz="1800" spc="-5" b="1">
                <a:latin typeface="Roboto"/>
                <a:cs typeface="Roboto"/>
              </a:rPr>
              <a:t>at regular</a:t>
            </a:r>
            <a:r>
              <a:rPr dirty="0" sz="1800" spc="-25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intervals.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08071" y="1701425"/>
            <a:ext cx="4567027" cy="451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6479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ACF Patterns </a:t>
            </a:r>
            <a:r>
              <a:rPr dirty="0" sz="3350" spc="10">
                <a:solidFill>
                  <a:srgbClr val="C2132D"/>
                </a:solidFill>
              </a:rPr>
              <a:t>and Data </a:t>
            </a:r>
            <a:r>
              <a:rPr dirty="0" sz="3350" spc="5">
                <a:solidFill>
                  <a:srgbClr val="C2132D"/>
                </a:solidFill>
              </a:rPr>
              <a:t>Generating</a:t>
            </a:r>
            <a:r>
              <a:rPr dirty="0" sz="3350" spc="-15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Processes</a:t>
            </a:r>
            <a:endParaRPr sz="3350"/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5100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50">
                <a:solidFill>
                  <a:srgbClr val="C2132D"/>
                </a:solidFill>
              </a:rPr>
              <a:t>PACF </a:t>
            </a:r>
            <a:r>
              <a:rPr dirty="0" sz="3350" spc="5">
                <a:solidFill>
                  <a:srgbClr val="C2132D"/>
                </a:solidFill>
              </a:rPr>
              <a:t>Patterns </a:t>
            </a:r>
            <a:r>
              <a:rPr dirty="0" sz="3350" spc="-10">
                <a:solidFill>
                  <a:srgbClr val="C2132D"/>
                </a:solidFill>
              </a:rPr>
              <a:t>to </a:t>
            </a:r>
            <a:r>
              <a:rPr dirty="0" sz="3350" spc="10">
                <a:solidFill>
                  <a:srgbClr val="C2132D"/>
                </a:solidFill>
              </a:rPr>
              <a:t>Look </a:t>
            </a:r>
            <a:r>
              <a:rPr dirty="0" sz="3350">
                <a:solidFill>
                  <a:srgbClr val="C2132D"/>
                </a:solidFill>
              </a:rPr>
              <a:t>For: </a:t>
            </a:r>
            <a:r>
              <a:rPr dirty="0" sz="3350" spc="10">
                <a:solidFill>
                  <a:srgbClr val="C2132D"/>
                </a:solidFill>
              </a:rPr>
              <a:t>Cutting</a:t>
            </a:r>
            <a:r>
              <a:rPr dirty="0" sz="3350" spc="50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Off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05573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If the </a:t>
            </a:r>
            <a:r>
              <a:rPr dirty="0" sz="1800" spc="-45" b="1">
                <a:solidFill>
                  <a:srgbClr val="C2132D"/>
                </a:solidFill>
                <a:latin typeface="Roboto"/>
                <a:cs typeface="Roboto"/>
              </a:rPr>
              <a:t>PACF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cuts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off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after 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ACF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has decayed down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is indicates that an </a:t>
            </a:r>
            <a:r>
              <a:rPr dirty="0" sz="1800" b="1">
                <a:latin typeface="Roboto"/>
                <a:cs typeface="Roboto"/>
              </a:rPr>
              <a:t>AR DGP </a:t>
            </a:r>
            <a:r>
              <a:rPr dirty="0" sz="1800" spc="-5" b="1">
                <a:latin typeface="Roboto"/>
                <a:cs typeface="Roboto"/>
              </a:rPr>
              <a:t>is  suitable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us consider the 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PACF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Kroger's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stock</a:t>
            </a:r>
            <a:r>
              <a:rPr dirty="0" sz="1800" spc="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price.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5256" y="2551937"/>
            <a:ext cx="7754111" cy="3404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327" y="2731008"/>
            <a:ext cx="6263640" cy="1076325"/>
          </a:xfrm>
          <a:prstGeom prst="rect"/>
          <a:solidFill>
            <a:srgbClr val="333333"/>
          </a:solidFill>
        </p:spPr>
        <p:txBody>
          <a:bodyPr wrap="square" lIns="0" tIns="167640" rIns="0" bIns="0" rtlCol="0" vert="horz">
            <a:spAutoFit/>
          </a:bodyPr>
          <a:lstStyle/>
          <a:p>
            <a:pPr marL="255904">
              <a:lnSpc>
                <a:spcPct val="100000"/>
              </a:lnSpc>
              <a:spcBef>
                <a:spcPts val="1320"/>
              </a:spcBef>
            </a:pPr>
            <a:r>
              <a:rPr dirty="0" spc="-869">
                <a:solidFill>
                  <a:srgbClr val="000000"/>
                </a:solidFill>
              </a:rPr>
              <a:t>A</a:t>
            </a:r>
            <a:r>
              <a:rPr dirty="0" spc="-869"/>
              <a:t>A</a:t>
            </a:r>
            <a:r>
              <a:rPr dirty="0" spc="-869">
                <a:solidFill>
                  <a:srgbClr val="000000"/>
                </a:solidFill>
              </a:rPr>
              <a:t>u</a:t>
            </a:r>
            <a:r>
              <a:rPr dirty="0" spc="-869"/>
              <a:t>u</a:t>
            </a:r>
            <a:r>
              <a:rPr dirty="0" spc="-869">
                <a:solidFill>
                  <a:srgbClr val="000000"/>
                </a:solidFill>
              </a:rPr>
              <a:t>t</a:t>
            </a:r>
            <a:r>
              <a:rPr dirty="0" spc="-869"/>
              <a:t>t</a:t>
            </a:r>
            <a:r>
              <a:rPr dirty="0" spc="-869">
                <a:solidFill>
                  <a:srgbClr val="000000"/>
                </a:solidFill>
              </a:rPr>
              <a:t>o</a:t>
            </a:r>
            <a:r>
              <a:rPr dirty="0" spc="-869"/>
              <a:t>o</a:t>
            </a:r>
            <a:r>
              <a:rPr dirty="0" spc="-869">
                <a:solidFill>
                  <a:srgbClr val="000000"/>
                </a:solidFill>
              </a:rPr>
              <a:t>r</a:t>
            </a:r>
            <a:r>
              <a:rPr dirty="0" spc="-869"/>
              <a:t>r</a:t>
            </a:r>
            <a:r>
              <a:rPr dirty="0" spc="-869">
                <a:solidFill>
                  <a:srgbClr val="000000"/>
                </a:solidFill>
              </a:rPr>
              <a:t>e</a:t>
            </a:r>
            <a:r>
              <a:rPr dirty="0" spc="-869"/>
              <a:t>e</a:t>
            </a:r>
            <a:r>
              <a:rPr dirty="0" spc="-869">
                <a:solidFill>
                  <a:srgbClr val="000000"/>
                </a:solidFill>
              </a:rPr>
              <a:t>g</a:t>
            </a:r>
            <a:r>
              <a:rPr dirty="0" spc="-869"/>
              <a:t>g</a:t>
            </a:r>
            <a:r>
              <a:rPr dirty="0" spc="-869">
                <a:solidFill>
                  <a:srgbClr val="000000"/>
                </a:solidFill>
              </a:rPr>
              <a:t>r</a:t>
            </a:r>
            <a:r>
              <a:rPr dirty="0" spc="-869"/>
              <a:t>r</a:t>
            </a:r>
            <a:r>
              <a:rPr dirty="0" spc="-869">
                <a:solidFill>
                  <a:srgbClr val="000000"/>
                </a:solidFill>
              </a:rPr>
              <a:t>e</a:t>
            </a:r>
            <a:r>
              <a:rPr dirty="0" spc="-869"/>
              <a:t>e</a:t>
            </a:r>
            <a:r>
              <a:rPr dirty="0" spc="-869">
                <a:solidFill>
                  <a:srgbClr val="000000"/>
                </a:solidFill>
              </a:rPr>
              <a:t>s</a:t>
            </a:r>
            <a:r>
              <a:rPr dirty="0" spc="-869"/>
              <a:t>s</a:t>
            </a:r>
            <a:r>
              <a:rPr dirty="0" spc="-869">
                <a:solidFill>
                  <a:srgbClr val="000000"/>
                </a:solidFill>
              </a:rPr>
              <a:t>s</a:t>
            </a:r>
            <a:r>
              <a:rPr dirty="0" spc="-869"/>
              <a:t>s</a:t>
            </a:r>
            <a:r>
              <a:rPr dirty="0" spc="-869">
                <a:solidFill>
                  <a:srgbClr val="000000"/>
                </a:solidFill>
              </a:rPr>
              <a:t>i</a:t>
            </a:r>
            <a:r>
              <a:rPr dirty="0" spc="-869"/>
              <a:t>i</a:t>
            </a:r>
            <a:r>
              <a:rPr dirty="0" spc="-869">
                <a:solidFill>
                  <a:srgbClr val="000000"/>
                </a:solidFill>
              </a:rPr>
              <a:t>v</a:t>
            </a:r>
            <a:r>
              <a:rPr dirty="0" spc="-869"/>
              <a:t>v</a:t>
            </a:r>
            <a:r>
              <a:rPr dirty="0" spc="-869">
                <a:solidFill>
                  <a:srgbClr val="000000"/>
                </a:solidFill>
              </a:rPr>
              <a:t>e</a:t>
            </a:r>
            <a:r>
              <a:rPr dirty="0" spc="-869"/>
              <a:t>e </a:t>
            </a:r>
            <a:r>
              <a:rPr dirty="0" spc="-890">
                <a:solidFill>
                  <a:srgbClr val="000000"/>
                </a:solidFill>
              </a:rPr>
              <a:t>(</a:t>
            </a:r>
            <a:r>
              <a:rPr dirty="0" spc="-890"/>
              <a:t>(</a:t>
            </a:r>
            <a:r>
              <a:rPr dirty="0" spc="-890">
                <a:solidFill>
                  <a:srgbClr val="000000"/>
                </a:solidFill>
              </a:rPr>
              <a:t>A</a:t>
            </a:r>
            <a:r>
              <a:rPr dirty="0" spc="-890"/>
              <a:t>A</a:t>
            </a:r>
            <a:r>
              <a:rPr dirty="0" spc="-890">
                <a:solidFill>
                  <a:srgbClr val="000000"/>
                </a:solidFill>
              </a:rPr>
              <a:t>R</a:t>
            </a:r>
            <a:r>
              <a:rPr dirty="0" spc="-890"/>
              <a:t>R</a:t>
            </a:r>
            <a:r>
              <a:rPr dirty="0" spc="-890">
                <a:solidFill>
                  <a:srgbClr val="000000"/>
                </a:solidFill>
              </a:rPr>
              <a:t>)</a:t>
            </a:r>
            <a:r>
              <a:rPr dirty="0" spc="-890"/>
              <a:t>) </a:t>
            </a:r>
            <a:r>
              <a:rPr dirty="0" spc="-990">
                <a:solidFill>
                  <a:srgbClr val="000000"/>
                </a:solidFill>
              </a:rPr>
              <a:t>M</a:t>
            </a:r>
            <a:r>
              <a:rPr dirty="0" spc="-990"/>
              <a:t>M</a:t>
            </a:r>
            <a:r>
              <a:rPr dirty="0" spc="-990">
                <a:solidFill>
                  <a:srgbClr val="000000"/>
                </a:solidFill>
              </a:rPr>
              <a:t>o</a:t>
            </a:r>
            <a:r>
              <a:rPr dirty="0" spc="-990"/>
              <a:t>o</a:t>
            </a:r>
            <a:r>
              <a:rPr dirty="0" spc="-990">
                <a:solidFill>
                  <a:srgbClr val="000000"/>
                </a:solidFill>
              </a:rPr>
              <a:t>d</a:t>
            </a:r>
            <a:r>
              <a:rPr dirty="0" spc="-990"/>
              <a:t>d</a:t>
            </a:r>
            <a:r>
              <a:rPr dirty="0" spc="-990">
                <a:solidFill>
                  <a:srgbClr val="000000"/>
                </a:solidFill>
              </a:rPr>
              <a:t>e</a:t>
            </a:r>
            <a:r>
              <a:rPr dirty="0" spc="-990"/>
              <a:t>e</a:t>
            </a:r>
            <a:r>
              <a:rPr dirty="0" spc="-990">
                <a:solidFill>
                  <a:srgbClr val="000000"/>
                </a:solidFill>
              </a:rPr>
              <a:t>l</a:t>
            </a:r>
            <a:r>
              <a:rPr dirty="0" spc="-990"/>
              <a:t>l</a:t>
            </a:r>
            <a:r>
              <a:rPr dirty="0" spc="-990">
                <a:solidFill>
                  <a:srgbClr val="000000"/>
                </a:solidFill>
              </a:rPr>
              <a:t>s</a:t>
            </a:r>
            <a:r>
              <a:rPr dirty="0" spc="-99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16497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AR</a:t>
            </a:r>
            <a:r>
              <a:rPr dirty="0" sz="3350" spc="-6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Model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850900" y="1376044"/>
            <a:ext cx="9478010" cy="43973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3500" marR="43180">
              <a:lnSpc>
                <a:spcPct val="116900"/>
              </a:lnSpc>
              <a:spcBef>
                <a:spcPts val="125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autoregressive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model, we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interest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a linear combination of  past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variable.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term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autoregressive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indicates that it is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regression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against itself. Thus, 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autoregressive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 </a:t>
            </a:r>
            <a:r>
              <a:rPr dirty="0" sz="1650" spc="-10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denoted as AR(p), can be  written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as:</a:t>
            </a:r>
            <a:endParaRPr sz="1800">
              <a:latin typeface="Roboto"/>
              <a:cs typeface="Roboto"/>
            </a:endParaRPr>
          </a:p>
          <a:p>
            <a:pPr algn="ctr" marL="345440">
              <a:lnSpc>
                <a:spcPct val="100000"/>
              </a:lnSpc>
              <a:spcBef>
                <a:spcPts val="1665"/>
              </a:spcBef>
            </a:pPr>
            <a:r>
              <a:rPr dirty="0" sz="1650" spc="9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4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2077" sz="1725" spc="397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0" i="1">
                <a:solidFill>
                  <a:srgbClr val="585D60"/>
                </a:solidFill>
                <a:latin typeface="Arial"/>
                <a:cs typeface="Arial"/>
              </a:rPr>
              <a:t>c</a:t>
            </a:r>
            <a:r>
              <a:rPr dirty="0" sz="1650" spc="-6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20" i="1">
                <a:solidFill>
                  <a:srgbClr val="585D60"/>
                </a:solidFill>
                <a:latin typeface="Arial"/>
                <a:cs typeface="Arial"/>
              </a:rPr>
              <a:t>ϕ</a:t>
            </a:r>
            <a:r>
              <a:rPr dirty="0" baseline="-11111" sz="1875" spc="3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650" spc="2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3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1111" sz="1875" spc="30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1111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20" i="1">
                <a:solidFill>
                  <a:srgbClr val="585D60"/>
                </a:solidFill>
                <a:latin typeface="Arial"/>
                <a:cs typeface="Arial"/>
              </a:rPr>
              <a:t>ϕ</a:t>
            </a:r>
            <a:r>
              <a:rPr dirty="0" baseline="-11111" sz="1875" spc="30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650" spc="2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3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1111" sz="1875" spc="30">
                <a:solidFill>
                  <a:srgbClr val="585D60"/>
                </a:solidFill>
                <a:latin typeface="Lucida Sans Unicode"/>
                <a:cs typeface="Lucida Sans Unicode"/>
              </a:rPr>
              <a:t>−2</a:t>
            </a:r>
            <a:r>
              <a:rPr dirty="0" baseline="-11111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675">
                <a:solidFill>
                  <a:srgbClr val="585D60"/>
                </a:solidFill>
                <a:latin typeface="Lucida Sans Unicode"/>
                <a:cs typeface="Lucida Sans Unicode"/>
              </a:rPr>
              <a:t>⋯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ϕ</a:t>
            </a:r>
            <a:r>
              <a:rPr dirty="0" baseline="-12077" sz="1725" spc="104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04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1111" sz="1875" spc="104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2077" sz="1725" spc="104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baseline="-12077" sz="1725" spc="247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2077" sz="1725" spc="7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800" spc="5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104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white</a:t>
            </a:r>
            <a:r>
              <a:rPr dirty="0" sz="1800" spc="-2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noise.</a:t>
            </a:r>
            <a:endParaRPr sz="1800">
              <a:latin typeface="Roboto"/>
              <a:cs typeface="Roboto"/>
            </a:endParaRPr>
          </a:p>
          <a:p>
            <a:pPr marL="63500" marR="126364">
              <a:lnSpc>
                <a:spcPct val="116300"/>
              </a:lnSpc>
              <a:spcBef>
                <a:spcPts val="935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Note: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AR model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looks similar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linear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regression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that uses the dependent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relationship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an observation and its lagged observations.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difference </a:t>
            </a:r>
            <a:r>
              <a:rPr dirty="0" sz="1800" spc="-5" b="1">
                <a:latin typeface="Roboto"/>
                <a:cs typeface="Roboto"/>
              </a:rPr>
              <a:t>lies </a:t>
            </a:r>
            <a:r>
              <a:rPr dirty="0" sz="1800" b="1">
                <a:latin typeface="Roboto"/>
                <a:cs typeface="Roboto"/>
              </a:rPr>
              <a:t>in </a:t>
            </a:r>
            <a:r>
              <a:rPr dirty="0" sz="1800" spc="-5" b="1">
                <a:latin typeface="Roboto"/>
                <a:cs typeface="Roboto"/>
              </a:rPr>
              <a:t>how  </a:t>
            </a:r>
            <a:r>
              <a:rPr dirty="0" sz="1800" b="1">
                <a:latin typeface="Roboto"/>
                <a:cs typeface="Roboto"/>
              </a:rPr>
              <a:t>their </a:t>
            </a:r>
            <a:r>
              <a:rPr dirty="0" sz="1800" spc="-10" b="1">
                <a:latin typeface="Roboto"/>
                <a:cs typeface="Roboto"/>
              </a:rPr>
              <a:t>coefficients are </a:t>
            </a:r>
            <a:r>
              <a:rPr dirty="0" sz="1800" spc="-5" b="1">
                <a:latin typeface="Roboto"/>
                <a:cs typeface="Roboto"/>
              </a:rPr>
              <a:t>estimated </a:t>
            </a:r>
            <a:r>
              <a:rPr dirty="0" sz="1800" b="1">
                <a:latin typeface="Roboto"/>
                <a:cs typeface="Roboto"/>
              </a:rPr>
              <a:t>in</a:t>
            </a:r>
            <a:r>
              <a:rPr dirty="0" sz="1800" spc="-5" b="1">
                <a:latin typeface="Roboto"/>
                <a:cs typeface="Roboto"/>
              </a:rPr>
              <a:t> practice.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Roboto"/>
              <a:cs typeface="Roboto"/>
            </a:endParaRPr>
          </a:p>
          <a:p>
            <a:pPr marL="444500" indent="-133985">
              <a:lnSpc>
                <a:spcPct val="100000"/>
              </a:lnSpc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AR models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50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 spc="-5" b="1">
                <a:latin typeface="Roboto"/>
                <a:cs typeface="Roboto"/>
              </a:rPr>
              <a:t>often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utilize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MLE while taking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account the time series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structure.</a:t>
            </a:r>
            <a:endParaRPr sz="1800">
              <a:latin typeface="Roboto"/>
              <a:cs typeface="Roboto"/>
            </a:endParaRPr>
          </a:p>
          <a:p>
            <a:pPr marL="4445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Linear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regression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45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ordinary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least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squares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(OLS).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0803" y="3060763"/>
            <a:ext cx="4386027" cy="2338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773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AR (MLE) vs. Linear </a:t>
            </a:r>
            <a:r>
              <a:rPr dirty="0" sz="3350" spc="5">
                <a:solidFill>
                  <a:srgbClr val="C2132D"/>
                </a:solidFill>
              </a:rPr>
              <a:t>Regression</a:t>
            </a:r>
            <a:r>
              <a:rPr dirty="0" sz="3350" spc="-30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(OLS)</a:t>
            </a:r>
            <a:endParaRPr sz="3350"/>
          </a:p>
        </p:txBody>
      </p:sp>
      <p:sp>
        <p:nvSpPr>
          <p:cNvPr id="4" name="object 4"/>
          <p:cNvSpPr/>
          <p:nvPr/>
        </p:nvSpPr>
        <p:spPr>
          <a:xfrm>
            <a:off x="2495549" y="1481596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4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4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4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4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4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4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00399" y="1805446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89000" y="1376044"/>
            <a:ext cx="9321165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>
              <a:lnSpc>
                <a:spcPct val="118100"/>
              </a:lnSpc>
              <a:spcBef>
                <a:spcPts val="100"/>
              </a:spcBef>
              <a:tabLst>
                <a:tab pos="1925320" algn="l"/>
                <a:tab pos="256921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Since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used	for linear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regression,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let's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illustrate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differences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AR and linear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regression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base	.</a:t>
            </a:r>
            <a:endParaRPr sz="1800">
              <a:latin typeface="Roboto"/>
              <a:cs typeface="Roboto"/>
            </a:endParaRPr>
          </a:p>
          <a:p>
            <a:pPr marL="25400">
              <a:lnSpc>
                <a:spcPct val="100000"/>
              </a:lnSpc>
              <a:spcBef>
                <a:spcPts val="12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us simulate the following AR(1)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process: </a:t>
            </a:r>
            <a:r>
              <a:rPr dirty="0" sz="1650" spc="9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42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145">
                <a:solidFill>
                  <a:srgbClr val="585D60"/>
                </a:solidFill>
                <a:latin typeface="Lucida Sans Unicode"/>
                <a:cs typeface="Lucida Sans Unicode"/>
              </a:rPr>
              <a:t>−0.2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800" spc="-75">
                <a:solidFill>
                  <a:srgbClr val="585D60"/>
                </a:solidFill>
                <a:latin typeface="Lucida Sans Unicode"/>
                <a:cs typeface="Lucida Sans Unicode"/>
              </a:rPr>
              <a:t>0.7</a:t>
            </a:r>
            <a:r>
              <a:rPr dirty="0" sz="1650" spc="-7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-11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1111" sz="1875" spc="-112">
                <a:solidFill>
                  <a:srgbClr val="585D60"/>
                </a:solidFill>
                <a:latin typeface="Lucida Sans Unicode"/>
                <a:cs typeface="Lucida Sans Unicode"/>
              </a:rPr>
              <a:t>−1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650" spc="75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2077" sz="1725" spc="11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800" spc="7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2077" sz="1725" spc="104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∼ </a:t>
            </a:r>
            <a:r>
              <a:rPr dirty="0" sz="1650" spc="50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r>
              <a:rPr dirty="0" sz="1800" spc="50">
                <a:solidFill>
                  <a:srgbClr val="585D60"/>
                </a:solidFill>
                <a:latin typeface="Lucida Sans Unicode"/>
                <a:cs typeface="Lucida Sans Unicode"/>
              </a:rPr>
              <a:t>(0,</a:t>
            </a:r>
            <a:r>
              <a:rPr dirty="0" sz="180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1)</a:t>
            </a: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4400" y="2800350"/>
            <a:ext cx="4657725" cy="34480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79375" rIns="0" bIns="0" rtlCol="0" vert="horz">
            <a:spAutoFit/>
          </a:bodyPr>
          <a:lstStyle/>
          <a:p>
            <a:pPr marL="86360">
              <a:lnSpc>
                <a:spcPct val="100000"/>
              </a:lnSpc>
              <a:spcBef>
                <a:spcPts val="62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set.seed(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2025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253365" indent="-167640">
              <a:lnSpc>
                <a:spcPts val="1295"/>
              </a:lnSpc>
              <a:spcBef>
                <a:spcPts val="1005"/>
              </a:spcBef>
              <a:buChar char="❖"/>
              <a:tabLst>
                <a:tab pos="254000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Simulate y[t] = -0.2 + 0.7 * y[t-1] +</a:t>
            </a:r>
            <a:r>
              <a:rPr dirty="0" sz="1100" spc="-3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error,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40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n =</a:t>
            </a:r>
            <a:r>
              <a:rPr dirty="0" sz="1100" spc="-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200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40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y =</a:t>
            </a:r>
            <a:r>
              <a:rPr dirty="0" sz="1100" spc="-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75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phi =</a:t>
            </a:r>
            <a:r>
              <a:rPr dirty="0" sz="1100" spc="-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0.7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75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intercept =</a:t>
            </a:r>
            <a:r>
              <a:rPr dirty="0" sz="1100" spc="-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-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0.2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95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errors = rnorm(n, mean = 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 sd =</a:t>
            </a:r>
            <a:r>
              <a:rPr dirty="0" sz="1100" spc="-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95"/>
              </a:lnSpc>
              <a:spcBef>
                <a:spcPts val="1005"/>
              </a:spcBef>
            </a:pP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for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(t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in 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:n)</a:t>
            </a:r>
            <a:r>
              <a:rPr dirty="0" sz="1100" spc="-1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253365">
              <a:lnSpc>
                <a:spcPts val="1275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y[t] = intercept + phi*y[t - 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] +</a:t>
            </a:r>
            <a:r>
              <a:rPr dirty="0" sz="1100" spc="-3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errors[t]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95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295"/>
              </a:lnSpc>
              <a:spcBef>
                <a:spcPts val="100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plot(</a:t>
            </a:r>
            <a:endParaRPr sz="1100">
              <a:latin typeface="Courier New"/>
              <a:cs typeface="Courier New"/>
            </a:endParaRPr>
          </a:p>
          <a:p>
            <a:pPr marL="253365" marR="1060450">
              <a:lnSpc>
                <a:spcPts val="1280"/>
              </a:lnSpc>
              <a:spcBef>
                <a:spcPts val="50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y, type =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"l"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 lwd = 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 xlab =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"Time"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  ylab =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"y[t]"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 main =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"AR(1)</a:t>
            </a:r>
            <a:r>
              <a:rPr dirty="0" sz="1100" spc="-60">
                <a:solidFill>
                  <a:srgbClr val="DD1144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Simulation"</a:t>
            </a:r>
            <a:endParaRPr sz="1100">
              <a:latin typeface="Courier New"/>
              <a:cs typeface="Courier New"/>
            </a:endParaRPr>
          </a:p>
          <a:p>
            <a:pPr marL="253365">
              <a:lnSpc>
                <a:spcPts val="1160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300"/>
              </a:lnSpc>
              <a:spcBef>
                <a:spcPts val="1080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write.csv(</a:t>
            </a:r>
            <a:endParaRPr sz="1100">
              <a:latin typeface="Courier New"/>
              <a:cs typeface="Courier New"/>
            </a:endParaRPr>
          </a:p>
          <a:p>
            <a:pPr marL="253365">
              <a:lnSpc>
                <a:spcPts val="1240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data.frame(y),</a:t>
            </a:r>
            <a:r>
              <a:rPr dirty="0" sz="1100" spc="-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'../../data/ar1_simulation.csv'</a:t>
            </a:r>
            <a:endParaRPr sz="1100">
              <a:latin typeface="Courier New"/>
              <a:cs typeface="Courier New"/>
            </a:endParaRPr>
          </a:p>
          <a:p>
            <a:pPr marL="253365">
              <a:lnSpc>
                <a:spcPts val="1260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692912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Simulation: Examining the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ACF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and</a:t>
            </a:r>
            <a:r>
              <a:rPr dirty="0" sz="3350" spc="-4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-50">
                <a:solidFill>
                  <a:srgbClr val="C2132D"/>
                </a:solidFill>
                <a:latin typeface="Roboto Condensed"/>
                <a:cs typeface="Roboto Condensed"/>
              </a:rPr>
              <a:t>PACF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5756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us examine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PACF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our simulated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8923" y="2985849"/>
            <a:ext cx="4508677" cy="31915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76974" y="1433512"/>
            <a:ext cx="3819525" cy="0"/>
          </a:xfrm>
          <a:custGeom>
            <a:avLst/>
            <a:gdLst/>
            <a:ahLst/>
            <a:cxnLst/>
            <a:rect l="l" t="t" r="r" b="b"/>
            <a:pathLst>
              <a:path w="3819525" h="0">
                <a:moveTo>
                  <a:pt x="0" y="0"/>
                </a:moveTo>
                <a:lnTo>
                  <a:pt x="3819524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76974" y="6205537"/>
            <a:ext cx="3819525" cy="0"/>
          </a:xfrm>
          <a:custGeom>
            <a:avLst/>
            <a:gdLst/>
            <a:ahLst/>
            <a:cxnLst/>
            <a:rect l="l" t="t" r="r" b="b"/>
            <a:pathLst>
              <a:path w="3819525" h="0">
                <a:moveTo>
                  <a:pt x="0" y="0"/>
                </a:moveTo>
                <a:lnTo>
                  <a:pt x="3819524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96024" y="1557337"/>
            <a:ext cx="3781425" cy="0"/>
          </a:xfrm>
          <a:custGeom>
            <a:avLst/>
            <a:gdLst/>
            <a:ahLst/>
            <a:cxnLst/>
            <a:rect l="l" t="t" r="r" b="b"/>
            <a:pathLst>
              <a:path w="3781425" h="0">
                <a:moveTo>
                  <a:pt x="0" y="0"/>
                </a:moveTo>
                <a:lnTo>
                  <a:pt x="3781424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96024" y="1581150"/>
          <a:ext cx="3781425" cy="455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2181225"/>
              </a:tblGrid>
              <a:tr h="314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100" i="1">
                          <a:solidFill>
                            <a:srgbClr val="585D60"/>
                          </a:solidFill>
                          <a:latin typeface="Gill Sans MT"/>
                          <a:cs typeface="Gill Sans MT"/>
                        </a:rPr>
                        <a:t>Dependent</a:t>
                      </a:r>
                      <a:r>
                        <a:rPr dirty="0" sz="1450" spc="-60" i="1">
                          <a:solidFill>
                            <a:srgbClr val="585D6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50" spc="90" i="1">
                          <a:solidFill>
                            <a:srgbClr val="585D60"/>
                          </a:solidFill>
                          <a:latin typeface="Gill Sans MT"/>
                          <a:cs typeface="Gill Sans MT"/>
                        </a:rPr>
                        <a:t>variable: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25400">
                    <a:solidFill>
                      <a:srgbClr val="EDEDED"/>
                    </a:solidFill>
                  </a:tcPr>
                </a:tc>
              </a:tr>
              <a:tr h="1190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y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EDEDED"/>
                    </a:solidFill>
                  </a:tcPr>
                </a:tc>
              </a:tr>
              <a:tr h="1190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lag1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0.733</a:t>
                      </a:r>
                      <a:r>
                        <a:rPr dirty="0" baseline="31746" sz="157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***</a:t>
                      </a:r>
                      <a:endParaRPr baseline="31746" sz="1575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EDEDED"/>
                    </a:solidFill>
                  </a:tcPr>
                </a:tc>
              </a:tr>
              <a:tr h="3428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(0.049)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/>
                </a:tc>
              </a:tr>
              <a:tr h="952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342899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Constant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-0.178</a:t>
                      </a:r>
                      <a:r>
                        <a:rPr dirty="0" baseline="26455" sz="157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**</a:t>
                      </a:r>
                      <a:endParaRPr baseline="26455" sz="1575">
                        <a:latin typeface="Roboto"/>
                        <a:cs typeface="Roboto"/>
                      </a:endParaRPr>
                    </a:p>
                  </a:txBody>
                  <a:tcPr marL="0" marR="0" marB="0" marT="44450"/>
                </a:tc>
              </a:tr>
              <a:tr h="304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(0.078)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solidFill>
                      <a:srgbClr val="EDEDED"/>
                    </a:solidFill>
                  </a:tcPr>
                </a:tc>
              </a:tr>
              <a:tr h="13334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001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7662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Observations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199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4799">
                <a:tc>
                  <a:txBody>
                    <a:bodyPr/>
                    <a:lstStyle/>
                    <a:p>
                      <a:pPr marL="45085">
                        <a:lnSpc>
                          <a:spcPts val="1415"/>
                        </a:lnSpc>
                      </a:pPr>
                      <a:r>
                        <a:rPr dirty="0" baseline="-21072" sz="2175" spc="7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dirty="0" sz="1050" spc="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</a:t>
                      </a:r>
                      <a:endParaRPr sz="105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0.535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solidFill>
                      <a:srgbClr val="EDEDED"/>
                    </a:solidFill>
                  </a:tcPr>
                </a:tc>
              </a:tr>
              <a:tr h="342899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Adjusted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dirty="0" baseline="26455" sz="1575" spc="7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</a:t>
                      </a:r>
                      <a:endParaRPr baseline="26455" sz="1575">
                        <a:latin typeface="Roboto"/>
                        <a:cs typeface="Roboto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0.532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/>
                </a:tc>
              </a:tr>
              <a:tr h="304799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Residual Std.</a:t>
                      </a:r>
                      <a:r>
                        <a:rPr dirty="0" sz="1450" spc="-5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Error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0.993 (df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=</a:t>
                      </a:r>
                      <a:r>
                        <a:rPr dirty="0" sz="1450" spc="-3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197)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solidFill>
                      <a:srgbClr val="EDEDED"/>
                    </a:solidFill>
                  </a:tcPr>
                </a:tc>
              </a:tr>
              <a:tr h="342899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F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Statistic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226.325</a:t>
                      </a:r>
                      <a:r>
                        <a:rPr dirty="0" baseline="26455" sz="157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***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(df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=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1;</a:t>
                      </a:r>
                      <a:r>
                        <a:rPr dirty="0" sz="1450" spc="-2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197)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/>
                </a:tc>
              </a:tr>
              <a:tr h="10001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9385">
                <a:tc>
                  <a:txBody>
                    <a:bodyPr/>
                    <a:lstStyle/>
                    <a:p>
                      <a:pPr marL="45085">
                        <a:lnSpc>
                          <a:spcPts val="1710"/>
                        </a:lnSpc>
                        <a:spcBef>
                          <a:spcPts val="385"/>
                        </a:spcBef>
                      </a:pPr>
                      <a:r>
                        <a:rPr dirty="0" sz="1450" spc="90" i="1">
                          <a:solidFill>
                            <a:srgbClr val="585D60"/>
                          </a:solidFill>
                          <a:latin typeface="Gill Sans MT"/>
                          <a:cs typeface="Gill Sans MT"/>
                        </a:rPr>
                        <a:t>Note: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4889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710"/>
                        </a:lnSpc>
                        <a:spcBef>
                          <a:spcPts val="385"/>
                        </a:spcBef>
                      </a:pPr>
                      <a:r>
                        <a:rPr dirty="0" baseline="26455" sz="1575" spc="-7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*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p&lt;0.1; </a:t>
                      </a:r>
                      <a:r>
                        <a:rPr dirty="0" baseline="26455" sz="1575" spc="-7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**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p&lt;0.05;</a:t>
                      </a:r>
                      <a:r>
                        <a:rPr dirty="0" sz="1450" spc="-2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baseline="26455" sz="157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***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p&lt;0.01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1668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Simulation: The Linear </a:t>
            </a:r>
            <a:r>
              <a:rPr dirty="0" sz="3350" spc="5">
                <a:solidFill>
                  <a:srgbClr val="C2132D"/>
                </a:solidFill>
              </a:rPr>
              <a:t>Regression </a:t>
            </a:r>
            <a:r>
              <a:rPr dirty="0" sz="3350" spc="10">
                <a:solidFill>
                  <a:srgbClr val="C2132D"/>
                </a:solidFill>
              </a:rPr>
              <a:t>Model </a:t>
            </a:r>
            <a:r>
              <a:rPr dirty="0" sz="3350">
                <a:solidFill>
                  <a:srgbClr val="C2132D"/>
                </a:solidFill>
              </a:rPr>
              <a:t>(Per</a:t>
            </a:r>
            <a:r>
              <a:rPr dirty="0" sz="3350" spc="-70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ISA291)</a:t>
            </a:r>
            <a:endParaRPr sz="3350"/>
          </a:p>
        </p:txBody>
      </p:sp>
      <p:sp>
        <p:nvSpPr>
          <p:cNvPr id="8" name="object 8"/>
          <p:cNvSpPr txBox="1"/>
          <p:nvPr/>
        </p:nvSpPr>
        <p:spPr>
          <a:xfrm>
            <a:off x="914400" y="1619250"/>
            <a:ext cx="4657725" cy="11049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80010" rIns="0" bIns="0" rtlCol="0" vert="horz">
            <a:spAutoFit/>
          </a:bodyPr>
          <a:lstStyle/>
          <a:p>
            <a:pPr marL="86360" marR="2145030">
              <a:lnSpc>
                <a:spcPct val="93800"/>
              </a:lnSpc>
              <a:spcBef>
                <a:spcPts val="630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df = data.frame(y = y)  df$lag1 = dplyr::lag(df$y,</a:t>
            </a:r>
            <a:r>
              <a:rPr dirty="0" sz="1100" spc="-7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  df_reg =</a:t>
            </a:r>
            <a:r>
              <a:rPr dirty="0" sz="1100" spc="-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na.omit(df)</a:t>
            </a:r>
            <a:endParaRPr sz="1100">
              <a:latin typeface="Courier New"/>
              <a:cs typeface="Courier New"/>
            </a:endParaRPr>
          </a:p>
          <a:p>
            <a:pPr marL="86360" marR="810895">
              <a:lnSpc>
                <a:spcPts val="1200"/>
              </a:lnSpc>
              <a:spcBef>
                <a:spcPts val="1220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lm_model = lm(y ~ lag1, data = df_reg)  stargazer::stargazer(lm_model, type =</a:t>
            </a:r>
            <a:r>
              <a:rPr dirty="0" sz="1100" spc="-4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'html'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52318" y="3271900"/>
            <a:ext cx="4669155" cy="77787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ctr" marL="12065" marR="5080">
              <a:lnSpc>
                <a:spcPct val="114199"/>
              </a:lnSpc>
              <a:spcBef>
                <a:spcPts val="65"/>
              </a:spcBef>
            </a:pPr>
            <a:r>
              <a:rPr dirty="0" sz="1450" spc="-10" b="1">
                <a:latin typeface="Roboto"/>
                <a:cs typeface="Roboto"/>
              </a:rPr>
              <a:t>The AR(1) and </a:t>
            </a:r>
            <a:r>
              <a:rPr dirty="0" sz="1450" spc="-5" b="1">
                <a:latin typeface="Roboto"/>
                <a:cs typeface="Roboto"/>
              </a:rPr>
              <a:t>the linear </a:t>
            </a:r>
            <a:r>
              <a:rPr dirty="0" sz="1450" spc="-10" b="1">
                <a:latin typeface="Roboto"/>
                <a:cs typeface="Roboto"/>
              </a:rPr>
              <a:t>regression model are </a:t>
            </a:r>
            <a:r>
              <a:rPr dirty="0" sz="1450" spc="-5" b="1">
                <a:latin typeface="Roboto"/>
                <a:cs typeface="Roboto"/>
              </a:rPr>
              <a:t>quite  </a:t>
            </a:r>
            <a:r>
              <a:rPr dirty="0" sz="1450" spc="-20" b="1">
                <a:latin typeface="Roboto"/>
                <a:cs typeface="Roboto"/>
              </a:rPr>
              <a:t>similar, </a:t>
            </a:r>
            <a:r>
              <a:rPr dirty="0" sz="1450" spc="-5" b="1">
                <a:latin typeface="Roboto"/>
                <a:cs typeface="Roboto"/>
              </a:rPr>
              <a:t>but </a:t>
            </a:r>
            <a:r>
              <a:rPr dirty="0" sz="1450" spc="-10" b="1">
                <a:latin typeface="Roboto"/>
                <a:cs typeface="Roboto"/>
              </a:rPr>
              <a:t>are </a:t>
            </a:r>
            <a:r>
              <a:rPr dirty="0" sz="1450" spc="-5" b="1">
                <a:latin typeface="Roboto"/>
                <a:cs typeface="Roboto"/>
              </a:rPr>
              <a:t>not identical in this </a:t>
            </a:r>
            <a:r>
              <a:rPr dirty="0" sz="1450" spc="-10" b="1">
                <a:latin typeface="Roboto"/>
                <a:cs typeface="Roboto"/>
              </a:rPr>
              <a:t>case. The</a:t>
            </a:r>
            <a:r>
              <a:rPr dirty="0" sz="1450" spc="-45" b="1">
                <a:latin typeface="Roboto"/>
                <a:cs typeface="Roboto"/>
              </a:rPr>
              <a:t> </a:t>
            </a:r>
            <a:r>
              <a:rPr dirty="0" sz="1450" spc="-10" b="1">
                <a:latin typeface="Roboto"/>
                <a:cs typeface="Roboto"/>
              </a:rPr>
              <a:t>differences  </a:t>
            </a:r>
            <a:r>
              <a:rPr dirty="0" sz="1450" spc="-5" b="1">
                <a:latin typeface="Roboto"/>
                <a:cs typeface="Roboto"/>
              </a:rPr>
              <a:t>arise </a:t>
            </a:r>
            <a:r>
              <a:rPr dirty="0" sz="1450" spc="-15" b="1">
                <a:latin typeface="Roboto"/>
                <a:cs typeface="Roboto"/>
              </a:rPr>
              <a:t>from </a:t>
            </a:r>
            <a:r>
              <a:rPr dirty="0" sz="1450" spc="-5" b="1">
                <a:latin typeface="Roboto"/>
                <a:cs typeface="Roboto"/>
              </a:rPr>
              <a:t>the </a:t>
            </a:r>
            <a:r>
              <a:rPr dirty="0" sz="1450" spc="-10" b="1">
                <a:latin typeface="Roboto"/>
                <a:cs typeface="Roboto"/>
              </a:rPr>
              <a:t>estimation methods used </a:t>
            </a:r>
            <a:r>
              <a:rPr dirty="0" sz="1450" spc="-5" b="1">
                <a:latin typeface="Roboto"/>
                <a:cs typeface="Roboto"/>
              </a:rPr>
              <a:t>in </a:t>
            </a:r>
            <a:r>
              <a:rPr dirty="0" sz="1450" spc="-10" b="1">
                <a:latin typeface="Roboto"/>
                <a:cs typeface="Roboto"/>
              </a:rPr>
              <a:t>each</a:t>
            </a:r>
            <a:r>
              <a:rPr dirty="0" sz="1450" spc="65" b="1">
                <a:latin typeface="Roboto"/>
                <a:cs typeface="Roboto"/>
              </a:rPr>
              <a:t> </a:t>
            </a:r>
            <a:r>
              <a:rPr dirty="0" sz="1450" spc="-10" b="1">
                <a:latin typeface="Roboto"/>
                <a:cs typeface="Roboto"/>
              </a:rPr>
              <a:t>model.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395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Simulation: The AR(1) Model</a:t>
            </a:r>
            <a:r>
              <a:rPr dirty="0" sz="3350" spc="-120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Results</a:t>
            </a:r>
            <a:endParaRPr sz="3350"/>
          </a:p>
        </p:txBody>
      </p:sp>
      <p:sp>
        <p:nvSpPr>
          <p:cNvPr id="4" name="object 4"/>
          <p:cNvSpPr/>
          <p:nvPr/>
        </p:nvSpPr>
        <p:spPr>
          <a:xfrm>
            <a:off x="914400" y="5886449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47737" y="5902324"/>
            <a:ext cx="984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00674" y="5886449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53062" y="5902324"/>
            <a:ext cx="984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85850" y="5886449"/>
            <a:ext cx="4314825" cy="142875"/>
          </a:xfrm>
          <a:custGeom>
            <a:avLst/>
            <a:gdLst/>
            <a:ahLst/>
            <a:cxnLst/>
            <a:rect l="l" t="t" r="r" b="b"/>
            <a:pathLst>
              <a:path w="4314825" h="142875">
                <a:moveTo>
                  <a:pt x="0" y="0"/>
                </a:moveTo>
                <a:lnTo>
                  <a:pt x="4314824" y="0"/>
                </a:lnTo>
                <a:lnTo>
                  <a:pt x="4314824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85849" y="5915024"/>
            <a:ext cx="3648075" cy="85725"/>
          </a:xfrm>
          <a:custGeom>
            <a:avLst/>
            <a:gdLst/>
            <a:ahLst/>
            <a:cxnLst/>
            <a:rect l="l" t="t" r="r" b="b"/>
            <a:pathLst>
              <a:path w="3648075" h="85725">
                <a:moveTo>
                  <a:pt x="3610896" y="85724"/>
                </a:moveTo>
                <a:lnTo>
                  <a:pt x="37178" y="85724"/>
                </a:lnTo>
                <a:lnTo>
                  <a:pt x="31710" y="84636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3610896" y="0"/>
                </a:lnTo>
                <a:lnTo>
                  <a:pt x="3642636" y="21207"/>
                </a:lnTo>
                <a:lnTo>
                  <a:pt x="3648074" y="37178"/>
                </a:lnTo>
                <a:lnTo>
                  <a:pt x="3648074" y="48546"/>
                </a:lnTo>
                <a:lnTo>
                  <a:pt x="3626865" y="80286"/>
                </a:lnTo>
                <a:lnTo>
                  <a:pt x="3610896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1619249"/>
            <a:ext cx="4657725" cy="4267200"/>
          </a:xfrm>
          <a:custGeom>
            <a:avLst/>
            <a:gdLst/>
            <a:ahLst/>
            <a:cxnLst/>
            <a:rect l="l" t="t" r="r" b="b"/>
            <a:pathLst>
              <a:path w="4657725" h="4267200">
                <a:moveTo>
                  <a:pt x="0" y="0"/>
                </a:moveTo>
                <a:lnTo>
                  <a:pt x="4657724" y="0"/>
                </a:lnTo>
                <a:lnTo>
                  <a:pt x="4657724" y="4267199"/>
                </a:lnTo>
                <a:lnTo>
                  <a:pt x="0" y="426719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R="1326515">
              <a:lnSpc>
                <a:spcPct val="93800"/>
              </a:lnSpc>
              <a:spcBef>
                <a:spcPts val="175"/>
              </a:spcBef>
            </a:pPr>
            <a:r>
              <a:rPr dirty="0" spc="-5" b="1">
                <a:latin typeface="Courier New"/>
                <a:cs typeface="Courier New"/>
              </a:rPr>
              <a:t>from </a:t>
            </a:r>
            <a:r>
              <a:rPr dirty="0" spc="-5"/>
              <a:t>statsforecast.models </a:t>
            </a:r>
            <a:r>
              <a:rPr dirty="0" spc="-5" b="1">
                <a:latin typeface="Courier New"/>
                <a:cs typeface="Courier New"/>
              </a:rPr>
              <a:t>import </a:t>
            </a:r>
            <a:r>
              <a:rPr dirty="0" spc="-5"/>
              <a:t>ARIMA  </a:t>
            </a:r>
            <a:r>
              <a:rPr dirty="0" spc="-5" b="1">
                <a:latin typeface="Courier New"/>
                <a:cs typeface="Courier New"/>
              </a:rPr>
              <a:t>from </a:t>
            </a:r>
            <a:r>
              <a:rPr dirty="0" spc="-5"/>
              <a:t>statsforecast </a:t>
            </a:r>
            <a:r>
              <a:rPr dirty="0" spc="-5" b="1">
                <a:latin typeface="Courier New"/>
                <a:cs typeface="Courier New"/>
              </a:rPr>
              <a:t>import</a:t>
            </a:r>
            <a:r>
              <a:rPr dirty="0" spc="-55" b="1">
                <a:latin typeface="Courier New"/>
                <a:cs typeface="Courier New"/>
              </a:rPr>
              <a:t> </a:t>
            </a:r>
            <a:r>
              <a:rPr dirty="0" spc="-5"/>
              <a:t>StatsForecast  df =</a:t>
            </a:r>
            <a:r>
              <a:rPr dirty="0" spc="-15"/>
              <a:t> </a:t>
            </a:r>
            <a:r>
              <a:rPr dirty="0" spc="-5"/>
              <a:t>(</a:t>
            </a:r>
          </a:p>
          <a:p>
            <a:pPr marL="166370">
              <a:lnSpc>
                <a:spcPts val="1255"/>
              </a:lnSpc>
            </a:pPr>
            <a:r>
              <a:rPr dirty="0" spc="-5"/>
              <a:t>pd.read_csv(</a:t>
            </a:r>
            <a:r>
              <a:rPr dirty="0" spc="-5">
                <a:solidFill>
                  <a:srgbClr val="DD1144"/>
                </a:solidFill>
              </a:rPr>
              <a:t>'../../data/ar1_simulation.csv'</a:t>
            </a:r>
            <a:r>
              <a:rPr dirty="0" spc="-5"/>
              <a:t>)</a:t>
            </a:r>
          </a:p>
          <a:p>
            <a:pPr marL="166370">
              <a:lnSpc>
                <a:spcPts val="1275"/>
              </a:lnSpc>
            </a:pPr>
            <a:r>
              <a:rPr dirty="0" spc="-5"/>
              <a:t>.assign(</a:t>
            </a:r>
          </a:p>
          <a:p>
            <a:pPr marL="333375">
              <a:lnSpc>
                <a:spcPts val="1240"/>
              </a:lnSpc>
            </a:pPr>
            <a:r>
              <a:rPr dirty="0" spc="-5"/>
              <a:t>unique_id =</a:t>
            </a:r>
            <a:r>
              <a:rPr dirty="0" spc="-15"/>
              <a:t> </a:t>
            </a:r>
            <a:r>
              <a:rPr dirty="0" spc="-5">
                <a:solidFill>
                  <a:srgbClr val="DD1144"/>
                </a:solidFill>
              </a:rPr>
              <a:t>'simulated_data'</a:t>
            </a:r>
            <a:r>
              <a:rPr dirty="0" spc="-5"/>
              <a:t>,</a:t>
            </a:r>
          </a:p>
          <a:p>
            <a:pPr marL="333375">
              <a:lnSpc>
                <a:spcPts val="1240"/>
              </a:lnSpc>
            </a:pPr>
            <a:r>
              <a:rPr dirty="0" spc="-5"/>
              <a:t>ds = pd.date_range(start=</a:t>
            </a:r>
            <a:r>
              <a:rPr dirty="0" spc="-5">
                <a:solidFill>
                  <a:srgbClr val="DD1144"/>
                </a:solidFill>
              </a:rPr>
              <a:t>'2024-01-01'</a:t>
            </a:r>
            <a:r>
              <a:rPr dirty="0" spc="-5"/>
              <a:t>,</a:t>
            </a:r>
            <a:r>
              <a:rPr dirty="0" spc="-40"/>
              <a:t> </a:t>
            </a:r>
            <a:r>
              <a:rPr dirty="0" spc="-5"/>
              <a:t>periods=</a:t>
            </a:r>
            <a:r>
              <a:rPr dirty="0" spc="-5">
                <a:solidFill>
                  <a:srgbClr val="008080"/>
                </a:solidFill>
              </a:rPr>
              <a:t>200</a:t>
            </a:r>
            <a:r>
              <a:rPr dirty="0" spc="-5"/>
              <a:t>,</a:t>
            </a:r>
          </a:p>
          <a:p>
            <a:pPr marL="166370">
              <a:lnSpc>
                <a:spcPts val="1275"/>
              </a:lnSpc>
            </a:pPr>
            <a:r>
              <a:rPr dirty="0" spc="-5"/>
              <a:t>)</a:t>
            </a:r>
          </a:p>
          <a:p>
            <a:pPr>
              <a:lnSpc>
                <a:spcPts val="1295"/>
              </a:lnSpc>
            </a:pPr>
            <a:r>
              <a:rPr dirty="0" spc="-5"/>
              <a:t>)</a:t>
            </a:r>
          </a:p>
          <a:p>
            <a:pPr marL="166370" indent="-167005">
              <a:lnSpc>
                <a:spcPts val="1295"/>
              </a:lnSpc>
              <a:spcBef>
                <a:spcPts val="1005"/>
              </a:spcBef>
              <a:buChar char="❖"/>
              <a:tabLst>
                <a:tab pos="167005" algn="l"/>
              </a:tabLst>
            </a:pPr>
            <a:r>
              <a:rPr dirty="0" spc="-5" i="1">
                <a:solidFill>
                  <a:srgbClr val="999987"/>
                </a:solidFill>
                <a:latin typeface="Courier New"/>
                <a:cs typeface="Courier New"/>
              </a:rPr>
              <a:t>typical statforecast</a:t>
            </a:r>
            <a:r>
              <a:rPr dirty="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pc="-5" i="1">
                <a:solidFill>
                  <a:srgbClr val="999987"/>
                </a:solidFill>
                <a:latin typeface="Courier New"/>
                <a:cs typeface="Courier New"/>
              </a:rPr>
              <a:t>workflow</a:t>
            </a:r>
          </a:p>
          <a:p>
            <a:pPr>
              <a:lnSpc>
                <a:spcPts val="1275"/>
              </a:lnSpc>
            </a:pPr>
            <a:r>
              <a:rPr dirty="0" spc="-5"/>
              <a:t>models =</a:t>
            </a:r>
            <a:r>
              <a:rPr dirty="0" spc="-65"/>
              <a:t> </a:t>
            </a:r>
            <a:r>
              <a:rPr dirty="0" spc="-5"/>
              <a:t>[ARIMA(order=(</a:t>
            </a:r>
            <a:r>
              <a:rPr dirty="0" spc="-5">
                <a:solidFill>
                  <a:srgbClr val="008080"/>
                </a:solidFill>
              </a:rPr>
              <a:t>1</a:t>
            </a:r>
            <a:r>
              <a:rPr dirty="0" spc="-5"/>
              <a:t>,</a:t>
            </a:r>
            <a:r>
              <a:rPr dirty="0" spc="-5">
                <a:solidFill>
                  <a:srgbClr val="008080"/>
                </a:solidFill>
              </a:rPr>
              <a:t>0</a:t>
            </a:r>
            <a:r>
              <a:rPr dirty="0" spc="-5"/>
              <a:t>,</a:t>
            </a:r>
            <a:r>
              <a:rPr dirty="0" spc="-5">
                <a:solidFill>
                  <a:srgbClr val="008080"/>
                </a:solidFill>
              </a:rPr>
              <a:t>0</a:t>
            </a:r>
            <a:r>
              <a:rPr dirty="0" spc="-5"/>
              <a:t>))]</a:t>
            </a:r>
          </a:p>
          <a:p>
            <a:pPr marR="993140">
              <a:lnSpc>
                <a:spcPts val="1280"/>
              </a:lnSpc>
              <a:spcBef>
                <a:spcPts val="55"/>
              </a:spcBef>
            </a:pPr>
            <a:r>
              <a:rPr dirty="0" spc="-5"/>
              <a:t>sf = StatsForecast(models=models,</a:t>
            </a:r>
            <a:r>
              <a:rPr dirty="0" spc="-50"/>
              <a:t> </a:t>
            </a:r>
            <a:r>
              <a:rPr dirty="0" spc="-5"/>
              <a:t>freq=</a:t>
            </a:r>
            <a:r>
              <a:rPr dirty="0" spc="-5">
                <a:solidFill>
                  <a:srgbClr val="DD1144"/>
                </a:solidFill>
              </a:rPr>
              <a:t>'D'</a:t>
            </a:r>
            <a:r>
              <a:rPr dirty="0" spc="-5"/>
              <a:t>)  sf.fit(df)</a:t>
            </a:r>
          </a:p>
          <a:p>
            <a:pPr marL="166370" indent="-167005">
              <a:lnSpc>
                <a:spcPts val="1295"/>
              </a:lnSpc>
              <a:spcBef>
                <a:spcPts val="960"/>
              </a:spcBef>
              <a:buChar char="❖"/>
              <a:tabLst>
                <a:tab pos="167005" algn="l"/>
              </a:tabLst>
            </a:pPr>
            <a:r>
              <a:rPr dirty="0" spc="-5" i="1">
                <a:solidFill>
                  <a:srgbClr val="999987"/>
                </a:solidFill>
                <a:latin typeface="Courier New"/>
                <a:cs typeface="Courier New"/>
              </a:rPr>
              <a:t>getting the model</a:t>
            </a:r>
            <a:r>
              <a:rPr dirty="0" spc="-1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pc="-5" i="1">
                <a:solidFill>
                  <a:srgbClr val="999987"/>
                </a:solidFill>
                <a:latin typeface="Courier New"/>
                <a:cs typeface="Courier New"/>
              </a:rPr>
              <a:t>coefficients</a:t>
            </a:r>
          </a:p>
          <a:p>
            <a:pPr marR="492125">
              <a:lnSpc>
                <a:spcPct val="93800"/>
              </a:lnSpc>
              <a:spcBef>
                <a:spcPts val="60"/>
              </a:spcBef>
              <a:buChar char="❖"/>
              <a:tabLst>
                <a:tab pos="167005" algn="l"/>
              </a:tabLst>
            </a:pPr>
            <a:r>
              <a:rPr dirty="0" spc="-5" i="1">
                <a:solidFill>
                  <a:srgbClr val="999987"/>
                </a:solidFill>
                <a:latin typeface="Courier New"/>
                <a:cs typeface="Courier New"/>
              </a:rPr>
              <a:t>first 0 is for unique_id (only 1 unique_id) </a:t>
            </a:r>
            <a:r>
              <a:rPr dirty="0" spc="-160" i="1">
                <a:solidFill>
                  <a:srgbClr val="999987"/>
                </a:solidFill>
                <a:latin typeface="Courier New"/>
                <a:cs typeface="Courier New"/>
              </a:rPr>
              <a:t>and  </a:t>
            </a:r>
            <a:r>
              <a:rPr dirty="0" spc="-5" i="1">
                <a:solidFill>
                  <a:srgbClr val="999987"/>
                </a:solidFill>
                <a:latin typeface="Courier New"/>
                <a:cs typeface="Courier New"/>
              </a:rPr>
              <a:t># second 0 is for the ARIMA model (only 1 model) </a:t>
            </a:r>
            <a:r>
              <a:rPr dirty="0" spc="-5" i="1">
                <a:latin typeface="Courier New"/>
                <a:cs typeface="Courier New"/>
              </a:rPr>
              <a:t> </a:t>
            </a:r>
            <a:r>
              <a:rPr dirty="0" spc="-5"/>
              <a:t>phi1 =</a:t>
            </a:r>
            <a:r>
              <a:rPr dirty="0" spc="-40"/>
              <a:t> </a:t>
            </a:r>
            <a:r>
              <a:rPr dirty="0" spc="-5"/>
              <a:t>sf.fitted_[</a:t>
            </a:r>
            <a:r>
              <a:rPr dirty="0" spc="-5">
                <a:solidFill>
                  <a:srgbClr val="008080"/>
                </a:solidFill>
              </a:rPr>
              <a:t>0</a:t>
            </a:r>
            <a:r>
              <a:rPr dirty="0" spc="-5"/>
              <a:t>][</a:t>
            </a:r>
            <a:r>
              <a:rPr dirty="0" spc="-5">
                <a:solidFill>
                  <a:srgbClr val="008080"/>
                </a:solidFill>
              </a:rPr>
              <a:t>0</a:t>
            </a:r>
            <a:r>
              <a:rPr dirty="0" spc="-5"/>
              <a:t>].model_.get(</a:t>
            </a:r>
            <a:r>
              <a:rPr dirty="0" spc="-5">
                <a:solidFill>
                  <a:srgbClr val="DD1144"/>
                </a:solidFill>
              </a:rPr>
              <a:t>'coef'</a:t>
            </a:r>
            <a:r>
              <a:rPr dirty="0" spc="-5"/>
              <a:t>)[</a:t>
            </a:r>
            <a:r>
              <a:rPr dirty="0" spc="-5">
                <a:solidFill>
                  <a:srgbClr val="DD1144"/>
                </a:solidFill>
              </a:rPr>
              <a:t>'ar1'</a:t>
            </a:r>
            <a:r>
              <a:rPr dirty="0" spc="-5"/>
              <a:t>]</a:t>
            </a:r>
          </a:p>
          <a:p>
            <a:pPr>
              <a:lnSpc>
                <a:spcPts val="1275"/>
              </a:lnSpc>
            </a:pPr>
            <a:r>
              <a:rPr dirty="0" spc="-5"/>
              <a:t>intercept =</a:t>
            </a:r>
            <a:r>
              <a:rPr dirty="0" spc="-30"/>
              <a:t> </a:t>
            </a:r>
            <a:r>
              <a:rPr dirty="0" spc="-5"/>
              <a:t>sf.fitted_[</a:t>
            </a:r>
            <a:r>
              <a:rPr dirty="0" spc="-5">
                <a:solidFill>
                  <a:srgbClr val="008080"/>
                </a:solidFill>
              </a:rPr>
              <a:t>0</a:t>
            </a:r>
            <a:r>
              <a:rPr dirty="0" spc="-5"/>
              <a:t>][</a:t>
            </a:r>
            <a:r>
              <a:rPr dirty="0" spc="-5">
                <a:solidFill>
                  <a:srgbClr val="008080"/>
                </a:solidFill>
              </a:rPr>
              <a:t>0</a:t>
            </a:r>
            <a:r>
              <a:rPr dirty="0" spc="-5"/>
              <a:t>].model_.get(</a:t>
            </a:r>
            <a:r>
              <a:rPr dirty="0" spc="-5">
                <a:solidFill>
                  <a:srgbClr val="DD1144"/>
                </a:solidFill>
              </a:rPr>
              <a:t>'coef'</a:t>
            </a:r>
            <a:r>
              <a:rPr dirty="0" spc="-5"/>
              <a:t>)[</a:t>
            </a:r>
            <a:r>
              <a:rPr dirty="0" spc="-5">
                <a:solidFill>
                  <a:srgbClr val="DD1144"/>
                </a:solidFill>
              </a:rPr>
              <a:t>'interc</a:t>
            </a:r>
          </a:p>
          <a:p>
            <a:pPr>
              <a:lnSpc>
                <a:spcPts val="1260"/>
              </a:lnSpc>
              <a:spcBef>
                <a:spcPts val="1080"/>
              </a:spcBef>
            </a:pPr>
            <a:r>
              <a:rPr dirty="0" spc="-5"/>
              <a:t>print(</a:t>
            </a:r>
          </a:p>
          <a:p>
            <a:pPr marL="166370">
              <a:lnSpc>
                <a:spcPts val="1240"/>
              </a:lnSpc>
            </a:pPr>
            <a:r>
              <a:rPr dirty="0" spc="-5">
                <a:solidFill>
                  <a:srgbClr val="DD1144"/>
                </a:solidFill>
              </a:rPr>
              <a:t>'The AR(1) model equation</a:t>
            </a:r>
            <a:r>
              <a:rPr dirty="0" spc="-15">
                <a:solidFill>
                  <a:srgbClr val="DD1144"/>
                </a:solidFill>
              </a:rPr>
              <a:t> </a:t>
            </a:r>
            <a:r>
              <a:rPr dirty="0" spc="-5">
                <a:solidFill>
                  <a:srgbClr val="DD1144"/>
                </a:solidFill>
              </a:rPr>
              <a:t>is:\n'</a:t>
            </a:r>
            <a:r>
              <a:rPr dirty="0" spc="-5"/>
              <a:t>,</a:t>
            </a:r>
          </a:p>
          <a:p>
            <a:pPr marL="166370">
              <a:lnSpc>
                <a:spcPts val="1275"/>
              </a:lnSpc>
            </a:pPr>
            <a:r>
              <a:rPr dirty="0" spc="-5">
                <a:solidFill>
                  <a:srgbClr val="DD1144"/>
                </a:solidFill>
              </a:rPr>
              <a:t>'y[t] = {:.3f} + {:.3f} * y[t-1] +</a:t>
            </a:r>
            <a:r>
              <a:rPr dirty="0" spc="-30">
                <a:solidFill>
                  <a:srgbClr val="DD1144"/>
                </a:solidFill>
              </a:rPr>
              <a:t> </a:t>
            </a:r>
            <a:r>
              <a:rPr dirty="0" spc="-5">
                <a:solidFill>
                  <a:srgbClr val="DD1144"/>
                </a:solidFill>
              </a:rPr>
              <a:t>e[t]'</a:t>
            </a:r>
          </a:p>
          <a:p>
            <a:pPr marL="166370">
              <a:lnSpc>
                <a:spcPts val="1275"/>
              </a:lnSpc>
            </a:pPr>
            <a:r>
              <a:rPr dirty="0" spc="-5"/>
              <a:t>.format(intercept,</a:t>
            </a:r>
            <a:r>
              <a:rPr dirty="0" spc="-10"/>
              <a:t> </a:t>
            </a:r>
            <a:r>
              <a:rPr dirty="0" spc="-5"/>
              <a:t>phi1)</a:t>
            </a:r>
          </a:p>
          <a:p>
            <a:pPr marL="166370">
              <a:lnSpc>
                <a:spcPts val="1295"/>
              </a:lnSpc>
            </a:pPr>
            <a:r>
              <a:rPr dirty="0" spc="-5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762624" y="1619250"/>
            <a:ext cx="4848225" cy="6477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79375" rIns="0" bIns="0" rtlCol="0" vert="horz">
            <a:spAutoFit/>
          </a:bodyPr>
          <a:lstStyle/>
          <a:p>
            <a:pPr marL="86360" marR="2085339">
              <a:lnSpc>
                <a:spcPts val="1280"/>
              </a:lnSpc>
              <a:spcBef>
                <a:spcPts val="625"/>
              </a:spcBef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10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StatsForecast(models=[ARIMA]) 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 The AR(1) model equation</a:t>
            </a:r>
            <a:r>
              <a:rPr dirty="0" sz="110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is: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ts val="1160"/>
              </a:lnSpc>
              <a:tabLst>
                <a:tab pos="419734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	y[t] = -0.758 + 0.730 * y[t-1] +</a:t>
            </a:r>
            <a:r>
              <a:rPr dirty="0" sz="1100" spc="-2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e[t]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5398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Determining the </a:t>
            </a:r>
            <a:r>
              <a:rPr dirty="0" sz="3350" spc="5">
                <a:solidFill>
                  <a:srgbClr val="C2132D"/>
                </a:solidFill>
              </a:rPr>
              <a:t>Order </a:t>
            </a:r>
            <a:r>
              <a:rPr dirty="0" sz="3350" spc="10">
                <a:solidFill>
                  <a:srgbClr val="C2132D"/>
                </a:solidFill>
              </a:rPr>
              <a:t>of the AR</a:t>
            </a:r>
            <a:r>
              <a:rPr dirty="0" sz="3350" spc="-5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Model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431020" cy="261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usually tell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autoregressive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(AR) component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data  because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 tends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geometrically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decrease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magnitude (i.e.,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"die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down").</a:t>
            </a:r>
            <a:endParaRPr sz="1800">
              <a:latin typeface="Roboto"/>
              <a:cs typeface="Roboto"/>
            </a:endParaRPr>
          </a:p>
          <a:p>
            <a:pPr marL="146050" marR="615315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order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an AR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refers 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how many lags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include in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autoregressive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model.</a:t>
            </a:r>
            <a:endParaRPr sz="1800">
              <a:latin typeface="Roboto"/>
              <a:cs typeface="Roboto"/>
            </a:endParaRPr>
          </a:p>
          <a:p>
            <a:pPr marL="146050" marR="35941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Because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AR model is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mixture,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ACF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useful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for determining the 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order of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AR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process.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Thus, the </a:t>
            </a:r>
            <a:r>
              <a:rPr dirty="0" sz="1800" spc="-10" b="1">
                <a:latin typeface="Roboto"/>
                <a:cs typeface="Roboto"/>
              </a:rPr>
              <a:t>ACF </a:t>
            </a:r>
            <a:r>
              <a:rPr dirty="0" sz="1800" spc="-5" b="1">
                <a:latin typeface="Roboto"/>
                <a:cs typeface="Roboto"/>
              </a:rPr>
              <a:t>helps </a:t>
            </a:r>
            <a:r>
              <a:rPr dirty="0" sz="1800" b="1">
                <a:latin typeface="Roboto"/>
                <a:cs typeface="Roboto"/>
              </a:rPr>
              <a:t>us </a:t>
            </a:r>
            <a:r>
              <a:rPr dirty="0" sz="1800" spc="-15" b="1">
                <a:latin typeface="Roboto"/>
                <a:cs typeface="Roboto"/>
              </a:rPr>
              <a:t>to </a:t>
            </a:r>
            <a:r>
              <a:rPr dirty="0" sz="1800" spc="-5" b="1">
                <a:latin typeface="Roboto"/>
                <a:cs typeface="Roboto"/>
              </a:rPr>
              <a:t>know </a:t>
            </a:r>
            <a:r>
              <a:rPr dirty="0" sz="1800" b="1">
                <a:latin typeface="Roboto"/>
                <a:cs typeface="Roboto"/>
              </a:rPr>
              <a:t>that </a:t>
            </a:r>
            <a:r>
              <a:rPr dirty="0" sz="1800" spc="-5" b="1">
                <a:latin typeface="Roboto"/>
                <a:cs typeface="Roboto"/>
              </a:rPr>
              <a:t>we </a:t>
            </a:r>
            <a:r>
              <a:rPr dirty="0" sz="1800" spc="-10" b="1">
                <a:latin typeface="Roboto"/>
                <a:cs typeface="Roboto"/>
              </a:rPr>
              <a:t>have </a:t>
            </a:r>
            <a:r>
              <a:rPr dirty="0" sz="1800" spc="-5" b="1">
                <a:latin typeface="Roboto"/>
                <a:cs typeface="Roboto"/>
              </a:rPr>
              <a:t>an </a:t>
            </a:r>
            <a:r>
              <a:rPr dirty="0" sz="1800" b="1">
                <a:latin typeface="Roboto"/>
                <a:cs typeface="Roboto"/>
              </a:rPr>
              <a:t>AR model, but not </a:t>
            </a:r>
            <a:r>
              <a:rPr dirty="0" sz="1800" spc="-5" b="1">
                <a:latin typeface="Roboto"/>
                <a:cs typeface="Roboto"/>
              </a:rPr>
              <a:t>which </a:t>
            </a:r>
            <a:r>
              <a:rPr dirty="0" sz="1800" b="1">
                <a:latin typeface="Roboto"/>
                <a:cs typeface="Roboto"/>
              </a:rPr>
              <a:t>AR </a:t>
            </a:r>
            <a:r>
              <a:rPr dirty="0" sz="1800" spc="-5" b="1">
                <a:latin typeface="Roboto"/>
                <a:cs typeface="Roboto"/>
              </a:rPr>
              <a:t>model </a:t>
            </a:r>
            <a:r>
              <a:rPr dirty="0" sz="1800" spc="-15" b="1">
                <a:latin typeface="Roboto"/>
                <a:cs typeface="Roboto"/>
              </a:rPr>
              <a:t>to</a:t>
            </a:r>
            <a:r>
              <a:rPr dirty="0" sz="1800" spc="25" b="1">
                <a:latin typeface="Roboto"/>
                <a:cs typeface="Roboto"/>
              </a:rPr>
              <a:t> </a:t>
            </a:r>
            <a:r>
              <a:rPr dirty="0" sz="1800" spc="-10" b="1">
                <a:latin typeface="Roboto"/>
                <a:cs typeface="Roboto"/>
              </a:rPr>
              <a:t>fit!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3354" y="4738369"/>
            <a:ext cx="8792210" cy="153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0" marR="304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720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Partial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Autocorrelation Function </a:t>
            </a:r>
            <a:r>
              <a:rPr dirty="0" sz="1800" spc="-30" b="1">
                <a:solidFill>
                  <a:srgbClr val="C2132D"/>
                </a:solidFill>
                <a:latin typeface="Roboto"/>
                <a:cs typeface="Roboto"/>
              </a:rPr>
              <a:t>(PACF)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used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determine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AR  model.</a:t>
            </a:r>
            <a:endParaRPr sz="1800">
              <a:latin typeface="Roboto"/>
              <a:cs typeface="Roboto"/>
            </a:endParaRPr>
          </a:p>
          <a:p>
            <a:pPr lvl="1" marL="5524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530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 AR(p) model, the 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PACF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</a:t>
            </a:r>
            <a:r>
              <a:rPr dirty="0" sz="1650" spc="9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42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04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333" sz="1875" spc="104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104" i="1">
                <a:solidFill>
                  <a:srgbClr val="585D60"/>
                </a:solidFill>
                <a:latin typeface="Arial"/>
                <a:cs typeface="Arial"/>
              </a:rPr>
              <a:t>k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0 </a:t>
            </a:r>
            <a:r>
              <a:rPr dirty="0" sz="1800" spc="-595">
                <a:solidFill>
                  <a:srgbClr val="585D60"/>
                </a:solidFill>
                <a:latin typeface="Lucida Sans Unicode"/>
                <a:cs typeface="Lucida Sans Unicode"/>
              </a:rPr>
              <a:t>∀</a:t>
            </a:r>
            <a:r>
              <a:rPr dirty="0" sz="1800" spc="-1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0" i="1">
                <a:solidFill>
                  <a:srgbClr val="585D60"/>
                </a:solidFill>
                <a:latin typeface="Arial"/>
                <a:cs typeface="Arial"/>
              </a:rPr>
              <a:t>k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&gt;</a:t>
            </a:r>
            <a:r>
              <a:rPr dirty="0" sz="1800" spc="-2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lvl="1" marL="5524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530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PACF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cut off after lag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50" spc="-10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0216" y="2731008"/>
            <a:ext cx="6559550" cy="1076325"/>
          </a:xfrm>
          <a:prstGeom prst="rect"/>
          <a:solidFill>
            <a:srgbClr val="333333"/>
          </a:solidFill>
        </p:spPr>
        <p:txBody>
          <a:bodyPr wrap="square" lIns="0" tIns="167640" rIns="0" bIns="0" rtlCol="0" vert="horz">
            <a:spAutoFit/>
          </a:bodyPr>
          <a:lstStyle/>
          <a:p>
            <a:pPr marL="227329">
              <a:lnSpc>
                <a:spcPct val="100000"/>
              </a:lnSpc>
              <a:spcBef>
                <a:spcPts val="1320"/>
              </a:spcBef>
            </a:pPr>
            <a:r>
              <a:rPr dirty="0" spc="-990">
                <a:solidFill>
                  <a:srgbClr val="000000"/>
                </a:solidFill>
              </a:rPr>
              <a:t>M</a:t>
            </a:r>
            <a:r>
              <a:rPr dirty="0" spc="-990"/>
              <a:t>M</a:t>
            </a:r>
            <a:r>
              <a:rPr dirty="0" spc="-990">
                <a:solidFill>
                  <a:srgbClr val="000000"/>
                </a:solidFill>
              </a:rPr>
              <a:t>o</a:t>
            </a:r>
            <a:r>
              <a:rPr dirty="0" spc="-990"/>
              <a:t>o</a:t>
            </a:r>
            <a:r>
              <a:rPr dirty="0" spc="-990">
                <a:solidFill>
                  <a:srgbClr val="000000"/>
                </a:solidFill>
              </a:rPr>
              <a:t>v</a:t>
            </a:r>
            <a:r>
              <a:rPr dirty="0" spc="-990"/>
              <a:t>v</a:t>
            </a:r>
            <a:r>
              <a:rPr dirty="0" spc="-990">
                <a:solidFill>
                  <a:srgbClr val="000000"/>
                </a:solidFill>
              </a:rPr>
              <a:t>i</a:t>
            </a:r>
            <a:r>
              <a:rPr dirty="0" spc="-990"/>
              <a:t>i</a:t>
            </a:r>
            <a:r>
              <a:rPr dirty="0" spc="-990">
                <a:solidFill>
                  <a:srgbClr val="000000"/>
                </a:solidFill>
              </a:rPr>
              <a:t>n</a:t>
            </a:r>
            <a:r>
              <a:rPr dirty="0" spc="-990"/>
              <a:t>n</a:t>
            </a:r>
            <a:r>
              <a:rPr dirty="0" spc="-990">
                <a:solidFill>
                  <a:srgbClr val="000000"/>
                </a:solidFill>
              </a:rPr>
              <a:t>g</a:t>
            </a:r>
            <a:r>
              <a:rPr dirty="0" spc="-990"/>
              <a:t>g</a:t>
            </a:r>
            <a:r>
              <a:rPr dirty="0" spc="25"/>
              <a:t> </a:t>
            </a:r>
            <a:r>
              <a:rPr dirty="0" spc="-955">
                <a:solidFill>
                  <a:srgbClr val="000000"/>
                </a:solidFill>
              </a:rPr>
              <a:t>A</a:t>
            </a:r>
            <a:r>
              <a:rPr dirty="0" spc="-955"/>
              <a:t>A</a:t>
            </a:r>
            <a:r>
              <a:rPr dirty="0" spc="-955">
                <a:solidFill>
                  <a:srgbClr val="000000"/>
                </a:solidFill>
              </a:rPr>
              <a:t>v</a:t>
            </a:r>
            <a:r>
              <a:rPr dirty="0" spc="-955"/>
              <a:t>v</a:t>
            </a:r>
            <a:r>
              <a:rPr dirty="0" spc="-955">
                <a:solidFill>
                  <a:srgbClr val="000000"/>
                </a:solidFill>
              </a:rPr>
              <a:t>e</a:t>
            </a:r>
            <a:r>
              <a:rPr dirty="0" spc="-955"/>
              <a:t>e</a:t>
            </a:r>
            <a:r>
              <a:rPr dirty="0" spc="-955">
                <a:solidFill>
                  <a:srgbClr val="000000"/>
                </a:solidFill>
              </a:rPr>
              <a:t>r</a:t>
            </a:r>
            <a:r>
              <a:rPr dirty="0" spc="-955"/>
              <a:t>r</a:t>
            </a:r>
            <a:r>
              <a:rPr dirty="0" spc="-955">
                <a:solidFill>
                  <a:srgbClr val="000000"/>
                </a:solidFill>
              </a:rPr>
              <a:t>a</a:t>
            </a:r>
            <a:r>
              <a:rPr dirty="0" spc="-955"/>
              <a:t>a</a:t>
            </a:r>
            <a:r>
              <a:rPr dirty="0" spc="-955">
                <a:solidFill>
                  <a:srgbClr val="000000"/>
                </a:solidFill>
              </a:rPr>
              <a:t>g</a:t>
            </a:r>
            <a:r>
              <a:rPr dirty="0" spc="-955"/>
              <a:t>g</a:t>
            </a:r>
            <a:r>
              <a:rPr dirty="0" spc="-955">
                <a:solidFill>
                  <a:srgbClr val="000000"/>
                </a:solidFill>
              </a:rPr>
              <a:t>e</a:t>
            </a:r>
            <a:r>
              <a:rPr dirty="0" spc="-955"/>
              <a:t>e</a:t>
            </a:r>
            <a:r>
              <a:rPr dirty="0" spc="25"/>
              <a:t> </a:t>
            </a:r>
            <a:r>
              <a:rPr dirty="0" spc="-1000">
                <a:solidFill>
                  <a:srgbClr val="000000"/>
                </a:solidFill>
              </a:rPr>
              <a:t>(</a:t>
            </a:r>
            <a:r>
              <a:rPr dirty="0" spc="-1000"/>
              <a:t>(</a:t>
            </a:r>
            <a:r>
              <a:rPr dirty="0" spc="-1000">
                <a:solidFill>
                  <a:srgbClr val="000000"/>
                </a:solidFill>
              </a:rPr>
              <a:t>M</a:t>
            </a:r>
            <a:r>
              <a:rPr dirty="0" spc="-1000"/>
              <a:t>M</a:t>
            </a:r>
            <a:r>
              <a:rPr dirty="0" spc="-1000">
                <a:solidFill>
                  <a:srgbClr val="000000"/>
                </a:solidFill>
              </a:rPr>
              <a:t>A</a:t>
            </a:r>
            <a:r>
              <a:rPr dirty="0" spc="-1000"/>
              <a:t>A</a:t>
            </a:r>
            <a:r>
              <a:rPr dirty="0" spc="-1000">
                <a:solidFill>
                  <a:srgbClr val="000000"/>
                </a:solidFill>
              </a:rPr>
              <a:t>)</a:t>
            </a:r>
            <a:r>
              <a:rPr dirty="0" spc="-1000"/>
              <a:t>)</a:t>
            </a:r>
            <a:r>
              <a:rPr dirty="0" spc="25"/>
              <a:t> </a:t>
            </a:r>
            <a:r>
              <a:rPr dirty="0" spc="-990">
                <a:solidFill>
                  <a:srgbClr val="000000"/>
                </a:solidFill>
              </a:rPr>
              <a:t>M</a:t>
            </a:r>
            <a:r>
              <a:rPr dirty="0" spc="-990"/>
              <a:t>M</a:t>
            </a:r>
            <a:r>
              <a:rPr dirty="0" spc="-990">
                <a:solidFill>
                  <a:srgbClr val="000000"/>
                </a:solidFill>
              </a:rPr>
              <a:t>o</a:t>
            </a:r>
            <a:r>
              <a:rPr dirty="0" spc="-990"/>
              <a:t>o</a:t>
            </a:r>
            <a:r>
              <a:rPr dirty="0" spc="-990">
                <a:solidFill>
                  <a:srgbClr val="000000"/>
                </a:solidFill>
              </a:rPr>
              <a:t>d</a:t>
            </a:r>
            <a:r>
              <a:rPr dirty="0" spc="-990"/>
              <a:t>d</a:t>
            </a:r>
            <a:r>
              <a:rPr dirty="0" spc="-990">
                <a:solidFill>
                  <a:srgbClr val="000000"/>
                </a:solidFill>
              </a:rPr>
              <a:t>e</a:t>
            </a:r>
            <a:r>
              <a:rPr dirty="0" spc="-990"/>
              <a:t>e</a:t>
            </a:r>
            <a:r>
              <a:rPr dirty="0" spc="-990">
                <a:solidFill>
                  <a:srgbClr val="000000"/>
                </a:solidFill>
              </a:rPr>
              <a:t>l</a:t>
            </a:r>
            <a:r>
              <a:rPr dirty="0" spc="-990"/>
              <a:t>l</a:t>
            </a:r>
            <a:r>
              <a:rPr dirty="0" spc="-990">
                <a:solidFill>
                  <a:srgbClr val="000000"/>
                </a:solidFill>
              </a:rPr>
              <a:t>s</a:t>
            </a:r>
            <a:r>
              <a:rPr dirty="0" spc="-99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5416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The </a:t>
            </a:r>
            <a:r>
              <a:rPr dirty="0" sz="3350" spc="5">
                <a:solidFill>
                  <a:srgbClr val="C2132D"/>
                </a:solidFill>
              </a:rPr>
              <a:t>Moving </a:t>
            </a:r>
            <a:r>
              <a:rPr dirty="0" sz="3350" spc="-15">
                <a:solidFill>
                  <a:srgbClr val="C2132D"/>
                </a:solidFill>
              </a:rPr>
              <a:t>Average </a:t>
            </a:r>
            <a:r>
              <a:rPr dirty="0" sz="3350" spc="15">
                <a:solidFill>
                  <a:srgbClr val="C2132D"/>
                </a:solidFill>
              </a:rPr>
              <a:t>(MA)</a:t>
            </a:r>
            <a:r>
              <a:rPr dirty="0" sz="3350" spc="-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Model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863600" y="1376044"/>
            <a:ext cx="9625330" cy="3130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4318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Rather than using past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variable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regression,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moving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 uses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past forecast errors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regression-like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</a:t>
            </a:r>
            <a:endParaRPr sz="1800">
              <a:latin typeface="Roboto"/>
              <a:cs typeface="Roboto"/>
            </a:endParaRPr>
          </a:p>
          <a:p>
            <a:pPr algn="ctr" marL="172720">
              <a:lnSpc>
                <a:spcPct val="100000"/>
              </a:lnSpc>
              <a:spcBef>
                <a:spcPts val="1665"/>
              </a:spcBef>
            </a:pPr>
            <a:r>
              <a:rPr dirty="0" sz="1650" spc="9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4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4492" sz="1725" spc="397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0" i="1">
                <a:solidFill>
                  <a:srgbClr val="585D60"/>
                </a:solidFill>
                <a:latin typeface="Arial"/>
                <a:cs typeface="Arial"/>
              </a:rPr>
              <a:t>c</a:t>
            </a:r>
            <a:r>
              <a:rPr dirty="0" sz="1650" spc="-6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104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4492" sz="1725" spc="247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650" spc="-25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-37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3333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650" spc="-25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-37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−2</a:t>
            </a:r>
            <a:r>
              <a:rPr dirty="0" baseline="-13333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675">
                <a:solidFill>
                  <a:srgbClr val="585D60"/>
                </a:solidFill>
                <a:latin typeface="Lucida Sans Unicode"/>
                <a:cs typeface="Lucida Sans Unicode"/>
              </a:rPr>
              <a:t>⋯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4492" sz="1725" spc="7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7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333" sz="1875" spc="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7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r>
              <a:rPr dirty="0" baseline="-14492" sz="1725" spc="-322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Roboto"/>
              <a:cs typeface="Roboto"/>
            </a:endParaRPr>
          </a:p>
          <a:p>
            <a:pPr marL="431800" indent="-133985">
              <a:lnSpc>
                <a:spcPct val="100000"/>
              </a:lnSpc>
              <a:buClr>
                <a:srgbClr val="C2132D"/>
              </a:buClr>
              <a:buSzPct val="109090"/>
              <a:buFont typeface="Roboto"/>
              <a:buChar char="•"/>
              <a:tabLst>
                <a:tab pos="431800" algn="l"/>
              </a:tabLst>
            </a:pP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104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white noise; </a:t>
            </a: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104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∼ </a:t>
            </a:r>
            <a:r>
              <a:rPr dirty="0" sz="1500" spc="240">
                <a:solidFill>
                  <a:srgbClr val="585D60"/>
                </a:solidFill>
                <a:latin typeface="Eras Bold ITC"/>
                <a:cs typeface="Eras Bold ITC"/>
              </a:rPr>
              <a:t>N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(0,</a:t>
            </a:r>
            <a:r>
              <a:rPr dirty="0" sz="1800" spc="-3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 i="1">
                <a:solidFill>
                  <a:srgbClr val="585D60"/>
                </a:solidFill>
                <a:latin typeface="Arial"/>
                <a:cs typeface="Arial"/>
              </a:rPr>
              <a:t>σ</a:t>
            </a:r>
            <a:r>
              <a:rPr dirty="0" baseline="26666" sz="1875" spc="60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4318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4318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Unlike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AR models,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past values of </a:t>
            </a:r>
            <a:r>
              <a:rPr dirty="0" sz="1600" spc="12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-14492" sz="1725" spc="179" i="1">
                <a:solidFill>
                  <a:srgbClr val="C2132D"/>
                </a:solidFill>
                <a:latin typeface="Calibri"/>
                <a:cs typeface="Calibri"/>
              </a:rPr>
              <a:t>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do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appear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;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instead, </a:t>
            </a:r>
            <a:r>
              <a:rPr dirty="0" sz="1650" spc="9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42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depends on past</a:t>
            </a:r>
            <a:r>
              <a:rPr dirty="0" sz="1800" spc="-8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errors.</a:t>
            </a:r>
            <a:endParaRPr sz="1800">
              <a:latin typeface="Roboto"/>
              <a:cs typeface="Roboto"/>
            </a:endParaRPr>
          </a:p>
          <a:p>
            <a:pPr marL="4318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4318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errors </a:t>
            </a: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2077" sz="1725" spc="104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are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unobservable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meaning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they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must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be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inferred from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</a:t>
            </a:r>
            <a:r>
              <a:rPr dirty="0" sz="1800" spc="-20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9000" y="530225"/>
            <a:ext cx="72091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How do we Estimate </a:t>
            </a:r>
            <a:r>
              <a:rPr dirty="0" sz="3050" spc="-125" i="1">
                <a:solidFill>
                  <a:srgbClr val="C2132D"/>
                </a:solidFill>
                <a:latin typeface="Calibri"/>
                <a:cs typeface="Calibri"/>
              </a:rPr>
              <a:t>θ </a:t>
            </a:r>
            <a:r>
              <a:rPr dirty="0" sz="3350" spc="5">
                <a:solidFill>
                  <a:srgbClr val="C2132D"/>
                </a:solidFill>
              </a:rPr>
              <a:t>if </a:t>
            </a:r>
            <a:r>
              <a:rPr dirty="0" sz="3050" spc="95" i="1">
                <a:solidFill>
                  <a:srgbClr val="C2132D"/>
                </a:solidFill>
                <a:latin typeface="Calibri"/>
                <a:cs typeface="Calibri"/>
              </a:rPr>
              <a:t>ϵ</a:t>
            </a:r>
            <a:r>
              <a:rPr dirty="0" baseline="-14211" sz="3225" spc="142" i="1">
                <a:solidFill>
                  <a:srgbClr val="C2132D"/>
                </a:solidFill>
                <a:latin typeface="Calibri"/>
                <a:cs typeface="Calibri"/>
              </a:rPr>
              <a:t>t </a:t>
            </a:r>
            <a:r>
              <a:rPr dirty="0" sz="3350" spc="10">
                <a:solidFill>
                  <a:srgbClr val="C2132D"/>
                </a:solidFill>
              </a:rPr>
              <a:t>is</a:t>
            </a:r>
            <a:r>
              <a:rPr dirty="0" sz="3350" spc="-40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Unobserved?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0900" y="1425575"/>
            <a:ext cx="9688830" cy="4643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9725" indent="-276860">
              <a:lnSpc>
                <a:spcPct val="100000"/>
              </a:lnSpc>
              <a:spcBef>
                <a:spcPts val="100"/>
              </a:spcBef>
              <a:buAutoNum type="alphaUcPeriod"/>
              <a:tabLst>
                <a:tab pos="34036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Maximum Likelihood Estimation (MLE)</a:t>
            </a:r>
            <a:endParaRPr sz="1800">
              <a:latin typeface="Roboto"/>
              <a:cs typeface="Roboto"/>
            </a:endParaRPr>
          </a:p>
          <a:p>
            <a:pPr marL="63500">
              <a:lnSpc>
                <a:spcPct val="100000"/>
              </a:lnSpc>
              <a:spcBef>
                <a:spcPts val="12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MLE estimates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parameters 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maximizing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likelihood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function assuming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residuals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104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baseline="-14492" sz="1725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 a normal distribution.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</a:t>
            </a:r>
            <a:r>
              <a:rPr dirty="0" sz="1800" spc="-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Roboto"/>
              <a:cs typeface="Roboto"/>
            </a:endParaRPr>
          </a:p>
          <a:p>
            <a:pPr lvl="1" marL="4445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Assume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 initial set of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parameters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50" spc="-6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3333" sz="1875" spc="-97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6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3333" sz="1875" spc="-97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305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6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4492" sz="1725" spc="-97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r>
              <a:rPr dirty="0" baseline="-14492" sz="1725" spc="-322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lvl="1" marL="443865" marR="915035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an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interative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algorithm*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(e.g.,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Expectation-Maximization,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Kalman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Filtering, or  numerical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optimization)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estimate the most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likely error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terms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50" spc="75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11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800" spc="7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lvl="1" marL="4445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Maximize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likelihood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observed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given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those estimated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errors.</a:t>
            </a:r>
            <a:endParaRPr sz="18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C2132D"/>
              </a:buClr>
              <a:buFont typeface="Roboto"/>
              <a:buChar char="•"/>
            </a:pPr>
            <a:endParaRPr sz="1800">
              <a:latin typeface="Roboto"/>
              <a:cs typeface="Roboto"/>
            </a:endParaRPr>
          </a:p>
          <a:p>
            <a:pPr marL="332105" indent="-269240">
              <a:lnSpc>
                <a:spcPct val="100000"/>
              </a:lnSpc>
              <a:buAutoNum type="alphaUcPeriod" startAt="2"/>
              <a:tabLst>
                <a:tab pos="33274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Nonlinear Least Squares (NLS)</a:t>
            </a:r>
            <a:endParaRPr sz="1800">
              <a:latin typeface="Roboto"/>
              <a:cs typeface="Roboto"/>
            </a:endParaRPr>
          </a:p>
          <a:p>
            <a:pPr lvl="1" marL="443865" marR="381635" indent="-133985">
              <a:lnSpc>
                <a:spcPct val="118100"/>
              </a:lnSpc>
              <a:spcBef>
                <a:spcPts val="1725"/>
              </a:spcBef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Instead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directly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computing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errors,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minimize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sum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 squared residuals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using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 nonlinear function of parameters.</a:t>
            </a:r>
            <a:endParaRPr sz="1800">
              <a:latin typeface="Roboto"/>
              <a:cs typeface="Roboto"/>
            </a:endParaRPr>
          </a:p>
          <a:p>
            <a:pPr lvl="1" marL="4445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requires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iterative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numerical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techniques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(e.g.,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gradient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descent or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Newton-Raphson).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9000" y="530225"/>
            <a:ext cx="80860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Forecasting </a:t>
            </a:r>
            <a:r>
              <a:rPr dirty="0" sz="3350" spc="10">
                <a:solidFill>
                  <a:srgbClr val="C2132D"/>
                </a:solidFill>
              </a:rPr>
              <a:t>with </a:t>
            </a:r>
            <a:r>
              <a:rPr dirty="0" sz="3350" spc="30">
                <a:solidFill>
                  <a:srgbClr val="C2132D"/>
                </a:solidFill>
              </a:rPr>
              <a:t>MA </a:t>
            </a:r>
            <a:r>
              <a:rPr dirty="0" sz="3350" spc="10">
                <a:solidFill>
                  <a:srgbClr val="C2132D"/>
                </a:solidFill>
              </a:rPr>
              <a:t>Model </a:t>
            </a:r>
            <a:r>
              <a:rPr dirty="0" sz="3350" spc="5">
                <a:solidFill>
                  <a:srgbClr val="C2132D"/>
                </a:solidFill>
              </a:rPr>
              <a:t>if </a:t>
            </a:r>
            <a:r>
              <a:rPr dirty="0" sz="3050" spc="95" i="1">
                <a:solidFill>
                  <a:srgbClr val="C2132D"/>
                </a:solidFill>
                <a:latin typeface="Calibri"/>
                <a:cs typeface="Calibri"/>
              </a:rPr>
              <a:t>ϵ</a:t>
            </a:r>
            <a:r>
              <a:rPr dirty="0" baseline="-14211" sz="3225" spc="142" i="1">
                <a:solidFill>
                  <a:srgbClr val="C2132D"/>
                </a:solidFill>
                <a:latin typeface="Calibri"/>
                <a:cs typeface="Calibri"/>
              </a:rPr>
              <a:t>t </a:t>
            </a:r>
            <a:r>
              <a:rPr dirty="0" sz="3350" spc="5">
                <a:solidFill>
                  <a:srgbClr val="C2132D"/>
                </a:solidFill>
              </a:rPr>
              <a:t>Is</a:t>
            </a:r>
            <a:r>
              <a:rPr dirty="0" sz="3350" spc="-28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Unobserved?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600" y="1387475"/>
            <a:ext cx="9465310" cy="41763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79730" indent="-329565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380365" algn="l"/>
              </a:tabLst>
            </a:pP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One-Step-Ahead </a:t>
            </a:r>
            <a:r>
              <a:rPr dirty="0" sz="2600">
                <a:solidFill>
                  <a:srgbClr val="C2132D"/>
                </a:solidFill>
                <a:latin typeface="Roboto Condensed"/>
                <a:cs typeface="Roboto Condensed"/>
              </a:rPr>
              <a:t>Forecast</a:t>
            </a:r>
            <a:r>
              <a:rPr dirty="0" sz="2600" spc="-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2600" spc="5">
                <a:solidFill>
                  <a:srgbClr val="C2132D"/>
                </a:solidFill>
                <a:latin typeface="Roboto Condensed"/>
                <a:cs typeface="Roboto Condensed"/>
              </a:rPr>
              <a:t>(t+1):</a:t>
            </a:r>
            <a:endParaRPr sz="2600">
              <a:latin typeface="Roboto Condensed"/>
              <a:cs typeface="Roboto Condense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C2132D"/>
              </a:buClr>
              <a:buFont typeface="Roboto Condensed"/>
              <a:buAutoNum type="arabicPeriod"/>
            </a:pPr>
            <a:endParaRPr sz="2350">
              <a:latin typeface="Roboto Condensed"/>
              <a:cs typeface="Roboto Condensed"/>
            </a:endParaRPr>
          </a:p>
          <a:p>
            <a:pPr lvl="1" marL="4318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4318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Since </a:t>
            </a:r>
            <a:r>
              <a:rPr dirty="0" sz="1650" spc="7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2077" sz="1725" spc="104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unknown in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 assume </a:t>
            </a:r>
            <a:r>
              <a:rPr dirty="0" sz="1200" spc="75">
                <a:solidFill>
                  <a:srgbClr val="585D60"/>
                </a:solidFill>
                <a:latin typeface="Arial"/>
                <a:cs typeface="Arial"/>
              </a:rPr>
              <a:t>E</a:t>
            </a:r>
            <a:r>
              <a:rPr dirty="0" sz="1800" spc="75">
                <a:solidFill>
                  <a:srgbClr val="585D60"/>
                </a:solidFill>
                <a:latin typeface="Lucida Sans Unicode"/>
                <a:cs typeface="Lucida Sans Unicode"/>
              </a:rPr>
              <a:t>[</a:t>
            </a:r>
            <a:r>
              <a:rPr dirty="0" sz="1650" spc="75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2077" sz="1725" spc="11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1111" sz="1875" spc="112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12077" sz="1725" spc="112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r>
              <a:rPr dirty="0" sz="1800" spc="75">
                <a:solidFill>
                  <a:srgbClr val="585D60"/>
                </a:solidFill>
                <a:latin typeface="Lucida Sans Unicode"/>
                <a:cs typeface="Lucida Sans Unicode"/>
              </a:rPr>
              <a:t>]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0</a:t>
            </a:r>
            <a:r>
              <a:rPr dirty="0" sz="1800" spc="-12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lvl="1" marL="4318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4318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equation uses the most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recent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residuals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50" spc="5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7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800" spc="5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333" sz="1875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50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r>
              <a:rPr dirty="0" sz="1800" spc="150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C2132D"/>
              </a:buClr>
              <a:buFont typeface="Roboto"/>
              <a:buChar char="•"/>
            </a:pPr>
            <a:endParaRPr sz="1800">
              <a:latin typeface="Roboto"/>
              <a:cs typeface="Roboto"/>
            </a:endParaRPr>
          </a:p>
          <a:p>
            <a:pPr algn="ctr" marL="236854">
              <a:lnSpc>
                <a:spcPts val="1505"/>
              </a:lnSpc>
              <a:spcBef>
                <a:spcPts val="5"/>
              </a:spcBef>
              <a:tabLst>
                <a:tab pos="2682240" algn="l"/>
              </a:tabLst>
            </a:pPr>
            <a:r>
              <a:rPr dirty="0" sz="1650" spc="-19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800" spc="-19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6570" sz="1725" spc="-284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24444" sz="1875" spc="-284">
                <a:solidFill>
                  <a:srgbClr val="585D60"/>
                </a:solidFill>
                <a:latin typeface="Lucida Sans Unicode"/>
                <a:cs typeface="Lucida Sans Unicode"/>
              </a:rPr>
              <a:t>+1  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-50" i="1">
                <a:solidFill>
                  <a:srgbClr val="585D60"/>
                </a:solidFill>
                <a:latin typeface="Arial"/>
                <a:cs typeface="Arial"/>
              </a:rPr>
              <a:t>c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650" spc="-509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15432" sz="2700" spc="-765">
                <a:solidFill>
                  <a:srgbClr val="585D60"/>
                </a:solidFill>
                <a:latin typeface="Lucida Sans Unicode"/>
                <a:cs typeface="Lucida Sans Unicode"/>
              </a:rPr>
              <a:t>^            </a:t>
            </a:r>
            <a:r>
              <a:rPr dirty="0" sz="1650" spc="-48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sz="1800" spc="-480">
                <a:solidFill>
                  <a:srgbClr val="585D60"/>
                </a:solidFill>
                <a:latin typeface="Lucida Sans Unicode"/>
                <a:cs typeface="Lucida Sans Unicode"/>
              </a:rPr>
              <a:t>^          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3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09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15432" sz="2700" spc="-765">
                <a:solidFill>
                  <a:srgbClr val="585D60"/>
                </a:solidFill>
                <a:latin typeface="Lucida Sans Unicode"/>
                <a:cs typeface="Lucida Sans Unicode"/>
              </a:rPr>
              <a:t>^           </a:t>
            </a:r>
            <a:r>
              <a:rPr dirty="0" baseline="15432" sz="2700" spc="-74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8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sz="1800" spc="-480">
                <a:solidFill>
                  <a:srgbClr val="585D60"/>
                </a:solidFill>
                <a:latin typeface="Lucida Sans Unicode"/>
                <a:cs typeface="Lucida Sans Unicode"/>
              </a:rPr>
              <a:t>^	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800" spc="675">
                <a:solidFill>
                  <a:srgbClr val="585D60"/>
                </a:solidFill>
                <a:latin typeface="Lucida Sans Unicode"/>
                <a:cs typeface="Lucida Sans Unicode"/>
              </a:rPr>
              <a:t>⋯</a:t>
            </a:r>
            <a:r>
              <a:rPr dirty="0" sz="1800" spc="-43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650" spc="-509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15432" sz="2700" spc="-765">
                <a:solidFill>
                  <a:srgbClr val="585D60"/>
                </a:solidFill>
                <a:latin typeface="Lucida Sans Unicode"/>
                <a:cs typeface="Lucida Sans Unicode"/>
              </a:rPr>
              <a:t>^           </a:t>
            </a:r>
            <a:r>
              <a:rPr dirty="0" sz="1650" spc="-480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sz="1800" spc="-48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endParaRPr sz="1800">
              <a:latin typeface="Lucida Sans Unicode"/>
              <a:cs typeface="Lucida Sans Unicode"/>
            </a:endParaRPr>
          </a:p>
          <a:p>
            <a:pPr marL="4297045">
              <a:lnSpc>
                <a:spcPts val="844"/>
              </a:lnSpc>
              <a:tabLst>
                <a:tab pos="4505325" algn="l"/>
                <a:tab pos="4984115" algn="l"/>
                <a:tab pos="5193030" algn="l"/>
                <a:tab pos="6425565" algn="l"/>
                <a:tab pos="6627495" algn="l"/>
              </a:tabLst>
            </a:pP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1	</a:t>
            </a: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	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2	</a:t>
            </a:r>
            <a:r>
              <a:rPr dirty="0" sz="1150" spc="-1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−1	</a:t>
            </a:r>
            <a:r>
              <a:rPr dirty="0" sz="1150" spc="-75" i="1">
                <a:solidFill>
                  <a:srgbClr val="585D60"/>
                </a:solidFill>
                <a:latin typeface="Arial"/>
                <a:cs typeface="Arial"/>
              </a:rPr>
              <a:t>q	</a:t>
            </a:r>
            <a:r>
              <a:rPr dirty="0" sz="1150" spc="-2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250" spc="-20">
                <a:solidFill>
                  <a:srgbClr val="585D60"/>
                </a:solidFill>
                <a:latin typeface="Lucida Sans Unicode"/>
                <a:cs typeface="Lucida Sans Unicode"/>
              </a:rPr>
              <a:t>+1−</a:t>
            </a:r>
            <a:r>
              <a:rPr dirty="0" sz="1150" spc="-20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Arial"/>
              <a:cs typeface="Arial"/>
            </a:endParaRPr>
          </a:p>
          <a:p>
            <a:pPr marL="379730" indent="-329565">
              <a:lnSpc>
                <a:spcPct val="100000"/>
              </a:lnSpc>
              <a:buAutoNum type="arabicPeriod" startAt="2"/>
              <a:tabLst>
                <a:tab pos="380365" algn="l"/>
              </a:tabLst>
            </a:pP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Multi-step </a:t>
            </a:r>
            <a:r>
              <a:rPr dirty="0" sz="2600" spc="5">
                <a:solidFill>
                  <a:srgbClr val="C2132D"/>
                </a:solidFill>
                <a:latin typeface="Roboto Condensed"/>
                <a:cs typeface="Roboto Condensed"/>
              </a:rPr>
              <a:t>Forecasts</a:t>
            </a:r>
            <a:r>
              <a:rPr dirty="0" sz="2600" spc="-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(t+h)</a:t>
            </a:r>
            <a:endParaRPr sz="2600">
              <a:latin typeface="Roboto Condensed"/>
              <a:cs typeface="Roboto Condensed"/>
            </a:endParaRPr>
          </a:p>
          <a:p>
            <a:pPr lvl="1" marL="431800" indent="-133985">
              <a:lnSpc>
                <a:spcPct val="100000"/>
              </a:lnSpc>
              <a:spcBef>
                <a:spcPts val="2780"/>
              </a:spcBef>
              <a:buClr>
                <a:srgbClr val="C2132D"/>
              </a:buClr>
              <a:buChar char="•"/>
              <a:tabLst>
                <a:tab pos="431800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longer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horizons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 errors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assumed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zero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(i.e., </a:t>
            </a:r>
            <a:r>
              <a:rPr dirty="0" sz="1200" spc="75">
                <a:solidFill>
                  <a:srgbClr val="585D60"/>
                </a:solidFill>
                <a:latin typeface="Arial"/>
                <a:cs typeface="Arial"/>
              </a:rPr>
              <a:t>E</a:t>
            </a:r>
            <a:r>
              <a:rPr dirty="0" sz="1800" spc="75">
                <a:solidFill>
                  <a:srgbClr val="585D60"/>
                </a:solidFill>
                <a:latin typeface="Lucida Sans Unicode"/>
                <a:cs typeface="Lucida Sans Unicode"/>
              </a:rPr>
              <a:t>[</a:t>
            </a:r>
            <a:r>
              <a:rPr dirty="0" sz="1650" spc="75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baseline="-14492" sz="1725" spc="11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3333" sz="1875" spc="112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14492" sz="1725" spc="112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r>
              <a:rPr dirty="0" sz="1800" spc="75">
                <a:solidFill>
                  <a:srgbClr val="585D60"/>
                </a:solidFill>
                <a:latin typeface="Lucida Sans Unicode"/>
                <a:cs typeface="Lucida Sans Unicode"/>
              </a:rPr>
              <a:t>]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0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650" spc="114" i="1">
                <a:solidFill>
                  <a:srgbClr val="585D60"/>
                </a:solidFill>
                <a:latin typeface="Arial"/>
                <a:cs typeface="Arial"/>
              </a:rPr>
              <a:t>h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≥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8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80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lvl="1" marL="431165" marR="431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4318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causes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revert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mean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 c )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time, as past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shocks/errors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fade  out.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6401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Determining the </a:t>
            </a:r>
            <a:r>
              <a:rPr dirty="0" sz="3350" spc="5">
                <a:solidFill>
                  <a:srgbClr val="C2132D"/>
                </a:solidFill>
              </a:rPr>
              <a:t>Order </a:t>
            </a:r>
            <a:r>
              <a:rPr dirty="0" sz="3350" spc="10">
                <a:solidFill>
                  <a:srgbClr val="C2132D"/>
                </a:solidFill>
              </a:rPr>
              <a:t>of the </a:t>
            </a:r>
            <a:r>
              <a:rPr dirty="0" sz="3350" spc="30">
                <a:solidFill>
                  <a:srgbClr val="C2132D"/>
                </a:solidFill>
              </a:rPr>
              <a:t>MA</a:t>
            </a:r>
            <a:r>
              <a:rPr dirty="0" sz="3350" spc="-6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Model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448800" cy="1863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4622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order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an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refers 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how many lags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include in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moving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an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show 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sharp cut-off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after lag </a:t>
            </a:r>
            <a:r>
              <a:rPr dirty="0" sz="1650" spc="-114" i="1">
                <a:solidFill>
                  <a:srgbClr val="585D60"/>
                </a:solidFill>
                <a:latin typeface="Arial"/>
                <a:cs typeface="Arial"/>
              </a:rPr>
              <a:t>q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</a:t>
            </a:r>
            <a:r>
              <a:rPr dirty="0" sz="1800" spc="-2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model).</a:t>
            </a:r>
            <a:endParaRPr sz="1800">
              <a:latin typeface="Roboto"/>
              <a:cs typeface="Roboto"/>
            </a:endParaRPr>
          </a:p>
          <a:p>
            <a:pPr marL="146050" marR="495934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cutting off 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theoretically related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population autocorrelation function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 MA(q)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 lag </a:t>
            </a:r>
            <a:r>
              <a:rPr dirty="0" sz="1650" spc="5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4130" y="3216503"/>
            <a:ext cx="93027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80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sz="1800" spc="8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50" spc="80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80">
                <a:solidFill>
                  <a:srgbClr val="585D60"/>
                </a:solidFill>
                <a:latin typeface="Lucida Sans Unicode"/>
                <a:cs typeface="Lucida Sans Unicode"/>
              </a:rPr>
              <a:t>)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3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5400" spc="-355">
                <a:solidFill>
                  <a:srgbClr val="585D60"/>
                </a:solidFill>
                <a:latin typeface="Arial"/>
                <a:cs typeface="Arial"/>
              </a:rPr>
              <a:t>{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7254" y="3911599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0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2570" y="3404869"/>
            <a:ext cx="1468120" cy="806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2400"/>
              </a:lnSpc>
              <a:spcBef>
                <a:spcPts val="100"/>
              </a:spcBef>
            </a:pPr>
            <a:r>
              <a:rPr dirty="0" sz="1650" spc="110" i="1">
                <a:solidFill>
                  <a:srgbClr val="585D60"/>
                </a:solidFill>
                <a:latin typeface="Arial"/>
                <a:cs typeface="Arial"/>
              </a:rPr>
              <a:t>k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155">
                <a:solidFill>
                  <a:srgbClr val="585D60"/>
                </a:solidFill>
                <a:latin typeface="Lucida Sans Unicode"/>
                <a:cs typeface="Lucida Sans Unicode"/>
              </a:rPr>
              <a:t>1, 2, </a:t>
            </a:r>
            <a:r>
              <a:rPr dirty="0" sz="1800" spc="305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r>
              <a:rPr dirty="0" sz="1800" spc="-2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 </a:t>
            </a:r>
            <a:r>
              <a:rPr dirty="0" sz="1650" spc="-114" i="1">
                <a:solidFill>
                  <a:srgbClr val="585D60"/>
                </a:solidFill>
                <a:latin typeface="Arial"/>
                <a:cs typeface="Arial"/>
              </a:rPr>
              <a:t>q  </a:t>
            </a:r>
            <a:r>
              <a:rPr dirty="0" sz="1650" spc="110" i="1">
                <a:solidFill>
                  <a:srgbClr val="585D60"/>
                </a:solidFill>
                <a:latin typeface="Arial"/>
                <a:cs typeface="Arial"/>
              </a:rPr>
              <a:t>k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&gt;</a:t>
            </a:r>
            <a:r>
              <a:rPr dirty="0" sz="1800" spc="-15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14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2020" y="3673474"/>
            <a:ext cx="8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99061" y="3378199"/>
            <a:ext cx="1865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50" spc="2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150" spc="2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7361" sz="1200" spc="37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250" spc="2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2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5432" sz="1350" spc="37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150" spc="2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7361" sz="1200" spc="37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baseline="-15432" sz="1350" spc="37">
                <a:solidFill>
                  <a:srgbClr val="585D60"/>
                </a:solidFill>
                <a:latin typeface="Lucida Sans Unicode"/>
                <a:cs typeface="Lucida Sans Unicode"/>
              </a:rPr>
              <a:t>+1</a:t>
            </a:r>
            <a:r>
              <a:rPr dirty="0" sz="1250" spc="25">
                <a:solidFill>
                  <a:srgbClr val="585D60"/>
                </a:solidFill>
                <a:latin typeface="Lucida Sans Unicode"/>
                <a:cs typeface="Lucida Sans Unicode"/>
              </a:rPr>
              <a:t>+⋯+</a:t>
            </a:r>
            <a:r>
              <a:rPr dirty="0" sz="1150" spc="2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7361" sz="1200" spc="37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r>
              <a:rPr dirty="0" baseline="-15432" sz="1350" spc="3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7361" sz="1200" spc="37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150" spc="25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-17361" sz="1200" spc="37" i="1">
                <a:solidFill>
                  <a:srgbClr val="585D60"/>
                </a:solidFill>
                <a:latin typeface="Arial"/>
                <a:cs typeface="Arial"/>
              </a:rPr>
              <a:t>q </a:t>
            </a:r>
            <a:r>
              <a:rPr dirty="0" sz="125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250" spc="-2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-35493" sz="2700" spc="-104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endParaRPr baseline="-35493" sz="27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6300" y="3797394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78424" y="3702430"/>
            <a:ext cx="998219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1+</a:t>
            </a:r>
            <a:r>
              <a:rPr dirty="0" sz="1150" spc="10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30864" sz="1350" spc="1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+⋯+</a:t>
            </a:r>
            <a:r>
              <a:rPr dirty="0" sz="1150" spc="10" i="1">
                <a:solidFill>
                  <a:srgbClr val="585D60"/>
                </a:solidFill>
                <a:latin typeface="Arial"/>
                <a:cs typeface="Arial"/>
              </a:rPr>
              <a:t>θ</a:t>
            </a:r>
            <a:r>
              <a:rPr dirty="0" baseline="30864" sz="1350" spc="1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endParaRPr baseline="30864" sz="13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8366" y="3777842"/>
            <a:ext cx="7683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45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29125" y="3700462"/>
            <a:ext cx="1704975" cy="0"/>
          </a:xfrm>
          <a:custGeom>
            <a:avLst/>
            <a:gdLst/>
            <a:ahLst/>
            <a:cxnLst/>
            <a:rect l="l" t="t" r="r" b="b"/>
            <a:pathLst>
              <a:path w="1704975" h="0">
                <a:moveTo>
                  <a:pt x="0" y="0"/>
                </a:moveTo>
                <a:lnTo>
                  <a:pt x="170497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48754" y="4404994"/>
            <a:ext cx="928052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4599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While the equation looks quite complex, the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key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takeaway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that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not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significant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(will cut off after lag </a:t>
            </a:r>
            <a:r>
              <a:rPr dirty="0" sz="1650" spc="-45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an MA(q)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86840" y="2474976"/>
            <a:ext cx="8726805" cy="1076325"/>
          </a:xfrm>
          <a:custGeom>
            <a:avLst/>
            <a:gdLst/>
            <a:ahLst/>
            <a:cxnLst/>
            <a:rect l="l" t="t" r="r" b="b"/>
            <a:pathLst>
              <a:path w="8726805" h="1076325">
                <a:moveTo>
                  <a:pt x="0" y="0"/>
                </a:moveTo>
                <a:lnTo>
                  <a:pt x="8726424" y="0"/>
                </a:lnTo>
                <a:lnTo>
                  <a:pt x="8726424" y="1075944"/>
                </a:lnTo>
                <a:lnTo>
                  <a:pt x="0" y="107594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73168" y="3023616"/>
            <a:ext cx="1993900" cy="935990"/>
          </a:xfrm>
          <a:custGeom>
            <a:avLst/>
            <a:gdLst/>
            <a:ahLst/>
            <a:cxnLst/>
            <a:rect l="l" t="t" r="r" b="b"/>
            <a:pathLst>
              <a:path w="1993900" h="935989">
                <a:moveTo>
                  <a:pt x="0" y="0"/>
                </a:moveTo>
                <a:lnTo>
                  <a:pt x="1993392" y="0"/>
                </a:lnTo>
                <a:lnTo>
                  <a:pt x="1993392" y="935736"/>
                </a:lnTo>
                <a:lnTo>
                  <a:pt x="0" y="93573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475" rIns="0" bIns="0" rtlCol="0" vert="horz">
            <a:spAutoFit/>
          </a:bodyPr>
          <a:lstStyle/>
          <a:p>
            <a:pPr marL="3368040" marR="5080" indent="-3355975">
              <a:lnSpc>
                <a:spcPts val="4120"/>
              </a:lnSpc>
              <a:spcBef>
                <a:spcPts val="925"/>
              </a:spcBef>
            </a:pPr>
            <a:r>
              <a:rPr dirty="0" spc="-869">
                <a:solidFill>
                  <a:srgbClr val="000000"/>
                </a:solidFill>
              </a:rPr>
              <a:t>A</a:t>
            </a:r>
            <a:r>
              <a:rPr dirty="0" spc="-869"/>
              <a:t>A</a:t>
            </a:r>
            <a:r>
              <a:rPr dirty="0" spc="-869">
                <a:solidFill>
                  <a:srgbClr val="000000"/>
                </a:solidFill>
              </a:rPr>
              <a:t>u</a:t>
            </a:r>
            <a:r>
              <a:rPr dirty="0" spc="-869"/>
              <a:t>u</a:t>
            </a:r>
            <a:r>
              <a:rPr dirty="0" spc="-869">
                <a:solidFill>
                  <a:srgbClr val="000000"/>
                </a:solidFill>
              </a:rPr>
              <a:t>t</a:t>
            </a:r>
            <a:r>
              <a:rPr dirty="0" spc="-869"/>
              <a:t>t</a:t>
            </a:r>
            <a:r>
              <a:rPr dirty="0" spc="-869">
                <a:solidFill>
                  <a:srgbClr val="000000"/>
                </a:solidFill>
              </a:rPr>
              <a:t>o</a:t>
            </a:r>
            <a:r>
              <a:rPr dirty="0" spc="-869"/>
              <a:t>o</a:t>
            </a:r>
            <a:r>
              <a:rPr dirty="0" spc="-869">
                <a:solidFill>
                  <a:srgbClr val="000000"/>
                </a:solidFill>
              </a:rPr>
              <a:t>r</a:t>
            </a:r>
            <a:r>
              <a:rPr dirty="0" spc="-869"/>
              <a:t>r</a:t>
            </a:r>
            <a:r>
              <a:rPr dirty="0" spc="-869">
                <a:solidFill>
                  <a:srgbClr val="000000"/>
                </a:solidFill>
              </a:rPr>
              <a:t>e</a:t>
            </a:r>
            <a:r>
              <a:rPr dirty="0" spc="-869"/>
              <a:t>e</a:t>
            </a:r>
            <a:r>
              <a:rPr dirty="0" spc="-869">
                <a:solidFill>
                  <a:srgbClr val="000000"/>
                </a:solidFill>
              </a:rPr>
              <a:t>g</a:t>
            </a:r>
            <a:r>
              <a:rPr dirty="0" spc="-869"/>
              <a:t>g</a:t>
            </a:r>
            <a:r>
              <a:rPr dirty="0" spc="-869">
                <a:solidFill>
                  <a:srgbClr val="000000"/>
                </a:solidFill>
              </a:rPr>
              <a:t>r</a:t>
            </a:r>
            <a:r>
              <a:rPr dirty="0" spc="-869"/>
              <a:t>r</a:t>
            </a:r>
            <a:r>
              <a:rPr dirty="0" spc="-869">
                <a:solidFill>
                  <a:srgbClr val="000000"/>
                </a:solidFill>
              </a:rPr>
              <a:t>e</a:t>
            </a:r>
            <a:r>
              <a:rPr dirty="0" spc="-869"/>
              <a:t>e</a:t>
            </a:r>
            <a:r>
              <a:rPr dirty="0" spc="-869">
                <a:solidFill>
                  <a:srgbClr val="000000"/>
                </a:solidFill>
              </a:rPr>
              <a:t>s</a:t>
            </a:r>
            <a:r>
              <a:rPr dirty="0" spc="-869"/>
              <a:t>s</a:t>
            </a:r>
            <a:r>
              <a:rPr dirty="0" spc="-869">
                <a:solidFill>
                  <a:srgbClr val="000000"/>
                </a:solidFill>
              </a:rPr>
              <a:t>s</a:t>
            </a:r>
            <a:r>
              <a:rPr dirty="0" spc="-869"/>
              <a:t>s</a:t>
            </a:r>
            <a:r>
              <a:rPr dirty="0" spc="-869">
                <a:solidFill>
                  <a:srgbClr val="000000"/>
                </a:solidFill>
              </a:rPr>
              <a:t>i</a:t>
            </a:r>
            <a:r>
              <a:rPr dirty="0" spc="-869"/>
              <a:t>i</a:t>
            </a:r>
            <a:r>
              <a:rPr dirty="0" spc="-869">
                <a:solidFill>
                  <a:srgbClr val="000000"/>
                </a:solidFill>
              </a:rPr>
              <a:t>v</a:t>
            </a:r>
            <a:r>
              <a:rPr dirty="0" spc="-869"/>
              <a:t>v</a:t>
            </a:r>
            <a:r>
              <a:rPr dirty="0" spc="-869">
                <a:solidFill>
                  <a:srgbClr val="000000"/>
                </a:solidFill>
              </a:rPr>
              <a:t>e</a:t>
            </a:r>
            <a:r>
              <a:rPr dirty="0" spc="-869"/>
              <a:t>e </a:t>
            </a:r>
            <a:r>
              <a:rPr dirty="0" spc="-990">
                <a:solidFill>
                  <a:srgbClr val="000000"/>
                </a:solidFill>
              </a:rPr>
              <a:t>M</a:t>
            </a:r>
            <a:r>
              <a:rPr dirty="0" spc="-990"/>
              <a:t>M</a:t>
            </a:r>
            <a:r>
              <a:rPr dirty="0" spc="-990">
                <a:solidFill>
                  <a:srgbClr val="000000"/>
                </a:solidFill>
              </a:rPr>
              <a:t>o</a:t>
            </a:r>
            <a:r>
              <a:rPr dirty="0" spc="-990"/>
              <a:t>o</a:t>
            </a:r>
            <a:r>
              <a:rPr dirty="0" spc="-990">
                <a:solidFill>
                  <a:srgbClr val="000000"/>
                </a:solidFill>
              </a:rPr>
              <a:t>v</a:t>
            </a:r>
            <a:r>
              <a:rPr dirty="0" spc="-990"/>
              <a:t>v</a:t>
            </a:r>
            <a:r>
              <a:rPr dirty="0" spc="-990">
                <a:solidFill>
                  <a:srgbClr val="000000"/>
                </a:solidFill>
              </a:rPr>
              <a:t>i</a:t>
            </a:r>
            <a:r>
              <a:rPr dirty="0" spc="-990"/>
              <a:t>i</a:t>
            </a:r>
            <a:r>
              <a:rPr dirty="0" spc="-990">
                <a:solidFill>
                  <a:srgbClr val="000000"/>
                </a:solidFill>
              </a:rPr>
              <a:t>n</a:t>
            </a:r>
            <a:r>
              <a:rPr dirty="0" spc="-990"/>
              <a:t>n</a:t>
            </a:r>
            <a:r>
              <a:rPr dirty="0" spc="-990">
                <a:solidFill>
                  <a:srgbClr val="000000"/>
                </a:solidFill>
              </a:rPr>
              <a:t>g</a:t>
            </a:r>
            <a:r>
              <a:rPr dirty="0" spc="-990"/>
              <a:t>g</a:t>
            </a:r>
            <a:r>
              <a:rPr dirty="0" spc="45"/>
              <a:t> </a:t>
            </a:r>
            <a:r>
              <a:rPr dirty="0" spc="-955">
                <a:solidFill>
                  <a:srgbClr val="000000"/>
                </a:solidFill>
              </a:rPr>
              <a:t>A</a:t>
            </a:r>
            <a:r>
              <a:rPr dirty="0" spc="-955"/>
              <a:t>A</a:t>
            </a:r>
            <a:r>
              <a:rPr dirty="0" spc="-955">
                <a:solidFill>
                  <a:srgbClr val="000000"/>
                </a:solidFill>
              </a:rPr>
              <a:t>v</a:t>
            </a:r>
            <a:r>
              <a:rPr dirty="0" spc="-955"/>
              <a:t>v</a:t>
            </a:r>
            <a:r>
              <a:rPr dirty="0" spc="-955">
                <a:solidFill>
                  <a:srgbClr val="000000"/>
                </a:solidFill>
              </a:rPr>
              <a:t>e</a:t>
            </a:r>
            <a:r>
              <a:rPr dirty="0" spc="-955"/>
              <a:t>e</a:t>
            </a:r>
            <a:r>
              <a:rPr dirty="0" spc="-955">
                <a:solidFill>
                  <a:srgbClr val="000000"/>
                </a:solidFill>
              </a:rPr>
              <a:t>r</a:t>
            </a:r>
            <a:r>
              <a:rPr dirty="0" spc="-955"/>
              <a:t>r</a:t>
            </a:r>
            <a:r>
              <a:rPr dirty="0" spc="-955">
                <a:solidFill>
                  <a:srgbClr val="000000"/>
                </a:solidFill>
              </a:rPr>
              <a:t>a</a:t>
            </a:r>
            <a:r>
              <a:rPr dirty="0" spc="-955"/>
              <a:t>a</a:t>
            </a:r>
            <a:r>
              <a:rPr dirty="0" spc="-955">
                <a:solidFill>
                  <a:srgbClr val="000000"/>
                </a:solidFill>
              </a:rPr>
              <a:t>g</a:t>
            </a:r>
            <a:r>
              <a:rPr dirty="0" spc="-955"/>
              <a:t>g</a:t>
            </a:r>
            <a:r>
              <a:rPr dirty="0" spc="-955">
                <a:solidFill>
                  <a:srgbClr val="000000"/>
                </a:solidFill>
              </a:rPr>
              <a:t>e</a:t>
            </a:r>
            <a:r>
              <a:rPr dirty="0" spc="-955"/>
              <a:t>e</a:t>
            </a:r>
            <a:r>
              <a:rPr dirty="0" spc="45"/>
              <a:t> </a:t>
            </a:r>
            <a:r>
              <a:rPr dirty="0" spc="-1045">
                <a:solidFill>
                  <a:srgbClr val="000000"/>
                </a:solidFill>
              </a:rPr>
              <a:t>(</a:t>
            </a:r>
            <a:r>
              <a:rPr dirty="0" spc="-1045"/>
              <a:t>(</a:t>
            </a:r>
            <a:r>
              <a:rPr dirty="0" spc="-1045">
                <a:solidFill>
                  <a:srgbClr val="000000"/>
                </a:solidFill>
              </a:rPr>
              <a:t>A</a:t>
            </a:r>
            <a:r>
              <a:rPr dirty="0" spc="-1045"/>
              <a:t>A</a:t>
            </a:r>
            <a:r>
              <a:rPr dirty="0" spc="-1045">
                <a:solidFill>
                  <a:srgbClr val="000000"/>
                </a:solidFill>
              </a:rPr>
              <a:t>R</a:t>
            </a:r>
            <a:r>
              <a:rPr dirty="0" spc="-1045"/>
              <a:t>R</a:t>
            </a:r>
            <a:r>
              <a:rPr dirty="0" spc="-1045">
                <a:solidFill>
                  <a:srgbClr val="000000"/>
                </a:solidFill>
              </a:rPr>
              <a:t>M</a:t>
            </a:r>
            <a:r>
              <a:rPr dirty="0" spc="-1045"/>
              <a:t>M</a:t>
            </a:r>
            <a:r>
              <a:rPr dirty="0" spc="-1045">
                <a:solidFill>
                  <a:srgbClr val="000000"/>
                </a:solidFill>
              </a:rPr>
              <a:t>A</a:t>
            </a:r>
            <a:r>
              <a:rPr dirty="0" spc="-1045"/>
              <a:t>A</a:t>
            </a:r>
            <a:r>
              <a:rPr dirty="0" spc="-1045">
                <a:solidFill>
                  <a:srgbClr val="000000"/>
                </a:solidFill>
              </a:rPr>
              <a:t>)</a:t>
            </a:r>
            <a:r>
              <a:rPr dirty="0" spc="-1045"/>
              <a:t>) </a:t>
            </a:r>
            <a:r>
              <a:rPr dirty="0" spc="-930"/>
              <a:t> </a:t>
            </a:r>
            <a:r>
              <a:rPr dirty="0" spc="-1150"/>
              <a:t>M</a:t>
            </a:r>
            <a:r>
              <a:rPr dirty="0" spc="-1150">
                <a:solidFill>
                  <a:srgbClr val="000000"/>
                </a:solidFill>
              </a:rPr>
              <a:t>Mo</a:t>
            </a:r>
            <a:r>
              <a:rPr dirty="0" spc="-1150"/>
              <a:t>o</a:t>
            </a:r>
            <a:r>
              <a:rPr dirty="0" spc="-1150">
                <a:solidFill>
                  <a:srgbClr val="000000"/>
                </a:solidFill>
              </a:rPr>
              <a:t>d</a:t>
            </a:r>
            <a:r>
              <a:rPr dirty="0" spc="-1150"/>
              <a:t>d</a:t>
            </a:r>
            <a:r>
              <a:rPr dirty="0" spc="-1150">
                <a:solidFill>
                  <a:srgbClr val="000000"/>
                </a:solidFill>
              </a:rPr>
              <a:t>e</a:t>
            </a:r>
            <a:r>
              <a:rPr dirty="0" spc="-1150"/>
              <a:t>e</a:t>
            </a:r>
            <a:r>
              <a:rPr dirty="0" spc="-1150">
                <a:solidFill>
                  <a:srgbClr val="000000"/>
                </a:solidFill>
              </a:rPr>
              <a:t>l</a:t>
            </a:r>
            <a:r>
              <a:rPr dirty="0" spc="-1150"/>
              <a:t>ls</a:t>
            </a:r>
            <a:r>
              <a:rPr dirty="0" spc="-115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9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9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62274" y="6415087"/>
            <a:ext cx="5600700" cy="0"/>
          </a:xfrm>
          <a:custGeom>
            <a:avLst/>
            <a:gdLst/>
            <a:ahLst/>
            <a:cxnLst/>
            <a:rect l="l" t="t" r="r" b="b"/>
            <a:pathLst>
              <a:path w="5600700" h="0">
                <a:moveTo>
                  <a:pt x="0" y="0"/>
                </a:moveTo>
                <a:lnTo>
                  <a:pt x="560069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80729" y="4457700"/>
          <a:ext cx="5719445" cy="1933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0594"/>
                <a:gridCol w="2171065"/>
                <a:gridCol w="2597785"/>
              </a:tblGrid>
              <a:tr h="347662">
                <a:tc>
                  <a:txBody>
                    <a:bodyPr/>
                    <a:lstStyle/>
                    <a:p>
                      <a:pPr marL="45720" marR="1308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Model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T w="9525">
                      <a:solidFill>
                        <a:srgbClr val="66666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0825" marR="120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1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ACF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T w="9525">
                      <a:solidFill>
                        <a:srgbClr val="66666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4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PACF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T w="9525">
                      <a:solidFill>
                        <a:srgbClr val="666666"/>
                      </a:solidFill>
                      <a:prstDash val="solid"/>
                    </a:lnT>
                  </a:tcPr>
                </a:tc>
              </a:tr>
              <a:tr h="514349">
                <a:tc>
                  <a:txBody>
                    <a:bodyPr/>
                    <a:lstStyle/>
                    <a:p>
                      <a:pPr marL="45085" marR="13081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450" spc="-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AR(p)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301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ts val="1650"/>
                        </a:lnSpc>
                        <a:spcBef>
                          <a:spcPts val="33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Exponentially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decays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or 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damped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sinusoidal</a:t>
                      </a:r>
                      <a:r>
                        <a:rPr dirty="0" sz="1450" spc="-5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patt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191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baseline="-32567" sz="2175" spc="-7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ern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Cuts off after lag</a:t>
                      </a:r>
                      <a:r>
                        <a:rPr dirty="0" sz="1450" spc="-19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p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30175">
                    <a:solidFill>
                      <a:srgbClr val="EDEDED"/>
                    </a:solidFill>
                  </a:tcPr>
                </a:tc>
              </a:tr>
              <a:tr h="552449">
                <a:tc>
                  <a:txBody>
                    <a:bodyPr/>
                    <a:lstStyle/>
                    <a:p>
                      <a:pPr marL="45085" marR="13081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-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MA(q)</a:t>
                      </a:r>
                      <a:endParaRPr sz="1450">
                        <a:latin typeface="Roboto"/>
                        <a:cs typeface="Roboto"/>
                      </a:endParaRPr>
                    </a:p>
                    <a:p>
                      <a:pPr marR="1308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dirty="0" sz="145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dirty="0" sz="1450" spc="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M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(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p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dirty="0" sz="145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q)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492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0825" marR="1206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Cuts off after lag</a:t>
                      </a:r>
                      <a:r>
                        <a:rPr dirty="0" sz="1450" spc="-3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q</a:t>
                      </a:r>
                      <a:endParaRPr sz="1450">
                        <a:latin typeface="Roboto"/>
                        <a:cs typeface="Roboto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250825">
                        <a:lnSpc>
                          <a:spcPts val="1650"/>
                        </a:lnSpc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Exponentially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decays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or 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damped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sinusoidal</a:t>
                      </a:r>
                      <a:r>
                        <a:rPr dirty="0" sz="1450" spc="-5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patt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492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81635" marR="38735">
                        <a:lnSpc>
                          <a:spcPts val="1650"/>
                        </a:lnSpc>
                        <a:spcBef>
                          <a:spcPts val="48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Exponentially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decays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or 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damped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sinusoidal</a:t>
                      </a:r>
                      <a:r>
                        <a:rPr dirty="0" sz="1450" spc="-6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pattern</a:t>
                      </a:r>
                      <a:endParaRPr sz="1450">
                        <a:latin typeface="Roboto"/>
                        <a:cs typeface="Roboto"/>
                      </a:endParaRPr>
                    </a:p>
                    <a:p>
                      <a:pPr marL="7620" marR="38735" indent="374015">
                        <a:lnSpc>
                          <a:spcPts val="1650"/>
                        </a:lnSpc>
                        <a:spcBef>
                          <a:spcPts val="90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Exponentially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decays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or  ern  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damped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sinusoidal</a:t>
                      </a:r>
                      <a:r>
                        <a:rPr dirty="0" sz="1450" spc="-22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pattern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60960">
                    <a:solidFill>
                      <a:srgbClr val="EDEDED"/>
                    </a:solidFill>
                  </a:tcPr>
                </a:tc>
              </a:tr>
              <a:tr h="514349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107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solidFill>
                  <a:srgbClr val="C2132D"/>
                </a:solidFill>
              </a:rPr>
              <a:t>Autoregressive </a:t>
            </a:r>
            <a:r>
              <a:rPr dirty="0" sz="3350" spc="5">
                <a:solidFill>
                  <a:srgbClr val="C2132D"/>
                </a:solidFill>
              </a:rPr>
              <a:t>Moving </a:t>
            </a:r>
            <a:r>
              <a:rPr dirty="0" sz="3350" spc="-15">
                <a:solidFill>
                  <a:srgbClr val="C2132D"/>
                </a:solidFill>
              </a:rPr>
              <a:t>Average </a:t>
            </a:r>
            <a:r>
              <a:rPr dirty="0" sz="3350" spc="15">
                <a:solidFill>
                  <a:srgbClr val="C2132D"/>
                </a:solidFill>
              </a:rPr>
              <a:t>(ARMA) </a:t>
            </a:r>
            <a:r>
              <a:rPr dirty="0" sz="3350" spc="10">
                <a:solidFill>
                  <a:srgbClr val="C2132D"/>
                </a:solidFill>
              </a:rPr>
              <a:t>Models</a:t>
            </a:r>
            <a:endParaRPr sz="3350"/>
          </a:p>
        </p:txBody>
      </p:sp>
      <p:sp>
        <p:nvSpPr>
          <p:cNvPr id="5" name="object 5"/>
          <p:cNvSpPr txBox="1"/>
          <p:nvPr/>
        </p:nvSpPr>
        <p:spPr>
          <a:xfrm>
            <a:off x="901700" y="1376044"/>
            <a:ext cx="9500235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Sometimes, if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really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high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seems needed for an AR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 better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add one  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more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term. This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results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mixed autoregressive moving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(ARMA)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general, an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ARMA(p,q)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 is given</a:t>
            </a:r>
            <a:r>
              <a:rPr dirty="0" sz="1800" spc="-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3743197"/>
            <a:ext cx="9194165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95"/>
              </a:spcBef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ACF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and </a:t>
            </a:r>
            <a:r>
              <a:rPr dirty="0" sz="1600" spc="-30" b="1">
                <a:solidFill>
                  <a:srgbClr val="C2132D"/>
                </a:solidFill>
                <a:latin typeface="Roboto"/>
                <a:cs typeface="Roboto"/>
              </a:rPr>
              <a:t>PACF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of the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ARMA(p,q)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process exhibit exponential decay exponential decay/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damped 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sinusoidal patterns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. This makes identifying the order of 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ARMA(p,q)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difficult.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1448" y="2378303"/>
            <a:ext cx="389890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51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5400" spc="-432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5400" spc="-450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5400" spc="-432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5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2173" y="3111880"/>
            <a:ext cx="70167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40">
                <a:solidFill>
                  <a:srgbClr val="585D60"/>
                </a:solidFill>
                <a:latin typeface="Lucida Sans Unicode"/>
                <a:cs typeface="Lucida Sans Unicode"/>
              </a:rPr>
              <a:t>Predicted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0555" y="3245230"/>
            <a:ext cx="40449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r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i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61332" y="2845714"/>
            <a:ext cx="38989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465">
                <a:solidFill>
                  <a:srgbClr val="A8A8A8"/>
                </a:solidFill>
                <a:latin typeface="Arial"/>
                <a:cs typeface="Arial"/>
              </a:rPr>
              <a:t></a:t>
            </a:r>
            <a:r>
              <a:rPr dirty="0" sz="1350" spc="-270">
                <a:solidFill>
                  <a:srgbClr val="A8A8A8"/>
                </a:solidFill>
                <a:latin typeface="Arial"/>
                <a:cs typeface="Arial"/>
              </a:rPr>
              <a:t></a:t>
            </a:r>
            <a:r>
              <a:rPr dirty="0" sz="1350" spc="-450">
                <a:solidFill>
                  <a:srgbClr val="A8A8A8"/>
                </a:solidFill>
                <a:latin typeface="Arial"/>
                <a:cs typeface="Arial"/>
              </a:rPr>
              <a:t></a:t>
            </a:r>
            <a:r>
              <a:rPr dirty="0" sz="1350" spc="-270">
                <a:solidFill>
                  <a:srgbClr val="A8A8A8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40186" y="3098670"/>
            <a:ext cx="64643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135" i="1">
                <a:solidFill>
                  <a:srgbClr val="A8A8A8"/>
                </a:solidFill>
                <a:latin typeface="Trebuchet MS"/>
                <a:cs typeface="Trebuchet MS"/>
              </a:rPr>
              <a:t>c</a:t>
            </a:r>
            <a:r>
              <a:rPr dirty="0" sz="900" spc="130" i="1">
                <a:solidFill>
                  <a:srgbClr val="A8A8A8"/>
                </a:solidFill>
                <a:latin typeface="Trebuchet MS"/>
                <a:cs typeface="Trebuchet MS"/>
              </a:rPr>
              <a:t>o</a:t>
            </a:r>
            <a:r>
              <a:rPr dirty="0" sz="900" spc="270" i="1">
                <a:solidFill>
                  <a:srgbClr val="A8A8A8"/>
                </a:solidFill>
                <a:latin typeface="Trebuchet MS"/>
                <a:cs typeface="Trebuchet MS"/>
              </a:rPr>
              <a:t>n</a:t>
            </a:r>
            <a:r>
              <a:rPr dirty="0" sz="900" spc="229" i="1">
                <a:solidFill>
                  <a:srgbClr val="A8A8A8"/>
                </a:solidFill>
                <a:latin typeface="Trebuchet MS"/>
                <a:cs typeface="Trebuchet MS"/>
              </a:rPr>
              <a:t>s</a:t>
            </a:r>
            <a:r>
              <a:rPr dirty="0" sz="900" spc="80" i="1">
                <a:solidFill>
                  <a:srgbClr val="A8A8A8"/>
                </a:solidFill>
                <a:latin typeface="Trebuchet MS"/>
                <a:cs typeface="Trebuchet MS"/>
              </a:rPr>
              <a:t>t</a:t>
            </a:r>
            <a:r>
              <a:rPr dirty="0" sz="900" spc="200" i="1">
                <a:solidFill>
                  <a:srgbClr val="A8A8A8"/>
                </a:solidFill>
                <a:latin typeface="Trebuchet MS"/>
                <a:cs typeface="Trebuchet MS"/>
              </a:rPr>
              <a:t>a</a:t>
            </a:r>
            <a:r>
              <a:rPr dirty="0" sz="900" spc="270" i="1">
                <a:solidFill>
                  <a:srgbClr val="A8A8A8"/>
                </a:solidFill>
                <a:latin typeface="Trebuchet MS"/>
                <a:cs typeface="Trebuchet MS"/>
              </a:rPr>
              <a:t>n</a:t>
            </a:r>
            <a:r>
              <a:rPr dirty="0" sz="900" spc="80" i="1">
                <a:solidFill>
                  <a:srgbClr val="A8A8A8"/>
                </a:solidFill>
                <a:latin typeface="Trebuchet MS"/>
                <a:cs typeface="Trebuchet MS"/>
              </a:rPr>
              <a:t>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45358" y="2879623"/>
            <a:ext cx="2961005" cy="63944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350" spc="-385">
                <a:solidFill>
                  <a:srgbClr val="C2132D"/>
                </a:solidFill>
                <a:latin typeface="Arial"/>
                <a:cs typeface="Arial"/>
              </a:rPr>
              <a:t></a:t>
            </a:r>
            <a:r>
              <a:rPr dirty="0" sz="1350" spc="-565">
                <a:solidFill>
                  <a:srgbClr val="C2132D"/>
                </a:solidFill>
                <a:latin typeface="Arial"/>
                <a:cs typeface="Arial"/>
              </a:rPr>
              <a:t></a:t>
            </a:r>
            <a:r>
              <a:rPr dirty="0" sz="1350" spc="-395">
                <a:solidFill>
                  <a:srgbClr val="C2132D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C2132D"/>
                </a:solidFill>
                <a:latin typeface="Arial"/>
                <a:cs typeface="Arial"/>
              </a:rPr>
              <a:t></a:t>
            </a:r>
            <a:r>
              <a:rPr dirty="0" sz="1350" spc="-385">
                <a:solidFill>
                  <a:srgbClr val="C2132D"/>
                </a:solidFill>
                <a:latin typeface="Arial"/>
                <a:cs typeface="Arial"/>
              </a:rPr>
              <a:t></a:t>
            </a:r>
            <a:r>
              <a:rPr dirty="0" sz="1350" spc="-565">
                <a:solidFill>
                  <a:srgbClr val="C2132D"/>
                </a:solidFill>
                <a:latin typeface="Arial"/>
                <a:cs typeface="Arial"/>
              </a:rPr>
              <a:t></a:t>
            </a:r>
            <a:r>
              <a:rPr dirty="0" sz="1350" spc="-395">
                <a:solidFill>
                  <a:srgbClr val="C2132D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C2132D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59410" marR="361315">
              <a:lnSpc>
                <a:spcPts val="1350"/>
              </a:lnSpc>
              <a:spcBef>
                <a:spcPts val="300"/>
              </a:spcBef>
            </a:pPr>
            <a:r>
              <a:rPr dirty="0" sz="1150" spc="20">
                <a:solidFill>
                  <a:srgbClr val="C2132D"/>
                </a:solidFill>
                <a:latin typeface="Lucida Sans Unicode"/>
                <a:cs typeface="Lucida Sans Unicode"/>
              </a:rPr>
              <a:t>Linear </a:t>
            </a:r>
            <a:r>
              <a:rPr dirty="0" sz="1150" spc="-10">
                <a:solidFill>
                  <a:srgbClr val="C2132D"/>
                </a:solidFill>
                <a:latin typeface="Lucida Sans Unicode"/>
                <a:cs typeface="Lucida Sans Unicode"/>
              </a:rPr>
              <a:t>combination </a:t>
            </a:r>
            <a:r>
              <a:rPr dirty="0" sz="1150" spc="-55">
                <a:solidFill>
                  <a:srgbClr val="C2132D"/>
                </a:solidFill>
                <a:latin typeface="Lucida Sans Unicode"/>
                <a:cs typeface="Lucida Sans Unicode"/>
              </a:rPr>
              <a:t>of </a:t>
            </a:r>
            <a:r>
              <a:rPr dirty="0" sz="1150">
                <a:solidFill>
                  <a:srgbClr val="C2132D"/>
                </a:solidFill>
                <a:latin typeface="Lucida Sans Unicode"/>
                <a:cs typeface="Lucida Sans Unicode"/>
              </a:rPr>
              <a:t>Lags </a:t>
            </a:r>
            <a:r>
              <a:rPr dirty="0" sz="1150" spc="-55">
                <a:solidFill>
                  <a:srgbClr val="C2132D"/>
                </a:solidFill>
                <a:latin typeface="Lucida Sans Unicode"/>
                <a:cs typeface="Lucida Sans Unicode"/>
              </a:rPr>
              <a:t>of</a:t>
            </a:r>
            <a:r>
              <a:rPr dirty="0" sz="1150" spc="-235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235">
                <a:solidFill>
                  <a:srgbClr val="C2132D"/>
                </a:solidFill>
                <a:latin typeface="Lucida Sans Unicode"/>
                <a:cs typeface="Lucida Sans Unicode"/>
              </a:rPr>
              <a:t>Y  </a:t>
            </a:r>
            <a:r>
              <a:rPr dirty="0" sz="1150" spc="-15">
                <a:solidFill>
                  <a:srgbClr val="C2132D"/>
                </a:solidFill>
                <a:latin typeface="Lucida Sans Unicode"/>
                <a:cs typeface="Lucida Sans Unicode"/>
              </a:rPr>
              <a:t>up </a:t>
            </a:r>
            <a:r>
              <a:rPr dirty="0" sz="1150" spc="-5">
                <a:solidFill>
                  <a:srgbClr val="C2132D"/>
                </a:solidFill>
                <a:latin typeface="Lucida Sans Unicode"/>
                <a:cs typeface="Lucida Sans Unicode"/>
              </a:rPr>
              <a:t>to </a:t>
            </a:r>
            <a:r>
              <a:rPr dirty="0" sz="1150" spc="45" i="1">
                <a:solidFill>
                  <a:srgbClr val="C2132D"/>
                </a:solidFill>
                <a:latin typeface="Calibri"/>
                <a:cs typeface="Calibri"/>
              </a:rPr>
              <a:t>p</a:t>
            </a:r>
            <a:r>
              <a:rPr dirty="0" sz="1150" spc="-35" i="1">
                <a:solidFill>
                  <a:srgbClr val="C2132D"/>
                </a:solidFill>
                <a:latin typeface="Calibri"/>
                <a:cs typeface="Calibri"/>
              </a:rPr>
              <a:t> </a:t>
            </a:r>
            <a:r>
              <a:rPr dirty="0" sz="1150" spc="-40">
                <a:solidFill>
                  <a:srgbClr val="C2132D"/>
                </a:solidFill>
                <a:latin typeface="Lucida Sans Unicode"/>
                <a:cs typeface="Lucida Sans Unicode"/>
              </a:rPr>
              <a:t>lags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2914" y="2673350"/>
            <a:ext cx="4959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568325" algn="l"/>
                <a:tab pos="1075055" algn="l"/>
                <a:tab pos="1480820" algn="l"/>
              </a:tabLst>
            </a:pPr>
            <a:r>
              <a:rPr dirty="0" sz="1650" spc="9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42" i="1">
                <a:solidFill>
                  <a:srgbClr val="585D60"/>
                </a:solidFill>
                <a:latin typeface="Arial"/>
                <a:cs typeface="Arial"/>
              </a:rPr>
              <a:t>t	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	</a:t>
            </a:r>
            <a:r>
              <a:rPr dirty="0" sz="1300" spc="85" i="1">
                <a:solidFill>
                  <a:srgbClr val="A8A8A8"/>
                </a:solidFill>
                <a:latin typeface="Trebuchet MS"/>
                <a:cs typeface="Trebuchet MS"/>
              </a:rPr>
              <a:t>δ	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40" i="1">
                <a:solidFill>
                  <a:srgbClr val="C2132D"/>
                </a:solidFill>
                <a:latin typeface="Calibri"/>
                <a:cs typeface="Calibri"/>
              </a:rPr>
              <a:t>ϕ</a:t>
            </a:r>
            <a:r>
              <a:rPr dirty="0" baseline="-14492" sz="1725" spc="60">
                <a:solidFill>
                  <a:srgbClr val="C2132D"/>
                </a:solidFill>
                <a:latin typeface="Lucida Sans Unicode"/>
                <a:cs typeface="Lucida Sans Unicode"/>
              </a:rPr>
              <a:t>1</a:t>
            </a:r>
            <a:r>
              <a:rPr dirty="0" sz="1600" spc="4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-14492" sz="1725" spc="60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14492" sz="1725" spc="60">
                <a:solidFill>
                  <a:srgbClr val="C2132D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4492" sz="1725" spc="179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25">
                <a:solidFill>
                  <a:srgbClr val="C2132D"/>
                </a:solidFill>
                <a:latin typeface="Lucida Sans Unicode"/>
                <a:cs typeface="Lucida Sans Unicode"/>
              </a:rPr>
              <a:t>+</a:t>
            </a:r>
            <a:r>
              <a:rPr dirty="0" sz="1600" spc="-110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40" i="1">
                <a:solidFill>
                  <a:srgbClr val="C2132D"/>
                </a:solidFill>
                <a:latin typeface="Calibri"/>
                <a:cs typeface="Calibri"/>
              </a:rPr>
              <a:t>ϕ</a:t>
            </a:r>
            <a:r>
              <a:rPr dirty="0" baseline="-14492" sz="1725" spc="60">
                <a:solidFill>
                  <a:srgbClr val="C2132D"/>
                </a:solidFill>
                <a:latin typeface="Lucida Sans Unicode"/>
                <a:cs typeface="Lucida Sans Unicode"/>
              </a:rPr>
              <a:t>2</a:t>
            </a:r>
            <a:r>
              <a:rPr dirty="0" sz="1600" spc="4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-14492" sz="1725" spc="60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14492" sz="1725" spc="60">
                <a:solidFill>
                  <a:srgbClr val="C2132D"/>
                </a:solidFill>
                <a:latin typeface="Lucida Sans Unicode"/>
                <a:cs typeface="Lucida Sans Unicode"/>
              </a:rPr>
              <a:t>−2</a:t>
            </a:r>
            <a:r>
              <a:rPr dirty="0" baseline="-14492" sz="1725" spc="179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25">
                <a:solidFill>
                  <a:srgbClr val="C2132D"/>
                </a:solidFill>
                <a:latin typeface="Lucida Sans Unicode"/>
                <a:cs typeface="Lucida Sans Unicode"/>
              </a:rPr>
              <a:t>+</a:t>
            </a:r>
            <a:r>
              <a:rPr dirty="0" sz="1600" spc="-110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35">
                <a:solidFill>
                  <a:srgbClr val="C2132D"/>
                </a:solidFill>
                <a:latin typeface="Lucida Sans Unicode"/>
                <a:cs typeface="Lucida Sans Unicode"/>
              </a:rPr>
              <a:t>⋯</a:t>
            </a:r>
            <a:r>
              <a:rPr dirty="0" sz="1600" spc="-114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25">
                <a:solidFill>
                  <a:srgbClr val="C2132D"/>
                </a:solidFill>
                <a:latin typeface="Lucida Sans Unicode"/>
                <a:cs typeface="Lucida Sans Unicode"/>
              </a:rPr>
              <a:t>+</a:t>
            </a:r>
            <a:r>
              <a:rPr dirty="0" sz="1600" spc="-110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5" i="1">
                <a:solidFill>
                  <a:srgbClr val="C2132D"/>
                </a:solidFill>
                <a:latin typeface="Calibri"/>
                <a:cs typeface="Calibri"/>
              </a:rPr>
              <a:t>ϕ</a:t>
            </a:r>
            <a:r>
              <a:rPr dirty="0" baseline="-14492" sz="1725" spc="127" i="1">
                <a:solidFill>
                  <a:srgbClr val="C2132D"/>
                </a:solidFill>
                <a:latin typeface="Calibri"/>
                <a:cs typeface="Calibri"/>
              </a:rPr>
              <a:t>p</a:t>
            </a:r>
            <a:r>
              <a:rPr dirty="0" sz="1600" spc="85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-14492" sz="1725" spc="127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14492" sz="1725" spc="127">
                <a:solidFill>
                  <a:srgbClr val="C2132D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127" i="1">
                <a:solidFill>
                  <a:srgbClr val="C2132D"/>
                </a:solidFill>
                <a:latin typeface="Calibri"/>
                <a:cs typeface="Calibri"/>
              </a:rPr>
              <a:t>p</a:t>
            </a:r>
            <a:r>
              <a:rPr dirty="0" baseline="-14492" sz="1725" spc="330" i="1">
                <a:solidFill>
                  <a:srgbClr val="C2132D"/>
                </a:solidFill>
                <a:latin typeface="Calibri"/>
                <a:cs typeface="Calibri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78699" y="2693695"/>
            <a:ext cx="2739390" cy="82550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L="3175">
              <a:lnSpc>
                <a:spcPts val="1800"/>
              </a:lnSpc>
              <a:spcBef>
                <a:spcPts val="140"/>
              </a:spcBef>
            </a:pPr>
            <a:r>
              <a:rPr dirty="0" sz="1600" spc="55" i="1">
                <a:solidFill>
                  <a:srgbClr val="FF8B00"/>
                </a:solidFill>
                <a:latin typeface="Calibri"/>
                <a:cs typeface="Calibri"/>
              </a:rPr>
              <a:t>ϵ</a:t>
            </a:r>
            <a:r>
              <a:rPr dirty="0" baseline="-14492" sz="1725" spc="82" i="1">
                <a:solidFill>
                  <a:srgbClr val="FF8B00"/>
                </a:solidFill>
                <a:latin typeface="Calibri"/>
                <a:cs typeface="Calibri"/>
              </a:rPr>
              <a:t>t</a:t>
            </a:r>
            <a:r>
              <a:rPr dirty="0" baseline="-14492" sz="1725" spc="322" i="1">
                <a:solidFill>
                  <a:srgbClr val="FF8B00"/>
                </a:solidFill>
                <a:latin typeface="Calibri"/>
                <a:cs typeface="Calibri"/>
              </a:rPr>
              <a:t> </a:t>
            </a:r>
            <a:r>
              <a:rPr dirty="0" sz="1600" spc="125">
                <a:solidFill>
                  <a:srgbClr val="FF8B00"/>
                </a:solidFill>
                <a:latin typeface="Lucida Sans Unicode"/>
                <a:cs typeface="Lucida Sans Unicode"/>
              </a:rPr>
              <a:t>+</a:t>
            </a:r>
            <a:r>
              <a:rPr dirty="0" sz="1600" spc="-114">
                <a:solidFill>
                  <a:srgbClr val="FF8B0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" i="1">
                <a:solidFill>
                  <a:srgbClr val="FF8B00"/>
                </a:solidFill>
                <a:latin typeface="Calibri"/>
                <a:cs typeface="Calibri"/>
              </a:rPr>
              <a:t>θ</a:t>
            </a:r>
            <a:r>
              <a:rPr dirty="0" baseline="-14492" sz="1725" spc="7">
                <a:solidFill>
                  <a:srgbClr val="FF8B00"/>
                </a:solidFill>
                <a:latin typeface="Lucida Sans Unicode"/>
                <a:cs typeface="Lucida Sans Unicode"/>
              </a:rPr>
              <a:t>1</a:t>
            </a:r>
            <a:r>
              <a:rPr dirty="0" sz="1600" spc="5" i="1">
                <a:solidFill>
                  <a:srgbClr val="FF8B00"/>
                </a:solidFill>
                <a:latin typeface="Calibri"/>
                <a:cs typeface="Calibri"/>
              </a:rPr>
              <a:t>ϵ</a:t>
            </a:r>
            <a:r>
              <a:rPr dirty="0" baseline="-14492" sz="1725" spc="7" i="1">
                <a:solidFill>
                  <a:srgbClr val="FF8B00"/>
                </a:solidFill>
                <a:latin typeface="Calibri"/>
                <a:cs typeface="Calibri"/>
              </a:rPr>
              <a:t>t</a:t>
            </a:r>
            <a:r>
              <a:rPr dirty="0" baseline="-14492" sz="1725" spc="7">
                <a:solidFill>
                  <a:srgbClr val="FF8B0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4492" sz="1725" spc="179">
                <a:solidFill>
                  <a:srgbClr val="FF8B0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25">
                <a:solidFill>
                  <a:srgbClr val="FF8B00"/>
                </a:solidFill>
                <a:latin typeface="Lucida Sans Unicode"/>
                <a:cs typeface="Lucida Sans Unicode"/>
              </a:rPr>
              <a:t>+</a:t>
            </a:r>
            <a:r>
              <a:rPr dirty="0" sz="1600" spc="-114">
                <a:solidFill>
                  <a:srgbClr val="FF8B0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35">
                <a:solidFill>
                  <a:srgbClr val="FF8B00"/>
                </a:solidFill>
                <a:latin typeface="Lucida Sans Unicode"/>
                <a:cs typeface="Lucida Sans Unicode"/>
              </a:rPr>
              <a:t>⋯</a:t>
            </a:r>
            <a:r>
              <a:rPr dirty="0" sz="1600" spc="-114">
                <a:solidFill>
                  <a:srgbClr val="FF8B0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25">
                <a:solidFill>
                  <a:srgbClr val="FF8B00"/>
                </a:solidFill>
                <a:latin typeface="Lucida Sans Unicode"/>
                <a:cs typeface="Lucida Sans Unicode"/>
              </a:rPr>
              <a:t>+</a:t>
            </a:r>
            <a:r>
              <a:rPr dirty="0" sz="1600" spc="-114">
                <a:solidFill>
                  <a:srgbClr val="FF8B0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30" i="1">
                <a:solidFill>
                  <a:srgbClr val="FF8B00"/>
                </a:solidFill>
                <a:latin typeface="Calibri"/>
                <a:cs typeface="Calibri"/>
              </a:rPr>
              <a:t>θ</a:t>
            </a:r>
            <a:r>
              <a:rPr dirty="0" baseline="-14492" sz="1725" spc="44" i="1">
                <a:solidFill>
                  <a:srgbClr val="FF8B00"/>
                </a:solidFill>
                <a:latin typeface="Calibri"/>
                <a:cs typeface="Calibri"/>
              </a:rPr>
              <a:t>q</a:t>
            </a:r>
            <a:r>
              <a:rPr dirty="0" sz="1600" spc="30" i="1">
                <a:solidFill>
                  <a:srgbClr val="FF8B00"/>
                </a:solidFill>
                <a:latin typeface="Calibri"/>
                <a:cs typeface="Calibri"/>
              </a:rPr>
              <a:t>ϵ</a:t>
            </a:r>
            <a:r>
              <a:rPr dirty="0" baseline="-14492" sz="1725" spc="44" i="1">
                <a:solidFill>
                  <a:srgbClr val="FF8B00"/>
                </a:solidFill>
                <a:latin typeface="Calibri"/>
                <a:cs typeface="Calibri"/>
              </a:rPr>
              <a:t>t</a:t>
            </a:r>
            <a:r>
              <a:rPr dirty="0" baseline="-14492" sz="1725" spc="44">
                <a:solidFill>
                  <a:srgbClr val="FF8B0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44" i="1">
                <a:solidFill>
                  <a:srgbClr val="FF8B00"/>
                </a:solidFill>
                <a:latin typeface="Calibri"/>
                <a:cs typeface="Calibri"/>
              </a:rPr>
              <a:t>q</a:t>
            </a:r>
            <a:endParaRPr baseline="-14492" sz="1725">
              <a:latin typeface="Calibri"/>
              <a:cs typeface="Calibri"/>
            </a:endParaRPr>
          </a:p>
          <a:p>
            <a:pPr algn="ctr" marL="5715">
              <a:lnSpc>
                <a:spcPts val="1495"/>
              </a:lnSpc>
            </a:pPr>
            <a:r>
              <a:rPr dirty="0" sz="1350" spc="-385">
                <a:solidFill>
                  <a:srgbClr val="FF8B00"/>
                </a:solidFill>
                <a:latin typeface="Arial"/>
                <a:cs typeface="Arial"/>
              </a:rPr>
              <a:t></a:t>
            </a:r>
            <a:r>
              <a:rPr dirty="0" sz="1350" spc="-565">
                <a:solidFill>
                  <a:srgbClr val="FF8B00"/>
                </a:solidFill>
                <a:latin typeface="Arial"/>
                <a:cs typeface="Arial"/>
              </a:rPr>
              <a:t></a:t>
            </a:r>
            <a:r>
              <a:rPr dirty="0" sz="1350" spc="-400">
                <a:solidFill>
                  <a:srgbClr val="FF8B0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FF8B00"/>
                </a:solidFill>
                <a:latin typeface="Arial"/>
                <a:cs typeface="Arial"/>
              </a:rPr>
              <a:t></a:t>
            </a:r>
            <a:r>
              <a:rPr dirty="0" sz="1350" spc="-385">
                <a:solidFill>
                  <a:srgbClr val="FF8B00"/>
                </a:solidFill>
                <a:latin typeface="Arial"/>
                <a:cs typeface="Arial"/>
              </a:rPr>
              <a:t></a:t>
            </a:r>
            <a:r>
              <a:rPr dirty="0" sz="1350" spc="-565">
                <a:solidFill>
                  <a:srgbClr val="FF8B00"/>
                </a:solidFill>
                <a:latin typeface="Arial"/>
                <a:cs typeface="Arial"/>
              </a:rPr>
              <a:t></a:t>
            </a:r>
            <a:r>
              <a:rPr dirty="0" sz="1350" spc="-400">
                <a:solidFill>
                  <a:srgbClr val="FF8B0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FF8B0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ts val="1350"/>
              </a:lnSpc>
              <a:spcBef>
                <a:spcPts val="300"/>
              </a:spcBef>
            </a:pPr>
            <a:r>
              <a:rPr dirty="0" sz="1150" spc="20">
                <a:solidFill>
                  <a:srgbClr val="FF8B00"/>
                </a:solidFill>
                <a:latin typeface="Lucida Sans Unicode"/>
                <a:cs typeface="Lucida Sans Unicode"/>
              </a:rPr>
              <a:t>Linear </a:t>
            </a:r>
            <a:r>
              <a:rPr dirty="0" sz="1150" spc="-10">
                <a:solidFill>
                  <a:srgbClr val="FF8B00"/>
                </a:solidFill>
                <a:latin typeface="Lucida Sans Unicode"/>
                <a:cs typeface="Lucida Sans Unicode"/>
              </a:rPr>
              <a:t>combination </a:t>
            </a:r>
            <a:r>
              <a:rPr dirty="0" sz="1150" spc="-55">
                <a:solidFill>
                  <a:srgbClr val="FF8B00"/>
                </a:solidFill>
                <a:latin typeface="Lucida Sans Unicode"/>
                <a:cs typeface="Lucida Sans Unicode"/>
              </a:rPr>
              <a:t>of </a:t>
            </a:r>
            <a:r>
              <a:rPr dirty="0" sz="1150" spc="-15">
                <a:solidFill>
                  <a:srgbClr val="FF8B00"/>
                </a:solidFill>
                <a:latin typeface="Lucida Sans Unicode"/>
                <a:cs typeface="Lucida Sans Unicode"/>
              </a:rPr>
              <a:t>Lagged</a:t>
            </a:r>
            <a:r>
              <a:rPr dirty="0" sz="1150" spc="-190">
                <a:solidFill>
                  <a:srgbClr val="FF8B0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5">
                <a:solidFill>
                  <a:srgbClr val="FF8B00"/>
                </a:solidFill>
                <a:latin typeface="Lucida Sans Unicode"/>
                <a:cs typeface="Lucida Sans Unicode"/>
              </a:rPr>
              <a:t>forecast  errors </a:t>
            </a:r>
            <a:r>
              <a:rPr dirty="0" sz="1150" spc="-15">
                <a:solidFill>
                  <a:srgbClr val="FF8B00"/>
                </a:solidFill>
                <a:latin typeface="Lucida Sans Unicode"/>
                <a:cs typeface="Lucida Sans Unicode"/>
              </a:rPr>
              <a:t>up </a:t>
            </a:r>
            <a:r>
              <a:rPr dirty="0" sz="1150" spc="-5">
                <a:solidFill>
                  <a:srgbClr val="FF8B00"/>
                </a:solidFill>
                <a:latin typeface="Lucida Sans Unicode"/>
                <a:cs typeface="Lucida Sans Unicode"/>
              </a:rPr>
              <a:t>to </a:t>
            </a:r>
            <a:r>
              <a:rPr dirty="0" sz="1150" spc="-25" i="1">
                <a:solidFill>
                  <a:srgbClr val="FF8B00"/>
                </a:solidFill>
                <a:latin typeface="Calibri"/>
                <a:cs typeface="Calibri"/>
              </a:rPr>
              <a:t>q</a:t>
            </a:r>
            <a:r>
              <a:rPr dirty="0" sz="1150" spc="-45" i="1">
                <a:solidFill>
                  <a:srgbClr val="FF8B00"/>
                </a:solidFill>
                <a:latin typeface="Calibri"/>
                <a:cs typeface="Calibri"/>
              </a:rPr>
              <a:t> </a:t>
            </a:r>
            <a:r>
              <a:rPr dirty="0" sz="1150" spc="-40">
                <a:solidFill>
                  <a:srgbClr val="FF8B00"/>
                </a:solidFill>
                <a:latin typeface="Lucida Sans Unicode"/>
                <a:cs typeface="Lucida Sans Unicode"/>
              </a:rPr>
              <a:t>lags</a:t>
            </a:r>
            <a:endParaRPr sz="1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7321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Fitting AR, </a:t>
            </a:r>
            <a:r>
              <a:rPr dirty="0" sz="3350" spc="20">
                <a:solidFill>
                  <a:srgbClr val="C2132D"/>
                </a:solidFill>
              </a:rPr>
              <a:t>MA, </a:t>
            </a:r>
            <a:r>
              <a:rPr dirty="0" sz="3350" spc="10">
                <a:solidFill>
                  <a:srgbClr val="C2132D"/>
                </a:solidFill>
              </a:rPr>
              <a:t>and </a:t>
            </a:r>
            <a:r>
              <a:rPr dirty="0" sz="3350" spc="20">
                <a:solidFill>
                  <a:srgbClr val="C2132D"/>
                </a:solidFill>
              </a:rPr>
              <a:t>ARMA</a:t>
            </a:r>
            <a:r>
              <a:rPr dirty="0" sz="3350" spc="-7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Models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285747"/>
            <a:ext cx="9408160" cy="472122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393700" indent="-120650">
              <a:lnSpc>
                <a:spcPct val="100000"/>
              </a:lnSpc>
              <a:spcBef>
                <a:spcPts val="125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Plot 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over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time.</a:t>
            </a:r>
            <a:endParaRPr sz="1600">
              <a:latin typeface="Roboto"/>
              <a:cs typeface="Roboto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Do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data seem stationary?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If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necessary,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conduct a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test for</a:t>
            </a:r>
            <a:r>
              <a:rPr dirty="0" sz="1600" spc="-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stationarity.</a:t>
            </a:r>
            <a:endParaRPr sz="1600">
              <a:latin typeface="Roboto"/>
              <a:cs typeface="Roboto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Once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can assume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stationarity,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find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ACF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plot.</a:t>
            </a:r>
            <a:endParaRPr sz="1600">
              <a:latin typeface="Roboto"/>
              <a:cs typeface="Roboto"/>
            </a:endParaRPr>
          </a:p>
          <a:p>
            <a:pPr lvl="1" marL="774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If the ACF plot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cuts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off, </a:t>
            </a:r>
            <a:r>
              <a:rPr dirty="0" sz="1600" spc="-15">
                <a:solidFill>
                  <a:srgbClr val="585D60"/>
                </a:solidFill>
                <a:latin typeface="Roboto"/>
                <a:cs typeface="Roboto"/>
              </a:rPr>
              <a:t>fit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an MA(q),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500" spc="-114" i="1">
                <a:solidFill>
                  <a:srgbClr val="585D60"/>
                </a:solidFill>
                <a:latin typeface="Arial"/>
                <a:cs typeface="Arial"/>
              </a:rPr>
              <a:t>q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cutoff</a:t>
            </a:r>
            <a:r>
              <a:rPr dirty="0" sz="1600" spc="-204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point.</a:t>
            </a:r>
            <a:endParaRPr sz="1600">
              <a:latin typeface="Roboto"/>
              <a:cs typeface="Roboto"/>
            </a:endParaRPr>
          </a:p>
          <a:p>
            <a:pPr lvl="1" marL="774700" indent="-120650">
              <a:lnSpc>
                <a:spcPct val="100000"/>
              </a:lnSpc>
              <a:spcBef>
                <a:spcPts val="1230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If the ACF plot dies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down,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find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-20">
                <a:solidFill>
                  <a:srgbClr val="585D60"/>
                </a:solidFill>
                <a:latin typeface="Roboto"/>
                <a:cs typeface="Roboto"/>
              </a:rPr>
              <a:t>PACF</a:t>
            </a:r>
            <a:r>
              <a:rPr dirty="0" sz="16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plot.</a:t>
            </a:r>
            <a:endParaRPr sz="1600">
              <a:latin typeface="Roboto"/>
              <a:cs typeface="Roboto"/>
            </a:endParaRPr>
          </a:p>
          <a:p>
            <a:pPr lvl="1" marL="774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If the </a:t>
            </a:r>
            <a:r>
              <a:rPr dirty="0" sz="1600" spc="-20">
                <a:solidFill>
                  <a:srgbClr val="585D60"/>
                </a:solidFill>
                <a:latin typeface="Roboto"/>
                <a:cs typeface="Roboto"/>
              </a:rPr>
              <a:t>PACF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plot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cuts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off, </a:t>
            </a:r>
            <a:r>
              <a:rPr dirty="0" sz="1600" spc="-15">
                <a:solidFill>
                  <a:srgbClr val="585D60"/>
                </a:solidFill>
                <a:latin typeface="Roboto"/>
                <a:cs typeface="Roboto"/>
              </a:rPr>
              <a:t>fit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an AR(p) model,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500" spc="-20" i="1">
                <a:solidFill>
                  <a:srgbClr val="585D60"/>
                </a:solidFill>
                <a:latin typeface="Arial"/>
                <a:cs typeface="Arial"/>
              </a:rPr>
              <a:t>p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cutoff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point.</a:t>
            </a:r>
            <a:endParaRPr sz="1600">
              <a:latin typeface="Roboto"/>
              <a:cs typeface="Roboto"/>
            </a:endParaRPr>
          </a:p>
          <a:p>
            <a:pPr lvl="1" marL="774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If the </a:t>
            </a:r>
            <a:r>
              <a:rPr dirty="0" sz="1600" spc="-20">
                <a:solidFill>
                  <a:srgbClr val="585D60"/>
                </a:solidFill>
                <a:latin typeface="Roboto"/>
                <a:cs typeface="Roboto"/>
              </a:rPr>
              <a:t>PACF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plot dies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down, </a:t>
            </a:r>
            <a:r>
              <a:rPr dirty="0" sz="1600" spc="-15">
                <a:solidFill>
                  <a:srgbClr val="585D60"/>
                </a:solidFill>
                <a:latin typeface="Roboto"/>
                <a:cs typeface="Roboto"/>
              </a:rPr>
              <a:t>fit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an </a:t>
            </a:r>
            <a:r>
              <a:rPr dirty="0" sz="1600" spc="15">
                <a:solidFill>
                  <a:srgbClr val="585D60"/>
                </a:solidFill>
                <a:latin typeface="Roboto"/>
                <a:cs typeface="Roboto"/>
              </a:rPr>
              <a:t>ARMA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(p,q)</a:t>
            </a:r>
            <a:r>
              <a:rPr dirty="0" sz="16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model.</a:t>
            </a:r>
            <a:endParaRPr sz="1600">
              <a:latin typeface="Roboto"/>
              <a:cs typeface="Roboto"/>
            </a:endParaRPr>
          </a:p>
          <a:p>
            <a:pPr lvl="2" marL="1155065" marR="5080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1155700" algn="l"/>
              </a:tabLst>
            </a:pP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must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iterate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through </a:t>
            </a:r>
            <a:r>
              <a:rPr dirty="0" sz="1500" spc="-20" i="1">
                <a:solidFill>
                  <a:srgbClr val="585D60"/>
                </a:solidFill>
                <a:latin typeface="Arial"/>
                <a:cs typeface="Arial"/>
              </a:rPr>
              <a:t>p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500" spc="-114" i="1">
                <a:solidFill>
                  <a:srgbClr val="585D60"/>
                </a:solidFill>
                <a:latin typeface="Arial"/>
                <a:cs typeface="Arial"/>
              </a:rPr>
              <a:t>q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using a guess and check method starting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ARMA(1,1)  models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-- increment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each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by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1.</a:t>
            </a:r>
            <a:endParaRPr sz="1600">
              <a:latin typeface="Roboto"/>
              <a:cs typeface="Roboto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Evaluate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model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residuals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and consider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ACF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600" spc="-20">
                <a:solidFill>
                  <a:srgbClr val="585D60"/>
                </a:solidFill>
                <a:latin typeface="Roboto"/>
                <a:cs typeface="Roboto"/>
              </a:rPr>
              <a:t>PACF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of the</a:t>
            </a:r>
            <a:r>
              <a:rPr dirty="0" sz="16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residuals.</a:t>
            </a:r>
            <a:endParaRPr sz="1600">
              <a:latin typeface="Roboto"/>
              <a:cs typeface="Roboto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If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model </a:t>
            </a:r>
            <a:r>
              <a:rPr dirty="0" sz="1600" spc="-15">
                <a:solidFill>
                  <a:srgbClr val="585D60"/>
                </a:solidFill>
                <a:latin typeface="Roboto"/>
                <a:cs typeface="Roboto"/>
              </a:rPr>
              <a:t>fit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good,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forecast future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values.</a:t>
            </a:r>
            <a:endParaRPr sz="16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Note: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Often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you will </a:t>
            </a:r>
            <a:r>
              <a:rPr dirty="0" sz="1600" spc="-15">
                <a:solidFill>
                  <a:srgbClr val="585D60"/>
                </a:solidFill>
                <a:latin typeface="Roboto"/>
                <a:cs typeface="Roboto"/>
              </a:rPr>
              <a:t>fit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multiple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models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Step 3 and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compare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models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Step 4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select 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best</a:t>
            </a:r>
            <a:r>
              <a:rPr dirty="0" sz="1600" spc="8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fit.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1108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Fitting AR, </a:t>
            </a:r>
            <a:r>
              <a:rPr dirty="0" sz="3350" spc="20">
                <a:solidFill>
                  <a:srgbClr val="C2132D"/>
                </a:solidFill>
              </a:rPr>
              <a:t>MA, </a:t>
            </a:r>
            <a:r>
              <a:rPr dirty="0" sz="3350" spc="10">
                <a:solidFill>
                  <a:srgbClr val="C2132D"/>
                </a:solidFill>
              </a:rPr>
              <a:t>and </a:t>
            </a:r>
            <a:r>
              <a:rPr dirty="0" sz="3350" spc="20">
                <a:solidFill>
                  <a:srgbClr val="C2132D"/>
                </a:solidFill>
              </a:rPr>
              <a:t>ARMA </a:t>
            </a:r>
            <a:r>
              <a:rPr dirty="0" sz="3350" spc="10">
                <a:solidFill>
                  <a:srgbClr val="C2132D"/>
                </a:solidFill>
              </a:rPr>
              <a:t>Models in</a:t>
            </a:r>
            <a:r>
              <a:rPr dirty="0" sz="3350" spc="-90">
                <a:solidFill>
                  <a:srgbClr val="C2132D"/>
                </a:solidFill>
              </a:rPr>
              <a:t> </a:t>
            </a:r>
            <a:r>
              <a:rPr dirty="0" sz="3350" spc="15">
                <a:solidFill>
                  <a:srgbClr val="C2132D"/>
                </a:solidFill>
              </a:rPr>
              <a:t>Python</a:t>
            </a:r>
            <a:endParaRPr sz="33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427355">
              <a:lnSpc>
                <a:spcPct val="118100"/>
              </a:lnSpc>
              <a:spcBef>
                <a:spcPts val="100"/>
              </a:spcBef>
            </a:pPr>
            <a:r>
              <a:rPr dirty="0"/>
              <a:t>Let us examine the </a:t>
            </a:r>
            <a:r>
              <a:rPr dirty="0">
                <a:solidFill>
                  <a:srgbClr val="83D5D3"/>
                </a:solidFill>
                <a:hlinkClick r:id="rId2"/>
              </a:rPr>
              <a:t>viscosity data</a:t>
            </a:r>
            <a:r>
              <a:rPr dirty="0"/>
              <a:t>. </a:t>
            </a:r>
            <a:r>
              <a:rPr dirty="0" spc="-10"/>
              <a:t>For </a:t>
            </a:r>
            <a:r>
              <a:rPr dirty="0"/>
              <a:t>this demo, we will only </a:t>
            </a:r>
            <a:r>
              <a:rPr dirty="0" spc="-25"/>
              <a:t>fit </a:t>
            </a:r>
            <a:r>
              <a:rPr dirty="0"/>
              <a:t>ARMA models on the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entire  series</a:t>
            </a:r>
            <a:r>
              <a:rPr dirty="0" spc="-5"/>
              <a:t>, </a:t>
            </a:r>
            <a:r>
              <a:rPr dirty="0"/>
              <a:t>and examine the </a:t>
            </a:r>
            <a:r>
              <a:rPr dirty="0" spc="-5"/>
              <a:t>residuals </a:t>
            </a:r>
            <a:r>
              <a:rPr dirty="0" spc="-10"/>
              <a:t>to </a:t>
            </a:r>
            <a:r>
              <a:rPr dirty="0"/>
              <a:t>see the goodness of</a:t>
            </a:r>
            <a:r>
              <a:rPr dirty="0" spc="20"/>
              <a:t> </a:t>
            </a:r>
            <a:r>
              <a:rPr dirty="0" spc="-20"/>
              <a:t>fit.</a:t>
            </a:r>
          </a:p>
          <a:p>
            <a:pPr marL="12700" marR="5080">
              <a:lnSpc>
                <a:spcPct val="114599"/>
              </a:lnSpc>
              <a:spcBef>
                <a:spcPts val="969"/>
              </a:spcBef>
            </a:pPr>
            <a:r>
              <a:rPr dirty="0" spc="-20"/>
              <a:t>However, </a:t>
            </a:r>
            <a:r>
              <a:rPr dirty="0"/>
              <a:t>it should be noted that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you </a:t>
            </a: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are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also expected </a:t>
            </a:r>
            <a:r>
              <a:rPr dirty="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utilize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cross-validation method </a:t>
            </a:r>
            <a:r>
              <a:rPr dirty="0" spc="-15" b="1">
                <a:solidFill>
                  <a:srgbClr val="C2132D"/>
                </a:solidFill>
                <a:latin typeface="Roboto"/>
                <a:cs typeface="Roboto"/>
              </a:rPr>
              <a:t>to 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evaluate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pc="-15" b="1">
                <a:solidFill>
                  <a:srgbClr val="C2132D"/>
                </a:solidFill>
                <a:latin typeface="Roboto"/>
                <a:cs typeface="Roboto"/>
              </a:rPr>
              <a:t>model's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predictive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performance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(which we do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do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in this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demo </a:t>
            </a:r>
            <a:r>
              <a:rPr dirty="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save</a:t>
            </a:r>
            <a:r>
              <a:rPr dirty="0" spc="3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time).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pc="-994">
                <a:solidFill>
                  <a:srgbClr val="000000"/>
                </a:solidFill>
              </a:rPr>
              <a:t>R</a:t>
            </a:r>
            <a:r>
              <a:rPr dirty="0" spc="-994"/>
              <a:t>R</a:t>
            </a:r>
            <a:r>
              <a:rPr dirty="0" spc="-994">
                <a:solidFill>
                  <a:srgbClr val="000000"/>
                </a:solidFill>
              </a:rPr>
              <a:t>e</a:t>
            </a:r>
            <a:r>
              <a:rPr dirty="0" spc="-994"/>
              <a:t>e</a:t>
            </a:r>
            <a:r>
              <a:rPr dirty="0" spc="-994">
                <a:solidFill>
                  <a:srgbClr val="000000"/>
                </a:solidFill>
              </a:rPr>
              <a:t>c</a:t>
            </a:r>
            <a:r>
              <a:rPr dirty="0" spc="-994"/>
              <a:t>c</a:t>
            </a:r>
            <a:r>
              <a:rPr dirty="0" spc="-994">
                <a:solidFill>
                  <a:srgbClr val="000000"/>
                </a:solidFill>
              </a:rPr>
              <a:t>a</a:t>
            </a:r>
            <a:r>
              <a:rPr dirty="0" spc="-994"/>
              <a:t>a</a:t>
            </a:r>
            <a:r>
              <a:rPr dirty="0" spc="-994">
                <a:solidFill>
                  <a:srgbClr val="000000"/>
                </a:solidFill>
              </a:rPr>
              <a:t>p</a:t>
            </a:r>
            <a:r>
              <a:rPr dirty="0" spc="-994"/>
              <a:t>p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34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solidFill>
                  <a:srgbClr val="C2132D"/>
                </a:solidFill>
              </a:rPr>
              <a:t>Summary </a:t>
            </a:r>
            <a:r>
              <a:rPr dirty="0" sz="3350" spc="10">
                <a:solidFill>
                  <a:srgbClr val="C2132D"/>
                </a:solidFill>
              </a:rPr>
              <a:t>of Main</a:t>
            </a:r>
            <a:r>
              <a:rPr dirty="0" sz="3350" spc="-65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Points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643745" cy="3119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able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 the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 marL="393065" marR="5080" indent="-133985">
              <a:lnSpc>
                <a:spcPct val="118100"/>
              </a:lnSpc>
              <a:spcBef>
                <a:spcPts val="180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Autoregressive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(AR) model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how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identify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AR model using  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PACF.</a:t>
            </a:r>
            <a:endParaRPr sz="1800">
              <a:latin typeface="Roboto"/>
              <a:cs typeface="Roboto"/>
            </a:endParaRPr>
          </a:p>
          <a:p>
            <a:pPr marL="393065" marR="395605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Moving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Average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(MA)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how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identify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 using 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Roboto"/>
                <a:cs typeface="Roboto"/>
              </a:rPr>
              <a:t>ACF.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Autoregressive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Moving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Average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(ARMA)</a:t>
            </a:r>
            <a:r>
              <a:rPr dirty="0" sz="1800" spc="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393065" marR="558165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how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fit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AR,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ARMA models using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ARIMA()</a:t>
            </a:r>
            <a:r>
              <a:rPr dirty="0" sz="1700" spc="-58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method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statsforecast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Python package.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34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solidFill>
                  <a:srgbClr val="C2132D"/>
                </a:solidFill>
                <a:latin typeface="Arial"/>
                <a:cs typeface="Arial"/>
              </a:rPr>
              <a:t>📝</a:t>
            </a:r>
            <a:r>
              <a:rPr dirty="0" sz="3300" spc="-195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Review </a:t>
            </a:r>
            <a:r>
              <a:rPr dirty="0" sz="3350" spc="10">
                <a:solidFill>
                  <a:srgbClr val="C2132D"/>
                </a:solidFill>
              </a:rPr>
              <a:t>and </a:t>
            </a:r>
            <a:r>
              <a:rPr dirty="0" sz="3350" spc="-5">
                <a:solidFill>
                  <a:srgbClr val="C2132D"/>
                </a:solidFill>
              </a:rPr>
              <a:t>Clarification </a:t>
            </a:r>
            <a:r>
              <a:rPr dirty="0" sz="3300" spc="2155">
                <a:solidFill>
                  <a:srgbClr val="C2132D"/>
                </a:solidFill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13240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Class Notes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Take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some time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revisit 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notes for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insights and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concepts.</a:t>
            </a:r>
            <a:endParaRPr sz="1800">
              <a:latin typeface="Roboto"/>
              <a:cs typeface="Roboto"/>
            </a:endParaRPr>
          </a:p>
          <a:p>
            <a:pPr marL="146050" marR="1016635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Zoom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Recording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recording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today's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will be made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available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Canvas  approximately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3-4 hours after the session ends.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Questions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Please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don't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hesitate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ask 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clarification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any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topics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discussed in class.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It's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crucial not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questions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accumulate.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444/544: Business Forecasting</dc:title>
  <dcterms:created xsi:type="dcterms:W3CDTF">2025-10-16T10:44:15Z</dcterms:created>
  <dcterms:modified xsi:type="dcterms:W3CDTF">2025-10-16T10:44:15Z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2025-10-16T00:00:00Z</vt:filetime>
  </property>
  <property fmtid="{D5CDD505-2E9C-101B-9397-08002B2CF9AE}" pid="3" name="Creator">
    <vt:lpwstr>Mozilla/5.0 (Windows NT 10.0; Win64; x64) AppleWebKit/537.36 (KHTML, like Gecko) Chrome/141.0.0.0 Safari/537.36</vt:lpwstr>
  </property>
  <property fmtid="{D5CDD505-2E9C-101B-9397-08002B2CF9AE}" pid="4" name="LastSaved">
    <vt:filetime>2025-10-16T00:00:00Z</vt:filetime>
  </property>
</Properties>
</file>