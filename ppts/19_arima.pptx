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20700"/>
            <a:ext cx="9728200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C2132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C2132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C2132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520700"/>
            <a:ext cx="9728200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C2132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9460" y="1530350"/>
            <a:ext cx="9372679" cy="2995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02752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coreforecast/differences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red.stlouisfed.org/series/GDP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autoarima.html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nixtlaverse.nixtla.io/statsforecast/docs/models/autoarima.html" TargetMode="External"/><Relationship Id="rId3" Type="http://schemas.openxmlformats.org/officeDocument/2006/relationships/hyperlink" Target="https://fred.stlouisfed.org/series/GNP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autoarima.html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515429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5">
                <a:solidFill>
                  <a:srgbClr val="FFFFFF"/>
                </a:solidFill>
                <a:latin typeface="Trebuchet MS"/>
                <a:cs typeface="Trebuchet MS"/>
              </a:rPr>
              <a:t>ISA </a:t>
            </a:r>
            <a:r>
              <a:rPr dirty="0" sz="3350" spc="-180">
                <a:solidFill>
                  <a:srgbClr val="FFFFFF"/>
                </a:solidFill>
                <a:latin typeface="Trebuchet MS"/>
                <a:cs typeface="Trebuchet MS"/>
              </a:rPr>
              <a:t>444: </a:t>
            </a:r>
            <a:r>
              <a:rPr dirty="0" sz="3350" spc="-45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dirty="0" sz="3350" spc="-5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50" spc="-150">
                <a:solidFill>
                  <a:srgbClr val="FFFFFF"/>
                </a:solidFill>
                <a:latin typeface="Trebuchet MS"/>
                <a:cs typeface="Trebuchet MS"/>
              </a:rPr>
              <a:t>Forecasting</a:t>
            </a:r>
            <a:endParaRPr sz="3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19: ARIMA</a:t>
            </a:r>
            <a:r>
              <a:rPr dirty="0" sz="3000" spc="-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286"/>
            <a:ext cx="228599" cy="2237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664972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55"/>
              <a:t>Quick </a:t>
            </a:r>
            <a:r>
              <a:rPr dirty="0" spc="-65"/>
              <a:t>Refresher </a:t>
            </a:r>
            <a:r>
              <a:rPr dirty="0" spc="-110"/>
              <a:t>from </a:t>
            </a:r>
            <a:r>
              <a:rPr dirty="0" spc="90"/>
              <a:t>Last</a:t>
            </a:r>
            <a:r>
              <a:rPr dirty="0" spc="254"/>
              <a:t> </a:t>
            </a:r>
            <a:r>
              <a:rPr dirty="0" spc="-200"/>
              <a:t>Week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80819"/>
            <a:ext cx="9629140" cy="4121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92175">
              <a:lnSpc>
                <a:spcPct val="118100"/>
              </a:lnSpc>
              <a:spcBef>
                <a:spcPts val="100"/>
              </a:spcBef>
            </a:pPr>
            <a:r>
              <a:rPr dirty="0" sz="1800" spc="110" b="1">
                <a:solidFill>
                  <a:srgbClr val="C2132D"/>
                </a:solidFill>
                <a:latin typeface="Trebuchet MS"/>
                <a:cs typeface="Trebuchet MS"/>
              </a:rPr>
              <a:t>ARMA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0" b="1">
                <a:solidFill>
                  <a:srgbClr val="C2132D"/>
                </a:solidFill>
                <a:latin typeface="Trebuchet MS"/>
                <a:cs typeface="Trebuchet MS"/>
              </a:rPr>
              <a:t>Models: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considered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may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three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components,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autoregressive 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component 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(AR),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moving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average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component</a:t>
            </a:r>
            <a:r>
              <a:rPr dirty="0" sz="1800" spc="-2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(MA).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4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behavior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PACF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AR(p)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process.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4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behavior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PACF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MA(q)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process.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4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behavior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PACF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ARMA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(p,q)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process.</a:t>
            </a:r>
            <a:endParaRPr sz="1800">
              <a:latin typeface="Arial"/>
              <a:cs typeface="Arial"/>
            </a:endParaRPr>
          </a:p>
          <a:p>
            <a:pPr marL="12700" marR="66675">
              <a:lnSpc>
                <a:spcPct val="116300"/>
              </a:lnSpc>
              <a:spcBef>
                <a:spcPts val="935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Fit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ARMA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series,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evaluate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residuals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fitted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ARMA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assess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goodness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fit,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use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Ljung-Box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correlation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among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residuals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ARMA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model.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6300"/>
              </a:lnSpc>
              <a:spcBef>
                <a:spcPts val="94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Fit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ARIMA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series,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evaluate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residuals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fitted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ARMA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assess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goodness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fit,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use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Ljung-Box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correlation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among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residuals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ARIMA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model.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912177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0"/>
              <a:t>Overview </a:t>
            </a:r>
            <a:r>
              <a:rPr dirty="0" spc="-20"/>
              <a:t>of </a:t>
            </a:r>
            <a:r>
              <a:rPr dirty="0" spc="-100"/>
              <a:t>Univariate </a:t>
            </a:r>
            <a:r>
              <a:rPr dirty="0" spc="-10"/>
              <a:t>Forecasting</a:t>
            </a:r>
            <a:r>
              <a:rPr dirty="0" spc="250"/>
              <a:t> </a:t>
            </a:r>
            <a:r>
              <a:rPr dirty="0" spc="-105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1179400" y="1798812"/>
            <a:ext cx="9166449" cy="2336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83421" y="4559300"/>
            <a:ext cx="4558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10,000 </a:t>
            </a:r>
            <a:r>
              <a:rPr dirty="0" sz="1800" spc="65">
                <a:solidFill>
                  <a:srgbClr val="585D60"/>
                </a:solidFill>
                <a:latin typeface="Arial"/>
                <a:cs typeface="Arial"/>
              </a:rPr>
              <a:t>foot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view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forecasting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techniques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6176962"/>
            <a:ext cx="7762875" cy="0"/>
          </a:xfrm>
          <a:custGeom>
            <a:avLst/>
            <a:gdLst/>
            <a:ahLst/>
            <a:cxnLst/>
            <a:rect l="l" t="t" r="r" b="b"/>
            <a:pathLst>
              <a:path w="7762875" h="0">
                <a:moveTo>
                  <a:pt x="0" y="0"/>
                </a:moveTo>
                <a:lnTo>
                  <a:pt x="77628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186487"/>
            <a:ext cx="7762875" cy="0"/>
          </a:xfrm>
          <a:custGeom>
            <a:avLst/>
            <a:gdLst/>
            <a:ahLst/>
            <a:cxnLst/>
            <a:rect l="l" t="t" r="r" b="b"/>
            <a:pathLst>
              <a:path w="7762875" h="0">
                <a:moveTo>
                  <a:pt x="0" y="0"/>
                </a:moveTo>
                <a:lnTo>
                  <a:pt x="77628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677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266655"/>
            <a:ext cx="779145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Notes: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My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(incomplete)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classification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5" b="1">
                <a:solidFill>
                  <a:srgbClr val="C2132D"/>
                </a:solidFill>
                <a:latin typeface="Trebuchet MS"/>
                <a:cs typeface="Trebuchet MS"/>
              </a:rPr>
              <a:t>univariate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forecasting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techniques,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i.e.,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they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exclude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popular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approaches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multivariate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forecasting.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5050" y="4614862"/>
            <a:ext cx="6915150" cy="0"/>
          </a:xfrm>
          <a:custGeom>
            <a:avLst/>
            <a:gdLst/>
            <a:ahLst/>
            <a:cxnLst/>
            <a:rect l="l" t="t" r="r" b="b"/>
            <a:pathLst>
              <a:path w="6915150" h="0">
                <a:moveTo>
                  <a:pt x="0" y="0"/>
                </a:moveTo>
                <a:lnTo>
                  <a:pt x="69151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23504" y="2286000"/>
          <a:ext cx="7016115" cy="230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2360"/>
                <a:gridCol w="2689860"/>
                <a:gridCol w="3223259"/>
              </a:tblGrid>
              <a:tr h="404812">
                <a:tc>
                  <a:txBody>
                    <a:bodyPr/>
                    <a:lstStyle/>
                    <a:p>
                      <a:pPr marL="48260" marR="10350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 spc="15" b="1">
                          <a:solidFill>
                            <a:srgbClr val="C2132D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52069">
                    <a:lnT w="9525">
                      <a:solidFill>
                        <a:srgbClr val="6666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9085" marR="215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 spc="20" b="1">
                          <a:solidFill>
                            <a:srgbClr val="C2132D"/>
                          </a:solidFill>
                          <a:latin typeface="Trebuchet MS"/>
                          <a:cs typeface="Trebuchet MS"/>
                        </a:rPr>
                        <a:t>ACF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52069">
                    <a:lnT w="9525">
                      <a:solidFill>
                        <a:srgbClr val="6666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 spc="5" b="1">
                          <a:solidFill>
                            <a:srgbClr val="C2132D"/>
                          </a:solidFill>
                          <a:latin typeface="Trebuchet MS"/>
                          <a:cs typeface="Trebuchet MS"/>
                        </a:rPr>
                        <a:t>PACF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52069">
                    <a:lnT w="9525">
                      <a:solidFill>
                        <a:srgbClr val="666666"/>
                      </a:solidFill>
                      <a:prstDash val="solid"/>
                    </a:lnT>
                  </a:tcPr>
                </a:tc>
              </a:tr>
              <a:tr h="619124">
                <a:tc>
                  <a:txBody>
                    <a:bodyPr/>
                    <a:lstStyle/>
                    <a:p>
                      <a:pPr marL="47625" marR="10350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800" spc="5" b="1">
                          <a:solidFill>
                            <a:srgbClr val="C2132D"/>
                          </a:solidFill>
                          <a:latin typeface="Trebuchet MS"/>
                          <a:cs typeface="Trebuchet MS"/>
                        </a:rPr>
                        <a:t>AR(p)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619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ts val="2030"/>
                        </a:lnSpc>
                        <a:spcBef>
                          <a:spcPts val="400"/>
                        </a:spcBef>
                      </a:pPr>
                      <a:r>
                        <a:rPr dirty="0" sz="1800" spc="-1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Exponentially decays</a:t>
                      </a:r>
                      <a:r>
                        <a:rPr dirty="0" sz="1800" spc="-13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or  </a:t>
                      </a:r>
                      <a:r>
                        <a:rPr dirty="0" sz="1800" spc="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damped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sinusoidal</a:t>
                      </a:r>
                      <a:r>
                        <a:rPr dirty="0" sz="1800" spc="-17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patt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baseline="-30864" sz="2700" spc="-22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ern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Cuts </a:t>
                      </a:r>
                      <a:r>
                        <a:rPr dirty="0" sz="1800" spc="9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off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after </a:t>
                      </a:r>
                      <a:r>
                        <a:rPr dirty="0" sz="1800" spc="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lag</a:t>
                      </a:r>
                      <a:r>
                        <a:rPr dirty="0" sz="1800" spc="5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61925">
                    <a:solidFill>
                      <a:srgbClr val="EDEDED"/>
                    </a:solidFill>
                  </a:tcPr>
                </a:tc>
              </a:tr>
              <a:tr h="657224">
                <a:tc>
                  <a:txBody>
                    <a:bodyPr/>
                    <a:lstStyle/>
                    <a:p>
                      <a:pPr marL="47625" marR="103505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dirty="0" sz="1800" spc="40" b="1">
                          <a:solidFill>
                            <a:srgbClr val="C2132D"/>
                          </a:solidFill>
                          <a:latin typeface="Trebuchet MS"/>
                          <a:cs typeface="Trebuchet MS"/>
                        </a:rPr>
                        <a:t>MA(q)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R="1035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dirty="0" sz="1800" b="1">
                          <a:solidFill>
                            <a:srgbClr val="C2132D"/>
                          </a:solidFill>
                          <a:latin typeface="Trebuchet MS"/>
                          <a:cs typeface="Trebuchet MS"/>
                        </a:rPr>
                        <a:t>AR</a:t>
                      </a:r>
                      <a:r>
                        <a:rPr dirty="0" sz="1800" spc="15" b="1">
                          <a:solidFill>
                            <a:srgbClr val="C2132D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dirty="0" sz="1800" b="1">
                          <a:solidFill>
                            <a:srgbClr val="C2132D"/>
                          </a:solidFill>
                          <a:latin typeface="Trebuchet MS"/>
                          <a:cs typeface="Trebuchet MS"/>
                        </a:rPr>
                        <a:t>A(p,q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809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99085" marR="2159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dirty="0" sz="1800" spc="-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Cuts </a:t>
                      </a:r>
                      <a:r>
                        <a:rPr dirty="0" sz="1800" spc="9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off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after </a:t>
                      </a:r>
                      <a:r>
                        <a:rPr dirty="0" sz="1800" spc="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lag</a:t>
                      </a:r>
                      <a:r>
                        <a:rPr dirty="0" sz="1800" spc="-36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2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R="215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99085" indent="-194945">
                        <a:lnSpc>
                          <a:spcPts val="2100"/>
                        </a:lnSpc>
                      </a:pPr>
                      <a:r>
                        <a:rPr dirty="0" baseline="-32407" sz="2700" spc="-44" b="1">
                          <a:solidFill>
                            <a:srgbClr val="C2132D"/>
                          </a:solidFill>
                          <a:latin typeface="Trebuchet MS"/>
                          <a:cs typeface="Trebuchet MS"/>
                        </a:rPr>
                        <a:t>) </a:t>
                      </a:r>
                      <a:r>
                        <a:rPr dirty="0" sz="1800" spc="-1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Exponentially decays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or  </a:t>
                      </a:r>
                      <a:r>
                        <a:rPr dirty="0" sz="1800" spc="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damped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sinusoidal</a:t>
                      </a:r>
                      <a:r>
                        <a:rPr dirty="0" sz="1800" spc="-17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patt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809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915" marR="40640">
                        <a:lnSpc>
                          <a:spcPts val="2100"/>
                        </a:lnSpc>
                        <a:spcBef>
                          <a:spcPts val="495"/>
                        </a:spcBef>
                      </a:pPr>
                      <a:r>
                        <a:rPr dirty="0" sz="1800" spc="-1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Exponentially decays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or  </a:t>
                      </a:r>
                      <a:r>
                        <a:rPr dirty="0" sz="1800" spc="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damped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sinusoidal</a:t>
                      </a:r>
                      <a:r>
                        <a:rPr dirty="0" sz="1800" spc="-16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pattern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3495" marR="40640" indent="438784">
                        <a:lnSpc>
                          <a:spcPts val="2100"/>
                        </a:lnSpc>
                        <a:spcBef>
                          <a:spcPts val="825"/>
                        </a:spcBef>
                      </a:pPr>
                      <a:r>
                        <a:rPr dirty="0" sz="1800" spc="-1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Exponentially decays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or  </a:t>
                      </a:r>
                      <a:r>
                        <a:rPr dirty="0" sz="1800" spc="-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ern  </a:t>
                      </a:r>
                      <a:r>
                        <a:rPr dirty="0" sz="1800" spc="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damped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sinusoidal</a:t>
                      </a:r>
                      <a:r>
                        <a:rPr dirty="0" sz="1800" spc="-229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pattern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2865">
                    <a:solidFill>
                      <a:srgbClr val="EDEDED"/>
                    </a:solidFill>
                  </a:tcPr>
                </a:tc>
              </a:tr>
              <a:tr h="619124"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586479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5"/>
              <a:t>ARMA</a:t>
            </a:r>
            <a:r>
              <a:rPr dirty="0" spc="-55"/>
              <a:t> </a:t>
            </a:r>
            <a:r>
              <a:rPr dirty="0" spc="70"/>
              <a:t>Processes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1700" y="1480819"/>
            <a:ext cx="935037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Last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class,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discussed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capitalized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PACF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plots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identify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which 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ARMA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model/approximate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observed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time-series.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4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7298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0"/>
              <a:t>Learning </a:t>
            </a:r>
            <a:r>
              <a:rPr dirty="0" spc="-45"/>
              <a:t>Objectives </a:t>
            </a:r>
            <a:r>
              <a:rPr dirty="0" spc="-75"/>
              <a:t>for </a:t>
            </a:r>
            <a:r>
              <a:rPr dirty="0" spc="-65"/>
              <a:t>Today's</a:t>
            </a:r>
            <a:r>
              <a:rPr dirty="0" spc="70"/>
              <a:t> </a:t>
            </a:r>
            <a:r>
              <a:rPr dirty="0" spc="145"/>
              <a:t>Class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5265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215900" algn="l"/>
              </a:tabLst>
            </a:pPr>
            <a:r>
              <a:rPr dirty="0" spc="-20"/>
              <a:t>Explain</a:t>
            </a:r>
            <a:r>
              <a:rPr dirty="0" spc="-60"/>
              <a:t> </a:t>
            </a:r>
            <a:r>
              <a:rPr dirty="0" spc="20"/>
              <a:t>how</a:t>
            </a:r>
            <a:r>
              <a:rPr dirty="0" spc="-55"/>
              <a:t> </a:t>
            </a:r>
            <a:r>
              <a:rPr dirty="0" spc="-35"/>
              <a:t>ARIMA</a:t>
            </a:r>
            <a:r>
              <a:rPr dirty="0" spc="-55"/>
              <a:t> </a:t>
            </a:r>
            <a:r>
              <a:rPr dirty="0" spc="20"/>
              <a:t>models</a:t>
            </a:r>
            <a:r>
              <a:rPr dirty="0" spc="-55"/>
              <a:t> </a:t>
            </a:r>
            <a:r>
              <a:rPr dirty="0" spc="25"/>
              <a:t>work</a:t>
            </a:r>
            <a:r>
              <a:rPr dirty="0" spc="-55"/>
              <a:t> </a:t>
            </a:r>
            <a:r>
              <a:rPr dirty="0" spc="-5"/>
              <a:t>when</a:t>
            </a:r>
            <a:r>
              <a:rPr dirty="0" spc="-55"/>
              <a:t> </a:t>
            </a:r>
            <a:r>
              <a:rPr dirty="0" spc="10"/>
              <a:t>compared</a:t>
            </a:r>
            <a:r>
              <a:rPr dirty="0" spc="-55"/>
              <a:t> </a:t>
            </a:r>
            <a:r>
              <a:rPr dirty="0" spc="45"/>
              <a:t>to</a:t>
            </a:r>
            <a:r>
              <a:rPr dirty="0" spc="-55"/>
              <a:t> </a:t>
            </a:r>
            <a:r>
              <a:rPr dirty="0" spc="-40"/>
              <a:t>ARMA</a:t>
            </a:r>
            <a:r>
              <a:rPr dirty="0" spc="-55"/>
              <a:t> </a:t>
            </a:r>
            <a:r>
              <a:rPr dirty="0" spc="15"/>
              <a:t>models.</a:t>
            </a:r>
          </a:p>
          <a:p>
            <a:pPr marL="215265" marR="304165" indent="-133985">
              <a:lnSpc>
                <a:spcPct val="116300"/>
              </a:lnSpc>
              <a:spcBef>
                <a:spcPts val="935"/>
              </a:spcBef>
              <a:buClr>
                <a:srgbClr val="C2132D"/>
              </a:buClr>
              <a:buFont typeface="Trebuchet MS"/>
              <a:buChar char="•"/>
              <a:tabLst>
                <a:tab pos="215900" algn="l"/>
              </a:tabLst>
            </a:pPr>
            <a:r>
              <a:rPr dirty="0" spc="5"/>
              <a:t>Fit </a:t>
            </a:r>
            <a:r>
              <a:rPr dirty="0" spc="-15"/>
              <a:t>an </a:t>
            </a:r>
            <a:r>
              <a:rPr dirty="0" spc="-35"/>
              <a:t>ARIMA </a:t>
            </a:r>
            <a:r>
              <a:rPr dirty="0" spc="20"/>
              <a:t>model </a:t>
            </a:r>
            <a:r>
              <a:rPr dirty="0" spc="45"/>
              <a:t>to </a:t>
            </a:r>
            <a:r>
              <a:rPr dirty="0" spc="-25"/>
              <a:t>a </a:t>
            </a:r>
            <a:r>
              <a:rPr dirty="0" spc="35"/>
              <a:t>time </a:t>
            </a:r>
            <a:r>
              <a:rPr dirty="0" spc="-20"/>
              <a:t>series, </a:t>
            </a:r>
            <a:r>
              <a:rPr dirty="0" spc="-10"/>
              <a:t>evaluate </a:t>
            </a:r>
            <a:r>
              <a:rPr dirty="0" spc="10"/>
              <a:t>the </a:t>
            </a:r>
            <a:r>
              <a:rPr dirty="0" spc="5"/>
              <a:t>residuals </a:t>
            </a:r>
            <a:r>
              <a:rPr dirty="0" spc="75"/>
              <a:t>of </a:t>
            </a:r>
            <a:r>
              <a:rPr dirty="0" spc="-25"/>
              <a:t>a </a:t>
            </a:r>
            <a:r>
              <a:rPr dirty="0" spc="40"/>
              <a:t>fitted </a:t>
            </a:r>
            <a:r>
              <a:rPr dirty="0" spc="-40"/>
              <a:t>ARMA </a:t>
            </a:r>
            <a:r>
              <a:rPr dirty="0" spc="20"/>
              <a:t>model </a:t>
            </a:r>
            <a:r>
              <a:rPr dirty="0" spc="45"/>
              <a:t>to  </a:t>
            </a:r>
            <a:r>
              <a:rPr dirty="0" spc="5"/>
              <a:t>assess</a:t>
            </a:r>
            <a:r>
              <a:rPr dirty="0" spc="-55"/>
              <a:t> </a:t>
            </a:r>
            <a:r>
              <a:rPr dirty="0" spc="5"/>
              <a:t>goodness</a:t>
            </a:r>
            <a:r>
              <a:rPr dirty="0" spc="-50"/>
              <a:t> </a:t>
            </a:r>
            <a:r>
              <a:rPr dirty="0" spc="75"/>
              <a:t>of</a:t>
            </a:r>
            <a:r>
              <a:rPr dirty="0" spc="-50"/>
              <a:t> </a:t>
            </a:r>
            <a:r>
              <a:rPr dirty="0" spc="10"/>
              <a:t>fit,</a:t>
            </a:r>
            <a:r>
              <a:rPr dirty="0" spc="-50"/>
              <a:t> </a:t>
            </a:r>
            <a:r>
              <a:rPr dirty="0" spc="-10"/>
              <a:t>use</a:t>
            </a:r>
            <a:r>
              <a:rPr dirty="0" spc="-50"/>
              <a:t> </a:t>
            </a:r>
            <a:r>
              <a:rPr dirty="0" spc="10"/>
              <a:t>the</a:t>
            </a:r>
            <a:r>
              <a:rPr dirty="0" spc="-50"/>
              <a:t> </a:t>
            </a:r>
            <a:r>
              <a:rPr dirty="0" spc="-25"/>
              <a:t>Ljung-Box</a:t>
            </a:r>
            <a:r>
              <a:rPr dirty="0" spc="-55"/>
              <a:t> </a:t>
            </a:r>
            <a:r>
              <a:rPr dirty="0" spc="40"/>
              <a:t>test</a:t>
            </a:r>
            <a:r>
              <a:rPr dirty="0" spc="-50"/>
              <a:t> </a:t>
            </a:r>
            <a:r>
              <a:rPr dirty="0" spc="50"/>
              <a:t>for</a:t>
            </a:r>
            <a:r>
              <a:rPr dirty="0" spc="-50"/>
              <a:t> </a:t>
            </a:r>
            <a:r>
              <a:rPr dirty="0" spc="15"/>
              <a:t>correlation</a:t>
            </a:r>
            <a:r>
              <a:rPr dirty="0" spc="-50"/>
              <a:t> </a:t>
            </a:r>
            <a:r>
              <a:rPr dirty="0" spc="15"/>
              <a:t>among</a:t>
            </a:r>
            <a:r>
              <a:rPr dirty="0" spc="-50"/>
              <a:t> </a:t>
            </a:r>
            <a:r>
              <a:rPr dirty="0" spc="10"/>
              <a:t>the</a:t>
            </a:r>
            <a:r>
              <a:rPr dirty="0" spc="-50"/>
              <a:t> </a:t>
            </a:r>
            <a:r>
              <a:rPr dirty="0" spc="5"/>
              <a:t>residuals</a:t>
            </a:r>
            <a:r>
              <a:rPr dirty="0" spc="-50"/>
              <a:t> </a:t>
            </a:r>
            <a:r>
              <a:rPr dirty="0" spc="75"/>
              <a:t>of</a:t>
            </a:r>
            <a:r>
              <a:rPr dirty="0" spc="-55"/>
              <a:t> </a:t>
            </a:r>
            <a:r>
              <a:rPr dirty="0" spc="-15"/>
              <a:t>an  </a:t>
            </a:r>
            <a:r>
              <a:rPr dirty="0" spc="-35"/>
              <a:t>ARIMA</a:t>
            </a:r>
            <a:r>
              <a:rPr dirty="0" spc="-60"/>
              <a:t> </a:t>
            </a:r>
            <a:r>
              <a:rPr dirty="0" spc="10"/>
              <a:t>model.</a:t>
            </a:r>
          </a:p>
          <a:p>
            <a:pPr marL="215265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215900" algn="l"/>
              </a:tabLst>
            </a:pPr>
            <a:r>
              <a:rPr dirty="0" spc="-15"/>
              <a:t>Describe</a:t>
            </a:r>
            <a:r>
              <a:rPr dirty="0" spc="-55"/>
              <a:t> </a:t>
            </a:r>
            <a:r>
              <a:rPr dirty="0" spc="-80"/>
              <a:t>AIC,</a:t>
            </a:r>
            <a:r>
              <a:rPr dirty="0" spc="-55"/>
              <a:t> AICc, </a:t>
            </a:r>
            <a:r>
              <a:rPr dirty="0" spc="-5"/>
              <a:t>and</a:t>
            </a:r>
            <a:r>
              <a:rPr dirty="0" spc="-55"/>
              <a:t> </a:t>
            </a:r>
            <a:r>
              <a:rPr dirty="0" spc="-75"/>
              <a:t>BIC</a:t>
            </a:r>
            <a:r>
              <a:rPr dirty="0" spc="-55"/>
              <a:t> </a:t>
            </a:r>
            <a:r>
              <a:rPr dirty="0" spc="-5"/>
              <a:t>and</a:t>
            </a:r>
            <a:r>
              <a:rPr dirty="0" spc="-55"/>
              <a:t> </a:t>
            </a:r>
            <a:r>
              <a:rPr dirty="0" spc="20"/>
              <a:t>how</a:t>
            </a:r>
            <a:r>
              <a:rPr dirty="0" spc="-55"/>
              <a:t> </a:t>
            </a:r>
            <a:r>
              <a:rPr dirty="0" spc="-10"/>
              <a:t>they</a:t>
            </a:r>
            <a:r>
              <a:rPr dirty="0" spc="-55"/>
              <a:t> </a:t>
            </a:r>
            <a:r>
              <a:rPr dirty="0" spc="-30"/>
              <a:t>are</a:t>
            </a:r>
            <a:r>
              <a:rPr dirty="0" spc="-55"/>
              <a:t> </a:t>
            </a:r>
            <a:r>
              <a:rPr dirty="0" spc="-5"/>
              <a:t>used</a:t>
            </a:r>
            <a:r>
              <a:rPr dirty="0" spc="-55"/>
              <a:t> </a:t>
            </a:r>
            <a:r>
              <a:rPr dirty="0" spc="45"/>
              <a:t>to</a:t>
            </a:r>
            <a:r>
              <a:rPr dirty="0" spc="-50"/>
              <a:t> </a:t>
            </a:r>
            <a:r>
              <a:rPr dirty="0" spc="-5"/>
              <a:t>measure</a:t>
            </a:r>
            <a:r>
              <a:rPr dirty="0" spc="-55"/>
              <a:t> </a:t>
            </a:r>
            <a:r>
              <a:rPr dirty="0" spc="20"/>
              <a:t>model</a:t>
            </a:r>
            <a:r>
              <a:rPr dirty="0" spc="-55"/>
              <a:t> </a:t>
            </a:r>
            <a:r>
              <a:rPr dirty="0" spc="40"/>
              <a:t>fit.</a:t>
            </a:r>
          </a:p>
          <a:p>
            <a:pPr marL="215265" marR="28321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215900" algn="l"/>
              </a:tabLst>
            </a:pPr>
            <a:r>
              <a:rPr dirty="0" spc="-15"/>
              <a:t>Describe</a:t>
            </a:r>
            <a:r>
              <a:rPr dirty="0" spc="-50"/>
              <a:t> </a:t>
            </a:r>
            <a:r>
              <a:rPr dirty="0" spc="10"/>
              <a:t>the</a:t>
            </a:r>
            <a:r>
              <a:rPr dirty="0" spc="-45"/>
              <a:t> </a:t>
            </a:r>
            <a:r>
              <a:rPr dirty="0" spc="25"/>
              <a:t>algorithm</a:t>
            </a:r>
            <a:r>
              <a:rPr dirty="0" spc="-50"/>
              <a:t> </a:t>
            </a:r>
            <a:r>
              <a:rPr dirty="0" spc="-5"/>
              <a:t>used</a:t>
            </a:r>
            <a:r>
              <a:rPr dirty="0" spc="-45"/>
              <a:t> </a:t>
            </a:r>
            <a:r>
              <a:rPr dirty="0" spc="30"/>
              <a:t>within</a:t>
            </a:r>
            <a:r>
              <a:rPr dirty="0" spc="-45"/>
              <a:t> </a:t>
            </a:r>
            <a:r>
              <a:rPr dirty="0" spc="10"/>
              <a:t>the</a:t>
            </a:r>
            <a:r>
              <a:rPr dirty="0" spc="-50"/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AutoARIMA</a:t>
            </a:r>
            <a:r>
              <a:rPr dirty="0" sz="1700" spc="-56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pc="25"/>
              <a:t>method</a:t>
            </a:r>
            <a:r>
              <a:rPr dirty="0" spc="-45"/>
              <a:t> </a:t>
            </a:r>
            <a:r>
              <a:rPr dirty="0" spc="30"/>
              <a:t>within</a:t>
            </a:r>
            <a:r>
              <a:rPr dirty="0" spc="-50"/>
              <a:t> </a:t>
            </a:r>
            <a:r>
              <a:rPr dirty="0" spc="30"/>
              <a:t>statsforecast</a:t>
            </a:r>
            <a:r>
              <a:rPr dirty="0" spc="-45"/>
              <a:t> </a:t>
            </a:r>
            <a:r>
              <a:rPr dirty="0" spc="45"/>
              <a:t>to</a:t>
            </a:r>
            <a:r>
              <a:rPr dirty="0" spc="-45"/>
              <a:t> </a:t>
            </a:r>
            <a:r>
              <a:rPr dirty="0" spc="60"/>
              <a:t>fit</a:t>
            </a:r>
            <a:r>
              <a:rPr dirty="0" spc="-50"/>
              <a:t> </a:t>
            </a:r>
            <a:r>
              <a:rPr dirty="0" spc="-15"/>
              <a:t>an  </a:t>
            </a:r>
            <a:r>
              <a:rPr dirty="0" spc="-35"/>
              <a:t>ARIMA</a:t>
            </a:r>
            <a:r>
              <a:rPr dirty="0" spc="-60"/>
              <a:t> </a:t>
            </a:r>
            <a:r>
              <a:rPr dirty="0" spc="10"/>
              <a:t>model.</a:t>
            </a:r>
            <a:endParaRPr sz="1700">
              <a:latin typeface="Courier New"/>
              <a:cs typeface="Courier New"/>
            </a:endParaRPr>
          </a:p>
          <a:p>
            <a:pPr marL="215265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215900" algn="l"/>
              </a:tabLst>
            </a:pPr>
            <a:r>
              <a:rPr dirty="0" spc="-15"/>
              <a:t>Describe</a:t>
            </a:r>
            <a:r>
              <a:rPr dirty="0" spc="-50"/>
              <a:t> </a:t>
            </a:r>
            <a:r>
              <a:rPr dirty="0" spc="10"/>
              <a:t>the</a:t>
            </a:r>
            <a:r>
              <a:rPr dirty="0" spc="-50"/>
              <a:t> </a:t>
            </a:r>
            <a:r>
              <a:rPr dirty="0" spc="15"/>
              <a:t>results</a:t>
            </a:r>
            <a:r>
              <a:rPr dirty="0" spc="-50"/>
              <a:t> </a:t>
            </a:r>
            <a:r>
              <a:rPr dirty="0" spc="75"/>
              <a:t>of</a:t>
            </a:r>
            <a:r>
              <a:rPr dirty="0" spc="-45"/>
              <a:t> </a:t>
            </a:r>
            <a:r>
              <a:rPr dirty="0" spc="10"/>
              <a:t>the</a:t>
            </a:r>
            <a:r>
              <a:rPr dirty="0" spc="-50"/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AutoARIMA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pc="25"/>
              <a:t>method</a:t>
            </a:r>
            <a:r>
              <a:rPr dirty="0" spc="-45"/>
              <a:t> </a:t>
            </a:r>
            <a:r>
              <a:rPr dirty="0" spc="30"/>
              <a:t>within</a:t>
            </a:r>
            <a:r>
              <a:rPr dirty="0" spc="-50"/>
              <a:t> </a:t>
            </a:r>
            <a:r>
              <a:rPr dirty="0" spc="30"/>
              <a:t>statsforecast</a:t>
            </a:r>
            <a:r>
              <a:rPr dirty="0" spc="-50"/>
              <a:t> </a:t>
            </a:r>
            <a:r>
              <a:rPr dirty="0" spc="45"/>
              <a:t>to</a:t>
            </a:r>
            <a:r>
              <a:rPr dirty="0" spc="-45"/>
              <a:t> </a:t>
            </a:r>
            <a:r>
              <a:rPr dirty="0" spc="60"/>
              <a:t>fit</a:t>
            </a:r>
            <a:r>
              <a:rPr dirty="0" spc="-50"/>
              <a:t> </a:t>
            </a:r>
            <a:r>
              <a:rPr dirty="0" spc="-15"/>
              <a:t>an</a:t>
            </a:r>
            <a:r>
              <a:rPr dirty="0" spc="-50"/>
              <a:t> </a:t>
            </a:r>
            <a:r>
              <a:rPr dirty="0" spc="-35"/>
              <a:t>ARIMA</a:t>
            </a:r>
            <a:r>
              <a:rPr dirty="0" spc="-45"/>
              <a:t> </a:t>
            </a:r>
            <a:r>
              <a:rPr dirty="0" spc="10"/>
              <a:t>model.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5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7640" y="2758440"/>
            <a:ext cx="3557270" cy="935990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55904">
              <a:lnSpc>
                <a:spcPct val="100000"/>
              </a:lnSpc>
              <a:spcBef>
                <a:spcPts val="1105"/>
              </a:spcBef>
            </a:pPr>
            <a:r>
              <a:rPr dirty="0" spc="-114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pc="-114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pc="-1145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pc="-114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pc="-1145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pc="-114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pc="-1145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pc="-1145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pc="-114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pc="-114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pc="-1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109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pc="-109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pc="-109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pc="-109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pc="-1090">
                <a:solidFill>
                  <a:srgbClr val="000000"/>
                </a:solidFill>
                <a:latin typeface="Trebuchet MS"/>
                <a:cs typeface="Trebuchet MS"/>
              </a:rPr>
              <a:t>d</a:t>
            </a:r>
            <a:r>
              <a:rPr dirty="0" spc="-109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pc="-109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pc="-109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pc="-1090">
                <a:solidFill>
                  <a:srgbClr val="000000"/>
                </a:solidFill>
                <a:latin typeface="Trebuchet MS"/>
                <a:cs typeface="Trebuchet MS"/>
              </a:rPr>
              <a:t>l</a:t>
            </a:r>
            <a:r>
              <a:rPr dirty="0" spc="-109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pc="-109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pc="-109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719815" y="5995415"/>
            <a:ext cx="805815" cy="491490"/>
          </a:xfrm>
          <a:custGeom>
            <a:avLst/>
            <a:gdLst/>
            <a:ahLst/>
            <a:cxnLst/>
            <a:rect l="l" t="t" r="r" b="b"/>
            <a:pathLst>
              <a:path w="805815" h="491489">
                <a:moveTo>
                  <a:pt x="0" y="0"/>
                </a:moveTo>
                <a:lnTo>
                  <a:pt x="805433" y="0"/>
                </a:lnTo>
                <a:lnTo>
                  <a:pt x="805433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30">
                <a:latin typeface="Cambria"/>
                <a:cs typeface="Cambria"/>
              </a:rPr>
              <a:t>6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dirty="0" sz="1200" spc="-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2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200" spc="-330">
                <a:latin typeface="Cambria"/>
                <a:cs typeface="Cambria"/>
              </a:rPr>
              <a:t>0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910082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0"/>
              <a:t>ARIMA </a:t>
            </a:r>
            <a:r>
              <a:rPr dirty="0" spc="-70"/>
              <a:t>Models </a:t>
            </a:r>
            <a:r>
              <a:rPr dirty="0" spc="-75"/>
              <a:t>for </a:t>
            </a:r>
            <a:r>
              <a:rPr dirty="0" spc="-70"/>
              <a:t>Nonstationary</a:t>
            </a:r>
            <a:r>
              <a:rPr dirty="0" spc="295"/>
              <a:t> </a:t>
            </a:r>
            <a:r>
              <a:rPr dirty="0" spc="70"/>
              <a:t>Processes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9473565" cy="1052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When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nonstationary,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differencing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transform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series.</a:t>
            </a:r>
            <a:endParaRPr sz="1800">
              <a:latin typeface="Arial"/>
              <a:cs typeface="Arial"/>
            </a:endParaRPr>
          </a:p>
          <a:p>
            <a:pPr lvl="1" marL="527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num_diffs()</a:t>
            </a:r>
            <a:r>
              <a:rPr dirty="0" sz="1700" spc="-57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coreforecast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determine: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(a)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whether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stationary,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(b)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necessary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achieve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stationarity.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7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6823709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Our </a:t>
            </a:r>
            <a:r>
              <a:rPr dirty="0" spc="-70"/>
              <a:t>5-Step </a:t>
            </a:r>
            <a:r>
              <a:rPr dirty="0" spc="-95"/>
              <a:t>ARMA </a:t>
            </a:r>
            <a:r>
              <a:rPr dirty="0" spc="-40"/>
              <a:t>Fitting</a:t>
            </a:r>
            <a:r>
              <a:rPr dirty="0" spc="400"/>
              <a:t> </a:t>
            </a:r>
            <a:r>
              <a:rPr dirty="0" spc="65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90522"/>
            <a:ext cx="10483850" cy="502539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393700" indent="-120650">
              <a:lnSpc>
                <a:spcPct val="100000"/>
              </a:lnSpc>
              <a:spcBef>
                <a:spcPts val="125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Plot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over</a:t>
            </a:r>
            <a:r>
              <a:rPr dirty="0" sz="1600" spc="-2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time.</a:t>
            </a:r>
            <a:endParaRPr sz="1600">
              <a:latin typeface="Arial"/>
              <a:cs typeface="Arial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Do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seem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stationary?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585D60"/>
                </a:solidFill>
                <a:latin typeface="Arial"/>
                <a:cs typeface="Arial"/>
              </a:rPr>
              <a:t>necessary,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conduct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stationarity.</a:t>
            </a:r>
            <a:endParaRPr sz="1600">
              <a:latin typeface="Arial"/>
              <a:cs typeface="Arial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Once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you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can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assume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stationarity,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find</a:t>
            </a:r>
            <a:r>
              <a:rPr dirty="0" sz="1600" spc="-3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-70">
                <a:solidFill>
                  <a:srgbClr val="585D60"/>
                </a:solidFill>
                <a:latin typeface="Arial"/>
                <a:cs typeface="Arial"/>
              </a:rPr>
              <a:t>ACF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plot.</a:t>
            </a:r>
            <a:endParaRPr sz="1600">
              <a:latin typeface="Arial"/>
              <a:cs typeface="Arial"/>
            </a:endParaRPr>
          </a:p>
          <a:p>
            <a:pPr lvl="1" marL="774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7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plot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cuts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off,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fit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MA(q),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where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85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r>
              <a:rPr dirty="0" sz="1450" spc="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600" spc="-10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cutoff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point.</a:t>
            </a:r>
            <a:endParaRPr sz="1600">
              <a:latin typeface="Arial"/>
              <a:cs typeface="Arial"/>
            </a:endParaRPr>
          </a:p>
          <a:p>
            <a:pPr lvl="1" marL="774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7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plot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dies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down,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find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90">
                <a:solidFill>
                  <a:srgbClr val="585D60"/>
                </a:solidFill>
                <a:latin typeface="Arial"/>
                <a:cs typeface="Arial"/>
              </a:rPr>
              <a:t>PACF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plot.</a:t>
            </a:r>
            <a:endParaRPr sz="1600">
              <a:latin typeface="Arial"/>
              <a:cs typeface="Arial"/>
            </a:endParaRPr>
          </a:p>
          <a:p>
            <a:pPr lvl="1" marL="774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90">
                <a:solidFill>
                  <a:srgbClr val="585D60"/>
                </a:solidFill>
                <a:latin typeface="Arial"/>
                <a:cs typeface="Arial"/>
              </a:rPr>
              <a:t>PACF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plot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cuts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off,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fit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585D60"/>
                </a:solidFill>
                <a:latin typeface="Arial"/>
                <a:cs typeface="Arial"/>
              </a:rPr>
              <a:t>AR(p)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model,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where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sz="1450" spc="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600" spc="-1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cutoff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point.</a:t>
            </a:r>
            <a:endParaRPr sz="1600">
              <a:latin typeface="Arial"/>
              <a:cs typeface="Arial"/>
            </a:endParaRPr>
          </a:p>
          <a:p>
            <a:pPr lvl="1" marL="774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90">
                <a:solidFill>
                  <a:srgbClr val="585D60"/>
                </a:solidFill>
                <a:latin typeface="Arial"/>
                <a:cs typeface="Arial"/>
              </a:rPr>
              <a:t>PACF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plot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dies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down,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fit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585D60"/>
                </a:solidFill>
                <a:latin typeface="Arial"/>
                <a:cs typeface="Arial"/>
              </a:rPr>
              <a:t>ARMA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(p,q)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model.</a:t>
            </a:r>
            <a:endParaRPr sz="1600">
              <a:latin typeface="Arial"/>
              <a:cs typeface="Arial"/>
            </a:endParaRPr>
          </a:p>
          <a:p>
            <a:pPr lvl="2" marL="1155065" marR="1080770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1155700" algn="l"/>
              </a:tabLst>
            </a:pP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0">
                <a:solidFill>
                  <a:srgbClr val="585D60"/>
                </a:solidFill>
                <a:latin typeface="Arial"/>
                <a:cs typeface="Arial"/>
              </a:rPr>
              <a:t>must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iterate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through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sz="145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85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r>
              <a:rPr dirty="0" sz="1450" spc="2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guess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check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method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starting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ARMA(1,1) 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models </a:t>
            </a:r>
            <a:r>
              <a:rPr dirty="0" sz="1600" spc="-90">
                <a:solidFill>
                  <a:srgbClr val="585D60"/>
                </a:solidFill>
                <a:latin typeface="Arial"/>
                <a:cs typeface="Arial"/>
              </a:rPr>
              <a:t>--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increment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each </a:t>
            </a: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600" spc="-1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1.</a:t>
            </a:r>
            <a:endParaRPr sz="1600">
              <a:latin typeface="Arial"/>
              <a:cs typeface="Arial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-20">
                <a:solidFill>
                  <a:srgbClr val="585D60"/>
                </a:solidFill>
                <a:latin typeface="Arial"/>
                <a:cs typeface="Arial"/>
              </a:rPr>
              <a:t>Evaluate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residuals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consider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7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90">
                <a:solidFill>
                  <a:srgbClr val="585D60"/>
                </a:solidFill>
                <a:latin typeface="Arial"/>
                <a:cs typeface="Arial"/>
              </a:rPr>
              <a:t>PACF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residuals.</a:t>
            </a:r>
            <a:endParaRPr sz="1600">
              <a:latin typeface="Arial"/>
              <a:cs typeface="Arial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fit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good,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forecast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future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values.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40" b="1">
                <a:solidFill>
                  <a:srgbClr val="C2132D"/>
                </a:solidFill>
                <a:latin typeface="Trebuchet MS"/>
                <a:cs typeface="Trebuchet MS"/>
              </a:rPr>
              <a:t>Note: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Often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fit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multiple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Step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3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compare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Step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4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select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best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fit.</a:t>
            </a:r>
            <a:endParaRPr sz="16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103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8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8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98080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55"/>
              <a:t>Extending </a:t>
            </a:r>
            <a:r>
              <a:rPr dirty="0" spc="-190"/>
              <a:t>Our </a:t>
            </a:r>
            <a:r>
              <a:rPr dirty="0" spc="-70"/>
              <a:t>5-Step </a:t>
            </a:r>
            <a:r>
              <a:rPr dirty="0" spc="-95"/>
              <a:t>ARMA </a:t>
            </a:r>
            <a:r>
              <a:rPr dirty="0" spc="-40"/>
              <a:t>Fitting</a:t>
            </a:r>
            <a:r>
              <a:rPr dirty="0" spc="480"/>
              <a:t> </a:t>
            </a:r>
            <a:r>
              <a:rPr dirty="0" spc="65"/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4171217" y="1559914"/>
            <a:ext cx="3182815" cy="4495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9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0700"/>
            <a:ext cx="8790940" cy="125412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440"/>
              </a:spcBef>
            </a:pPr>
            <a:r>
              <a:rPr dirty="0" sz="4100" spc="-40">
                <a:solidFill>
                  <a:srgbClr val="C2132D"/>
                </a:solidFill>
                <a:latin typeface="Calibri"/>
                <a:cs typeface="Calibri"/>
              </a:rPr>
              <a:t>Fitting </a:t>
            </a:r>
            <a:r>
              <a:rPr dirty="0" sz="4100" spc="-75">
                <a:solidFill>
                  <a:srgbClr val="C2132D"/>
                </a:solidFill>
                <a:latin typeface="Calibri"/>
                <a:cs typeface="Calibri"/>
              </a:rPr>
              <a:t>an </a:t>
            </a:r>
            <a:r>
              <a:rPr dirty="0" sz="4100" spc="-100">
                <a:solidFill>
                  <a:srgbClr val="C2132D"/>
                </a:solidFill>
                <a:latin typeface="Calibri"/>
                <a:cs typeface="Calibri"/>
              </a:rPr>
              <a:t>Appropriate </a:t>
            </a:r>
            <a:r>
              <a:rPr dirty="0" sz="4100" spc="-80">
                <a:solidFill>
                  <a:srgbClr val="C2132D"/>
                </a:solidFill>
                <a:latin typeface="Calibri"/>
                <a:cs typeface="Calibri"/>
              </a:rPr>
              <a:t>ARIMA </a:t>
            </a:r>
            <a:r>
              <a:rPr dirty="0" sz="4100" spc="-75">
                <a:solidFill>
                  <a:srgbClr val="C2132D"/>
                </a:solidFill>
                <a:latin typeface="Calibri"/>
                <a:cs typeface="Calibri"/>
              </a:rPr>
              <a:t>for </a:t>
            </a:r>
            <a:r>
              <a:rPr dirty="0" sz="4100" spc="-95">
                <a:solidFill>
                  <a:srgbClr val="C2132D"/>
                </a:solidFill>
                <a:latin typeface="Calibri"/>
                <a:cs typeface="Calibri"/>
              </a:rPr>
              <a:t>Modeling  </a:t>
            </a:r>
            <a:r>
              <a:rPr dirty="0" sz="4100" spc="-50">
                <a:solidFill>
                  <a:srgbClr val="C2132D"/>
                </a:solidFill>
                <a:latin typeface="Calibri"/>
                <a:cs typeface="Calibri"/>
              </a:rPr>
              <a:t>GDP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080895"/>
            <a:ext cx="944181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Use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GDP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Data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highlight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ARIMA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fit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forecasting.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 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limit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20">
                <a:solidFill>
                  <a:srgbClr val="585D60"/>
                </a:solidFill>
                <a:latin typeface="Arial"/>
                <a:cs typeface="Arial"/>
              </a:rPr>
              <a:t>GDP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period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1990-01-01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2020-01-01.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10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2752344"/>
            <a:ext cx="5892165" cy="942340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36220">
              <a:lnSpc>
                <a:spcPct val="100000"/>
              </a:lnSpc>
              <a:spcBef>
                <a:spcPts val="1150"/>
              </a:spcBef>
            </a:pPr>
            <a:r>
              <a:rPr dirty="0" spc="-1140">
                <a:solidFill>
                  <a:srgbClr val="000000"/>
                </a:solidFill>
                <a:latin typeface="Trebuchet MS"/>
                <a:cs typeface="Trebuchet MS"/>
              </a:rPr>
              <a:t>G</a:t>
            </a:r>
            <a:r>
              <a:rPr dirty="0" spc="-114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pc="-114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pc="-114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pc="-114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pc="-114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pc="-1140">
                <a:solidFill>
                  <a:srgbClr val="000000"/>
                </a:solidFill>
                <a:latin typeface="Trebuchet MS"/>
                <a:cs typeface="Trebuchet MS"/>
              </a:rPr>
              <a:t>d</a:t>
            </a:r>
            <a:r>
              <a:rPr dirty="0" spc="-114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pc="-114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pc="-114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pc="-114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pc="-114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pc="-114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pc="-114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pc="-114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pc="-1140">
                <a:solidFill>
                  <a:srgbClr val="FFFFFF"/>
                </a:solidFill>
                <a:latin typeface="Trebuchet MS"/>
                <a:cs typeface="Trebuchet MS"/>
              </a:rPr>
              <a:t>s </a:t>
            </a:r>
            <a:r>
              <a:rPr dirty="0" spc="-1019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pc="-1019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pc="-1019">
                <a:solidFill>
                  <a:srgbClr val="000000"/>
                </a:solidFill>
                <a:latin typeface="Trebuchet MS"/>
                <a:cs typeface="Trebuchet MS"/>
              </a:rPr>
              <a:t>f</a:t>
            </a:r>
            <a:r>
              <a:rPr dirty="0" spc="-1019">
                <a:solidFill>
                  <a:srgbClr val="FFFFFF"/>
                </a:solidFill>
                <a:latin typeface="Trebuchet MS"/>
                <a:cs typeface="Trebuchet MS"/>
              </a:rPr>
              <a:t>f </a:t>
            </a:r>
            <a:r>
              <a:rPr dirty="0" spc="-960">
                <a:solidFill>
                  <a:srgbClr val="000000"/>
                </a:solidFill>
                <a:latin typeface="Trebuchet MS"/>
                <a:cs typeface="Trebuchet MS"/>
              </a:rPr>
              <a:t>F</a:t>
            </a:r>
            <a:r>
              <a:rPr dirty="0" spc="-96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pc="-96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pc="-96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pc="-96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pc="-96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pc="-9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1095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pc="-1095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pc="-1095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pc="-109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pc="-109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pc="-109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pc="-1095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pc="-109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pc="-1095">
                <a:solidFill>
                  <a:srgbClr val="000000"/>
                </a:solidFill>
                <a:latin typeface="Trebuchet MS"/>
                <a:cs typeface="Trebuchet MS"/>
              </a:rPr>
              <a:t>u</a:t>
            </a:r>
            <a:r>
              <a:rPr dirty="0" spc="-109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pc="-1095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pc="-109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pc="-1095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pc="-109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pc="-1095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pc="-109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30">
                <a:latin typeface="Cambria"/>
                <a:cs typeface="Cambria"/>
              </a:rPr>
              <a:t>1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200" spc="-330">
                <a:latin typeface="Cambria"/>
                <a:cs typeface="Cambria"/>
              </a:rPr>
              <a:t>1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2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200" spc="-330">
                <a:latin typeface="Cambria"/>
                <a:cs typeface="Cambria"/>
              </a:rPr>
              <a:t>0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01167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5"/>
              <a:t>Akaike </a:t>
            </a:r>
            <a:r>
              <a:rPr dirty="0" spc="-85"/>
              <a:t>Information </a:t>
            </a:r>
            <a:r>
              <a:rPr dirty="0" spc="-80"/>
              <a:t>Criterion</a:t>
            </a:r>
            <a:r>
              <a:rPr dirty="0" spc="114"/>
              <a:t> </a:t>
            </a:r>
            <a:r>
              <a:rPr dirty="0" spc="45"/>
              <a:t>(AIC)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95297"/>
            <a:ext cx="10483850" cy="4920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93065" marR="798195" indent="-120650">
              <a:lnSpc>
                <a:spcPct val="117200"/>
              </a:lnSpc>
              <a:spcBef>
                <a:spcPts val="9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AIC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statistical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measure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compare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40" b="1">
                <a:solidFill>
                  <a:srgbClr val="C2132D"/>
                </a:solidFill>
                <a:latin typeface="Trebuchet MS"/>
                <a:cs typeface="Trebuchet MS"/>
              </a:rPr>
              <a:t>goodness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fit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different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C2132D"/>
                </a:solidFill>
                <a:latin typeface="Trebuchet MS"/>
                <a:cs typeface="Trebuchet MS"/>
              </a:rPr>
              <a:t>statistical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models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5" b="1">
                <a:solidFill>
                  <a:srgbClr val="C2132D"/>
                </a:solidFill>
                <a:latin typeface="Trebuchet MS"/>
                <a:cs typeface="Trebuchet MS"/>
              </a:rPr>
              <a:t>to 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a </a:t>
            </a:r>
            <a:r>
              <a:rPr dirty="0" sz="1600" spc="-10" b="1">
                <a:solidFill>
                  <a:srgbClr val="C2132D"/>
                </a:solidFill>
                <a:latin typeface="Trebuchet MS"/>
                <a:cs typeface="Trebuchet MS"/>
              </a:rPr>
              <a:t>given</a:t>
            </a:r>
            <a:r>
              <a:rPr dirty="0" sz="1600" spc="-1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C2132D"/>
                </a:solidFill>
                <a:latin typeface="Trebuchet MS"/>
                <a:cs typeface="Trebuchet MS"/>
              </a:rPr>
              <a:t>dataset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393065" marR="1012825" indent="-120650">
              <a:lnSpc>
                <a:spcPct val="121100"/>
              </a:lnSpc>
              <a:spcBef>
                <a:spcPts val="75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AIC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based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parsimony</a:t>
            </a:r>
            <a:r>
              <a:rPr dirty="0" sz="1500" spc="-49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principle,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favoring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simpler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fewer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parameters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over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more 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complex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ones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(while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still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accounting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model's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ability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fit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data).</a:t>
            </a:r>
            <a:endParaRPr sz="1600">
              <a:latin typeface="Arial"/>
              <a:cs typeface="Arial"/>
            </a:endParaRPr>
          </a:p>
          <a:p>
            <a:pPr lvl="1" marL="774065" marR="817244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helps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avoid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overfitting,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which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occurs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when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too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complex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0">
                <a:solidFill>
                  <a:srgbClr val="585D60"/>
                </a:solidFill>
                <a:latin typeface="Arial"/>
                <a:cs typeface="Arial"/>
              </a:rPr>
              <a:t>fits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noise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data,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rather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than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underlying</a:t>
            </a:r>
            <a:r>
              <a:rPr dirty="0" sz="1600" spc="-25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pattern.</a:t>
            </a:r>
            <a:endParaRPr sz="1600">
              <a:latin typeface="Arial"/>
              <a:cs typeface="Arial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 b="1">
                <a:solidFill>
                  <a:srgbClr val="C2132D"/>
                </a:solidFill>
                <a:latin typeface="Trebuchet MS"/>
                <a:cs typeface="Trebuchet MS"/>
              </a:rPr>
              <a:t>AIC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20" b="1">
                <a:solidFill>
                  <a:srgbClr val="C2132D"/>
                </a:solidFill>
                <a:latin typeface="Trebuchet MS"/>
                <a:cs typeface="Trebuchet MS"/>
              </a:rPr>
              <a:t>formula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given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by: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54" i="1">
                <a:solidFill>
                  <a:srgbClr val="585D60"/>
                </a:solidFill>
                <a:latin typeface="Arial"/>
                <a:cs typeface="Arial"/>
              </a:rPr>
              <a:t>AIC</a:t>
            </a:r>
            <a:r>
              <a:rPr dirty="0" sz="1450" spc="12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600" spc="-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4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k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6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70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450" spc="70" i="1">
                <a:solidFill>
                  <a:srgbClr val="585D60"/>
                </a:solidFill>
                <a:latin typeface="Arial"/>
                <a:cs typeface="Arial"/>
              </a:rPr>
              <a:t>ln</a:t>
            </a:r>
            <a:r>
              <a:rPr dirty="0" sz="1600" spc="7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450" spc="70" i="1">
                <a:solidFill>
                  <a:srgbClr val="585D60"/>
                </a:solidFill>
                <a:latin typeface="Arial"/>
                <a:cs typeface="Arial"/>
              </a:rPr>
              <a:t>L</a:t>
            </a:r>
            <a:r>
              <a:rPr dirty="0" sz="1600" spc="7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00" spc="7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where</a:t>
            </a:r>
            <a:endParaRPr sz="1600">
              <a:latin typeface="Arial"/>
              <a:cs typeface="Arial"/>
            </a:endParaRPr>
          </a:p>
          <a:p>
            <a:pPr lvl="1" marL="774700" indent="-120650">
              <a:lnSpc>
                <a:spcPct val="100000"/>
              </a:lnSpc>
              <a:spcBef>
                <a:spcPts val="1230"/>
              </a:spcBef>
              <a:buSzPct val="106666"/>
              <a:buFont typeface="Trebuchet MS"/>
              <a:buChar char="•"/>
              <a:tabLst>
                <a:tab pos="774700" algn="l"/>
              </a:tabLst>
            </a:pP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k</a:t>
            </a:r>
            <a:r>
              <a:rPr dirty="0" sz="1500" spc="-5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parameters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(including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intercept,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applicable)</a:t>
            </a:r>
            <a:endParaRPr sz="1600">
              <a:latin typeface="Arial"/>
              <a:cs typeface="Arial"/>
            </a:endParaRPr>
          </a:p>
          <a:p>
            <a:pPr lvl="1" marL="774700" indent="-120650">
              <a:lnSpc>
                <a:spcPct val="100000"/>
              </a:lnSpc>
              <a:spcBef>
                <a:spcPts val="1155"/>
              </a:spcBef>
              <a:buSzPct val="106666"/>
              <a:buFont typeface="Trebuchet MS"/>
              <a:buChar char="•"/>
              <a:tabLst>
                <a:tab pos="774700" algn="l"/>
              </a:tabLst>
            </a:pP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L</a:t>
            </a:r>
            <a:r>
              <a:rPr dirty="0" sz="1500" spc="-5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likelihood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model,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measuring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well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0">
                <a:solidFill>
                  <a:srgbClr val="585D60"/>
                </a:solidFill>
                <a:latin typeface="Arial"/>
                <a:cs typeface="Arial"/>
              </a:rPr>
              <a:t>fits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observed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  <a:p>
            <a:pPr marL="12700" marR="860425">
              <a:lnSpc>
                <a:spcPct val="118500"/>
              </a:lnSpc>
              <a:spcBef>
                <a:spcPts val="1625"/>
              </a:spcBef>
            </a:pP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In </a:t>
            </a: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essence,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AIC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balances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trade-off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between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goodness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fit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(measured </a:t>
            </a: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log-likelihood) 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complexity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(measured </a:t>
            </a: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number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parameters). </a:t>
            </a:r>
            <a:r>
              <a:rPr dirty="0" sz="1600" spc="-40" b="1">
                <a:solidFill>
                  <a:srgbClr val="C2132D"/>
                </a:solidFill>
                <a:latin typeface="Trebuchet MS"/>
                <a:cs typeface="Trebuchet MS"/>
              </a:rPr>
              <a:t>Lower </a:t>
            </a:r>
            <a:r>
              <a:rPr dirty="0" sz="1600" spc="60" b="1">
                <a:solidFill>
                  <a:srgbClr val="C2132D"/>
                </a:solidFill>
                <a:latin typeface="Trebuchet MS"/>
                <a:cs typeface="Trebuchet MS"/>
              </a:rPr>
              <a:t>AIC </a:t>
            </a:r>
            <a:r>
              <a:rPr dirty="0" sz="1600" spc="-5" b="1">
                <a:solidFill>
                  <a:srgbClr val="C2132D"/>
                </a:solidFill>
                <a:latin typeface="Trebuchet MS"/>
                <a:cs typeface="Trebuchet MS"/>
              </a:rPr>
              <a:t>values </a:t>
            </a:r>
            <a:r>
              <a:rPr dirty="0" sz="1600" spc="-35" b="1">
                <a:solidFill>
                  <a:srgbClr val="C2132D"/>
                </a:solidFill>
                <a:latin typeface="Trebuchet MS"/>
                <a:cs typeface="Trebuchet MS"/>
              </a:rPr>
              <a:t>indicate  </a:t>
            </a:r>
            <a:r>
              <a:rPr dirty="0" sz="1600" spc="-65" b="1">
                <a:solidFill>
                  <a:srgbClr val="C2132D"/>
                </a:solidFill>
                <a:latin typeface="Trebuchet MS"/>
                <a:cs typeface="Trebuchet MS"/>
              </a:rPr>
              <a:t>better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model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40" b="1">
                <a:solidFill>
                  <a:srgbClr val="C2132D"/>
                </a:solidFill>
                <a:latin typeface="Trebuchet MS"/>
                <a:cs typeface="Trebuchet MS"/>
              </a:rPr>
              <a:t>performance,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C2132D"/>
                </a:solidFill>
                <a:latin typeface="Trebuchet MS"/>
                <a:cs typeface="Trebuchet MS"/>
              </a:rPr>
              <a:t>so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when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C2132D"/>
                </a:solidFill>
                <a:latin typeface="Trebuchet MS"/>
                <a:cs typeface="Trebuchet MS"/>
              </a:rPr>
              <a:t>comparing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40" b="1">
                <a:solidFill>
                  <a:srgbClr val="C2132D"/>
                </a:solidFill>
                <a:latin typeface="Trebuchet MS"/>
                <a:cs typeface="Trebuchet MS"/>
              </a:rPr>
              <a:t>multiple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20" b="1">
                <a:solidFill>
                  <a:srgbClr val="C2132D"/>
                </a:solidFill>
                <a:latin typeface="Trebuchet MS"/>
                <a:cs typeface="Trebuchet MS"/>
              </a:rPr>
              <a:t>models,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25" b="1">
                <a:solidFill>
                  <a:srgbClr val="C2132D"/>
                </a:solidFill>
                <a:latin typeface="Trebuchet MS"/>
                <a:cs typeface="Trebuchet MS"/>
              </a:rPr>
              <a:t>one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with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lowest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60" b="1">
                <a:solidFill>
                  <a:srgbClr val="C2132D"/>
                </a:solidFill>
                <a:latin typeface="Trebuchet MS"/>
                <a:cs typeface="Trebuchet MS"/>
              </a:rPr>
              <a:t>AIC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45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0" b="1">
                <a:solidFill>
                  <a:srgbClr val="C2132D"/>
                </a:solidFill>
                <a:latin typeface="Trebuchet MS"/>
                <a:cs typeface="Trebuchet MS"/>
              </a:rPr>
              <a:t>generally 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considered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" b="1">
                <a:solidFill>
                  <a:srgbClr val="C2132D"/>
                </a:solidFill>
                <a:latin typeface="Trebuchet MS"/>
                <a:cs typeface="Trebuchet MS"/>
              </a:rPr>
              <a:t>best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5" b="1">
                <a:solidFill>
                  <a:srgbClr val="C2132D"/>
                </a:solidFill>
                <a:latin typeface="Trebuchet MS"/>
                <a:cs typeface="Trebuchet MS"/>
              </a:rPr>
              <a:t>fitting,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while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30" b="1">
                <a:solidFill>
                  <a:srgbClr val="C2132D"/>
                </a:solidFill>
                <a:latin typeface="Trebuchet MS"/>
                <a:cs typeface="Trebuchet MS"/>
              </a:rPr>
              <a:t>also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C2132D"/>
                </a:solidFill>
                <a:latin typeface="Trebuchet MS"/>
                <a:cs typeface="Trebuchet MS"/>
              </a:rPr>
              <a:t>being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5" b="1">
                <a:solidFill>
                  <a:srgbClr val="C2132D"/>
                </a:solidFill>
                <a:latin typeface="Trebuchet MS"/>
                <a:cs typeface="Trebuchet MS"/>
              </a:rPr>
              <a:t>simplest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12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8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940308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0"/>
              <a:t>Corrected </a:t>
            </a:r>
            <a:r>
              <a:rPr dirty="0" spc="-25"/>
              <a:t>Akaike </a:t>
            </a:r>
            <a:r>
              <a:rPr dirty="0" spc="-85"/>
              <a:t>Information </a:t>
            </a:r>
            <a:r>
              <a:rPr dirty="0" spc="-80"/>
              <a:t>Criterion</a:t>
            </a:r>
            <a:r>
              <a:rPr dirty="0" spc="204"/>
              <a:t> </a:t>
            </a:r>
            <a:r>
              <a:rPr dirty="0" spc="75"/>
              <a:t>(AICc)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2149" y="1495297"/>
            <a:ext cx="9446895" cy="4797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2715" marR="320040" indent="-120650">
              <a:lnSpc>
                <a:spcPct val="117200"/>
              </a:lnSpc>
              <a:spcBef>
                <a:spcPts val="9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AICcis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modification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AIC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provides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30" b="1">
                <a:solidFill>
                  <a:srgbClr val="C2132D"/>
                </a:solidFill>
                <a:latin typeface="Trebuchet MS"/>
                <a:cs typeface="Trebuchet MS"/>
              </a:rPr>
              <a:t>more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0" b="1">
                <a:solidFill>
                  <a:srgbClr val="C2132D"/>
                </a:solidFill>
                <a:latin typeface="Trebuchet MS"/>
                <a:cs typeface="Trebuchet MS"/>
              </a:rPr>
              <a:t>accurate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model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selection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criterion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when 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sample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C2132D"/>
                </a:solidFill>
                <a:latin typeface="Trebuchet MS"/>
                <a:cs typeface="Trebuchet MS"/>
              </a:rPr>
              <a:t>size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45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15" b="1">
                <a:solidFill>
                  <a:srgbClr val="C2132D"/>
                </a:solidFill>
                <a:latin typeface="Trebuchet MS"/>
                <a:cs typeface="Trebuchet MS"/>
              </a:rPr>
              <a:t>small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45" b="1">
                <a:solidFill>
                  <a:srgbClr val="C2132D"/>
                </a:solidFill>
                <a:latin typeface="Trebuchet MS"/>
                <a:cs typeface="Trebuchet MS"/>
              </a:rPr>
              <a:t>or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ratio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sample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C2132D"/>
                </a:solidFill>
                <a:latin typeface="Trebuchet MS"/>
                <a:cs typeface="Trebuchet MS"/>
              </a:rPr>
              <a:t>size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5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5" b="1">
                <a:solidFill>
                  <a:srgbClr val="C2132D"/>
                </a:solidFill>
                <a:latin typeface="Trebuchet MS"/>
                <a:cs typeface="Trebuchet MS"/>
              </a:rPr>
              <a:t>number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model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25" b="1">
                <a:solidFill>
                  <a:srgbClr val="C2132D"/>
                </a:solidFill>
                <a:latin typeface="Trebuchet MS"/>
                <a:cs typeface="Trebuchet MS"/>
              </a:rPr>
              <a:t>parameters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45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0" b="1">
                <a:solidFill>
                  <a:srgbClr val="C2132D"/>
                </a:solidFill>
                <a:latin typeface="Trebuchet MS"/>
                <a:cs typeface="Trebuchet MS"/>
              </a:rPr>
              <a:t>low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32715" marR="130810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Like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65">
                <a:solidFill>
                  <a:srgbClr val="585D60"/>
                </a:solidFill>
                <a:latin typeface="Arial"/>
                <a:cs typeface="Arial"/>
              </a:rPr>
              <a:t>AIC,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585D60"/>
                </a:solidFill>
                <a:latin typeface="Arial"/>
                <a:cs typeface="Arial"/>
              </a:rPr>
              <a:t>AICc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compare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different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statistical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select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one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best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0">
                <a:solidFill>
                  <a:srgbClr val="585D60"/>
                </a:solidFill>
                <a:latin typeface="Arial"/>
                <a:cs typeface="Arial"/>
              </a:rPr>
              <a:t>fits 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data while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penalizing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2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complexity.</a:t>
            </a:r>
            <a:endParaRPr sz="1600">
              <a:latin typeface="Arial"/>
              <a:cs typeface="Arial"/>
            </a:endParaRPr>
          </a:p>
          <a:p>
            <a:pPr marL="1327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SzPct val="110344"/>
              <a:buFont typeface="Trebuchet MS"/>
              <a:buChar char="•"/>
              <a:tabLst>
                <a:tab pos="133350" algn="l"/>
              </a:tabLst>
            </a:pPr>
            <a:r>
              <a:rPr dirty="0" sz="1450" spc="200" i="1">
                <a:solidFill>
                  <a:srgbClr val="585D60"/>
                </a:solidFill>
                <a:latin typeface="Arial"/>
                <a:cs typeface="Arial"/>
              </a:rPr>
              <a:t>AICc</a:t>
            </a:r>
            <a:r>
              <a:rPr dirty="0" sz="1450" spc="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600" spc="-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254" i="1">
                <a:solidFill>
                  <a:srgbClr val="585D60"/>
                </a:solidFill>
                <a:latin typeface="Arial"/>
                <a:cs typeface="Arial"/>
              </a:rPr>
              <a:t>AIC</a:t>
            </a:r>
            <a:r>
              <a:rPr dirty="0" sz="1450" spc="2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50">
                <a:solidFill>
                  <a:srgbClr val="585D60"/>
                </a:solidFill>
                <a:latin typeface="Lucida Sans Unicode"/>
                <a:cs typeface="Lucida Sans Unicode"/>
              </a:rPr>
              <a:t>(2</a:t>
            </a:r>
            <a:r>
              <a:rPr dirty="0" sz="16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46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600" spc="-4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114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46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600" spc="-4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1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450" spc="110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Lucida Sans Unicode"/>
                <a:cs typeface="Lucida Sans Unicode"/>
              </a:rPr>
              <a:t>1))/(</a:t>
            </a:r>
            <a:r>
              <a:rPr dirty="0" sz="1450" spc="40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6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114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6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75">
                <a:solidFill>
                  <a:srgbClr val="585D60"/>
                </a:solidFill>
                <a:latin typeface="Lucida Sans Unicode"/>
                <a:cs typeface="Lucida Sans Unicode"/>
              </a:rPr>
              <a:t>1)</a:t>
            </a:r>
            <a:r>
              <a:rPr dirty="0" sz="1600" spc="-7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where</a:t>
            </a:r>
            <a:endParaRPr sz="1600">
              <a:latin typeface="Arial"/>
              <a:cs typeface="Arial"/>
            </a:endParaRPr>
          </a:p>
          <a:p>
            <a:pPr lvl="1" marL="513715" indent="-121285">
              <a:lnSpc>
                <a:spcPct val="100000"/>
              </a:lnSpc>
              <a:spcBef>
                <a:spcPts val="1230"/>
              </a:spcBef>
              <a:buSzPct val="106666"/>
              <a:buFont typeface="Trebuchet MS"/>
              <a:buChar char="•"/>
              <a:tabLst>
                <a:tab pos="514350" algn="l"/>
              </a:tabLst>
            </a:pP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AIC</a:t>
            </a:r>
            <a:r>
              <a:rPr dirty="0" sz="1500" spc="-5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original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Akaike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Information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Criterion: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54" i="1">
                <a:solidFill>
                  <a:srgbClr val="585D60"/>
                </a:solidFill>
                <a:latin typeface="Arial"/>
                <a:cs typeface="Arial"/>
              </a:rPr>
              <a:t>AIC</a:t>
            </a:r>
            <a:r>
              <a:rPr dirty="0" sz="1450" spc="12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600" spc="-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4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k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600" spc="-14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0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450" spc="105" i="1">
                <a:solidFill>
                  <a:srgbClr val="585D60"/>
                </a:solidFill>
                <a:latin typeface="Arial"/>
                <a:cs typeface="Arial"/>
              </a:rPr>
              <a:t>ln</a:t>
            </a:r>
            <a:r>
              <a:rPr dirty="0" sz="1600" spc="10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450" spc="105" i="1">
                <a:solidFill>
                  <a:srgbClr val="585D60"/>
                </a:solidFill>
                <a:latin typeface="Arial"/>
                <a:cs typeface="Arial"/>
              </a:rPr>
              <a:t>L</a:t>
            </a:r>
            <a:r>
              <a:rPr dirty="0" sz="1600" spc="10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600">
              <a:latin typeface="Lucida Sans Unicode"/>
              <a:cs typeface="Lucida Sans Unicode"/>
            </a:endParaRPr>
          </a:p>
          <a:p>
            <a:pPr lvl="1" marL="513715" indent="-121285">
              <a:lnSpc>
                <a:spcPct val="100000"/>
              </a:lnSpc>
              <a:spcBef>
                <a:spcPts val="1155"/>
              </a:spcBef>
              <a:buSzPct val="106666"/>
              <a:buFont typeface="Trebuchet MS"/>
              <a:buChar char="•"/>
              <a:tabLst>
                <a:tab pos="514350" algn="l"/>
              </a:tabLst>
            </a:pP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k</a:t>
            </a:r>
            <a:r>
              <a:rPr dirty="0" sz="1500" spc="-5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parameters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(including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intercept,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applicable)</a:t>
            </a:r>
            <a:endParaRPr sz="1600">
              <a:latin typeface="Arial"/>
              <a:cs typeface="Arial"/>
            </a:endParaRPr>
          </a:p>
          <a:p>
            <a:pPr lvl="1" marL="513715" indent="-121285">
              <a:lnSpc>
                <a:spcPct val="100000"/>
              </a:lnSpc>
              <a:spcBef>
                <a:spcPts val="1230"/>
              </a:spcBef>
              <a:buSzPct val="106666"/>
              <a:buFont typeface="Trebuchet MS"/>
              <a:buChar char="•"/>
              <a:tabLst>
                <a:tab pos="514350" algn="l"/>
              </a:tabLst>
            </a:pP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n</a:t>
            </a:r>
            <a:r>
              <a:rPr dirty="0" sz="1500" spc="-71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sample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size</a:t>
            </a:r>
            <a:endParaRPr sz="1600">
              <a:latin typeface="Arial"/>
              <a:cs typeface="Arial"/>
            </a:endParaRPr>
          </a:p>
          <a:p>
            <a:pPr marL="132715" marR="325755" indent="-120650">
              <a:lnSpc>
                <a:spcPct val="119800"/>
              </a:lnSpc>
              <a:spcBef>
                <a:spcPts val="77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second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term </a:t>
            </a:r>
            <a:r>
              <a:rPr dirty="0" sz="1600" spc="-45" b="1">
                <a:solidFill>
                  <a:srgbClr val="C2132D"/>
                </a:solidFill>
                <a:latin typeface="Trebuchet MS"/>
                <a:cs typeface="Trebuchet MS"/>
              </a:rPr>
              <a:t>in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1600" spc="50" b="1">
                <a:solidFill>
                  <a:srgbClr val="C2132D"/>
                </a:solidFill>
                <a:latin typeface="Trebuchet MS"/>
                <a:cs typeface="Trebuchet MS"/>
              </a:rPr>
              <a:t>AICc </a:t>
            </a:r>
            <a:r>
              <a:rPr dirty="0" sz="1600" spc="-20" b="1">
                <a:solidFill>
                  <a:srgbClr val="C2132D"/>
                </a:solidFill>
                <a:latin typeface="Trebuchet MS"/>
                <a:cs typeface="Trebuchet MS"/>
              </a:rPr>
              <a:t>formula </a:t>
            </a:r>
            <a:r>
              <a:rPr dirty="0" sz="1600" spc="-25" b="1">
                <a:solidFill>
                  <a:srgbClr val="C2132D"/>
                </a:solidFill>
                <a:latin typeface="Trebuchet MS"/>
                <a:cs typeface="Trebuchet MS"/>
              </a:rPr>
              <a:t>represents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a </a:t>
            </a:r>
            <a:r>
              <a:rPr dirty="0" sz="1600" spc="-35" b="1">
                <a:solidFill>
                  <a:srgbClr val="C2132D"/>
                </a:solidFill>
                <a:latin typeface="Trebuchet MS"/>
                <a:cs typeface="Trebuchet MS"/>
              </a:rPr>
              <a:t>correction </a:t>
            </a:r>
            <a:r>
              <a:rPr dirty="0" sz="1600" spc="-30" b="1">
                <a:solidFill>
                  <a:srgbClr val="C2132D"/>
                </a:solidFill>
                <a:latin typeface="Trebuchet MS"/>
                <a:cs typeface="Trebuchet MS"/>
              </a:rPr>
              <a:t>factor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that </a:t>
            </a:r>
            <a:r>
              <a:rPr dirty="0" sz="1600" spc="5" b="1">
                <a:solidFill>
                  <a:srgbClr val="C2132D"/>
                </a:solidFill>
                <a:latin typeface="Trebuchet MS"/>
                <a:cs typeface="Trebuchet MS"/>
              </a:rPr>
              <a:t>accounts </a:t>
            </a:r>
            <a:r>
              <a:rPr dirty="0" sz="1600" spc="-35" b="1">
                <a:solidFill>
                  <a:srgbClr val="C2132D"/>
                </a:solidFill>
                <a:latin typeface="Trebuchet MS"/>
                <a:cs typeface="Trebuchet MS"/>
              </a:rPr>
              <a:t>for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1600" spc="15" b="1">
                <a:solidFill>
                  <a:srgbClr val="C2132D"/>
                </a:solidFill>
                <a:latin typeface="Trebuchet MS"/>
                <a:cs typeface="Trebuchet MS"/>
              </a:rPr>
              <a:t>small 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sample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" b="1">
                <a:solidFill>
                  <a:srgbClr val="C2132D"/>
                </a:solidFill>
                <a:latin typeface="Trebuchet MS"/>
                <a:cs typeface="Trebuchet MS"/>
              </a:rPr>
              <a:t>size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sample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size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2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450" spc="125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r>
              <a:rPr dirty="0" sz="1600" spc="1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00" spc="-1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increases,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correction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factor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approaches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zero,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585D60"/>
                </a:solidFill>
                <a:latin typeface="Arial"/>
                <a:cs typeface="Arial"/>
              </a:rPr>
              <a:t>AICc 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converges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original 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AIC.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Therefore,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cases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where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sample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size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600" spc="-20">
                <a:solidFill>
                  <a:srgbClr val="585D60"/>
                </a:solidFill>
                <a:latin typeface="Arial"/>
                <a:cs typeface="Arial"/>
              </a:rPr>
              <a:t>large,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using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-20">
                <a:solidFill>
                  <a:srgbClr val="585D60"/>
                </a:solidFill>
                <a:latin typeface="Arial"/>
                <a:cs typeface="Arial"/>
              </a:rPr>
              <a:t>AICc 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instead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AIC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won't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make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significant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difference.</a:t>
            </a:r>
            <a:endParaRPr sz="1600">
              <a:latin typeface="Arial"/>
              <a:cs typeface="Arial"/>
            </a:endParaRPr>
          </a:p>
          <a:p>
            <a:pPr marL="132715" marR="5080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25">
                <a:solidFill>
                  <a:srgbClr val="585D60"/>
                </a:solidFill>
                <a:latin typeface="Arial"/>
                <a:cs typeface="Arial"/>
              </a:rPr>
              <a:t>When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comparing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models,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one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lowest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585D60"/>
                </a:solidFill>
                <a:latin typeface="Arial"/>
                <a:cs typeface="Arial"/>
              </a:rPr>
              <a:t>AICc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value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considered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best-fitting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while 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also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being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simplest,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similar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AIC.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13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46696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"/>
              <a:t>Bayesian </a:t>
            </a:r>
            <a:r>
              <a:rPr dirty="0" spc="-85"/>
              <a:t>Information </a:t>
            </a:r>
            <a:r>
              <a:rPr dirty="0" spc="-80"/>
              <a:t>Criterion</a:t>
            </a:r>
            <a:r>
              <a:rPr dirty="0" spc="135"/>
              <a:t> </a:t>
            </a:r>
            <a:r>
              <a:rPr dirty="0" spc="45"/>
              <a:t>(BIC)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2149" y="1495297"/>
            <a:ext cx="9400540" cy="4892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2715" marR="50800" indent="-120650">
              <a:lnSpc>
                <a:spcPct val="117200"/>
              </a:lnSpc>
              <a:spcBef>
                <a:spcPts val="9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585D60"/>
                </a:solidFill>
                <a:latin typeface="Arial"/>
                <a:cs typeface="Arial"/>
              </a:rPr>
              <a:t>BIC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helps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selection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balancing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trade-off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complexity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goodness 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fit.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However,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 b="1">
                <a:solidFill>
                  <a:srgbClr val="C2132D"/>
                </a:solidFill>
                <a:latin typeface="Trebuchet MS"/>
                <a:cs typeface="Trebuchet MS"/>
              </a:rPr>
              <a:t>BIC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penalizes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model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0" b="1">
                <a:solidFill>
                  <a:srgbClr val="C2132D"/>
                </a:solidFill>
                <a:latin typeface="Trebuchet MS"/>
                <a:cs typeface="Trebuchet MS"/>
              </a:rPr>
              <a:t>complexity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0" b="1">
                <a:solidFill>
                  <a:srgbClr val="C2132D"/>
                </a:solidFill>
                <a:latin typeface="Trebuchet MS"/>
                <a:cs typeface="Trebuchet MS"/>
              </a:rPr>
              <a:t>more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5" b="1">
                <a:solidFill>
                  <a:srgbClr val="C2132D"/>
                </a:solidFill>
                <a:latin typeface="Trebuchet MS"/>
                <a:cs typeface="Trebuchet MS"/>
              </a:rPr>
              <a:t>heavily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40" b="1">
                <a:solidFill>
                  <a:srgbClr val="C2132D"/>
                </a:solidFill>
                <a:latin typeface="Trebuchet MS"/>
                <a:cs typeface="Trebuchet MS"/>
              </a:rPr>
              <a:t>than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40" b="1">
                <a:solidFill>
                  <a:srgbClr val="C2132D"/>
                </a:solidFill>
                <a:latin typeface="Trebuchet MS"/>
                <a:cs typeface="Trebuchet MS"/>
              </a:rPr>
              <a:t>AIC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327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formula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585D60"/>
                </a:solidFill>
                <a:latin typeface="Arial"/>
                <a:cs typeface="Arial"/>
              </a:rPr>
              <a:t>BIC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is: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60" i="1">
                <a:solidFill>
                  <a:srgbClr val="585D60"/>
                </a:solidFill>
                <a:latin typeface="Arial"/>
                <a:cs typeface="Arial"/>
              </a:rPr>
              <a:t>BIC</a:t>
            </a:r>
            <a:r>
              <a:rPr dirty="0" sz="1450" spc="12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600" spc="-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5">
                <a:solidFill>
                  <a:srgbClr val="585D60"/>
                </a:solidFill>
                <a:latin typeface="Lucida Sans Unicode"/>
                <a:cs typeface="Lucida Sans Unicode"/>
              </a:rPr>
              <a:t>−2</a:t>
            </a:r>
            <a:r>
              <a:rPr dirty="0" sz="1450" spc="85" i="1">
                <a:solidFill>
                  <a:srgbClr val="585D60"/>
                </a:solidFill>
                <a:latin typeface="Arial"/>
                <a:cs typeface="Arial"/>
              </a:rPr>
              <a:t>ln</a:t>
            </a:r>
            <a:r>
              <a:rPr dirty="0" sz="1600" spc="8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450" spc="85" i="1">
                <a:solidFill>
                  <a:srgbClr val="585D60"/>
                </a:solidFill>
                <a:latin typeface="Arial"/>
                <a:cs typeface="Arial"/>
              </a:rPr>
              <a:t>L</a:t>
            </a:r>
            <a:r>
              <a:rPr dirty="0" sz="160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114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46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600" spc="-4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95" i="1">
                <a:solidFill>
                  <a:srgbClr val="585D60"/>
                </a:solidFill>
                <a:latin typeface="Arial"/>
                <a:cs typeface="Arial"/>
              </a:rPr>
              <a:t>ln</a:t>
            </a:r>
            <a:r>
              <a:rPr dirty="0" sz="1600" spc="9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450" spc="95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r>
              <a:rPr dirty="0" sz="1600" spc="9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00" spc="9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where</a:t>
            </a:r>
            <a:endParaRPr sz="1600">
              <a:latin typeface="Arial"/>
              <a:cs typeface="Arial"/>
            </a:endParaRPr>
          </a:p>
          <a:p>
            <a:pPr lvl="1" marL="513715" indent="-121285">
              <a:lnSpc>
                <a:spcPct val="100000"/>
              </a:lnSpc>
              <a:spcBef>
                <a:spcPts val="1230"/>
              </a:spcBef>
              <a:buSzPct val="106666"/>
              <a:buFont typeface="Trebuchet MS"/>
              <a:buChar char="•"/>
              <a:tabLst>
                <a:tab pos="514350" algn="l"/>
              </a:tabLst>
            </a:pP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L</a:t>
            </a:r>
            <a:r>
              <a:rPr dirty="0" sz="1500" spc="-5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likelihood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model,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measuring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well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0">
                <a:solidFill>
                  <a:srgbClr val="585D60"/>
                </a:solidFill>
                <a:latin typeface="Arial"/>
                <a:cs typeface="Arial"/>
              </a:rPr>
              <a:t>fits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observed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  <a:p>
            <a:pPr lvl="1" marL="513715" indent="-121285">
              <a:lnSpc>
                <a:spcPct val="100000"/>
              </a:lnSpc>
              <a:spcBef>
                <a:spcPts val="1155"/>
              </a:spcBef>
              <a:buSzPct val="106666"/>
              <a:buFont typeface="Trebuchet MS"/>
              <a:buChar char="•"/>
              <a:tabLst>
                <a:tab pos="514350" algn="l"/>
              </a:tabLst>
            </a:pP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k</a:t>
            </a:r>
            <a:r>
              <a:rPr dirty="0" sz="1500" spc="-5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parameters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(including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intercept,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applicable)</a:t>
            </a:r>
            <a:endParaRPr sz="1600">
              <a:latin typeface="Arial"/>
              <a:cs typeface="Arial"/>
            </a:endParaRPr>
          </a:p>
          <a:p>
            <a:pPr lvl="1" marL="513715" indent="-121285">
              <a:lnSpc>
                <a:spcPct val="100000"/>
              </a:lnSpc>
              <a:spcBef>
                <a:spcPts val="1230"/>
              </a:spcBef>
              <a:buSzPct val="106666"/>
              <a:buFont typeface="Trebuchet MS"/>
              <a:buChar char="•"/>
              <a:tabLst>
                <a:tab pos="514350" algn="l"/>
              </a:tabLst>
            </a:pP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n</a:t>
            </a:r>
            <a:r>
              <a:rPr dirty="0" sz="1500" spc="-71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sample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size</a:t>
            </a:r>
            <a:endParaRPr sz="1600">
              <a:latin typeface="Arial"/>
              <a:cs typeface="Arial"/>
            </a:endParaRPr>
          </a:p>
          <a:p>
            <a:pPr marL="132715" marR="149225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585D60"/>
                </a:solidFill>
                <a:latin typeface="Arial"/>
                <a:cs typeface="Arial"/>
              </a:rPr>
              <a:t>BIC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formula,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first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term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represents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goodness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fit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(measured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log-likelihood),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 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second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term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represents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penalty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complexity.</a:t>
            </a:r>
            <a:endParaRPr sz="1600">
              <a:latin typeface="Arial"/>
              <a:cs typeface="Arial"/>
            </a:endParaRPr>
          </a:p>
          <a:p>
            <a:pPr marL="132715" marR="5080" indent="-120650">
              <a:lnSpc>
                <a:spcPct val="121100"/>
              </a:lnSpc>
              <a:spcBef>
                <a:spcPts val="750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penalty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term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larger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585D60"/>
                </a:solidFill>
                <a:latin typeface="Arial"/>
                <a:cs typeface="Arial"/>
              </a:rPr>
              <a:t>BIC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than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65">
                <a:solidFill>
                  <a:srgbClr val="585D60"/>
                </a:solidFill>
                <a:latin typeface="Arial"/>
                <a:cs typeface="Arial"/>
              </a:rPr>
              <a:t>AIC,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proportional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natural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logarithm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sample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size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instead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being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constant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value.</a:t>
            </a:r>
            <a:endParaRPr sz="1600">
              <a:latin typeface="Arial"/>
              <a:cs typeface="Arial"/>
            </a:endParaRPr>
          </a:p>
          <a:p>
            <a:pPr marL="132715" marR="72390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25">
                <a:solidFill>
                  <a:srgbClr val="585D60"/>
                </a:solidFill>
                <a:latin typeface="Arial"/>
                <a:cs typeface="Arial"/>
              </a:rPr>
              <a:t>When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comparing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models,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one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lowest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585D60"/>
                </a:solidFill>
                <a:latin typeface="Arial"/>
                <a:cs typeface="Arial"/>
              </a:rPr>
              <a:t>BIC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value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considered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best-fitting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while 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also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being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simplest,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similar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AIC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585D60"/>
                </a:solidFill>
                <a:latin typeface="Arial"/>
                <a:cs typeface="Arial"/>
              </a:rPr>
              <a:t>AICc.</a:t>
            </a:r>
            <a:endParaRPr sz="1600">
              <a:latin typeface="Arial"/>
              <a:cs typeface="Arial"/>
            </a:endParaRPr>
          </a:p>
          <a:p>
            <a:pPr marL="132715" marR="601980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585D60"/>
                </a:solidFill>
                <a:latin typeface="Arial"/>
                <a:cs typeface="Arial"/>
              </a:rPr>
              <a:t>BIC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might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preferred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over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AIC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AICc,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especially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when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there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preference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5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0" b="1">
                <a:solidFill>
                  <a:srgbClr val="C2132D"/>
                </a:solidFill>
                <a:latin typeface="Trebuchet MS"/>
                <a:cs typeface="Trebuchet MS"/>
              </a:rPr>
              <a:t>more  </a:t>
            </a:r>
            <a:r>
              <a:rPr dirty="0" sz="1600" spc="5" b="1">
                <a:solidFill>
                  <a:srgbClr val="C2132D"/>
                </a:solidFill>
                <a:latin typeface="Trebuchet MS"/>
                <a:cs typeface="Trebuchet MS"/>
              </a:rPr>
              <a:t>parsimonious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models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45" b="1">
                <a:solidFill>
                  <a:srgbClr val="C2132D"/>
                </a:solidFill>
                <a:latin typeface="Trebuchet MS"/>
                <a:cs typeface="Trebuchet MS"/>
              </a:rPr>
              <a:t>or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50" b="1">
                <a:solidFill>
                  <a:srgbClr val="C2132D"/>
                </a:solidFill>
                <a:latin typeface="Trebuchet MS"/>
                <a:cs typeface="Trebuchet MS"/>
              </a:rPr>
              <a:t>when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C2132D"/>
                </a:solidFill>
                <a:latin typeface="Trebuchet MS"/>
                <a:cs typeface="Trebuchet MS"/>
              </a:rPr>
              <a:t>dealing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with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5" b="1">
                <a:solidFill>
                  <a:srgbClr val="C2132D"/>
                </a:solidFill>
                <a:latin typeface="Trebuchet MS"/>
                <a:cs typeface="Trebuchet MS"/>
              </a:rPr>
              <a:t>large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sample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20" b="1">
                <a:solidFill>
                  <a:srgbClr val="C2132D"/>
                </a:solidFill>
                <a:latin typeface="Trebuchet MS"/>
                <a:cs typeface="Trebuchet MS"/>
              </a:rPr>
              <a:t>sizes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14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73722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"/>
              <a:t>AIC, </a:t>
            </a:r>
            <a:r>
              <a:rPr dirty="0" spc="80"/>
              <a:t>AICc </a:t>
            </a:r>
            <a:r>
              <a:rPr dirty="0" spc="-85"/>
              <a:t>and </a:t>
            </a:r>
            <a:r>
              <a:rPr dirty="0" spc="55"/>
              <a:t>BIC</a:t>
            </a:r>
            <a:r>
              <a:rPr dirty="0" spc="20"/>
              <a:t> </a:t>
            </a:r>
            <a:r>
              <a:rPr dirty="0" spc="-75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9320530" cy="2814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Studies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have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shown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that</a:t>
            </a:r>
            <a:r>
              <a:rPr dirty="0" sz="1800" spc="-32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the: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75">
                <a:solidFill>
                  <a:srgbClr val="585D60"/>
                </a:solidFill>
                <a:latin typeface="Arial"/>
                <a:cs typeface="Arial"/>
              </a:rPr>
              <a:t>BIC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does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well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getting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correct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large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samples.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AICc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tends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get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correct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smaller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samples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large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parameters.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Font typeface="Trebuchet MS"/>
              <a:buChar char="•"/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Why did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we </a:t>
            </a:r>
            <a:r>
              <a:rPr dirty="0" sz="1800" spc="45" b="1">
                <a:solidFill>
                  <a:srgbClr val="C2132D"/>
                </a:solidFill>
                <a:latin typeface="Trebuchet MS"/>
                <a:cs typeface="Trebuchet MS"/>
              </a:rPr>
              <a:t>discuss</a:t>
            </a:r>
            <a:r>
              <a:rPr dirty="0" sz="1800" spc="-35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these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metrics today?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They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were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printed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some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examined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class.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They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6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AutoARIMA</a:t>
            </a:r>
            <a:r>
              <a:rPr dirty="0" sz="1800" spc="-35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method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15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9712" y="2758440"/>
            <a:ext cx="5447030" cy="935990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51460">
              <a:lnSpc>
                <a:spcPct val="100000"/>
              </a:lnSpc>
              <a:spcBef>
                <a:spcPts val="1105"/>
              </a:spcBef>
            </a:pPr>
            <a:r>
              <a:rPr dirty="0" spc="-1275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pc="-127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pc="-1275">
                <a:solidFill>
                  <a:srgbClr val="000000"/>
                </a:solidFill>
                <a:latin typeface="Trebuchet MS"/>
                <a:cs typeface="Trebuchet MS"/>
              </a:rPr>
              <a:t>h</a:t>
            </a:r>
            <a:r>
              <a:rPr dirty="0" spc="-127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pc="-1275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pc="-127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pc="-2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116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pc="-116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pc="-1160">
                <a:solidFill>
                  <a:srgbClr val="000000"/>
                </a:solidFill>
                <a:latin typeface="Trebuchet MS"/>
                <a:cs typeface="Trebuchet MS"/>
              </a:rPr>
              <a:t>u</a:t>
            </a:r>
            <a:r>
              <a:rPr dirty="0" spc="-116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pc="-116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pc="-116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pc="-116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pc="-116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pc="-116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pc="-116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pc="-116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pc="-116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pc="-116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pc="-116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pc="-116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pc="-116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pc="-116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pc="-116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pc="-1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h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d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30">
                <a:latin typeface="Cambria"/>
                <a:cs typeface="Cambria"/>
              </a:rPr>
              <a:t>1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200" spc="-330">
                <a:latin typeface="Cambria"/>
                <a:cs typeface="Cambria"/>
              </a:rPr>
              <a:t>6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2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200" spc="-330">
                <a:latin typeface="Cambria"/>
                <a:cs typeface="Cambria"/>
              </a:rPr>
              <a:t>0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498729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40"/>
              <a:t>The </a:t>
            </a:r>
            <a:r>
              <a:rPr dirty="0" spc="-95"/>
              <a:t>AutoARIMA</a:t>
            </a:r>
            <a:r>
              <a:rPr dirty="0"/>
              <a:t> </a:t>
            </a:r>
            <a:r>
              <a:rPr dirty="0" spc="-135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5543" y="1395475"/>
            <a:ext cx="9365615" cy="50450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19380" indent="-107314">
              <a:lnSpc>
                <a:spcPct val="100000"/>
              </a:lnSpc>
              <a:spcBef>
                <a:spcPts val="1060"/>
              </a:spcBef>
              <a:buClr>
                <a:srgbClr val="C2132D"/>
              </a:buClr>
              <a:buFont typeface="Trebuchet MS"/>
              <a:buChar char="•"/>
              <a:tabLst>
                <a:tab pos="120014" algn="l"/>
              </a:tabLst>
            </a:pPr>
            <a:r>
              <a:rPr dirty="0" sz="1450" spc="-10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5">
                <a:solidFill>
                  <a:srgbClr val="585D60"/>
                </a:solidFill>
                <a:latin typeface="Arial"/>
                <a:cs typeface="Arial"/>
              </a:rPr>
              <a:t>differences,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300" spc="-50" i="1">
                <a:solidFill>
                  <a:srgbClr val="585D60"/>
                </a:solidFill>
                <a:latin typeface="Arial"/>
                <a:cs typeface="Arial"/>
              </a:rPr>
              <a:t>d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15">
                <a:solidFill>
                  <a:srgbClr val="585D60"/>
                </a:solidFill>
                <a:latin typeface="Arial"/>
                <a:cs typeface="Arial"/>
              </a:rPr>
              <a:t>sequence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585D60"/>
                </a:solidFill>
                <a:latin typeface="Arial"/>
                <a:cs typeface="Arial"/>
              </a:rPr>
              <a:t>KPSS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5">
                <a:solidFill>
                  <a:srgbClr val="585D60"/>
                </a:solidFill>
                <a:latin typeface="Arial"/>
                <a:cs typeface="Arial"/>
              </a:rPr>
              <a:t>tests.</a:t>
            </a:r>
            <a:endParaRPr sz="1450">
              <a:latin typeface="Arial"/>
              <a:cs typeface="Arial"/>
            </a:endParaRPr>
          </a:p>
          <a:p>
            <a:pPr lvl="1" marL="500380" indent="-107950">
              <a:lnSpc>
                <a:spcPct val="100000"/>
              </a:lnSpc>
              <a:spcBef>
                <a:spcPts val="960"/>
              </a:spcBef>
              <a:buClr>
                <a:srgbClr val="C2132D"/>
              </a:buClr>
              <a:buFont typeface="Trebuchet MS"/>
              <a:buChar char="•"/>
              <a:tabLst>
                <a:tab pos="501015" algn="l"/>
              </a:tabLst>
            </a:pPr>
            <a:r>
              <a:rPr dirty="0" sz="1450" spc="-10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45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585D60"/>
                </a:solidFill>
                <a:latin typeface="Arial"/>
                <a:cs typeface="Arial"/>
              </a:rPr>
              <a:t>p </a:t>
            </a:r>
            <a:r>
              <a:rPr dirty="0" sz="1450" spc="-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300" spc="-85" i="1">
                <a:solidFill>
                  <a:srgbClr val="585D60"/>
                </a:solidFill>
                <a:latin typeface="Arial"/>
                <a:cs typeface="Arial"/>
              </a:rPr>
              <a:t>q</a:t>
            </a:r>
            <a:r>
              <a:rPr dirty="0" sz="1300" spc="2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5">
                <a:solidFill>
                  <a:srgbClr val="585D60"/>
                </a:solidFill>
                <a:latin typeface="Arial"/>
                <a:cs typeface="Arial"/>
              </a:rPr>
              <a:t>minimizing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AICc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0">
                <a:solidFill>
                  <a:srgbClr val="585D60"/>
                </a:solidFill>
                <a:latin typeface="Arial"/>
                <a:cs typeface="Arial"/>
              </a:rPr>
              <a:t>after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differencing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d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5">
                <a:solidFill>
                  <a:srgbClr val="585D60"/>
                </a:solidFill>
                <a:latin typeface="Arial"/>
                <a:cs typeface="Arial"/>
              </a:rPr>
              <a:t>times.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Rather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than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considering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all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possible</a:t>
            </a:r>
            <a:endParaRPr sz="1450">
              <a:latin typeface="Arial"/>
              <a:cs typeface="Arial"/>
            </a:endParaRPr>
          </a:p>
          <a:p>
            <a:pPr marL="500380">
              <a:lnSpc>
                <a:spcPct val="100000"/>
              </a:lnSpc>
              <a:spcBef>
                <a:spcPts val="285"/>
              </a:spcBef>
            </a:pPr>
            <a:r>
              <a:rPr dirty="0" sz="1300" i="1">
                <a:solidFill>
                  <a:srgbClr val="585D60"/>
                </a:solidFill>
                <a:latin typeface="Arial"/>
                <a:cs typeface="Arial"/>
              </a:rPr>
              <a:t>p </a:t>
            </a:r>
            <a:r>
              <a:rPr dirty="0" sz="1450" spc="-10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300" spc="-85" i="1">
                <a:solidFill>
                  <a:srgbClr val="585D60"/>
                </a:solidFill>
                <a:latin typeface="Arial"/>
                <a:cs typeface="Arial"/>
              </a:rPr>
              <a:t>q 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combinations, </a:t>
            </a:r>
            <a:r>
              <a:rPr dirty="0" sz="145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stepwise </a:t>
            </a:r>
            <a:r>
              <a:rPr dirty="0" sz="1450" spc="-5">
                <a:solidFill>
                  <a:srgbClr val="585D60"/>
                </a:solidFill>
                <a:latin typeface="Arial"/>
                <a:cs typeface="Arial"/>
              </a:rPr>
              <a:t>approach </a:t>
            </a:r>
            <a:r>
              <a:rPr dirty="0" sz="1450" spc="2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450" spc="-1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85D60"/>
                </a:solidFill>
                <a:latin typeface="Arial"/>
                <a:cs typeface="Arial"/>
              </a:rPr>
              <a:t>taken.</a:t>
            </a:r>
            <a:endParaRPr sz="1450">
              <a:latin typeface="Arial"/>
              <a:cs typeface="Arial"/>
            </a:endParaRPr>
          </a:p>
          <a:p>
            <a:pPr lvl="2" marL="881380" indent="-107950">
              <a:lnSpc>
                <a:spcPct val="100000"/>
              </a:lnSpc>
              <a:spcBef>
                <a:spcPts val="1035"/>
              </a:spcBef>
              <a:buClr>
                <a:srgbClr val="C2132D"/>
              </a:buClr>
              <a:buFont typeface="Trebuchet MS"/>
              <a:buChar char="•"/>
              <a:tabLst>
                <a:tab pos="882015" algn="l"/>
              </a:tabLst>
            </a:pP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best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0">
                <a:solidFill>
                  <a:srgbClr val="585D60"/>
                </a:solidFill>
                <a:latin typeface="Arial"/>
                <a:cs typeface="Arial"/>
              </a:rPr>
              <a:t>initial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5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0">
                <a:solidFill>
                  <a:srgbClr val="585D60"/>
                </a:solidFill>
                <a:latin typeface="Arial"/>
                <a:cs typeface="Arial"/>
              </a:rPr>
              <a:t>lowest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AICc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selected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3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5">
                <a:solidFill>
                  <a:srgbClr val="585D60"/>
                </a:solidFill>
                <a:latin typeface="Arial"/>
                <a:cs typeface="Arial"/>
              </a:rPr>
              <a:t>following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four:</a:t>
            </a:r>
            <a:endParaRPr sz="1450">
              <a:latin typeface="Arial"/>
              <a:cs typeface="Arial"/>
            </a:endParaRPr>
          </a:p>
          <a:p>
            <a:pPr lvl="3" marL="1262380" indent="-107950">
              <a:lnSpc>
                <a:spcPct val="100000"/>
              </a:lnSpc>
              <a:spcBef>
                <a:spcPts val="960"/>
              </a:spcBef>
              <a:buClr>
                <a:srgbClr val="C2132D"/>
              </a:buClr>
              <a:buFont typeface="Trebuchet MS"/>
              <a:buChar char="•"/>
              <a:tabLst>
                <a:tab pos="1263015" algn="l"/>
              </a:tabLst>
            </a:pPr>
            <a:r>
              <a:rPr dirty="0" sz="1450" spc="-40">
                <a:solidFill>
                  <a:srgbClr val="585D60"/>
                </a:solidFill>
                <a:latin typeface="Arial"/>
                <a:cs typeface="Arial"/>
              </a:rPr>
              <a:t>ARIMA(2,d,2),</a:t>
            </a:r>
            <a:endParaRPr sz="1450">
              <a:latin typeface="Arial"/>
              <a:cs typeface="Arial"/>
            </a:endParaRPr>
          </a:p>
          <a:p>
            <a:pPr lvl="3" marL="1262380" indent="-107950">
              <a:lnSpc>
                <a:spcPct val="100000"/>
              </a:lnSpc>
              <a:spcBef>
                <a:spcPts val="1035"/>
              </a:spcBef>
              <a:buClr>
                <a:srgbClr val="C2132D"/>
              </a:buClr>
              <a:buFont typeface="Trebuchet MS"/>
              <a:buChar char="•"/>
              <a:tabLst>
                <a:tab pos="1263015" algn="l"/>
              </a:tabLst>
            </a:pPr>
            <a:r>
              <a:rPr dirty="0" sz="1450" spc="-40">
                <a:solidFill>
                  <a:srgbClr val="585D60"/>
                </a:solidFill>
                <a:latin typeface="Arial"/>
                <a:cs typeface="Arial"/>
              </a:rPr>
              <a:t>ARIMA(0,d,0),</a:t>
            </a:r>
            <a:endParaRPr sz="1450">
              <a:latin typeface="Arial"/>
              <a:cs typeface="Arial"/>
            </a:endParaRPr>
          </a:p>
          <a:p>
            <a:pPr lvl="3" marL="1262380" indent="-107950">
              <a:lnSpc>
                <a:spcPct val="100000"/>
              </a:lnSpc>
              <a:spcBef>
                <a:spcPts val="960"/>
              </a:spcBef>
              <a:buClr>
                <a:srgbClr val="C2132D"/>
              </a:buClr>
              <a:buFont typeface="Trebuchet MS"/>
              <a:buChar char="•"/>
              <a:tabLst>
                <a:tab pos="1263015" algn="l"/>
              </a:tabLst>
            </a:pPr>
            <a:r>
              <a:rPr dirty="0" sz="1450" spc="-40">
                <a:solidFill>
                  <a:srgbClr val="585D60"/>
                </a:solidFill>
                <a:latin typeface="Arial"/>
                <a:cs typeface="Arial"/>
              </a:rPr>
              <a:t>ARIMA(1,d,0),</a:t>
            </a:r>
            <a:r>
              <a:rPr dirty="0" sz="145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endParaRPr sz="1450">
              <a:latin typeface="Arial"/>
              <a:cs typeface="Arial"/>
            </a:endParaRPr>
          </a:p>
          <a:p>
            <a:pPr lvl="3" marL="1262380" indent="-107950">
              <a:lnSpc>
                <a:spcPct val="100000"/>
              </a:lnSpc>
              <a:spcBef>
                <a:spcPts val="1035"/>
              </a:spcBef>
              <a:buClr>
                <a:srgbClr val="C2132D"/>
              </a:buClr>
              <a:buFont typeface="Trebuchet MS"/>
              <a:buChar char="•"/>
              <a:tabLst>
                <a:tab pos="1263015" algn="l"/>
              </a:tabLst>
            </a:pP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ARIMA(0,d,1).</a:t>
            </a:r>
            <a:endParaRPr sz="1450">
              <a:latin typeface="Arial"/>
              <a:cs typeface="Arial"/>
            </a:endParaRPr>
          </a:p>
          <a:p>
            <a:pPr lvl="3" marL="1262380" marR="9525" indent="-107314">
              <a:lnSpc>
                <a:spcPct val="116399"/>
              </a:lnSpc>
              <a:spcBef>
                <a:spcPts val="675"/>
              </a:spcBef>
              <a:buClr>
                <a:srgbClr val="C2132D"/>
              </a:buClr>
              <a:buFont typeface="Trebuchet MS"/>
              <a:buChar char="•"/>
              <a:tabLst>
                <a:tab pos="1263015" algn="l"/>
              </a:tabLst>
            </a:pPr>
            <a:r>
              <a:rPr dirty="0" sz="1450" spc="40" i="1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d=0, </a:t>
            </a:r>
            <a:r>
              <a:rPr dirty="0" sz="1450" i="1">
                <a:solidFill>
                  <a:srgbClr val="585D60"/>
                </a:solidFill>
                <a:latin typeface="Arial"/>
                <a:cs typeface="Arial"/>
              </a:rPr>
              <a:t>then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25" i="1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585D60"/>
                </a:solidFill>
                <a:latin typeface="Arial"/>
                <a:cs typeface="Arial"/>
              </a:rPr>
              <a:t>constant,</a:t>
            </a:r>
            <a:r>
              <a:rPr dirty="0" sz="1450" spc="-4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300" spc="-75" i="1">
                <a:solidFill>
                  <a:srgbClr val="585D60"/>
                </a:solidFill>
                <a:latin typeface="Arial"/>
                <a:cs typeface="Arial"/>
              </a:rPr>
              <a:t>c</a:t>
            </a:r>
            <a:r>
              <a:rPr dirty="0" sz="1450" spc="-75" i="1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0" i="1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585D60"/>
                </a:solidFill>
                <a:latin typeface="Arial"/>
                <a:cs typeface="Arial"/>
              </a:rPr>
              <a:t>included.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40" i="1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300" spc="25" i="1">
                <a:solidFill>
                  <a:srgbClr val="585D60"/>
                </a:solidFill>
                <a:latin typeface="Arial"/>
                <a:cs typeface="Arial"/>
              </a:rPr>
              <a:t>d</a:t>
            </a:r>
            <a:r>
              <a:rPr dirty="0" sz="1300" spc="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5">
                <a:solidFill>
                  <a:srgbClr val="585D60"/>
                </a:solidFill>
                <a:latin typeface="Lucida Sans Unicode"/>
                <a:cs typeface="Lucida Sans Unicode"/>
              </a:rPr>
              <a:t>≥</a:t>
            </a:r>
            <a:r>
              <a:rPr dirty="0" sz="1450" spc="-5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16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450" spc="-160" i="1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585D60"/>
                </a:solidFill>
                <a:latin typeface="Arial"/>
                <a:cs typeface="Arial"/>
              </a:rPr>
              <a:t>then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5" i="1">
                <a:solidFill>
                  <a:srgbClr val="585D60"/>
                </a:solidFill>
                <a:latin typeface="Arial"/>
                <a:cs typeface="Arial"/>
              </a:rPr>
              <a:t>constant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0" i="1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 i="1">
                <a:solidFill>
                  <a:srgbClr val="585D60"/>
                </a:solidFill>
                <a:latin typeface="Arial"/>
                <a:cs typeface="Arial"/>
              </a:rPr>
              <a:t>set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30" i="1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15" i="1">
                <a:solidFill>
                  <a:srgbClr val="585D60"/>
                </a:solidFill>
                <a:latin typeface="Arial"/>
                <a:cs typeface="Arial"/>
              </a:rPr>
              <a:t>0.</a:t>
            </a:r>
            <a:r>
              <a:rPr dirty="0" sz="14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0" i="1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 i="1">
                <a:solidFill>
                  <a:srgbClr val="585D60"/>
                </a:solidFill>
                <a:latin typeface="Arial"/>
                <a:cs typeface="Arial"/>
              </a:rPr>
              <a:t>results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5" i="1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5" i="1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 i="1">
                <a:solidFill>
                  <a:srgbClr val="585D60"/>
                </a:solidFill>
                <a:latin typeface="Arial"/>
                <a:cs typeface="Arial"/>
              </a:rPr>
              <a:t>step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0" i="1">
                <a:solidFill>
                  <a:srgbClr val="585D60"/>
                </a:solidFill>
                <a:latin typeface="Arial"/>
                <a:cs typeface="Arial"/>
              </a:rPr>
              <a:t>is  </a:t>
            </a:r>
            <a:r>
              <a:rPr dirty="0" sz="1450" i="1">
                <a:solidFill>
                  <a:srgbClr val="585D60"/>
                </a:solidFill>
                <a:latin typeface="Arial"/>
                <a:cs typeface="Arial"/>
              </a:rPr>
              <a:t>called the current</a:t>
            </a:r>
            <a:r>
              <a:rPr dirty="0" sz="1450" spc="-15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 i="1">
                <a:solidFill>
                  <a:srgbClr val="585D60"/>
                </a:solidFill>
                <a:latin typeface="Arial"/>
                <a:cs typeface="Arial"/>
              </a:rPr>
              <a:t>model.</a:t>
            </a:r>
            <a:endParaRPr sz="1450">
              <a:latin typeface="Arial"/>
              <a:cs typeface="Arial"/>
            </a:endParaRPr>
          </a:p>
          <a:p>
            <a:pPr lvl="2" marL="881380" indent="-107950">
              <a:lnSpc>
                <a:spcPct val="100000"/>
              </a:lnSpc>
              <a:spcBef>
                <a:spcPts val="960"/>
              </a:spcBef>
              <a:buClr>
                <a:srgbClr val="C2132D"/>
              </a:buClr>
              <a:buFont typeface="Trebuchet MS"/>
              <a:buChar char="•"/>
              <a:tabLst>
                <a:tab pos="882015" algn="l"/>
              </a:tabLst>
            </a:pP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Variations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current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5">
                <a:solidFill>
                  <a:srgbClr val="585D60"/>
                </a:solidFill>
                <a:latin typeface="Arial"/>
                <a:cs typeface="Arial"/>
              </a:rPr>
              <a:t>considered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by</a:t>
            </a:r>
            <a:endParaRPr sz="1450">
              <a:latin typeface="Arial"/>
              <a:cs typeface="Arial"/>
            </a:endParaRPr>
          </a:p>
          <a:p>
            <a:pPr lvl="3" marL="1262380" indent="-107950">
              <a:lnSpc>
                <a:spcPct val="100000"/>
              </a:lnSpc>
              <a:spcBef>
                <a:spcPts val="1035"/>
              </a:spcBef>
              <a:buClr>
                <a:srgbClr val="C2132D"/>
              </a:buClr>
              <a:buFont typeface="Trebuchet MS"/>
              <a:buChar char="•"/>
              <a:tabLst>
                <a:tab pos="1263015" algn="l"/>
              </a:tabLst>
            </a:pPr>
            <a:r>
              <a:rPr dirty="0" sz="1450" spc="-35">
                <a:solidFill>
                  <a:srgbClr val="585D60"/>
                </a:solidFill>
                <a:latin typeface="Arial"/>
                <a:cs typeface="Arial"/>
              </a:rPr>
              <a:t>Vary </a:t>
            </a:r>
            <a:r>
              <a:rPr dirty="0" sz="1300" i="1">
                <a:solidFill>
                  <a:srgbClr val="585D60"/>
                </a:solidFill>
                <a:latin typeface="Arial"/>
                <a:cs typeface="Arial"/>
              </a:rPr>
              <a:t>p </a:t>
            </a:r>
            <a:r>
              <a:rPr dirty="0" sz="1450" spc="30">
                <a:solidFill>
                  <a:srgbClr val="585D60"/>
                </a:solidFill>
                <a:latin typeface="Arial"/>
                <a:cs typeface="Arial"/>
              </a:rPr>
              <a:t>and/or </a:t>
            </a:r>
            <a:r>
              <a:rPr dirty="0" sz="1300" spc="-85" i="1">
                <a:solidFill>
                  <a:srgbClr val="585D60"/>
                </a:solidFill>
                <a:latin typeface="Arial"/>
                <a:cs typeface="Arial"/>
              </a:rPr>
              <a:t>q </a:t>
            </a:r>
            <a:r>
              <a:rPr dirty="0" sz="1450" spc="35">
                <a:solidFill>
                  <a:srgbClr val="585D60"/>
                </a:solidFill>
                <a:latin typeface="Arial"/>
                <a:cs typeface="Arial"/>
              </a:rPr>
              <a:t>from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current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450" spc="-2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114">
                <a:solidFill>
                  <a:srgbClr val="585D60"/>
                </a:solidFill>
                <a:latin typeface="Lucida Sans Unicode"/>
                <a:cs typeface="Lucida Sans Unicode"/>
              </a:rPr>
              <a:t>±1</a:t>
            </a:r>
            <a:endParaRPr sz="1450">
              <a:latin typeface="Lucida Sans Unicode"/>
              <a:cs typeface="Lucida Sans Unicode"/>
            </a:endParaRPr>
          </a:p>
          <a:p>
            <a:pPr lvl="3" marL="1262380" indent="-107950">
              <a:lnSpc>
                <a:spcPct val="100000"/>
              </a:lnSpc>
              <a:spcBef>
                <a:spcPts val="960"/>
              </a:spcBef>
              <a:buClr>
                <a:srgbClr val="C2132D"/>
              </a:buClr>
              <a:buFont typeface="Trebuchet MS"/>
              <a:buChar char="•"/>
              <a:tabLst>
                <a:tab pos="1263015" algn="l"/>
              </a:tabLst>
            </a:pP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Include/exclude </a:t>
            </a:r>
            <a:r>
              <a:rPr dirty="0" sz="1300" spc="-30" i="1">
                <a:solidFill>
                  <a:srgbClr val="585D60"/>
                </a:solidFill>
                <a:latin typeface="Arial"/>
                <a:cs typeface="Arial"/>
              </a:rPr>
              <a:t>c </a:t>
            </a:r>
            <a:r>
              <a:rPr dirty="0" sz="1450" spc="35">
                <a:solidFill>
                  <a:srgbClr val="585D60"/>
                </a:solidFill>
                <a:latin typeface="Arial"/>
                <a:cs typeface="Arial"/>
              </a:rPr>
              <a:t>from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current</a:t>
            </a:r>
            <a:r>
              <a:rPr dirty="0" sz="1450" spc="-1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model.</a:t>
            </a:r>
            <a:endParaRPr sz="1450">
              <a:latin typeface="Arial"/>
              <a:cs typeface="Arial"/>
            </a:endParaRPr>
          </a:p>
          <a:p>
            <a:pPr lvl="3" marL="1262380" indent="-107950">
              <a:lnSpc>
                <a:spcPct val="100000"/>
              </a:lnSpc>
              <a:spcBef>
                <a:spcPts val="1035"/>
              </a:spcBef>
              <a:buClr>
                <a:srgbClr val="C2132D"/>
              </a:buClr>
              <a:buFont typeface="Trebuchet MS"/>
              <a:buChar char="•"/>
              <a:tabLst>
                <a:tab pos="1263015" algn="l"/>
              </a:tabLst>
            </a:pP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best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5">
                <a:solidFill>
                  <a:srgbClr val="585D60"/>
                </a:solidFill>
                <a:latin typeface="Arial"/>
                <a:cs typeface="Arial"/>
              </a:rPr>
              <a:t>considered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5">
                <a:solidFill>
                  <a:srgbClr val="585D60"/>
                </a:solidFill>
                <a:latin typeface="Arial"/>
                <a:cs typeface="Arial"/>
              </a:rPr>
              <a:t>so</a:t>
            </a:r>
            <a:r>
              <a:rPr dirty="0" sz="145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5">
                <a:solidFill>
                  <a:srgbClr val="585D60"/>
                </a:solidFill>
                <a:latin typeface="Arial"/>
                <a:cs typeface="Arial"/>
              </a:rPr>
              <a:t>far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(current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15">
                <a:solidFill>
                  <a:srgbClr val="585D60"/>
                </a:solidFill>
                <a:latin typeface="Arial"/>
                <a:cs typeface="Arial"/>
              </a:rPr>
              <a:t>one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45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variations)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becomes</a:t>
            </a:r>
            <a:r>
              <a:rPr dirty="0" sz="14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45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10" i="1">
                <a:solidFill>
                  <a:srgbClr val="585D60"/>
                </a:solidFill>
                <a:latin typeface="Arial"/>
                <a:cs typeface="Arial"/>
              </a:rPr>
              <a:t>new</a:t>
            </a:r>
            <a:r>
              <a:rPr dirty="0" sz="1450" spc="-4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585D60"/>
                </a:solidFill>
                <a:latin typeface="Arial"/>
                <a:cs typeface="Arial"/>
              </a:rPr>
              <a:t>current</a:t>
            </a:r>
            <a:r>
              <a:rPr dirty="0" sz="145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 i="1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450">
              <a:latin typeface="Arial"/>
              <a:cs typeface="Arial"/>
            </a:endParaRPr>
          </a:p>
          <a:p>
            <a:pPr lvl="2" marL="881380" indent="-107950">
              <a:lnSpc>
                <a:spcPct val="100000"/>
              </a:lnSpc>
              <a:spcBef>
                <a:spcPts val="960"/>
              </a:spcBef>
              <a:buClr>
                <a:srgbClr val="C2132D"/>
              </a:buClr>
              <a:buFont typeface="Trebuchet MS"/>
              <a:buChar char="•"/>
              <a:tabLst>
                <a:tab pos="882015" algn="l"/>
              </a:tabLst>
            </a:pPr>
            <a:r>
              <a:rPr dirty="0" sz="1450" spc="-35">
                <a:solidFill>
                  <a:srgbClr val="585D60"/>
                </a:solidFill>
                <a:latin typeface="Arial"/>
                <a:cs typeface="Arial"/>
              </a:rPr>
              <a:t>Repeat</a:t>
            </a:r>
            <a:r>
              <a:rPr dirty="0" sz="145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5">
                <a:solidFill>
                  <a:srgbClr val="585D60"/>
                </a:solidFill>
                <a:latin typeface="Arial"/>
                <a:cs typeface="Arial"/>
              </a:rPr>
              <a:t>previous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step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20">
                <a:solidFill>
                  <a:srgbClr val="585D60"/>
                </a:solidFill>
                <a:latin typeface="Arial"/>
                <a:cs typeface="Arial"/>
              </a:rPr>
              <a:t>until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5">
                <a:solidFill>
                  <a:srgbClr val="585D60"/>
                </a:solidFill>
                <a:latin typeface="Arial"/>
                <a:cs typeface="Arial"/>
              </a:rPr>
              <a:t>lower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30">
                <a:solidFill>
                  <a:srgbClr val="585D60"/>
                </a:solidFill>
                <a:latin typeface="Arial"/>
                <a:cs typeface="Arial"/>
              </a:rPr>
              <a:t>AICc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5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4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450" spc="10">
                <a:solidFill>
                  <a:srgbClr val="585D60"/>
                </a:solidFill>
                <a:latin typeface="Arial"/>
                <a:cs typeface="Arial"/>
              </a:rPr>
              <a:t>found.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0700"/>
            <a:ext cx="2433955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5">
                <a:solidFill>
                  <a:srgbClr val="C2132D"/>
                </a:solidFill>
                <a:latin typeface="Calibri"/>
                <a:cs typeface="Calibri"/>
              </a:rPr>
              <a:t>Live</a:t>
            </a:r>
            <a:r>
              <a:rPr dirty="0" sz="4100" spc="-55">
                <a:solidFill>
                  <a:srgbClr val="C2132D"/>
                </a:solidFill>
                <a:latin typeface="Calibri"/>
                <a:cs typeface="Calibri"/>
              </a:rPr>
              <a:t> </a:t>
            </a:r>
            <a:r>
              <a:rPr dirty="0" sz="4100" spc="-20">
                <a:solidFill>
                  <a:srgbClr val="C2132D"/>
                </a:solidFill>
                <a:latin typeface="Calibri"/>
                <a:cs typeface="Calibri"/>
              </a:rPr>
              <a:t>Coding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80819"/>
            <a:ext cx="955230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examine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AutoARIMA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method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forecast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GDP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Data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. 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limit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20">
                <a:solidFill>
                  <a:srgbClr val="585D60"/>
                </a:solidFill>
                <a:latin typeface="Arial"/>
                <a:cs typeface="Arial"/>
              </a:rPr>
              <a:t>GDP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period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1990-01-01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2020-01-01.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18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pc="-1220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dirty="0" spc="-122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30">
                <a:latin typeface="Cambria"/>
                <a:cs typeface="Cambria"/>
              </a:rPr>
              <a:t>1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200" spc="-330">
                <a:latin typeface="Cambria"/>
                <a:cs typeface="Cambria"/>
              </a:rPr>
              <a:t>9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45">
                <a:latin typeface="Cambria"/>
                <a:cs typeface="Cambria"/>
              </a:rPr>
              <a:t>/</a:t>
            </a:r>
            <a:r>
              <a:rPr dirty="0" sz="1200" spc="-3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330">
                <a:latin typeface="Cambria"/>
                <a:cs typeface="Cambria"/>
              </a:rPr>
              <a:t>2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200" spc="-330">
                <a:latin typeface="Cambria"/>
                <a:cs typeface="Cambria"/>
              </a:rPr>
              <a:t>0</a:t>
            </a:r>
            <a:r>
              <a:rPr dirty="0" sz="1200" spc="-33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1009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Summary </a:t>
            </a:r>
            <a:r>
              <a:rPr dirty="0" spc="-20"/>
              <a:t>of </a:t>
            </a:r>
            <a:r>
              <a:rPr dirty="0" spc="-135"/>
              <a:t>Main</a:t>
            </a:r>
            <a:r>
              <a:rPr dirty="0" spc="95"/>
              <a:t> </a:t>
            </a:r>
            <a:r>
              <a:rPr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9250680" cy="322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now,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should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able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3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do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following: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Explain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ARIMA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work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when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compared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ARMA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models.</a:t>
            </a:r>
            <a:endParaRPr sz="1800">
              <a:latin typeface="Arial"/>
              <a:cs typeface="Arial"/>
            </a:endParaRPr>
          </a:p>
          <a:p>
            <a:pPr marL="393065" marR="5080" indent="-133985">
              <a:lnSpc>
                <a:spcPct val="116300"/>
              </a:lnSpc>
              <a:spcBef>
                <a:spcPts val="86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Fit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ARIMA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series,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evaluate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residuals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fitted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ARMA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assess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goodness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fit,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use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Ljung-Box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correlation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among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residuals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 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ARIMA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model.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585D60"/>
                </a:solidFill>
                <a:latin typeface="Arial"/>
                <a:cs typeface="Arial"/>
              </a:rPr>
              <a:t>AIC,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AICc,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585D60"/>
                </a:solidFill>
                <a:latin typeface="Arial"/>
                <a:cs typeface="Arial"/>
              </a:rPr>
              <a:t>BIC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they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measure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fit.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algorithm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within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AutoARIMA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method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fit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ARIMA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model.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results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AutoARIMA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method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3D5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444: Business Forecasting</dc:title>
  <dcterms:created xsi:type="dcterms:W3CDTF">2025-04-08T13:48:25Z</dcterms:created>
  <dcterms:modified xsi:type="dcterms:W3CDTF">2025-04-08T13:48:25Z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2025-04-08T00:00:00Z</vt:filetime>
  </property>
  <property fmtid="{D5CDD505-2E9C-101B-9397-08002B2CF9AE}" pid="3" name="Creator">
    <vt:lpwstr>Mozilla/5.0 (Windows NT 10.0; Win64; x64) AppleWebKit/537.36 (KHTML, like Gecko) Chrome/135.0.0.0 Safari/537.36</vt:lpwstr>
  </property>
  <property fmtid="{D5CDD505-2E9C-101B-9397-08002B2CF9AE}" pid="4" name="LastSaved">
    <vt:filetime>2025-04-08T00:00:00Z</vt:filetime>
  </property>
</Properties>
</file>